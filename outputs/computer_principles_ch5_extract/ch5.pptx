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8" r:id="rId3"/>
    <p:sldId id="263" r:id="rId5"/>
    <p:sldId id="260" r:id="rId6"/>
    <p:sldId id="315" r:id="rId7"/>
    <p:sldId id="261" r:id="rId8"/>
    <p:sldId id="316" r:id="rId9"/>
    <p:sldId id="317" r:id="rId10"/>
    <p:sldId id="318" r:id="rId11"/>
    <p:sldId id="319" r:id="rId12"/>
    <p:sldId id="264" r:id="rId13"/>
    <p:sldId id="265" r:id="rId14"/>
    <p:sldId id="266" r:id="rId15"/>
    <p:sldId id="267" r:id="rId16"/>
    <p:sldId id="268" r:id="rId17"/>
    <p:sldId id="320" r:id="rId18"/>
    <p:sldId id="321" r:id="rId19"/>
    <p:sldId id="322"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35" autoAdjust="0"/>
    <p:restoredTop sz="94660"/>
  </p:normalViewPr>
  <p:slideViewPr>
    <p:cSldViewPr snapToGrid="0" showGuides="1">
      <p:cViewPr varScale="1">
        <p:scale>
          <a:sx n="107" d="100"/>
          <a:sy n="107" d="100"/>
        </p:scale>
        <p:origin x="-102" y="-14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3" Type="http://schemas.openxmlformats.org/officeDocument/2006/relationships/tableStyles" Target="tableStyles.xml"/><Relationship Id="rId52" Type="http://schemas.openxmlformats.org/officeDocument/2006/relationships/viewProps" Target="viewProps.xml"/><Relationship Id="rId51" Type="http://schemas.openxmlformats.org/officeDocument/2006/relationships/presProps" Target="presProps.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9.wmf"/><Relationship Id="rId1"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image" Target="../media/image4.wmf"/></Relationships>
</file>

<file path=ppt/drawings/_rels/vmlDrawing4.vml.rels><?xml version="1.0" encoding="UTF-8" standalone="yes"?>
<Relationships xmlns="http://schemas.openxmlformats.org/package/2006/relationships"><Relationship Id="rId6" Type="http://schemas.openxmlformats.org/officeDocument/2006/relationships/image" Target="../media/image18.wmf"/><Relationship Id="rId5" Type="http://schemas.openxmlformats.org/officeDocument/2006/relationships/image" Target="../media/image17.wmf"/><Relationship Id="rId4" Type="http://schemas.openxmlformats.org/officeDocument/2006/relationships/image" Target="../media/image16.wmf"/><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79A3BD-9D4B-4A17-89AD-AB8D99722C63}"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74F641-F5F8-49D6-AB8D-CF80F2600D16}"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D7C4D2-4ED7-4693-92D7-EB6058F2DBD9}"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D7C4D2-4ED7-4693-92D7-EB6058F2DBD9}"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4" name="Line 2"/>
          <p:cNvSpPr>
            <a:spLocks noChangeShapeType="1"/>
          </p:cNvSpPr>
          <p:nvPr/>
        </p:nvSpPr>
        <p:spPr bwMode="auto">
          <a:xfrm>
            <a:off x="9753600" y="1066800"/>
            <a:ext cx="0" cy="4495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p>
        </p:txBody>
      </p:sp>
      <p:grpSp>
        <p:nvGrpSpPr>
          <p:cNvPr id="5" name="Group 8"/>
          <p:cNvGrpSpPr/>
          <p:nvPr/>
        </p:nvGrpSpPr>
        <p:grpSpPr bwMode="auto">
          <a:xfrm>
            <a:off x="9990667" y="2992438"/>
            <a:ext cx="1784351" cy="2189162"/>
            <a:chOff x="4704" y="1885"/>
            <a:chExt cx="843" cy="1379"/>
          </a:xfrm>
        </p:grpSpPr>
        <p:sp>
          <p:nvSpPr>
            <p:cNvPr id="6" name="Oval 9"/>
            <p:cNvSpPr>
              <a:spLocks noChangeArrowheads="1"/>
            </p:cNvSpPr>
            <p:nvPr/>
          </p:nvSpPr>
          <p:spPr bwMode="auto">
            <a:xfrm>
              <a:off x="4704"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7" name="Oval 10"/>
            <p:cNvSpPr>
              <a:spLocks noChangeArrowheads="1"/>
            </p:cNvSpPr>
            <p:nvPr/>
          </p:nvSpPr>
          <p:spPr bwMode="auto">
            <a:xfrm>
              <a:off x="4883"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8" name="Oval 11"/>
            <p:cNvSpPr>
              <a:spLocks noChangeArrowheads="1"/>
            </p:cNvSpPr>
            <p:nvPr/>
          </p:nvSpPr>
          <p:spPr bwMode="auto">
            <a:xfrm>
              <a:off x="5062"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9" name="Oval 12"/>
            <p:cNvSpPr>
              <a:spLocks noChangeArrowheads="1"/>
            </p:cNvSpPr>
            <p:nvPr/>
          </p:nvSpPr>
          <p:spPr bwMode="auto">
            <a:xfrm>
              <a:off x="4704"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 name="Oval 13"/>
            <p:cNvSpPr>
              <a:spLocks noChangeArrowheads="1"/>
            </p:cNvSpPr>
            <p:nvPr/>
          </p:nvSpPr>
          <p:spPr bwMode="auto">
            <a:xfrm>
              <a:off x="4883"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1" name="Oval 14"/>
            <p:cNvSpPr>
              <a:spLocks noChangeArrowheads="1"/>
            </p:cNvSpPr>
            <p:nvPr/>
          </p:nvSpPr>
          <p:spPr bwMode="auto">
            <a:xfrm>
              <a:off x="5062"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2" name="Oval 15"/>
            <p:cNvSpPr>
              <a:spLocks noChangeArrowheads="1"/>
            </p:cNvSpPr>
            <p:nvPr/>
          </p:nvSpPr>
          <p:spPr bwMode="auto">
            <a:xfrm>
              <a:off x="5241" y="2064"/>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3" name="Oval 16"/>
            <p:cNvSpPr>
              <a:spLocks noChangeArrowheads="1"/>
            </p:cNvSpPr>
            <p:nvPr/>
          </p:nvSpPr>
          <p:spPr bwMode="auto">
            <a:xfrm>
              <a:off x="4704" y="2243"/>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4" name="Oval 17"/>
            <p:cNvSpPr>
              <a:spLocks noChangeArrowheads="1"/>
            </p:cNvSpPr>
            <p:nvPr/>
          </p:nvSpPr>
          <p:spPr bwMode="auto">
            <a:xfrm>
              <a:off x="4883" y="2243"/>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5" name="Oval 18"/>
            <p:cNvSpPr>
              <a:spLocks noChangeArrowheads="1"/>
            </p:cNvSpPr>
            <p:nvPr/>
          </p:nvSpPr>
          <p:spPr bwMode="auto">
            <a:xfrm>
              <a:off x="5062" y="2243"/>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6" name="Oval 19"/>
            <p:cNvSpPr>
              <a:spLocks noChangeArrowheads="1"/>
            </p:cNvSpPr>
            <p:nvPr/>
          </p:nvSpPr>
          <p:spPr bwMode="auto">
            <a:xfrm>
              <a:off x="5241" y="2243"/>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7" name="Oval 20"/>
            <p:cNvSpPr>
              <a:spLocks noChangeArrowheads="1"/>
            </p:cNvSpPr>
            <p:nvPr/>
          </p:nvSpPr>
          <p:spPr bwMode="auto">
            <a:xfrm>
              <a:off x="5420" y="2243"/>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8" name="Oval 21"/>
            <p:cNvSpPr>
              <a:spLocks noChangeArrowheads="1"/>
            </p:cNvSpPr>
            <p:nvPr/>
          </p:nvSpPr>
          <p:spPr bwMode="auto">
            <a:xfrm>
              <a:off x="4704" y="2421"/>
              <a:ext cx="127" cy="128"/>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9" name="Oval 22"/>
            <p:cNvSpPr>
              <a:spLocks noChangeArrowheads="1"/>
            </p:cNvSpPr>
            <p:nvPr/>
          </p:nvSpPr>
          <p:spPr bwMode="auto">
            <a:xfrm>
              <a:off x="4883" y="2421"/>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20" name="Oval 23"/>
            <p:cNvSpPr>
              <a:spLocks noChangeArrowheads="1"/>
            </p:cNvSpPr>
            <p:nvPr/>
          </p:nvSpPr>
          <p:spPr bwMode="auto">
            <a:xfrm>
              <a:off x="5062" y="2421"/>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21" name="Oval 24"/>
            <p:cNvSpPr>
              <a:spLocks noChangeArrowheads="1"/>
            </p:cNvSpPr>
            <p:nvPr/>
          </p:nvSpPr>
          <p:spPr bwMode="auto">
            <a:xfrm>
              <a:off x="5241" y="2421"/>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22" name="Oval 25"/>
            <p:cNvSpPr>
              <a:spLocks noChangeArrowheads="1"/>
            </p:cNvSpPr>
            <p:nvPr/>
          </p:nvSpPr>
          <p:spPr bwMode="auto">
            <a:xfrm>
              <a:off x="4704" y="2600"/>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23" name="Oval 26"/>
            <p:cNvSpPr>
              <a:spLocks noChangeArrowheads="1"/>
            </p:cNvSpPr>
            <p:nvPr/>
          </p:nvSpPr>
          <p:spPr bwMode="auto">
            <a:xfrm>
              <a:off x="4883" y="2600"/>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24" name="Oval 27"/>
            <p:cNvSpPr>
              <a:spLocks noChangeArrowheads="1"/>
            </p:cNvSpPr>
            <p:nvPr/>
          </p:nvSpPr>
          <p:spPr bwMode="auto">
            <a:xfrm>
              <a:off x="5062" y="2600"/>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25" name="Oval 28"/>
            <p:cNvSpPr>
              <a:spLocks noChangeArrowheads="1"/>
            </p:cNvSpPr>
            <p:nvPr/>
          </p:nvSpPr>
          <p:spPr bwMode="auto">
            <a:xfrm>
              <a:off x="5241" y="2600"/>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26" name="Oval 29"/>
            <p:cNvSpPr>
              <a:spLocks noChangeArrowheads="1"/>
            </p:cNvSpPr>
            <p:nvPr/>
          </p:nvSpPr>
          <p:spPr bwMode="auto">
            <a:xfrm>
              <a:off x="5420" y="2600"/>
              <a:ext cx="127" cy="128"/>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27" name="Oval 30"/>
            <p:cNvSpPr>
              <a:spLocks noChangeArrowheads="1"/>
            </p:cNvSpPr>
            <p:nvPr/>
          </p:nvSpPr>
          <p:spPr bwMode="auto">
            <a:xfrm>
              <a:off x="4704" y="2779"/>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28" name="Oval 31"/>
            <p:cNvSpPr>
              <a:spLocks noChangeArrowheads="1"/>
            </p:cNvSpPr>
            <p:nvPr/>
          </p:nvSpPr>
          <p:spPr bwMode="auto">
            <a:xfrm>
              <a:off x="4883" y="2779"/>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29" name="Oval 32"/>
            <p:cNvSpPr>
              <a:spLocks noChangeArrowheads="1"/>
            </p:cNvSpPr>
            <p:nvPr/>
          </p:nvSpPr>
          <p:spPr bwMode="auto">
            <a:xfrm>
              <a:off x="5062" y="2779"/>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30" name="Oval 33"/>
            <p:cNvSpPr>
              <a:spLocks noChangeArrowheads="1"/>
            </p:cNvSpPr>
            <p:nvPr/>
          </p:nvSpPr>
          <p:spPr bwMode="auto">
            <a:xfrm>
              <a:off x="5241" y="2779"/>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31" name="Oval 34"/>
            <p:cNvSpPr>
              <a:spLocks noChangeArrowheads="1"/>
            </p:cNvSpPr>
            <p:nvPr/>
          </p:nvSpPr>
          <p:spPr bwMode="auto">
            <a:xfrm>
              <a:off x="4704" y="2958"/>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32" name="Oval 35"/>
            <p:cNvSpPr>
              <a:spLocks noChangeArrowheads="1"/>
            </p:cNvSpPr>
            <p:nvPr/>
          </p:nvSpPr>
          <p:spPr bwMode="auto">
            <a:xfrm>
              <a:off x="4883" y="2958"/>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33" name="Oval 36"/>
            <p:cNvSpPr>
              <a:spLocks noChangeArrowheads="1"/>
            </p:cNvSpPr>
            <p:nvPr/>
          </p:nvSpPr>
          <p:spPr bwMode="auto">
            <a:xfrm>
              <a:off x="5062" y="2958"/>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34" name="Oval 37"/>
            <p:cNvSpPr>
              <a:spLocks noChangeArrowheads="1"/>
            </p:cNvSpPr>
            <p:nvPr/>
          </p:nvSpPr>
          <p:spPr bwMode="auto">
            <a:xfrm>
              <a:off x="5241" y="2958"/>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35" name="Oval 38"/>
            <p:cNvSpPr>
              <a:spLocks noChangeArrowheads="1"/>
            </p:cNvSpPr>
            <p:nvPr/>
          </p:nvSpPr>
          <p:spPr bwMode="auto">
            <a:xfrm>
              <a:off x="4883" y="3137"/>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36" name="Oval 39"/>
            <p:cNvSpPr>
              <a:spLocks noChangeArrowheads="1"/>
            </p:cNvSpPr>
            <p:nvPr/>
          </p:nvSpPr>
          <p:spPr bwMode="auto">
            <a:xfrm>
              <a:off x="5241" y="3137"/>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grpSp>
      <p:sp>
        <p:nvSpPr>
          <p:cNvPr id="37" name="Line 40"/>
          <p:cNvSpPr>
            <a:spLocks noChangeShapeType="1"/>
          </p:cNvSpPr>
          <p:nvPr/>
        </p:nvSpPr>
        <p:spPr bwMode="auto">
          <a:xfrm>
            <a:off x="406400" y="2819400"/>
            <a:ext cx="10972800" cy="0"/>
          </a:xfrm>
          <a:prstGeom prst="line">
            <a:avLst/>
          </a:prstGeom>
          <a:noFill/>
          <a:ln w="63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p>
        </p:txBody>
      </p:sp>
      <p:sp>
        <p:nvSpPr>
          <p:cNvPr id="175107" name="Rectangle 3"/>
          <p:cNvSpPr>
            <a:spLocks noGrp="1" noChangeArrowheads="1"/>
          </p:cNvSpPr>
          <p:nvPr>
            <p:ph type="ctrTitle"/>
          </p:nvPr>
        </p:nvSpPr>
        <p:spPr>
          <a:xfrm>
            <a:off x="421217" y="466725"/>
            <a:ext cx="9042400" cy="2133600"/>
          </a:xfrm>
        </p:spPr>
        <p:txBody>
          <a:bodyPr/>
          <a:lstStyle>
            <a:lvl1pPr>
              <a:defRPr/>
            </a:lvl1pPr>
          </a:lstStyle>
          <a:p>
            <a:pPr lvl="0"/>
            <a:r>
              <a:rPr lang="en-US" altLang="zh-CN" noProof="0"/>
              <a:t>单击此处编辑母版标题样式</a:t>
            </a:r>
            <a:endParaRPr lang="en-US" altLang="zh-CN" noProof="0"/>
          </a:p>
        </p:txBody>
      </p:sp>
      <p:sp>
        <p:nvSpPr>
          <p:cNvPr id="175108" name="Rectangle 4"/>
          <p:cNvSpPr>
            <a:spLocks noGrp="1" noChangeArrowheads="1"/>
          </p:cNvSpPr>
          <p:nvPr>
            <p:ph type="subTitle" idx="1"/>
          </p:nvPr>
        </p:nvSpPr>
        <p:spPr>
          <a:xfrm>
            <a:off x="1132417" y="3049588"/>
            <a:ext cx="8331200" cy="2362200"/>
          </a:xfrm>
        </p:spPr>
        <p:txBody>
          <a:bodyPr/>
          <a:lstStyle>
            <a:lvl1pPr marL="0" indent="0" algn="ctr">
              <a:buFont typeface="Wingdings" panose="05000000000000000000" pitchFamily="2" charset="2"/>
              <a:buNone/>
              <a:defRPr/>
            </a:lvl1pPr>
          </a:lstStyle>
          <a:p>
            <a:pPr lvl="0"/>
            <a:r>
              <a:rPr lang="en-US" altLang="zh-CN" noProof="0"/>
              <a:t>单击此处编辑母版副标题样式</a:t>
            </a:r>
            <a:endParaRPr lang="en-US" altLang="zh-CN" noProof="0"/>
          </a:p>
        </p:txBody>
      </p:sp>
      <p:sp>
        <p:nvSpPr>
          <p:cNvPr id="38" name="Rectangle 5"/>
          <p:cNvSpPr>
            <a:spLocks noGrp="1" noChangeArrowheads="1"/>
          </p:cNvSpPr>
          <p:nvPr>
            <p:ph type="dt" sz="half" idx="10"/>
          </p:nvPr>
        </p:nvSpPr>
        <p:spPr/>
        <p:txBody>
          <a:bodyPr/>
          <a:lstStyle>
            <a:lvl1pPr>
              <a:defRPr smtClean="0"/>
            </a:lvl1pPr>
          </a:lstStyle>
          <a:p>
            <a:pPr>
              <a:defRPr/>
            </a:pPr>
            <a:fld id="{B987ED82-D1A3-45FE-80F8-86D8D28D03CD}" type="datetime1">
              <a:rPr lang="zh-CN" altLang="en-US"/>
            </a:fld>
            <a:endParaRPr lang="en-US" altLang="zh-CN"/>
          </a:p>
        </p:txBody>
      </p:sp>
      <p:sp>
        <p:nvSpPr>
          <p:cNvPr id="39" name="Rectangle 6"/>
          <p:cNvSpPr>
            <a:spLocks noGrp="1" noChangeArrowheads="1"/>
          </p:cNvSpPr>
          <p:nvPr>
            <p:ph type="ftr" sz="quarter" idx="11"/>
          </p:nvPr>
        </p:nvSpPr>
        <p:spPr/>
        <p:txBody>
          <a:bodyPr/>
          <a:lstStyle>
            <a:lvl1pPr>
              <a:defRPr/>
            </a:lvl1pPr>
          </a:lstStyle>
          <a:p>
            <a:pPr>
              <a:defRPr/>
            </a:pPr>
            <a:r>
              <a:rPr lang="en-US" altLang="zh-CN"/>
              <a:t>逻辑代数基础----《数字电路》</a:t>
            </a:r>
            <a:endParaRPr lang="en-US" altLang="zh-CN"/>
          </a:p>
        </p:txBody>
      </p:sp>
      <p:sp>
        <p:nvSpPr>
          <p:cNvPr id="40" name="Rectangle 7"/>
          <p:cNvSpPr>
            <a:spLocks noGrp="1" noChangeArrowheads="1"/>
          </p:cNvSpPr>
          <p:nvPr>
            <p:ph type="sldNum" sz="quarter" idx="12"/>
          </p:nvPr>
        </p:nvSpPr>
        <p:spPr/>
        <p:txBody>
          <a:bodyPr/>
          <a:lstStyle>
            <a:lvl1pPr>
              <a:defRPr smtClean="0"/>
            </a:lvl1pPr>
          </a:lstStyle>
          <a:p>
            <a:pPr>
              <a:defRPr/>
            </a:pPr>
            <a:fld id="{F04872D5-BB51-432C-B3A3-4E481E81D33F}" type="slidenum">
              <a:rPr lang="en-US" altLang="zh-CN"/>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lgn="ctr">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609601" y="1719263"/>
            <a:ext cx="10058400" cy="4411662"/>
          </a:xfrm>
        </p:spPr>
        <p:txBody>
          <a:bodyPr/>
          <a:lstStyle>
            <a:lvl1pPr>
              <a:buFont typeface="Wingdings" panose="05000000000000000000" pitchFamily="2" charset="2"/>
              <a:buChar char="u"/>
              <a:defRPr sz="2800" baseline="0">
                <a:latin typeface="Arial" panose="020B0604020202020204" pitchFamily="34" charset="0"/>
                <a:ea typeface="宋体" panose="02010600030101010101" pitchFamily="2" charset="-122"/>
              </a:defRPr>
            </a:lvl1pPr>
            <a:lvl2pPr>
              <a:defRPr baseline="0">
                <a:latin typeface="Arial" panose="020B0604020202020204" pitchFamily="34" charset="0"/>
                <a:ea typeface="宋体" panose="02010600030101010101" pitchFamily="2" charset="-122"/>
              </a:defRPr>
            </a:lvl2pPr>
            <a:lvl3pPr>
              <a:defRPr baseline="0">
                <a:latin typeface="Arial" panose="020B0604020202020204" pitchFamily="34" charset="0"/>
                <a:ea typeface="宋体" panose="02010600030101010101" pitchFamily="2" charset="-122"/>
              </a:defRPr>
            </a:lvl3pPr>
            <a:lvl4pPr>
              <a:defRPr baseline="0">
                <a:latin typeface="Arial" panose="020B0604020202020204" pitchFamily="34" charset="0"/>
                <a:ea typeface="宋体" panose="02010600030101010101" pitchFamily="2" charset="-122"/>
              </a:defRPr>
            </a:lvl4pPr>
            <a:lvl5pPr>
              <a:defRPr baseline="0">
                <a:latin typeface="Arial" panose="020B0604020202020204" pitchFamily="34" charset="0"/>
                <a:ea typeface="宋体" panose="02010600030101010101" pitchFamily="2" charset="-122"/>
              </a:defRPr>
            </a:lvl5p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4" name="Rectangle 5"/>
          <p:cNvSpPr>
            <a:spLocks noGrp="1" noChangeArrowheads="1"/>
          </p:cNvSpPr>
          <p:nvPr>
            <p:ph type="dt" sz="half" idx="10"/>
          </p:nvPr>
        </p:nvSpPr>
        <p:spPr/>
        <p:txBody>
          <a:bodyPr/>
          <a:lstStyle>
            <a:lvl1pPr>
              <a:defRPr/>
            </a:lvl1pPr>
          </a:lstStyle>
          <a:p>
            <a:pPr>
              <a:defRPr/>
            </a:pPr>
            <a:fld id="{FFCF43AE-F8FD-49EE-9553-888B016E31A5}" type="datetime1">
              <a:rPr lang="zh-CN" altLang="en-US"/>
            </a:fld>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r>
              <a:rPr lang="en-US" altLang="zh-CN"/>
              <a:t>逻辑代数基础----《数字电路》</a:t>
            </a:r>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8F4C0CD6-327D-499A-9754-0F1E4D84582B}" type="slidenum">
              <a:rPr lang="en-US" altLang="zh-CN"/>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9"/>
            <a:ext cx="10515600" cy="2852737"/>
          </a:xfrm>
        </p:spPr>
        <p:txBody>
          <a:bodyPr/>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endParaRPr lang="zh-CN" altLang="en-US"/>
          </a:p>
        </p:txBody>
      </p:sp>
      <p:sp>
        <p:nvSpPr>
          <p:cNvPr id="4" name="Rectangle 5"/>
          <p:cNvSpPr>
            <a:spLocks noGrp="1" noChangeArrowheads="1"/>
          </p:cNvSpPr>
          <p:nvPr>
            <p:ph type="dt" sz="half" idx="10"/>
          </p:nvPr>
        </p:nvSpPr>
        <p:spPr/>
        <p:txBody>
          <a:bodyPr/>
          <a:lstStyle>
            <a:lvl1pPr>
              <a:defRPr/>
            </a:lvl1pPr>
          </a:lstStyle>
          <a:p>
            <a:pPr>
              <a:defRPr/>
            </a:pPr>
            <a:fld id="{4630820B-D0F1-47EF-A8DA-9994F9F83B6C}" type="datetime1">
              <a:rPr lang="zh-CN" altLang="en-US"/>
            </a:fld>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r>
              <a:rPr lang="en-US" altLang="zh-CN"/>
              <a:t>逻辑代数基础----《数字电路》</a:t>
            </a:r>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DC6CC5FF-F08F-495A-851B-EA259259A747}" type="slidenum">
              <a:rPr lang="en-US" altLang="zh-CN"/>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600" y="1719263"/>
            <a:ext cx="5384800" cy="4411662"/>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7600" y="1719263"/>
            <a:ext cx="5384800" cy="4411662"/>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Rectangle 5"/>
          <p:cNvSpPr>
            <a:spLocks noGrp="1" noChangeArrowheads="1"/>
          </p:cNvSpPr>
          <p:nvPr>
            <p:ph type="dt" sz="half" idx="10"/>
          </p:nvPr>
        </p:nvSpPr>
        <p:spPr/>
        <p:txBody>
          <a:bodyPr/>
          <a:lstStyle>
            <a:lvl1pPr>
              <a:defRPr/>
            </a:lvl1pPr>
          </a:lstStyle>
          <a:p>
            <a:pPr>
              <a:defRPr/>
            </a:pPr>
            <a:fld id="{69117693-7908-4A91-B471-8FEF6DA281B2}" type="datetime1">
              <a:rPr lang="zh-CN" altLang="en-US"/>
            </a:fld>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r>
              <a:rPr lang="en-US" altLang="zh-CN"/>
              <a:t>逻辑代数基础----《数字电路》</a:t>
            </a:r>
            <a:endParaRPr lang="en-US" altLang="zh-CN"/>
          </a:p>
        </p:txBody>
      </p:sp>
      <p:sp>
        <p:nvSpPr>
          <p:cNvPr id="7" name="Rectangle 7"/>
          <p:cNvSpPr>
            <a:spLocks noGrp="1" noChangeArrowheads="1"/>
          </p:cNvSpPr>
          <p:nvPr>
            <p:ph type="sldNum" sz="quarter" idx="12"/>
          </p:nvPr>
        </p:nvSpPr>
        <p:spPr/>
        <p:txBody>
          <a:bodyPr/>
          <a:lstStyle>
            <a:lvl1pPr>
              <a:defRPr/>
            </a:lvl1pPr>
          </a:lstStyle>
          <a:p>
            <a:pPr>
              <a:defRPr/>
            </a:pPr>
            <a:fld id="{55274614-4E03-4DCB-98CE-097C97818E79}" type="slidenum">
              <a:rPr lang="en-US" altLang="zh-CN"/>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40317" y="365126"/>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40318" y="2505075"/>
            <a:ext cx="5158316"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71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Rectangle 5"/>
          <p:cNvSpPr>
            <a:spLocks noGrp="1" noChangeArrowheads="1"/>
          </p:cNvSpPr>
          <p:nvPr>
            <p:ph type="dt" sz="half" idx="10"/>
          </p:nvPr>
        </p:nvSpPr>
        <p:spPr/>
        <p:txBody>
          <a:bodyPr/>
          <a:lstStyle>
            <a:lvl1pPr>
              <a:defRPr/>
            </a:lvl1pPr>
          </a:lstStyle>
          <a:p>
            <a:pPr>
              <a:defRPr/>
            </a:pPr>
            <a:fld id="{88C2CC61-C6FC-4A0D-9DB9-9F02363F5AE9}" type="datetime1">
              <a:rPr lang="zh-CN" altLang="en-US"/>
            </a:fld>
            <a:endParaRPr lang="en-US" altLang="zh-CN"/>
          </a:p>
        </p:txBody>
      </p:sp>
      <p:sp>
        <p:nvSpPr>
          <p:cNvPr id="8" name="Rectangle 6"/>
          <p:cNvSpPr>
            <a:spLocks noGrp="1" noChangeArrowheads="1"/>
          </p:cNvSpPr>
          <p:nvPr>
            <p:ph type="ftr" sz="quarter" idx="11"/>
          </p:nvPr>
        </p:nvSpPr>
        <p:spPr/>
        <p:txBody>
          <a:bodyPr/>
          <a:lstStyle>
            <a:lvl1pPr>
              <a:defRPr/>
            </a:lvl1pPr>
          </a:lstStyle>
          <a:p>
            <a:pPr>
              <a:defRPr/>
            </a:pPr>
            <a:r>
              <a:rPr lang="en-US" altLang="zh-CN"/>
              <a:t>逻辑代数基础----《数字电路》</a:t>
            </a:r>
            <a:endParaRPr lang="en-US" altLang="zh-CN"/>
          </a:p>
        </p:txBody>
      </p:sp>
      <p:sp>
        <p:nvSpPr>
          <p:cNvPr id="9" name="Rectangle 7"/>
          <p:cNvSpPr>
            <a:spLocks noGrp="1" noChangeArrowheads="1"/>
          </p:cNvSpPr>
          <p:nvPr>
            <p:ph type="sldNum" sz="quarter" idx="12"/>
          </p:nvPr>
        </p:nvSpPr>
        <p:spPr/>
        <p:txBody>
          <a:bodyPr/>
          <a:lstStyle>
            <a:lvl1pPr>
              <a:defRPr/>
            </a:lvl1pPr>
          </a:lstStyle>
          <a:p>
            <a:pPr>
              <a:defRPr/>
            </a:pPr>
            <a:fld id="{F89CEBCD-7FCF-484B-9305-64C83D94B2D9}" type="slidenum">
              <a:rPr lang="en-US" altLang="zh-CN"/>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5"/>
          <p:cNvSpPr>
            <a:spLocks noGrp="1" noChangeArrowheads="1"/>
          </p:cNvSpPr>
          <p:nvPr>
            <p:ph type="dt" sz="half" idx="10"/>
          </p:nvPr>
        </p:nvSpPr>
        <p:spPr/>
        <p:txBody>
          <a:bodyPr/>
          <a:lstStyle>
            <a:lvl1pPr>
              <a:defRPr/>
            </a:lvl1pPr>
          </a:lstStyle>
          <a:p>
            <a:pPr>
              <a:defRPr/>
            </a:pPr>
            <a:fld id="{696741FA-DDBC-4EA0-94D5-FBD8154C3488}" type="datetime1">
              <a:rPr lang="zh-CN" altLang="en-US"/>
            </a:fld>
            <a:endParaRPr lang="en-US" altLang="zh-CN"/>
          </a:p>
        </p:txBody>
      </p:sp>
      <p:sp>
        <p:nvSpPr>
          <p:cNvPr id="4" name="Rectangle 6"/>
          <p:cNvSpPr>
            <a:spLocks noGrp="1" noChangeArrowheads="1"/>
          </p:cNvSpPr>
          <p:nvPr>
            <p:ph type="ftr" sz="quarter" idx="11"/>
          </p:nvPr>
        </p:nvSpPr>
        <p:spPr/>
        <p:txBody>
          <a:bodyPr/>
          <a:lstStyle>
            <a:lvl1pPr>
              <a:defRPr/>
            </a:lvl1pPr>
          </a:lstStyle>
          <a:p>
            <a:pPr>
              <a:defRPr/>
            </a:pPr>
            <a:r>
              <a:rPr lang="en-US" altLang="zh-CN"/>
              <a:t>逻辑代数基础----《数字电路》</a:t>
            </a:r>
            <a:endParaRPr lang="en-US" altLang="zh-CN"/>
          </a:p>
        </p:txBody>
      </p:sp>
      <p:sp>
        <p:nvSpPr>
          <p:cNvPr id="5" name="Rectangle 7"/>
          <p:cNvSpPr>
            <a:spLocks noGrp="1" noChangeArrowheads="1"/>
          </p:cNvSpPr>
          <p:nvPr>
            <p:ph type="sldNum" sz="quarter" idx="12"/>
          </p:nvPr>
        </p:nvSpPr>
        <p:spPr/>
        <p:txBody>
          <a:bodyPr/>
          <a:lstStyle>
            <a:lvl1pPr>
              <a:defRPr/>
            </a:lvl1pPr>
          </a:lstStyle>
          <a:p>
            <a:pPr>
              <a:defRPr/>
            </a:pPr>
            <a:fld id="{A074A460-7B25-4553-A69A-B2BB29F6AC23}" type="slidenum">
              <a:rPr lang="en-US" altLang="zh-CN"/>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p:txBody>
          <a:bodyPr/>
          <a:lstStyle>
            <a:lvl1pPr>
              <a:defRPr/>
            </a:lvl1pPr>
          </a:lstStyle>
          <a:p>
            <a:pPr>
              <a:defRPr/>
            </a:pPr>
            <a:fld id="{9E163E86-D2F7-47EE-8733-36D525731CFA}" type="datetime1">
              <a:rPr lang="zh-CN" altLang="en-US"/>
            </a:fld>
            <a:endParaRPr lang="en-US" altLang="zh-CN"/>
          </a:p>
        </p:txBody>
      </p:sp>
      <p:sp>
        <p:nvSpPr>
          <p:cNvPr id="3" name="Rectangle 6"/>
          <p:cNvSpPr>
            <a:spLocks noGrp="1" noChangeArrowheads="1"/>
          </p:cNvSpPr>
          <p:nvPr>
            <p:ph type="ftr" sz="quarter" idx="11"/>
          </p:nvPr>
        </p:nvSpPr>
        <p:spPr/>
        <p:txBody>
          <a:bodyPr/>
          <a:lstStyle>
            <a:lvl1pPr>
              <a:defRPr/>
            </a:lvl1pPr>
          </a:lstStyle>
          <a:p>
            <a:pPr>
              <a:defRPr/>
            </a:pPr>
            <a:r>
              <a:rPr lang="en-US" altLang="zh-CN"/>
              <a:t>逻辑代数基础----《数字电路》</a:t>
            </a:r>
            <a:endParaRPr lang="en-US" altLang="zh-CN"/>
          </a:p>
        </p:txBody>
      </p:sp>
      <p:sp>
        <p:nvSpPr>
          <p:cNvPr id="4" name="Rectangle 7"/>
          <p:cNvSpPr>
            <a:spLocks noGrp="1" noChangeArrowheads="1"/>
          </p:cNvSpPr>
          <p:nvPr>
            <p:ph type="sldNum" sz="quarter" idx="12"/>
          </p:nvPr>
        </p:nvSpPr>
        <p:spPr/>
        <p:txBody>
          <a:bodyPr/>
          <a:lstStyle>
            <a:lvl1pPr>
              <a:defRPr/>
            </a:lvl1pPr>
          </a:lstStyle>
          <a:p>
            <a:pPr>
              <a:defRPr/>
            </a:pPr>
            <a:fld id="{302A3EF1-332A-4F12-8EA6-9ED17615C70E}" type="slidenum">
              <a:rPr lang="en-US" altLang="zh-CN"/>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318" y="457200"/>
            <a:ext cx="3932767" cy="1600200"/>
          </a:xfrm>
        </p:spPr>
        <p:txBody>
          <a:bodyPr/>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Rectangle 5"/>
          <p:cNvSpPr>
            <a:spLocks noGrp="1" noChangeArrowheads="1"/>
          </p:cNvSpPr>
          <p:nvPr>
            <p:ph type="dt" sz="half" idx="10"/>
          </p:nvPr>
        </p:nvSpPr>
        <p:spPr/>
        <p:txBody>
          <a:bodyPr/>
          <a:lstStyle>
            <a:lvl1pPr>
              <a:defRPr/>
            </a:lvl1pPr>
          </a:lstStyle>
          <a:p>
            <a:pPr>
              <a:defRPr/>
            </a:pPr>
            <a:fld id="{71B77AC4-9B6B-4955-98AD-6DB523334E40}" type="datetime1">
              <a:rPr lang="zh-CN" altLang="en-US"/>
            </a:fld>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r>
              <a:rPr lang="en-US" altLang="zh-CN"/>
              <a:t>逻辑代数基础----《数字电路》</a:t>
            </a:r>
            <a:endParaRPr lang="en-US" altLang="zh-CN"/>
          </a:p>
        </p:txBody>
      </p:sp>
      <p:sp>
        <p:nvSpPr>
          <p:cNvPr id="7" name="Rectangle 7"/>
          <p:cNvSpPr>
            <a:spLocks noGrp="1" noChangeArrowheads="1"/>
          </p:cNvSpPr>
          <p:nvPr>
            <p:ph type="sldNum" sz="quarter" idx="12"/>
          </p:nvPr>
        </p:nvSpPr>
        <p:spPr/>
        <p:txBody>
          <a:bodyPr/>
          <a:lstStyle>
            <a:lvl1pPr>
              <a:defRPr/>
            </a:lvl1pPr>
          </a:lstStyle>
          <a:p>
            <a:pPr>
              <a:defRPr/>
            </a:pPr>
            <a:fld id="{BF467FF3-FD84-43F7-9698-CD5E53E22EED}" type="slidenum">
              <a:rPr lang="en-US" altLang="zh-CN"/>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318" y="457200"/>
            <a:ext cx="3932767" cy="1600200"/>
          </a:xfrm>
        </p:spPr>
        <p:txBody>
          <a:bodyPr/>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Rectangle 5"/>
          <p:cNvSpPr>
            <a:spLocks noGrp="1" noChangeArrowheads="1"/>
          </p:cNvSpPr>
          <p:nvPr>
            <p:ph type="dt" sz="half" idx="10"/>
          </p:nvPr>
        </p:nvSpPr>
        <p:spPr/>
        <p:txBody>
          <a:bodyPr/>
          <a:lstStyle>
            <a:lvl1pPr>
              <a:defRPr/>
            </a:lvl1pPr>
          </a:lstStyle>
          <a:p>
            <a:pPr>
              <a:defRPr/>
            </a:pPr>
            <a:fld id="{D12B7E4C-ECAE-4348-B44D-B6E27617DF07}" type="datetime1">
              <a:rPr lang="zh-CN" altLang="en-US"/>
            </a:fld>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r>
              <a:rPr lang="en-US" altLang="zh-CN"/>
              <a:t>逻辑代数基础----《数字电路》</a:t>
            </a:r>
            <a:endParaRPr lang="en-US" altLang="zh-CN"/>
          </a:p>
        </p:txBody>
      </p:sp>
      <p:sp>
        <p:nvSpPr>
          <p:cNvPr id="7" name="Rectangle 7"/>
          <p:cNvSpPr>
            <a:spLocks noGrp="1" noChangeArrowheads="1"/>
          </p:cNvSpPr>
          <p:nvPr>
            <p:ph type="sldNum" sz="quarter" idx="12"/>
          </p:nvPr>
        </p:nvSpPr>
        <p:spPr/>
        <p:txBody>
          <a:bodyPr/>
          <a:lstStyle>
            <a:lvl1pPr>
              <a:defRPr/>
            </a:lvl1pPr>
          </a:lstStyle>
          <a:p>
            <a:pPr>
              <a:defRPr/>
            </a:pPr>
            <a:fld id="{F7AF11EB-CA78-49BC-B922-1C8209DB6A33}" type="slidenum">
              <a:rPr lang="en-US" altLang="zh-CN"/>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Rectangle 5"/>
          <p:cNvSpPr>
            <a:spLocks noGrp="1" noChangeArrowheads="1"/>
          </p:cNvSpPr>
          <p:nvPr>
            <p:ph type="dt" sz="half" idx="10"/>
          </p:nvPr>
        </p:nvSpPr>
        <p:spPr/>
        <p:txBody>
          <a:bodyPr/>
          <a:lstStyle>
            <a:lvl1pPr>
              <a:defRPr/>
            </a:lvl1pPr>
          </a:lstStyle>
          <a:p>
            <a:pPr>
              <a:defRPr/>
            </a:pPr>
            <a:fld id="{7DA0FF42-8979-4AE7-AB32-AB2B478435CF}" type="datetime1">
              <a:rPr lang="zh-CN" altLang="en-US"/>
            </a:fld>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r>
              <a:rPr lang="en-US" altLang="zh-CN"/>
              <a:t>逻辑代数基础----《数字电路》</a:t>
            </a:r>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FBCA54F1-1552-454D-8C86-18F7606D2603}" type="slidenum">
              <a:rPr lang="en-US" altLang="zh-CN"/>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122239"/>
            <a:ext cx="2743200" cy="6008687"/>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122239"/>
            <a:ext cx="8026400" cy="6008687"/>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Rectangle 5"/>
          <p:cNvSpPr>
            <a:spLocks noGrp="1" noChangeArrowheads="1"/>
          </p:cNvSpPr>
          <p:nvPr>
            <p:ph type="dt" sz="half" idx="10"/>
          </p:nvPr>
        </p:nvSpPr>
        <p:spPr/>
        <p:txBody>
          <a:bodyPr/>
          <a:lstStyle>
            <a:lvl1pPr>
              <a:defRPr/>
            </a:lvl1pPr>
          </a:lstStyle>
          <a:p>
            <a:pPr>
              <a:defRPr/>
            </a:pPr>
            <a:fld id="{D76E9331-9EC7-4BC1-9F19-95838F0AB25F}" type="datetime1">
              <a:rPr lang="zh-CN" altLang="en-US"/>
            </a:fld>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r>
              <a:rPr lang="en-US" altLang="zh-CN"/>
              <a:t>逻辑代数基础----《数字电路》</a:t>
            </a:r>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D55095CD-4004-401E-BA56-829390CFAA6A}" type="slidenum">
              <a:rPr lang="en-US" altLang="zh-CN"/>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22238"/>
            <a:ext cx="10058400" cy="12954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609600" y="1719263"/>
            <a:ext cx="5384800" cy="4411662"/>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7600" y="1719263"/>
            <a:ext cx="5384800" cy="4411662"/>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Rectangle 5"/>
          <p:cNvSpPr>
            <a:spLocks noGrp="1" noChangeArrowheads="1"/>
          </p:cNvSpPr>
          <p:nvPr>
            <p:ph type="dt" sz="half" idx="10"/>
          </p:nvPr>
        </p:nvSpPr>
        <p:spPr/>
        <p:txBody>
          <a:bodyPr/>
          <a:lstStyle>
            <a:lvl1pPr>
              <a:defRPr/>
            </a:lvl1pPr>
          </a:lstStyle>
          <a:p>
            <a:pPr>
              <a:defRPr/>
            </a:pPr>
            <a:fld id="{DBFF7F5F-45AA-4834-B66F-E424254E1B5E}" type="datetime1">
              <a:rPr lang="zh-CN" altLang="en-US"/>
            </a:fld>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r>
              <a:rPr lang="en-US" altLang="zh-CN"/>
              <a:t>逻辑代数基础----《数字电路》</a:t>
            </a:r>
            <a:endParaRPr lang="en-US" altLang="zh-CN"/>
          </a:p>
        </p:txBody>
      </p:sp>
      <p:sp>
        <p:nvSpPr>
          <p:cNvPr id="7" name="Rectangle 7"/>
          <p:cNvSpPr>
            <a:spLocks noGrp="1" noChangeArrowheads="1"/>
          </p:cNvSpPr>
          <p:nvPr>
            <p:ph type="sldNum" sz="quarter" idx="12"/>
          </p:nvPr>
        </p:nvSpPr>
        <p:spPr/>
        <p:txBody>
          <a:bodyPr/>
          <a:lstStyle>
            <a:lvl1pPr>
              <a:defRPr/>
            </a:lvl1pPr>
          </a:lstStyle>
          <a:p>
            <a:pPr>
              <a:defRPr/>
            </a:pPr>
            <a:fld id="{C9A6D292-B2CC-4663-B63B-6660727BF522}" type="slidenum">
              <a:rPr lang="en-US"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Line 2"/>
          <p:cNvSpPr>
            <a:spLocks noChangeShapeType="1"/>
          </p:cNvSpPr>
          <p:nvPr/>
        </p:nvSpPr>
        <p:spPr bwMode="auto">
          <a:xfrm>
            <a:off x="10617200" y="152400"/>
            <a:ext cx="0" cy="1524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p>
        </p:txBody>
      </p:sp>
      <p:sp>
        <p:nvSpPr>
          <p:cNvPr id="1027" name="Rectangle 3"/>
          <p:cNvSpPr>
            <a:spLocks noGrp="1" noChangeArrowheads="1"/>
          </p:cNvSpPr>
          <p:nvPr>
            <p:ph type="title"/>
          </p:nvPr>
        </p:nvSpPr>
        <p:spPr bwMode="auto">
          <a:xfrm>
            <a:off x="609600" y="122238"/>
            <a:ext cx="100584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a:r>
              <a:rPr lang="en-US" altLang="zh-CN" dirty="0" err="1"/>
              <a:t>单击此处编辑母版标题样式</a:t>
            </a:r>
            <a:endParaRPr lang="en-US" altLang="zh-CN" dirty="0"/>
          </a:p>
        </p:txBody>
      </p:sp>
      <p:sp>
        <p:nvSpPr>
          <p:cNvPr id="1028" name="Rectangle 4"/>
          <p:cNvSpPr>
            <a:spLocks noGrp="1" noChangeArrowheads="1"/>
          </p:cNvSpPr>
          <p:nvPr>
            <p:ph type="body" idx="1"/>
          </p:nvPr>
        </p:nvSpPr>
        <p:spPr bwMode="auto">
          <a:xfrm>
            <a:off x="609600" y="1719263"/>
            <a:ext cx="10101541" cy="4411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en-US" altLang="zh-CN" dirty="0" err="1"/>
              <a:t>单击此处编辑母版文本样式</a:t>
            </a:r>
            <a:endParaRPr lang="en-US" altLang="zh-CN" dirty="0"/>
          </a:p>
          <a:p>
            <a:pPr lvl="1"/>
            <a:r>
              <a:rPr lang="en-US" altLang="zh-CN" dirty="0" err="1"/>
              <a:t>第二级</a:t>
            </a:r>
            <a:endParaRPr lang="en-US" altLang="zh-CN" dirty="0"/>
          </a:p>
          <a:p>
            <a:pPr lvl="2"/>
            <a:r>
              <a:rPr lang="en-US" altLang="zh-CN" dirty="0" err="1"/>
              <a:t>第三级</a:t>
            </a:r>
            <a:endParaRPr lang="en-US" altLang="zh-CN" dirty="0"/>
          </a:p>
          <a:p>
            <a:pPr lvl="3"/>
            <a:r>
              <a:rPr lang="en-US" altLang="zh-CN" dirty="0" err="1"/>
              <a:t>第四级</a:t>
            </a:r>
            <a:endParaRPr lang="en-US" altLang="zh-CN" dirty="0"/>
          </a:p>
          <a:p>
            <a:pPr lvl="4"/>
            <a:r>
              <a:rPr lang="en-US" altLang="zh-CN" dirty="0" err="1"/>
              <a:t>第五级</a:t>
            </a:r>
            <a:endParaRPr lang="en-US" altLang="zh-CN" dirty="0"/>
          </a:p>
        </p:txBody>
      </p:sp>
      <p:sp>
        <p:nvSpPr>
          <p:cNvPr id="174085" name="Rectangle 5"/>
          <p:cNvSpPr>
            <a:spLocks noGrp="1" noChangeArrowheads="1"/>
          </p:cNvSpPr>
          <p:nvPr>
            <p:ph type="dt" sz="half" idx="2"/>
          </p:nvPr>
        </p:nvSpPr>
        <p:spPr bwMode="auto">
          <a:xfrm>
            <a:off x="609600" y="6248400"/>
            <a:ext cx="2844800" cy="457200"/>
          </a:xfrm>
          <a:prstGeom prst="rect">
            <a:avLst/>
          </a:prstGeom>
          <a:noFill/>
          <a:ln>
            <a:noFill/>
          </a:ln>
          <a:effectLst/>
        </p:spPr>
        <p:txBody>
          <a:bodyPr vert="horz" wrap="square" lIns="91440" tIns="45720" rIns="91440" bIns="45720" numCol="1" anchor="t" anchorCtr="0" compatLnSpc="1"/>
          <a:lstStyle>
            <a:lvl1pPr eaLnBrk="1" hangingPunct="1">
              <a:defRPr sz="1000" smtClean="0"/>
            </a:lvl1pPr>
          </a:lstStyle>
          <a:p>
            <a:pPr>
              <a:defRPr/>
            </a:pPr>
            <a:fld id="{054E35A8-292F-4AEC-B83B-BB31DB8FE108}" type="datetime1">
              <a:rPr lang="zh-CN" altLang="en-US"/>
            </a:fld>
            <a:endParaRPr lang="en-US" altLang="zh-CN"/>
          </a:p>
        </p:txBody>
      </p:sp>
      <p:sp>
        <p:nvSpPr>
          <p:cNvPr id="174086" name="Rectangle 6"/>
          <p:cNvSpPr>
            <a:spLocks noGrp="1" noChangeArrowheads="1"/>
          </p:cNvSpPr>
          <p:nvPr>
            <p:ph type="ftr" sz="quarter" idx="3"/>
          </p:nvPr>
        </p:nvSpPr>
        <p:spPr bwMode="auto">
          <a:xfrm>
            <a:off x="4165600" y="6248400"/>
            <a:ext cx="3860800" cy="457200"/>
          </a:xfrm>
          <a:prstGeom prst="rect">
            <a:avLst/>
          </a:prstGeom>
          <a:noFill/>
          <a:ln>
            <a:noFill/>
          </a:ln>
          <a:effectLst/>
        </p:spPr>
        <p:txBody>
          <a:bodyPr vert="horz" wrap="square" lIns="91440" tIns="45720" rIns="91440" bIns="45720" numCol="1" anchor="t" anchorCtr="0" compatLnSpc="1"/>
          <a:lstStyle>
            <a:lvl1pPr algn="ctr" eaLnBrk="1" hangingPunct="1">
              <a:defRPr sz="1000"/>
            </a:lvl1pPr>
          </a:lstStyle>
          <a:p>
            <a:pPr>
              <a:defRPr/>
            </a:pPr>
            <a:r>
              <a:rPr lang="en-US" altLang="zh-CN"/>
              <a:t>逻辑代数基础----《数字电路》</a:t>
            </a:r>
            <a:endParaRPr lang="en-US" altLang="zh-CN"/>
          </a:p>
        </p:txBody>
      </p:sp>
      <p:sp>
        <p:nvSpPr>
          <p:cNvPr id="174087" name="Rectangle 7"/>
          <p:cNvSpPr>
            <a:spLocks noGrp="1" noChangeArrowheads="1"/>
          </p:cNvSpPr>
          <p:nvPr>
            <p:ph type="sldNum" sz="quarter" idx="4"/>
          </p:nvPr>
        </p:nvSpPr>
        <p:spPr bwMode="auto">
          <a:xfrm>
            <a:off x="8737600" y="6248400"/>
            <a:ext cx="2844800" cy="457200"/>
          </a:xfrm>
          <a:prstGeom prst="rect">
            <a:avLst/>
          </a:prstGeom>
          <a:noFill/>
          <a:ln>
            <a:noFill/>
          </a:ln>
          <a:effectLst/>
        </p:spPr>
        <p:txBody>
          <a:bodyPr vert="horz" wrap="square" lIns="91440" tIns="45720" rIns="91440" bIns="45720" numCol="1" anchor="t" anchorCtr="0" compatLnSpc="1"/>
          <a:lstStyle>
            <a:lvl1pPr algn="r" eaLnBrk="1" hangingPunct="1">
              <a:defRPr sz="1000" smtClean="0"/>
            </a:lvl1pPr>
          </a:lstStyle>
          <a:p>
            <a:pPr>
              <a:defRPr/>
            </a:pPr>
            <a:fld id="{1A8543FF-F682-49C5-9892-9CF2B52A8733}" type="slidenum">
              <a:rPr lang="en-US" altLang="zh-CN"/>
            </a:fld>
            <a:endParaRPr lang="en-US" altLang="zh-CN"/>
          </a:p>
        </p:txBody>
      </p:sp>
      <p:grpSp>
        <p:nvGrpSpPr>
          <p:cNvPr id="1032" name="Group 8"/>
          <p:cNvGrpSpPr/>
          <p:nvPr/>
        </p:nvGrpSpPr>
        <p:grpSpPr bwMode="auto">
          <a:xfrm>
            <a:off x="10871201" y="152400"/>
            <a:ext cx="1056217" cy="1295400"/>
            <a:chOff x="5136" y="960"/>
            <a:chExt cx="528" cy="864"/>
          </a:xfrm>
        </p:grpSpPr>
        <p:sp>
          <p:nvSpPr>
            <p:cNvPr id="1033" name="Oval 9"/>
            <p:cNvSpPr>
              <a:spLocks noChangeArrowheads="1"/>
            </p:cNvSpPr>
            <p:nvPr/>
          </p:nvSpPr>
          <p:spPr bwMode="auto">
            <a:xfrm>
              <a:off x="5136"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34" name="Oval 10"/>
            <p:cNvSpPr>
              <a:spLocks noChangeArrowheads="1"/>
            </p:cNvSpPr>
            <p:nvPr/>
          </p:nvSpPr>
          <p:spPr bwMode="auto">
            <a:xfrm>
              <a:off x="5248"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35" name="Oval 11"/>
            <p:cNvSpPr>
              <a:spLocks noChangeArrowheads="1"/>
            </p:cNvSpPr>
            <p:nvPr/>
          </p:nvSpPr>
          <p:spPr bwMode="auto">
            <a:xfrm>
              <a:off x="5360"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36" name="Oval 12"/>
            <p:cNvSpPr>
              <a:spLocks noChangeArrowheads="1"/>
            </p:cNvSpPr>
            <p:nvPr/>
          </p:nvSpPr>
          <p:spPr bwMode="auto">
            <a:xfrm>
              <a:off x="5136"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37" name="Oval 13"/>
            <p:cNvSpPr>
              <a:spLocks noChangeArrowheads="1"/>
            </p:cNvSpPr>
            <p:nvPr/>
          </p:nvSpPr>
          <p:spPr bwMode="auto">
            <a:xfrm>
              <a:off x="5248"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38" name="Oval 14"/>
            <p:cNvSpPr>
              <a:spLocks noChangeArrowheads="1"/>
            </p:cNvSpPr>
            <p:nvPr/>
          </p:nvSpPr>
          <p:spPr bwMode="auto">
            <a:xfrm>
              <a:off x="5360"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39" name="Oval 15"/>
            <p:cNvSpPr>
              <a:spLocks noChangeArrowheads="1"/>
            </p:cNvSpPr>
            <p:nvPr/>
          </p:nvSpPr>
          <p:spPr bwMode="auto">
            <a:xfrm>
              <a:off x="5472" y="1072"/>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40" name="Oval 16"/>
            <p:cNvSpPr>
              <a:spLocks noChangeArrowheads="1"/>
            </p:cNvSpPr>
            <p:nvPr/>
          </p:nvSpPr>
          <p:spPr bwMode="auto">
            <a:xfrm>
              <a:off x="5136"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41" name="Oval 17"/>
            <p:cNvSpPr>
              <a:spLocks noChangeArrowheads="1"/>
            </p:cNvSpPr>
            <p:nvPr/>
          </p:nvSpPr>
          <p:spPr bwMode="auto">
            <a:xfrm>
              <a:off x="5248"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42" name="Oval 18"/>
            <p:cNvSpPr>
              <a:spLocks noChangeArrowheads="1"/>
            </p:cNvSpPr>
            <p:nvPr/>
          </p:nvSpPr>
          <p:spPr bwMode="auto">
            <a:xfrm>
              <a:off x="5360"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43" name="Oval 19"/>
            <p:cNvSpPr>
              <a:spLocks noChangeArrowheads="1"/>
            </p:cNvSpPr>
            <p:nvPr/>
          </p:nvSpPr>
          <p:spPr bwMode="auto">
            <a:xfrm>
              <a:off x="5472"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44" name="Oval 20"/>
            <p:cNvSpPr>
              <a:spLocks noChangeArrowheads="1"/>
            </p:cNvSpPr>
            <p:nvPr/>
          </p:nvSpPr>
          <p:spPr bwMode="auto">
            <a:xfrm>
              <a:off x="5584" y="1184"/>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45" name="Oval 21"/>
            <p:cNvSpPr>
              <a:spLocks noChangeArrowheads="1"/>
            </p:cNvSpPr>
            <p:nvPr/>
          </p:nvSpPr>
          <p:spPr bwMode="auto">
            <a:xfrm>
              <a:off x="5136" y="1296"/>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46" name="Oval 22"/>
            <p:cNvSpPr>
              <a:spLocks noChangeArrowheads="1"/>
            </p:cNvSpPr>
            <p:nvPr/>
          </p:nvSpPr>
          <p:spPr bwMode="auto">
            <a:xfrm>
              <a:off x="5248"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47" name="Oval 23"/>
            <p:cNvSpPr>
              <a:spLocks noChangeArrowheads="1"/>
            </p:cNvSpPr>
            <p:nvPr/>
          </p:nvSpPr>
          <p:spPr bwMode="auto">
            <a:xfrm>
              <a:off x="5360"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48" name="Oval 24"/>
            <p:cNvSpPr>
              <a:spLocks noChangeArrowheads="1"/>
            </p:cNvSpPr>
            <p:nvPr/>
          </p:nvSpPr>
          <p:spPr bwMode="auto">
            <a:xfrm>
              <a:off x="5472" y="1296"/>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49" name="Oval 25"/>
            <p:cNvSpPr>
              <a:spLocks noChangeArrowheads="1"/>
            </p:cNvSpPr>
            <p:nvPr/>
          </p:nvSpPr>
          <p:spPr bwMode="auto">
            <a:xfrm>
              <a:off x="5136"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50" name="Oval 26"/>
            <p:cNvSpPr>
              <a:spLocks noChangeArrowheads="1"/>
            </p:cNvSpPr>
            <p:nvPr/>
          </p:nvSpPr>
          <p:spPr bwMode="auto">
            <a:xfrm>
              <a:off x="5248"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51" name="Oval 27"/>
            <p:cNvSpPr>
              <a:spLocks noChangeArrowheads="1"/>
            </p:cNvSpPr>
            <p:nvPr/>
          </p:nvSpPr>
          <p:spPr bwMode="auto">
            <a:xfrm>
              <a:off x="5360"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52" name="Oval 28"/>
            <p:cNvSpPr>
              <a:spLocks noChangeArrowheads="1"/>
            </p:cNvSpPr>
            <p:nvPr/>
          </p:nvSpPr>
          <p:spPr bwMode="auto">
            <a:xfrm>
              <a:off x="5472"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53" name="Oval 29"/>
            <p:cNvSpPr>
              <a:spLocks noChangeArrowheads="1"/>
            </p:cNvSpPr>
            <p:nvPr/>
          </p:nvSpPr>
          <p:spPr bwMode="auto">
            <a:xfrm>
              <a:off x="5584" y="1408"/>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54" name="Oval 30"/>
            <p:cNvSpPr>
              <a:spLocks noChangeArrowheads="1"/>
            </p:cNvSpPr>
            <p:nvPr/>
          </p:nvSpPr>
          <p:spPr bwMode="auto">
            <a:xfrm>
              <a:off x="5136" y="1520"/>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55" name="Oval 31"/>
            <p:cNvSpPr>
              <a:spLocks noChangeArrowheads="1"/>
            </p:cNvSpPr>
            <p:nvPr/>
          </p:nvSpPr>
          <p:spPr bwMode="auto">
            <a:xfrm>
              <a:off x="5248"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56" name="Oval 32"/>
            <p:cNvSpPr>
              <a:spLocks noChangeArrowheads="1"/>
            </p:cNvSpPr>
            <p:nvPr/>
          </p:nvSpPr>
          <p:spPr bwMode="auto">
            <a:xfrm>
              <a:off x="5360"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57" name="Oval 33"/>
            <p:cNvSpPr>
              <a:spLocks noChangeArrowheads="1"/>
            </p:cNvSpPr>
            <p:nvPr/>
          </p:nvSpPr>
          <p:spPr bwMode="auto">
            <a:xfrm>
              <a:off x="5472" y="1520"/>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58" name="Oval 34"/>
            <p:cNvSpPr>
              <a:spLocks noChangeArrowheads="1"/>
            </p:cNvSpPr>
            <p:nvPr/>
          </p:nvSpPr>
          <p:spPr bwMode="auto">
            <a:xfrm>
              <a:off x="5136"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59" name="Oval 35"/>
            <p:cNvSpPr>
              <a:spLocks noChangeArrowheads="1"/>
            </p:cNvSpPr>
            <p:nvPr/>
          </p:nvSpPr>
          <p:spPr bwMode="auto">
            <a:xfrm>
              <a:off x="5248"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60" name="Oval 36"/>
            <p:cNvSpPr>
              <a:spLocks noChangeArrowheads="1"/>
            </p:cNvSpPr>
            <p:nvPr/>
          </p:nvSpPr>
          <p:spPr bwMode="auto">
            <a:xfrm>
              <a:off x="5360"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61" name="Oval 37"/>
            <p:cNvSpPr>
              <a:spLocks noChangeArrowheads="1"/>
            </p:cNvSpPr>
            <p:nvPr/>
          </p:nvSpPr>
          <p:spPr bwMode="auto">
            <a:xfrm>
              <a:off x="5472"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62" name="Oval 38"/>
            <p:cNvSpPr>
              <a:spLocks noChangeArrowheads="1"/>
            </p:cNvSpPr>
            <p:nvPr/>
          </p:nvSpPr>
          <p:spPr bwMode="auto">
            <a:xfrm>
              <a:off x="5248"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63" name="Oval 39"/>
            <p:cNvSpPr>
              <a:spLocks noChangeArrowheads="1"/>
            </p:cNvSpPr>
            <p:nvPr/>
          </p:nvSpPr>
          <p:spPr bwMode="auto">
            <a:xfrm>
              <a:off x="5472"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p:txStyles>
    <p:titleStyle>
      <a:lvl1pPr algn="ctr" rtl="0" eaLnBrk="0" fontAlgn="base" hangingPunct="0">
        <a:spcBef>
          <a:spcPct val="0"/>
        </a:spcBef>
        <a:spcAft>
          <a:spcPct val="0"/>
        </a:spcAft>
        <a:defRPr sz="3900" b="1" kern="1200">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2800" kern="1200">
          <a:solidFill>
            <a:schemeClr val="tx1"/>
          </a:solidFill>
          <a:latin typeface="+mn-ea"/>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kern="1200">
          <a:solidFill>
            <a:schemeClr val="tx1"/>
          </a:solidFill>
          <a:latin typeface="+mn-lt"/>
          <a:ea typeface="+mn-ea"/>
          <a:cs typeface="+mn-cs"/>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kern="1200">
          <a:solidFill>
            <a:schemeClr val="tx1"/>
          </a:solidFill>
          <a:latin typeface="+mn-lt"/>
          <a:ea typeface="+mn-ea"/>
          <a:cs typeface="+mn-cs"/>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kern="1200">
          <a:solidFill>
            <a:schemeClr val="tx1"/>
          </a:solidFill>
          <a:latin typeface="+mn-lt"/>
          <a:ea typeface="+mn-ea"/>
          <a:cs typeface="+mn-cs"/>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w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9" Type="http://schemas.openxmlformats.org/officeDocument/2006/relationships/vmlDrawing" Target="../drawings/vmlDrawing1.vml"/><Relationship Id="rId8" Type="http://schemas.openxmlformats.org/officeDocument/2006/relationships/slideLayout" Target="../slideLayouts/slideLayout2.xml"/><Relationship Id="rId7" Type="http://schemas.openxmlformats.org/officeDocument/2006/relationships/image" Target="../media/image6.wmf"/><Relationship Id="rId6" Type="http://schemas.openxmlformats.org/officeDocument/2006/relationships/oleObject" Target="../embeddings/oleObject3.bin"/><Relationship Id="rId5" Type="http://schemas.openxmlformats.org/officeDocument/2006/relationships/image" Target="../media/image5.wmf"/><Relationship Id="rId4" Type="http://schemas.openxmlformats.org/officeDocument/2006/relationships/oleObject" Target="../embeddings/oleObject2.bin"/><Relationship Id="rId3" Type="http://schemas.openxmlformats.org/officeDocument/2006/relationships/image" Target="../media/image4.wmf"/><Relationship Id="rId2" Type="http://schemas.openxmlformats.org/officeDocument/2006/relationships/oleObject" Target="../embeddings/oleObject1.bin"/><Relationship Id="rId1" Type="http://schemas.openxmlformats.org/officeDocument/2006/relationships/image" Target="../media/image3.png"/></Relationships>
</file>

<file path=ppt/slides/_rels/slide16.xml.rels><?xml version="1.0" encoding="UTF-8" standalone="yes"?>
<Relationships xmlns="http://schemas.openxmlformats.org/package/2006/relationships"><Relationship Id="rId9" Type="http://schemas.openxmlformats.org/officeDocument/2006/relationships/vmlDrawing" Target="../drawings/vmlDrawing2.vml"/><Relationship Id="rId8" Type="http://schemas.openxmlformats.org/officeDocument/2006/relationships/slideLayout" Target="../slideLayouts/slideLayout2.xml"/><Relationship Id="rId7" Type="http://schemas.openxmlformats.org/officeDocument/2006/relationships/image" Target="../media/image5.wmf"/><Relationship Id="rId6" Type="http://schemas.openxmlformats.org/officeDocument/2006/relationships/oleObject" Target="../embeddings/oleObject6.bin"/><Relationship Id="rId5" Type="http://schemas.openxmlformats.org/officeDocument/2006/relationships/image" Target="../media/image9.wmf"/><Relationship Id="rId4" Type="http://schemas.openxmlformats.org/officeDocument/2006/relationships/oleObject" Target="../embeddings/oleObject5.bin"/><Relationship Id="rId3" Type="http://schemas.openxmlformats.org/officeDocument/2006/relationships/image" Target="../media/image8.wmf"/><Relationship Id="rId2" Type="http://schemas.openxmlformats.org/officeDocument/2006/relationships/oleObject" Target="../embeddings/oleObject4.bin"/><Relationship Id="rId10" Type="http://schemas.openxmlformats.org/officeDocument/2006/relationships/notesSlide" Target="../notesSlides/notesSlide2.xml"/><Relationship Id="rId1" Type="http://schemas.openxmlformats.org/officeDocument/2006/relationships/image" Target="../media/image7.wmf"/></Relationships>
</file>

<file path=ppt/slides/_rels/slide17.xml.rels><?xml version="1.0" encoding="UTF-8" standalone="yes"?>
<Relationships xmlns="http://schemas.openxmlformats.org/package/2006/relationships"><Relationship Id="rId7" Type="http://schemas.openxmlformats.org/officeDocument/2006/relationships/vmlDrawing" Target="../drawings/vmlDrawing3.vml"/><Relationship Id="rId6" Type="http://schemas.openxmlformats.org/officeDocument/2006/relationships/slideLayout" Target="../slideLayouts/slideLayout2.xml"/><Relationship Id="rId5" Type="http://schemas.openxmlformats.org/officeDocument/2006/relationships/image" Target="../media/image11.wmf"/><Relationship Id="rId4" Type="http://schemas.openxmlformats.org/officeDocument/2006/relationships/oleObject" Target="../embeddings/oleObject8.bin"/><Relationship Id="rId3" Type="http://schemas.openxmlformats.org/officeDocument/2006/relationships/image" Target="../media/image4.wmf"/><Relationship Id="rId2" Type="http://schemas.openxmlformats.org/officeDocument/2006/relationships/oleObject" Target="../embeddings/oleObject7.bin"/><Relationship Id="rId1" Type="http://schemas.openxmlformats.org/officeDocument/2006/relationships/image" Target="../media/image10.jpe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e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9" Type="http://schemas.openxmlformats.org/officeDocument/2006/relationships/oleObject" Target="../embeddings/oleObject13.bin"/><Relationship Id="rId8" Type="http://schemas.openxmlformats.org/officeDocument/2006/relationships/image" Target="../media/image16.wmf"/><Relationship Id="rId7" Type="http://schemas.openxmlformats.org/officeDocument/2006/relationships/oleObject" Target="../embeddings/oleObject12.bin"/><Relationship Id="rId6" Type="http://schemas.openxmlformats.org/officeDocument/2006/relationships/image" Target="../media/image15.wmf"/><Relationship Id="rId5" Type="http://schemas.openxmlformats.org/officeDocument/2006/relationships/oleObject" Target="../embeddings/oleObject11.bin"/><Relationship Id="rId4" Type="http://schemas.openxmlformats.org/officeDocument/2006/relationships/image" Target="../media/image14.wmf"/><Relationship Id="rId3" Type="http://schemas.openxmlformats.org/officeDocument/2006/relationships/oleObject" Target="../embeddings/oleObject10.bin"/><Relationship Id="rId2" Type="http://schemas.openxmlformats.org/officeDocument/2006/relationships/image" Target="../media/image13.wmf"/><Relationship Id="rId14" Type="http://schemas.openxmlformats.org/officeDocument/2006/relationships/vmlDrawing" Target="../drawings/vmlDrawing4.vml"/><Relationship Id="rId13" Type="http://schemas.openxmlformats.org/officeDocument/2006/relationships/slideLayout" Target="../slideLayouts/slideLayout2.xml"/><Relationship Id="rId12" Type="http://schemas.openxmlformats.org/officeDocument/2006/relationships/image" Target="../media/image18.wmf"/><Relationship Id="rId11" Type="http://schemas.openxmlformats.org/officeDocument/2006/relationships/oleObject" Target="../embeddings/oleObject14.bin"/><Relationship Id="rId10" Type="http://schemas.openxmlformats.org/officeDocument/2006/relationships/image" Target="../media/image17.wmf"/><Relationship Id="rId1" Type="http://schemas.openxmlformats.org/officeDocument/2006/relationships/oleObject" Target="../embeddings/oleObject9.bin"/></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emf"/></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em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wmf"/></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wm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emf"/></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wmf"/></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wm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第</a:t>
            </a:r>
            <a:r>
              <a:rPr lang="en-US" altLang="zh-CN" dirty="0"/>
              <a:t>5</a:t>
            </a:r>
            <a:r>
              <a:rPr lang="zh-CN" altLang="en-US" dirty="0"/>
              <a:t>章 存储器</a:t>
            </a:r>
            <a:endParaRPr lang="zh-CN" altLang="en-US" dirty="0"/>
          </a:p>
        </p:txBody>
      </p:sp>
      <p:sp>
        <p:nvSpPr>
          <p:cNvPr id="3" name="内容占位符 2"/>
          <p:cNvSpPr>
            <a:spLocks noGrp="1"/>
          </p:cNvSpPr>
          <p:nvPr>
            <p:ph idx="1"/>
          </p:nvPr>
        </p:nvSpPr>
        <p:spPr>
          <a:xfrm>
            <a:off x="838200" y="1770540"/>
            <a:ext cx="10515600" cy="3506854"/>
          </a:xfrm>
        </p:spPr>
        <p:txBody>
          <a:bodyPr>
            <a:normAutofit/>
          </a:bodyPr>
          <a:lstStyle/>
          <a:p>
            <a:pPr>
              <a:lnSpc>
                <a:spcPct val="120000"/>
              </a:lnSpc>
            </a:pPr>
            <a:r>
              <a:rPr lang="zh-CN" altLang="en-US" b="0" i="0" u="none" strike="noStrike" baseline="0" dirty="0">
                <a:latin typeface="Wingdings" panose="05000000000000000000" pitchFamily="2" charset="2"/>
              </a:rPr>
              <a:t>存储器概述</a:t>
            </a:r>
            <a:endParaRPr lang="zh-CN" altLang="en-US" b="0" i="0" u="none" strike="noStrike" baseline="0" dirty="0">
              <a:latin typeface="Wingdings" panose="05000000000000000000" pitchFamily="2" charset="2"/>
            </a:endParaRPr>
          </a:p>
          <a:p>
            <a:pPr>
              <a:lnSpc>
                <a:spcPct val="120000"/>
              </a:lnSpc>
            </a:pPr>
            <a:r>
              <a:rPr lang="zh-CN" altLang="en-US" b="0" i="0" u="none" strike="noStrike" baseline="0" dirty="0">
                <a:latin typeface="Wingdings" panose="05000000000000000000" pitchFamily="2" charset="2"/>
              </a:rPr>
              <a:t>半导体存储芯片结构及使用</a:t>
            </a:r>
            <a:endParaRPr lang="zh-CN" altLang="en-US" b="0" i="0" u="none" strike="noStrike" baseline="0" dirty="0">
              <a:latin typeface="Wingdings" panose="05000000000000000000" pitchFamily="2" charset="2"/>
            </a:endParaRPr>
          </a:p>
          <a:p>
            <a:pPr>
              <a:lnSpc>
                <a:spcPct val="120000"/>
              </a:lnSpc>
            </a:pPr>
            <a:r>
              <a:rPr kumimoji="0" lang="zh-CN" altLang="en-US" b="0" i="0" u="none" strike="noStrike" kern="1200" cap="none" spc="0" normalizeH="0" baseline="0" noProof="0" dirty="0">
                <a:ln>
                  <a:noFill/>
                </a:ln>
                <a:effectLst/>
                <a:uLnTx/>
                <a:uFillTx/>
                <a:latin typeface="楷体_GB2312" pitchFamily="1" charset="-122"/>
                <a:ea typeface="楷体_GB2312"/>
                <a:cs typeface="+mn-cs"/>
              </a:rPr>
              <a:t>16位/32</a:t>
            </a:r>
            <a:r>
              <a:rPr kumimoji="0" lang="zh-CN" altLang="en-US" b="0" i="0" u="none" strike="noStrike" kern="1200" cap="none" spc="0" normalizeH="0" baseline="0" noProof="0" dirty="0">
                <a:ln>
                  <a:noFill/>
                </a:ln>
                <a:effectLst/>
                <a:uLnTx/>
                <a:uFillTx/>
                <a:latin typeface="Tahoma" panose="020B0604030504040204"/>
                <a:ea typeface="楷体_GB2312"/>
                <a:cs typeface="+mn-cs"/>
              </a:rPr>
              <a:t>位</a:t>
            </a:r>
            <a:r>
              <a:rPr lang="zh-CN" altLang="en-US" b="0" i="0" u="none" strike="noStrike" baseline="0" dirty="0">
                <a:latin typeface="Wingdings" panose="05000000000000000000" pitchFamily="2" charset="2"/>
              </a:rPr>
              <a:t>系统的存储器接口</a:t>
            </a:r>
            <a:endParaRPr lang="zh-CN" altLang="en-US" b="0" i="0" u="none" strike="noStrike" baseline="0" dirty="0">
              <a:latin typeface="Wingdings" panose="05000000000000000000" pitchFamily="2" charset="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5</a:t>
            </a:r>
            <a:r>
              <a:rPr lang="en-US" altLang="zh-CN" dirty="0" smtClean="0"/>
              <a:t>.</a:t>
            </a:r>
            <a:r>
              <a:rPr lang="en-US" altLang="zh-CN" dirty="0" smtClean="0"/>
              <a:t>1 </a:t>
            </a:r>
            <a:r>
              <a:rPr lang="zh-CN" altLang="en-US" dirty="0" smtClean="0"/>
              <a:t>存储器</a:t>
            </a:r>
            <a:r>
              <a:rPr lang="zh-CN" altLang="en-US" dirty="0"/>
              <a:t>概述</a:t>
            </a:r>
            <a:endParaRPr lang="zh-CN" altLang="en-US" dirty="0"/>
          </a:p>
        </p:txBody>
      </p:sp>
      <p:sp>
        <p:nvSpPr>
          <p:cNvPr id="3" name="内容占位符 2"/>
          <p:cNvSpPr>
            <a:spLocks noGrp="1"/>
          </p:cNvSpPr>
          <p:nvPr>
            <p:ph idx="1"/>
          </p:nvPr>
        </p:nvSpPr>
        <p:spPr/>
        <p:txBody>
          <a:bodyPr>
            <a:noAutofit/>
          </a:bodyPr>
          <a:lstStyle/>
          <a:p>
            <a:pPr>
              <a:lnSpc>
                <a:spcPct val="100000"/>
              </a:lnSpc>
            </a:pPr>
            <a:r>
              <a:rPr lang="zh-CN" altLang="en-US" b="0" dirty="0">
                <a:latin typeface="楷体_GB2312" pitchFamily="1" charset="-122"/>
              </a:rPr>
              <a:t>存储器(Memory)是用来存储程序和数据的部件，是计算机系统中必不可少的组成部分。</a:t>
            </a:r>
            <a:endParaRPr lang="zh-CN" altLang="en-US" b="0" dirty="0">
              <a:latin typeface="楷体_GB2312" pitchFamily="1" charset="-122"/>
            </a:endParaRPr>
          </a:p>
          <a:p>
            <a:pPr>
              <a:lnSpc>
                <a:spcPct val="100000"/>
              </a:lnSpc>
            </a:pPr>
            <a:r>
              <a:rPr lang="zh-CN" altLang="en-US" b="0" dirty="0">
                <a:latin typeface="楷体_GB2312" pitchFamily="1" charset="-122"/>
              </a:rPr>
              <a:t>从与CPU的关系来看，可分为内存和外存。</a:t>
            </a:r>
            <a:endParaRPr lang="zh-CN" altLang="en-US" b="0" dirty="0">
              <a:latin typeface="楷体_GB2312" pitchFamily="1" charset="-122"/>
            </a:endParaRPr>
          </a:p>
          <a:p>
            <a:pPr lvl="1"/>
            <a:r>
              <a:rPr lang="zh-CN" altLang="en-US" b="0" dirty="0">
                <a:latin typeface="楷体_GB2312" pitchFamily="1" charset="-122"/>
              </a:rPr>
              <a:t>内存通常由半导体存储器组成，它直接与CPU的外部总线相连，是计算机主机的组成部分，用来存放当前正在执行的数据和程序，是</a:t>
            </a:r>
            <a:r>
              <a:rPr lang="zh-CN" altLang="en-US" b="0" dirty="0">
                <a:solidFill>
                  <a:schemeClr val="hlink"/>
                </a:solidFill>
                <a:latin typeface="楷体_GB2312" pitchFamily="1" charset="-122"/>
              </a:rPr>
              <a:t>本章主要讨论的内容</a:t>
            </a:r>
            <a:r>
              <a:rPr lang="zh-CN" altLang="en-US" b="0" dirty="0">
                <a:latin typeface="楷体_GB2312" pitchFamily="1" charset="-122"/>
              </a:rPr>
              <a:t>。</a:t>
            </a:r>
            <a:endParaRPr lang="zh-CN" altLang="en-US" b="0" dirty="0">
              <a:latin typeface="楷体_GB2312" pitchFamily="1" charset="-122"/>
            </a:endParaRPr>
          </a:p>
          <a:p>
            <a:pPr lvl="1"/>
            <a:r>
              <a:rPr lang="zh-CN" altLang="en-US" b="0" dirty="0">
                <a:latin typeface="楷体_GB2312" pitchFamily="1" charset="-122"/>
              </a:rPr>
              <a:t>外存位于主机外面，它通过接口逻辑电路与主机相连接，是作为计算机的外部设备来配置的。外存用来存放暂时不用的那些程序和数据，使用时必须先调入内存才能执行。</a:t>
            </a:r>
            <a:endParaRPr lang="zh-CN" altLang="en-US" b="0" dirty="0">
              <a:latin typeface="楷体_GB2312" pitchFamily="1" charset="-122"/>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5.1.1 </a:t>
            </a:r>
            <a:r>
              <a:rPr lang="zh-CN" altLang="en-US" dirty="0" smtClean="0"/>
              <a:t>半导体存储器</a:t>
            </a:r>
            <a:r>
              <a:rPr lang="zh-CN" altLang="en-US" dirty="0"/>
              <a:t>的分类</a:t>
            </a:r>
            <a:endParaRPr lang="zh-CN" altLang="en-US" dirty="0"/>
          </a:p>
        </p:txBody>
      </p:sp>
      <p:sp>
        <p:nvSpPr>
          <p:cNvPr id="3" name="内容占位符 2"/>
          <p:cNvSpPr>
            <a:spLocks noGrp="1"/>
          </p:cNvSpPr>
          <p:nvPr>
            <p:ph idx="1"/>
          </p:nvPr>
        </p:nvSpPr>
        <p:spPr>
          <a:xfrm>
            <a:off x="838200" y="1825625"/>
            <a:ext cx="4073434" cy="4351338"/>
          </a:xfrm>
        </p:spPr>
        <p:txBody>
          <a:bodyPr/>
          <a:lstStyle/>
          <a:p>
            <a:r>
              <a:rPr lang="zh-CN" altLang="en-US" dirty="0"/>
              <a:t>从存储器的使用特点，半导体存储器可以分为三大类：</a:t>
            </a:r>
            <a:endParaRPr lang="en-US" altLang="zh-CN" dirty="0"/>
          </a:p>
          <a:p>
            <a:pPr lvl="1"/>
            <a:r>
              <a:rPr lang="zh-CN" altLang="en-US" dirty="0"/>
              <a:t>随机存储器</a:t>
            </a:r>
            <a:r>
              <a:rPr lang="en-US" altLang="zh-CN" dirty="0"/>
              <a:t>RAM</a:t>
            </a:r>
            <a:endParaRPr lang="en-US" altLang="zh-CN" dirty="0"/>
          </a:p>
          <a:p>
            <a:pPr lvl="1"/>
            <a:r>
              <a:rPr lang="zh-CN" altLang="en-US" dirty="0"/>
              <a:t>只读存储器</a:t>
            </a:r>
            <a:r>
              <a:rPr lang="en-US" altLang="zh-CN" dirty="0"/>
              <a:t>ROM</a:t>
            </a:r>
            <a:endParaRPr lang="en-US" altLang="zh-CN" dirty="0"/>
          </a:p>
          <a:p>
            <a:pPr lvl="1"/>
            <a:r>
              <a:rPr lang="zh-CN" altLang="en-US" dirty="0"/>
              <a:t>闪存</a:t>
            </a:r>
            <a:r>
              <a:rPr lang="en-US" altLang="zh-CN" dirty="0"/>
              <a:t>Flash</a:t>
            </a:r>
            <a:endParaRPr lang="zh-CN" altLang="en-US" dirty="0"/>
          </a:p>
        </p:txBody>
      </p:sp>
      <p:pic>
        <p:nvPicPr>
          <p:cNvPr id="4" name="Picture 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5010456" y="1588294"/>
            <a:ext cx="4616870" cy="49079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半导体存储器的分类</a:t>
            </a:r>
            <a:endParaRPr lang="zh-CN" altLang="en-US" dirty="0"/>
          </a:p>
        </p:txBody>
      </p:sp>
      <p:sp>
        <p:nvSpPr>
          <p:cNvPr id="3" name="内容占位符 2"/>
          <p:cNvSpPr>
            <a:spLocks noGrp="1"/>
          </p:cNvSpPr>
          <p:nvPr>
            <p:ph idx="1"/>
          </p:nvPr>
        </p:nvSpPr>
        <p:spPr/>
        <p:txBody>
          <a:bodyPr/>
          <a:lstStyle/>
          <a:p>
            <a:pPr marL="0" indent="0">
              <a:buNone/>
            </a:pPr>
            <a:r>
              <a:rPr lang="zh-CN" altLang="en-US" dirty="0"/>
              <a:t>（</a:t>
            </a:r>
            <a:r>
              <a:rPr lang="en-US" altLang="zh-CN" dirty="0"/>
              <a:t>1</a:t>
            </a:r>
            <a:r>
              <a:rPr lang="zh-CN" altLang="en-US" dirty="0"/>
              <a:t>）随机存储器</a:t>
            </a:r>
            <a:r>
              <a:rPr lang="en-US" altLang="zh-CN" dirty="0"/>
              <a:t>RAM</a:t>
            </a:r>
            <a:endParaRPr lang="en-US" altLang="zh-CN" dirty="0"/>
          </a:p>
          <a:p>
            <a:pPr lvl="1"/>
            <a:r>
              <a:rPr lang="zh-CN" altLang="en-US" dirty="0"/>
              <a:t>存入</a:t>
            </a:r>
            <a:r>
              <a:rPr lang="en-US" altLang="zh-CN" dirty="0"/>
              <a:t>RAM</a:t>
            </a:r>
            <a:r>
              <a:rPr lang="zh-CN" altLang="en-US" dirty="0"/>
              <a:t>中的信息可以读出，也可以改写，对</a:t>
            </a:r>
            <a:r>
              <a:rPr lang="en-US" altLang="zh-CN" dirty="0"/>
              <a:t>RAM</a:t>
            </a:r>
            <a:r>
              <a:rPr lang="zh-CN" altLang="en-US" dirty="0"/>
              <a:t>中任一存储单元进行读写操作的时间基本相同；</a:t>
            </a:r>
            <a:endParaRPr lang="en-US" altLang="zh-CN" dirty="0"/>
          </a:p>
          <a:p>
            <a:pPr lvl="1"/>
            <a:r>
              <a:rPr lang="en-US" altLang="zh-CN" dirty="0"/>
              <a:t>RAM</a:t>
            </a:r>
            <a:r>
              <a:rPr lang="zh-CN" altLang="en-US" dirty="0"/>
              <a:t>芯片掉电后，其中数据立即消失，是一种易失性存储器。</a:t>
            </a:r>
            <a:endParaRPr lang="zh-CN" alt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半导体存储器的分类</a:t>
            </a:r>
            <a:endParaRPr lang="zh-CN" altLang="en-US" dirty="0"/>
          </a:p>
        </p:txBody>
      </p:sp>
      <p:sp>
        <p:nvSpPr>
          <p:cNvPr id="3" name="内容占位符 2"/>
          <p:cNvSpPr>
            <a:spLocks noGrp="1"/>
          </p:cNvSpPr>
          <p:nvPr>
            <p:ph idx="1"/>
          </p:nvPr>
        </p:nvSpPr>
        <p:spPr/>
        <p:txBody>
          <a:bodyPr>
            <a:normAutofit/>
          </a:bodyPr>
          <a:lstStyle/>
          <a:p>
            <a:pPr marL="0" indent="0">
              <a:buNone/>
            </a:pPr>
            <a:r>
              <a:rPr lang="zh-CN" altLang="en-US" dirty="0"/>
              <a:t>随机存储器的种类</a:t>
            </a:r>
            <a:endParaRPr lang="zh-CN" altLang="en-US" dirty="0"/>
          </a:p>
          <a:p>
            <a:pPr marL="0" indent="0">
              <a:buNone/>
            </a:pPr>
            <a:r>
              <a:rPr lang="zh-CN" altLang="en-US" dirty="0"/>
              <a:t>①静态</a:t>
            </a:r>
            <a:r>
              <a:rPr lang="en-US" altLang="zh-CN" dirty="0"/>
              <a:t>RAM(SRAM)</a:t>
            </a:r>
            <a:endParaRPr lang="en-US" altLang="zh-CN" dirty="0"/>
          </a:p>
          <a:p>
            <a:pPr marL="0" indent="0">
              <a:buNone/>
            </a:pPr>
            <a:r>
              <a:rPr lang="zh-CN" altLang="en-US" dirty="0"/>
              <a:t>特点：</a:t>
            </a:r>
            <a:endParaRPr lang="en-US" altLang="zh-CN" dirty="0"/>
          </a:p>
          <a:p>
            <a:pPr lvl="1"/>
            <a:r>
              <a:rPr lang="zh-CN" altLang="en-US" dirty="0"/>
              <a:t>存取速度快，不需要刷新；</a:t>
            </a:r>
            <a:endParaRPr lang="zh-CN" altLang="en-US" dirty="0"/>
          </a:p>
          <a:p>
            <a:pPr lvl="1"/>
            <a:r>
              <a:rPr lang="zh-CN" altLang="en-US" dirty="0"/>
              <a:t>只要电源不掉电，</a:t>
            </a:r>
            <a:r>
              <a:rPr lang="en-US" altLang="zh-CN" dirty="0"/>
              <a:t>SRAM</a:t>
            </a:r>
            <a:r>
              <a:rPr lang="zh-CN" altLang="en-US" dirty="0"/>
              <a:t>中写入数据不会丢失；</a:t>
            </a:r>
            <a:endParaRPr lang="zh-CN" altLang="en-US" dirty="0"/>
          </a:p>
          <a:p>
            <a:pPr lvl="1"/>
            <a:r>
              <a:rPr lang="zh-CN" altLang="en-US" dirty="0"/>
              <a:t>对数据进行读操作时，不会破坏原有数据；</a:t>
            </a:r>
            <a:endParaRPr lang="zh-CN" altLang="en-US" dirty="0"/>
          </a:p>
          <a:p>
            <a:pPr lvl="1"/>
            <a:r>
              <a:rPr lang="en-US" altLang="zh-CN" dirty="0"/>
              <a:t>SRAM</a:t>
            </a:r>
            <a:r>
              <a:rPr lang="zh-CN" altLang="en-US" dirty="0"/>
              <a:t>的功耗较大，容量通常也较小、成本也较高。</a:t>
            </a:r>
            <a:endParaRPr lang="zh-CN" alt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半导体存储器的分类</a:t>
            </a:r>
            <a:endParaRPr lang="zh-CN" altLang="en-US" dirty="0"/>
          </a:p>
        </p:txBody>
      </p:sp>
      <p:sp>
        <p:nvSpPr>
          <p:cNvPr id="3" name="内容占位符 2"/>
          <p:cNvSpPr>
            <a:spLocks noGrp="1"/>
          </p:cNvSpPr>
          <p:nvPr>
            <p:ph idx="1"/>
          </p:nvPr>
        </p:nvSpPr>
        <p:spPr/>
        <p:txBody>
          <a:bodyPr>
            <a:normAutofit/>
          </a:bodyPr>
          <a:lstStyle/>
          <a:p>
            <a:pPr marL="0" indent="0">
              <a:buNone/>
            </a:pPr>
            <a:r>
              <a:rPr lang="zh-CN" altLang="en-US" dirty="0"/>
              <a:t>②动态</a:t>
            </a:r>
            <a:r>
              <a:rPr lang="en-US" altLang="zh-CN" dirty="0"/>
              <a:t>RAM(DRAM)</a:t>
            </a:r>
            <a:endParaRPr lang="en-US" altLang="zh-CN" dirty="0"/>
          </a:p>
          <a:p>
            <a:pPr marL="0" indent="0">
              <a:buNone/>
            </a:pPr>
            <a:r>
              <a:rPr lang="zh-CN" altLang="en-US" dirty="0"/>
              <a:t>特点：</a:t>
            </a:r>
            <a:endParaRPr lang="zh-CN" altLang="en-US" dirty="0"/>
          </a:p>
          <a:p>
            <a:pPr marL="0" indent="0">
              <a:buNone/>
            </a:pPr>
            <a:r>
              <a:rPr lang="en-US" altLang="zh-CN" dirty="0"/>
              <a:t>  DRAM</a:t>
            </a:r>
            <a:r>
              <a:rPr lang="zh-CN" altLang="en-US" dirty="0"/>
              <a:t>集成度较高、存储容量较大、功耗低。</a:t>
            </a:r>
            <a:endParaRPr lang="zh-CN" altLang="en-US" dirty="0"/>
          </a:p>
          <a:p>
            <a:pPr marL="0" indent="0">
              <a:buNone/>
            </a:pPr>
            <a:r>
              <a:rPr lang="en-US" altLang="zh-CN" dirty="0"/>
              <a:t>  DRAM</a:t>
            </a:r>
            <a:r>
              <a:rPr lang="zh-CN" altLang="en-US" dirty="0"/>
              <a:t>采用电容存储电荷的方式保存数据。由于电容会泄漏放电，故数据保持时间很短，一般仅为几</a:t>
            </a:r>
            <a:r>
              <a:rPr lang="en-US" altLang="zh-CN" dirty="0" err="1"/>
              <a:t>ms</a:t>
            </a:r>
            <a:r>
              <a:rPr lang="zh-CN" altLang="en-US" dirty="0"/>
              <a:t>。因此，</a:t>
            </a:r>
            <a:r>
              <a:rPr lang="en-US" altLang="zh-CN" dirty="0"/>
              <a:t>DRAM</a:t>
            </a:r>
            <a:r>
              <a:rPr lang="zh-CN" altLang="en-US" dirty="0"/>
              <a:t>每隔一段时间需要进行刷新。采用</a:t>
            </a:r>
            <a:r>
              <a:rPr lang="en-US" altLang="zh-CN" dirty="0"/>
              <a:t>DRAM</a:t>
            </a:r>
            <a:r>
              <a:rPr lang="zh-CN" altLang="en-US" dirty="0"/>
              <a:t>的计算机必须配置刷新电路。与</a:t>
            </a:r>
            <a:r>
              <a:rPr lang="en-US" altLang="zh-CN" dirty="0"/>
              <a:t>SRAM</a:t>
            </a:r>
            <a:r>
              <a:rPr lang="zh-CN" altLang="en-US" dirty="0"/>
              <a:t>相比，</a:t>
            </a:r>
            <a:r>
              <a:rPr lang="en-US" altLang="zh-CN" dirty="0"/>
              <a:t>DRAM</a:t>
            </a:r>
            <a:r>
              <a:rPr lang="zh-CN" altLang="en-US" dirty="0"/>
              <a:t>速度较慢。</a:t>
            </a:r>
            <a:endParaRPr lang="zh-CN" alt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半导体存储器的分类</a:t>
            </a:r>
            <a:endParaRPr lang="zh-CN" altLang="en-US" dirty="0"/>
          </a:p>
        </p:txBody>
      </p:sp>
      <p:sp>
        <p:nvSpPr>
          <p:cNvPr id="3" name="内容占位符 2"/>
          <p:cNvSpPr>
            <a:spLocks noGrp="1"/>
          </p:cNvSpPr>
          <p:nvPr>
            <p:ph idx="1"/>
          </p:nvPr>
        </p:nvSpPr>
        <p:spPr/>
        <p:txBody>
          <a:bodyPr/>
          <a:lstStyle/>
          <a:p>
            <a:pPr marL="0" indent="0">
              <a:buNone/>
            </a:pPr>
            <a:r>
              <a:rPr lang="zh-CN" altLang="en-US" dirty="0"/>
              <a:t>（</a:t>
            </a:r>
            <a:r>
              <a:rPr lang="en-US" altLang="zh-CN" dirty="0"/>
              <a:t>2</a:t>
            </a:r>
            <a:r>
              <a:rPr lang="zh-CN" altLang="en-US" dirty="0"/>
              <a:t>）只读存储器</a:t>
            </a:r>
            <a:r>
              <a:rPr lang="en-US" altLang="zh-CN" dirty="0"/>
              <a:t>ROM</a:t>
            </a:r>
            <a:endParaRPr lang="en-US" altLang="zh-CN" dirty="0"/>
          </a:p>
          <a:p>
            <a:pPr marL="0" indent="0">
              <a:buNone/>
            </a:pPr>
            <a:r>
              <a:rPr lang="zh-CN" altLang="en-US" dirty="0"/>
              <a:t>   在使用</a:t>
            </a:r>
            <a:r>
              <a:rPr lang="en-US" altLang="zh-CN" dirty="0"/>
              <a:t>ROM</a:t>
            </a:r>
            <a:r>
              <a:rPr lang="zh-CN" altLang="en-US" dirty="0"/>
              <a:t>时，数据只能读出，不能写入。如果断电，存储数据不会丢失。</a:t>
            </a:r>
            <a:endParaRPr lang="zh-CN" altLang="en-US" dirty="0"/>
          </a:p>
          <a:p>
            <a:pPr marL="0" indent="0">
              <a:buNone/>
            </a:pPr>
            <a:r>
              <a:rPr lang="en-US" altLang="zh-CN" dirty="0"/>
              <a:t>   ROM</a:t>
            </a:r>
            <a:r>
              <a:rPr lang="zh-CN" altLang="en-US" dirty="0"/>
              <a:t>通常用来存放固定的应用程序、系统软件、监控程序、常数表格等。</a:t>
            </a:r>
            <a:endParaRPr lang="zh-CN" altLang="en-US" dirty="0"/>
          </a:p>
        </p:txBody>
      </p:sp>
      <p:sp>
        <p:nvSpPr>
          <p:cNvPr id="4" name="矩形 3"/>
          <p:cNvSpPr/>
          <p:nvPr/>
        </p:nvSpPr>
        <p:spPr>
          <a:xfrm>
            <a:off x="588885" y="4422058"/>
            <a:ext cx="6096000" cy="1668149"/>
          </a:xfrm>
          <a:prstGeom prst="rect">
            <a:avLst/>
          </a:prstGeom>
        </p:spPr>
        <p:txBody>
          <a:bodyPr>
            <a:spAutoFit/>
          </a:bodyPr>
          <a:lstStyle/>
          <a:p>
            <a:pPr marL="824230" lvl="1">
              <a:lnSpc>
                <a:spcPct val="80000"/>
              </a:lnSpc>
            </a:pPr>
            <a:r>
              <a:rPr lang="zh-CN" altLang="en-US" sz="3200" dirty="0" smtClean="0">
                <a:latin typeface="楷体_GB2312" pitchFamily="1" charset="-122"/>
              </a:rPr>
              <a:t>掩膜式</a:t>
            </a:r>
            <a:r>
              <a:rPr lang="en-US" altLang="zh-CN" sz="3200" dirty="0" smtClean="0">
                <a:latin typeface="楷体_GB2312" pitchFamily="1" charset="-122"/>
              </a:rPr>
              <a:t>ROM</a:t>
            </a:r>
            <a:endParaRPr lang="en-US" altLang="zh-CN" sz="3200" dirty="0" smtClean="0">
              <a:latin typeface="楷体_GB2312" pitchFamily="1" charset="-122"/>
            </a:endParaRPr>
          </a:p>
          <a:p>
            <a:pPr marL="824230" lvl="1">
              <a:lnSpc>
                <a:spcPct val="80000"/>
              </a:lnSpc>
            </a:pPr>
            <a:r>
              <a:rPr lang="en-US" altLang="zh-CN" sz="3200" dirty="0" smtClean="0">
                <a:latin typeface="楷体_GB2312" pitchFamily="1" charset="-122"/>
              </a:rPr>
              <a:t>PROM</a:t>
            </a:r>
            <a:endParaRPr lang="en-US" altLang="zh-CN" sz="3200" dirty="0" smtClean="0">
              <a:latin typeface="楷体_GB2312" pitchFamily="1" charset="-122"/>
            </a:endParaRPr>
          </a:p>
          <a:p>
            <a:pPr marL="824230" lvl="1">
              <a:lnSpc>
                <a:spcPct val="80000"/>
              </a:lnSpc>
            </a:pPr>
            <a:r>
              <a:rPr lang="en-US" altLang="zh-CN" sz="3200" dirty="0" smtClean="0">
                <a:latin typeface="楷体_GB2312" pitchFamily="1" charset="-122"/>
              </a:rPr>
              <a:t>EPROM</a:t>
            </a:r>
            <a:endParaRPr lang="en-US" altLang="zh-CN" sz="3200" dirty="0" smtClean="0">
              <a:latin typeface="楷体_GB2312" pitchFamily="1" charset="-122"/>
            </a:endParaRPr>
          </a:p>
          <a:p>
            <a:pPr marL="824230" lvl="1">
              <a:lnSpc>
                <a:spcPct val="80000"/>
              </a:lnSpc>
            </a:pPr>
            <a:r>
              <a:rPr lang="en-US" altLang="zh-CN" sz="3200" dirty="0" smtClean="0">
                <a:latin typeface="楷体_GB2312" pitchFamily="1" charset="-122"/>
              </a:rPr>
              <a:t>EEPROM</a:t>
            </a:r>
            <a:endParaRPr lang="en-US" altLang="zh-CN" sz="3200" dirty="0">
              <a:latin typeface="楷体_GB2312" pitchFamily="1" charset="-122"/>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405467" y="466725"/>
            <a:ext cx="10390717" cy="838200"/>
          </a:xfrm>
        </p:spPr>
        <p:txBody>
          <a:bodyPr/>
          <a:lstStyle/>
          <a:p>
            <a:r>
              <a:rPr lang="en-US" altLang="zh-CN"/>
              <a:t>1)</a:t>
            </a:r>
            <a:r>
              <a:rPr lang="zh-CN" altLang="en-US"/>
              <a:t>掩膜式</a:t>
            </a:r>
            <a:r>
              <a:rPr lang="en-US" altLang="zh-CN"/>
              <a:t>ROM</a:t>
            </a:r>
            <a:endParaRPr lang="en-US" altLang="zh-CN"/>
          </a:p>
        </p:txBody>
      </p:sp>
      <p:sp>
        <p:nvSpPr>
          <p:cNvPr id="12291" name="Rectangle 3"/>
          <p:cNvSpPr>
            <a:spLocks noGrp="1" noChangeArrowheads="1"/>
          </p:cNvSpPr>
          <p:nvPr>
            <p:ph type="body" idx="1"/>
          </p:nvPr>
        </p:nvSpPr>
        <p:spPr>
          <a:xfrm>
            <a:off x="508001" y="1752601"/>
            <a:ext cx="11529484" cy="2778125"/>
          </a:xfrm>
        </p:spPr>
        <p:txBody>
          <a:bodyPr/>
          <a:lstStyle/>
          <a:p>
            <a:pPr marL="0" indent="0">
              <a:buFont typeface="Wingdings" panose="05000000000000000000" pitchFamily="2" charset="2"/>
              <a:buNone/>
            </a:pPr>
            <a:r>
              <a:rPr lang="zh-CN" altLang="en-US" b="0">
                <a:latin typeface="Times New Roman" panose="02020603050405020304" pitchFamily="18" charset="0"/>
              </a:rPr>
              <a:t>由</a:t>
            </a:r>
            <a:r>
              <a:rPr lang="en-US" altLang="zh-CN" b="0">
                <a:latin typeface="Times New Roman" panose="02020603050405020304" pitchFamily="18" charset="0"/>
              </a:rPr>
              <a:t>ROM(Masked ROM)</a:t>
            </a:r>
            <a:r>
              <a:rPr lang="zh-CN" altLang="en-US" b="0">
                <a:latin typeface="Times New Roman" panose="02020603050405020304" pitchFamily="18" charset="0"/>
              </a:rPr>
              <a:t>制造厂家在生产时使用掩膜式工艺将信息一次性写入，其内部信息不再能更改，所以也称固定存储器。它</a:t>
            </a:r>
            <a:r>
              <a:rPr lang="zh-CN" altLang="en-US" b="0">
                <a:solidFill>
                  <a:schemeClr val="hlink"/>
                </a:solidFill>
                <a:latin typeface="Times New Roman" panose="02020603050405020304" pitchFamily="18" charset="0"/>
              </a:rPr>
              <a:t>适用于大批量生产</a:t>
            </a:r>
            <a:r>
              <a:rPr lang="zh-CN" altLang="en-US" b="0">
                <a:latin typeface="Times New Roman" panose="02020603050405020304" pitchFamily="18" charset="0"/>
              </a:rPr>
              <a:t>。</a:t>
            </a:r>
            <a:endParaRPr lang="zh-CN" altLang="en-US" b="0">
              <a:latin typeface="Times New Roman" panose="02020603050405020304" pitchFamily="18" charset="0"/>
            </a:endParaRPr>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en-US" altLang="zh-CN">
                <a:ea typeface="宋体" panose="02010600030101010101" pitchFamily="2" charset="-122"/>
              </a:rPr>
              <a:t>2)PROM</a:t>
            </a:r>
            <a:endParaRPr lang="en-US" altLang="zh-CN">
              <a:ea typeface="宋体" panose="02010600030101010101" pitchFamily="2" charset="-122"/>
            </a:endParaRPr>
          </a:p>
        </p:txBody>
      </p:sp>
      <p:sp>
        <p:nvSpPr>
          <p:cNvPr id="13315" name="Rectangle 3"/>
          <p:cNvSpPr>
            <a:spLocks noGrp="1" noChangeArrowheads="1"/>
          </p:cNvSpPr>
          <p:nvPr>
            <p:ph type="body" idx="1"/>
          </p:nvPr>
        </p:nvSpPr>
        <p:spPr>
          <a:xfrm>
            <a:off x="508000" y="1752601"/>
            <a:ext cx="11432117" cy="2041525"/>
          </a:xfrm>
        </p:spPr>
        <p:txBody>
          <a:bodyPr/>
          <a:lstStyle/>
          <a:p>
            <a:pPr marL="0" indent="0">
              <a:buFont typeface="Wingdings" panose="05000000000000000000" pitchFamily="2" charset="2"/>
              <a:buNone/>
            </a:pPr>
            <a:r>
              <a:rPr lang="zh-CN" altLang="en-US" b="0">
                <a:latin typeface="Times New Roman" panose="02020603050405020304" pitchFamily="18" charset="0"/>
              </a:rPr>
              <a:t>PROM(Programmable ROM)中的程序和数据由用户使用专门的编程器自行</a:t>
            </a:r>
            <a:r>
              <a:rPr lang="zh-CN" altLang="en-US" b="0">
                <a:solidFill>
                  <a:schemeClr val="hlink"/>
                </a:solidFill>
                <a:latin typeface="Times New Roman" panose="02020603050405020304" pitchFamily="18" charset="0"/>
              </a:rPr>
              <a:t>一次性写入</a:t>
            </a:r>
            <a:r>
              <a:rPr lang="zh-CN" altLang="en-US" b="0">
                <a:latin typeface="Times New Roman" panose="02020603050405020304" pitchFamily="18" charset="0"/>
              </a:rPr>
              <a:t>的，一旦写入就无法更改。</a:t>
            </a:r>
            <a:endParaRPr lang="zh-CN" altLang="en-US"/>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半导体存储器的分类</a:t>
            </a:r>
            <a:endParaRPr lang="zh-CN" altLang="en-US" dirty="0"/>
          </a:p>
        </p:txBody>
      </p:sp>
      <p:sp>
        <p:nvSpPr>
          <p:cNvPr id="3" name="内容占位符 2"/>
          <p:cNvSpPr>
            <a:spLocks noGrp="1"/>
          </p:cNvSpPr>
          <p:nvPr>
            <p:ph idx="1"/>
          </p:nvPr>
        </p:nvSpPr>
        <p:spPr>
          <a:xfrm>
            <a:off x="838200" y="1825625"/>
            <a:ext cx="6320246" cy="4351338"/>
          </a:xfrm>
        </p:spPr>
        <p:txBody>
          <a:bodyPr>
            <a:normAutofit/>
          </a:bodyPr>
          <a:lstStyle/>
          <a:p>
            <a:pPr marL="0" indent="0">
              <a:lnSpc>
                <a:spcPct val="110000"/>
              </a:lnSpc>
              <a:buNone/>
            </a:pPr>
            <a:r>
              <a:rPr lang="zh-CN" altLang="en-US" dirty="0"/>
              <a:t>只读存储器</a:t>
            </a:r>
            <a:r>
              <a:rPr lang="en-US" altLang="zh-CN" dirty="0"/>
              <a:t>ROM</a:t>
            </a:r>
            <a:r>
              <a:rPr lang="zh-CN" altLang="en-US" dirty="0"/>
              <a:t>的种类</a:t>
            </a:r>
            <a:endParaRPr lang="zh-CN" altLang="en-US" dirty="0"/>
          </a:p>
          <a:p>
            <a:pPr marL="0" indent="0">
              <a:lnSpc>
                <a:spcPct val="110000"/>
              </a:lnSpc>
              <a:buNone/>
            </a:pPr>
            <a:r>
              <a:rPr lang="zh-CN" altLang="en-US" dirty="0" smtClean="0"/>
              <a:t>③可</a:t>
            </a:r>
            <a:r>
              <a:rPr lang="zh-CN" altLang="en-US" dirty="0"/>
              <a:t>擦除可编程只读存储器</a:t>
            </a:r>
            <a:r>
              <a:rPr lang="en-US" altLang="zh-CN" dirty="0"/>
              <a:t>EPROM</a:t>
            </a:r>
            <a:endParaRPr lang="en-US" altLang="zh-CN" dirty="0"/>
          </a:p>
          <a:p>
            <a:pPr marL="0" indent="0">
              <a:lnSpc>
                <a:spcPct val="110000"/>
              </a:lnSpc>
              <a:buNone/>
            </a:pPr>
            <a:r>
              <a:rPr lang="zh-CN" altLang="en-US" dirty="0"/>
              <a:t>    用户可使用专门的编程器在</a:t>
            </a:r>
            <a:r>
              <a:rPr lang="en-US" altLang="zh-CN" dirty="0"/>
              <a:t>EPROM</a:t>
            </a:r>
            <a:r>
              <a:rPr lang="zh-CN" altLang="en-US" dirty="0"/>
              <a:t>中写入程序和数据。写入芯片的信息可用紫外光进行擦除，当信息全部擦除后可以重新写入新的内容。</a:t>
            </a:r>
            <a:endParaRPr lang="zh-CN" altLang="en-US" dirty="0"/>
          </a:p>
          <a:p>
            <a:pPr marL="0" indent="0">
              <a:lnSpc>
                <a:spcPct val="110000"/>
              </a:lnSpc>
              <a:buNone/>
            </a:pPr>
            <a:r>
              <a:rPr lang="en-US" altLang="zh-CN" dirty="0"/>
              <a:t>     EPROM</a:t>
            </a:r>
            <a:r>
              <a:rPr lang="zh-CN" altLang="en-US" dirty="0"/>
              <a:t>可以多次擦除、多次写入。</a:t>
            </a:r>
            <a:endParaRPr lang="zh-CN" altLang="en-US" dirty="0"/>
          </a:p>
        </p:txBody>
      </p:sp>
      <p:pic>
        <p:nvPicPr>
          <p:cNvPr id="4" name="图片 3"/>
          <p:cNvPicPr>
            <a:picLocks noChangeAspect="1"/>
          </p:cNvPicPr>
          <p:nvPr/>
        </p:nvPicPr>
        <p:blipFill>
          <a:blip r:embed="rId1" cstate="print"/>
          <a:stretch>
            <a:fillRect/>
          </a:stretch>
        </p:blipFill>
        <p:spPr>
          <a:xfrm>
            <a:off x="7912365" y="2099854"/>
            <a:ext cx="2721672" cy="2080259"/>
          </a:xfrm>
          <a:prstGeom prst="rect">
            <a:avLst/>
          </a:prstGeom>
        </p:spPr>
      </p:pic>
      <p:sp>
        <p:nvSpPr>
          <p:cNvPr id="6" name="文本框 5"/>
          <p:cNvSpPr txBox="1"/>
          <p:nvPr/>
        </p:nvSpPr>
        <p:spPr>
          <a:xfrm>
            <a:off x="8306889" y="4691985"/>
            <a:ext cx="6093822" cy="400110"/>
          </a:xfrm>
          <a:prstGeom prst="rect">
            <a:avLst/>
          </a:prstGeom>
          <a:noFill/>
        </p:spPr>
        <p:txBody>
          <a:bodyPr wrap="square">
            <a:spAutoFit/>
          </a:bodyPr>
          <a:lstStyle/>
          <a:p>
            <a:r>
              <a:rPr lang="en-US" altLang="zh-CN" sz="2000" b="0" i="0" u="none" strike="noStrike" baseline="0" dirty="0">
                <a:solidFill>
                  <a:srgbClr val="000000"/>
                </a:solidFill>
                <a:latin typeface="Times New Roman" panose="02020603050405020304" pitchFamily="18" charset="0"/>
              </a:rPr>
              <a:t>EPROM</a:t>
            </a:r>
            <a:r>
              <a:rPr lang="zh-CN" altLang="en-US" sz="2000" b="0" i="0" u="none" strike="noStrike" baseline="0" dirty="0">
                <a:solidFill>
                  <a:srgbClr val="000000"/>
                </a:solidFill>
                <a:latin typeface="楷体" panose="02010609060101010101" pitchFamily="49" charset="-122"/>
                <a:ea typeface="楷体" panose="02010609060101010101" pitchFamily="49" charset="-122"/>
              </a:rPr>
              <a:t>外形图</a:t>
            </a:r>
            <a:endParaRPr lang="zh-CN" alt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半导体存储器的分类</a:t>
            </a:r>
            <a:endParaRPr lang="zh-CN" altLang="en-US" dirty="0"/>
          </a:p>
        </p:txBody>
      </p:sp>
      <p:sp>
        <p:nvSpPr>
          <p:cNvPr id="3" name="内容占位符 2"/>
          <p:cNvSpPr>
            <a:spLocks noGrp="1"/>
          </p:cNvSpPr>
          <p:nvPr>
            <p:ph idx="1"/>
          </p:nvPr>
        </p:nvSpPr>
        <p:spPr/>
        <p:txBody>
          <a:bodyPr/>
          <a:lstStyle/>
          <a:p>
            <a:pPr marL="0" indent="0">
              <a:buNone/>
            </a:pPr>
            <a:r>
              <a:rPr lang="zh-CN" altLang="en-US" dirty="0" smtClean="0"/>
              <a:t>④电</a:t>
            </a:r>
            <a:r>
              <a:rPr lang="zh-CN" altLang="en-US" dirty="0"/>
              <a:t>擦除可编程只读存储器</a:t>
            </a:r>
            <a:r>
              <a:rPr lang="en-US" altLang="zh-CN" dirty="0"/>
              <a:t>EEPROM</a:t>
            </a:r>
            <a:endParaRPr lang="en-US" altLang="zh-CN" dirty="0"/>
          </a:p>
          <a:p>
            <a:pPr marL="0" indent="0">
              <a:buNone/>
            </a:pPr>
            <a:r>
              <a:rPr lang="en-US" altLang="zh-CN" dirty="0"/>
              <a:t>   EEPROM</a:t>
            </a:r>
            <a:r>
              <a:rPr lang="zh-CN" altLang="en-US" dirty="0"/>
              <a:t>中信息可采用电信号进行擦除。这样，芯片不必从系统中取出，便可擦除部分或全部信息，并进行重编程。</a:t>
            </a:r>
            <a:r>
              <a:rPr lang="en-US" altLang="zh-CN" dirty="0"/>
              <a:t>EEPROM</a:t>
            </a:r>
            <a:r>
              <a:rPr lang="zh-CN" altLang="en-US" dirty="0"/>
              <a:t>为经常需要修改程序和参数的应用领域提供了方便。</a:t>
            </a:r>
            <a:endParaRPr lang="zh-CN" altLang="en-US" dirty="0"/>
          </a:p>
          <a:p>
            <a:pPr marL="0" indent="0">
              <a:buNone/>
            </a:pPr>
            <a:r>
              <a:rPr lang="zh-CN" altLang="en-US" dirty="0"/>
              <a:t>  但是，</a:t>
            </a:r>
            <a:r>
              <a:rPr lang="en-US" altLang="zh-CN" dirty="0"/>
              <a:t>EEPROM</a:t>
            </a:r>
            <a:r>
              <a:rPr lang="zh-CN" altLang="en-US" dirty="0"/>
              <a:t>存取速度相对较慢，价格较贵。</a:t>
            </a:r>
            <a:endParaRPr lang="zh-CN" alt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半导体存储器的分类</a:t>
            </a:r>
            <a:endParaRPr lang="zh-CN" altLang="en-US" dirty="0"/>
          </a:p>
        </p:txBody>
      </p:sp>
      <p:sp>
        <p:nvSpPr>
          <p:cNvPr id="3" name="内容占位符 2"/>
          <p:cNvSpPr>
            <a:spLocks noGrp="1"/>
          </p:cNvSpPr>
          <p:nvPr>
            <p:ph idx="1"/>
          </p:nvPr>
        </p:nvSpPr>
        <p:spPr/>
        <p:txBody>
          <a:bodyPr/>
          <a:lstStyle/>
          <a:p>
            <a:pPr marL="0" indent="0">
              <a:buNone/>
            </a:pPr>
            <a:r>
              <a:rPr lang="zh-CN" altLang="en-US" dirty="0"/>
              <a:t>（</a:t>
            </a:r>
            <a:r>
              <a:rPr lang="en-US" altLang="zh-CN" dirty="0"/>
              <a:t>3</a:t>
            </a:r>
            <a:r>
              <a:rPr lang="zh-CN" altLang="en-US" dirty="0"/>
              <a:t>）闪速存储器</a:t>
            </a:r>
            <a:r>
              <a:rPr lang="en-US" altLang="zh-CN" dirty="0"/>
              <a:t>Flash</a:t>
            </a:r>
            <a:endParaRPr lang="en-US" altLang="zh-CN" dirty="0"/>
          </a:p>
          <a:p>
            <a:pPr marL="0" indent="0">
              <a:buNone/>
            </a:pPr>
            <a:r>
              <a:rPr lang="zh-CN" altLang="en-US" dirty="0"/>
              <a:t>    简称闪存，是一种新型的可读写、非易失性半导体存储器。</a:t>
            </a:r>
            <a:r>
              <a:rPr lang="en-US" altLang="zh-CN" dirty="0"/>
              <a:t>Flash</a:t>
            </a:r>
            <a:r>
              <a:rPr lang="zh-CN" altLang="en-US" dirty="0"/>
              <a:t>芯片具有速度快、集成度高、功耗低、可靠性高等特点。</a:t>
            </a:r>
            <a:endParaRPr lang="zh-CN" altLang="en-US" dirty="0"/>
          </a:p>
          <a:p>
            <a:pPr marL="0" indent="0">
              <a:buNone/>
            </a:pPr>
            <a:r>
              <a:rPr lang="en-US" altLang="zh-CN" dirty="0"/>
              <a:t>     Flash</a:t>
            </a:r>
            <a:r>
              <a:rPr lang="zh-CN" altLang="en-US" dirty="0"/>
              <a:t>在计算机的</a:t>
            </a:r>
            <a:r>
              <a:rPr lang="en-US" altLang="zh-CN" dirty="0"/>
              <a:t>BIOS</a:t>
            </a:r>
            <a:r>
              <a:rPr lang="zh-CN" altLang="en-US" dirty="0"/>
              <a:t>、固态存储器等方面有较广泛的应用。</a:t>
            </a:r>
            <a:endParaRPr lang="zh-CN" alt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5.1.2 </a:t>
            </a:r>
            <a:r>
              <a:rPr lang="zh-CN" altLang="en-US" dirty="0" smtClean="0"/>
              <a:t>半导体存储器</a:t>
            </a:r>
            <a:r>
              <a:rPr lang="zh-CN" altLang="en-US" dirty="0"/>
              <a:t>的主要性能指标</a:t>
            </a:r>
            <a:endParaRPr lang="zh-CN" altLang="en-US" dirty="0"/>
          </a:p>
        </p:txBody>
      </p:sp>
      <p:sp>
        <p:nvSpPr>
          <p:cNvPr id="3" name="内容占位符 2"/>
          <p:cNvSpPr>
            <a:spLocks noGrp="1"/>
          </p:cNvSpPr>
          <p:nvPr>
            <p:ph idx="1"/>
          </p:nvPr>
        </p:nvSpPr>
        <p:spPr/>
        <p:txBody>
          <a:bodyPr>
            <a:normAutofit fontScale="70000" lnSpcReduction="20000"/>
          </a:bodyPr>
          <a:lstStyle/>
          <a:p>
            <a:pPr marL="0" indent="0">
              <a:lnSpc>
                <a:spcPct val="120000"/>
              </a:lnSpc>
              <a:buNone/>
            </a:pPr>
            <a:r>
              <a:rPr lang="zh-CN" altLang="en-US" sz="3600" b="0" dirty="0">
                <a:latin typeface="Times New Roman" panose="02020603050405020304" pitchFamily="18" charset="0"/>
              </a:rPr>
              <a:t>（</a:t>
            </a:r>
            <a:r>
              <a:rPr lang="en-US" altLang="zh-CN" sz="3600" b="0" dirty="0">
                <a:latin typeface="Times New Roman" panose="02020603050405020304" pitchFamily="18" charset="0"/>
              </a:rPr>
              <a:t>1</a:t>
            </a:r>
            <a:r>
              <a:rPr lang="zh-CN" altLang="en-US" sz="3600" b="0" dirty="0">
                <a:latin typeface="Times New Roman" panose="02020603050405020304" pitchFamily="18" charset="0"/>
              </a:rPr>
              <a:t>）存储器容量</a:t>
            </a:r>
            <a:endParaRPr lang="en-US" altLang="zh-CN" sz="3600" b="0" dirty="0">
              <a:latin typeface="Times New Roman" panose="02020603050405020304" pitchFamily="18" charset="0"/>
            </a:endParaRPr>
          </a:p>
          <a:p>
            <a:pPr>
              <a:lnSpc>
                <a:spcPct val="120000"/>
              </a:lnSpc>
            </a:pPr>
            <a:r>
              <a:rPr lang="zh-CN" altLang="en-US" sz="3600" b="0" dirty="0">
                <a:latin typeface="Times New Roman" panose="02020603050405020304" pitchFamily="18" charset="0"/>
              </a:rPr>
              <a:t>指存储器可以容纳的二进制信息量。</a:t>
            </a:r>
            <a:endParaRPr lang="zh-CN" altLang="en-US" sz="3600" b="0" dirty="0">
              <a:latin typeface="Times New Roman" panose="02020603050405020304" pitchFamily="18" charset="0"/>
            </a:endParaRPr>
          </a:p>
          <a:p>
            <a:pPr>
              <a:lnSpc>
                <a:spcPct val="120000"/>
              </a:lnSpc>
            </a:pPr>
            <a:r>
              <a:rPr lang="zh-CN" altLang="en-US" sz="3600" b="0" dirty="0">
                <a:latin typeface="Times New Roman" panose="02020603050405020304" pitchFamily="18" charset="0"/>
              </a:rPr>
              <a:t>一般存储器都采用一维线性编址，存储器中</a:t>
            </a:r>
            <a:r>
              <a:rPr lang="zh-CN" altLang="en-US" sz="3600" b="0" dirty="0">
                <a:solidFill>
                  <a:schemeClr val="hlink"/>
                </a:solidFill>
                <a:latin typeface="Times New Roman" panose="02020603050405020304" pitchFamily="18" charset="0"/>
              </a:rPr>
              <a:t>每个存储单元都被赋予一个地址</a:t>
            </a:r>
            <a:r>
              <a:rPr lang="zh-CN" altLang="en-US" sz="3600" b="0" dirty="0">
                <a:latin typeface="Times New Roman" panose="02020603050405020304" pitchFamily="18" charset="0"/>
              </a:rPr>
              <a:t>。</a:t>
            </a:r>
            <a:endParaRPr lang="zh-CN" altLang="en-US" sz="3600" b="0" dirty="0">
              <a:latin typeface="Times New Roman" panose="02020603050405020304" pitchFamily="18" charset="0"/>
            </a:endParaRPr>
          </a:p>
          <a:p>
            <a:pPr>
              <a:lnSpc>
                <a:spcPct val="120000"/>
              </a:lnSpc>
            </a:pPr>
            <a:r>
              <a:rPr lang="zh-CN" altLang="en-US" sz="3600" b="0" dirty="0">
                <a:latin typeface="Times New Roman" panose="02020603050405020304" pitchFamily="18" charset="0"/>
              </a:rPr>
              <a:t>存储器的存储容量</a:t>
            </a:r>
            <a:r>
              <a:rPr lang="en-US" altLang="zh-CN" sz="3600" b="0" dirty="0">
                <a:latin typeface="Times New Roman" panose="02020603050405020304" pitchFamily="18" charset="0"/>
              </a:rPr>
              <a:t>=2</a:t>
            </a:r>
            <a:r>
              <a:rPr lang="en-US" altLang="zh-CN" sz="3600" b="0" baseline="30000" dirty="0">
                <a:latin typeface="Times New Roman" panose="02020603050405020304" pitchFamily="18" charset="0"/>
              </a:rPr>
              <a:t>M</a:t>
            </a:r>
            <a:r>
              <a:rPr lang="en-US" altLang="zh-CN" sz="3600" b="0" dirty="0">
                <a:latin typeface="Times New Roman" panose="02020603050405020304" pitchFamily="18" charset="0"/>
              </a:rPr>
              <a:t>×N</a:t>
            </a:r>
            <a:endParaRPr lang="en-US" altLang="zh-CN" sz="3600" b="0" dirty="0">
              <a:latin typeface="Times New Roman" panose="02020603050405020304" pitchFamily="18" charset="0"/>
            </a:endParaRPr>
          </a:p>
          <a:p>
            <a:pPr lvl="1">
              <a:lnSpc>
                <a:spcPct val="120000"/>
              </a:lnSpc>
            </a:pPr>
            <a:r>
              <a:rPr lang="en-US" altLang="zh-CN" sz="3600" b="0" dirty="0">
                <a:latin typeface="Times New Roman" panose="02020603050405020304" pitchFamily="18" charset="0"/>
              </a:rPr>
              <a:t>M</a:t>
            </a:r>
            <a:r>
              <a:rPr lang="zh-CN" altLang="en-US" sz="3600" b="0" dirty="0">
                <a:latin typeface="Times New Roman" panose="02020603050405020304" pitchFamily="18" charset="0"/>
              </a:rPr>
              <a:t>是存储器的地址数</a:t>
            </a:r>
            <a:endParaRPr lang="zh-CN" altLang="en-US" sz="3600" b="0" dirty="0">
              <a:latin typeface="Times New Roman" panose="02020603050405020304" pitchFamily="18" charset="0"/>
            </a:endParaRPr>
          </a:p>
          <a:p>
            <a:pPr lvl="1">
              <a:lnSpc>
                <a:spcPct val="120000"/>
              </a:lnSpc>
            </a:pPr>
            <a:r>
              <a:rPr lang="en-US" altLang="zh-CN" sz="3600" b="0" dirty="0">
                <a:latin typeface="Times New Roman" panose="02020603050405020304" pitchFamily="18" charset="0"/>
              </a:rPr>
              <a:t>N</a:t>
            </a:r>
            <a:r>
              <a:rPr lang="zh-CN" altLang="en-US" sz="3600" b="0" dirty="0">
                <a:latin typeface="Times New Roman" panose="02020603050405020304" pitchFamily="18" charset="0"/>
              </a:rPr>
              <a:t>是存储器的每个存储单元的位数。</a:t>
            </a:r>
            <a:endParaRPr lang="zh-CN" altLang="en-US" sz="3600" b="0" dirty="0">
              <a:latin typeface="Times New Roman" panose="02020603050405020304" pitchFamily="18" charset="0"/>
            </a:endParaRPr>
          </a:p>
          <a:p>
            <a:pPr algn="l">
              <a:lnSpc>
                <a:spcPct val="120000"/>
              </a:lnSpc>
            </a:pPr>
            <a:r>
              <a:rPr lang="zh-CN" altLang="en-US" sz="3600" b="0" dirty="0">
                <a:latin typeface="Times New Roman" panose="02020603050405020304" pitchFamily="18" charset="0"/>
              </a:rPr>
              <a:t>某存储器芯片的地址数为</a:t>
            </a:r>
            <a:r>
              <a:rPr lang="en-US" altLang="zh-CN" sz="3600" b="0" dirty="0">
                <a:latin typeface="Times New Roman" panose="02020603050405020304" pitchFamily="18" charset="0"/>
              </a:rPr>
              <a:t>16</a:t>
            </a:r>
            <a:r>
              <a:rPr lang="zh-CN" altLang="en-US" sz="3600" b="0" dirty="0">
                <a:latin typeface="Times New Roman" panose="02020603050405020304" pitchFamily="18" charset="0"/>
              </a:rPr>
              <a:t>位，存储字长为</a:t>
            </a:r>
            <a:r>
              <a:rPr lang="en-US" altLang="zh-CN" sz="3600" b="0" dirty="0">
                <a:latin typeface="Times New Roman" panose="02020603050405020304" pitchFamily="18" charset="0"/>
              </a:rPr>
              <a:t>8</a:t>
            </a:r>
            <a:r>
              <a:rPr lang="zh-CN" altLang="en-US" sz="3600" b="0" dirty="0">
                <a:latin typeface="Times New Roman" panose="02020603050405020304" pitchFamily="18" charset="0"/>
              </a:rPr>
              <a:t>位，则该存储器的存储容量为：</a:t>
            </a:r>
            <a:r>
              <a:rPr lang="en-US" altLang="zh-CN" sz="3600" b="0" dirty="0" smtClean="0">
                <a:latin typeface="Times New Roman" panose="02020603050405020304" pitchFamily="18" charset="0"/>
              </a:rPr>
              <a:t>2</a:t>
            </a:r>
            <a:r>
              <a:rPr lang="en-US" altLang="zh-CN" sz="3600" b="0" baseline="30000" dirty="0" smtClean="0">
                <a:latin typeface="Times New Roman" panose="02020603050405020304" pitchFamily="18" charset="0"/>
              </a:rPr>
              <a:t>16</a:t>
            </a:r>
            <a:r>
              <a:rPr lang="en-US" altLang="zh-CN" sz="3600" b="0" dirty="0" smtClean="0">
                <a:latin typeface="Times New Roman" panose="02020603050405020304" pitchFamily="18" charset="0"/>
              </a:rPr>
              <a:t>×8b=64KB</a:t>
            </a:r>
            <a:r>
              <a:rPr lang="zh-CN" altLang="en-US" sz="3600" b="0" dirty="0" smtClean="0">
                <a:latin typeface="Times New Roman" panose="02020603050405020304" pitchFamily="18" charset="0"/>
              </a:rPr>
              <a:t>（</a:t>
            </a:r>
            <a:r>
              <a:rPr lang="en-US" altLang="zh-CN" sz="3600" b="0" dirty="0" smtClean="0">
                <a:latin typeface="Times New Roman" panose="02020603050405020304" pitchFamily="18" charset="0"/>
              </a:rPr>
              <a:t>Byte</a:t>
            </a:r>
            <a:r>
              <a:rPr lang="zh-CN" altLang="en-US" sz="3600" b="0" dirty="0" smtClean="0">
                <a:latin typeface="Times New Roman" panose="02020603050405020304" pitchFamily="18" charset="0"/>
              </a:rPr>
              <a:t>）</a:t>
            </a:r>
            <a:r>
              <a:rPr lang="en-US" altLang="zh-CN" sz="3600" b="0" dirty="0" smtClean="0">
                <a:latin typeface="Times New Roman" panose="02020603050405020304" pitchFamily="18" charset="0"/>
              </a:rPr>
              <a:t>=512Kb</a:t>
            </a:r>
            <a:r>
              <a:rPr lang="zh-CN" altLang="en-US" sz="3600" b="0" dirty="0" smtClean="0">
                <a:latin typeface="Times New Roman" panose="02020603050405020304" pitchFamily="18" charset="0"/>
              </a:rPr>
              <a:t>（</a:t>
            </a:r>
            <a:r>
              <a:rPr lang="en-US" altLang="zh-CN" sz="3600" b="0" dirty="0" smtClean="0">
                <a:latin typeface="Times New Roman" panose="02020603050405020304" pitchFamily="18" charset="0"/>
              </a:rPr>
              <a:t>bit</a:t>
            </a:r>
            <a:r>
              <a:rPr lang="zh-CN" altLang="en-US" sz="3600" b="0" dirty="0" smtClean="0">
                <a:latin typeface="Times New Roman" panose="02020603050405020304" pitchFamily="18" charset="0"/>
              </a:rPr>
              <a:t>）。</a:t>
            </a:r>
            <a:endParaRPr lang="zh-CN" altLang="en-US" sz="3600" dirty="0"/>
          </a:p>
          <a:p>
            <a:endParaRPr lang="zh-CN" alt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半导体存储器的主要性能指标</a:t>
            </a:r>
            <a:endParaRPr lang="zh-CN" altLang="en-US" dirty="0"/>
          </a:p>
        </p:txBody>
      </p:sp>
      <p:sp>
        <p:nvSpPr>
          <p:cNvPr id="3" name="内容占位符 2"/>
          <p:cNvSpPr>
            <a:spLocks noGrp="1"/>
          </p:cNvSpPr>
          <p:nvPr>
            <p:ph idx="1"/>
          </p:nvPr>
        </p:nvSpPr>
        <p:spPr/>
        <p:txBody>
          <a:bodyPr>
            <a:normAutofit/>
          </a:bodyPr>
          <a:lstStyle/>
          <a:p>
            <a:pPr marL="0" indent="0">
              <a:buNone/>
            </a:pPr>
            <a:r>
              <a:rPr lang="zh-CN" altLang="en-US" dirty="0"/>
              <a:t>（</a:t>
            </a:r>
            <a:r>
              <a:rPr lang="en-US" altLang="zh-CN" dirty="0"/>
              <a:t>2</a:t>
            </a:r>
            <a:r>
              <a:rPr lang="zh-CN" altLang="en-US" dirty="0"/>
              <a:t>）存储速度</a:t>
            </a:r>
            <a:endParaRPr lang="zh-CN" altLang="en-US" dirty="0"/>
          </a:p>
          <a:p>
            <a:pPr marL="0" indent="0">
              <a:buNone/>
            </a:pPr>
            <a:r>
              <a:rPr lang="zh-CN" altLang="en-US" dirty="0"/>
              <a:t> 存储速度可以用两个时间参数表示：</a:t>
            </a:r>
            <a:endParaRPr lang="en-US" altLang="zh-CN" dirty="0"/>
          </a:p>
          <a:p>
            <a:pPr marL="0" indent="0">
              <a:buNone/>
            </a:pPr>
            <a:r>
              <a:rPr lang="en-US" altLang="zh-CN" dirty="0"/>
              <a:t>	</a:t>
            </a:r>
            <a:r>
              <a:rPr lang="zh-CN" altLang="en-US" dirty="0"/>
              <a:t>“存取时间”</a:t>
            </a:r>
            <a:r>
              <a:rPr lang="en-US" altLang="zh-CN" dirty="0" smtClean="0"/>
              <a:t>T</a:t>
            </a:r>
            <a:r>
              <a:rPr lang="en-US" altLang="zh-CN" baseline="-25000" dirty="0" smtClean="0"/>
              <a:t>A</a:t>
            </a:r>
            <a:r>
              <a:rPr lang="en-US" altLang="zh-CN" dirty="0" smtClean="0"/>
              <a:t>(Access</a:t>
            </a:r>
            <a:r>
              <a:rPr lang="zh-CN" altLang="en-US" dirty="0" smtClean="0"/>
              <a:t> </a:t>
            </a:r>
            <a:r>
              <a:rPr lang="en-US" altLang="zh-CN" dirty="0" smtClean="0"/>
              <a:t>time</a:t>
            </a:r>
            <a:r>
              <a:rPr lang="en-US" altLang="zh-CN" dirty="0"/>
              <a:t>)</a:t>
            </a:r>
            <a:r>
              <a:rPr lang="zh-CN" altLang="en-US" dirty="0"/>
              <a:t>：从启动一次存储操作，到完成该操作所经历的时间；</a:t>
            </a:r>
            <a:endParaRPr lang="en-US" altLang="zh-CN" dirty="0"/>
          </a:p>
          <a:p>
            <a:pPr marL="0" indent="0">
              <a:buNone/>
            </a:pPr>
            <a:r>
              <a:rPr lang="zh-CN" altLang="en-US" dirty="0"/>
              <a:t>      “存储周期”</a:t>
            </a:r>
            <a:r>
              <a:rPr lang="en-US" altLang="zh-CN" dirty="0" smtClean="0"/>
              <a:t>T</a:t>
            </a:r>
            <a:r>
              <a:rPr lang="en-US" altLang="zh-CN" baseline="-25000" dirty="0" smtClean="0"/>
              <a:t>M</a:t>
            </a:r>
            <a:r>
              <a:rPr lang="en-US" altLang="zh-CN" dirty="0" smtClean="0"/>
              <a:t>(Memory</a:t>
            </a:r>
            <a:r>
              <a:rPr lang="zh-CN" altLang="en-US" dirty="0" smtClean="0"/>
              <a:t> </a:t>
            </a:r>
            <a:r>
              <a:rPr lang="en-US" altLang="zh-CN" dirty="0" smtClean="0"/>
              <a:t>cycle</a:t>
            </a:r>
            <a:r>
              <a:rPr lang="en-US" altLang="zh-CN" dirty="0"/>
              <a:t>)</a:t>
            </a:r>
            <a:r>
              <a:rPr lang="zh-CN" altLang="en-US" dirty="0"/>
              <a:t>：启动两次独立的存储器操作之间所需的最小时间间隔。</a:t>
            </a:r>
            <a:endParaRPr lang="zh-CN" altLang="en-US" dirty="0"/>
          </a:p>
          <a:p>
            <a:pPr marL="0" indent="0">
              <a:buNone/>
            </a:pPr>
            <a:r>
              <a:rPr lang="zh-CN" altLang="en-US" dirty="0"/>
              <a:t>（</a:t>
            </a:r>
            <a:r>
              <a:rPr lang="en-US" altLang="zh-CN" dirty="0"/>
              <a:t>3</a:t>
            </a:r>
            <a:r>
              <a:rPr lang="zh-CN" altLang="en-US" dirty="0"/>
              <a:t>）功耗</a:t>
            </a:r>
            <a:endParaRPr lang="zh-CN" alt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5.1.3 </a:t>
            </a:r>
            <a:r>
              <a:rPr lang="zh-CN" altLang="en-US" dirty="0" smtClean="0"/>
              <a:t>典型</a:t>
            </a:r>
            <a:r>
              <a:rPr lang="zh-CN" altLang="en-US" dirty="0"/>
              <a:t>的半导体存储器</a:t>
            </a:r>
            <a:endParaRPr lang="zh-CN" altLang="en-US" dirty="0"/>
          </a:p>
        </p:txBody>
      </p:sp>
      <p:sp>
        <p:nvSpPr>
          <p:cNvPr id="3" name="内容占位符 2"/>
          <p:cNvSpPr>
            <a:spLocks noGrp="1"/>
          </p:cNvSpPr>
          <p:nvPr>
            <p:ph idx="1"/>
          </p:nvPr>
        </p:nvSpPr>
        <p:spPr>
          <a:xfrm>
            <a:off x="838200" y="1825625"/>
            <a:ext cx="5358414" cy="813072"/>
          </a:xfrm>
        </p:spPr>
        <p:txBody>
          <a:bodyPr>
            <a:normAutofit fontScale="92500"/>
          </a:bodyPr>
          <a:lstStyle/>
          <a:p>
            <a:r>
              <a:rPr lang="en-US" altLang="zh-CN" dirty="0" smtClean="0"/>
              <a:t>SRAM</a:t>
            </a:r>
            <a:r>
              <a:rPr lang="zh-CN" altLang="en-US" dirty="0" smtClean="0"/>
              <a:t>芯片</a:t>
            </a:r>
            <a:r>
              <a:rPr lang="en-US" altLang="zh-CN" dirty="0" smtClean="0"/>
              <a:t>HM6116</a:t>
            </a:r>
            <a:r>
              <a:rPr lang="zh-CN" altLang="en-US" dirty="0" smtClean="0"/>
              <a:t>（</a:t>
            </a:r>
            <a:r>
              <a:rPr lang="en-US" altLang="zh-CN" dirty="0" smtClean="0"/>
              <a:t>2K*8</a:t>
            </a:r>
            <a:r>
              <a:rPr lang="zh-CN" altLang="en-US" dirty="0" smtClean="0"/>
              <a:t>位）</a:t>
            </a:r>
            <a:endParaRPr lang="zh-CN" altLang="en-US" dirty="0"/>
          </a:p>
        </p:txBody>
      </p:sp>
      <p:pic>
        <p:nvPicPr>
          <p:cNvPr id="4" name="Picture 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277802" y="2638697"/>
            <a:ext cx="3289300" cy="405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p:cNvSpPr txBox="1"/>
          <p:nvPr/>
        </p:nvSpPr>
        <p:spPr>
          <a:xfrm>
            <a:off x="5006704" y="2638697"/>
            <a:ext cx="6093822" cy="3170099"/>
          </a:xfrm>
          <a:prstGeom prst="rect">
            <a:avLst/>
          </a:prstGeom>
          <a:noFill/>
        </p:spPr>
        <p:txBody>
          <a:bodyPr wrap="square">
            <a:spAutoFit/>
          </a:bodyPr>
          <a:lstStyle/>
          <a:p>
            <a:r>
              <a:rPr lang="zh-CN" altLang="en-US" sz="2400" b="0" i="0" u="none" strike="noStrike" baseline="0" dirty="0">
                <a:solidFill>
                  <a:srgbClr val="000000"/>
                </a:solidFill>
                <a:latin typeface="楷体" panose="02010609060101010101" pitchFamily="49" charset="-122"/>
                <a:ea typeface="楷体" panose="02010609060101010101" pitchFamily="49" charset="-122"/>
              </a:rPr>
              <a:t>高速</a:t>
            </a:r>
            <a:r>
              <a:rPr lang="zh-CN" altLang="en-US" sz="2400" b="0" i="0" u="none" strike="noStrike" baseline="0" dirty="0">
                <a:solidFill>
                  <a:srgbClr val="FF0000"/>
                </a:solidFill>
                <a:latin typeface="楷体" panose="02010609060101010101" pitchFamily="49" charset="-122"/>
                <a:ea typeface="楷体" panose="02010609060101010101" pitchFamily="49" charset="-122"/>
              </a:rPr>
              <a:t>静态</a:t>
            </a:r>
            <a:r>
              <a:rPr lang="en-US" altLang="zh-CN" sz="2400" b="0" i="0" u="none" strike="noStrike" baseline="0" dirty="0">
                <a:solidFill>
                  <a:srgbClr val="000000"/>
                </a:solidFill>
                <a:latin typeface="Times New Roman" panose="02020603050405020304" pitchFamily="18" charset="0"/>
                <a:ea typeface="楷体" panose="02010609060101010101" pitchFamily="49" charset="-122"/>
              </a:rPr>
              <a:t>CMOS</a:t>
            </a:r>
            <a:r>
              <a:rPr lang="zh-CN" altLang="en-US" sz="2400" b="0" i="0" u="none" strike="noStrike" baseline="0" dirty="0">
                <a:solidFill>
                  <a:srgbClr val="000000"/>
                </a:solidFill>
                <a:latin typeface="楷体" panose="02010609060101010101" pitchFamily="49" charset="-122"/>
                <a:ea typeface="楷体" panose="02010609060101010101" pitchFamily="49" charset="-122"/>
              </a:rPr>
              <a:t>随机存取存储器。</a:t>
            </a:r>
            <a:endParaRPr lang="zh-CN" altLang="en-US" sz="2400" b="0" i="0" u="none" strike="noStrike" baseline="0" dirty="0">
              <a:solidFill>
                <a:srgbClr val="000000"/>
              </a:solidFill>
              <a:latin typeface="楷体" panose="02010609060101010101" pitchFamily="49" charset="-122"/>
              <a:ea typeface="楷体" panose="02010609060101010101" pitchFamily="49" charset="-122"/>
            </a:endParaRPr>
          </a:p>
          <a:p>
            <a:r>
              <a:rPr kumimoji="0" lang="en-US" altLang="zh-CN" sz="2800" b="0" i="0" u="none" strike="noStrike" kern="1200" cap="none" spc="0" normalizeH="0" baseline="0" noProof="0" dirty="0">
                <a:ln>
                  <a:noFill/>
                </a:ln>
                <a:solidFill>
                  <a:srgbClr val="000000"/>
                </a:solidFill>
                <a:effectLst/>
                <a:uLnTx/>
                <a:uFillTx/>
                <a:latin typeface="Times New Roman" panose="02020603050405020304" pitchFamily="18" charset="0"/>
                <a:cs typeface="+mn-cs"/>
              </a:rPr>
              <a:t>A</a:t>
            </a:r>
            <a:r>
              <a:rPr kumimoji="0" lang="en-US" altLang="zh-CN" sz="2800" b="0" i="0" u="none" strike="noStrike" kern="1200" cap="none" spc="0" normalizeH="0" baseline="-25000" noProof="0" dirty="0">
                <a:ln>
                  <a:noFill/>
                </a:ln>
                <a:solidFill>
                  <a:srgbClr val="000000"/>
                </a:solidFill>
                <a:effectLst/>
                <a:uLnTx/>
                <a:uFillTx/>
                <a:latin typeface="Times New Roman" panose="02020603050405020304" pitchFamily="18" charset="0"/>
                <a:cs typeface="+mn-cs"/>
              </a:rPr>
              <a:t>10</a:t>
            </a:r>
            <a:r>
              <a:rPr kumimoji="0" lang="en-US" altLang="zh-CN" sz="2800" b="0" i="0" u="none" strike="noStrike" kern="1200" cap="none" spc="0" normalizeH="0" baseline="0" noProof="0" dirty="0">
                <a:ln>
                  <a:noFill/>
                </a:ln>
                <a:solidFill>
                  <a:srgbClr val="000000"/>
                </a:solidFill>
                <a:effectLst/>
                <a:uLnTx/>
                <a:uFillTx/>
                <a:latin typeface="Times New Roman" panose="02020603050405020304" pitchFamily="18" charset="0"/>
                <a:cs typeface="+mn-cs"/>
              </a:rPr>
              <a:t>~ A</a:t>
            </a:r>
            <a:r>
              <a:rPr kumimoji="0" lang="en-US" altLang="zh-CN" sz="2800" b="0" i="0" u="none" strike="noStrike" kern="1200" cap="none" spc="0" normalizeH="0" baseline="-25000" noProof="0" dirty="0">
                <a:ln>
                  <a:noFill/>
                </a:ln>
                <a:solidFill>
                  <a:srgbClr val="000000"/>
                </a:solidFill>
                <a:effectLst/>
                <a:uLnTx/>
                <a:uFillTx/>
                <a:latin typeface="Times New Roman" panose="02020603050405020304" pitchFamily="18" charset="0"/>
                <a:cs typeface="+mn-cs"/>
              </a:rPr>
              <a:t>0 </a:t>
            </a:r>
            <a:r>
              <a:rPr lang="zh-CN" altLang="en-US" sz="2400" b="0" i="0" u="none" strike="noStrike" baseline="0" dirty="0">
                <a:solidFill>
                  <a:srgbClr val="000000"/>
                </a:solidFill>
                <a:latin typeface="楷体" panose="02010609060101010101" pitchFamily="49" charset="-122"/>
                <a:ea typeface="楷体" panose="02010609060101010101" pitchFamily="49" charset="-122"/>
              </a:rPr>
              <a:t>：</a:t>
            </a:r>
            <a:r>
              <a:rPr lang="en-US" altLang="zh-CN" sz="2400" b="0" i="0" u="none" strike="noStrike" baseline="0" dirty="0">
                <a:solidFill>
                  <a:srgbClr val="000000"/>
                </a:solidFill>
                <a:latin typeface="Times New Roman" panose="02020603050405020304" pitchFamily="18" charset="0"/>
                <a:ea typeface="楷体" panose="02010609060101010101" pitchFamily="49" charset="-122"/>
              </a:rPr>
              <a:t>11</a:t>
            </a:r>
            <a:r>
              <a:rPr lang="zh-CN" altLang="en-US" sz="2400" b="0" i="0" u="none" strike="noStrike" baseline="0" dirty="0">
                <a:solidFill>
                  <a:srgbClr val="000000"/>
                </a:solidFill>
                <a:latin typeface="楷体" panose="02010609060101010101" pitchFamily="49" charset="-122"/>
                <a:ea typeface="楷体" panose="02010609060101010101" pitchFamily="49" charset="-122"/>
              </a:rPr>
              <a:t>根地址线；</a:t>
            </a:r>
            <a:endParaRPr lang="zh-CN" altLang="en-US" sz="2400" b="0" i="0" u="none" strike="noStrike" baseline="0" dirty="0">
              <a:solidFill>
                <a:srgbClr val="000000"/>
              </a:solidFill>
              <a:latin typeface="楷体" panose="02010609060101010101" pitchFamily="49" charset="-122"/>
              <a:ea typeface="楷体" panose="02010609060101010101" pitchFamily="49" charset="-122"/>
            </a:endParaRPr>
          </a:p>
          <a:p>
            <a:r>
              <a:rPr kumimoji="0" lang="en-US" altLang="zh-CN" sz="2800" b="0" i="0" u="none" strike="noStrike" kern="1200" cap="none" spc="0" normalizeH="0" baseline="0" noProof="0" dirty="0">
                <a:ln>
                  <a:noFill/>
                </a:ln>
                <a:solidFill>
                  <a:srgbClr val="000000"/>
                </a:solidFill>
                <a:effectLst/>
                <a:uLnTx/>
                <a:uFillTx/>
                <a:latin typeface="Times New Roman" panose="02020603050405020304" pitchFamily="18" charset="0"/>
                <a:cs typeface="+mn-cs"/>
              </a:rPr>
              <a:t>I/O</a:t>
            </a:r>
            <a:r>
              <a:rPr kumimoji="0" lang="en-US" altLang="zh-CN" sz="2800" b="0" i="0" u="none" strike="noStrike" kern="1200" cap="none" spc="0" normalizeH="0" baseline="-25000" noProof="0" dirty="0">
                <a:ln>
                  <a:noFill/>
                </a:ln>
                <a:solidFill>
                  <a:srgbClr val="000000"/>
                </a:solidFill>
                <a:effectLst/>
                <a:uLnTx/>
                <a:uFillTx/>
                <a:latin typeface="Times New Roman" panose="02020603050405020304" pitchFamily="18" charset="0"/>
                <a:cs typeface="+mn-cs"/>
              </a:rPr>
              <a:t>1</a:t>
            </a:r>
            <a:r>
              <a:rPr kumimoji="0" lang="en-US" altLang="zh-CN" sz="2800" b="0" i="0" u="none" strike="noStrike" kern="1200" cap="none" spc="0" normalizeH="0" baseline="0" noProof="0" dirty="0">
                <a:ln>
                  <a:noFill/>
                </a:ln>
                <a:solidFill>
                  <a:srgbClr val="000000"/>
                </a:solidFill>
                <a:effectLst/>
                <a:uLnTx/>
                <a:uFillTx/>
                <a:latin typeface="Times New Roman" panose="02020603050405020304" pitchFamily="18" charset="0"/>
                <a:cs typeface="+mn-cs"/>
              </a:rPr>
              <a:t>~I/O</a:t>
            </a:r>
            <a:r>
              <a:rPr kumimoji="0" lang="en-US" altLang="zh-CN" sz="2800" b="0" i="0" u="none" strike="noStrike" kern="1200" cap="none" spc="0" normalizeH="0" baseline="-25000" noProof="0" dirty="0">
                <a:ln>
                  <a:noFill/>
                </a:ln>
                <a:solidFill>
                  <a:srgbClr val="000000"/>
                </a:solidFill>
                <a:effectLst/>
                <a:uLnTx/>
                <a:uFillTx/>
                <a:latin typeface="Times New Roman" panose="02020603050405020304" pitchFamily="18" charset="0"/>
                <a:cs typeface="+mn-cs"/>
              </a:rPr>
              <a:t>8 </a:t>
            </a:r>
            <a:r>
              <a:rPr lang="zh-CN" altLang="en-US" sz="2400" b="0" i="0" u="none" strike="noStrike" baseline="0" dirty="0">
                <a:solidFill>
                  <a:srgbClr val="000000"/>
                </a:solidFill>
                <a:latin typeface="楷体" panose="02010609060101010101" pitchFamily="49" charset="-122"/>
                <a:ea typeface="楷体" panose="02010609060101010101" pitchFamily="49" charset="-122"/>
              </a:rPr>
              <a:t>：</a:t>
            </a:r>
            <a:r>
              <a:rPr lang="en-US" altLang="zh-CN" sz="2400" b="0" i="0" u="none" strike="noStrike" baseline="0" dirty="0">
                <a:solidFill>
                  <a:srgbClr val="000000"/>
                </a:solidFill>
                <a:latin typeface="Times New Roman" panose="02020603050405020304" pitchFamily="18" charset="0"/>
                <a:ea typeface="楷体" panose="02010609060101010101" pitchFamily="49" charset="-122"/>
              </a:rPr>
              <a:t>8</a:t>
            </a:r>
            <a:r>
              <a:rPr lang="zh-CN" altLang="en-US" sz="2400" b="0" i="0" u="none" strike="noStrike" baseline="0" dirty="0">
                <a:solidFill>
                  <a:srgbClr val="000000"/>
                </a:solidFill>
                <a:latin typeface="楷体" panose="02010609060101010101" pitchFamily="49" charset="-122"/>
                <a:ea typeface="楷体" panose="02010609060101010101" pitchFamily="49" charset="-122"/>
              </a:rPr>
              <a:t>根数据线，构成</a:t>
            </a:r>
            <a:r>
              <a:rPr lang="en-US" altLang="zh-CN" sz="2400" b="0" i="0" u="none" strike="noStrike" baseline="0" dirty="0">
                <a:solidFill>
                  <a:srgbClr val="000000"/>
                </a:solidFill>
                <a:latin typeface="Times New Roman" panose="02020603050405020304" pitchFamily="18" charset="0"/>
                <a:ea typeface="楷体" panose="02010609060101010101" pitchFamily="49" charset="-122"/>
              </a:rPr>
              <a:t>2KB</a:t>
            </a:r>
            <a:r>
              <a:rPr lang="zh-CN" altLang="en-US" sz="2400" b="0" i="0" u="none" strike="noStrike" baseline="0" dirty="0">
                <a:solidFill>
                  <a:srgbClr val="000000"/>
                </a:solidFill>
                <a:latin typeface="楷体" panose="02010609060101010101" pitchFamily="49" charset="-122"/>
                <a:ea typeface="楷体" panose="02010609060101010101" pitchFamily="49" charset="-122"/>
              </a:rPr>
              <a:t>的内存。</a:t>
            </a:r>
            <a:endParaRPr lang="zh-CN" altLang="en-US" sz="2400" b="0" i="0" u="none" strike="noStrike" baseline="0" dirty="0">
              <a:solidFill>
                <a:srgbClr val="000000"/>
              </a:solidFill>
              <a:latin typeface="楷体" panose="02010609060101010101" pitchFamily="49" charset="-122"/>
              <a:ea typeface="楷体" panose="02010609060101010101" pitchFamily="49" charset="-122"/>
            </a:endParaRPr>
          </a:p>
          <a:p>
            <a:r>
              <a:rPr lang="en-US" altLang="zh-CN" sz="2400" dirty="0">
                <a:solidFill>
                  <a:srgbClr val="000000"/>
                </a:solidFill>
                <a:latin typeface="Times New Roman" panose="02020603050405020304" pitchFamily="18" charset="0"/>
                <a:ea typeface="楷体" panose="02010609060101010101" pitchFamily="49" charset="-122"/>
              </a:rPr>
              <a:t>         </a:t>
            </a:r>
            <a:r>
              <a:rPr lang="zh-CN" altLang="en-US" sz="2400" b="0" i="0" u="none" strike="noStrike" baseline="0" dirty="0">
                <a:solidFill>
                  <a:srgbClr val="000000"/>
                </a:solidFill>
                <a:latin typeface="楷体" panose="02010609060101010101" pitchFamily="49" charset="-122"/>
                <a:ea typeface="楷体" panose="02010609060101010101" pitchFamily="49" charset="-122"/>
              </a:rPr>
              <a:t>：片选信号，低电平有效，用来选择</a:t>
            </a:r>
            <a:endParaRPr lang="zh-CN" altLang="en-US" sz="2400" b="0" i="0" u="none" strike="noStrike" baseline="0" dirty="0">
              <a:solidFill>
                <a:srgbClr val="000000"/>
              </a:solidFill>
              <a:latin typeface="楷体" panose="02010609060101010101" pitchFamily="49" charset="-122"/>
              <a:ea typeface="楷体" panose="02010609060101010101" pitchFamily="49" charset="-122"/>
            </a:endParaRPr>
          </a:p>
          <a:p>
            <a:r>
              <a:rPr lang="zh-CN" altLang="en-US" sz="2400" b="0" i="0" u="none" strike="noStrike" baseline="0" dirty="0">
                <a:solidFill>
                  <a:srgbClr val="000000"/>
                </a:solidFill>
                <a:latin typeface="楷体" panose="02010609060101010101" pitchFamily="49" charset="-122"/>
                <a:ea typeface="楷体" panose="02010609060101010101" pitchFamily="49" charset="-122"/>
              </a:rPr>
              <a:t>     芯片；</a:t>
            </a:r>
            <a:endParaRPr lang="zh-CN" altLang="en-US" sz="2400" b="0" i="0" u="none" strike="noStrike" baseline="0" dirty="0">
              <a:solidFill>
                <a:srgbClr val="000000"/>
              </a:solidFill>
              <a:latin typeface="楷体" panose="02010609060101010101" pitchFamily="49" charset="-122"/>
              <a:ea typeface="楷体" panose="02010609060101010101" pitchFamily="49" charset="-122"/>
            </a:endParaRPr>
          </a:p>
          <a:p>
            <a:r>
              <a:rPr lang="zh-CN" altLang="en-US" sz="2400" b="0" i="0" u="none" strike="noStrike" baseline="0" dirty="0">
                <a:solidFill>
                  <a:srgbClr val="000000"/>
                </a:solidFill>
                <a:latin typeface="楷体" panose="02010609060101010101" pitchFamily="49" charset="-122"/>
                <a:ea typeface="楷体" panose="02010609060101010101" pitchFamily="49" charset="-122"/>
              </a:rPr>
              <a:t>    ：写允许信号，低电平有效，控制</a:t>
            </a:r>
            <a:endParaRPr lang="zh-CN" altLang="en-US" sz="2400" b="0" i="0" u="none" strike="noStrike" baseline="0" dirty="0">
              <a:solidFill>
                <a:srgbClr val="000000"/>
              </a:solidFill>
              <a:latin typeface="楷体" panose="02010609060101010101" pitchFamily="49" charset="-122"/>
              <a:ea typeface="楷体" panose="02010609060101010101" pitchFamily="49" charset="-122"/>
            </a:endParaRPr>
          </a:p>
          <a:p>
            <a:r>
              <a:rPr lang="zh-CN" altLang="en-US" sz="2400" b="0" i="0" u="none" strike="noStrike" baseline="0" dirty="0">
                <a:solidFill>
                  <a:srgbClr val="000000"/>
                </a:solidFill>
                <a:latin typeface="楷体" panose="02010609060101010101" pitchFamily="49" charset="-122"/>
                <a:ea typeface="楷体" panose="02010609060101010101" pitchFamily="49" charset="-122"/>
              </a:rPr>
              <a:t>     读</a:t>
            </a:r>
            <a:r>
              <a:rPr lang="en-US" altLang="zh-CN" sz="2400" b="0" i="0" u="none" strike="noStrike" baseline="0" dirty="0">
                <a:solidFill>
                  <a:srgbClr val="000000"/>
                </a:solidFill>
                <a:latin typeface="Times New Roman" panose="02020603050405020304" pitchFamily="18" charset="0"/>
                <a:ea typeface="楷体" panose="02010609060101010101" pitchFamily="49" charset="-122"/>
              </a:rPr>
              <a:t>/</a:t>
            </a:r>
            <a:r>
              <a:rPr lang="zh-CN" altLang="en-US" sz="2400" b="0" i="0" u="none" strike="noStrike" baseline="0" dirty="0">
                <a:solidFill>
                  <a:srgbClr val="000000"/>
                </a:solidFill>
                <a:latin typeface="楷体" panose="02010609060101010101" pitchFamily="49" charset="-122"/>
                <a:ea typeface="楷体" panose="02010609060101010101" pitchFamily="49" charset="-122"/>
              </a:rPr>
              <a:t>写操作；</a:t>
            </a:r>
            <a:endParaRPr lang="zh-CN" altLang="en-US" sz="2400" b="0" i="0" u="none" strike="noStrike" baseline="0" dirty="0">
              <a:solidFill>
                <a:srgbClr val="000000"/>
              </a:solidFill>
              <a:latin typeface="楷体" panose="02010609060101010101" pitchFamily="49" charset="-122"/>
              <a:ea typeface="楷体" panose="02010609060101010101" pitchFamily="49" charset="-122"/>
            </a:endParaRPr>
          </a:p>
          <a:p>
            <a:r>
              <a:rPr lang="en-US" altLang="zh-CN" sz="2400" dirty="0">
                <a:solidFill>
                  <a:srgbClr val="000000"/>
                </a:solidFill>
                <a:latin typeface="Times New Roman" panose="02020603050405020304" pitchFamily="18" charset="0"/>
                <a:ea typeface="楷体" panose="02010609060101010101" pitchFamily="49" charset="-122"/>
              </a:rPr>
              <a:t>       </a:t>
            </a:r>
            <a:r>
              <a:rPr lang="zh-CN" altLang="en-US" sz="2400" b="0" i="0" u="none" strike="noStrike" baseline="0" dirty="0">
                <a:solidFill>
                  <a:srgbClr val="000000"/>
                </a:solidFill>
                <a:latin typeface="楷体" panose="02010609060101010101" pitchFamily="49" charset="-122"/>
                <a:ea typeface="楷体" panose="02010609060101010101" pitchFamily="49" charset="-122"/>
              </a:rPr>
              <a:t>：输出允许信号，低电平有效。</a:t>
            </a:r>
            <a:endParaRPr lang="zh-CN" altLang="en-US" dirty="0"/>
          </a:p>
        </p:txBody>
      </p:sp>
      <p:graphicFrame>
        <p:nvGraphicFramePr>
          <p:cNvPr id="7" name="Object 4"/>
          <p:cNvGraphicFramePr>
            <a:graphicFrameLocks noChangeAspect="1"/>
          </p:cNvGraphicFramePr>
          <p:nvPr/>
        </p:nvGraphicFramePr>
        <p:xfrm>
          <a:off x="5242741" y="3892550"/>
          <a:ext cx="496888" cy="438150"/>
        </p:xfrm>
        <a:graphic>
          <a:graphicData uri="http://schemas.openxmlformats.org/presentationml/2006/ole">
            <mc:AlternateContent xmlns:mc="http://schemas.openxmlformats.org/markup-compatibility/2006">
              <mc:Choice xmlns:v="urn:schemas-microsoft-com:vml" Requires="v">
                <p:oleObj spid="_x0000_s1025" name="" r:id="rId2" imgW="5181600" imgH="4572000" progId="">
                  <p:embed/>
                </p:oleObj>
              </mc:Choice>
              <mc:Fallback>
                <p:oleObj name="" r:id="rId2" imgW="5181600" imgH="4572000" progId="">
                  <p:embed/>
                  <p:pic>
                    <p:nvPicPr>
                      <p:cNvPr id="0" name="图片 1024"/>
                      <p:cNvPicPr>
                        <a:picLocks noChangeAspect="1"/>
                      </p:cNvPicPr>
                      <p:nvPr/>
                    </p:nvPicPr>
                    <p:blipFill>
                      <a:blip r:embed="rId3"/>
                      <a:stretch>
                        <a:fillRect/>
                      </a:stretch>
                    </p:blipFill>
                    <p:spPr>
                      <a:xfrm>
                        <a:off x="5242741" y="3892550"/>
                        <a:ext cx="496888" cy="438150"/>
                      </a:xfrm>
                      <a:prstGeom prst="rect">
                        <a:avLst/>
                      </a:prstGeom>
                      <a:noFill/>
                      <a:ln w="9525">
                        <a:noFill/>
                      </a:ln>
                    </p:spPr>
                  </p:pic>
                </p:oleObj>
              </mc:Fallback>
            </mc:AlternateContent>
          </a:graphicData>
        </a:graphic>
      </p:graphicFrame>
      <p:graphicFrame>
        <p:nvGraphicFramePr>
          <p:cNvPr id="8" name="Object 5"/>
          <p:cNvGraphicFramePr>
            <a:graphicFrameLocks noChangeAspect="1"/>
          </p:cNvGraphicFramePr>
          <p:nvPr/>
        </p:nvGraphicFramePr>
        <p:xfrm>
          <a:off x="5155429" y="4665141"/>
          <a:ext cx="584200" cy="438150"/>
        </p:xfrm>
        <a:graphic>
          <a:graphicData uri="http://schemas.openxmlformats.org/presentationml/2006/ole">
            <mc:AlternateContent xmlns:mc="http://schemas.openxmlformats.org/markup-compatibility/2006">
              <mc:Choice xmlns:v="urn:schemas-microsoft-com:vml" Requires="v">
                <p:oleObj spid="_x0000_s1026" name="" r:id="rId4" imgW="6096000" imgH="4572000" progId="">
                  <p:embed/>
                </p:oleObj>
              </mc:Choice>
              <mc:Fallback>
                <p:oleObj name="" r:id="rId4" imgW="6096000" imgH="4572000" progId="">
                  <p:embed/>
                  <p:pic>
                    <p:nvPicPr>
                      <p:cNvPr id="0" name="图片 1025"/>
                      <p:cNvPicPr>
                        <a:picLocks noChangeAspect="1"/>
                      </p:cNvPicPr>
                      <p:nvPr/>
                    </p:nvPicPr>
                    <p:blipFill>
                      <a:blip r:embed="rId5"/>
                      <a:stretch>
                        <a:fillRect/>
                      </a:stretch>
                    </p:blipFill>
                    <p:spPr>
                      <a:xfrm>
                        <a:off x="5155429" y="4665141"/>
                        <a:ext cx="584200" cy="438150"/>
                      </a:xfrm>
                      <a:prstGeom prst="rect">
                        <a:avLst/>
                      </a:prstGeom>
                      <a:noFill/>
                      <a:ln w="9525">
                        <a:noFill/>
                      </a:ln>
                    </p:spPr>
                  </p:pic>
                </p:oleObj>
              </mc:Fallback>
            </mc:AlternateContent>
          </a:graphicData>
        </a:graphic>
      </p:graphicFrame>
      <p:graphicFrame>
        <p:nvGraphicFramePr>
          <p:cNvPr id="9" name="Object 6"/>
          <p:cNvGraphicFramePr>
            <a:graphicFrameLocks noChangeAspect="1"/>
          </p:cNvGraphicFramePr>
          <p:nvPr/>
        </p:nvGraphicFramePr>
        <p:xfrm>
          <a:off x="5199085" y="5318792"/>
          <a:ext cx="496888" cy="438150"/>
        </p:xfrm>
        <a:graphic>
          <a:graphicData uri="http://schemas.openxmlformats.org/presentationml/2006/ole">
            <mc:AlternateContent xmlns:mc="http://schemas.openxmlformats.org/markup-compatibility/2006">
              <mc:Choice xmlns:v="urn:schemas-microsoft-com:vml" Requires="v">
                <p:oleObj spid="_x0000_s1027" name="" r:id="rId6" imgW="5181600" imgH="4572000" progId="">
                  <p:embed/>
                </p:oleObj>
              </mc:Choice>
              <mc:Fallback>
                <p:oleObj name="" r:id="rId6" imgW="5181600" imgH="4572000" progId="">
                  <p:embed/>
                  <p:pic>
                    <p:nvPicPr>
                      <p:cNvPr id="0" name="图片 1026"/>
                      <p:cNvPicPr>
                        <a:picLocks noChangeAspect="1"/>
                      </p:cNvPicPr>
                      <p:nvPr/>
                    </p:nvPicPr>
                    <p:blipFill>
                      <a:blip r:embed="rId7"/>
                      <a:stretch>
                        <a:fillRect/>
                      </a:stretch>
                    </p:blipFill>
                    <p:spPr>
                      <a:xfrm>
                        <a:off x="5199085" y="5318792"/>
                        <a:ext cx="496888" cy="438150"/>
                      </a:xfrm>
                      <a:prstGeom prst="rect">
                        <a:avLst/>
                      </a:prstGeom>
                      <a:noFill/>
                      <a:ln w="9525">
                        <a:noFill/>
                      </a:ln>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par>
                                <p:cTn id="10" presetID="47" presetClass="entr" presetSubtype="0"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par>
                                <p:cTn id="15" presetID="47"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1000"/>
                                        <p:tgtEl>
                                          <p:spTgt spid="9"/>
                                        </p:tgtEl>
                                      </p:cBhvr>
                                    </p:animEffect>
                                    <p:anim calcmode="lin" valueType="num">
                                      <p:cBhvr>
                                        <p:cTn id="18" dur="1000" fill="hold"/>
                                        <p:tgtEl>
                                          <p:spTgt spid="9"/>
                                        </p:tgtEl>
                                        <p:attrNameLst>
                                          <p:attrName>ppt_x</p:attrName>
                                        </p:attrNameLst>
                                      </p:cBhvr>
                                      <p:tavLst>
                                        <p:tav tm="0">
                                          <p:val>
                                            <p:strVal val="#ppt_x"/>
                                          </p:val>
                                        </p:tav>
                                        <p:tav tm="100000">
                                          <p:val>
                                            <p:strVal val="#ppt_x"/>
                                          </p:val>
                                        </p:tav>
                                      </p:tavLst>
                                    </p:anim>
                                    <p:anim calcmode="lin" valueType="num">
                                      <p:cBhvr>
                                        <p:cTn id="1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典型的半导体存储器</a:t>
            </a:r>
            <a:endParaRPr lang="zh-CN" altLang="en-US" dirty="0"/>
          </a:p>
        </p:txBody>
      </p:sp>
      <p:sp>
        <p:nvSpPr>
          <p:cNvPr id="3" name="内容占位符 2"/>
          <p:cNvSpPr>
            <a:spLocks noGrp="1"/>
          </p:cNvSpPr>
          <p:nvPr>
            <p:ph idx="1"/>
          </p:nvPr>
        </p:nvSpPr>
        <p:spPr>
          <a:xfrm>
            <a:off x="838200" y="1825625"/>
            <a:ext cx="6805474" cy="740546"/>
          </a:xfrm>
        </p:spPr>
        <p:txBody>
          <a:bodyPr/>
          <a:lstStyle/>
          <a:p>
            <a:r>
              <a:rPr lang="zh-CN" altLang="en-US" dirty="0" smtClean="0"/>
              <a:t>动态</a:t>
            </a:r>
            <a:r>
              <a:rPr lang="en-US" altLang="zh-CN" dirty="0" smtClean="0"/>
              <a:t>DRAM</a:t>
            </a:r>
            <a:r>
              <a:rPr lang="zh-CN" altLang="en-US" dirty="0"/>
              <a:t>芯片</a:t>
            </a:r>
            <a:r>
              <a:rPr lang="en-US" altLang="zh-CN" dirty="0" smtClean="0"/>
              <a:t>Intel2164</a:t>
            </a:r>
            <a:r>
              <a:rPr lang="zh-CN" altLang="en-US" dirty="0" smtClean="0"/>
              <a:t>（</a:t>
            </a:r>
            <a:r>
              <a:rPr lang="en-US" altLang="zh-CN" dirty="0" smtClean="0"/>
              <a:t>64K*1</a:t>
            </a:r>
            <a:r>
              <a:rPr lang="zh-CN" altLang="en-US" dirty="0" smtClean="0"/>
              <a:t>位）</a:t>
            </a:r>
            <a:endParaRPr lang="zh-CN" altLang="en-US" dirty="0"/>
          </a:p>
        </p:txBody>
      </p:sp>
      <p:pic>
        <p:nvPicPr>
          <p:cNvPr id="4" name="Picture 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452603" y="2468516"/>
            <a:ext cx="4449762" cy="4011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文本框 5"/>
          <p:cNvSpPr txBox="1"/>
          <p:nvPr/>
        </p:nvSpPr>
        <p:spPr>
          <a:xfrm>
            <a:off x="5433060" y="2952750"/>
            <a:ext cx="6617335" cy="3774440"/>
          </a:xfrm>
          <a:prstGeom prst="rect">
            <a:avLst/>
          </a:prstGeom>
          <a:noFill/>
        </p:spPr>
        <p:txBody>
          <a:bodyPr wrap="square">
            <a:noAutofit/>
          </a:bodyPr>
          <a:lstStyle/>
          <a:p>
            <a:r>
              <a:rPr lang="en-US" altLang="zh-CN" sz="2400" b="0" i="0" u="none" strike="noStrike" baseline="0" dirty="0">
                <a:solidFill>
                  <a:srgbClr val="000000"/>
                </a:solidFill>
                <a:latin typeface="Times New Roman" panose="02020603050405020304" pitchFamily="18" charset="0"/>
              </a:rPr>
              <a:t>64K×1b </a:t>
            </a:r>
            <a:r>
              <a:rPr lang="zh-CN" altLang="en-US" sz="2400" b="0" i="0" u="none" strike="noStrike" baseline="0" dirty="0">
                <a:solidFill>
                  <a:srgbClr val="000000"/>
                </a:solidFill>
                <a:latin typeface="楷体" panose="02010609060101010101" pitchFamily="49" charset="-122"/>
                <a:ea typeface="楷体" panose="02010609060101010101" pitchFamily="49" charset="-122"/>
              </a:rPr>
              <a:t>动态随机存取存储器。</a:t>
            </a:r>
            <a:endParaRPr lang="zh-CN" altLang="en-US" sz="2400" b="0" i="0" u="none" strike="noStrike" baseline="0" dirty="0">
              <a:solidFill>
                <a:srgbClr val="000000"/>
              </a:solidFill>
              <a:latin typeface="楷体" panose="02010609060101010101" pitchFamily="49" charset="-122"/>
              <a:ea typeface="楷体" panose="02010609060101010101" pitchFamily="49" charset="-122"/>
            </a:endParaRPr>
          </a:p>
          <a:p>
            <a:r>
              <a:rPr kumimoji="0" lang="en-US" altLang="zh-CN" sz="2800" b="0" i="0" u="none" strike="noStrike" kern="1200" cap="none" spc="0" normalizeH="0" baseline="0" noProof="0" dirty="0">
                <a:ln>
                  <a:noFill/>
                </a:ln>
                <a:solidFill>
                  <a:srgbClr val="000000"/>
                </a:solidFill>
                <a:effectLst/>
                <a:uLnTx/>
                <a:uFillTx/>
                <a:latin typeface="Times New Roman" panose="02020603050405020304" pitchFamily="18" charset="0"/>
                <a:ea typeface="等线" panose="02010600030101010101" charset="-122"/>
                <a:cs typeface="+mn-cs"/>
              </a:rPr>
              <a:t>A</a:t>
            </a:r>
            <a:r>
              <a:rPr kumimoji="0" lang="en-US" altLang="zh-CN" sz="2800" b="0" i="0" u="none" strike="noStrike" kern="1200" cap="none" spc="0" normalizeH="0" baseline="-25000" noProof="0" dirty="0">
                <a:ln>
                  <a:noFill/>
                </a:ln>
                <a:solidFill>
                  <a:srgbClr val="000000"/>
                </a:solidFill>
                <a:effectLst/>
                <a:uLnTx/>
                <a:uFillTx/>
                <a:latin typeface="Times New Roman" panose="02020603050405020304" pitchFamily="18" charset="0"/>
                <a:ea typeface="等线" panose="02010600030101010101" charset="-122"/>
                <a:cs typeface="+mn-cs"/>
              </a:rPr>
              <a:t>7</a:t>
            </a:r>
            <a:r>
              <a:rPr kumimoji="0" lang="en-US" altLang="zh-CN" sz="2800" b="0" i="0" u="none" strike="noStrike" kern="1200" cap="none" spc="0" normalizeH="0" baseline="0" noProof="0" dirty="0">
                <a:ln>
                  <a:noFill/>
                </a:ln>
                <a:solidFill>
                  <a:srgbClr val="000000"/>
                </a:solidFill>
                <a:effectLst/>
                <a:uLnTx/>
                <a:uFillTx/>
                <a:latin typeface="Times New Roman" panose="02020603050405020304" pitchFamily="18" charset="0"/>
                <a:ea typeface="等线" panose="02010600030101010101" charset="-122"/>
                <a:cs typeface="+mn-cs"/>
              </a:rPr>
              <a:t>~ A</a:t>
            </a:r>
            <a:r>
              <a:rPr kumimoji="0" lang="en-US" altLang="zh-CN" sz="2800" b="0" i="0" u="none" strike="noStrike" kern="1200" cap="none" spc="0" normalizeH="0" baseline="-25000" noProof="0" dirty="0">
                <a:ln>
                  <a:noFill/>
                </a:ln>
                <a:solidFill>
                  <a:srgbClr val="000000"/>
                </a:solidFill>
                <a:effectLst/>
                <a:uLnTx/>
                <a:uFillTx/>
                <a:latin typeface="Times New Roman" panose="02020603050405020304" pitchFamily="18" charset="0"/>
                <a:ea typeface="等线" panose="02010600030101010101" charset="-122"/>
                <a:cs typeface="+mn-cs"/>
              </a:rPr>
              <a:t>0 </a:t>
            </a:r>
            <a:r>
              <a:rPr lang="zh-CN" altLang="en-US" sz="2400" b="0" i="0" u="none" strike="noStrike" baseline="0" dirty="0">
                <a:solidFill>
                  <a:srgbClr val="000000"/>
                </a:solidFill>
                <a:latin typeface="楷体" panose="02010609060101010101" pitchFamily="49" charset="-122"/>
                <a:ea typeface="楷体" panose="02010609060101010101" pitchFamily="49" charset="-122"/>
              </a:rPr>
              <a:t>：地址线；</a:t>
            </a:r>
            <a:endParaRPr lang="zh-CN" altLang="en-US" sz="2400" b="0" i="0" u="none" strike="noStrike" baseline="0" dirty="0">
              <a:solidFill>
                <a:srgbClr val="000000"/>
              </a:solidFill>
              <a:latin typeface="楷体" panose="02010609060101010101" pitchFamily="49" charset="-122"/>
              <a:ea typeface="楷体" panose="02010609060101010101" pitchFamily="49" charset="-122"/>
            </a:endParaRPr>
          </a:p>
          <a:p>
            <a:r>
              <a:rPr lang="zh-CN" altLang="en-US" sz="2400" b="0" i="0" u="none" strike="noStrike" baseline="0" dirty="0">
                <a:solidFill>
                  <a:srgbClr val="000000"/>
                </a:solidFill>
                <a:latin typeface="楷体" panose="02010609060101010101" pitchFamily="49" charset="-122"/>
                <a:ea typeface="楷体" panose="02010609060101010101" pitchFamily="49" charset="-122"/>
              </a:rPr>
              <a:t>   ：行地址选通信号，低电平有效</a:t>
            </a:r>
            <a:r>
              <a:rPr lang="zh-CN" altLang="en-US" sz="2400" b="0" i="0" u="none" strike="noStrike" baseline="0" dirty="0" smtClean="0">
                <a:solidFill>
                  <a:srgbClr val="000000"/>
                </a:solidFill>
                <a:latin typeface="楷体" panose="02010609060101010101" pitchFamily="49" charset="-122"/>
                <a:ea typeface="楷体" panose="02010609060101010101" pitchFamily="49" charset="-122"/>
              </a:rPr>
              <a:t>；（片选）</a:t>
            </a:r>
            <a:endParaRPr lang="zh-CN" altLang="en-US" sz="2400" b="0" i="0" u="none" strike="noStrike" baseline="0" dirty="0">
              <a:solidFill>
                <a:srgbClr val="000000"/>
              </a:solidFill>
              <a:latin typeface="楷体" panose="02010609060101010101" pitchFamily="49" charset="-122"/>
              <a:ea typeface="楷体" panose="02010609060101010101" pitchFamily="49" charset="-122"/>
            </a:endParaRPr>
          </a:p>
          <a:p>
            <a:r>
              <a:rPr lang="en-US" altLang="zh-CN" sz="2400" b="0" i="0" u="none" strike="noStrike" baseline="0" dirty="0">
                <a:solidFill>
                  <a:srgbClr val="000000"/>
                </a:solidFill>
                <a:latin typeface="Times New Roman" panose="02020603050405020304" pitchFamily="18" charset="0"/>
                <a:ea typeface="楷体" panose="02010609060101010101" pitchFamily="49" charset="-122"/>
              </a:rPr>
              <a:t>      </a:t>
            </a:r>
            <a:r>
              <a:rPr lang="zh-CN" altLang="en-US" sz="2400" b="0" i="0" u="none" strike="noStrike" baseline="0" dirty="0">
                <a:solidFill>
                  <a:srgbClr val="000000"/>
                </a:solidFill>
                <a:latin typeface="楷体" panose="02010609060101010101" pitchFamily="49" charset="-122"/>
                <a:ea typeface="楷体" panose="02010609060101010101" pitchFamily="49" charset="-122"/>
              </a:rPr>
              <a:t>：列地址选通信号，低电平</a:t>
            </a:r>
            <a:r>
              <a:rPr lang="zh-CN" altLang="en-US" sz="2400" b="0" i="0" u="none" strike="noStrike" baseline="0" dirty="0" smtClean="0">
                <a:solidFill>
                  <a:srgbClr val="000000"/>
                </a:solidFill>
                <a:latin typeface="楷体" panose="02010609060101010101" pitchFamily="49" charset="-122"/>
                <a:ea typeface="楷体" panose="02010609060101010101" pitchFamily="49" charset="-122"/>
              </a:rPr>
              <a:t>有效（片选）；外接多路开关实现行、列地址选通</a:t>
            </a:r>
            <a:endParaRPr lang="zh-CN" altLang="en-US" sz="2400" b="0" i="0" u="none" strike="noStrike" baseline="0" dirty="0">
              <a:solidFill>
                <a:srgbClr val="000000"/>
              </a:solidFill>
              <a:latin typeface="楷体" panose="02010609060101010101" pitchFamily="49" charset="-122"/>
              <a:ea typeface="楷体" panose="02010609060101010101" pitchFamily="49" charset="-122"/>
            </a:endParaRPr>
          </a:p>
          <a:p>
            <a:r>
              <a:rPr lang="en-US" altLang="zh-CN" sz="2400" b="0" i="0" u="none" strike="noStrike" baseline="0" dirty="0">
                <a:solidFill>
                  <a:srgbClr val="000000"/>
                </a:solidFill>
                <a:latin typeface="Times New Roman" panose="02020603050405020304" pitchFamily="18" charset="0"/>
                <a:ea typeface="楷体" panose="02010609060101010101" pitchFamily="49" charset="-122"/>
              </a:rPr>
              <a:t>        </a:t>
            </a:r>
            <a:r>
              <a:rPr lang="zh-CN" altLang="en-US" sz="2400" b="0" i="0" u="none" strike="noStrike" baseline="0" dirty="0">
                <a:solidFill>
                  <a:srgbClr val="000000"/>
                </a:solidFill>
                <a:latin typeface="楷体" panose="02010609060101010101" pitchFamily="49" charset="-122"/>
                <a:ea typeface="楷体" panose="02010609060101010101" pitchFamily="49" charset="-122"/>
              </a:rPr>
              <a:t>：读</a:t>
            </a:r>
            <a:r>
              <a:rPr lang="en-US" altLang="zh-CN" sz="2400" b="0" i="0" u="none" strike="noStrike" baseline="0" dirty="0">
                <a:solidFill>
                  <a:srgbClr val="000000"/>
                </a:solidFill>
                <a:latin typeface="Times New Roman" panose="02020603050405020304" pitchFamily="18" charset="0"/>
                <a:ea typeface="楷体" panose="02010609060101010101" pitchFamily="49" charset="-122"/>
              </a:rPr>
              <a:t>/</a:t>
            </a:r>
            <a:r>
              <a:rPr lang="zh-CN" altLang="en-US" sz="2400" b="0" i="0" u="none" strike="noStrike" baseline="0" dirty="0">
                <a:solidFill>
                  <a:srgbClr val="000000"/>
                </a:solidFill>
                <a:latin typeface="楷体" panose="02010609060101010101" pitchFamily="49" charset="-122"/>
                <a:ea typeface="楷体" panose="02010609060101010101" pitchFamily="49" charset="-122"/>
              </a:rPr>
              <a:t>写控制信号，高电平为读出；低电平时</a:t>
            </a:r>
            <a:r>
              <a:rPr lang="zh-CN" altLang="en-US" sz="2400" b="0" i="0" u="none" strike="noStrike" baseline="0" dirty="0">
                <a:solidFill>
                  <a:srgbClr val="000000"/>
                </a:solidFill>
                <a:latin typeface="楷体" panose="02010609060101010101" pitchFamily="49" charset="-122"/>
                <a:ea typeface="楷体" panose="02010609060101010101" pitchFamily="49" charset="-122"/>
              </a:rPr>
              <a:t>为写入</a:t>
            </a:r>
            <a:endParaRPr lang="zh-CN" altLang="en-US" sz="2400" b="0" i="0" u="none" strike="noStrike" baseline="0" dirty="0">
              <a:solidFill>
                <a:srgbClr val="000000"/>
              </a:solidFill>
              <a:latin typeface="楷体" panose="02010609060101010101" pitchFamily="49" charset="-122"/>
              <a:ea typeface="楷体" panose="02010609060101010101" pitchFamily="49" charset="-122"/>
            </a:endParaRPr>
          </a:p>
          <a:p>
            <a:r>
              <a:rPr lang="en-US" altLang="zh-CN" sz="2400" b="0" i="0" u="none" strike="noStrike" baseline="0" dirty="0">
                <a:solidFill>
                  <a:srgbClr val="000000"/>
                </a:solidFill>
                <a:latin typeface="Times New Roman" panose="02020603050405020304" pitchFamily="18" charset="0"/>
                <a:ea typeface="楷体" panose="02010609060101010101" pitchFamily="49" charset="-122"/>
              </a:rPr>
              <a:t>Din</a:t>
            </a:r>
            <a:r>
              <a:rPr lang="zh-CN" altLang="en-US" sz="2400" b="0" i="0" u="none" strike="noStrike" baseline="0" dirty="0">
                <a:solidFill>
                  <a:srgbClr val="000000"/>
                </a:solidFill>
                <a:latin typeface="楷体" panose="02010609060101010101" pitchFamily="49" charset="-122"/>
                <a:ea typeface="楷体" panose="02010609060101010101" pitchFamily="49" charset="-122"/>
              </a:rPr>
              <a:t>：数据输入端；（每次传输</a:t>
            </a:r>
            <a:r>
              <a:rPr lang="zh-CN" altLang="en-US" sz="2400" b="0" i="0" u="none" strike="noStrike" baseline="0" dirty="0">
                <a:solidFill>
                  <a:srgbClr val="000000"/>
                </a:solidFill>
                <a:latin typeface="楷体" panose="02010609060101010101" pitchFamily="49" charset="-122"/>
                <a:ea typeface="楷体" panose="02010609060101010101" pitchFamily="49" charset="-122"/>
              </a:rPr>
              <a:t>一位数据）</a:t>
            </a:r>
            <a:endParaRPr lang="zh-CN" altLang="en-US" sz="2400" b="0" i="0" u="none" strike="noStrike" baseline="0" dirty="0">
              <a:solidFill>
                <a:srgbClr val="000000"/>
              </a:solidFill>
              <a:latin typeface="楷体" panose="02010609060101010101" pitchFamily="49" charset="-122"/>
              <a:ea typeface="楷体" panose="02010609060101010101" pitchFamily="49" charset="-122"/>
            </a:endParaRPr>
          </a:p>
          <a:p>
            <a:r>
              <a:rPr lang="en-US" altLang="zh-CN" sz="2400" b="0" i="0" u="none" strike="noStrike" baseline="0" dirty="0" err="1">
                <a:solidFill>
                  <a:srgbClr val="000000"/>
                </a:solidFill>
                <a:latin typeface="Times New Roman" panose="02020603050405020304" pitchFamily="18" charset="0"/>
                <a:ea typeface="楷体" panose="02010609060101010101" pitchFamily="49" charset="-122"/>
              </a:rPr>
              <a:t>Dout</a:t>
            </a:r>
            <a:r>
              <a:rPr lang="zh-CN" altLang="en-US" sz="2400" b="0" i="0" u="none" strike="noStrike" baseline="0" dirty="0">
                <a:solidFill>
                  <a:srgbClr val="000000"/>
                </a:solidFill>
                <a:latin typeface="楷体" panose="02010609060101010101" pitchFamily="49" charset="-122"/>
                <a:ea typeface="楷体" panose="02010609060101010101" pitchFamily="49" charset="-122"/>
              </a:rPr>
              <a:t>：数据输出端。</a:t>
            </a:r>
            <a:r>
              <a:rPr lang="zh-CN" altLang="en-US" sz="2400" dirty="0">
                <a:solidFill>
                  <a:srgbClr val="000000"/>
                </a:solidFill>
                <a:latin typeface="楷体" panose="02010609060101010101" pitchFamily="49" charset="-122"/>
                <a:ea typeface="楷体" panose="02010609060101010101" pitchFamily="49" charset="-122"/>
                <a:sym typeface="+mn-ea"/>
              </a:rPr>
              <a:t>（每次传输一位数据）</a:t>
            </a:r>
            <a:endParaRPr lang="zh-CN" altLang="en-US" dirty="0"/>
          </a:p>
        </p:txBody>
      </p:sp>
      <p:graphicFrame>
        <p:nvGraphicFramePr>
          <p:cNvPr id="7" name="Object 5"/>
          <p:cNvGraphicFramePr>
            <a:graphicFrameLocks noChangeAspect="1"/>
          </p:cNvGraphicFramePr>
          <p:nvPr/>
        </p:nvGraphicFramePr>
        <p:xfrm>
          <a:off x="5509708" y="4166467"/>
          <a:ext cx="658279" cy="334397"/>
        </p:xfrm>
        <a:graphic>
          <a:graphicData uri="http://schemas.openxmlformats.org/presentationml/2006/ole">
            <mc:AlternateContent xmlns:mc="http://schemas.openxmlformats.org/markup-compatibility/2006">
              <mc:Choice xmlns:v="urn:schemas-microsoft-com:vml" Requires="v">
                <p:oleObj spid="_x0000_s2049" name="" r:id="rId2" imgW="7010400" imgH="4572000" progId="">
                  <p:embed/>
                </p:oleObj>
              </mc:Choice>
              <mc:Fallback>
                <p:oleObj name="" r:id="rId2" imgW="7010400" imgH="4572000" progId="">
                  <p:embed/>
                  <p:pic>
                    <p:nvPicPr>
                      <p:cNvPr id="0" name="图片 2048"/>
                      <p:cNvPicPr>
                        <a:picLocks noChangeAspect="1"/>
                      </p:cNvPicPr>
                      <p:nvPr/>
                    </p:nvPicPr>
                    <p:blipFill>
                      <a:blip r:embed="rId3"/>
                      <a:stretch>
                        <a:fillRect/>
                      </a:stretch>
                    </p:blipFill>
                    <p:spPr>
                      <a:xfrm>
                        <a:off x="5509708" y="4166467"/>
                        <a:ext cx="658279" cy="334397"/>
                      </a:xfrm>
                      <a:prstGeom prst="rect">
                        <a:avLst/>
                      </a:prstGeom>
                      <a:noFill/>
                      <a:ln w="9525">
                        <a:noFill/>
                      </a:ln>
                    </p:spPr>
                  </p:pic>
                </p:oleObj>
              </mc:Fallback>
            </mc:AlternateContent>
          </a:graphicData>
        </a:graphic>
      </p:graphicFrame>
      <p:graphicFrame>
        <p:nvGraphicFramePr>
          <p:cNvPr id="8" name="Object 4"/>
          <p:cNvGraphicFramePr>
            <a:graphicFrameLocks noChangeAspect="1"/>
          </p:cNvGraphicFramePr>
          <p:nvPr/>
        </p:nvGraphicFramePr>
        <p:xfrm>
          <a:off x="5429559" y="3816593"/>
          <a:ext cx="536744" cy="349827"/>
        </p:xfrm>
        <a:graphic>
          <a:graphicData uri="http://schemas.openxmlformats.org/presentationml/2006/ole">
            <mc:AlternateContent xmlns:mc="http://schemas.openxmlformats.org/markup-compatibility/2006">
              <mc:Choice xmlns:v="urn:schemas-microsoft-com:vml" Requires="v">
                <p:oleObj spid="_x0000_s2050" name="" r:id="rId4" imgW="7010400" imgH="4572000" progId="">
                  <p:embed/>
                </p:oleObj>
              </mc:Choice>
              <mc:Fallback>
                <p:oleObj name="" r:id="rId4" imgW="7010400" imgH="4572000" progId="">
                  <p:embed/>
                  <p:pic>
                    <p:nvPicPr>
                      <p:cNvPr id="0" name="图片 2049"/>
                      <p:cNvPicPr>
                        <a:picLocks noChangeAspect="1"/>
                      </p:cNvPicPr>
                      <p:nvPr/>
                    </p:nvPicPr>
                    <p:blipFill>
                      <a:blip r:embed="rId5"/>
                      <a:stretch>
                        <a:fillRect/>
                      </a:stretch>
                    </p:blipFill>
                    <p:spPr>
                      <a:xfrm>
                        <a:off x="5429559" y="3816593"/>
                        <a:ext cx="536744" cy="349827"/>
                      </a:xfrm>
                      <a:prstGeom prst="rect">
                        <a:avLst/>
                      </a:prstGeom>
                      <a:noFill/>
                      <a:ln w="9525">
                        <a:noFill/>
                      </a:ln>
                    </p:spPr>
                  </p:pic>
                </p:oleObj>
              </mc:Fallback>
            </mc:AlternateContent>
          </a:graphicData>
        </a:graphic>
      </p:graphicFrame>
      <p:graphicFrame>
        <p:nvGraphicFramePr>
          <p:cNvPr id="9" name="Object 6"/>
          <p:cNvGraphicFramePr>
            <a:graphicFrameLocks noChangeAspect="1"/>
          </p:cNvGraphicFramePr>
          <p:nvPr/>
        </p:nvGraphicFramePr>
        <p:xfrm>
          <a:off x="5509908" y="4916325"/>
          <a:ext cx="481012" cy="360362"/>
        </p:xfrm>
        <a:graphic>
          <a:graphicData uri="http://schemas.openxmlformats.org/presentationml/2006/ole">
            <mc:AlternateContent xmlns:mc="http://schemas.openxmlformats.org/markup-compatibility/2006">
              <mc:Choice xmlns:v="urn:schemas-microsoft-com:vml" Requires="v">
                <p:oleObj spid="_x0000_s2051" name="" r:id="rId6" imgW="6096000" imgH="4572000" progId="">
                  <p:embed/>
                </p:oleObj>
              </mc:Choice>
              <mc:Fallback>
                <p:oleObj name="" r:id="rId6" imgW="6096000" imgH="4572000" progId="">
                  <p:embed/>
                  <p:pic>
                    <p:nvPicPr>
                      <p:cNvPr id="0" name="图片 2050"/>
                      <p:cNvPicPr>
                        <a:picLocks noChangeAspect="1"/>
                      </p:cNvPicPr>
                      <p:nvPr/>
                    </p:nvPicPr>
                    <p:blipFill>
                      <a:blip r:embed="rId7"/>
                      <a:stretch>
                        <a:fillRect/>
                      </a:stretch>
                    </p:blipFill>
                    <p:spPr>
                      <a:xfrm>
                        <a:off x="5509908" y="4916325"/>
                        <a:ext cx="481012" cy="360362"/>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ppt_x"/>
                                          </p:val>
                                        </p:tav>
                                        <p:tav tm="100000">
                                          <p:val>
                                            <p:strVal val="#ppt_x"/>
                                          </p:val>
                                        </p:tav>
                                      </p:tavLst>
                                    </p:anim>
                                    <p:anim calcmode="lin" valueType="num">
                                      <p:cBhvr additive="base">
                                        <p:cTn id="1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典型的半导体存储器</a:t>
            </a:r>
            <a:endParaRPr lang="zh-CN" altLang="en-US" dirty="0"/>
          </a:p>
        </p:txBody>
      </p:sp>
      <p:sp>
        <p:nvSpPr>
          <p:cNvPr id="3" name="内容占位符 2"/>
          <p:cNvSpPr>
            <a:spLocks noGrp="1"/>
          </p:cNvSpPr>
          <p:nvPr>
            <p:ph idx="1"/>
          </p:nvPr>
        </p:nvSpPr>
        <p:spPr>
          <a:xfrm>
            <a:off x="616258" y="1594806"/>
            <a:ext cx="10515600" cy="682444"/>
          </a:xfrm>
        </p:spPr>
        <p:txBody>
          <a:bodyPr/>
          <a:lstStyle/>
          <a:p>
            <a:r>
              <a:rPr lang="zh-CN" altLang="en-US" dirty="0"/>
              <a:t>只读</a:t>
            </a:r>
            <a:r>
              <a:rPr lang="en-US" altLang="zh-CN" dirty="0"/>
              <a:t>ROM</a:t>
            </a:r>
            <a:r>
              <a:rPr lang="zh-CN" altLang="en-US" dirty="0"/>
              <a:t>芯片</a:t>
            </a:r>
            <a:r>
              <a:rPr lang="en-US" altLang="zh-CN" dirty="0"/>
              <a:t>Intel2732A</a:t>
            </a:r>
            <a:endParaRPr lang="zh-CN" altLang="en-US" dirty="0"/>
          </a:p>
        </p:txBody>
      </p:sp>
      <p:pic>
        <p:nvPicPr>
          <p:cNvPr id="4" name="Picture 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96695" y="2419292"/>
            <a:ext cx="3482616" cy="4148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p:cNvSpPr txBox="1"/>
          <p:nvPr/>
        </p:nvSpPr>
        <p:spPr>
          <a:xfrm>
            <a:off x="5397623" y="3164898"/>
            <a:ext cx="6342620" cy="2431435"/>
          </a:xfrm>
          <a:prstGeom prst="rect">
            <a:avLst/>
          </a:prstGeom>
          <a:noFill/>
        </p:spPr>
        <p:txBody>
          <a:bodyPr wrap="square">
            <a:spAutoFit/>
          </a:bodyPr>
          <a:lstStyle/>
          <a:p>
            <a:r>
              <a:rPr lang="en-US" altLang="zh-CN" sz="2400" b="0" i="0" u="none" strike="noStrike" baseline="0" dirty="0">
                <a:solidFill>
                  <a:srgbClr val="000000"/>
                </a:solidFill>
                <a:latin typeface="Times New Roman" panose="02020603050405020304" pitchFamily="18" charset="0"/>
              </a:rPr>
              <a:t>4K×8b EPROM</a:t>
            </a:r>
            <a:r>
              <a:rPr lang="zh-CN" altLang="en-US" sz="2400" b="0" i="0" u="none" strike="noStrike" baseline="0" dirty="0">
                <a:solidFill>
                  <a:srgbClr val="000000"/>
                </a:solidFill>
                <a:latin typeface="楷体" panose="02010609060101010101" pitchFamily="49" charset="-122"/>
                <a:ea typeface="楷体" panose="02010609060101010101" pitchFamily="49" charset="-122"/>
              </a:rPr>
              <a:t>存储器。</a:t>
            </a:r>
            <a:endParaRPr lang="zh-CN" altLang="en-US" sz="2400" b="0" i="0" u="none" strike="noStrike" baseline="0" dirty="0">
              <a:solidFill>
                <a:srgbClr val="000000"/>
              </a:solidFill>
              <a:latin typeface="楷体" panose="02010609060101010101" pitchFamily="49" charset="-122"/>
              <a:ea typeface="楷体" panose="02010609060101010101" pitchFamily="49" charset="-122"/>
            </a:endParaRPr>
          </a:p>
          <a:p>
            <a:r>
              <a:rPr kumimoji="0" lang="en-US" altLang="zh-CN" sz="2800" b="0" i="0" u="none" strike="noStrike" kern="1200" cap="none" spc="0" normalizeH="0" baseline="0" noProof="0" dirty="0">
                <a:ln>
                  <a:noFill/>
                </a:ln>
                <a:solidFill>
                  <a:srgbClr val="000000"/>
                </a:solidFill>
                <a:effectLst/>
                <a:uLnTx/>
                <a:uFillTx/>
                <a:latin typeface="Times New Roman" panose="02020603050405020304" pitchFamily="18" charset="0"/>
                <a:cs typeface="+mn-cs"/>
              </a:rPr>
              <a:t>A</a:t>
            </a:r>
            <a:r>
              <a:rPr kumimoji="0" lang="en-US" altLang="zh-CN" sz="2800" b="0" i="0" u="none" strike="noStrike" kern="1200" cap="none" spc="0" normalizeH="0" baseline="-25000" noProof="0" dirty="0">
                <a:ln>
                  <a:noFill/>
                </a:ln>
                <a:solidFill>
                  <a:srgbClr val="000000"/>
                </a:solidFill>
                <a:effectLst/>
                <a:uLnTx/>
                <a:uFillTx/>
                <a:latin typeface="Times New Roman" panose="02020603050405020304" pitchFamily="18" charset="0"/>
                <a:cs typeface="+mn-cs"/>
              </a:rPr>
              <a:t>11</a:t>
            </a:r>
            <a:r>
              <a:rPr kumimoji="0" lang="en-US" altLang="zh-CN" sz="2800" b="0" i="0" u="none" strike="noStrike" kern="1200" cap="none" spc="0" normalizeH="0" baseline="0" noProof="0" dirty="0">
                <a:ln>
                  <a:noFill/>
                </a:ln>
                <a:solidFill>
                  <a:srgbClr val="000000"/>
                </a:solidFill>
                <a:effectLst/>
                <a:uLnTx/>
                <a:uFillTx/>
                <a:latin typeface="Times New Roman" panose="02020603050405020304" pitchFamily="18" charset="0"/>
                <a:cs typeface="+mn-cs"/>
              </a:rPr>
              <a:t>~ A</a:t>
            </a:r>
            <a:r>
              <a:rPr kumimoji="0" lang="en-US" altLang="zh-CN" sz="2800" b="0" i="0" u="none" strike="noStrike" kern="1200" cap="none" spc="0" normalizeH="0" baseline="-25000" noProof="0" dirty="0">
                <a:ln>
                  <a:noFill/>
                </a:ln>
                <a:solidFill>
                  <a:srgbClr val="000000"/>
                </a:solidFill>
                <a:effectLst/>
                <a:uLnTx/>
                <a:uFillTx/>
                <a:latin typeface="Times New Roman" panose="02020603050405020304" pitchFamily="18" charset="0"/>
                <a:cs typeface="+mn-cs"/>
              </a:rPr>
              <a:t>0 </a:t>
            </a:r>
            <a:r>
              <a:rPr lang="zh-CN" altLang="en-US" sz="2400" b="0" i="0" u="none" strike="noStrike" baseline="0" dirty="0">
                <a:solidFill>
                  <a:srgbClr val="000000"/>
                </a:solidFill>
                <a:latin typeface="楷体" panose="02010609060101010101" pitchFamily="49" charset="-122"/>
                <a:ea typeface="楷体" panose="02010609060101010101" pitchFamily="49" charset="-122"/>
              </a:rPr>
              <a:t>：</a:t>
            </a:r>
            <a:r>
              <a:rPr lang="en-US" altLang="zh-CN" sz="2400" b="0" i="0" u="none" strike="noStrike" baseline="0" dirty="0">
                <a:solidFill>
                  <a:srgbClr val="000000"/>
                </a:solidFill>
                <a:latin typeface="Times New Roman" panose="02020603050405020304" pitchFamily="18" charset="0"/>
                <a:ea typeface="楷体" panose="02010609060101010101" pitchFamily="49" charset="-122"/>
              </a:rPr>
              <a:t>12</a:t>
            </a:r>
            <a:r>
              <a:rPr lang="zh-CN" altLang="en-US" sz="2400" b="0" i="0" u="none" strike="noStrike" baseline="0" dirty="0">
                <a:solidFill>
                  <a:srgbClr val="000000"/>
                </a:solidFill>
                <a:latin typeface="楷体" panose="02010609060101010101" pitchFamily="49" charset="-122"/>
                <a:ea typeface="楷体" panose="02010609060101010101" pitchFamily="49" charset="-122"/>
              </a:rPr>
              <a:t>根地址线；</a:t>
            </a:r>
            <a:endParaRPr lang="zh-CN" altLang="en-US" sz="2400" b="0" i="0" u="none" strike="noStrike" baseline="0" dirty="0">
              <a:solidFill>
                <a:srgbClr val="000000"/>
              </a:solidFill>
              <a:latin typeface="楷体" panose="02010609060101010101" pitchFamily="49" charset="-122"/>
              <a:ea typeface="楷体" panose="02010609060101010101" pitchFamily="49" charset="-122"/>
            </a:endParaRPr>
          </a:p>
          <a:p>
            <a:r>
              <a:rPr kumimoji="0" lang="en-US" altLang="zh-CN" sz="2800" b="0" i="0" u="none" strike="noStrike" kern="1200" cap="none" spc="0" normalizeH="0" baseline="0" noProof="0" dirty="0">
                <a:ln>
                  <a:noFill/>
                </a:ln>
                <a:solidFill>
                  <a:srgbClr val="000000"/>
                </a:solidFill>
                <a:effectLst/>
                <a:uLnTx/>
                <a:uFillTx/>
                <a:latin typeface="Times New Roman" panose="02020603050405020304" pitchFamily="18" charset="0"/>
                <a:cs typeface="+mn-cs"/>
              </a:rPr>
              <a:t>O</a:t>
            </a:r>
            <a:r>
              <a:rPr kumimoji="0" lang="en-US" altLang="zh-CN" sz="2800" b="0" i="0" u="none" strike="noStrike" kern="1200" cap="none" spc="0" normalizeH="0" baseline="-25000" noProof="0" dirty="0">
                <a:ln>
                  <a:noFill/>
                </a:ln>
                <a:solidFill>
                  <a:srgbClr val="000000"/>
                </a:solidFill>
                <a:effectLst/>
                <a:uLnTx/>
                <a:uFillTx/>
                <a:latin typeface="Times New Roman" panose="02020603050405020304" pitchFamily="18" charset="0"/>
                <a:cs typeface="+mn-cs"/>
              </a:rPr>
              <a:t>7</a:t>
            </a:r>
            <a:r>
              <a:rPr kumimoji="0" lang="en-US" altLang="zh-CN" sz="2800" b="0" i="0" u="none" strike="noStrike" kern="1200" cap="none" spc="0" normalizeH="0" baseline="0" noProof="0" dirty="0">
                <a:ln>
                  <a:noFill/>
                </a:ln>
                <a:solidFill>
                  <a:srgbClr val="000000"/>
                </a:solidFill>
                <a:effectLst/>
                <a:uLnTx/>
                <a:uFillTx/>
                <a:latin typeface="Times New Roman" panose="02020603050405020304" pitchFamily="18" charset="0"/>
                <a:cs typeface="+mn-cs"/>
              </a:rPr>
              <a:t>~O</a:t>
            </a:r>
            <a:r>
              <a:rPr kumimoji="0" lang="en-US" altLang="zh-CN" sz="2800" b="0" i="0" u="none" strike="noStrike" kern="1200" cap="none" spc="0" normalizeH="0" baseline="-25000" noProof="0" dirty="0">
                <a:ln>
                  <a:noFill/>
                </a:ln>
                <a:solidFill>
                  <a:srgbClr val="000000"/>
                </a:solidFill>
                <a:effectLst/>
                <a:uLnTx/>
                <a:uFillTx/>
                <a:latin typeface="Times New Roman" panose="02020603050405020304" pitchFamily="18" charset="0"/>
                <a:cs typeface="+mn-cs"/>
              </a:rPr>
              <a:t>0 </a:t>
            </a:r>
            <a:r>
              <a:rPr lang="zh-CN" altLang="en-US" sz="2400" b="0" i="0" u="none" strike="noStrike" baseline="0" dirty="0">
                <a:solidFill>
                  <a:srgbClr val="000000"/>
                </a:solidFill>
                <a:latin typeface="楷体" panose="02010609060101010101" pitchFamily="49" charset="-122"/>
                <a:ea typeface="楷体" panose="02010609060101010101" pitchFamily="49" charset="-122"/>
              </a:rPr>
              <a:t>：</a:t>
            </a:r>
            <a:r>
              <a:rPr lang="en-US" altLang="zh-CN" sz="2400" b="0" i="0" u="none" strike="noStrike" baseline="0" dirty="0">
                <a:solidFill>
                  <a:srgbClr val="000000"/>
                </a:solidFill>
                <a:latin typeface="Times New Roman" panose="02020603050405020304" pitchFamily="18" charset="0"/>
                <a:ea typeface="楷体" panose="02010609060101010101" pitchFamily="49" charset="-122"/>
              </a:rPr>
              <a:t>8</a:t>
            </a:r>
            <a:r>
              <a:rPr lang="zh-CN" altLang="en-US" sz="2400" b="0" i="0" u="none" strike="noStrike" baseline="0" dirty="0">
                <a:solidFill>
                  <a:srgbClr val="000000"/>
                </a:solidFill>
                <a:latin typeface="楷体" panose="02010609060101010101" pitchFamily="49" charset="-122"/>
                <a:ea typeface="楷体" panose="02010609060101010101" pitchFamily="49" charset="-122"/>
              </a:rPr>
              <a:t>根数据线；</a:t>
            </a:r>
            <a:endParaRPr lang="zh-CN" altLang="en-US" sz="2400" b="0" i="0" u="none" strike="noStrike" baseline="0" dirty="0">
              <a:solidFill>
                <a:srgbClr val="000000"/>
              </a:solidFill>
              <a:latin typeface="楷体" panose="02010609060101010101" pitchFamily="49" charset="-122"/>
              <a:ea typeface="楷体" panose="02010609060101010101" pitchFamily="49" charset="-122"/>
            </a:endParaRPr>
          </a:p>
          <a:p>
            <a:r>
              <a:rPr lang="en-US" altLang="zh-CN" sz="2400" b="0" i="0" u="none" strike="noStrike" baseline="0" dirty="0">
                <a:solidFill>
                  <a:srgbClr val="000000"/>
                </a:solidFill>
                <a:latin typeface="Times New Roman" panose="02020603050405020304" pitchFamily="18" charset="0"/>
                <a:ea typeface="楷体" panose="02010609060101010101" pitchFamily="49" charset="-122"/>
              </a:rPr>
              <a:t>          </a:t>
            </a:r>
            <a:r>
              <a:rPr lang="zh-CN" altLang="en-US" sz="2400" b="0" i="0" u="none" strike="noStrike" baseline="0" dirty="0">
                <a:solidFill>
                  <a:srgbClr val="000000"/>
                </a:solidFill>
                <a:latin typeface="楷体" panose="02010609060101010101" pitchFamily="49" charset="-122"/>
                <a:ea typeface="楷体" panose="02010609060101010101" pitchFamily="49" charset="-122"/>
              </a:rPr>
              <a:t>：片选信号线，低电平有效；</a:t>
            </a:r>
            <a:endParaRPr lang="zh-CN" altLang="en-US" sz="2400" b="0" i="0" u="none" strike="noStrike" baseline="0" dirty="0">
              <a:solidFill>
                <a:srgbClr val="000000"/>
              </a:solidFill>
              <a:latin typeface="楷体" panose="02010609060101010101" pitchFamily="49" charset="-122"/>
              <a:ea typeface="楷体" panose="02010609060101010101" pitchFamily="49" charset="-122"/>
            </a:endParaRPr>
          </a:p>
          <a:p>
            <a:r>
              <a:rPr lang="en-US" altLang="zh-CN" sz="2400" b="0" i="0" u="none" strike="noStrike" baseline="0" dirty="0">
                <a:solidFill>
                  <a:srgbClr val="000000"/>
                </a:solidFill>
                <a:latin typeface="Times New Roman" panose="02020603050405020304" pitchFamily="18" charset="0"/>
                <a:ea typeface="楷体" panose="02010609060101010101" pitchFamily="49" charset="-122"/>
              </a:rPr>
              <a:t>           </a:t>
            </a:r>
            <a:r>
              <a:rPr lang="zh-CN" altLang="en-US" sz="2400" b="0" i="0" u="none" strike="noStrike" baseline="0" dirty="0">
                <a:solidFill>
                  <a:srgbClr val="000000"/>
                </a:solidFill>
                <a:latin typeface="楷体" panose="02010609060101010101" pitchFamily="49" charset="-122"/>
                <a:ea typeface="楷体" panose="02010609060101010101" pitchFamily="49" charset="-122"/>
              </a:rPr>
              <a:t>：输出允许</a:t>
            </a:r>
            <a:r>
              <a:rPr lang="en-US" altLang="zh-CN" sz="2400" b="0" i="0" u="none" strike="noStrike" baseline="0" dirty="0">
                <a:solidFill>
                  <a:srgbClr val="000000"/>
                </a:solidFill>
                <a:latin typeface="Times New Roman" panose="02020603050405020304" pitchFamily="18" charset="0"/>
                <a:ea typeface="楷体" panose="02010609060101010101" pitchFamily="49" charset="-122"/>
              </a:rPr>
              <a:t>/</a:t>
            </a:r>
            <a:r>
              <a:rPr lang="zh-CN" altLang="en-US" sz="2400" b="0" i="0" u="none" strike="noStrike" baseline="0" dirty="0">
                <a:solidFill>
                  <a:srgbClr val="000000"/>
                </a:solidFill>
                <a:latin typeface="楷体" panose="02010609060101010101" pitchFamily="49" charset="-122"/>
                <a:ea typeface="楷体" panose="02010609060101010101" pitchFamily="49" charset="-122"/>
              </a:rPr>
              <a:t>编程电源输入</a:t>
            </a:r>
            <a:r>
              <a:rPr lang="zh-CN" altLang="en-US" sz="2400" b="0" i="0" u="none" strike="noStrike" baseline="0" dirty="0" smtClean="0">
                <a:solidFill>
                  <a:srgbClr val="000000"/>
                </a:solidFill>
                <a:latin typeface="楷体" panose="02010609060101010101" pitchFamily="49" charset="-122"/>
                <a:ea typeface="楷体" panose="02010609060101010101" pitchFamily="49" charset="-122"/>
              </a:rPr>
              <a:t>线（</a:t>
            </a:r>
            <a:r>
              <a:rPr lang="en-US" altLang="zh-CN" sz="2400" b="0" i="0" u="none" strike="noStrike" baseline="0" dirty="0" smtClean="0">
                <a:solidFill>
                  <a:srgbClr val="000000"/>
                </a:solidFill>
                <a:latin typeface="楷体" panose="02010609060101010101" pitchFamily="49" charset="-122"/>
                <a:ea typeface="楷体" panose="02010609060101010101" pitchFamily="49" charset="-122"/>
              </a:rPr>
              <a:t>21V</a:t>
            </a:r>
            <a:r>
              <a:rPr lang="zh-CN" altLang="en-US" sz="2400" b="0" i="0" u="none" strike="noStrike" baseline="0" dirty="0" smtClean="0">
                <a:solidFill>
                  <a:srgbClr val="000000"/>
                </a:solidFill>
                <a:latin typeface="楷体" panose="02010609060101010101" pitchFamily="49" charset="-122"/>
                <a:ea typeface="楷体" panose="02010609060101010101" pitchFamily="49" charset="-122"/>
              </a:rPr>
              <a:t>编程电压）。</a:t>
            </a:r>
            <a:endParaRPr lang="zh-CN" altLang="en-US" dirty="0"/>
          </a:p>
        </p:txBody>
      </p:sp>
      <p:graphicFrame>
        <p:nvGraphicFramePr>
          <p:cNvPr id="7" name="Object 4"/>
          <p:cNvGraphicFramePr>
            <a:graphicFrameLocks noChangeAspect="1"/>
          </p:cNvGraphicFramePr>
          <p:nvPr/>
        </p:nvGraphicFramePr>
        <p:xfrm>
          <a:off x="5624490" y="4381112"/>
          <a:ext cx="496887" cy="438150"/>
        </p:xfrm>
        <a:graphic>
          <a:graphicData uri="http://schemas.openxmlformats.org/presentationml/2006/ole">
            <mc:AlternateContent xmlns:mc="http://schemas.openxmlformats.org/markup-compatibility/2006">
              <mc:Choice xmlns:v="urn:schemas-microsoft-com:vml" Requires="v">
                <p:oleObj spid="_x0000_s3073" name="" r:id="rId2" imgW="5181600" imgH="4572000" progId="">
                  <p:embed/>
                </p:oleObj>
              </mc:Choice>
              <mc:Fallback>
                <p:oleObj name="" r:id="rId2" imgW="5181600" imgH="4572000" progId="">
                  <p:embed/>
                  <p:pic>
                    <p:nvPicPr>
                      <p:cNvPr id="0" name="图片 3072"/>
                      <p:cNvPicPr>
                        <a:picLocks noChangeAspect="1"/>
                      </p:cNvPicPr>
                      <p:nvPr/>
                    </p:nvPicPr>
                    <p:blipFill>
                      <a:blip r:embed="rId3"/>
                      <a:stretch>
                        <a:fillRect/>
                      </a:stretch>
                    </p:blipFill>
                    <p:spPr>
                      <a:xfrm>
                        <a:off x="5624490" y="4381112"/>
                        <a:ext cx="496887" cy="438150"/>
                      </a:xfrm>
                      <a:prstGeom prst="rect">
                        <a:avLst/>
                      </a:prstGeom>
                      <a:noFill/>
                      <a:ln w="9525">
                        <a:noFill/>
                      </a:ln>
                    </p:spPr>
                  </p:pic>
                </p:oleObj>
              </mc:Fallback>
            </mc:AlternateContent>
          </a:graphicData>
        </a:graphic>
      </p:graphicFrame>
      <p:graphicFrame>
        <p:nvGraphicFramePr>
          <p:cNvPr id="8" name="Object 7"/>
          <p:cNvGraphicFramePr>
            <a:graphicFrameLocks noChangeAspect="1"/>
          </p:cNvGraphicFramePr>
          <p:nvPr/>
        </p:nvGraphicFramePr>
        <p:xfrm>
          <a:off x="5388391" y="4773460"/>
          <a:ext cx="1022350" cy="495300"/>
        </p:xfrm>
        <a:graphic>
          <a:graphicData uri="http://schemas.openxmlformats.org/presentationml/2006/ole">
            <mc:AlternateContent xmlns:mc="http://schemas.openxmlformats.org/markup-compatibility/2006">
              <mc:Choice xmlns:v="urn:schemas-microsoft-com:vml" Requires="v">
                <p:oleObj spid="_x0000_s3074" name="" r:id="rId4" imgW="10668000" imgH="5181600" progId="">
                  <p:embed/>
                </p:oleObj>
              </mc:Choice>
              <mc:Fallback>
                <p:oleObj name="" r:id="rId4" imgW="10668000" imgH="5181600" progId="">
                  <p:embed/>
                  <p:pic>
                    <p:nvPicPr>
                      <p:cNvPr id="0" name="图片 3073"/>
                      <p:cNvPicPr>
                        <a:picLocks noChangeAspect="1"/>
                      </p:cNvPicPr>
                      <p:nvPr/>
                    </p:nvPicPr>
                    <p:blipFill>
                      <a:blip r:embed="rId5"/>
                      <a:stretch>
                        <a:fillRect/>
                      </a:stretch>
                    </p:blipFill>
                    <p:spPr>
                      <a:xfrm>
                        <a:off x="5388391" y="4773460"/>
                        <a:ext cx="1022350" cy="495300"/>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slide(fromBottom)">
                                      <p:cBhvr>
                                        <p:cTn id="7" dur="500"/>
                                        <p:tgtEl>
                                          <p:spTgt spid="7"/>
                                        </p:tgtEl>
                                      </p:cBhvr>
                                    </p:animEffect>
                                  </p:childTnLst>
                                </p:cTn>
                              </p:par>
                              <p:par>
                                <p:cTn id="8" presetID="12" presetClass="entr" presetSubtype="4"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slide(fromBottom)">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半导体存储器的基本结构</a:t>
            </a:r>
            <a:endParaRPr lang="zh-CN" altLang="en-US" dirty="0"/>
          </a:p>
        </p:txBody>
      </p:sp>
      <p:pic>
        <p:nvPicPr>
          <p:cNvPr id="6" name="图片 5"/>
          <p:cNvPicPr>
            <a:picLocks noChangeAspect="1"/>
          </p:cNvPicPr>
          <p:nvPr/>
        </p:nvPicPr>
        <p:blipFill>
          <a:blip r:embed="rId1" cstate="print"/>
          <a:stretch>
            <a:fillRect/>
          </a:stretch>
        </p:blipFill>
        <p:spPr>
          <a:xfrm>
            <a:off x="2716027" y="2183090"/>
            <a:ext cx="7028865" cy="3492330"/>
          </a:xfrm>
          <a:prstGeom prst="rect">
            <a:avLst/>
          </a:prstGeom>
        </p:spPr>
      </p:pic>
      <p:sp>
        <p:nvSpPr>
          <p:cNvPr id="4" name="TextBox 3"/>
          <p:cNvSpPr txBox="1"/>
          <p:nvPr/>
        </p:nvSpPr>
        <p:spPr>
          <a:xfrm>
            <a:off x="2965142" y="2902998"/>
            <a:ext cx="577049" cy="1754326"/>
          </a:xfrm>
          <a:prstGeom prst="rect">
            <a:avLst/>
          </a:prstGeom>
          <a:noFill/>
        </p:spPr>
        <p:txBody>
          <a:bodyPr wrap="square" rtlCol="0">
            <a:spAutoFit/>
          </a:bodyPr>
          <a:lstStyle/>
          <a:p>
            <a:r>
              <a:rPr lang="en-US" altLang="zh-CN" dirty="0" smtClean="0"/>
              <a:t>M</a:t>
            </a:r>
            <a:r>
              <a:rPr lang="zh-CN" altLang="en-US" dirty="0" smtClean="0"/>
              <a:t>位地址总线</a:t>
            </a:r>
            <a:endParaRPr lang="zh-CN" altLang="en-US" dirty="0"/>
          </a:p>
        </p:txBody>
      </p:sp>
      <p:sp>
        <p:nvSpPr>
          <p:cNvPr id="5" name="TextBox 4"/>
          <p:cNvSpPr txBox="1"/>
          <p:nvPr/>
        </p:nvSpPr>
        <p:spPr>
          <a:xfrm>
            <a:off x="8941293" y="2886723"/>
            <a:ext cx="577049" cy="1754326"/>
          </a:xfrm>
          <a:prstGeom prst="rect">
            <a:avLst/>
          </a:prstGeom>
          <a:noFill/>
        </p:spPr>
        <p:txBody>
          <a:bodyPr wrap="square" rtlCol="0">
            <a:spAutoFit/>
          </a:bodyPr>
          <a:lstStyle/>
          <a:p>
            <a:r>
              <a:rPr lang="en-US" altLang="zh-CN" dirty="0" smtClean="0"/>
              <a:t>N</a:t>
            </a:r>
            <a:endParaRPr lang="en-US" altLang="zh-CN" dirty="0" smtClean="0"/>
          </a:p>
          <a:p>
            <a:r>
              <a:rPr lang="zh-CN" altLang="en-US" dirty="0" smtClean="0"/>
              <a:t>位数据总线</a:t>
            </a:r>
            <a:endParaRPr lang="zh-CN" altLang="en-US" dirty="0"/>
          </a:p>
        </p:txBody>
      </p:sp>
      <p:sp>
        <p:nvSpPr>
          <p:cNvPr id="7" name="圆角矩形标注 6"/>
          <p:cNvSpPr/>
          <p:nvPr/>
        </p:nvSpPr>
        <p:spPr bwMode="auto">
          <a:xfrm>
            <a:off x="3471168" y="5646197"/>
            <a:ext cx="1358284" cy="612648"/>
          </a:xfrm>
          <a:prstGeom prst="wedgeRoundRectCallout">
            <a:avLst>
              <a:gd name="adj1" fmla="val 5381"/>
              <a:gd name="adj2" fmla="val -124430"/>
              <a:gd name="adj3" fmla="val 16667"/>
            </a:avLst>
          </a:pr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zh-CN" altLang="en-US" sz="1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存储器</a:t>
            </a:r>
            <a:endParaRPr kumimoji="0" lang="en-US" altLang="zh-CN" sz="1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p>
            <a:pPr marL="0" marR="0" indent="0" algn="ctr" defTabSz="914400" rtl="0" eaLnBrk="0" fontAlgn="base" latinLnBrk="0" hangingPunct="0">
              <a:lnSpc>
                <a:spcPct val="100000"/>
              </a:lnSpc>
              <a:spcBef>
                <a:spcPct val="0"/>
              </a:spcBef>
              <a:spcAft>
                <a:spcPct val="0"/>
              </a:spcAft>
              <a:buClrTx/>
              <a:buSzTx/>
              <a:buFontTx/>
              <a:buNone/>
            </a:pPr>
            <a:r>
              <a:rPr kumimoji="0" lang="zh-CN" altLang="en-US" sz="1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地址寄存器</a:t>
            </a:r>
            <a:endParaRPr kumimoji="0" lang="zh-CN" altLang="en-US" sz="1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p:txBody>
      </p:sp>
      <p:sp>
        <p:nvSpPr>
          <p:cNvPr id="8" name="圆角矩形标注 7"/>
          <p:cNvSpPr/>
          <p:nvPr/>
        </p:nvSpPr>
        <p:spPr bwMode="auto">
          <a:xfrm>
            <a:off x="7565253" y="5665432"/>
            <a:ext cx="1358284" cy="612648"/>
          </a:xfrm>
          <a:prstGeom prst="wedgeRoundRectCallout">
            <a:avLst>
              <a:gd name="adj1" fmla="val 5381"/>
              <a:gd name="adj2" fmla="val -124430"/>
              <a:gd name="adj3" fmla="val 16667"/>
            </a:avLst>
          </a:pr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zh-CN" altLang="en-US" sz="1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存储器</a:t>
            </a:r>
            <a:endParaRPr kumimoji="0" lang="en-US" altLang="zh-CN" sz="1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p>
            <a:pPr marL="0" marR="0" indent="0" algn="ctr" defTabSz="914400" rtl="0" eaLnBrk="0" fontAlgn="base" latinLnBrk="0" hangingPunct="0">
              <a:lnSpc>
                <a:spcPct val="100000"/>
              </a:lnSpc>
              <a:spcBef>
                <a:spcPct val="0"/>
              </a:spcBef>
              <a:spcAft>
                <a:spcPct val="0"/>
              </a:spcAft>
              <a:buClrTx/>
              <a:buSzTx/>
              <a:buFontTx/>
              <a:buNone/>
            </a:pPr>
            <a:r>
              <a:rPr lang="zh-CN" altLang="en-US" dirty="0" smtClean="0">
                <a:latin typeface="Arial" panose="020B0604020202020204" pitchFamily="34" charset="0"/>
                <a:ea typeface="宋体" panose="02010600030101010101" pitchFamily="2" charset="-122"/>
              </a:rPr>
              <a:t>数据</a:t>
            </a:r>
            <a:r>
              <a:rPr kumimoji="0" lang="zh-CN" altLang="en-US" sz="1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寄存器</a:t>
            </a:r>
            <a:endParaRPr kumimoji="0" lang="zh-CN" altLang="en-US" sz="1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CPU</a:t>
            </a:r>
            <a:r>
              <a:rPr lang="zh-CN" altLang="en-US" dirty="0"/>
              <a:t>启动一次存储器读操作的过程</a:t>
            </a:r>
            <a:endParaRPr lang="zh-CN" altLang="en-US" dirty="0"/>
          </a:p>
        </p:txBody>
      </p:sp>
      <p:sp>
        <p:nvSpPr>
          <p:cNvPr id="3" name="内容占位符 2"/>
          <p:cNvSpPr>
            <a:spLocks noGrp="1"/>
          </p:cNvSpPr>
          <p:nvPr>
            <p:ph idx="1"/>
          </p:nvPr>
        </p:nvSpPr>
        <p:spPr/>
        <p:txBody>
          <a:bodyPr>
            <a:normAutofit/>
          </a:bodyPr>
          <a:lstStyle/>
          <a:p>
            <a:r>
              <a:rPr lang="en-US" altLang="zh-CN" dirty="0"/>
              <a:t>CPU</a:t>
            </a:r>
            <a:r>
              <a:rPr lang="zh-CN" altLang="en-US" dirty="0"/>
              <a:t>通过地址总线将地址送入</a:t>
            </a:r>
            <a:r>
              <a:rPr lang="en-US" altLang="zh-CN" dirty="0"/>
              <a:t>MAR</a:t>
            </a:r>
            <a:r>
              <a:rPr lang="zh-CN" altLang="en-US" dirty="0"/>
              <a:t>；</a:t>
            </a:r>
            <a:endParaRPr lang="zh-CN" altLang="en-US" dirty="0"/>
          </a:p>
          <a:p>
            <a:r>
              <a:rPr lang="zh-CN" altLang="en-US" dirty="0"/>
              <a:t>使读相关的控制信号有效；</a:t>
            </a:r>
            <a:endParaRPr lang="zh-CN" altLang="en-US" dirty="0"/>
          </a:p>
          <a:p>
            <a:r>
              <a:rPr lang="en-US" altLang="zh-CN" dirty="0"/>
              <a:t>MAR</a:t>
            </a:r>
            <a:r>
              <a:rPr lang="zh-CN" altLang="en-US" dirty="0"/>
              <a:t>中的地址码经过地址译码器译码后，选中该地址对应的存储单元；</a:t>
            </a:r>
            <a:endParaRPr lang="zh-CN" altLang="en-US" dirty="0"/>
          </a:p>
          <a:p>
            <a:r>
              <a:rPr lang="zh-CN" altLang="en-US" dirty="0"/>
              <a:t>通过读</a:t>
            </a:r>
            <a:r>
              <a:rPr lang="en-US" altLang="zh-CN" dirty="0"/>
              <a:t>/</a:t>
            </a:r>
            <a:r>
              <a:rPr lang="zh-CN" altLang="en-US" dirty="0"/>
              <a:t>写驱动器将选中单元的数据送入</a:t>
            </a:r>
            <a:r>
              <a:rPr lang="en-US" altLang="zh-CN" dirty="0"/>
              <a:t>MDR</a:t>
            </a:r>
            <a:r>
              <a:rPr lang="zh-CN" altLang="en-US" dirty="0"/>
              <a:t>；</a:t>
            </a:r>
            <a:endParaRPr lang="zh-CN" altLang="en-US" dirty="0"/>
          </a:p>
          <a:p>
            <a:r>
              <a:rPr lang="en-US" altLang="zh-CN" dirty="0"/>
              <a:t>CPU</a:t>
            </a:r>
            <a:r>
              <a:rPr lang="zh-CN" altLang="en-US" dirty="0"/>
              <a:t>通过数据总线读入数据。</a:t>
            </a:r>
            <a:endParaRPr lang="zh-CN" alt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CPU</a:t>
            </a:r>
            <a:r>
              <a:rPr lang="zh-CN" altLang="en-US" dirty="0"/>
              <a:t>启动一次存储器写操作的过程</a:t>
            </a:r>
            <a:endParaRPr lang="zh-CN" altLang="en-US" dirty="0"/>
          </a:p>
        </p:txBody>
      </p:sp>
      <p:sp>
        <p:nvSpPr>
          <p:cNvPr id="3" name="内容占位符 2"/>
          <p:cNvSpPr>
            <a:spLocks noGrp="1"/>
          </p:cNvSpPr>
          <p:nvPr>
            <p:ph idx="1"/>
          </p:nvPr>
        </p:nvSpPr>
        <p:spPr/>
        <p:txBody>
          <a:bodyPr>
            <a:normAutofit/>
          </a:bodyPr>
          <a:lstStyle/>
          <a:p>
            <a:r>
              <a:rPr lang="en-US" altLang="zh-CN" dirty="0"/>
              <a:t>CPU</a:t>
            </a:r>
            <a:r>
              <a:rPr lang="zh-CN" altLang="en-US" dirty="0"/>
              <a:t>通过地址总线将地址送入</a:t>
            </a:r>
            <a:r>
              <a:rPr lang="en-US" altLang="zh-CN" dirty="0"/>
              <a:t>MAR</a:t>
            </a:r>
            <a:r>
              <a:rPr lang="zh-CN" altLang="en-US" dirty="0"/>
              <a:t>；</a:t>
            </a:r>
            <a:endParaRPr lang="zh-CN" altLang="en-US" dirty="0"/>
          </a:p>
          <a:p>
            <a:r>
              <a:rPr lang="zh-CN" altLang="en-US" dirty="0"/>
              <a:t>将数据通过数据总线送入</a:t>
            </a:r>
            <a:r>
              <a:rPr lang="en-US" altLang="zh-CN" dirty="0"/>
              <a:t>MDR</a:t>
            </a:r>
            <a:r>
              <a:rPr lang="zh-CN" altLang="en-US" dirty="0"/>
              <a:t>；</a:t>
            </a:r>
            <a:endParaRPr lang="zh-CN" altLang="en-US" dirty="0"/>
          </a:p>
          <a:p>
            <a:r>
              <a:rPr lang="zh-CN" altLang="en-US" dirty="0"/>
              <a:t>使写相关的控制信号有效；</a:t>
            </a:r>
            <a:endParaRPr lang="zh-CN" altLang="en-US" dirty="0"/>
          </a:p>
          <a:p>
            <a:r>
              <a:rPr lang="en-US" altLang="zh-CN" dirty="0"/>
              <a:t>MAR</a:t>
            </a:r>
            <a:r>
              <a:rPr lang="zh-CN" altLang="en-US" dirty="0"/>
              <a:t>中地址码经过地址译码器译码后，选中该地址对应的存储单元；</a:t>
            </a:r>
            <a:endParaRPr lang="zh-CN" altLang="en-US" dirty="0"/>
          </a:p>
          <a:p>
            <a:r>
              <a:rPr lang="zh-CN" altLang="en-US" dirty="0"/>
              <a:t>通过读</a:t>
            </a:r>
            <a:r>
              <a:rPr lang="en-US" altLang="zh-CN" dirty="0"/>
              <a:t>/</a:t>
            </a:r>
            <a:r>
              <a:rPr lang="zh-CN" altLang="en-US" dirty="0"/>
              <a:t>写驱动器将</a:t>
            </a:r>
            <a:r>
              <a:rPr lang="en-US" altLang="zh-CN" dirty="0"/>
              <a:t>MDR</a:t>
            </a:r>
            <a:r>
              <a:rPr lang="zh-CN" altLang="en-US" dirty="0"/>
              <a:t>的数据送入选中的存储单元。</a:t>
            </a:r>
            <a:endParaRPr lang="zh-CN" alt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半导体存储芯片的使用</a:t>
            </a:r>
            <a:endParaRPr lang="zh-CN" altLang="en-US" dirty="0"/>
          </a:p>
        </p:txBody>
      </p:sp>
      <p:sp>
        <p:nvSpPr>
          <p:cNvPr id="3" name="内容占位符 2"/>
          <p:cNvSpPr>
            <a:spLocks noGrp="1"/>
          </p:cNvSpPr>
          <p:nvPr>
            <p:ph idx="1"/>
          </p:nvPr>
        </p:nvSpPr>
        <p:spPr/>
        <p:txBody>
          <a:bodyPr/>
          <a:lstStyle/>
          <a:p>
            <a:r>
              <a:rPr lang="zh-CN" altLang="en-US" dirty="0"/>
              <a:t>存储器与</a:t>
            </a:r>
            <a:r>
              <a:rPr lang="en-US" altLang="zh-CN" dirty="0"/>
              <a:t>CPU</a:t>
            </a:r>
            <a:r>
              <a:rPr lang="zh-CN" altLang="en-US" dirty="0"/>
              <a:t>连接时应考虑的问题</a:t>
            </a:r>
            <a:endParaRPr lang="en-US" altLang="zh-CN" dirty="0"/>
          </a:p>
          <a:p>
            <a:pPr lvl="1"/>
            <a:r>
              <a:rPr lang="en-US" altLang="zh-CN" dirty="0"/>
              <a:t>CPU</a:t>
            </a:r>
            <a:r>
              <a:rPr lang="zh-CN" altLang="en-US" dirty="0"/>
              <a:t>的负载能力；</a:t>
            </a:r>
            <a:endParaRPr lang="zh-CN" altLang="en-US" dirty="0"/>
          </a:p>
          <a:p>
            <a:pPr lvl="1"/>
            <a:r>
              <a:rPr lang="zh-CN" altLang="en-US" dirty="0"/>
              <a:t>各种信号线的连接；</a:t>
            </a:r>
            <a:endParaRPr lang="zh-CN" altLang="en-US" dirty="0"/>
          </a:p>
          <a:p>
            <a:pPr lvl="1"/>
            <a:r>
              <a:rPr lang="en-US" altLang="zh-CN" dirty="0"/>
              <a:t>CPU</a:t>
            </a:r>
            <a:r>
              <a:rPr lang="zh-CN" altLang="en-US" dirty="0"/>
              <a:t>的时序与存储器存取速度的配合；</a:t>
            </a:r>
            <a:endParaRPr lang="zh-CN" altLang="en-US" dirty="0"/>
          </a:p>
          <a:p>
            <a:pPr lvl="1"/>
            <a:r>
              <a:rPr lang="zh-CN" altLang="en-US" dirty="0"/>
              <a:t>存储器的地址分配及片选信号的产生。</a:t>
            </a:r>
            <a:endParaRPr lang="zh-CN" alt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半导体存储芯片的使用</a:t>
            </a:r>
            <a:endParaRPr lang="zh-CN" altLang="en-US" dirty="0"/>
          </a:p>
        </p:txBody>
      </p:sp>
      <p:sp>
        <p:nvSpPr>
          <p:cNvPr id="3" name="内容占位符 2"/>
          <p:cNvSpPr>
            <a:spLocks noGrp="1"/>
          </p:cNvSpPr>
          <p:nvPr>
            <p:ph idx="1"/>
          </p:nvPr>
        </p:nvSpPr>
        <p:spPr/>
        <p:txBody>
          <a:bodyPr/>
          <a:lstStyle/>
          <a:p>
            <a:pPr marL="0" indent="0">
              <a:buNone/>
            </a:pPr>
            <a:r>
              <a:rPr lang="zh-CN" altLang="en-US" dirty="0"/>
              <a:t>  计算机系统访问存储器芯片，是通过软件和硬件协调工作实现的。</a:t>
            </a:r>
            <a:endParaRPr lang="zh-CN" altLang="en-US" dirty="0"/>
          </a:p>
          <a:p>
            <a:r>
              <a:rPr lang="zh-CN" altLang="en-US" dirty="0"/>
              <a:t>软件方面：</a:t>
            </a:r>
            <a:r>
              <a:rPr lang="en-US" altLang="zh-CN" dirty="0"/>
              <a:t>CPU</a:t>
            </a:r>
            <a:r>
              <a:rPr lang="zh-CN" altLang="en-US" dirty="0"/>
              <a:t>执行指令实现存储器访问。如执行指令：</a:t>
            </a:r>
            <a:endParaRPr lang="en-US" altLang="zh-CN" dirty="0"/>
          </a:p>
          <a:p>
            <a:pPr lvl="1"/>
            <a:r>
              <a:rPr lang="en-US" altLang="zh-CN" dirty="0"/>
              <a:t>MOV AL</a:t>
            </a:r>
            <a:r>
              <a:rPr lang="zh-CN" altLang="en-US" dirty="0"/>
              <a:t>，</a:t>
            </a:r>
            <a:r>
              <a:rPr lang="en-US" altLang="zh-CN" dirty="0"/>
              <a:t>[1000H] </a:t>
            </a:r>
            <a:r>
              <a:rPr lang="zh-CN" altLang="en-US" dirty="0"/>
              <a:t>；存储器读操作</a:t>
            </a:r>
            <a:endParaRPr lang="en-US" altLang="zh-CN" dirty="0"/>
          </a:p>
          <a:p>
            <a:pPr lvl="1"/>
            <a:r>
              <a:rPr lang="en-US" altLang="zh-CN" dirty="0"/>
              <a:t>MOV [1000H]</a:t>
            </a:r>
            <a:r>
              <a:rPr lang="zh-CN" altLang="en-US" dirty="0"/>
              <a:t>，</a:t>
            </a:r>
            <a:r>
              <a:rPr lang="en-US" altLang="zh-CN" dirty="0"/>
              <a:t>AL </a:t>
            </a:r>
            <a:r>
              <a:rPr lang="zh-CN" altLang="en-US" dirty="0"/>
              <a:t>；存储器写操作</a:t>
            </a:r>
            <a:endParaRPr lang="zh-CN" altLang="en-US" dirty="0"/>
          </a:p>
          <a:p>
            <a:r>
              <a:rPr lang="zh-CN" altLang="en-US" dirty="0"/>
              <a:t>硬件方面：将存储器芯片的地址线、数据线、控制线与</a:t>
            </a:r>
            <a:r>
              <a:rPr lang="en-US" altLang="zh-CN" dirty="0"/>
              <a:t>CPU</a:t>
            </a:r>
            <a:r>
              <a:rPr lang="zh-CN" altLang="en-US" dirty="0"/>
              <a:t>的地址总线、数据总线、控制总线相对应连接。</a:t>
            </a:r>
            <a:endParaRPr lang="zh-CN" alt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数据线的连接方法</a:t>
            </a:r>
            <a:endParaRPr lang="zh-CN" altLang="en-US" dirty="0"/>
          </a:p>
        </p:txBody>
      </p:sp>
      <p:sp>
        <p:nvSpPr>
          <p:cNvPr id="3" name="内容占位符 2"/>
          <p:cNvSpPr>
            <a:spLocks noGrp="1"/>
          </p:cNvSpPr>
          <p:nvPr>
            <p:ph idx="1"/>
          </p:nvPr>
        </p:nvSpPr>
        <p:spPr/>
        <p:txBody>
          <a:bodyPr/>
          <a:lstStyle/>
          <a:p>
            <a:r>
              <a:rPr lang="zh-CN" altLang="en-US" dirty="0"/>
              <a:t>存储器芯片的数据线，可与</a:t>
            </a:r>
            <a:r>
              <a:rPr lang="en-US" altLang="zh-CN" dirty="0"/>
              <a:t>CPU</a:t>
            </a:r>
            <a:r>
              <a:rPr lang="zh-CN" altLang="en-US" dirty="0"/>
              <a:t>的数据线直接相连。</a:t>
            </a:r>
            <a:endParaRPr lang="zh-CN" alt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地址线的连接方法</a:t>
            </a:r>
            <a:endParaRPr lang="zh-CN" altLang="en-US" dirty="0"/>
          </a:p>
        </p:txBody>
      </p:sp>
      <p:sp>
        <p:nvSpPr>
          <p:cNvPr id="3" name="内容占位符 2"/>
          <p:cNvSpPr>
            <a:spLocks noGrp="1"/>
          </p:cNvSpPr>
          <p:nvPr>
            <p:ph idx="1"/>
          </p:nvPr>
        </p:nvSpPr>
        <p:spPr/>
        <p:txBody>
          <a:bodyPr/>
          <a:lstStyle/>
          <a:p>
            <a:pPr marL="0" indent="0">
              <a:buNone/>
            </a:pPr>
            <a:r>
              <a:rPr lang="zh-CN" altLang="en-US" dirty="0"/>
              <a:t>    根据所选用的半导体存储器芯片地址线的数量，将</a:t>
            </a:r>
            <a:r>
              <a:rPr lang="en-US" altLang="zh-CN" dirty="0"/>
              <a:t>CPU</a:t>
            </a:r>
            <a:r>
              <a:rPr lang="zh-CN" altLang="en-US" dirty="0"/>
              <a:t>的地址线分为两部分：</a:t>
            </a:r>
            <a:endParaRPr lang="zh-CN" altLang="en-US" dirty="0"/>
          </a:p>
          <a:p>
            <a:r>
              <a:rPr lang="zh-CN" altLang="en-US" dirty="0"/>
              <a:t>低位的地址线直接和存储器芯片的地址线相连，用于芯片内的地址译码，选中该存储器芯片的一个存储单元；</a:t>
            </a:r>
            <a:endParaRPr lang="zh-CN" altLang="en-US" dirty="0"/>
          </a:p>
          <a:p>
            <a:r>
              <a:rPr lang="zh-CN" altLang="en-US" dirty="0"/>
              <a:t>剩余的高位地址线经另加的地址译码器，产生存储器芯片的片选信号，用来选中</a:t>
            </a:r>
            <a:r>
              <a:rPr lang="en-US" altLang="zh-CN" dirty="0"/>
              <a:t>CPU</a:t>
            </a:r>
            <a:r>
              <a:rPr lang="zh-CN" altLang="en-US" dirty="0"/>
              <a:t>所要访问的存储器芯片。</a:t>
            </a:r>
            <a:endParaRPr lang="zh-CN" altLang="en-US"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控制线的连接方法</a:t>
            </a:r>
            <a:endParaRPr lang="zh-CN" altLang="en-US" dirty="0"/>
          </a:p>
        </p:txBody>
      </p:sp>
      <p:sp>
        <p:nvSpPr>
          <p:cNvPr id="3" name="内容占位符 2"/>
          <p:cNvSpPr>
            <a:spLocks noGrp="1"/>
          </p:cNvSpPr>
          <p:nvPr>
            <p:ph idx="1"/>
          </p:nvPr>
        </p:nvSpPr>
        <p:spPr>
          <a:xfrm>
            <a:off x="1021081" y="1721213"/>
            <a:ext cx="9646919" cy="4351338"/>
          </a:xfrm>
        </p:spPr>
        <p:txBody>
          <a:bodyPr/>
          <a:lstStyle/>
          <a:p>
            <a:pPr marL="0" indent="0">
              <a:buNone/>
            </a:pPr>
            <a:r>
              <a:rPr lang="en-US" altLang="zh-CN" dirty="0"/>
              <a:t>   CPU</a:t>
            </a:r>
            <a:r>
              <a:rPr lang="zh-CN" altLang="en-US" dirty="0"/>
              <a:t>对存储器读</a:t>
            </a:r>
            <a:r>
              <a:rPr lang="en-US" altLang="zh-CN" dirty="0"/>
              <a:t>/</a:t>
            </a:r>
            <a:r>
              <a:rPr lang="zh-CN" altLang="en-US" dirty="0"/>
              <a:t>写操作的控制信号主要有</a:t>
            </a:r>
            <a:r>
              <a:rPr lang="en-US" altLang="zh-CN" dirty="0"/>
              <a:t>        </a:t>
            </a:r>
            <a:r>
              <a:rPr lang="zh-CN" altLang="en-US" dirty="0"/>
              <a:t>、  </a:t>
            </a:r>
            <a:r>
              <a:rPr lang="en-US" altLang="zh-CN" dirty="0"/>
              <a:t>  </a:t>
            </a:r>
            <a:r>
              <a:rPr lang="zh-CN" altLang="en-US" dirty="0"/>
              <a:t>和</a:t>
            </a:r>
            <a:r>
              <a:rPr lang="en-US" altLang="zh-CN" dirty="0"/>
              <a:t>     </a:t>
            </a:r>
            <a:r>
              <a:rPr lang="zh-CN" altLang="en-US" dirty="0" smtClean="0"/>
              <a:t>   </a:t>
            </a:r>
            <a:endParaRPr lang="en-US" altLang="zh-CN" dirty="0" smtClean="0"/>
          </a:p>
          <a:p>
            <a:pPr marL="0" indent="0">
              <a:buNone/>
            </a:pPr>
            <a:r>
              <a:rPr lang="zh-CN" altLang="en-US" dirty="0" smtClean="0"/>
              <a:t>              。</a:t>
            </a:r>
            <a:endParaRPr lang="zh-CN" altLang="en-US" dirty="0"/>
          </a:p>
          <a:p>
            <a:pPr marL="0" indent="0">
              <a:buNone/>
            </a:pPr>
            <a:r>
              <a:rPr lang="en-US" altLang="zh-CN" dirty="0"/>
              <a:t>    </a:t>
            </a:r>
            <a:r>
              <a:rPr lang="zh-CN" altLang="en-US" dirty="0" smtClean="0"/>
              <a:t>前两个可</a:t>
            </a:r>
            <a:r>
              <a:rPr lang="zh-CN" altLang="en-US" dirty="0"/>
              <a:t>直接同存储器芯片的控制信号线  </a:t>
            </a:r>
            <a:r>
              <a:rPr lang="en-US" altLang="zh-CN" dirty="0"/>
              <a:t>     </a:t>
            </a:r>
            <a:r>
              <a:rPr lang="zh-CN" altLang="en-US" dirty="0" smtClean="0"/>
              <a:t>、  信号</a:t>
            </a:r>
            <a:r>
              <a:rPr lang="zh-CN" altLang="en-US" dirty="0"/>
              <a:t>线</a:t>
            </a:r>
            <a:endParaRPr lang="en-US" altLang="zh-CN" dirty="0"/>
          </a:p>
          <a:p>
            <a:pPr marL="0" indent="0">
              <a:buNone/>
            </a:pPr>
            <a:r>
              <a:rPr lang="en-US" altLang="zh-CN" dirty="0"/>
              <a:t>                  </a:t>
            </a:r>
            <a:r>
              <a:rPr lang="zh-CN" altLang="en-US" dirty="0"/>
              <a:t>连接；</a:t>
            </a:r>
            <a:endParaRPr lang="zh-CN" altLang="en-US" dirty="0"/>
          </a:p>
          <a:p>
            <a:pPr marL="0" indent="0">
              <a:buNone/>
            </a:pPr>
            <a:r>
              <a:rPr lang="en-US" altLang="zh-CN" dirty="0"/>
              <a:t>             </a:t>
            </a:r>
            <a:r>
              <a:rPr lang="zh-CN" altLang="en-US" dirty="0"/>
              <a:t>：可作为地址译码器的控制信号，实现对存储器的读</a:t>
            </a:r>
            <a:r>
              <a:rPr lang="en-US" altLang="zh-CN" dirty="0"/>
              <a:t>/</a:t>
            </a:r>
            <a:r>
              <a:rPr lang="zh-CN" altLang="en-US" dirty="0"/>
              <a:t>写控制操作。</a:t>
            </a:r>
            <a:endParaRPr lang="zh-CN" altLang="en-US" dirty="0"/>
          </a:p>
        </p:txBody>
      </p:sp>
      <p:graphicFrame>
        <p:nvGraphicFramePr>
          <p:cNvPr id="1027" name="Object 3"/>
          <p:cNvGraphicFramePr>
            <a:graphicFrameLocks noChangeAspect="1"/>
          </p:cNvGraphicFramePr>
          <p:nvPr/>
        </p:nvGraphicFramePr>
        <p:xfrm>
          <a:off x="8767162" y="2832932"/>
          <a:ext cx="428625" cy="365125"/>
        </p:xfrm>
        <a:graphic>
          <a:graphicData uri="http://schemas.openxmlformats.org/presentationml/2006/ole">
            <mc:AlternateContent xmlns:mc="http://schemas.openxmlformats.org/markup-compatibility/2006">
              <mc:Choice xmlns:v="urn:schemas-microsoft-com:vml" Requires="v">
                <p:oleObj spid="_x0000_s4097" name="Equation" r:id="rId1" imgW="6096000" imgH="5181600" progId="Equation.DSMT4">
                  <p:embed/>
                </p:oleObj>
              </mc:Choice>
              <mc:Fallback>
                <p:oleObj name="Equation" r:id="rId1" imgW="6096000" imgH="5181600" progId="Equation.DSMT4">
                  <p:embed/>
                  <p:pic>
                    <p:nvPicPr>
                      <p:cNvPr id="0" name="图片 4096"/>
                      <p:cNvPicPr>
                        <a:picLocks noChangeAspect="1"/>
                      </p:cNvPicPr>
                      <p:nvPr/>
                    </p:nvPicPr>
                    <p:blipFill>
                      <a:blip r:embed="rId2"/>
                      <a:stretch>
                        <a:fillRect/>
                      </a:stretch>
                    </p:blipFill>
                    <p:spPr>
                      <a:xfrm>
                        <a:off x="8767162" y="2832932"/>
                        <a:ext cx="428625" cy="365125"/>
                      </a:xfrm>
                      <a:prstGeom prst="rect">
                        <a:avLst/>
                      </a:prstGeom>
                      <a:noFill/>
                      <a:ln w="9525">
                        <a:noFill/>
                      </a:ln>
                    </p:spPr>
                  </p:pic>
                </p:oleObj>
              </mc:Fallback>
            </mc:AlternateContent>
          </a:graphicData>
        </a:graphic>
      </p:graphicFrame>
      <p:graphicFrame>
        <p:nvGraphicFramePr>
          <p:cNvPr id="1029" name="Object 5"/>
          <p:cNvGraphicFramePr>
            <a:graphicFrameLocks noChangeAspect="1"/>
          </p:cNvGraphicFramePr>
          <p:nvPr/>
        </p:nvGraphicFramePr>
        <p:xfrm>
          <a:off x="7975739" y="2836045"/>
          <a:ext cx="533400" cy="395288"/>
        </p:xfrm>
        <a:graphic>
          <a:graphicData uri="http://schemas.openxmlformats.org/presentationml/2006/ole">
            <mc:AlternateContent xmlns:mc="http://schemas.openxmlformats.org/markup-compatibility/2006">
              <mc:Choice xmlns:v="urn:schemas-microsoft-com:vml" Requires="v">
                <p:oleObj spid="_x0000_s4098" name="Equation" r:id="rId3" imgW="7010400" imgH="5181600" progId="Equation.DSMT4">
                  <p:embed/>
                </p:oleObj>
              </mc:Choice>
              <mc:Fallback>
                <p:oleObj name="Equation" r:id="rId3" imgW="7010400" imgH="5181600" progId="Equation.DSMT4">
                  <p:embed/>
                  <p:pic>
                    <p:nvPicPr>
                      <p:cNvPr id="0" name="图片 4097"/>
                      <p:cNvPicPr>
                        <a:picLocks noChangeAspect="1"/>
                      </p:cNvPicPr>
                      <p:nvPr/>
                    </p:nvPicPr>
                    <p:blipFill>
                      <a:blip r:embed="rId4"/>
                      <a:stretch>
                        <a:fillRect/>
                      </a:stretch>
                    </p:blipFill>
                    <p:spPr>
                      <a:xfrm>
                        <a:off x="7975739" y="2836045"/>
                        <a:ext cx="533400" cy="395288"/>
                      </a:xfrm>
                      <a:prstGeom prst="rect">
                        <a:avLst/>
                      </a:prstGeom>
                      <a:noFill/>
                      <a:ln w="9525">
                        <a:noFill/>
                      </a:ln>
                    </p:spPr>
                  </p:pic>
                </p:oleObj>
              </mc:Fallback>
            </mc:AlternateContent>
          </a:graphicData>
        </a:graphic>
      </p:graphicFrame>
      <p:graphicFrame>
        <p:nvGraphicFramePr>
          <p:cNvPr id="1030" name="Object 6"/>
          <p:cNvGraphicFramePr>
            <a:graphicFrameLocks noChangeAspect="1"/>
          </p:cNvGraphicFramePr>
          <p:nvPr/>
        </p:nvGraphicFramePr>
        <p:xfrm>
          <a:off x="1518376" y="2276752"/>
          <a:ext cx="719137" cy="395288"/>
        </p:xfrm>
        <a:graphic>
          <a:graphicData uri="http://schemas.openxmlformats.org/presentationml/2006/ole">
            <mc:AlternateContent xmlns:mc="http://schemas.openxmlformats.org/markup-compatibility/2006">
              <mc:Choice xmlns:v="urn:schemas-microsoft-com:vml" Requires="v">
                <p:oleObj spid="_x0000_s4099" name="Equation" r:id="rId5" imgW="9448800" imgH="5181600" progId="Equation.DSMT4">
                  <p:embed/>
                </p:oleObj>
              </mc:Choice>
              <mc:Fallback>
                <p:oleObj name="Equation" r:id="rId5" imgW="9448800" imgH="5181600" progId="Equation.DSMT4">
                  <p:embed/>
                  <p:pic>
                    <p:nvPicPr>
                      <p:cNvPr id="0" name="图片 4098"/>
                      <p:cNvPicPr>
                        <a:picLocks noChangeAspect="1"/>
                      </p:cNvPicPr>
                      <p:nvPr/>
                    </p:nvPicPr>
                    <p:blipFill>
                      <a:blip r:embed="rId6"/>
                      <a:stretch>
                        <a:fillRect/>
                      </a:stretch>
                    </p:blipFill>
                    <p:spPr>
                      <a:xfrm>
                        <a:off x="1518376" y="2276752"/>
                        <a:ext cx="719137" cy="395288"/>
                      </a:xfrm>
                      <a:prstGeom prst="rect">
                        <a:avLst/>
                      </a:prstGeom>
                      <a:noFill/>
                      <a:ln w="9525">
                        <a:noFill/>
                      </a:ln>
                    </p:spPr>
                  </p:pic>
                </p:oleObj>
              </mc:Fallback>
            </mc:AlternateContent>
          </a:graphicData>
        </a:graphic>
      </p:graphicFrame>
      <p:graphicFrame>
        <p:nvGraphicFramePr>
          <p:cNvPr id="1031" name="Object 7"/>
          <p:cNvGraphicFramePr>
            <a:graphicFrameLocks noChangeAspect="1"/>
          </p:cNvGraphicFramePr>
          <p:nvPr/>
        </p:nvGraphicFramePr>
        <p:xfrm>
          <a:off x="8950325" y="1749425"/>
          <a:ext cx="487363" cy="371475"/>
        </p:xfrm>
        <a:graphic>
          <a:graphicData uri="http://schemas.openxmlformats.org/presentationml/2006/ole">
            <mc:AlternateContent xmlns:mc="http://schemas.openxmlformats.org/markup-compatibility/2006">
              <mc:Choice xmlns:v="urn:schemas-microsoft-com:vml" Requires="v">
                <p:oleObj spid="_x0000_s4100" name="Equation" r:id="rId7" imgW="6400800" imgH="4876800" progId="Equation.DSMT4">
                  <p:embed/>
                </p:oleObj>
              </mc:Choice>
              <mc:Fallback>
                <p:oleObj name="Equation" r:id="rId7" imgW="6400800" imgH="4876800" progId="Equation.DSMT4">
                  <p:embed/>
                  <p:pic>
                    <p:nvPicPr>
                      <p:cNvPr id="0" name="图片 4099"/>
                      <p:cNvPicPr>
                        <a:picLocks noChangeAspect="1"/>
                      </p:cNvPicPr>
                      <p:nvPr/>
                    </p:nvPicPr>
                    <p:blipFill>
                      <a:blip r:embed="rId8"/>
                      <a:stretch>
                        <a:fillRect/>
                      </a:stretch>
                    </p:blipFill>
                    <p:spPr>
                      <a:xfrm>
                        <a:off x="8950325" y="1749425"/>
                        <a:ext cx="487363" cy="371475"/>
                      </a:xfrm>
                      <a:prstGeom prst="rect">
                        <a:avLst/>
                      </a:prstGeom>
                      <a:noFill/>
                      <a:ln w="9525">
                        <a:noFill/>
                      </a:ln>
                    </p:spPr>
                  </p:pic>
                </p:oleObj>
              </mc:Fallback>
            </mc:AlternateContent>
          </a:graphicData>
        </a:graphic>
      </p:graphicFrame>
      <p:graphicFrame>
        <p:nvGraphicFramePr>
          <p:cNvPr id="1032" name="Object 8"/>
          <p:cNvGraphicFramePr>
            <a:graphicFrameLocks noChangeAspect="1"/>
          </p:cNvGraphicFramePr>
          <p:nvPr/>
        </p:nvGraphicFramePr>
        <p:xfrm>
          <a:off x="7988300" y="1776413"/>
          <a:ext cx="557213" cy="395287"/>
        </p:xfrm>
        <a:graphic>
          <a:graphicData uri="http://schemas.openxmlformats.org/presentationml/2006/ole">
            <mc:AlternateContent xmlns:mc="http://schemas.openxmlformats.org/markup-compatibility/2006">
              <mc:Choice xmlns:v="urn:schemas-microsoft-com:vml" Requires="v">
                <p:oleObj spid="_x0000_s4101" name="Equation" r:id="rId9" imgW="7315200" imgH="5181600" progId="Equation.DSMT4">
                  <p:embed/>
                </p:oleObj>
              </mc:Choice>
              <mc:Fallback>
                <p:oleObj name="Equation" r:id="rId9" imgW="7315200" imgH="5181600" progId="Equation.DSMT4">
                  <p:embed/>
                  <p:pic>
                    <p:nvPicPr>
                      <p:cNvPr id="0" name="图片 4100"/>
                      <p:cNvPicPr>
                        <a:picLocks noChangeAspect="1"/>
                      </p:cNvPicPr>
                      <p:nvPr/>
                    </p:nvPicPr>
                    <p:blipFill>
                      <a:blip r:embed="rId10"/>
                      <a:stretch>
                        <a:fillRect/>
                      </a:stretch>
                    </p:blipFill>
                    <p:spPr>
                      <a:xfrm>
                        <a:off x="7988300" y="1776413"/>
                        <a:ext cx="557213" cy="395287"/>
                      </a:xfrm>
                      <a:prstGeom prst="rect">
                        <a:avLst/>
                      </a:prstGeom>
                      <a:noFill/>
                      <a:ln w="9525">
                        <a:noFill/>
                      </a:ln>
                    </p:spPr>
                  </p:pic>
                </p:oleObj>
              </mc:Fallback>
            </mc:AlternateContent>
          </a:graphicData>
        </a:graphic>
      </p:graphicFrame>
      <p:graphicFrame>
        <p:nvGraphicFramePr>
          <p:cNvPr id="1033" name="Object 9"/>
          <p:cNvGraphicFramePr>
            <a:graphicFrameLocks noChangeAspect="1"/>
          </p:cNvGraphicFramePr>
          <p:nvPr/>
        </p:nvGraphicFramePr>
        <p:xfrm>
          <a:off x="1476098" y="3859536"/>
          <a:ext cx="719138" cy="395288"/>
        </p:xfrm>
        <a:graphic>
          <a:graphicData uri="http://schemas.openxmlformats.org/presentationml/2006/ole">
            <mc:AlternateContent xmlns:mc="http://schemas.openxmlformats.org/markup-compatibility/2006">
              <mc:Choice xmlns:v="urn:schemas-microsoft-com:vml" Requires="v">
                <p:oleObj spid="_x0000_s4102" name="Equation" r:id="rId11" imgW="9448800" imgH="5181600" progId="Equation.DSMT4">
                  <p:embed/>
                </p:oleObj>
              </mc:Choice>
              <mc:Fallback>
                <p:oleObj name="Equation" r:id="rId11" imgW="9448800" imgH="5181600" progId="Equation.DSMT4">
                  <p:embed/>
                  <p:pic>
                    <p:nvPicPr>
                      <p:cNvPr id="0" name="图片 4101"/>
                      <p:cNvPicPr>
                        <a:picLocks noChangeAspect="1"/>
                      </p:cNvPicPr>
                      <p:nvPr/>
                    </p:nvPicPr>
                    <p:blipFill>
                      <a:blip r:embed="rId12"/>
                      <a:stretch>
                        <a:fillRect/>
                      </a:stretch>
                    </p:blipFill>
                    <p:spPr>
                      <a:xfrm>
                        <a:off x="1476098" y="3859536"/>
                        <a:ext cx="719138" cy="395288"/>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微机系统中存储器接口技术</a:t>
            </a:r>
            <a:endParaRPr lang="zh-CN" altLang="en-US" dirty="0"/>
          </a:p>
        </p:txBody>
      </p:sp>
      <p:sp>
        <p:nvSpPr>
          <p:cNvPr id="3" name="内容占位符 2"/>
          <p:cNvSpPr>
            <a:spLocks noGrp="1"/>
          </p:cNvSpPr>
          <p:nvPr>
            <p:ph idx="1"/>
          </p:nvPr>
        </p:nvSpPr>
        <p:spPr/>
        <p:txBody>
          <a:bodyPr>
            <a:normAutofit/>
          </a:bodyPr>
          <a:lstStyle/>
          <a:p>
            <a:pPr marL="0" indent="0">
              <a:buNone/>
            </a:pPr>
            <a:r>
              <a:rPr lang="zh-CN" altLang="en-US" dirty="0"/>
              <a:t>   通常，存储器的字长是</a:t>
            </a:r>
            <a:r>
              <a:rPr lang="en-US" altLang="zh-CN" dirty="0"/>
              <a:t>8</a:t>
            </a:r>
            <a:r>
              <a:rPr lang="zh-CN" altLang="en-US" dirty="0"/>
              <a:t>位的。</a:t>
            </a:r>
            <a:r>
              <a:rPr lang="en-US" altLang="zh-CN" dirty="0"/>
              <a:t>16</a:t>
            </a:r>
            <a:r>
              <a:rPr lang="zh-CN" altLang="en-US" dirty="0"/>
              <a:t>位</a:t>
            </a:r>
            <a:r>
              <a:rPr lang="en-US" altLang="zh-CN" dirty="0"/>
              <a:t>/32</a:t>
            </a:r>
            <a:r>
              <a:rPr lang="zh-CN" altLang="en-US" dirty="0"/>
              <a:t>位</a:t>
            </a:r>
            <a:r>
              <a:rPr lang="en-US" altLang="zh-CN" dirty="0"/>
              <a:t>CPU</a:t>
            </a:r>
            <a:r>
              <a:rPr lang="zh-CN" altLang="en-US" dirty="0"/>
              <a:t>，为了向下兼容</a:t>
            </a:r>
            <a:r>
              <a:rPr lang="en-US" altLang="zh-CN" dirty="0"/>
              <a:t>8</a:t>
            </a:r>
            <a:r>
              <a:rPr lang="zh-CN" altLang="en-US" dirty="0"/>
              <a:t>位、</a:t>
            </a:r>
            <a:r>
              <a:rPr lang="en-US" altLang="zh-CN" dirty="0"/>
              <a:t>16</a:t>
            </a:r>
            <a:r>
              <a:rPr lang="zh-CN" altLang="en-US" dirty="0"/>
              <a:t>位指令，在存储器系统设计时，既要保证字节的读</a:t>
            </a:r>
            <a:r>
              <a:rPr lang="en-US" altLang="zh-CN" dirty="0"/>
              <a:t>/</a:t>
            </a:r>
            <a:r>
              <a:rPr lang="zh-CN" altLang="en-US" dirty="0"/>
              <a:t>写功能，又要保证字、双字读</a:t>
            </a:r>
            <a:r>
              <a:rPr lang="en-US" altLang="zh-CN" dirty="0"/>
              <a:t>/</a:t>
            </a:r>
            <a:r>
              <a:rPr lang="zh-CN" altLang="en-US" dirty="0"/>
              <a:t>写时的效率，即有存储单元的地址对齐问题。</a:t>
            </a:r>
            <a:endParaRPr lang="zh-CN" altLang="en-US" dirty="0"/>
          </a:p>
          <a:p>
            <a:pPr marL="0" indent="0">
              <a:buNone/>
            </a:pPr>
            <a:r>
              <a:rPr lang="zh-CN" altLang="en-US" dirty="0"/>
              <a:t>    地址对齐是指</a:t>
            </a:r>
            <a:r>
              <a:rPr lang="en-US" altLang="zh-CN" dirty="0"/>
              <a:t>16</a:t>
            </a:r>
            <a:r>
              <a:rPr lang="zh-CN" altLang="en-US" dirty="0"/>
              <a:t>位</a:t>
            </a:r>
            <a:r>
              <a:rPr lang="en-US" altLang="zh-CN" dirty="0"/>
              <a:t>CPU(8086)</a:t>
            </a:r>
            <a:r>
              <a:rPr lang="zh-CN" altLang="en-US" dirty="0"/>
              <a:t>数据的存放地址为</a:t>
            </a:r>
            <a:r>
              <a:rPr lang="en-US" altLang="zh-CN" dirty="0"/>
              <a:t>2</a:t>
            </a:r>
            <a:r>
              <a:rPr lang="zh-CN" altLang="en-US" dirty="0"/>
              <a:t>的倍数，即偶数（</a:t>
            </a:r>
            <a:r>
              <a:rPr kumimoji="0" lang="en-US" altLang="zh-CN" sz="2800" b="0" i="0" u="none" strike="noStrike" kern="1200" cap="none" spc="0" normalizeH="0" baseline="0" noProof="0" dirty="0">
                <a:ln>
                  <a:noFill/>
                </a:ln>
                <a:solidFill>
                  <a:srgbClr val="000000"/>
                </a:solidFill>
                <a:effectLst/>
                <a:uLnTx/>
                <a:uFillTx/>
                <a:latin typeface="Times New Roman" panose="02020603050405020304" pitchFamily="18" charset="0"/>
                <a:cs typeface="+mn-cs"/>
              </a:rPr>
              <a:t> A</a:t>
            </a:r>
            <a:r>
              <a:rPr kumimoji="0" lang="en-US" altLang="zh-CN" sz="2800" b="0" i="0" u="none" strike="noStrike" kern="1200" cap="none" spc="0" normalizeH="0" baseline="-25000" noProof="0" dirty="0">
                <a:ln>
                  <a:noFill/>
                </a:ln>
                <a:solidFill>
                  <a:srgbClr val="000000"/>
                </a:solidFill>
                <a:effectLst/>
                <a:uLnTx/>
                <a:uFillTx/>
                <a:latin typeface="Times New Roman" panose="02020603050405020304" pitchFamily="18" charset="0"/>
                <a:cs typeface="+mn-cs"/>
              </a:rPr>
              <a:t>0 </a:t>
            </a:r>
            <a:r>
              <a:rPr lang="en-US" altLang="zh-CN" dirty="0"/>
              <a:t>=0</a:t>
            </a:r>
            <a:r>
              <a:rPr lang="zh-CN" altLang="en-US" dirty="0"/>
              <a:t>），</a:t>
            </a:r>
            <a:r>
              <a:rPr lang="en-US" altLang="zh-CN" dirty="0"/>
              <a:t>32</a:t>
            </a:r>
            <a:r>
              <a:rPr lang="zh-CN" altLang="en-US" dirty="0"/>
              <a:t>位</a:t>
            </a:r>
            <a:r>
              <a:rPr lang="en-US" altLang="zh-CN" dirty="0"/>
              <a:t>CPU(80386)</a:t>
            </a:r>
            <a:r>
              <a:rPr lang="zh-CN" altLang="en-US" dirty="0"/>
              <a:t>数据的存放地址为</a:t>
            </a:r>
            <a:r>
              <a:rPr lang="en-US" altLang="zh-CN" dirty="0"/>
              <a:t>4</a:t>
            </a:r>
            <a:r>
              <a:rPr lang="zh-CN" altLang="en-US" dirty="0"/>
              <a:t>的倍数（</a:t>
            </a:r>
            <a:r>
              <a:rPr kumimoji="0" lang="en-US" altLang="zh-CN" sz="2800" b="0" i="0" u="none" strike="noStrike" kern="1200" cap="none" spc="0" normalizeH="0" baseline="0" noProof="0" dirty="0">
                <a:ln>
                  <a:noFill/>
                </a:ln>
                <a:solidFill>
                  <a:srgbClr val="000000"/>
                </a:solidFill>
                <a:effectLst/>
                <a:uLnTx/>
                <a:uFillTx/>
                <a:latin typeface="Times New Roman" panose="02020603050405020304" pitchFamily="18" charset="0"/>
                <a:cs typeface="+mn-cs"/>
              </a:rPr>
              <a:t> A</a:t>
            </a:r>
            <a:r>
              <a:rPr kumimoji="0" lang="en-US" altLang="zh-CN" sz="2800" b="0" i="0" u="none" strike="noStrike" kern="1200" cap="none" spc="0" normalizeH="0" baseline="-25000" noProof="0" dirty="0">
                <a:ln>
                  <a:noFill/>
                </a:ln>
                <a:solidFill>
                  <a:srgbClr val="000000"/>
                </a:solidFill>
                <a:effectLst/>
                <a:uLnTx/>
                <a:uFillTx/>
                <a:latin typeface="Times New Roman" panose="02020603050405020304" pitchFamily="18" charset="0"/>
                <a:cs typeface="+mn-cs"/>
              </a:rPr>
              <a:t>1 </a:t>
            </a:r>
            <a:r>
              <a:rPr kumimoji="0" lang="en-US" altLang="zh-CN" sz="2800" b="0" i="0" u="none" strike="noStrike" kern="1200" cap="none" spc="0" normalizeH="0" baseline="0" noProof="0" dirty="0">
                <a:ln>
                  <a:noFill/>
                </a:ln>
                <a:solidFill>
                  <a:srgbClr val="000000"/>
                </a:solidFill>
                <a:effectLst/>
                <a:uLnTx/>
                <a:uFillTx/>
                <a:latin typeface="Times New Roman" panose="02020603050405020304" pitchFamily="18" charset="0"/>
                <a:cs typeface="+mn-cs"/>
              </a:rPr>
              <a:t>A</a:t>
            </a:r>
            <a:r>
              <a:rPr kumimoji="0" lang="en-US" altLang="zh-CN" sz="2800" b="0" i="0" u="none" strike="noStrike" kern="1200" cap="none" spc="0" normalizeH="0" baseline="-25000" noProof="0" dirty="0">
                <a:ln>
                  <a:noFill/>
                </a:ln>
                <a:solidFill>
                  <a:srgbClr val="000000"/>
                </a:solidFill>
                <a:effectLst/>
                <a:uLnTx/>
                <a:uFillTx/>
                <a:latin typeface="Times New Roman" panose="02020603050405020304" pitchFamily="18" charset="0"/>
                <a:cs typeface="+mn-cs"/>
              </a:rPr>
              <a:t>0 </a:t>
            </a:r>
            <a:r>
              <a:rPr lang="en-US" altLang="zh-CN" dirty="0"/>
              <a:t>=00</a:t>
            </a:r>
            <a:r>
              <a:rPr lang="zh-CN" altLang="en-US" dirty="0"/>
              <a:t>）。</a:t>
            </a:r>
            <a:endParaRPr lang="zh-CN" altLang="en-US"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a:t>
            </a:r>
            <a:r>
              <a:rPr lang="zh-CN" altLang="en-US" dirty="0"/>
              <a:t>位微机系统中的存储器连接</a:t>
            </a:r>
            <a:endParaRPr lang="zh-CN" altLang="en-US" dirty="0"/>
          </a:p>
        </p:txBody>
      </p:sp>
      <p:pic>
        <p:nvPicPr>
          <p:cNvPr id="5" name="内容占位符 4"/>
          <p:cNvPicPr>
            <a:picLocks noGrp="1" noChangeAspect="1"/>
          </p:cNvPicPr>
          <p:nvPr>
            <p:ph idx="1"/>
          </p:nvPr>
        </p:nvPicPr>
        <p:blipFill>
          <a:blip r:embed="rId1" cstate="print"/>
          <a:stretch>
            <a:fillRect/>
          </a:stretch>
        </p:blipFill>
        <p:spPr>
          <a:xfrm>
            <a:off x="2836168" y="1866637"/>
            <a:ext cx="6895661" cy="4521100"/>
          </a:xfrm>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8086CPU</a:t>
            </a:r>
            <a:r>
              <a:rPr lang="zh-CN" altLang="en-US" dirty="0"/>
              <a:t>存储器系统的奇偶分体</a:t>
            </a:r>
            <a:endParaRPr lang="zh-CN" altLang="en-US" dirty="0"/>
          </a:p>
        </p:txBody>
      </p:sp>
      <p:pic>
        <p:nvPicPr>
          <p:cNvPr id="4" name="Picture 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133600" y="1482771"/>
            <a:ext cx="7715794" cy="5243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80386CPU</a:t>
            </a:r>
            <a:r>
              <a:rPr lang="zh-CN" altLang="en-US" dirty="0"/>
              <a:t>存储器系统的分体</a:t>
            </a:r>
            <a:endParaRPr lang="zh-CN" altLang="en-US" dirty="0"/>
          </a:p>
        </p:txBody>
      </p:sp>
      <p:sp>
        <p:nvSpPr>
          <p:cNvPr id="3" name="内容占位符 2"/>
          <p:cNvSpPr>
            <a:spLocks noGrp="1"/>
          </p:cNvSpPr>
          <p:nvPr>
            <p:ph idx="1"/>
          </p:nvPr>
        </p:nvSpPr>
        <p:spPr>
          <a:xfrm>
            <a:off x="838200" y="1825625"/>
            <a:ext cx="9829800" cy="865324"/>
          </a:xfrm>
        </p:spPr>
        <p:txBody>
          <a:bodyPr/>
          <a:lstStyle/>
          <a:p>
            <a:pPr marL="0" indent="0">
              <a:buNone/>
            </a:pPr>
            <a:r>
              <a:rPr lang="en-US" altLang="zh-CN" dirty="0"/>
              <a:t>   80386</a:t>
            </a:r>
            <a:r>
              <a:rPr lang="zh-CN" altLang="en-US" dirty="0"/>
              <a:t>存储器系统中，</a:t>
            </a:r>
            <a:r>
              <a:rPr lang="en-US" altLang="zh-CN" dirty="0"/>
              <a:t>4GB</a:t>
            </a:r>
            <a:r>
              <a:rPr lang="zh-CN" altLang="en-US" dirty="0"/>
              <a:t>存储地址空间分成四个</a:t>
            </a:r>
            <a:r>
              <a:rPr lang="en-US" altLang="zh-CN" dirty="0"/>
              <a:t>1GB</a:t>
            </a:r>
            <a:r>
              <a:rPr lang="zh-CN" altLang="en-US" dirty="0"/>
              <a:t>的存储体。</a:t>
            </a:r>
            <a:endParaRPr lang="zh-CN" altLang="en-US" dirty="0"/>
          </a:p>
        </p:txBody>
      </p:sp>
      <p:pic>
        <p:nvPicPr>
          <p:cNvPr id="4" name="Picture 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072414" y="2690949"/>
            <a:ext cx="7378700" cy="3457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80386CPU</a:t>
            </a:r>
            <a:r>
              <a:rPr lang="zh-CN" altLang="en-US" dirty="0"/>
              <a:t>存储器系统的分体</a:t>
            </a:r>
            <a:endParaRPr lang="zh-CN" altLang="en-US" dirty="0"/>
          </a:p>
        </p:txBody>
      </p:sp>
      <p:pic>
        <p:nvPicPr>
          <p:cNvPr id="5" name="内容占位符 4"/>
          <p:cNvPicPr>
            <a:picLocks noGrp="1" noChangeAspect="1"/>
          </p:cNvPicPr>
          <p:nvPr>
            <p:ph idx="1"/>
          </p:nvPr>
        </p:nvPicPr>
        <p:blipFill>
          <a:blip r:embed="rId1" cstate="print"/>
          <a:stretch>
            <a:fillRect/>
          </a:stretch>
        </p:blipFill>
        <p:spPr>
          <a:xfrm>
            <a:off x="1737360" y="1690688"/>
            <a:ext cx="8361844" cy="3416889"/>
          </a:xfrm>
        </p:spPr>
      </p:pic>
      <p:sp>
        <p:nvSpPr>
          <p:cNvPr id="9" name="文本框 8"/>
          <p:cNvSpPr txBox="1"/>
          <p:nvPr/>
        </p:nvSpPr>
        <p:spPr>
          <a:xfrm>
            <a:off x="2615837" y="5167312"/>
            <a:ext cx="767443" cy="369332"/>
          </a:xfrm>
          <a:prstGeom prst="rect">
            <a:avLst/>
          </a:prstGeom>
          <a:noFill/>
        </p:spPr>
        <p:txBody>
          <a:bodyPr wrap="square">
            <a:spAutoFit/>
          </a:bodyPr>
          <a:lstStyle/>
          <a:p>
            <a:r>
              <a:rPr lang="en-US" altLang="zh-CN" sz="1800" b="1" i="0" u="none" strike="noStrike" baseline="0">
                <a:solidFill>
                  <a:srgbClr val="000000"/>
                </a:solidFill>
                <a:latin typeface="Times New Roman" panose="02020603050405020304" pitchFamily="18" charset="0"/>
              </a:rPr>
              <a:t>4n+3</a:t>
            </a:r>
            <a:endParaRPr lang="zh-CN" altLang="en-US" dirty="0"/>
          </a:p>
        </p:txBody>
      </p:sp>
      <p:sp>
        <p:nvSpPr>
          <p:cNvPr id="11" name="文本框 10"/>
          <p:cNvSpPr txBox="1"/>
          <p:nvPr/>
        </p:nvSpPr>
        <p:spPr>
          <a:xfrm>
            <a:off x="4849586" y="5167312"/>
            <a:ext cx="1054825" cy="369332"/>
          </a:xfrm>
          <a:prstGeom prst="rect">
            <a:avLst/>
          </a:prstGeom>
          <a:noFill/>
        </p:spPr>
        <p:txBody>
          <a:bodyPr wrap="square">
            <a:spAutoFit/>
          </a:bodyPr>
          <a:lstStyle/>
          <a:p>
            <a:r>
              <a:rPr lang="en-US" altLang="zh-CN" sz="1800" b="1" i="0" u="none" strike="noStrike" baseline="0">
                <a:solidFill>
                  <a:srgbClr val="000000"/>
                </a:solidFill>
                <a:latin typeface="Times New Roman" panose="02020603050405020304" pitchFamily="18" charset="0"/>
              </a:rPr>
              <a:t>4n+2</a:t>
            </a:r>
            <a:endParaRPr lang="zh-CN" altLang="en-US" dirty="0"/>
          </a:p>
        </p:txBody>
      </p:sp>
      <p:sp>
        <p:nvSpPr>
          <p:cNvPr id="13" name="文本框 12"/>
          <p:cNvSpPr txBox="1"/>
          <p:nvPr/>
        </p:nvSpPr>
        <p:spPr>
          <a:xfrm>
            <a:off x="6662057" y="5167312"/>
            <a:ext cx="888274" cy="369332"/>
          </a:xfrm>
          <a:prstGeom prst="rect">
            <a:avLst/>
          </a:prstGeom>
          <a:noFill/>
        </p:spPr>
        <p:txBody>
          <a:bodyPr wrap="square">
            <a:spAutoFit/>
          </a:bodyPr>
          <a:lstStyle/>
          <a:p>
            <a:r>
              <a:rPr lang="en-US" altLang="zh-CN" sz="1800" b="1" i="0" u="none" strike="noStrike" baseline="0">
                <a:solidFill>
                  <a:srgbClr val="000000"/>
                </a:solidFill>
                <a:latin typeface="Times New Roman" panose="02020603050405020304" pitchFamily="18" charset="0"/>
              </a:rPr>
              <a:t>4n+1</a:t>
            </a:r>
            <a:endParaRPr lang="zh-CN" altLang="en-US" dirty="0"/>
          </a:p>
        </p:txBody>
      </p:sp>
      <p:sp>
        <p:nvSpPr>
          <p:cNvPr id="15" name="文本框 14"/>
          <p:cNvSpPr txBox="1"/>
          <p:nvPr/>
        </p:nvSpPr>
        <p:spPr>
          <a:xfrm>
            <a:off x="8977449" y="5107577"/>
            <a:ext cx="767442" cy="369332"/>
          </a:xfrm>
          <a:prstGeom prst="rect">
            <a:avLst/>
          </a:prstGeom>
          <a:noFill/>
        </p:spPr>
        <p:txBody>
          <a:bodyPr wrap="square">
            <a:spAutoFit/>
          </a:bodyPr>
          <a:lstStyle/>
          <a:p>
            <a:r>
              <a:rPr lang="en-US" altLang="zh-CN" sz="1800" b="1" i="0" u="none" strike="noStrike" baseline="0" dirty="0">
                <a:solidFill>
                  <a:srgbClr val="000000"/>
                </a:solidFill>
                <a:latin typeface="Times New Roman" panose="02020603050405020304" pitchFamily="18" charset="0"/>
              </a:rPr>
              <a:t>4n+0</a:t>
            </a:r>
            <a:endParaRPr lang="zh-CN" altLang="en-US" dirty="0"/>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存储器容量扩展的概念</a:t>
            </a:r>
            <a:endParaRPr lang="zh-CN" altLang="en-US" dirty="0"/>
          </a:p>
        </p:txBody>
      </p:sp>
      <p:sp>
        <p:nvSpPr>
          <p:cNvPr id="3" name="内容占位符 2"/>
          <p:cNvSpPr>
            <a:spLocks noGrp="1"/>
          </p:cNvSpPr>
          <p:nvPr>
            <p:ph idx="1"/>
          </p:nvPr>
        </p:nvSpPr>
        <p:spPr/>
        <p:txBody>
          <a:bodyPr/>
          <a:lstStyle/>
          <a:p>
            <a:pPr marL="0" indent="0">
              <a:lnSpc>
                <a:spcPct val="100000"/>
              </a:lnSpc>
              <a:buNone/>
            </a:pPr>
            <a:r>
              <a:rPr lang="zh-CN" altLang="en-US" dirty="0"/>
              <a:t>   每个存储芯片的容量是有限的。当实际系统需要更大的存储容量时，必须采用多片存储器芯片构成较大容量的存储器模块，即为存储器的扩展。存储器容量扩展的方法有：</a:t>
            </a:r>
            <a:endParaRPr lang="zh-CN" altLang="en-US" b="0" i="0" u="none" strike="noStrike" baseline="0" dirty="0">
              <a:solidFill>
                <a:srgbClr val="000000"/>
              </a:solidFill>
              <a:latin typeface="Arial" panose="020B0604020202020204" pitchFamily="34" charset="0"/>
            </a:endParaRPr>
          </a:p>
          <a:p>
            <a:pPr lvl="1"/>
            <a:r>
              <a:rPr lang="zh-CN" altLang="en-US" b="0" i="0" u="none" strike="noStrike" baseline="0" dirty="0">
                <a:solidFill>
                  <a:srgbClr val="000000"/>
                </a:solidFill>
                <a:latin typeface="Arial" panose="020B0604020202020204" pitchFamily="34" charset="0"/>
              </a:rPr>
              <a:t>位扩展</a:t>
            </a:r>
            <a:endParaRPr lang="zh-CN" altLang="en-US" b="0" i="0" u="none" strike="noStrike" baseline="0" dirty="0">
              <a:solidFill>
                <a:srgbClr val="000000"/>
              </a:solidFill>
              <a:latin typeface="Arial" panose="020B0604020202020204" pitchFamily="34" charset="0"/>
            </a:endParaRPr>
          </a:p>
          <a:p>
            <a:pPr lvl="1"/>
            <a:r>
              <a:rPr lang="zh-CN" altLang="en-US" dirty="0">
                <a:solidFill>
                  <a:srgbClr val="000000"/>
                </a:solidFill>
                <a:latin typeface="Arial" panose="020B0604020202020204" pitchFamily="34" charset="0"/>
              </a:rPr>
              <a:t>字扩展</a:t>
            </a:r>
            <a:endParaRPr lang="zh-CN" altLang="en-US" dirty="0">
              <a:solidFill>
                <a:srgbClr val="000000"/>
              </a:solidFill>
              <a:latin typeface="Arial" panose="020B0604020202020204" pitchFamily="34" charset="0"/>
            </a:endParaRPr>
          </a:p>
          <a:p>
            <a:pPr lvl="1"/>
            <a:r>
              <a:rPr lang="zh-CN" altLang="en-US" dirty="0">
                <a:solidFill>
                  <a:srgbClr val="000000"/>
                </a:solidFill>
                <a:latin typeface="Arial" panose="020B0604020202020204" pitchFamily="34" charset="0"/>
              </a:rPr>
              <a:t>字位扩展</a:t>
            </a:r>
            <a:endParaRPr lang="zh-CN" altLang="en-US" dirty="0">
              <a:solidFill>
                <a:srgbClr val="000000"/>
              </a:solidFill>
              <a:latin typeface="Arial" panose="020B0604020202020204" pitchFamily="34" charset="0"/>
            </a:endParaRPr>
          </a:p>
          <a:p>
            <a:endParaRPr lang="zh-CN" altLang="en-US"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存储器容量的位扩展</a:t>
            </a:r>
            <a:endParaRPr lang="zh-CN" altLang="en-US" dirty="0"/>
          </a:p>
        </p:txBody>
      </p:sp>
      <p:sp>
        <p:nvSpPr>
          <p:cNvPr id="3" name="内容占位符 2"/>
          <p:cNvSpPr>
            <a:spLocks noGrp="1"/>
          </p:cNvSpPr>
          <p:nvPr>
            <p:ph idx="1"/>
          </p:nvPr>
        </p:nvSpPr>
        <p:spPr/>
        <p:txBody>
          <a:bodyPr/>
          <a:lstStyle/>
          <a:p>
            <a:r>
              <a:rPr lang="zh-CN" altLang="en-US" dirty="0"/>
              <a:t>芯片的地址线全部并联，并与</a:t>
            </a:r>
            <a:r>
              <a:rPr lang="en-US" altLang="zh-CN" dirty="0"/>
              <a:t>CPU</a:t>
            </a:r>
            <a:r>
              <a:rPr lang="zh-CN" altLang="en-US" dirty="0"/>
              <a:t>地址总线中相应的地址线相连；</a:t>
            </a:r>
            <a:endParaRPr lang="zh-CN" altLang="en-US" dirty="0"/>
          </a:p>
          <a:p>
            <a:r>
              <a:rPr lang="zh-CN" altLang="en-US" dirty="0"/>
              <a:t>芯片的数据线分</a:t>
            </a:r>
            <a:r>
              <a:rPr lang="zh-CN" altLang="en-US" b="1" dirty="0">
                <a:solidFill>
                  <a:srgbClr val="FF0000"/>
                </a:solidFill>
              </a:rPr>
              <a:t>高低位</a:t>
            </a:r>
            <a:r>
              <a:rPr lang="zh-CN" altLang="en-US" dirty="0"/>
              <a:t>分别与</a:t>
            </a:r>
            <a:r>
              <a:rPr lang="en-US" altLang="zh-CN" dirty="0"/>
              <a:t>CPU</a:t>
            </a:r>
            <a:r>
              <a:rPr lang="zh-CN" altLang="en-US" dirty="0"/>
              <a:t>数据总线的相应位相连；</a:t>
            </a:r>
            <a:endParaRPr lang="zh-CN" altLang="en-US" dirty="0"/>
          </a:p>
          <a:p>
            <a:r>
              <a:rPr lang="zh-CN" altLang="en-US" dirty="0"/>
              <a:t>芯片的读</a:t>
            </a:r>
            <a:r>
              <a:rPr lang="en-US" altLang="zh-CN" dirty="0"/>
              <a:t>/</a:t>
            </a:r>
            <a:r>
              <a:rPr lang="zh-CN" altLang="en-US" dirty="0"/>
              <a:t>写控制信号线并联，与</a:t>
            </a:r>
            <a:r>
              <a:rPr lang="en-US" altLang="zh-CN" dirty="0"/>
              <a:t>CPU</a:t>
            </a:r>
            <a:r>
              <a:rPr lang="zh-CN" altLang="en-US" dirty="0"/>
              <a:t>控制总线中的读</a:t>
            </a:r>
            <a:r>
              <a:rPr lang="en-US" altLang="zh-CN" dirty="0"/>
              <a:t>/</a:t>
            </a:r>
            <a:r>
              <a:rPr lang="zh-CN" altLang="en-US" dirty="0"/>
              <a:t>写控制线相连；</a:t>
            </a:r>
            <a:endParaRPr lang="zh-CN" altLang="en-US" dirty="0"/>
          </a:p>
          <a:p>
            <a:r>
              <a:rPr lang="zh-CN" altLang="en-US" dirty="0"/>
              <a:t>芯片的片选信号并联，可接</a:t>
            </a:r>
            <a:r>
              <a:rPr lang="en-US" altLang="zh-CN" dirty="0"/>
              <a:t>CPU</a:t>
            </a:r>
            <a:r>
              <a:rPr lang="zh-CN" altLang="en-US" dirty="0"/>
              <a:t>控制总线中的</a:t>
            </a:r>
            <a:r>
              <a:rPr lang="zh-CN" altLang="en-US" b="1" dirty="0">
                <a:solidFill>
                  <a:srgbClr val="FF0000"/>
                </a:solidFill>
              </a:rPr>
              <a:t>存储器选择信号</a:t>
            </a:r>
            <a:r>
              <a:rPr lang="zh-CN" altLang="en-US" dirty="0"/>
              <a:t>，也可接</a:t>
            </a:r>
            <a:r>
              <a:rPr lang="zh-CN" altLang="en-US" b="1" dirty="0">
                <a:solidFill>
                  <a:srgbClr val="FF0000"/>
                </a:solidFill>
              </a:rPr>
              <a:t>高位地址线</a:t>
            </a:r>
            <a:r>
              <a:rPr lang="zh-CN" altLang="en-US" dirty="0"/>
              <a:t>或</a:t>
            </a:r>
            <a:r>
              <a:rPr lang="zh-CN" altLang="en-US" b="1" dirty="0">
                <a:solidFill>
                  <a:srgbClr val="FF0000"/>
                </a:solidFill>
              </a:rPr>
              <a:t>地址译码器的输出端</a:t>
            </a:r>
            <a:r>
              <a:rPr lang="zh-CN" altLang="en-US" dirty="0"/>
              <a:t>。</a:t>
            </a:r>
            <a:endParaRPr lang="zh-CN" altLang="en-US"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存储器容量的位扩展</a:t>
            </a:r>
            <a:endParaRPr lang="zh-CN" altLang="en-US" dirty="0"/>
          </a:p>
        </p:txBody>
      </p:sp>
      <p:pic>
        <p:nvPicPr>
          <p:cNvPr id="4" name="Picture 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476828" y="2139907"/>
            <a:ext cx="9238343" cy="37227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存储器容量的字扩展</a:t>
            </a:r>
            <a:endParaRPr lang="zh-CN" altLang="en-US" dirty="0"/>
          </a:p>
        </p:txBody>
      </p:sp>
      <p:sp>
        <p:nvSpPr>
          <p:cNvPr id="3" name="内容占位符 2"/>
          <p:cNvSpPr>
            <a:spLocks noGrp="1"/>
          </p:cNvSpPr>
          <p:nvPr>
            <p:ph idx="1"/>
          </p:nvPr>
        </p:nvSpPr>
        <p:spPr>
          <a:xfrm>
            <a:off x="838200" y="1690688"/>
            <a:ext cx="10515600" cy="4351338"/>
          </a:xfrm>
        </p:spPr>
        <p:txBody>
          <a:bodyPr>
            <a:noAutofit/>
          </a:bodyPr>
          <a:lstStyle/>
          <a:p>
            <a:pPr marL="0" indent="0">
              <a:lnSpc>
                <a:spcPct val="100000"/>
              </a:lnSpc>
              <a:buNone/>
            </a:pPr>
            <a:r>
              <a:rPr lang="zh-CN" altLang="en-US" sz="2600" dirty="0"/>
              <a:t>  当存储字的容量不满足需要时，需要进行字扩展。字扩展时，各存储芯片的信号线的连接方法如下：</a:t>
            </a:r>
            <a:endParaRPr lang="zh-CN" altLang="en-US" sz="2600" dirty="0"/>
          </a:p>
          <a:p>
            <a:pPr>
              <a:lnSpc>
                <a:spcPct val="100000"/>
              </a:lnSpc>
            </a:pPr>
            <a:r>
              <a:rPr lang="zh-CN" altLang="en-US" sz="2600" dirty="0"/>
              <a:t>芯片的地址线全部并联，并与</a:t>
            </a:r>
            <a:r>
              <a:rPr lang="en-US" altLang="zh-CN" sz="2600" dirty="0"/>
              <a:t>CPU</a:t>
            </a:r>
            <a:r>
              <a:rPr lang="zh-CN" altLang="en-US" sz="2600" dirty="0"/>
              <a:t>地址总线中相应的地址线相连；</a:t>
            </a:r>
            <a:endParaRPr lang="zh-CN" altLang="en-US" sz="2600" dirty="0"/>
          </a:p>
          <a:p>
            <a:pPr>
              <a:lnSpc>
                <a:spcPct val="100000"/>
              </a:lnSpc>
            </a:pPr>
            <a:r>
              <a:rPr lang="zh-CN" altLang="en-US" sz="2600" dirty="0"/>
              <a:t>芯片的数据线全部并联，并与</a:t>
            </a:r>
            <a:r>
              <a:rPr lang="en-US" altLang="zh-CN" sz="2600" dirty="0"/>
              <a:t>CPU</a:t>
            </a:r>
            <a:r>
              <a:rPr lang="zh-CN" altLang="en-US" sz="2600" dirty="0"/>
              <a:t>数据总线中相应的数据线相连；</a:t>
            </a:r>
            <a:endParaRPr lang="zh-CN" altLang="en-US" sz="2600" dirty="0"/>
          </a:p>
          <a:p>
            <a:pPr>
              <a:lnSpc>
                <a:spcPct val="100000"/>
              </a:lnSpc>
            </a:pPr>
            <a:r>
              <a:rPr lang="zh-CN" altLang="en-US" sz="2600" dirty="0"/>
              <a:t>芯片的读</a:t>
            </a:r>
            <a:r>
              <a:rPr lang="en-US" altLang="zh-CN" sz="2600" dirty="0"/>
              <a:t>/</a:t>
            </a:r>
            <a:r>
              <a:rPr lang="zh-CN" altLang="en-US" sz="2600" dirty="0"/>
              <a:t>写控制信号线并联，接</a:t>
            </a:r>
            <a:r>
              <a:rPr lang="en-US" altLang="zh-CN" sz="2600" dirty="0"/>
              <a:t>CPU</a:t>
            </a:r>
            <a:r>
              <a:rPr lang="zh-CN" altLang="en-US" sz="2600" dirty="0"/>
              <a:t>控制总线中的读</a:t>
            </a:r>
            <a:r>
              <a:rPr lang="en-US" altLang="zh-CN" sz="2600" dirty="0"/>
              <a:t>/</a:t>
            </a:r>
            <a:r>
              <a:rPr lang="zh-CN" altLang="en-US" sz="2600" dirty="0"/>
              <a:t>写控制线；芯片的片选信号分别接高位地址线或地址译码器的输出端。</a:t>
            </a:r>
            <a:endParaRPr lang="en-US" altLang="zh-CN" sz="2600" dirty="0"/>
          </a:p>
          <a:p>
            <a:pPr lvl="1"/>
            <a:r>
              <a:rPr lang="zh-CN" altLang="en-US" sz="2600" dirty="0"/>
              <a:t>线选法</a:t>
            </a:r>
            <a:endParaRPr lang="zh-CN" altLang="en-US" sz="2600" dirty="0"/>
          </a:p>
          <a:p>
            <a:pPr lvl="1"/>
            <a:r>
              <a:rPr lang="zh-CN" altLang="en-US" sz="2600" dirty="0"/>
              <a:t>部分译码法</a:t>
            </a:r>
            <a:endParaRPr lang="zh-CN" altLang="en-US" sz="2600" dirty="0"/>
          </a:p>
          <a:p>
            <a:pPr lvl="1"/>
            <a:r>
              <a:rPr lang="zh-CN" altLang="en-US" sz="2600" dirty="0"/>
              <a:t>全译码法</a:t>
            </a:r>
            <a:endParaRPr lang="zh-CN" altLang="en-US" sz="2600"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线选法</a:t>
            </a:r>
            <a:endParaRPr lang="zh-CN" altLang="en-US" dirty="0"/>
          </a:p>
        </p:txBody>
      </p:sp>
      <p:sp>
        <p:nvSpPr>
          <p:cNvPr id="3" name="内容占位符 2"/>
          <p:cNvSpPr>
            <a:spLocks noGrp="1"/>
          </p:cNvSpPr>
          <p:nvPr>
            <p:ph idx="1"/>
          </p:nvPr>
        </p:nvSpPr>
        <p:spPr/>
        <p:txBody>
          <a:bodyPr>
            <a:normAutofit/>
          </a:bodyPr>
          <a:lstStyle/>
          <a:p>
            <a:pPr marL="0" indent="0">
              <a:buNone/>
            </a:pPr>
            <a:r>
              <a:rPr lang="zh-CN" altLang="en-US" dirty="0"/>
              <a:t>     线选法是指利用地址总线的高位地址线直接作为存储器芯片的片选信号，低位地址线和存储器的地址线相连。</a:t>
            </a:r>
            <a:endParaRPr lang="zh-CN" altLang="en-US" dirty="0"/>
          </a:p>
          <a:p>
            <a:pPr marL="0" indent="0">
              <a:buNone/>
            </a:pPr>
            <a:r>
              <a:rPr lang="zh-CN" altLang="en-US" dirty="0"/>
              <a:t>     采用线选法需保证每次寻址时只能有一个片选信号有效。</a:t>
            </a:r>
            <a:endParaRPr lang="zh-CN" altLang="en-US" dirty="0"/>
          </a:p>
          <a:p>
            <a:pPr marL="0" indent="0">
              <a:buNone/>
            </a:pPr>
            <a:r>
              <a:rPr lang="zh-CN" altLang="en-US" dirty="0"/>
              <a:t>     优点：结构简单；</a:t>
            </a:r>
            <a:endParaRPr lang="zh-CN" altLang="en-US" dirty="0"/>
          </a:p>
          <a:p>
            <a:pPr marL="0" indent="0">
              <a:buNone/>
            </a:pPr>
            <a:r>
              <a:rPr lang="zh-CN" altLang="en-US" dirty="0"/>
              <a:t>     缺点：地址空间浪费大</a:t>
            </a:r>
            <a:r>
              <a:rPr lang="zh-CN" altLang="en-US" dirty="0" smtClean="0"/>
              <a:t>。当</a:t>
            </a:r>
            <a:r>
              <a:rPr lang="zh-CN" altLang="en-US" dirty="0"/>
              <a:t>通过线选的芯片增多时</a:t>
            </a:r>
            <a:r>
              <a:rPr lang="zh-CN" altLang="en-US" dirty="0" smtClean="0"/>
              <a:t>，可能</a:t>
            </a:r>
            <a:r>
              <a:rPr lang="zh-CN" altLang="en-US" dirty="0"/>
              <a:t>出现地址空间不连续的情况。</a:t>
            </a:r>
            <a:endParaRPr lang="zh-CN" altLang="en-US"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线选法</a:t>
            </a:r>
            <a:endParaRPr lang="zh-CN" altLang="en-US" dirty="0"/>
          </a:p>
        </p:txBody>
      </p:sp>
      <p:pic>
        <p:nvPicPr>
          <p:cNvPr id="4" name="Picture 3"/>
          <p:cNvPicPr>
            <a:picLocks noChangeAspect="1" noChangeArrowheads="1"/>
          </p:cNvPicPr>
          <p:nvPr/>
        </p:nvPicPr>
        <p:blipFill>
          <a:blip r:embed="rId1" cstate="print">
            <a:extLst>
              <a:ext uri="{28A0092B-C50C-407E-A947-70E740481C1C}">
                <a14:useLocalDpi xmlns:a14="http://schemas.microsoft.com/office/drawing/2010/main" val="0"/>
              </a:ext>
            </a:extLst>
          </a:blip>
          <a:srcRect b="6581"/>
          <a:stretch>
            <a:fillRect/>
          </a:stretch>
        </p:blipFill>
        <p:spPr bwMode="auto">
          <a:xfrm>
            <a:off x="2142653" y="1435642"/>
            <a:ext cx="8138904" cy="44420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文本框 5"/>
          <p:cNvSpPr txBox="1"/>
          <p:nvPr/>
        </p:nvSpPr>
        <p:spPr>
          <a:xfrm>
            <a:off x="2332027" y="5979839"/>
            <a:ext cx="7808566" cy="461665"/>
          </a:xfrm>
          <a:prstGeom prst="rect">
            <a:avLst/>
          </a:prstGeom>
          <a:noFill/>
        </p:spPr>
        <p:txBody>
          <a:bodyPr wrap="square">
            <a:spAutoFit/>
          </a:bodyPr>
          <a:lstStyle/>
          <a:p>
            <a:r>
              <a:rPr lang="en-US" altLang="zh-CN" sz="2400" b="0" i="0" u="none" strike="noStrike" baseline="0" dirty="0">
                <a:solidFill>
                  <a:srgbClr val="000000"/>
                </a:solidFill>
                <a:latin typeface="Times New Roman" panose="02020603050405020304" pitchFamily="18" charset="0"/>
              </a:rPr>
              <a:t>16</a:t>
            </a:r>
            <a:r>
              <a:rPr lang="zh-CN" altLang="en-US" sz="2400" b="0" i="0" u="none" strike="noStrike" baseline="0" dirty="0">
                <a:solidFill>
                  <a:srgbClr val="000000"/>
                </a:solidFill>
                <a:latin typeface="楷体" panose="02010609060101010101" pitchFamily="49" charset="-122"/>
                <a:ea typeface="楷体" panose="02010609060101010101" pitchFamily="49" charset="-122"/>
              </a:rPr>
              <a:t>位系统线选法字扩展</a:t>
            </a:r>
            <a:r>
              <a:rPr lang="zh-CN" altLang="en-US" sz="2400" b="0" i="0" u="none" strike="noStrike" baseline="0" dirty="0" smtClean="0">
                <a:solidFill>
                  <a:srgbClr val="000000"/>
                </a:solidFill>
                <a:latin typeface="楷体" panose="02010609060101010101" pitchFamily="49" charset="-122"/>
                <a:ea typeface="楷体" panose="02010609060101010101" pitchFamily="49" charset="-122"/>
              </a:rPr>
              <a:t>接线图（</a:t>
            </a:r>
            <a:r>
              <a:rPr lang="en-US" altLang="zh-CN" sz="2400" b="0" i="0" u="none" strike="noStrike" baseline="0" dirty="0" smtClean="0">
                <a:solidFill>
                  <a:srgbClr val="000000"/>
                </a:solidFill>
                <a:latin typeface="楷体" panose="02010609060101010101" pitchFamily="49" charset="-122"/>
                <a:ea typeface="楷体" panose="02010609060101010101" pitchFamily="49" charset="-122"/>
              </a:rPr>
              <a:t>6264</a:t>
            </a:r>
            <a:r>
              <a:rPr lang="zh-CN" altLang="en-US" sz="2400" b="0" i="0" u="none" strike="noStrike" baseline="0" dirty="0" smtClean="0">
                <a:solidFill>
                  <a:srgbClr val="000000"/>
                </a:solidFill>
                <a:latin typeface="楷体" panose="02010609060101010101" pitchFamily="49" charset="-122"/>
                <a:ea typeface="楷体" panose="02010609060101010101" pitchFamily="49" charset="-122"/>
              </a:rPr>
              <a:t>芯片，</a:t>
            </a:r>
            <a:r>
              <a:rPr lang="en-US" altLang="zh-CN" sz="2400" b="0" i="0" u="none" strike="noStrike" baseline="0" dirty="0" smtClean="0">
                <a:solidFill>
                  <a:srgbClr val="000000"/>
                </a:solidFill>
                <a:latin typeface="楷体" panose="02010609060101010101" pitchFamily="49" charset="-122"/>
                <a:ea typeface="楷体" panose="02010609060101010101" pitchFamily="49" charset="-122"/>
              </a:rPr>
              <a:t>8K*8</a:t>
            </a:r>
            <a:r>
              <a:rPr lang="zh-CN" altLang="en-US" sz="2400" b="0" i="0" u="none" strike="noStrike" baseline="0" dirty="0" smtClean="0">
                <a:solidFill>
                  <a:srgbClr val="000000"/>
                </a:solidFill>
                <a:latin typeface="楷体" panose="02010609060101010101" pitchFamily="49" charset="-122"/>
                <a:ea typeface="楷体" panose="02010609060101010101" pitchFamily="49" charset="-122"/>
              </a:rPr>
              <a:t>位，</a:t>
            </a:r>
            <a:r>
              <a:rPr lang="en-US" altLang="zh-CN" sz="2400" b="0" i="0" u="none" strike="noStrike" baseline="0" dirty="0" smtClean="0">
                <a:solidFill>
                  <a:srgbClr val="000000"/>
                </a:solidFill>
                <a:latin typeface="楷体" panose="02010609060101010101" pitchFamily="49" charset="-122"/>
                <a:ea typeface="楷体" panose="02010609060101010101" pitchFamily="49" charset="-122"/>
              </a:rPr>
              <a:t>SRAM)</a:t>
            </a:r>
            <a:endParaRPr lang="zh-CN" altLang="en-US" dirty="0"/>
          </a:p>
        </p:txBody>
      </p:sp>
      <p:sp>
        <p:nvSpPr>
          <p:cNvPr id="7" name="标注: 弯曲线形 6"/>
          <p:cNvSpPr/>
          <p:nvPr/>
        </p:nvSpPr>
        <p:spPr>
          <a:xfrm>
            <a:off x="600891" y="1136469"/>
            <a:ext cx="953589" cy="1097280"/>
          </a:xfrm>
          <a:prstGeom prst="borderCallout2">
            <a:avLst>
              <a:gd name="adj1" fmla="val 104465"/>
              <a:gd name="adj2" fmla="val 101256"/>
              <a:gd name="adj3" fmla="val 104465"/>
              <a:gd name="adj4" fmla="val 98402"/>
              <a:gd name="adj5" fmla="val 236310"/>
              <a:gd name="adj6" fmla="val 28621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偶片</a:t>
            </a:r>
            <a:endParaRPr lang="zh-CN" altLang="en-US"/>
          </a:p>
        </p:txBody>
      </p:sp>
      <p:sp>
        <p:nvSpPr>
          <p:cNvPr id="8" name="标注: 弯曲线形 7"/>
          <p:cNvSpPr/>
          <p:nvPr/>
        </p:nvSpPr>
        <p:spPr>
          <a:xfrm>
            <a:off x="10400211" y="1136469"/>
            <a:ext cx="953589" cy="1097280"/>
          </a:xfrm>
          <a:prstGeom prst="borderCallout2">
            <a:avLst>
              <a:gd name="adj1" fmla="val 104465"/>
              <a:gd name="adj2" fmla="val 101256"/>
              <a:gd name="adj3" fmla="val 104465"/>
              <a:gd name="adj4" fmla="val -228"/>
              <a:gd name="adj5" fmla="val 245834"/>
              <a:gd name="adj6" fmla="val -28776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偶片</a:t>
            </a:r>
            <a:endParaRPr lang="zh-CN" altLang="en-US"/>
          </a:p>
        </p:txBody>
      </p:sp>
      <p:sp>
        <p:nvSpPr>
          <p:cNvPr id="9" name="标注: 弯曲线形 8"/>
          <p:cNvSpPr/>
          <p:nvPr/>
        </p:nvSpPr>
        <p:spPr>
          <a:xfrm>
            <a:off x="600891" y="3656646"/>
            <a:ext cx="953589" cy="1097280"/>
          </a:xfrm>
          <a:prstGeom prst="borderCallout2">
            <a:avLst>
              <a:gd name="adj1" fmla="val 104465"/>
              <a:gd name="adj2" fmla="val 101256"/>
              <a:gd name="adj3" fmla="val 104465"/>
              <a:gd name="adj4" fmla="val 98402"/>
              <a:gd name="adj5" fmla="val 29167"/>
              <a:gd name="adj6" fmla="val 46703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奇片</a:t>
            </a:r>
            <a:endParaRPr lang="zh-CN" altLang="en-US" dirty="0"/>
          </a:p>
        </p:txBody>
      </p:sp>
      <p:sp>
        <p:nvSpPr>
          <p:cNvPr id="12" name="标注: 弯曲线形 11"/>
          <p:cNvSpPr/>
          <p:nvPr/>
        </p:nvSpPr>
        <p:spPr>
          <a:xfrm>
            <a:off x="10400211" y="3312952"/>
            <a:ext cx="953589" cy="1097280"/>
          </a:xfrm>
          <a:prstGeom prst="borderCallout2">
            <a:avLst>
              <a:gd name="adj1" fmla="val 47322"/>
              <a:gd name="adj2" fmla="val -114"/>
              <a:gd name="adj3" fmla="val 44941"/>
              <a:gd name="adj4" fmla="val 5251"/>
              <a:gd name="adj5" fmla="val 87501"/>
              <a:gd name="adj6" fmla="val -15077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奇片</a:t>
            </a:r>
            <a:endParaRPr lang="zh-CN" altLang="en-US"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dirty="0"/>
          </a:p>
        </p:txBody>
      </p:sp>
      <p:pic>
        <p:nvPicPr>
          <p:cNvPr id="4" name="Picture 3"/>
          <p:cNvPicPr>
            <a:picLocks noChangeAspect="1" noChangeArrowheads="1"/>
          </p:cNvPicPr>
          <p:nvPr/>
        </p:nvPicPr>
        <p:blipFill>
          <a:blip r:embed="rId1" cstate="print">
            <a:extLst>
              <a:ext uri="{28A0092B-C50C-407E-A947-70E740481C1C}">
                <a14:useLocalDpi xmlns:a14="http://schemas.microsoft.com/office/drawing/2010/main" val="0"/>
              </a:ext>
            </a:extLst>
          </a:blip>
          <a:srcRect t="9639"/>
          <a:stretch>
            <a:fillRect/>
          </a:stretch>
        </p:blipFill>
        <p:spPr bwMode="auto">
          <a:xfrm>
            <a:off x="1115649" y="1198203"/>
            <a:ext cx="9751695" cy="37251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文本框 5"/>
          <p:cNvSpPr txBox="1"/>
          <p:nvPr/>
        </p:nvSpPr>
        <p:spPr>
          <a:xfrm>
            <a:off x="3791495" y="5198132"/>
            <a:ext cx="6093822" cy="461665"/>
          </a:xfrm>
          <a:prstGeom prst="rect">
            <a:avLst/>
          </a:prstGeom>
          <a:noFill/>
        </p:spPr>
        <p:txBody>
          <a:bodyPr wrap="square">
            <a:spAutoFit/>
          </a:bodyPr>
          <a:lstStyle/>
          <a:p>
            <a:r>
              <a:rPr lang="zh-CN" altLang="en-US" sz="2400" b="0" i="0" u="none" strike="noStrike" baseline="0" dirty="0">
                <a:solidFill>
                  <a:srgbClr val="000000"/>
                </a:solidFill>
                <a:latin typeface="楷体" panose="02010609060101010101" pitchFamily="49" charset="-122"/>
                <a:ea typeface="楷体" panose="02010609060101010101" pitchFamily="49" charset="-122"/>
              </a:rPr>
              <a:t>存储器芯片的地址范围</a:t>
            </a:r>
            <a:r>
              <a:rPr lang="en-US" altLang="zh-CN" sz="2400" b="0" i="0" u="none" strike="noStrike" baseline="0" dirty="0">
                <a:solidFill>
                  <a:srgbClr val="000000"/>
                </a:solidFill>
                <a:latin typeface="Times New Roman" panose="02020603050405020304" pitchFamily="18" charset="0"/>
                <a:ea typeface="楷体" panose="02010609060101010101" pitchFamily="49" charset="-122"/>
              </a:rPr>
              <a:t>(</a:t>
            </a:r>
            <a:r>
              <a:rPr lang="zh-CN" altLang="en-US" sz="2400" b="0" i="0" u="none" strike="noStrike" baseline="0" dirty="0">
                <a:solidFill>
                  <a:srgbClr val="000000"/>
                </a:solidFill>
                <a:latin typeface="楷体" panose="02010609060101010101" pitchFamily="49" charset="-122"/>
                <a:ea typeface="楷体" panose="02010609060101010101" pitchFamily="49" charset="-122"/>
              </a:rPr>
              <a:t>线选法</a:t>
            </a:r>
            <a:r>
              <a:rPr lang="en-US" altLang="zh-CN" sz="2400" b="0" i="0" u="none" strike="noStrike" baseline="0" dirty="0">
                <a:solidFill>
                  <a:srgbClr val="000000"/>
                </a:solidFill>
                <a:latin typeface="Times New Roman" panose="02020603050405020304" pitchFamily="18" charset="0"/>
                <a:ea typeface="楷体" panose="02010609060101010101" pitchFamily="49" charset="-122"/>
              </a:rPr>
              <a:t>)</a:t>
            </a:r>
            <a:endParaRPr lang="zh-CN" altLang="en-US"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部分译码法</a:t>
            </a:r>
            <a:endParaRPr lang="zh-CN" altLang="en-US" dirty="0"/>
          </a:p>
        </p:txBody>
      </p:sp>
      <p:sp>
        <p:nvSpPr>
          <p:cNvPr id="3" name="内容占位符 2"/>
          <p:cNvSpPr>
            <a:spLocks noGrp="1"/>
          </p:cNvSpPr>
          <p:nvPr>
            <p:ph idx="1"/>
          </p:nvPr>
        </p:nvSpPr>
        <p:spPr/>
        <p:txBody>
          <a:bodyPr/>
          <a:lstStyle/>
          <a:p>
            <a:pPr marL="0" indent="0">
              <a:buNone/>
            </a:pPr>
            <a:r>
              <a:rPr lang="zh-CN" altLang="en-US" dirty="0"/>
              <a:t>    部分译码法是将高位地址线中的部分地址线进行译码，产生存储器的片选信号。</a:t>
            </a:r>
            <a:endParaRPr lang="zh-CN" altLang="en-US" dirty="0"/>
          </a:p>
          <a:p>
            <a:pPr marL="0" indent="0">
              <a:buNone/>
            </a:pPr>
            <a:r>
              <a:rPr lang="zh-CN" altLang="en-US" dirty="0"/>
              <a:t>    对被选中的芯片而言，未参与译码的高位地址线可以为</a:t>
            </a:r>
            <a:r>
              <a:rPr lang="en-US" altLang="zh-CN" dirty="0"/>
              <a:t>0</a:t>
            </a:r>
            <a:r>
              <a:rPr lang="zh-CN" altLang="en-US" dirty="0"/>
              <a:t>，也可以为</a:t>
            </a:r>
            <a:r>
              <a:rPr lang="en-US" altLang="zh-CN" dirty="0"/>
              <a:t>1</a:t>
            </a:r>
            <a:r>
              <a:rPr lang="zh-CN" altLang="en-US" dirty="0"/>
              <a:t>，则每个存储单元将对应多个地址。</a:t>
            </a:r>
            <a:endParaRPr lang="zh-CN" altLang="en-US" dirty="0"/>
          </a:p>
          <a:p>
            <a:pPr marL="0" indent="0">
              <a:buNone/>
            </a:pPr>
            <a:r>
              <a:rPr lang="zh-CN" altLang="en-US" dirty="0"/>
              <a:t>特点：采用部分译码法，可简化译码电路。但由于地址段可能</a:t>
            </a:r>
            <a:r>
              <a:rPr lang="zh-CN" altLang="en-US" dirty="0"/>
              <a:t>出现间隔，会造成系统地址空间资源的部分浪费。</a:t>
            </a:r>
            <a:endParaRPr lang="zh-CN" altLang="en-US"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74LS138 (3-8</a:t>
            </a:r>
            <a:r>
              <a:rPr lang="zh-CN" altLang="en-US" dirty="0"/>
              <a:t>译码器</a:t>
            </a:r>
            <a:r>
              <a:rPr lang="en-US" altLang="zh-CN" dirty="0"/>
              <a:t>)</a:t>
            </a:r>
            <a:endParaRPr lang="zh-CN" altLang="en-US" dirty="0"/>
          </a:p>
        </p:txBody>
      </p:sp>
      <p:pic>
        <p:nvPicPr>
          <p:cNvPr id="5" name="内容占位符 4"/>
          <p:cNvPicPr>
            <a:picLocks noGrp="1" noChangeAspect="1"/>
          </p:cNvPicPr>
          <p:nvPr>
            <p:ph idx="1"/>
          </p:nvPr>
        </p:nvPicPr>
        <p:blipFill>
          <a:blip r:embed="rId1" cstate="print"/>
          <a:stretch>
            <a:fillRect/>
          </a:stretch>
        </p:blipFill>
        <p:spPr>
          <a:xfrm>
            <a:off x="2614941" y="1690687"/>
            <a:ext cx="7404270" cy="4580877"/>
          </a:xfrm>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部分译码法</a:t>
            </a:r>
            <a:endParaRPr lang="zh-CN" altLang="en-US" dirty="0"/>
          </a:p>
        </p:txBody>
      </p:sp>
      <p:pic>
        <p:nvPicPr>
          <p:cNvPr id="4" name="Picture 3"/>
          <p:cNvPicPr>
            <a:picLocks noChangeAspect="1" noChangeArrowheads="1"/>
          </p:cNvPicPr>
          <p:nvPr/>
        </p:nvPicPr>
        <p:blipFill>
          <a:blip r:embed="rId1" cstate="print">
            <a:extLst>
              <a:ext uri="{28A0092B-C50C-407E-A947-70E740481C1C}">
                <a14:useLocalDpi xmlns:a14="http://schemas.microsoft.com/office/drawing/2010/main" val="0"/>
              </a:ext>
            </a:extLst>
          </a:blip>
          <a:srcRect b="6226"/>
          <a:stretch>
            <a:fillRect/>
          </a:stretch>
        </p:blipFill>
        <p:spPr bwMode="auto">
          <a:xfrm>
            <a:off x="2021341" y="1542301"/>
            <a:ext cx="8115436" cy="4513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文本框 5"/>
          <p:cNvSpPr txBox="1"/>
          <p:nvPr/>
        </p:nvSpPr>
        <p:spPr>
          <a:xfrm>
            <a:off x="1828801" y="6133569"/>
            <a:ext cx="8815226" cy="461665"/>
          </a:xfrm>
          <a:prstGeom prst="rect">
            <a:avLst/>
          </a:prstGeom>
          <a:noFill/>
        </p:spPr>
        <p:txBody>
          <a:bodyPr wrap="square">
            <a:spAutoFit/>
          </a:bodyPr>
          <a:lstStyle/>
          <a:p>
            <a:r>
              <a:rPr lang="en-US" altLang="zh-CN" sz="2400" b="0" i="0" u="none" strike="noStrike" baseline="0" dirty="0">
                <a:solidFill>
                  <a:srgbClr val="000000"/>
                </a:solidFill>
                <a:latin typeface="Times New Roman" panose="02020603050405020304" pitchFamily="18" charset="0"/>
              </a:rPr>
              <a:t>16</a:t>
            </a:r>
            <a:r>
              <a:rPr lang="zh-CN" altLang="en-US" sz="2400" b="0" i="0" u="none" strike="noStrike" baseline="0" dirty="0">
                <a:solidFill>
                  <a:srgbClr val="000000"/>
                </a:solidFill>
                <a:latin typeface="楷体" panose="02010609060101010101" pitchFamily="49" charset="-122"/>
                <a:ea typeface="楷体" panose="02010609060101010101" pitchFamily="49" charset="-122"/>
              </a:rPr>
              <a:t>位系统部分译码法字扩展连接</a:t>
            </a:r>
            <a:r>
              <a:rPr lang="zh-CN" altLang="en-US" sz="2400" b="0" i="0" u="none" strike="noStrike" baseline="0" dirty="0" smtClean="0">
                <a:solidFill>
                  <a:srgbClr val="000000"/>
                </a:solidFill>
                <a:latin typeface="楷体" panose="02010609060101010101" pitchFamily="49" charset="-122"/>
                <a:ea typeface="楷体" panose="02010609060101010101" pitchFamily="49" charset="-122"/>
              </a:rPr>
              <a:t>图</a:t>
            </a:r>
            <a:r>
              <a:rPr lang="en-US" altLang="zh-CN" sz="2400" b="0" i="0" u="none" strike="noStrike" baseline="0" dirty="0" smtClean="0">
                <a:solidFill>
                  <a:srgbClr val="000000"/>
                </a:solidFill>
                <a:latin typeface="楷体" panose="02010609060101010101" pitchFamily="49" charset="-122"/>
                <a:ea typeface="楷体" panose="02010609060101010101" pitchFamily="49" charset="-122"/>
              </a:rPr>
              <a:t>(2732</a:t>
            </a:r>
            <a:r>
              <a:rPr lang="zh-CN" altLang="en-US" sz="2400" b="0" i="0" u="none" strike="noStrike" baseline="0" dirty="0" smtClean="0">
                <a:solidFill>
                  <a:srgbClr val="000000"/>
                </a:solidFill>
                <a:latin typeface="楷体" panose="02010609060101010101" pitchFamily="49" charset="-122"/>
                <a:ea typeface="楷体" panose="02010609060101010101" pitchFamily="49" charset="-122"/>
              </a:rPr>
              <a:t>芯片，</a:t>
            </a:r>
            <a:r>
              <a:rPr lang="en-US" altLang="zh-CN" sz="2400" b="0" i="0" u="none" strike="noStrike" baseline="0" dirty="0" smtClean="0">
                <a:solidFill>
                  <a:srgbClr val="000000"/>
                </a:solidFill>
                <a:latin typeface="楷体" panose="02010609060101010101" pitchFamily="49" charset="-122"/>
                <a:ea typeface="楷体" panose="02010609060101010101" pitchFamily="49" charset="-122"/>
              </a:rPr>
              <a:t>4K*8</a:t>
            </a:r>
            <a:r>
              <a:rPr lang="zh-CN" altLang="en-US" sz="2400" b="0" i="0" u="none" strike="noStrike" baseline="0" dirty="0" smtClean="0">
                <a:solidFill>
                  <a:srgbClr val="000000"/>
                </a:solidFill>
                <a:latin typeface="楷体" panose="02010609060101010101" pitchFamily="49" charset="-122"/>
                <a:ea typeface="楷体" panose="02010609060101010101" pitchFamily="49" charset="-122"/>
              </a:rPr>
              <a:t>位，</a:t>
            </a:r>
            <a:r>
              <a:rPr lang="en-US" altLang="zh-CN" sz="2400" b="0" i="0" u="none" strike="noStrike" baseline="0" dirty="0" smtClean="0">
                <a:solidFill>
                  <a:srgbClr val="000000"/>
                </a:solidFill>
                <a:latin typeface="楷体" panose="02010609060101010101" pitchFamily="49" charset="-122"/>
                <a:ea typeface="楷体" panose="02010609060101010101" pitchFamily="49" charset="-122"/>
              </a:rPr>
              <a:t>EPROM)</a:t>
            </a:r>
            <a:endParaRPr lang="zh-CN" altLang="en-US" dirty="0"/>
          </a:p>
        </p:txBody>
      </p:sp>
      <p:sp>
        <p:nvSpPr>
          <p:cNvPr id="7" name="标注: 弯曲线形 6"/>
          <p:cNvSpPr/>
          <p:nvPr/>
        </p:nvSpPr>
        <p:spPr>
          <a:xfrm>
            <a:off x="804318" y="1881052"/>
            <a:ext cx="953589" cy="1097280"/>
          </a:xfrm>
          <a:prstGeom prst="borderCallout2">
            <a:avLst>
              <a:gd name="adj1" fmla="val 104465"/>
              <a:gd name="adj2" fmla="val 101256"/>
              <a:gd name="adj3" fmla="val 104465"/>
              <a:gd name="adj4" fmla="val 98402"/>
              <a:gd name="adj5" fmla="val 236310"/>
              <a:gd name="adj6" fmla="val 28621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偶片</a:t>
            </a:r>
            <a:endParaRPr lang="zh-CN" altLang="en-US"/>
          </a:p>
        </p:txBody>
      </p:sp>
      <p:sp>
        <p:nvSpPr>
          <p:cNvPr id="8" name="标注: 弯曲线形 7"/>
          <p:cNvSpPr/>
          <p:nvPr/>
        </p:nvSpPr>
        <p:spPr>
          <a:xfrm>
            <a:off x="1003390" y="4479606"/>
            <a:ext cx="953589" cy="1097280"/>
          </a:xfrm>
          <a:prstGeom prst="borderCallout2">
            <a:avLst>
              <a:gd name="adj1" fmla="val 104465"/>
              <a:gd name="adj2" fmla="val 101256"/>
              <a:gd name="adj3" fmla="val 104465"/>
              <a:gd name="adj4" fmla="val 98402"/>
              <a:gd name="adj5" fmla="val 29167"/>
              <a:gd name="adj6" fmla="val 46703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奇片</a:t>
            </a:r>
            <a:endParaRPr lang="zh-CN" altLang="en-US" dirty="0"/>
          </a:p>
        </p:txBody>
      </p:sp>
      <p:sp>
        <p:nvSpPr>
          <p:cNvPr id="9" name="标注: 弯曲线形 8"/>
          <p:cNvSpPr/>
          <p:nvPr/>
        </p:nvSpPr>
        <p:spPr>
          <a:xfrm>
            <a:off x="10400211" y="1439227"/>
            <a:ext cx="953589" cy="1097280"/>
          </a:xfrm>
          <a:prstGeom prst="borderCallout2">
            <a:avLst>
              <a:gd name="adj1" fmla="val 104465"/>
              <a:gd name="adj2" fmla="val 101256"/>
              <a:gd name="adj3" fmla="val 104465"/>
              <a:gd name="adj4" fmla="val -228"/>
              <a:gd name="adj5" fmla="val 245834"/>
              <a:gd name="adj6" fmla="val -28776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偶片</a:t>
            </a:r>
            <a:endParaRPr lang="zh-CN" altLang="en-US"/>
          </a:p>
        </p:txBody>
      </p:sp>
      <p:sp>
        <p:nvSpPr>
          <p:cNvPr id="10" name="标注: 弯曲线形 9"/>
          <p:cNvSpPr/>
          <p:nvPr/>
        </p:nvSpPr>
        <p:spPr>
          <a:xfrm>
            <a:off x="10400211" y="3772854"/>
            <a:ext cx="953589" cy="1097280"/>
          </a:xfrm>
          <a:prstGeom prst="borderCallout2">
            <a:avLst>
              <a:gd name="adj1" fmla="val 47322"/>
              <a:gd name="adj2" fmla="val -114"/>
              <a:gd name="adj3" fmla="val 44941"/>
              <a:gd name="adj4" fmla="val 5251"/>
              <a:gd name="adj5" fmla="val 87501"/>
              <a:gd name="adj6" fmla="val -15077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奇片</a:t>
            </a:r>
            <a:endParaRPr lang="zh-CN" altLang="en-US"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部分译码法</a:t>
            </a:r>
            <a:endParaRPr lang="zh-CN" altLang="en-US" dirty="0"/>
          </a:p>
        </p:txBody>
      </p:sp>
      <p:pic>
        <p:nvPicPr>
          <p:cNvPr id="4" name="Picture 3"/>
          <p:cNvPicPr>
            <a:picLocks noChangeAspect="1" noChangeArrowheads="1"/>
          </p:cNvPicPr>
          <p:nvPr/>
        </p:nvPicPr>
        <p:blipFill>
          <a:blip r:embed="rId1" cstate="print">
            <a:extLst>
              <a:ext uri="{28A0092B-C50C-407E-A947-70E740481C1C}">
                <a14:useLocalDpi xmlns:a14="http://schemas.microsoft.com/office/drawing/2010/main" val="0"/>
              </a:ext>
            </a:extLst>
          </a:blip>
          <a:srcRect t="12166"/>
          <a:stretch>
            <a:fillRect/>
          </a:stretch>
        </p:blipFill>
        <p:spPr bwMode="auto">
          <a:xfrm>
            <a:off x="1311909" y="1752247"/>
            <a:ext cx="9830707" cy="28918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文本框 5"/>
          <p:cNvSpPr txBox="1"/>
          <p:nvPr/>
        </p:nvSpPr>
        <p:spPr>
          <a:xfrm>
            <a:off x="3582489" y="5026968"/>
            <a:ext cx="6093822" cy="461665"/>
          </a:xfrm>
          <a:prstGeom prst="rect">
            <a:avLst/>
          </a:prstGeom>
          <a:noFill/>
        </p:spPr>
        <p:txBody>
          <a:bodyPr wrap="square">
            <a:spAutoFit/>
          </a:bodyPr>
          <a:lstStyle/>
          <a:p>
            <a:r>
              <a:rPr lang="zh-CN" altLang="en-US" sz="2400" b="0" i="0" u="none" strike="noStrike" baseline="0" dirty="0">
                <a:solidFill>
                  <a:srgbClr val="000000"/>
                </a:solidFill>
                <a:latin typeface="楷体" panose="02010609060101010101" pitchFamily="49" charset="-122"/>
                <a:ea typeface="楷体" panose="02010609060101010101" pitchFamily="49" charset="-122"/>
              </a:rPr>
              <a:t>存储器芯片的地址范围</a:t>
            </a:r>
            <a:r>
              <a:rPr lang="en-US" altLang="zh-CN" sz="2400" b="0" i="0" u="none" strike="noStrike" baseline="0" dirty="0">
                <a:solidFill>
                  <a:srgbClr val="000000"/>
                </a:solidFill>
                <a:latin typeface="Times New Roman" panose="02020603050405020304" pitchFamily="18" charset="0"/>
                <a:ea typeface="楷体" panose="02010609060101010101" pitchFamily="49" charset="-122"/>
              </a:rPr>
              <a:t>(</a:t>
            </a:r>
            <a:r>
              <a:rPr lang="zh-CN" altLang="en-US" sz="2400" b="0" i="0" u="none" strike="noStrike" baseline="0" dirty="0">
                <a:solidFill>
                  <a:srgbClr val="000000"/>
                </a:solidFill>
                <a:latin typeface="楷体" panose="02010609060101010101" pitchFamily="49" charset="-122"/>
                <a:ea typeface="楷体" panose="02010609060101010101" pitchFamily="49" charset="-122"/>
              </a:rPr>
              <a:t>部分译码法</a:t>
            </a:r>
            <a:r>
              <a:rPr lang="en-US" altLang="zh-CN" sz="2400" b="0" i="0" u="none" strike="noStrike" baseline="0" dirty="0">
                <a:solidFill>
                  <a:srgbClr val="000000"/>
                </a:solidFill>
                <a:latin typeface="Times New Roman" panose="02020603050405020304" pitchFamily="18" charset="0"/>
                <a:ea typeface="楷体" panose="02010609060101010101" pitchFamily="49" charset="-122"/>
              </a:rPr>
              <a:t>)</a:t>
            </a:r>
            <a:endParaRPr lang="zh-CN" altLang="en-US"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全译码法</a:t>
            </a:r>
            <a:endParaRPr lang="zh-CN" altLang="en-US" dirty="0"/>
          </a:p>
        </p:txBody>
      </p:sp>
      <p:sp>
        <p:nvSpPr>
          <p:cNvPr id="3" name="内容占位符 2"/>
          <p:cNvSpPr>
            <a:spLocks noGrp="1"/>
          </p:cNvSpPr>
          <p:nvPr>
            <p:ph idx="1"/>
          </p:nvPr>
        </p:nvSpPr>
        <p:spPr/>
        <p:txBody>
          <a:bodyPr/>
          <a:lstStyle/>
          <a:p>
            <a:pPr marL="0" indent="0">
              <a:buNone/>
            </a:pPr>
            <a:r>
              <a:rPr lang="zh-CN" altLang="en-US" dirty="0"/>
              <a:t>    全译码法是指将地址总线中除片内地址以外的全部剩余高位地址参与译码，产生各存储芯片的片选信号。</a:t>
            </a:r>
            <a:endParaRPr lang="zh-CN" altLang="en-US" dirty="0"/>
          </a:p>
          <a:p>
            <a:pPr marL="0" indent="0">
              <a:buNone/>
            </a:pPr>
            <a:r>
              <a:rPr lang="zh-CN" altLang="en-US" dirty="0"/>
              <a:t>    采用全译码法，每个存储单元的地址是唯一的，不存在地址重叠问题。</a:t>
            </a:r>
            <a:endParaRPr lang="zh-CN" altLang="en-US"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56564" y="1"/>
            <a:ext cx="10066843" cy="914400"/>
          </a:xfrm>
        </p:spPr>
        <p:txBody>
          <a:bodyPr/>
          <a:lstStyle/>
          <a:p>
            <a:r>
              <a:rPr lang="zh-CN" altLang="en-US" dirty="0"/>
              <a:t>全译码法</a:t>
            </a:r>
            <a:endParaRPr lang="zh-CN" altLang="en-US" dirty="0"/>
          </a:p>
        </p:txBody>
      </p:sp>
      <p:pic>
        <p:nvPicPr>
          <p:cNvPr id="4" name="Picture 3"/>
          <p:cNvPicPr>
            <a:picLocks noChangeAspect="1" noChangeArrowheads="1"/>
          </p:cNvPicPr>
          <p:nvPr/>
        </p:nvPicPr>
        <p:blipFill>
          <a:blip r:embed="rId1" cstate="print">
            <a:extLst>
              <a:ext uri="{28A0092B-C50C-407E-A947-70E740481C1C}">
                <a14:useLocalDpi xmlns:a14="http://schemas.microsoft.com/office/drawing/2010/main" val="0"/>
              </a:ext>
            </a:extLst>
          </a:blip>
          <a:srcRect b="5898"/>
          <a:stretch>
            <a:fillRect/>
          </a:stretch>
        </p:blipFill>
        <p:spPr bwMode="auto">
          <a:xfrm>
            <a:off x="1422762" y="994857"/>
            <a:ext cx="9973119" cy="5058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文本框 5"/>
          <p:cNvSpPr txBox="1"/>
          <p:nvPr/>
        </p:nvSpPr>
        <p:spPr>
          <a:xfrm>
            <a:off x="2486347" y="5997076"/>
            <a:ext cx="8733033" cy="461665"/>
          </a:xfrm>
          <a:prstGeom prst="rect">
            <a:avLst/>
          </a:prstGeom>
          <a:noFill/>
        </p:spPr>
        <p:txBody>
          <a:bodyPr wrap="square">
            <a:spAutoFit/>
          </a:bodyPr>
          <a:lstStyle/>
          <a:p>
            <a:r>
              <a:rPr lang="en-US" altLang="zh-CN" sz="2400" b="0" i="0" u="none" strike="noStrike" baseline="0" dirty="0">
                <a:solidFill>
                  <a:srgbClr val="000000"/>
                </a:solidFill>
                <a:latin typeface="Times New Roman" panose="02020603050405020304" pitchFamily="18" charset="0"/>
              </a:rPr>
              <a:t>16</a:t>
            </a:r>
            <a:r>
              <a:rPr lang="zh-CN" altLang="en-US" sz="2400" b="0" i="0" u="none" strike="noStrike" baseline="0" dirty="0">
                <a:solidFill>
                  <a:srgbClr val="000000"/>
                </a:solidFill>
                <a:latin typeface="楷体" panose="02010609060101010101" pitchFamily="49" charset="-122"/>
                <a:ea typeface="楷体" panose="02010609060101010101" pitchFamily="49" charset="-122"/>
              </a:rPr>
              <a:t>位系统全译码法字扩展</a:t>
            </a:r>
            <a:r>
              <a:rPr lang="zh-CN" altLang="en-US" sz="2400" b="0" i="0" u="none" strike="noStrike" baseline="0" dirty="0" smtClean="0">
                <a:solidFill>
                  <a:srgbClr val="000000"/>
                </a:solidFill>
                <a:latin typeface="楷体" panose="02010609060101010101" pitchFamily="49" charset="-122"/>
                <a:ea typeface="楷体" panose="02010609060101010101" pitchFamily="49" charset="-122"/>
              </a:rPr>
              <a:t>接线图</a:t>
            </a:r>
            <a:r>
              <a:rPr lang="en-US" altLang="zh-CN" sz="2400" b="0" i="0" u="none" strike="noStrike" baseline="0" dirty="0" smtClean="0">
                <a:solidFill>
                  <a:srgbClr val="000000"/>
                </a:solidFill>
                <a:latin typeface="楷体" panose="02010609060101010101" pitchFamily="49" charset="-122"/>
                <a:ea typeface="楷体" panose="02010609060101010101" pitchFamily="49" charset="-122"/>
              </a:rPr>
              <a:t>(62512</a:t>
            </a:r>
            <a:r>
              <a:rPr lang="zh-CN" altLang="en-US" sz="2400" b="0" i="0" u="none" strike="noStrike" baseline="0" dirty="0" smtClean="0">
                <a:solidFill>
                  <a:srgbClr val="000000"/>
                </a:solidFill>
                <a:latin typeface="楷体" panose="02010609060101010101" pitchFamily="49" charset="-122"/>
                <a:ea typeface="楷体" panose="02010609060101010101" pitchFamily="49" charset="-122"/>
              </a:rPr>
              <a:t>芯片，</a:t>
            </a:r>
            <a:r>
              <a:rPr lang="en-US" altLang="zh-CN" sz="2400" b="0" i="0" u="none" strike="noStrike" baseline="0" dirty="0" smtClean="0">
                <a:solidFill>
                  <a:srgbClr val="000000"/>
                </a:solidFill>
                <a:latin typeface="楷体" panose="02010609060101010101" pitchFamily="49" charset="-122"/>
                <a:ea typeface="楷体" panose="02010609060101010101" pitchFamily="49" charset="-122"/>
              </a:rPr>
              <a:t>64K*8</a:t>
            </a:r>
            <a:r>
              <a:rPr lang="zh-CN" altLang="en-US" sz="2400" b="0" i="0" u="none" strike="noStrike" baseline="0" dirty="0" smtClean="0">
                <a:solidFill>
                  <a:srgbClr val="000000"/>
                </a:solidFill>
                <a:latin typeface="楷体" panose="02010609060101010101" pitchFamily="49" charset="-122"/>
                <a:ea typeface="楷体" panose="02010609060101010101" pitchFamily="49" charset="-122"/>
              </a:rPr>
              <a:t>位，</a:t>
            </a:r>
            <a:r>
              <a:rPr lang="en-US" altLang="zh-CN" sz="2400" b="0" i="0" u="none" strike="noStrike" baseline="0" dirty="0" smtClean="0">
                <a:solidFill>
                  <a:srgbClr val="000000"/>
                </a:solidFill>
                <a:latin typeface="楷体" panose="02010609060101010101" pitchFamily="49" charset="-122"/>
                <a:ea typeface="楷体" panose="02010609060101010101" pitchFamily="49" charset="-122"/>
              </a:rPr>
              <a:t>SRAM)</a:t>
            </a:r>
            <a:endParaRPr lang="zh-CN" altLang="en-US" dirty="0"/>
          </a:p>
        </p:txBody>
      </p:sp>
      <p:sp>
        <p:nvSpPr>
          <p:cNvPr id="8" name="文本框 7"/>
          <p:cNvSpPr txBox="1"/>
          <p:nvPr/>
        </p:nvSpPr>
        <p:spPr>
          <a:xfrm>
            <a:off x="9617934" y="1325563"/>
            <a:ext cx="3035003" cy="707886"/>
          </a:xfrm>
          <a:prstGeom prst="rect">
            <a:avLst/>
          </a:prstGeom>
          <a:noFill/>
        </p:spPr>
        <p:txBody>
          <a:bodyPr wrap="square">
            <a:spAutoFit/>
          </a:bodyPr>
          <a:lstStyle/>
          <a:p>
            <a:r>
              <a:rPr lang="zh-CN" altLang="en-US" sz="2000" b="0" i="0" u="none" strike="noStrike" baseline="0" dirty="0">
                <a:solidFill>
                  <a:srgbClr val="7030A0"/>
                </a:solidFill>
                <a:latin typeface="新宋体" panose="02010609030101010101" charset="-122"/>
                <a:ea typeface="新宋体" panose="02010609030101010101" charset="-122"/>
              </a:rPr>
              <a:t>偶片：</a:t>
            </a:r>
            <a:r>
              <a:rPr lang="en-US" altLang="zh-CN" sz="2000" b="1" i="0" u="none" strike="noStrike" baseline="0" dirty="0">
                <a:solidFill>
                  <a:srgbClr val="7030A0"/>
                </a:solidFill>
                <a:latin typeface="Times New Roman" panose="02020603050405020304" pitchFamily="18" charset="0"/>
                <a:ea typeface="新宋体" panose="02010609030101010101" charset="-122"/>
              </a:rPr>
              <a:t>1</a:t>
            </a:r>
            <a:r>
              <a:rPr lang="zh-CN" altLang="en-US" sz="2000" b="0" i="0" u="none" strike="noStrike" baseline="0" dirty="0">
                <a:solidFill>
                  <a:srgbClr val="7030A0"/>
                </a:solidFill>
                <a:latin typeface="新宋体" panose="02010609030101010101" charset="-122"/>
                <a:ea typeface="新宋体" panose="02010609030101010101" charset="-122"/>
              </a:rPr>
              <a:t>、</a:t>
            </a:r>
            <a:r>
              <a:rPr lang="en-US" altLang="zh-CN" sz="2000" b="1" i="0" u="none" strike="noStrike" baseline="0" dirty="0">
                <a:solidFill>
                  <a:srgbClr val="7030A0"/>
                </a:solidFill>
                <a:latin typeface="Times New Roman" panose="02020603050405020304" pitchFamily="18" charset="0"/>
                <a:ea typeface="新宋体" panose="02010609030101010101" charset="-122"/>
              </a:rPr>
              <a:t>3</a:t>
            </a:r>
            <a:r>
              <a:rPr lang="zh-CN" altLang="en-US" sz="2000" b="0" i="0" u="none" strike="noStrike" baseline="0" dirty="0">
                <a:solidFill>
                  <a:srgbClr val="7030A0"/>
                </a:solidFill>
                <a:latin typeface="新宋体" panose="02010609030101010101" charset="-122"/>
                <a:ea typeface="新宋体" panose="02010609030101010101" charset="-122"/>
              </a:rPr>
              <a:t>、</a:t>
            </a:r>
            <a:r>
              <a:rPr lang="en-US" altLang="zh-CN" sz="2000" b="1" i="0" u="none" strike="noStrike" baseline="0" dirty="0">
                <a:solidFill>
                  <a:srgbClr val="7030A0"/>
                </a:solidFill>
                <a:latin typeface="Times New Roman" panose="02020603050405020304" pitchFamily="18" charset="0"/>
                <a:ea typeface="新宋体" panose="02010609030101010101" charset="-122"/>
              </a:rPr>
              <a:t>5</a:t>
            </a:r>
            <a:endParaRPr lang="zh-CN" altLang="en-US" sz="2000" b="0" i="0" u="none" strike="noStrike" baseline="0" dirty="0">
              <a:solidFill>
                <a:srgbClr val="7030A0"/>
              </a:solidFill>
              <a:latin typeface="Times New Roman" panose="02020603050405020304" pitchFamily="18" charset="0"/>
              <a:ea typeface="新宋体" panose="02010609030101010101" charset="-122"/>
            </a:endParaRPr>
          </a:p>
          <a:p>
            <a:r>
              <a:rPr lang="zh-CN" altLang="en-US" sz="2000" b="0" i="0" u="none" strike="noStrike" baseline="0" dirty="0">
                <a:solidFill>
                  <a:srgbClr val="7030A0"/>
                </a:solidFill>
                <a:latin typeface="新宋体" panose="02010609030101010101" charset="-122"/>
                <a:ea typeface="新宋体" panose="02010609030101010101" charset="-122"/>
              </a:rPr>
              <a:t>奇片：</a:t>
            </a:r>
            <a:r>
              <a:rPr lang="en-US" altLang="zh-CN" sz="2000" b="1" i="0" u="none" strike="noStrike" baseline="0" dirty="0">
                <a:solidFill>
                  <a:srgbClr val="7030A0"/>
                </a:solidFill>
                <a:latin typeface="Times New Roman" panose="02020603050405020304" pitchFamily="18" charset="0"/>
                <a:ea typeface="新宋体" panose="02010609030101010101" charset="-122"/>
              </a:rPr>
              <a:t>2</a:t>
            </a:r>
            <a:r>
              <a:rPr lang="zh-CN" altLang="en-US" sz="2000" b="0" i="0" u="none" strike="noStrike" baseline="0" dirty="0">
                <a:solidFill>
                  <a:srgbClr val="7030A0"/>
                </a:solidFill>
                <a:latin typeface="新宋体" panose="02010609030101010101" charset="-122"/>
                <a:ea typeface="新宋体" panose="02010609030101010101" charset="-122"/>
              </a:rPr>
              <a:t>、</a:t>
            </a:r>
            <a:r>
              <a:rPr lang="en-US" altLang="zh-CN" sz="2000" b="1" i="0" u="none" strike="noStrike" baseline="0" dirty="0">
                <a:solidFill>
                  <a:srgbClr val="7030A0"/>
                </a:solidFill>
                <a:latin typeface="Times New Roman" panose="02020603050405020304" pitchFamily="18" charset="0"/>
                <a:ea typeface="新宋体" panose="02010609030101010101" charset="-122"/>
              </a:rPr>
              <a:t>4</a:t>
            </a:r>
            <a:r>
              <a:rPr lang="zh-CN" altLang="en-US" sz="2000" b="0" i="0" u="none" strike="noStrike" baseline="0" dirty="0">
                <a:solidFill>
                  <a:srgbClr val="7030A0"/>
                </a:solidFill>
                <a:latin typeface="新宋体" panose="02010609030101010101" charset="-122"/>
                <a:ea typeface="新宋体" panose="02010609030101010101" charset="-122"/>
              </a:rPr>
              <a:t>、</a:t>
            </a:r>
            <a:r>
              <a:rPr lang="en-US" altLang="zh-CN" sz="2000" b="1" i="0" u="none" strike="noStrike" baseline="0" dirty="0">
                <a:solidFill>
                  <a:srgbClr val="7030A0"/>
                </a:solidFill>
                <a:latin typeface="Times New Roman" panose="02020603050405020304" pitchFamily="18" charset="0"/>
                <a:ea typeface="新宋体" panose="02010609030101010101" charset="-122"/>
              </a:rPr>
              <a:t>6</a:t>
            </a:r>
            <a:endParaRPr lang="zh-CN" altLang="en-US" dirty="0">
              <a:solidFill>
                <a:srgbClr val="7030A0"/>
              </a:solidFill>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全译码法</a:t>
            </a:r>
            <a:endParaRPr lang="zh-CN" altLang="en-US" dirty="0"/>
          </a:p>
        </p:txBody>
      </p:sp>
      <p:pic>
        <p:nvPicPr>
          <p:cNvPr id="4" name="Picture 3"/>
          <p:cNvPicPr>
            <a:picLocks noChangeAspect="1" noChangeArrowheads="1"/>
          </p:cNvPicPr>
          <p:nvPr/>
        </p:nvPicPr>
        <p:blipFill>
          <a:blip r:embed="rId1" cstate="print">
            <a:extLst>
              <a:ext uri="{28A0092B-C50C-407E-A947-70E740481C1C}">
                <a14:useLocalDpi xmlns:a14="http://schemas.microsoft.com/office/drawing/2010/main" val="0"/>
              </a:ext>
            </a:extLst>
          </a:blip>
          <a:srcRect t="10005"/>
          <a:stretch>
            <a:fillRect/>
          </a:stretch>
        </p:blipFill>
        <p:spPr bwMode="auto">
          <a:xfrm>
            <a:off x="1279491" y="1542624"/>
            <a:ext cx="9388509" cy="36721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文本框 5"/>
          <p:cNvSpPr txBox="1"/>
          <p:nvPr/>
        </p:nvSpPr>
        <p:spPr>
          <a:xfrm>
            <a:off x="3579126" y="5494404"/>
            <a:ext cx="6093724" cy="461665"/>
          </a:xfrm>
          <a:prstGeom prst="rect">
            <a:avLst/>
          </a:prstGeom>
          <a:noFill/>
        </p:spPr>
        <p:txBody>
          <a:bodyPr wrap="square">
            <a:spAutoFit/>
          </a:bodyPr>
          <a:lstStyle/>
          <a:p>
            <a:r>
              <a:rPr lang="zh-CN" altLang="en-US" sz="2400" b="0" i="0" u="none" strike="noStrike" baseline="0" dirty="0">
                <a:solidFill>
                  <a:srgbClr val="000000"/>
                </a:solidFill>
                <a:latin typeface="楷体" panose="02010609060101010101" pitchFamily="49" charset="-122"/>
                <a:ea typeface="楷体" panose="02010609060101010101" pitchFamily="49" charset="-122"/>
              </a:rPr>
              <a:t>存储器芯片的地址范围</a:t>
            </a:r>
            <a:r>
              <a:rPr lang="en-US" altLang="zh-CN" sz="2400" b="0" i="0" u="none" strike="noStrike" baseline="0" dirty="0">
                <a:solidFill>
                  <a:srgbClr val="000000"/>
                </a:solidFill>
                <a:latin typeface="Times New Roman" panose="02020603050405020304" pitchFamily="18" charset="0"/>
                <a:ea typeface="楷体" panose="02010609060101010101" pitchFamily="49" charset="-122"/>
              </a:rPr>
              <a:t>(</a:t>
            </a:r>
            <a:r>
              <a:rPr lang="zh-CN" altLang="en-US" sz="2400" b="0" i="0" u="none" strike="noStrike" baseline="0" dirty="0">
                <a:solidFill>
                  <a:srgbClr val="000000"/>
                </a:solidFill>
                <a:latin typeface="楷体" panose="02010609060101010101" pitchFamily="49" charset="-122"/>
                <a:ea typeface="楷体" panose="02010609060101010101" pitchFamily="49" charset="-122"/>
              </a:rPr>
              <a:t>全译码法</a:t>
            </a:r>
            <a:r>
              <a:rPr lang="en-US" altLang="zh-CN" sz="2400" b="0" i="0" u="none" strike="noStrike" baseline="0" dirty="0">
                <a:solidFill>
                  <a:srgbClr val="000000"/>
                </a:solidFill>
                <a:latin typeface="Times New Roman" panose="02020603050405020304" pitchFamily="18" charset="0"/>
                <a:ea typeface="楷体" panose="02010609060101010101" pitchFamily="49" charset="-122"/>
              </a:rPr>
              <a:t>)</a:t>
            </a:r>
            <a:endParaRPr lang="zh-CN" altLang="en-US"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存储器容量的字位扩展</a:t>
            </a:r>
            <a:endParaRPr lang="zh-CN" altLang="en-US" dirty="0"/>
          </a:p>
        </p:txBody>
      </p:sp>
      <p:sp>
        <p:nvSpPr>
          <p:cNvPr id="3" name="内容占位符 2"/>
          <p:cNvSpPr>
            <a:spLocks noGrp="1"/>
          </p:cNvSpPr>
          <p:nvPr>
            <p:ph idx="1"/>
          </p:nvPr>
        </p:nvSpPr>
        <p:spPr/>
        <p:txBody>
          <a:bodyPr/>
          <a:lstStyle/>
          <a:p>
            <a:pPr marL="0" indent="0">
              <a:buNone/>
            </a:pPr>
            <a:r>
              <a:rPr lang="zh-CN" altLang="en-US" dirty="0"/>
              <a:t>    当存储芯片的存储字长</a:t>
            </a:r>
            <a:r>
              <a:rPr lang="en-US" altLang="zh-CN" dirty="0"/>
              <a:t>(</a:t>
            </a:r>
            <a:r>
              <a:rPr lang="zh-CN" altLang="en-US" dirty="0"/>
              <a:t>存储单元的位数</a:t>
            </a:r>
            <a:r>
              <a:rPr lang="en-US" altLang="zh-CN" dirty="0"/>
              <a:t>)</a:t>
            </a:r>
            <a:r>
              <a:rPr lang="zh-CN" altLang="en-US" dirty="0"/>
              <a:t>和存储字的数量都不满足需要时，则字和位都需要进行扩展，即进行字位扩展。</a:t>
            </a:r>
            <a:endParaRPr lang="zh-CN" altLang="en-US" dirty="0"/>
          </a:p>
          <a:p>
            <a:pPr marL="0" indent="0">
              <a:buNone/>
            </a:pPr>
            <a:r>
              <a:rPr lang="zh-CN" altLang="en-US" dirty="0"/>
              <a:t>    字位扩展是字扩展和位扩展的组合。字位全扩展时，先把存储芯片分组，然后可以采取组内位扩展、组间字扩展或者采取组内字扩展、组间位扩展两种方案。</a:t>
            </a:r>
            <a:endParaRPr lang="zh-CN" altLang="en-US"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29640" y="182245"/>
            <a:ext cx="10515600" cy="925625"/>
          </a:xfrm>
        </p:spPr>
        <p:txBody>
          <a:bodyPr/>
          <a:lstStyle/>
          <a:p>
            <a:r>
              <a:rPr lang="zh-CN" altLang="en-US" dirty="0"/>
              <a:t>存储器容量的字位扩展</a:t>
            </a:r>
            <a:endParaRPr lang="zh-CN" altLang="en-US" dirty="0"/>
          </a:p>
        </p:txBody>
      </p:sp>
      <p:pic>
        <p:nvPicPr>
          <p:cNvPr id="4" name="Picture 4"/>
          <p:cNvPicPr>
            <a:picLocks noChangeAspect="1" noChangeArrowheads="1"/>
          </p:cNvPicPr>
          <p:nvPr/>
        </p:nvPicPr>
        <p:blipFill>
          <a:blip r:embed="rId1" cstate="print">
            <a:extLst>
              <a:ext uri="{28A0092B-C50C-407E-A947-70E740481C1C}">
                <a14:useLocalDpi xmlns:a14="http://schemas.microsoft.com/office/drawing/2010/main" val="0"/>
              </a:ext>
            </a:extLst>
          </a:blip>
          <a:srcRect b="5052"/>
          <a:stretch>
            <a:fillRect/>
          </a:stretch>
        </p:blipFill>
        <p:spPr bwMode="auto">
          <a:xfrm>
            <a:off x="2200138" y="1226457"/>
            <a:ext cx="7557815" cy="48690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文本框 5"/>
          <p:cNvSpPr txBox="1"/>
          <p:nvPr/>
        </p:nvSpPr>
        <p:spPr>
          <a:xfrm>
            <a:off x="3310665" y="6214090"/>
            <a:ext cx="6891574" cy="461665"/>
          </a:xfrm>
          <a:prstGeom prst="rect">
            <a:avLst/>
          </a:prstGeom>
          <a:noFill/>
        </p:spPr>
        <p:txBody>
          <a:bodyPr wrap="square">
            <a:spAutoFit/>
          </a:bodyPr>
          <a:lstStyle/>
          <a:p>
            <a:r>
              <a:rPr lang="en-US" altLang="zh-CN" sz="2400" dirty="0" smtClean="0">
                <a:solidFill>
                  <a:srgbClr val="000000"/>
                </a:solidFill>
                <a:latin typeface="楷体" panose="02010609060101010101" pitchFamily="49" charset="-122"/>
                <a:ea typeface="楷体" panose="02010609060101010101" pitchFamily="49" charset="-122"/>
              </a:rPr>
              <a:t>8088</a:t>
            </a:r>
            <a:r>
              <a:rPr lang="zh-CN" altLang="en-US" sz="2400" dirty="0" smtClean="0">
                <a:solidFill>
                  <a:srgbClr val="000000"/>
                </a:solidFill>
                <a:latin typeface="楷体" panose="02010609060101010101" pitchFamily="49" charset="-122"/>
                <a:ea typeface="楷体" panose="02010609060101010101" pitchFamily="49" charset="-122"/>
              </a:rPr>
              <a:t>系统</a:t>
            </a:r>
            <a:r>
              <a:rPr lang="zh-CN" altLang="en-US" sz="2400" b="0" i="0" u="none" strike="noStrike" baseline="0" dirty="0" smtClean="0">
                <a:solidFill>
                  <a:srgbClr val="000000"/>
                </a:solidFill>
                <a:latin typeface="楷体" panose="02010609060101010101" pitchFamily="49" charset="-122"/>
                <a:ea typeface="楷体" panose="02010609060101010101" pitchFamily="49" charset="-122"/>
              </a:rPr>
              <a:t>字</a:t>
            </a:r>
            <a:r>
              <a:rPr lang="zh-CN" altLang="en-US" sz="2400" b="0" i="0" u="none" strike="noStrike" baseline="0" dirty="0">
                <a:solidFill>
                  <a:srgbClr val="000000"/>
                </a:solidFill>
                <a:latin typeface="楷体" panose="02010609060101010101" pitchFamily="49" charset="-122"/>
                <a:ea typeface="楷体" panose="02010609060101010101" pitchFamily="49" charset="-122"/>
              </a:rPr>
              <a:t>位扩展连接</a:t>
            </a:r>
            <a:r>
              <a:rPr lang="zh-CN" altLang="en-US" sz="2400" b="0" i="0" u="none" strike="noStrike" baseline="0" dirty="0" smtClean="0">
                <a:solidFill>
                  <a:srgbClr val="000000"/>
                </a:solidFill>
                <a:latin typeface="楷体" panose="02010609060101010101" pitchFamily="49" charset="-122"/>
                <a:ea typeface="楷体" panose="02010609060101010101" pitchFamily="49" charset="-122"/>
              </a:rPr>
              <a:t>图</a:t>
            </a:r>
            <a:r>
              <a:rPr lang="en-US" altLang="zh-CN" sz="2400" b="0" i="0" u="none" strike="noStrike" baseline="0" dirty="0" smtClean="0">
                <a:solidFill>
                  <a:srgbClr val="000000"/>
                </a:solidFill>
                <a:latin typeface="楷体" panose="02010609060101010101" pitchFamily="49" charset="-122"/>
                <a:ea typeface="楷体" panose="02010609060101010101" pitchFamily="49" charset="-122"/>
              </a:rPr>
              <a:t>(2114</a:t>
            </a:r>
            <a:r>
              <a:rPr lang="zh-CN" altLang="en-US" sz="2400" b="0" i="0" u="none" strike="noStrike" baseline="0" dirty="0" smtClean="0">
                <a:solidFill>
                  <a:srgbClr val="000000"/>
                </a:solidFill>
                <a:latin typeface="楷体" panose="02010609060101010101" pitchFamily="49" charset="-122"/>
                <a:ea typeface="楷体" panose="02010609060101010101" pitchFamily="49" charset="-122"/>
              </a:rPr>
              <a:t>芯片，</a:t>
            </a:r>
            <a:r>
              <a:rPr lang="en-US" altLang="zh-CN" sz="2400" dirty="0" smtClean="0">
                <a:solidFill>
                  <a:srgbClr val="000000"/>
                </a:solidFill>
                <a:latin typeface="楷体" panose="02010609060101010101" pitchFamily="49" charset="-122"/>
                <a:ea typeface="楷体" panose="02010609060101010101" pitchFamily="49" charset="-122"/>
              </a:rPr>
              <a:t>1K*4</a:t>
            </a:r>
            <a:r>
              <a:rPr lang="zh-CN" altLang="en-US" sz="2400" dirty="0" smtClean="0">
                <a:solidFill>
                  <a:srgbClr val="000000"/>
                </a:solidFill>
                <a:latin typeface="楷体" panose="02010609060101010101" pitchFamily="49" charset="-122"/>
                <a:ea typeface="楷体" panose="02010609060101010101" pitchFamily="49" charset="-122"/>
              </a:rPr>
              <a:t>位）</a:t>
            </a:r>
            <a:endParaRPr lang="zh-CN" altLang="en-US"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存储器容量的字位扩展</a:t>
            </a:r>
            <a:endParaRPr lang="zh-CN" altLang="en-US" dirty="0"/>
          </a:p>
        </p:txBody>
      </p:sp>
      <p:pic>
        <p:nvPicPr>
          <p:cNvPr id="4" name="Picture 3"/>
          <p:cNvPicPr>
            <a:picLocks noChangeAspect="1" noChangeArrowheads="1"/>
          </p:cNvPicPr>
          <p:nvPr/>
        </p:nvPicPr>
        <p:blipFill>
          <a:blip r:embed="rId1" cstate="print">
            <a:extLst>
              <a:ext uri="{28A0092B-C50C-407E-A947-70E740481C1C}">
                <a14:useLocalDpi xmlns:a14="http://schemas.microsoft.com/office/drawing/2010/main" val="0"/>
              </a:ext>
            </a:extLst>
          </a:blip>
          <a:srcRect t="7050"/>
          <a:stretch>
            <a:fillRect/>
          </a:stretch>
        </p:blipFill>
        <p:spPr bwMode="auto">
          <a:xfrm>
            <a:off x="2010500" y="1520871"/>
            <a:ext cx="8570414" cy="44799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文本框 5"/>
          <p:cNvSpPr txBox="1"/>
          <p:nvPr/>
        </p:nvSpPr>
        <p:spPr>
          <a:xfrm>
            <a:off x="4172994" y="6144476"/>
            <a:ext cx="6093822" cy="461665"/>
          </a:xfrm>
          <a:prstGeom prst="rect">
            <a:avLst/>
          </a:prstGeom>
          <a:noFill/>
        </p:spPr>
        <p:txBody>
          <a:bodyPr wrap="square">
            <a:spAutoFit/>
          </a:bodyPr>
          <a:lstStyle/>
          <a:p>
            <a:r>
              <a:rPr lang="zh-CN" altLang="en-US" sz="2400" b="0" i="0" u="none" strike="noStrike" baseline="0" dirty="0">
                <a:solidFill>
                  <a:srgbClr val="000000"/>
                </a:solidFill>
                <a:latin typeface="楷体" panose="02010609060101010101" pitchFamily="49" charset="-122"/>
                <a:ea typeface="楷体" panose="02010609060101010101" pitchFamily="49" charset="-122"/>
              </a:rPr>
              <a:t>芯片的地址范围</a:t>
            </a:r>
            <a:r>
              <a:rPr lang="en-US" altLang="zh-CN" sz="2400" b="0" i="0" u="none" strike="noStrike" baseline="0" dirty="0">
                <a:solidFill>
                  <a:srgbClr val="000000"/>
                </a:solidFill>
                <a:latin typeface="Times New Roman" panose="02020603050405020304" pitchFamily="18" charset="0"/>
                <a:ea typeface="楷体" panose="02010609060101010101" pitchFamily="49" charset="-122"/>
              </a:rPr>
              <a:t>(</a:t>
            </a:r>
            <a:r>
              <a:rPr lang="zh-CN" altLang="en-US" sz="2400" b="0" i="0" u="none" strike="noStrike" baseline="0" dirty="0">
                <a:solidFill>
                  <a:srgbClr val="000000"/>
                </a:solidFill>
                <a:latin typeface="楷体" panose="02010609060101010101" pitchFamily="49" charset="-122"/>
                <a:ea typeface="楷体" panose="02010609060101010101" pitchFamily="49" charset="-122"/>
              </a:rPr>
              <a:t>字位扩展</a:t>
            </a:r>
            <a:r>
              <a:rPr lang="en-US" altLang="zh-CN" sz="2400" b="0" i="0" u="none" strike="noStrike" baseline="0" dirty="0">
                <a:solidFill>
                  <a:srgbClr val="000000"/>
                </a:solidFill>
                <a:latin typeface="Times New Roman" panose="02020603050405020304" pitchFamily="18" charset="0"/>
                <a:ea typeface="楷体" panose="02010609060101010101" pitchFamily="49" charset="-122"/>
              </a:rPr>
              <a:t>)</a:t>
            </a:r>
            <a:endParaRPr lang="zh-CN" alt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Network">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2">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4531</Words>
  <Application>WPS 演示</Application>
  <PresentationFormat>自定义</PresentationFormat>
  <Paragraphs>324</Paragraphs>
  <Slides>47</Slides>
  <Notes>2</Notes>
  <HiddenSlides>3</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6</vt:i4>
      </vt:variant>
      <vt:variant>
        <vt:lpstr>幻灯片标题</vt:lpstr>
      </vt:variant>
      <vt:variant>
        <vt:i4>47</vt:i4>
      </vt:variant>
    </vt:vector>
  </HeadingPairs>
  <TitlesOfParts>
    <vt:vector size="66" baseType="lpstr">
      <vt:lpstr>Arial</vt:lpstr>
      <vt:lpstr>宋体</vt:lpstr>
      <vt:lpstr>Wingdings</vt:lpstr>
      <vt:lpstr>楷体_GB2312</vt:lpstr>
      <vt:lpstr>新宋体</vt:lpstr>
      <vt:lpstr>楷体_GB2312</vt:lpstr>
      <vt:lpstr>Tahoma</vt:lpstr>
      <vt:lpstr>Times New Roman</vt:lpstr>
      <vt:lpstr>楷体</vt:lpstr>
      <vt:lpstr>微软雅黑</vt:lpstr>
      <vt:lpstr>Arial Unicode MS</vt:lpstr>
      <vt:lpstr>等线</vt:lpstr>
      <vt:lpstr>Network</vt:lpstr>
      <vt:lpstr>Equation.DSMT4</vt:lpstr>
      <vt:lpstr>Equation.DSMT4</vt:lpstr>
      <vt:lpstr>Equation.DSMT4</vt:lpstr>
      <vt:lpstr>Equation.DSMT4</vt:lpstr>
      <vt:lpstr>Equation.DSMT4</vt:lpstr>
      <vt:lpstr>Equation.DSMT4</vt:lpstr>
      <vt:lpstr>第5章 存储器</vt:lpstr>
      <vt:lpstr>5.1 存储器概述</vt:lpstr>
      <vt:lpstr>5.1.1 半导体存储器的分类</vt:lpstr>
      <vt:lpstr>半导体存储器的分类</vt:lpstr>
      <vt:lpstr>半导体存储器的分类</vt:lpstr>
      <vt:lpstr>半导体存储器的分类</vt:lpstr>
      <vt:lpstr>半导体存储器的分类</vt:lpstr>
      <vt:lpstr>1)掩膜式ROM</vt:lpstr>
      <vt:lpstr>2)PROM</vt:lpstr>
      <vt:lpstr>半导体存储器的分类</vt:lpstr>
      <vt:lpstr>半导体存储器的分类</vt:lpstr>
      <vt:lpstr>半导体存储器的分类</vt:lpstr>
      <vt:lpstr>5.1.2 半导体存储器的主要性能指标</vt:lpstr>
      <vt:lpstr>半导体存储器的主要性能指标</vt:lpstr>
      <vt:lpstr>5.1.3 典型的半导体存储器</vt:lpstr>
      <vt:lpstr>典型的半导体存储器</vt:lpstr>
      <vt:lpstr>典型的半导体存储器</vt:lpstr>
      <vt:lpstr>半导体存储器的基本结构</vt:lpstr>
      <vt:lpstr>CPU启动一次存储器读操作的过程</vt:lpstr>
      <vt:lpstr>CPU启动一次存储器写操作的过程</vt:lpstr>
      <vt:lpstr>半导体存储芯片的使用</vt:lpstr>
      <vt:lpstr>半导体存储芯片的使用</vt:lpstr>
      <vt:lpstr>数据线的连接方法</vt:lpstr>
      <vt:lpstr>地址线的连接方法</vt:lpstr>
      <vt:lpstr>控制线的连接方法</vt:lpstr>
      <vt:lpstr>微机系统中存储器接口技术</vt:lpstr>
      <vt:lpstr>8位微机系统中的存储器连接</vt:lpstr>
      <vt:lpstr>8086CPU存储器系统的奇偶分体</vt:lpstr>
      <vt:lpstr>80386CPU存储器系统的分体</vt:lpstr>
      <vt:lpstr>80386CPU存储器系统的分体</vt:lpstr>
      <vt:lpstr>存储器容量扩展的概念</vt:lpstr>
      <vt:lpstr>存储器容量的位扩展</vt:lpstr>
      <vt:lpstr>存储器容量的位扩展</vt:lpstr>
      <vt:lpstr>存储器容量的字扩展</vt:lpstr>
      <vt:lpstr>线选法</vt:lpstr>
      <vt:lpstr>线选法</vt:lpstr>
      <vt:lpstr>PowerPoint 演示文稿</vt:lpstr>
      <vt:lpstr>部分译码法</vt:lpstr>
      <vt:lpstr>74LS138 (3-8译码器)</vt:lpstr>
      <vt:lpstr>部分译码法</vt:lpstr>
      <vt:lpstr>部分译码法</vt:lpstr>
      <vt:lpstr>全译码法</vt:lpstr>
      <vt:lpstr>全译码法</vt:lpstr>
      <vt:lpstr>全译码法</vt:lpstr>
      <vt:lpstr>存储器容量的字位扩展</vt:lpstr>
      <vt:lpstr>存储器容量的字位扩展</vt:lpstr>
      <vt:lpstr>存储器容量的字位扩展</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Zhou Jian</dc:creator>
  <cp:lastModifiedBy>杨领军</cp:lastModifiedBy>
  <cp:revision>71</cp:revision>
  <dcterms:created xsi:type="dcterms:W3CDTF">2021-02-04T09:02:00Z</dcterms:created>
  <dcterms:modified xsi:type="dcterms:W3CDTF">2026-04-14T01:37:12Z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2052-12.1.0.25865</vt:lpwstr>
  </property>
  <property fmtid="{D5CDD505-2E9C-101B-9397-08002B2CF9AE}" pid="3" name="ICV">
    <vt:lpwstr>30C03FE4FD4D4D1A8C55570924E16AA3_12</vt:lpwstr>
  </property>
</Properties>
</file>