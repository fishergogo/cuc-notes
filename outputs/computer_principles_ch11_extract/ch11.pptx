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465" r:id="rId3"/>
    <p:sldId id="466" r:id="rId4"/>
    <p:sldId id="467" r:id="rId5"/>
    <p:sldId id="468" r:id="rId6"/>
    <p:sldId id="469" r:id="rId7"/>
    <p:sldId id="495" r:id="rId8"/>
    <p:sldId id="496" r:id="rId9"/>
    <p:sldId id="497" r:id="rId10"/>
    <p:sldId id="492" r:id="rId11"/>
    <p:sldId id="493" r:id="rId12"/>
    <p:sldId id="471" r:id="rId13"/>
    <p:sldId id="472" r:id="rId14"/>
    <p:sldId id="494" r:id="rId15"/>
    <p:sldId id="474" r:id="rId16"/>
    <p:sldId id="475" r:id="rId17"/>
    <p:sldId id="476" r:id="rId18"/>
    <p:sldId id="477" r:id="rId19"/>
    <p:sldId id="484" r:id="rId20"/>
    <p:sldId id="485" r:id="rId21"/>
    <p:sldId id="486" r:id="rId22"/>
    <p:sldId id="487" r:id="rId23"/>
    <p:sldId id="478" r:id="rId24"/>
    <p:sldId id="479" r:id="rId25"/>
    <p:sldId id="480" r:id="rId26"/>
    <p:sldId id="481" r:id="rId27"/>
    <p:sldId id="488" r:id="rId28"/>
    <p:sldId id="489" r:id="rId29"/>
    <p:sldId id="490" r:id="rId30"/>
    <p:sldId id="491"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showGuides="1">
      <p:cViewPr varScale="1">
        <p:scale>
          <a:sx n="107" d="100"/>
          <a:sy n="107" d="100"/>
        </p:scale>
        <p:origin x="-102" y="-1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notesMaster" Target="notesMasters/notesMaster1.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79A3BD-9D4B-4A17-89AD-AB8D99722C6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74F641-F5F8-49D6-AB8D-CF80F2600D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9753600" y="1066800"/>
            <a:ext cx="0" cy="44958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grpSp>
        <p:nvGrpSpPr>
          <p:cNvPr id="5" name="Group 8"/>
          <p:cNvGrpSpPr/>
          <p:nvPr/>
        </p:nvGrpSpPr>
        <p:grpSpPr bwMode="auto">
          <a:xfrm>
            <a:off x="9990667" y="2992438"/>
            <a:ext cx="1784351"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7"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8"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9"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1"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2"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3"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4"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5"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6"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7"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8"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9"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0"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1"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2"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3"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4"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5"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6"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7"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8"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29"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0"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1"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2"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3"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4"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5"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36"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
        <p:nvSpPr>
          <p:cNvPr id="37" name="Line 40"/>
          <p:cNvSpPr>
            <a:spLocks noChangeShapeType="1"/>
          </p:cNvSpPr>
          <p:nvPr/>
        </p:nvSpPr>
        <p:spPr bwMode="auto">
          <a:xfrm>
            <a:off x="406400" y="2819400"/>
            <a:ext cx="10972800" cy="0"/>
          </a:xfrm>
          <a:prstGeom prst="line">
            <a:avLst/>
          </a:prstGeom>
          <a:noFill/>
          <a:ln w="635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75107" name="Rectangle 3"/>
          <p:cNvSpPr>
            <a:spLocks noGrp="1" noChangeArrowheads="1"/>
          </p:cNvSpPr>
          <p:nvPr>
            <p:ph type="ctrTitle"/>
          </p:nvPr>
        </p:nvSpPr>
        <p:spPr>
          <a:xfrm>
            <a:off x="421217" y="466725"/>
            <a:ext cx="9042400" cy="2133600"/>
          </a:xfrm>
        </p:spPr>
        <p:txBody>
          <a:bodyPr/>
          <a:lstStyle>
            <a:lvl1pPr>
              <a:defRPr/>
            </a:lvl1pPr>
          </a:lstStyle>
          <a:p>
            <a:pPr lvl="0"/>
            <a:r>
              <a:rPr lang="en-US" altLang="zh-CN" noProof="0"/>
              <a:t>单击此处编辑母版标题样式</a:t>
            </a:r>
            <a:endParaRPr lang="en-US" altLang="zh-CN" noProof="0"/>
          </a:p>
        </p:txBody>
      </p:sp>
      <p:sp>
        <p:nvSpPr>
          <p:cNvPr id="175108" name="Rectangle 4"/>
          <p:cNvSpPr>
            <a:spLocks noGrp="1" noChangeArrowheads="1"/>
          </p:cNvSpPr>
          <p:nvPr>
            <p:ph type="subTitle" idx="1"/>
          </p:nvPr>
        </p:nvSpPr>
        <p:spPr>
          <a:xfrm>
            <a:off x="1132417" y="3049588"/>
            <a:ext cx="8331200" cy="2362200"/>
          </a:xfrm>
        </p:spPr>
        <p:txBody>
          <a:bodyPr/>
          <a:lstStyle>
            <a:lvl1pPr marL="0" indent="0" algn="ctr">
              <a:buFont typeface="Wingdings" panose="05000000000000000000" pitchFamily="2" charset="2"/>
              <a:buNone/>
              <a:defRPr/>
            </a:lvl1pPr>
          </a:lstStyle>
          <a:p>
            <a:pPr lvl="0"/>
            <a:r>
              <a:rPr lang="en-US" altLang="zh-CN" noProof="0"/>
              <a:t>单击此处编辑母版副标题样式</a:t>
            </a:r>
            <a:endParaRPr lang="en-US" altLang="zh-CN" noProof="0"/>
          </a:p>
        </p:txBody>
      </p:sp>
      <p:sp>
        <p:nvSpPr>
          <p:cNvPr id="38" name="Rectangle 5"/>
          <p:cNvSpPr>
            <a:spLocks noGrp="1" noChangeArrowheads="1"/>
          </p:cNvSpPr>
          <p:nvPr>
            <p:ph type="dt" sz="half" idx="10"/>
          </p:nvPr>
        </p:nvSpPr>
        <p:spPr/>
        <p:txBody>
          <a:bodyPr/>
          <a:lstStyle>
            <a:lvl1pPr>
              <a:defRPr smtClean="0"/>
            </a:lvl1pPr>
          </a:lstStyle>
          <a:p>
            <a:pPr>
              <a:defRPr/>
            </a:pPr>
            <a:fld id="{B987ED82-D1A3-45FE-80F8-86D8D28D03CD}" type="datetime1">
              <a:rPr lang="zh-CN" altLang="en-US"/>
            </a:fld>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0" name="Rectangle 7"/>
          <p:cNvSpPr>
            <a:spLocks noGrp="1" noChangeArrowheads="1"/>
          </p:cNvSpPr>
          <p:nvPr>
            <p:ph type="sldNum" sz="quarter" idx="12"/>
          </p:nvPr>
        </p:nvSpPr>
        <p:spPr/>
        <p:txBody>
          <a:bodyPr/>
          <a:lstStyle>
            <a:lvl1pPr>
              <a:defRPr smtClean="0"/>
            </a:lvl1pPr>
          </a:lstStyle>
          <a:p>
            <a:pPr>
              <a:defRPr/>
            </a:pPr>
            <a:fld id="{F04872D5-BB51-432C-B3A3-4E481E81D3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gn="ctr">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1" y="1719263"/>
            <a:ext cx="10058400" cy="4411662"/>
          </a:xfrm>
        </p:spPr>
        <p:txBody>
          <a:bodyPr/>
          <a:lstStyle>
            <a:lvl1pPr>
              <a:buFont typeface="Wingdings" panose="05000000000000000000" pitchFamily="2" charset="2"/>
              <a:buChar char="u"/>
              <a:defRPr sz="2800" baseline="0">
                <a:latin typeface="Arial" panose="020B0604020202020204" pitchFamily="34" charset="0"/>
                <a:ea typeface="宋体" panose="02010600030101010101" pitchFamily="2" charset="-122"/>
              </a:defRPr>
            </a:lvl1pPr>
            <a:lvl2pPr>
              <a:defRPr baseline="0">
                <a:latin typeface="Arial" panose="020B0604020202020204" pitchFamily="34" charset="0"/>
                <a:ea typeface="宋体" panose="02010600030101010101" pitchFamily="2" charset="-122"/>
              </a:defRPr>
            </a:lvl2pPr>
            <a:lvl3pPr>
              <a:defRPr baseline="0">
                <a:latin typeface="Arial" panose="020B0604020202020204" pitchFamily="34" charset="0"/>
                <a:ea typeface="宋体" panose="02010600030101010101" pitchFamily="2" charset="-122"/>
              </a:defRPr>
            </a:lvl3pPr>
            <a:lvl4pPr>
              <a:defRPr baseline="0">
                <a:latin typeface="Arial" panose="020B0604020202020204" pitchFamily="34" charset="0"/>
                <a:ea typeface="宋体" panose="02010600030101010101" pitchFamily="2" charset="-122"/>
              </a:defRPr>
            </a:lvl4pPr>
            <a:lvl5pPr>
              <a:defRPr baseline="0">
                <a:latin typeface="Arial" panose="020B0604020202020204" pitchFamily="34" charset="0"/>
                <a:ea typeface="宋体" panose="02010600030101010101" pitchFamily="2" charset="-122"/>
              </a:defRPr>
            </a:lvl5p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4" name="Rectangle 5"/>
          <p:cNvSpPr>
            <a:spLocks noGrp="1" noChangeArrowheads="1"/>
          </p:cNvSpPr>
          <p:nvPr>
            <p:ph type="dt" sz="half" idx="10"/>
          </p:nvPr>
        </p:nvSpPr>
        <p:spPr/>
        <p:txBody>
          <a:bodyPr/>
          <a:lstStyle>
            <a:lvl1pPr>
              <a:defRPr/>
            </a:lvl1pPr>
          </a:lstStyle>
          <a:p>
            <a:pPr>
              <a:defRPr/>
            </a:pPr>
            <a:fld id="{FFCF43AE-F8FD-49EE-9553-888B016E31A5}" type="datetime1">
              <a:rPr lang="zh-CN" altLang="en-US"/>
            </a:fld>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8F4C0CD6-327D-499A-9754-0F1E4D84582B}" type="slidenum">
              <a:rPr lang="en-US" altLang="zh-CN"/>
            </a:fld>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4630820B-D0F1-47EF-A8DA-9994F9F83B6C}"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C6CC5FF-F08F-495A-851B-EA259259A747}"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69117693-7908-4A91-B471-8FEF6DA281B2}"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55274614-4E03-4DCB-98CE-097C97818E7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40318" y="2505075"/>
            <a:ext cx="5158316"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fld id="{88C2CC61-C6FC-4A0D-9DB9-9F02363F5AE9}" type="datetime1">
              <a:rPr lang="zh-CN" altLang="en-US"/>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F89CEBCD-7FCF-484B-9305-64C83D94B2D9}"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fld id="{696741FA-DDBC-4EA0-94D5-FBD8154C3488}" type="datetime1">
              <a:rPr lang="zh-CN" altLang="en-US"/>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074A460-7B25-4553-A69A-B2BB29F6AC2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9E163E86-D2F7-47EE-8733-36D525731CFA}" type="datetime1">
              <a:rPr lang="zh-CN" altLang="en-US"/>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302A3EF1-332A-4F12-8EA6-9ED17615C70E}"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71B77AC4-9B6B-4955-98AD-6DB523334E40}"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BF467FF3-FD84-43F7-9698-CD5E53E22EED}"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12B7E4C-ECAE-4348-B44D-B6E27617DF07}"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7AF11EB-CA78-49BC-B922-1C8209DB6A3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7DA0FF42-8979-4AE7-AB32-AB2B478435C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FBCA54F1-1552-454D-8C86-18F7606D260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122239"/>
            <a:ext cx="2743200" cy="600868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22239"/>
            <a:ext cx="8026400" cy="600868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fld id="{D76E9331-9EC7-4BC1-9F19-95838F0AB25F}" type="datetime1">
              <a:rPr lang="zh-CN" altLang="en-US"/>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55095CD-4004-401E-BA56-829390CFAA6A}" type="slidenum">
              <a:rPr lang="en-US" altLang="zh-CN"/>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10058400" cy="12954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97600" y="1719263"/>
            <a:ext cx="5384800" cy="4411662"/>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fld id="{DBFF7F5F-45AA-4834-B66F-E424254E1B5E}" type="datetime1">
              <a:rPr lang="zh-CN" altLang="en-US"/>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en-US" altLang="zh-CN"/>
              <a:t>逻辑代数基础----《数字电路》</a:t>
            </a: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9A6D292-B2CC-4663-B63B-6660727BF52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10617200" y="152400"/>
            <a:ext cx="0" cy="152400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800"/>
          </a:p>
        </p:txBody>
      </p:sp>
      <p:sp>
        <p:nvSpPr>
          <p:cNvPr id="1027" name="Rectangle 3"/>
          <p:cNvSpPr>
            <a:spLocks noGrp="1" noChangeArrowheads="1"/>
          </p:cNvSpPr>
          <p:nvPr>
            <p:ph type="title"/>
          </p:nvPr>
        </p:nvSpPr>
        <p:spPr bwMode="auto">
          <a:xfrm>
            <a:off x="609600" y="122238"/>
            <a:ext cx="100584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en-US" altLang="zh-CN" dirty="0" err="1"/>
              <a:t>单击此处编辑母版标题样式</a:t>
            </a:r>
            <a:endParaRPr lang="en-US" altLang="zh-CN" dirty="0"/>
          </a:p>
        </p:txBody>
      </p:sp>
      <p:sp>
        <p:nvSpPr>
          <p:cNvPr id="1028" name="Rectangle 4"/>
          <p:cNvSpPr>
            <a:spLocks noGrp="1" noChangeArrowheads="1"/>
          </p:cNvSpPr>
          <p:nvPr>
            <p:ph type="body" idx="1"/>
          </p:nvPr>
        </p:nvSpPr>
        <p:spPr bwMode="auto">
          <a:xfrm>
            <a:off x="609600" y="1719263"/>
            <a:ext cx="10101541" cy="4411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en-US" altLang="zh-CN" dirty="0" err="1"/>
              <a:t>单击此处编辑母版文本样式</a:t>
            </a:r>
            <a:endParaRPr lang="en-US" altLang="zh-CN" dirty="0"/>
          </a:p>
          <a:p>
            <a:pPr lvl="1"/>
            <a:r>
              <a:rPr lang="en-US" altLang="zh-CN" dirty="0" err="1"/>
              <a:t>第二级</a:t>
            </a:r>
            <a:endParaRPr lang="en-US" altLang="zh-CN" dirty="0"/>
          </a:p>
          <a:p>
            <a:pPr lvl="2"/>
            <a:r>
              <a:rPr lang="en-US" altLang="zh-CN" dirty="0" err="1"/>
              <a:t>第三级</a:t>
            </a:r>
            <a:endParaRPr lang="en-US" altLang="zh-CN" dirty="0"/>
          </a:p>
          <a:p>
            <a:pPr lvl="3"/>
            <a:r>
              <a:rPr lang="en-US" altLang="zh-CN" dirty="0" err="1"/>
              <a:t>第四级</a:t>
            </a:r>
            <a:endParaRPr lang="en-US" altLang="zh-CN" dirty="0"/>
          </a:p>
          <a:p>
            <a:pPr lvl="4"/>
            <a:r>
              <a:rPr lang="en-US" altLang="zh-CN" dirty="0" err="1"/>
              <a:t>第五级</a:t>
            </a:r>
            <a:endParaRPr lang="en-US" altLang="zh-CN" dirty="0"/>
          </a:p>
        </p:txBody>
      </p:sp>
      <p:sp>
        <p:nvSpPr>
          <p:cNvPr id="174085" name="Rectangle 5"/>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t" anchorCtr="0" compatLnSpc="1"/>
          <a:lstStyle>
            <a:lvl1pPr eaLnBrk="1" hangingPunct="1">
              <a:defRPr sz="1000" smtClean="0"/>
            </a:lvl1pPr>
          </a:lstStyle>
          <a:p>
            <a:pPr>
              <a:defRPr/>
            </a:pPr>
            <a:fld id="{054E35A8-292F-4AEC-B83B-BB31DB8FE108}" type="datetime1">
              <a:rPr lang="zh-CN" altLang="en-US"/>
            </a:fld>
            <a:endParaRPr lang="en-US" altLang="zh-CN"/>
          </a:p>
        </p:txBody>
      </p:sp>
      <p:sp>
        <p:nvSpPr>
          <p:cNvPr id="174086" name="Rectangle 6"/>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t" anchorCtr="0" compatLnSpc="1"/>
          <a:lstStyle>
            <a:lvl1pPr algn="ctr" eaLnBrk="1" hangingPunct="1">
              <a:defRPr sz="1000"/>
            </a:lvl1pPr>
          </a:lstStyle>
          <a:p>
            <a:pPr>
              <a:defRPr/>
            </a:pPr>
            <a:r>
              <a:rPr lang="en-US" altLang="zh-CN"/>
              <a:t>逻辑代数基础----《数字电路》</a:t>
            </a:r>
            <a:endParaRPr lang="en-US" altLang="zh-CN"/>
          </a:p>
        </p:txBody>
      </p:sp>
      <p:sp>
        <p:nvSpPr>
          <p:cNvPr id="174087" name="Rectangle 7"/>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t" anchorCtr="0" compatLnSpc="1"/>
          <a:lstStyle>
            <a:lvl1pPr algn="r" eaLnBrk="1" hangingPunct="1">
              <a:defRPr sz="1000" smtClean="0"/>
            </a:lvl1pPr>
          </a:lstStyle>
          <a:p>
            <a:pPr>
              <a:defRPr/>
            </a:pPr>
            <a:fld id="{1A8543FF-F682-49C5-9892-9CF2B52A8733}" type="slidenum">
              <a:rPr lang="en-US" altLang="zh-CN"/>
            </a:fld>
            <a:endParaRPr lang="en-US" altLang="zh-CN"/>
          </a:p>
        </p:txBody>
      </p:sp>
      <p:grpSp>
        <p:nvGrpSpPr>
          <p:cNvPr id="1032" name="Group 8"/>
          <p:cNvGrpSpPr/>
          <p:nvPr/>
        </p:nvGrpSpPr>
        <p:grpSpPr bwMode="auto">
          <a:xfrm>
            <a:off x="10871201" y="152400"/>
            <a:ext cx="1056217"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4"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5"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6"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7"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8"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39"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0"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1"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2"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3"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4"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5"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6"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7"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8"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49"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0"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1"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2"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3"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4"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5"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6"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7"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8"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59"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0"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1"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2"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sp>
          <p:nvSpPr>
            <p:cNvPr id="1063"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180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rtl="0" eaLnBrk="0" fontAlgn="base" hangingPunct="0">
        <a:spcBef>
          <a:spcPct val="0"/>
        </a:spcBef>
        <a:spcAft>
          <a:spcPct val="0"/>
        </a:spcAft>
        <a:defRPr sz="3900" b="1" kern="1200">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2800" kern="1200">
          <a:solidFill>
            <a:schemeClr val="tx1"/>
          </a:solidFill>
          <a:latin typeface="+mn-ea"/>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kern="1200">
          <a:solidFill>
            <a:schemeClr val="tx1"/>
          </a:solidFill>
          <a:latin typeface="+mn-lt"/>
          <a:ea typeface="+mn-ea"/>
          <a:cs typeface="+mn-cs"/>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kern="1200">
          <a:solidFill>
            <a:schemeClr val="tx1"/>
          </a:solidFill>
          <a:latin typeface="+mn-lt"/>
          <a:ea typeface="+mn-ea"/>
          <a:cs typeface="+mn-cs"/>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kern="1200">
          <a:solidFill>
            <a:schemeClr val="tx1"/>
          </a:solidFill>
          <a:latin typeface="+mn-lt"/>
          <a:ea typeface="+mn-ea"/>
          <a:cs typeface="+mn-cs"/>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emf"/><Relationship Id="rId1"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a:t>
            </a:r>
            <a:r>
              <a:rPr lang="en-US" altLang="zh-CN" dirty="0"/>
              <a:t>11</a:t>
            </a:r>
            <a:r>
              <a:rPr lang="zh-CN" altLang="en-US" dirty="0"/>
              <a:t>章总线技术</a:t>
            </a:r>
            <a:endParaRPr lang="zh-CN" altLang="en-US" dirty="0"/>
          </a:p>
        </p:txBody>
      </p:sp>
      <p:sp>
        <p:nvSpPr>
          <p:cNvPr id="3" name="内容占位符 2"/>
          <p:cNvSpPr>
            <a:spLocks noGrp="1"/>
          </p:cNvSpPr>
          <p:nvPr>
            <p:ph idx="1"/>
          </p:nvPr>
        </p:nvSpPr>
        <p:spPr/>
        <p:txBody>
          <a:bodyPr/>
          <a:lstStyle/>
          <a:p>
            <a:pPr>
              <a:buNone/>
            </a:pPr>
            <a:r>
              <a:rPr lang="en-US" altLang="zh-CN" dirty="0" smtClean="0"/>
              <a:t>1</a:t>
            </a:r>
            <a:r>
              <a:rPr lang="zh-CN" altLang="en-US" dirty="0" smtClean="0"/>
              <a:t>、总线概述</a:t>
            </a:r>
            <a:endParaRPr lang="en-US" altLang="zh-CN" dirty="0"/>
          </a:p>
          <a:p>
            <a:pPr>
              <a:buNone/>
            </a:pPr>
            <a:r>
              <a:rPr lang="en-US" altLang="zh-CN" dirty="0" smtClean="0"/>
              <a:t>2</a:t>
            </a:r>
            <a:r>
              <a:rPr lang="zh-CN" altLang="en-US" dirty="0" smtClean="0"/>
              <a:t>、系统总线</a:t>
            </a:r>
            <a:endParaRPr lang="en-US" altLang="zh-CN" dirty="0" smtClean="0"/>
          </a:p>
          <a:p>
            <a:pPr>
              <a:buNone/>
            </a:pPr>
            <a:r>
              <a:rPr lang="en-US" altLang="zh-CN" dirty="0" smtClean="0"/>
              <a:t>3</a:t>
            </a:r>
            <a:r>
              <a:rPr lang="zh-CN" altLang="en-US" dirty="0" smtClean="0"/>
              <a:t>、通信总线</a:t>
            </a:r>
            <a:endParaRPr lang="en-US" altLang="zh-CN" dirty="0" smtClean="0"/>
          </a:p>
          <a:p>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11.1 </a:t>
            </a:r>
            <a:r>
              <a:rPr lang="zh-CN" altLang="en-US" dirty="0" smtClean="0"/>
              <a:t>概述</a:t>
            </a:r>
            <a:endParaRPr lang="zh-CN" altLang="en-US" dirty="0"/>
          </a:p>
        </p:txBody>
      </p:sp>
      <p:sp>
        <p:nvSpPr>
          <p:cNvPr id="3" name="内容占位符 2"/>
          <p:cNvSpPr>
            <a:spLocks noGrp="1"/>
          </p:cNvSpPr>
          <p:nvPr>
            <p:ph idx="1"/>
          </p:nvPr>
        </p:nvSpPr>
        <p:spPr/>
        <p:txBody>
          <a:bodyPr/>
          <a:lstStyle/>
          <a:p>
            <a:pPr marL="0" indent="0">
              <a:buNone/>
            </a:pPr>
            <a:r>
              <a:rPr lang="zh-CN" altLang="en-US" dirty="0"/>
              <a:t>总线是构成计算机系统的互连机构，是在模块之间或者设备之间传送信息、相互通信的一组公用信号线的集合。</a:t>
            </a:r>
            <a:endParaRPr lang="en-US" altLang="zh-CN" dirty="0"/>
          </a:p>
          <a:p>
            <a:r>
              <a:rPr lang="zh-CN" altLang="en-US" dirty="0"/>
              <a:t>总线特点：</a:t>
            </a:r>
            <a:endParaRPr lang="zh-CN" altLang="en-US" dirty="0"/>
          </a:p>
          <a:p>
            <a:pPr lvl="1"/>
            <a:r>
              <a:rPr lang="zh-CN" altLang="en-US" dirty="0"/>
              <a:t>公用性：同时挂接多个模块或设备。</a:t>
            </a:r>
            <a:endParaRPr lang="zh-CN" altLang="en-US" dirty="0"/>
          </a:p>
          <a:p>
            <a:pPr lvl="1"/>
            <a:r>
              <a:rPr lang="zh-CN" altLang="en-US" dirty="0"/>
              <a:t>分时性：在同一时刻，总线上只能允许一对功能部件或设备进行信息交换。</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09601" y="424070"/>
            <a:ext cx="10058400" cy="5706855"/>
          </a:xfrm>
        </p:spPr>
        <p:txBody>
          <a:bodyPr/>
          <a:lstStyle/>
          <a:p>
            <a:pPr marL="0" indent="0">
              <a:buNone/>
            </a:pPr>
            <a:r>
              <a:rPr lang="zh-CN" altLang="en-US" dirty="0"/>
              <a:t>总线规范</a:t>
            </a:r>
            <a:r>
              <a:rPr lang="en-US" altLang="zh-CN" dirty="0"/>
              <a:t>:</a:t>
            </a:r>
            <a:endParaRPr lang="en-US" altLang="zh-CN" dirty="0"/>
          </a:p>
          <a:p>
            <a:r>
              <a:rPr lang="zh-CN" altLang="en-US" dirty="0"/>
              <a:t>机械规范：规定模块尺寸、总线的根数，总线插头、插座形状、引脚的排列等；</a:t>
            </a:r>
            <a:endParaRPr lang="zh-CN" altLang="en-US" dirty="0"/>
          </a:p>
          <a:p>
            <a:r>
              <a:rPr lang="zh-CN" altLang="en-US" dirty="0"/>
              <a:t>功能规范：确定引脚名称与功能，以及其相互作用的协议。包括数据线、地址线、读写控制逻辑线、时钟线和电源线、地线以及总线主控仲裁、握手联络等；</a:t>
            </a:r>
            <a:endParaRPr lang="zh-CN" altLang="en-US" dirty="0"/>
          </a:p>
          <a:p>
            <a:r>
              <a:rPr lang="zh-CN" altLang="en-US" dirty="0"/>
              <a:t>电气规范：规定每一根线上的传送方向、信号逻辑电平、负载能力、动态转换时间等；</a:t>
            </a:r>
            <a:endParaRPr lang="zh-CN" altLang="en-US" dirty="0"/>
          </a:p>
          <a:p>
            <a:r>
              <a:rPr lang="zh-CN" altLang="en-US" dirty="0"/>
              <a:t>时间规范：规定每一根线的信号有效时间，以及各信号线之间信号出现的先后关系。</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3584" y="301280"/>
            <a:ext cx="10058400" cy="4411662"/>
          </a:xfrm>
        </p:spPr>
        <p:txBody>
          <a:bodyPr/>
          <a:lstStyle/>
          <a:p>
            <a:pPr marL="0" indent="0">
              <a:buNone/>
            </a:pPr>
            <a:r>
              <a:rPr lang="zh-CN" altLang="en-US" dirty="0"/>
              <a:t>总线性能指标</a:t>
            </a:r>
            <a:r>
              <a:rPr lang="en-US" altLang="zh-CN" dirty="0"/>
              <a:t>:</a:t>
            </a:r>
            <a:endParaRPr lang="en-US" altLang="zh-CN" dirty="0"/>
          </a:p>
          <a:p>
            <a:r>
              <a:rPr lang="zh-CN" altLang="en-US" dirty="0"/>
              <a:t>总线宽度：指总线能同时传送二进制数据的位数。</a:t>
            </a:r>
            <a:endParaRPr lang="zh-CN" altLang="en-US" dirty="0"/>
          </a:p>
          <a:p>
            <a:r>
              <a:rPr lang="zh-CN" altLang="en-US" dirty="0"/>
              <a:t>总线频率：是总线实际工作的频率，指一秒钟能够传输数据的次数。工作频率越高，速度越快。</a:t>
            </a:r>
            <a:endParaRPr lang="zh-CN" altLang="en-US" dirty="0"/>
          </a:p>
          <a:p>
            <a:r>
              <a:rPr lang="zh-CN" altLang="en-US" dirty="0"/>
              <a:t>总线带宽（传输速率）：指一秒钟内总线上可以传送的数据总量，单位为</a:t>
            </a:r>
            <a:r>
              <a:rPr lang="en-US" altLang="zh-CN" dirty="0"/>
              <a:t>MB/s</a:t>
            </a:r>
            <a:r>
              <a:rPr lang="zh-CN" altLang="en-US" dirty="0"/>
              <a:t>。总线带宽越宽，传输效率越高。</a:t>
            </a:r>
            <a:endParaRPr lang="zh-CN" altLang="en-US" dirty="0"/>
          </a:p>
          <a:p>
            <a:r>
              <a:rPr lang="zh-CN" altLang="en-US" dirty="0"/>
              <a:t>总线的传输速率</a:t>
            </a:r>
            <a:r>
              <a:rPr lang="en-US" altLang="zh-CN" dirty="0"/>
              <a:t>=(</a:t>
            </a:r>
            <a:r>
              <a:rPr lang="zh-CN" altLang="en-US" dirty="0"/>
              <a:t>总线宽度</a:t>
            </a:r>
            <a:r>
              <a:rPr lang="en-US" altLang="zh-CN" dirty="0"/>
              <a:t>/8</a:t>
            </a:r>
            <a:r>
              <a:rPr lang="zh-CN" altLang="en-US" dirty="0"/>
              <a:t>位</a:t>
            </a:r>
            <a:r>
              <a:rPr lang="en-US" altLang="zh-CN" dirty="0"/>
              <a:t>)×</a:t>
            </a:r>
            <a:r>
              <a:rPr lang="zh-CN" altLang="en-US" dirty="0"/>
              <a:t>总线频率</a:t>
            </a:r>
            <a:endParaRPr lang="zh-CN" altLang="en-US" dirty="0"/>
          </a:p>
          <a:p>
            <a:r>
              <a:rPr lang="zh-CN" altLang="en-US" dirty="0"/>
              <a:t>信号线数：指总线中信号线的总数，包括数据总线、地址总线和控制总线。信号线数与性能不成正比，但反映了总线的复杂程度。</a:t>
            </a:r>
            <a:endParaRPr lang="zh-CN" altLang="en-US" dirty="0"/>
          </a:p>
          <a:p>
            <a:r>
              <a:rPr lang="zh-CN" altLang="en-US" dirty="0"/>
              <a:t>负载能力：指总线带负载的能力。负载能力强，表明可接入的设备数目多。</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总线分类</a:t>
            </a:r>
            <a:endParaRPr lang="zh-CN" altLang="en-US" dirty="0"/>
          </a:p>
        </p:txBody>
      </p:sp>
      <p:sp>
        <p:nvSpPr>
          <p:cNvPr id="3" name="内容占位符 2"/>
          <p:cNvSpPr>
            <a:spLocks noGrp="1"/>
          </p:cNvSpPr>
          <p:nvPr>
            <p:ph idx="1"/>
          </p:nvPr>
        </p:nvSpPr>
        <p:spPr/>
        <p:txBody>
          <a:bodyPr/>
          <a:lstStyle/>
          <a:p>
            <a:r>
              <a:rPr lang="zh-CN" altLang="en-US" dirty="0"/>
              <a:t>按功能或信号类型划分：数据总线、地址总线、控制总线、电源线和</a:t>
            </a:r>
            <a:r>
              <a:rPr lang="zh-CN" altLang="en-US" dirty="0"/>
              <a:t>地线。</a:t>
            </a:r>
            <a:endParaRPr lang="zh-CN" altLang="en-US" dirty="0"/>
          </a:p>
          <a:p>
            <a:r>
              <a:rPr lang="zh-CN" altLang="en-US" dirty="0"/>
              <a:t>按总线的层次结构划分：</a:t>
            </a:r>
            <a:endParaRPr lang="zh-CN" altLang="en-US" dirty="0"/>
          </a:p>
          <a:p>
            <a:pPr lvl="1"/>
            <a:r>
              <a:rPr lang="zh-CN" altLang="en-US" dirty="0" smtClean="0"/>
              <a:t>片内总线：在集成电路芯片内部，比如在</a:t>
            </a:r>
            <a:r>
              <a:rPr lang="en-US" altLang="zh-CN" dirty="0"/>
              <a:t>CPU</a:t>
            </a:r>
            <a:r>
              <a:rPr lang="zh-CN" altLang="en-US" dirty="0"/>
              <a:t>内部，连接</a:t>
            </a:r>
            <a:r>
              <a:rPr lang="en-US" altLang="zh-CN" dirty="0"/>
              <a:t>CPU</a:t>
            </a:r>
            <a:r>
              <a:rPr lang="zh-CN" altLang="en-US" dirty="0"/>
              <a:t>内部</a:t>
            </a:r>
            <a:r>
              <a:rPr lang="zh-CN" altLang="en-US" dirty="0" smtClean="0"/>
              <a:t>部件（</a:t>
            </a:r>
            <a:r>
              <a:rPr lang="en-US" altLang="zh-CN" dirty="0" smtClean="0"/>
              <a:t>ALU</a:t>
            </a:r>
            <a:r>
              <a:rPr lang="zh-CN" altLang="en-US" dirty="0" smtClean="0"/>
              <a:t>和寄存器）</a:t>
            </a:r>
            <a:endParaRPr lang="zh-CN" altLang="en-US" dirty="0"/>
          </a:p>
          <a:p>
            <a:pPr lvl="1"/>
            <a:r>
              <a:rPr lang="zh-CN" altLang="en-US" dirty="0" smtClean="0"/>
              <a:t>系统</a:t>
            </a:r>
            <a:r>
              <a:rPr lang="zh-CN" altLang="en-US" dirty="0"/>
              <a:t>总线：也称为</a:t>
            </a:r>
            <a:r>
              <a:rPr lang="en-US" altLang="zh-CN" dirty="0"/>
              <a:t>I/O</a:t>
            </a:r>
            <a:r>
              <a:rPr lang="zh-CN" altLang="en-US" dirty="0"/>
              <a:t>总线</a:t>
            </a:r>
            <a:r>
              <a:rPr lang="zh-CN" altLang="en-US" dirty="0" smtClean="0"/>
              <a:t>，主要用于各芯片之间的连接，是</a:t>
            </a:r>
            <a:r>
              <a:rPr lang="zh-CN" altLang="en-US" dirty="0"/>
              <a:t>传统的通过总线扩展卡连接</a:t>
            </a:r>
            <a:r>
              <a:rPr lang="zh-CN" altLang="en-US" dirty="0" smtClean="0"/>
              <a:t>外部设备（芯片）的</a:t>
            </a:r>
            <a:r>
              <a:rPr lang="zh-CN" altLang="en-US" dirty="0"/>
              <a:t>总线。</a:t>
            </a:r>
            <a:endParaRPr lang="zh-CN" altLang="en-US" dirty="0"/>
          </a:p>
          <a:p>
            <a:pPr lvl="1"/>
            <a:r>
              <a:rPr lang="zh-CN" altLang="en-US" dirty="0"/>
              <a:t>通信总线：也称为外部总线，是微机与微机，微机与外设之间进行通信的总线。</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zh-CN" dirty="0" smtClean="0"/>
              <a:t>总线</a:t>
            </a:r>
            <a:r>
              <a:rPr lang="zh-CN" dirty="0"/>
              <a:t>传输方式</a:t>
            </a:r>
            <a:endParaRPr lang="zh-CN" dirty="0"/>
          </a:p>
        </p:txBody>
      </p:sp>
      <p:sp>
        <p:nvSpPr>
          <p:cNvPr id="11267" name="Rectangle 3"/>
          <p:cNvSpPr>
            <a:spLocks noGrp="1" noChangeArrowheads="1"/>
          </p:cNvSpPr>
          <p:nvPr>
            <p:ph type="body" idx="1"/>
          </p:nvPr>
        </p:nvSpPr>
        <p:spPr>
          <a:xfrm>
            <a:off x="508001" y="1752600"/>
            <a:ext cx="11434233" cy="4575175"/>
          </a:xfrm>
        </p:spPr>
        <p:txBody>
          <a:bodyPr/>
          <a:lstStyle/>
          <a:p>
            <a:pPr>
              <a:lnSpc>
                <a:spcPct val="90000"/>
              </a:lnSpc>
            </a:pPr>
            <a:r>
              <a:rPr lang="zh-CN" altLang="en-US" sz="2800" dirty="0"/>
              <a:t>在利用总线实现数据传送通信时，需要有一种控制一次通信起止的办法，以保证信息传输的正确与可靠，这就是总线通信协议应解决的问题。</a:t>
            </a:r>
            <a:endParaRPr lang="zh-CN" altLang="en-US" sz="2800" dirty="0"/>
          </a:p>
          <a:p>
            <a:pPr>
              <a:lnSpc>
                <a:spcPct val="90000"/>
              </a:lnSpc>
            </a:pPr>
            <a:r>
              <a:rPr lang="zh-CN" altLang="en-US" sz="2800" dirty="0"/>
              <a:t>对于只有一个总线主控设备的简单系统，对总线无须申请、分配和撤除。而对于多CPU或含有DMA的系统，就要有总线仲裁机构，来受理申请和分配总线控制权。</a:t>
            </a:r>
            <a:endParaRPr lang="zh-CN" altLang="en-US" sz="2800" dirty="0"/>
          </a:p>
          <a:p>
            <a:pPr>
              <a:lnSpc>
                <a:spcPct val="90000"/>
              </a:lnSpc>
            </a:pPr>
            <a:r>
              <a:rPr lang="zh-CN" altLang="en-US" sz="2800" dirty="0"/>
              <a:t>主要有以下2种方式实现总线的数据传输：</a:t>
            </a:r>
            <a:endParaRPr lang="zh-CN" altLang="en-US" sz="2800" dirty="0"/>
          </a:p>
          <a:p>
            <a:pPr lvl="1">
              <a:lnSpc>
                <a:spcPct val="90000"/>
              </a:lnSpc>
            </a:pPr>
            <a:r>
              <a:rPr lang="zh-CN" altLang="en-US" sz="2800" dirty="0"/>
              <a:t>同步方式</a:t>
            </a:r>
            <a:endParaRPr lang="zh-CN" altLang="en-US" sz="2800" dirty="0"/>
          </a:p>
          <a:p>
            <a:pPr lvl="1">
              <a:lnSpc>
                <a:spcPct val="90000"/>
              </a:lnSpc>
            </a:pPr>
            <a:r>
              <a:rPr lang="zh-CN" altLang="en-US" sz="2800" dirty="0"/>
              <a:t>异步方式</a:t>
            </a:r>
            <a:endParaRPr lang="zh-CN" altLang="en-US" sz="2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 calcmode="lin" valueType="num">
                                      <p:cBhvr additive="base">
                                        <p:cTn id="7" dur="500" fill="hold"/>
                                        <p:tgtEl>
                                          <p:spTgt spid="11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7">
                                            <p:txEl>
                                              <p:pRg st="1" end="1"/>
                                            </p:txEl>
                                          </p:spTgt>
                                        </p:tgtEl>
                                        <p:attrNameLst>
                                          <p:attrName>style.visibility</p:attrName>
                                        </p:attrNameLst>
                                      </p:cBhvr>
                                      <p:to>
                                        <p:strVal val="visible"/>
                                      </p:to>
                                    </p:set>
                                    <p:anim calcmode="lin" valueType="num">
                                      <p:cBhvr additive="base">
                                        <p:cTn id="13"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7">
                                            <p:txEl>
                                              <p:pRg st="2" end="2"/>
                                            </p:txEl>
                                          </p:spTgt>
                                        </p:tgtEl>
                                        <p:attrNameLst>
                                          <p:attrName>style.visibility</p:attrName>
                                        </p:attrNameLst>
                                      </p:cBhvr>
                                      <p:to>
                                        <p:strVal val="visible"/>
                                      </p:to>
                                    </p:set>
                                    <p:anim calcmode="lin" valueType="num">
                                      <p:cBhvr additive="base">
                                        <p:cTn id="19"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267">
                                            <p:txEl>
                                              <p:pRg st="3" end="3"/>
                                            </p:txEl>
                                          </p:spTgt>
                                        </p:tgtEl>
                                        <p:attrNameLst>
                                          <p:attrName>style.visibility</p:attrName>
                                        </p:attrNameLst>
                                      </p:cBhvr>
                                      <p:to>
                                        <p:strVal val="visible"/>
                                      </p:to>
                                    </p:set>
                                    <p:anim calcmode="lin" valueType="num">
                                      <p:cBhvr additive="base">
                                        <p:cTn id="23" dur="500" fill="hold"/>
                                        <p:tgtEl>
                                          <p:spTgt spid="1126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1267">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1267">
                                            <p:txEl>
                                              <p:pRg st="4" end="4"/>
                                            </p:txEl>
                                          </p:spTgt>
                                        </p:tgtEl>
                                        <p:attrNameLst>
                                          <p:attrName>style.visibility</p:attrName>
                                        </p:attrNameLst>
                                      </p:cBhvr>
                                      <p:to>
                                        <p:strVal val="visible"/>
                                      </p:to>
                                    </p:set>
                                    <p:anim calcmode="lin" valueType="num">
                                      <p:cBhvr additive="base">
                                        <p:cTn id="27" dur="500" fill="hold"/>
                                        <p:tgtEl>
                                          <p:spTgt spid="1126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126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utoUpdateAnimBg="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zh-CN"/>
              <a:t>1)</a:t>
            </a:r>
            <a:r>
              <a:rPr lang="zh-CN"/>
              <a:t>同步方式</a:t>
            </a:r>
            <a:endParaRPr lang="zh-CN"/>
          </a:p>
        </p:txBody>
      </p:sp>
      <p:sp>
        <p:nvSpPr>
          <p:cNvPr id="12291" name="Rectangle 3"/>
          <p:cNvSpPr>
            <a:spLocks noGrp="1" noChangeArrowheads="1"/>
          </p:cNvSpPr>
          <p:nvPr>
            <p:ph type="body" idx="1"/>
          </p:nvPr>
        </p:nvSpPr>
        <p:spPr/>
        <p:txBody>
          <a:bodyPr/>
          <a:lstStyle/>
          <a:p>
            <a:pPr>
              <a:lnSpc>
                <a:spcPct val="90000"/>
              </a:lnSpc>
            </a:pPr>
            <a:r>
              <a:rPr lang="zh-CN" sz="2800"/>
              <a:t>此方式用“系统时钟”作为控制数据传送的时间标准。在这种方式下，各部件的动作时间被严格限定。即一次数据传送的每一步骤的起止时刻都是以系统时钟来统一步伐的</a:t>
            </a:r>
            <a:r>
              <a:rPr lang="zh-CN" altLang="zh-CN" sz="2800"/>
              <a:t>(</a:t>
            </a:r>
            <a:r>
              <a:rPr lang="zh-CN" sz="2800"/>
              <a:t>按时钟传送，每次传送用一个时钟周期</a:t>
            </a:r>
            <a:r>
              <a:rPr lang="zh-CN" altLang="zh-CN" sz="2800"/>
              <a:t>)</a:t>
            </a:r>
            <a:r>
              <a:rPr lang="zh-CN" sz="2800"/>
              <a:t>。</a:t>
            </a:r>
            <a:endParaRPr lang="zh-CN" sz="2800"/>
          </a:p>
          <a:p>
            <a:pPr>
              <a:lnSpc>
                <a:spcPct val="90000"/>
              </a:lnSpc>
            </a:pPr>
            <a:r>
              <a:rPr lang="zh-CN" sz="2800"/>
              <a:t>同步方式动作简单，可以获得较高的系统速度，但要解决各种速度的模块的时间匹配。如将一个慢速的设备连接到快速的同步系统上，则整个系统必须降低时钟速率来迁就此慢速设备，反而降低了系统的速度。 </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 calcmode="lin" valueType="num">
                                      <p:cBhvr>
                                        <p:cTn id="7" dur="500" fill="hold"/>
                                        <p:tgtEl>
                                          <p:spTgt spid="1229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229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2291">
                                            <p:txEl>
                                              <p:pRg st="1" end="1"/>
                                            </p:txEl>
                                          </p:spTgt>
                                        </p:tgtEl>
                                        <p:attrNameLst>
                                          <p:attrName>style.visibility</p:attrName>
                                        </p:attrNameLst>
                                      </p:cBhvr>
                                      <p:to>
                                        <p:strVal val="visible"/>
                                      </p:to>
                                    </p:set>
                                    <p:anim calcmode="lin" valueType="num">
                                      <p:cBhvr>
                                        <p:cTn id="13" dur="500" fill="hold"/>
                                        <p:tgtEl>
                                          <p:spTgt spid="1229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12291">
                                            <p:txEl>
                                              <p:pRg st="1" end="1"/>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autoUpdateAnimBg="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zh-CN"/>
              <a:t>2)</a:t>
            </a:r>
            <a:r>
              <a:rPr lang="zh-CN"/>
              <a:t>异步方式</a:t>
            </a:r>
            <a:endParaRPr lang="zh-CN"/>
          </a:p>
        </p:txBody>
      </p:sp>
      <p:sp>
        <p:nvSpPr>
          <p:cNvPr id="13315" name="Rectangle 3"/>
          <p:cNvSpPr>
            <a:spLocks noGrp="1" noChangeArrowheads="1"/>
          </p:cNvSpPr>
          <p:nvPr>
            <p:ph type="body" idx="1"/>
          </p:nvPr>
        </p:nvSpPr>
        <p:spPr/>
        <p:txBody>
          <a:bodyPr/>
          <a:lstStyle/>
          <a:p>
            <a:pPr>
              <a:lnSpc>
                <a:spcPct val="80000"/>
              </a:lnSpc>
            </a:pPr>
            <a:r>
              <a:rPr lang="zh-CN" sz="2400"/>
              <a:t>异步方式是采用“应答式”传输技术。用“请求”</a:t>
            </a:r>
            <a:r>
              <a:rPr lang="zh-CN" altLang="zh-CN" sz="2400"/>
              <a:t>(REQ)</a:t>
            </a:r>
            <a:r>
              <a:rPr lang="zh-CN" sz="2400"/>
              <a:t>和“应答”</a:t>
            </a:r>
            <a:r>
              <a:rPr lang="zh-CN" altLang="zh-CN" sz="2400"/>
              <a:t>(ACK)</a:t>
            </a:r>
            <a:r>
              <a:rPr lang="zh-CN" sz="2400"/>
              <a:t>两条信号线来协调传输过程，而不依赖于公共时钟信号。它可以根据各部件的工作速度自动调整响应时间，因此，可与任何工作速度的设备接口，而无需考虑与主、从部件的速度匹配问题。</a:t>
            </a:r>
            <a:endParaRPr lang="zh-CN" sz="2400"/>
          </a:p>
          <a:p>
            <a:pPr>
              <a:lnSpc>
                <a:spcPct val="80000"/>
              </a:lnSpc>
            </a:pPr>
            <a:r>
              <a:rPr lang="zh-CN" sz="2400"/>
              <a:t>异步方式是以一个操作完全完成后才开始下一个动作的方式，表明其应答关系完全互锁，因此保证了数据传输的可靠进行。同时数据传输的速度不是固定不变的，它可以根据设备的实际情况，自由地调节总线上的工作速度，因而同一个系统中可以容纳不同存取速度的设备，每个设备都能从其最佳可能的速度来配合数据的传输。</a:t>
            </a:r>
            <a:endParaRPr lang="zh-CN" sz="2400"/>
          </a:p>
          <a:p>
            <a:pPr>
              <a:lnSpc>
                <a:spcPct val="80000"/>
              </a:lnSpc>
            </a:pPr>
            <a:r>
              <a:rPr lang="zh-CN" sz="2400"/>
              <a:t>异步传输的缺点是比较复杂，每次操作都必须经过</a:t>
            </a:r>
            <a:r>
              <a:rPr lang="zh-CN" altLang="zh-CN" sz="2400"/>
              <a:t>4</a:t>
            </a:r>
            <a:r>
              <a:rPr lang="zh-CN" sz="2400"/>
              <a:t>个步骤：请求、响应、撤消请求、撤消响应，影响工作效率。 </a:t>
            </a:r>
            <a:endParaRPr lang="zh-CN" sz="24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slide(fromBottom)">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Effect transition="in" filter="slide(fromBottom)">
                                      <p:cBhvr>
                                        <p:cTn id="12" dur="500"/>
                                        <p:tgtEl>
                                          <p:spTgt spid="13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3315">
                                            <p:txEl>
                                              <p:pRg st="2" end="2"/>
                                            </p:txEl>
                                          </p:spTgt>
                                        </p:tgtEl>
                                        <p:attrNameLst>
                                          <p:attrName>style.visibility</p:attrName>
                                        </p:attrNameLst>
                                      </p:cBhvr>
                                      <p:to>
                                        <p:strVal val="visible"/>
                                      </p:to>
                                    </p:set>
                                    <p:animEffect transition="in" filter="slide(fromBottom)">
                                      <p:cBhvr>
                                        <p:cTn id="17" dur="500"/>
                                        <p:tgtEl>
                                          <p:spTgt spid="13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autoUpdateAnimBg="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122555"/>
            <a:ext cx="9876790" cy="617855"/>
          </a:xfrm>
        </p:spPr>
        <p:txBody>
          <a:bodyPr/>
          <a:lstStyle/>
          <a:p>
            <a:r>
              <a:rPr lang="zh-CN" altLang="zh-CN"/>
              <a:t>11.2  </a:t>
            </a:r>
            <a:r>
              <a:rPr lang="zh-CN"/>
              <a:t>系统总线</a:t>
            </a:r>
            <a:endParaRPr lang="zh-CN"/>
          </a:p>
        </p:txBody>
      </p:sp>
      <p:sp>
        <p:nvSpPr>
          <p:cNvPr id="14339" name="Rectangle 3"/>
          <p:cNvSpPr>
            <a:spLocks noGrp="1" noChangeArrowheads="1"/>
          </p:cNvSpPr>
          <p:nvPr>
            <p:ph type="body" idx="1"/>
          </p:nvPr>
        </p:nvSpPr>
        <p:spPr>
          <a:xfrm>
            <a:off x="379133" y="1106627"/>
            <a:ext cx="11434233" cy="4643438"/>
          </a:xfrm>
        </p:spPr>
        <p:txBody>
          <a:bodyPr/>
          <a:lstStyle/>
          <a:p>
            <a:pPr>
              <a:lnSpc>
                <a:spcPct val="80000"/>
              </a:lnSpc>
            </a:pPr>
            <a:r>
              <a:rPr lang="zh-CN" sz="2400" dirty="0"/>
              <a:t>系统总线是微型计算机组成的基础</a:t>
            </a:r>
            <a:r>
              <a:rPr lang="zh-CN" altLang="zh-CN" sz="2400" dirty="0"/>
              <a:t>,</a:t>
            </a:r>
            <a:r>
              <a:rPr lang="zh-CN" sz="2400" dirty="0"/>
              <a:t>它将计算机系统的中央处理器、存储器和外围设备连接起来，成为数据传输和计算机系统组件间控制和状态信息传输的载体</a:t>
            </a:r>
            <a:r>
              <a:rPr lang="zh-CN" sz="2400" dirty="0" smtClean="0"/>
              <a:t>。系统</a:t>
            </a:r>
            <a:r>
              <a:rPr lang="zh-CN" sz="2400" dirty="0"/>
              <a:t>总线的发展历史可以粗略地划分为三代。</a:t>
            </a:r>
            <a:endParaRPr lang="zh-CN" sz="2400" dirty="0"/>
          </a:p>
          <a:p>
            <a:pPr lvl="1">
              <a:lnSpc>
                <a:spcPct val="80000"/>
              </a:lnSpc>
            </a:pPr>
            <a:r>
              <a:rPr lang="zh-CN" sz="2400" dirty="0"/>
              <a:t>第一代系统总线包括</a:t>
            </a:r>
            <a:r>
              <a:rPr lang="zh-CN" altLang="zh-CN" sz="2400" dirty="0"/>
              <a:t>ISA</a:t>
            </a:r>
            <a:r>
              <a:rPr lang="zh-CN" sz="2400" dirty="0"/>
              <a:t>、</a:t>
            </a:r>
            <a:r>
              <a:rPr lang="zh-CN" altLang="zh-CN" sz="2400" dirty="0"/>
              <a:t>EISA</a:t>
            </a:r>
            <a:r>
              <a:rPr lang="zh-CN" sz="2400" dirty="0"/>
              <a:t>和</a:t>
            </a:r>
            <a:r>
              <a:rPr lang="zh-CN" altLang="zh-CN" sz="2400" dirty="0"/>
              <a:t>VESA</a:t>
            </a:r>
            <a:r>
              <a:rPr lang="zh-CN" sz="2400" dirty="0"/>
              <a:t>等。</a:t>
            </a:r>
            <a:r>
              <a:rPr lang="zh-CN" altLang="zh-CN" sz="2400" dirty="0"/>
              <a:t>ISA</a:t>
            </a:r>
            <a:r>
              <a:rPr lang="zh-CN" sz="2400" dirty="0"/>
              <a:t>的数据宽度为</a:t>
            </a:r>
            <a:r>
              <a:rPr lang="zh-CN" altLang="zh-CN" sz="2400" dirty="0"/>
              <a:t>16</a:t>
            </a:r>
            <a:r>
              <a:rPr lang="zh-CN" sz="2400" dirty="0"/>
              <a:t>位，传输速率为</a:t>
            </a:r>
            <a:r>
              <a:rPr lang="zh-CN" altLang="zh-CN" sz="2400" dirty="0"/>
              <a:t>8MB/S</a:t>
            </a:r>
            <a:r>
              <a:rPr lang="zh-CN" sz="2400" dirty="0"/>
              <a:t>。</a:t>
            </a:r>
            <a:r>
              <a:rPr lang="zh-CN" altLang="zh-CN" sz="2400" dirty="0"/>
              <a:t>EISA</a:t>
            </a:r>
            <a:r>
              <a:rPr lang="zh-CN" sz="2400" dirty="0"/>
              <a:t>在</a:t>
            </a:r>
            <a:r>
              <a:rPr lang="zh-CN" altLang="zh-CN" sz="2400" dirty="0"/>
              <a:t>ISA</a:t>
            </a:r>
            <a:r>
              <a:rPr lang="zh-CN" sz="2400" dirty="0"/>
              <a:t>的基础上发展而来，其数据宽度为</a:t>
            </a:r>
            <a:r>
              <a:rPr lang="zh-CN" altLang="zh-CN" sz="2400" dirty="0"/>
              <a:t>32</a:t>
            </a:r>
            <a:r>
              <a:rPr lang="zh-CN" sz="2400" dirty="0"/>
              <a:t>位，最大传输速率为</a:t>
            </a:r>
            <a:r>
              <a:rPr lang="zh-CN" altLang="zh-CN" sz="2400" dirty="0"/>
              <a:t>33MB/S</a:t>
            </a:r>
            <a:r>
              <a:rPr lang="zh-CN" sz="2400" dirty="0"/>
              <a:t>。而</a:t>
            </a:r>
            <a:r>
              <a:rPr lang="zh-CN" altLang="zh-CN" sz="2400" dirty="0"/>
              <a:t>VESA</a:t>
            </a:r>
            <a:r>
              <a:rPr lang="zh-CN" sz="2400" dirty="0"/>
              <a:t>是</a:t>
            </a:r>
            <a:r>
              <a:rPr lang="zh-CN" altLang="zh-CN" sz="2400" dirty="0"/>
              <a:t>PC</a:t>
            </a:r>
            <a:r>
              <a:rPr lang="zh-CN" sz="2400" dirty="0"/>
              <a:t>微机的第一个局部总线（高速专用总线，专供内存、显卡、高速硬盘等高速设备</a:t>
            </a:r>
            <a:r>
              <a:rPr lang="zh-CN" sz="2400" dirty="0"/>
              <a:t>使用），连接到处理器子系统的局部总线上，数据线宽度为</a:t>
            </a:r>
            <a:r>
              <a:rPr lang="zh-CN" altLang="zh-CN" sz="2400" dirty="0"/>
              <a:t>32</a:t>
            </a:r>
            <a:r>
              <a:rPr lang="zh-CN" sz="2400" dirty="0"/>
              <a:t>位，最大传输率达</a:t>
            </a:r>
            <a:r>
              <a:rPr lang="zh-CN" altLang="zh-CN" sz="2400" dirty="0"/>
              <a:t>132MB/S</a:t>
            </a:r>
            <a:r>
              <a:rPr lang="zh-CN" sz="2400" dirty="0"/>
              <a:t>。</a:t>
            </a:r>
            <a:endParaRPr lang="zh-CN" sz="2400" dirty="0"/>
          </a:p>
          <a:p>
            <a:pPr lvl="1">
              <a:lnSpc>
                <a:spcPct val="80000"/>
              </a:lnSpc>
            </a:pPr>
            <a:r>
              <a:rPr lang="zh-CN" sz="2400" dirty="0"/>
              <a:t>第二代系统总线包括</a:t>
            </a:r>
            <a:r>
              <a:rPr lang="zh-CN" altLang="zh-CN" sz="2400" dirty="0"/>
              <a:t>PCI</a:t>
            </a:r>
            <a:r>
              <a:rPr lang="zh-CN" sz="2400" dirty="0"/>
              <a:t>、</a:t>
            </a:r>
            <a:r>
              <a:rPr lang="zh-CN" altLang="zh-CN" sz="2400" dirty="0"/>
              <a:t>AGP</a:t>
            </a:r>
            <a:r>
              <a:rPr lang="zh-CN" sz="2400" dirty="0"/>
              <a:t>和</a:t>
            </a:r>
            <a:r>
              <a:rPr lang="zh-CN" altLang="zh-CN" sz="2400" dirty="0"/>
              <a:t>PCI-X</a:t>
            </a:r>
            <a:r>
              <a:rPr lang="zh-CN" sz="2400" dirty="0"/>
              <a:t>。与第一代总线不同，</a:t>
            </a:r>
            <a:r>
              <a:rPr lang="zh-CN" altLang="zh-CN" sz="2400" dirty="0"/>
              <a:t>PCI</a:t>
            </a:r>
            <a:r>
              <a:rPr lang="zh-CN" sz="2400" dirty="0"/>
              <a:t>总线作为一种局部外围总线，通用性较强。</a:t>
            </a:r>
            <a:r>
              <a:rPr lang="zh-CN" altLang="zh-CN" sz="2400" dirty="0"/>
              <a:t>AGP</a:t>
            </a:r>
            <a:r>
              <a:rPr lang="zh-CN" sz="2400" dirty="0"/>
              <a:t>总线是一种显卡专用的局部总线，它减轻了</a:t>
            </a:r>
            <a:r>
              <a:rPr lang="zh-CN" altLang="zh-CN" sz="2400" dirty="0"/>
              <a:t>PCI</a:t>
            </a:r>
            <a:r>
              <a:rPr lang="zh-CN" sz="2400" dirty="0"/>
              <a:t>总线的负担，使得显卡和</a:t>
            </a:r>
            <a:r>
              <a:rPr lang="zh-CN" altLang="zh-CN" sz="2400" dirty="0"/>
              <a:t>PCI</a:t>
            </a:r>
            <a:r>
              <a:rPr lang="zh-CN" sz="2400" dirty="0"/>
              <a:t>总线上的设备都可以获得充足的传输带宽。而</a:t>
            </a:r>
            <a:r>
              <a:rPr lang="zh-CN" altLang="zh-CN" sz="2400" dirty="0"/>
              <a:t>PCI-X</a:t>
            </a:r>
            <a:r>
              <a:rPr lang="zh-CN" sz="2400" dirty="0"/>
              <a:t>是</a:t>
            </a:r>
            <a:r>
              <a:rPr lang="zh-CN" altLang="zh-CN" sz="2400" dirty="0"/>
              <a:t>PCI</a:t>
            </a:r>
            <a:r>
              <a:rPr lang="zh-CN" sz="2400" dirty="0"/>
              <a:t>总线的一种扩展架构，它在</a:t>
            </a:r>
            <a:r>
              <a:rPr lang="zh-CN" altLang="zh-CN" sz="2400" dirty="0"/>
              <a:t>PCI</a:t>
            </a:r>
            <a:r>
              <a:rPr lang="zh-CN" sz="2400" dirty="0"/>
              <a:t>总线的基础上，进一步提高时钟频率，所有的连接装置都可以共享频宽。</a:t>
            </a:r>
            <a:endParaRPr lang="zh-CN" sz="2400" dirty="0"/>
          </a:p>
          <a:p>
            <a:pPr lvl="1">
              <a:lnSpc>
                <a:spcPct val="80000"/>
              </a:lnSpc>
            </a:pPr>
            <a:r>
              <a:rPr lang="zh-CN" sz="2400" dirty="0"/>
              <a:t>第三代系统总线技术主要指</a:t>
            </a:r>
            <a:r>
              <a:rPr lang="zh-CN" altLang="zh-CN" sz="2400" dirty="0"/>
              <a:t>PCI-E</a:t>
            </a:r>
            <a:r>
              <a:rPr lang="zh-CN" sz="2400" dirty="0"/>
              <a:t>总线。</a:t>
            </a:r>
            <a:r>
              <a:rPr lang="zh-CN" altLang="zh-CN" sz="2400" dirty="0"/>
              <a:t>PCI-E</a:t>
            </a:r>
            <a:r>
              <a:rPr lang="zh-CN" sz="2400" dirty="0"/>
              <a:t>在总线结构上进行了根本性的变革，它采用串行技术实现数据传输，克服了并行技术在传输速度和系统带宽等方面的一些固有缺陷，满足了在计算机通信领域对数据传输高速度和高可靠性的要求。同时，它的引脚数大大减少，每引脚的平均带宽大幅度提升，使得成本大大降低。</a:t>
            </a:r>
            <a:endParaRPr 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7" dur="500"/>
                                        <p:tgtEl>
                                          <p:spTgt spid="1433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2" dur="500"/>
                                        <p:tgtEl>
                                          <p:spTgt spid="143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17" dur="500"/>
                                        <p:tgtEl>
                                          <p:spTgt spid="143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zh-CN" dirty="0"/>
              <a:t>11.</a:t>
            </a:r>
            <a:r>
              <a:rPr lang="zh-CN" altLang="zh-CN" dirty="0" smtClean="0"/>
              <a:t>2</a:t>
            </a:r>
            <a:r>
              <a:rPr lang="en-US" altLang="zh-CN" dirty="0" smtClean="0"/>
              <a:t>.1 </a:t>
            </a:r>
            <a:r>
              <a:rPr lang="zh-CN" altLang="zh-CN" dirty="0" smtClean="0"/>
              <a:t> </a:t>
            </a:r>
            <a:r>
              <a:rPr lang="zh-CN" altLang="zh-CN" dirty="0"/>
              <a:t>ISA</a:t>
            </a:r>
            <a:r>
              <a:rPr lang="zh-CN" dirty="0"/>
              <a:t>总线</a:t>
            </a:r>
            <a:endParaRPr lang="zh-CN" dirty="0"/>
          </a:p>
        </p:txBody>
      </p:sp>
      <p:sp>
        <p:nvSpPr>
          <p:cNvPr id="15363" name="Rectangle 3"/>
          <p:cNvSpPr>
            <a:spLocks noGrp="1" noChangeArrowheads="1"/>
          </p:cNvSpPr>
          <p:nvPr>
            <p:ph type="body" idx="1"/>
          </p:nvPr>
        </p:nvSpPr>
        <p:spPr>
          <a:xfrm>
            <a:off x="508000" y="1752600"/>
            <a:ext cx="11432117" cy="3759200"/>
          </a:xfrm>
        </p:spPr>
        <p:txBody>
          <a:bodyPr/>
          <a:lstStyle/>
          <a:p>
            <a:pPr>
              <a:lnSpc>
                <a:spcPct val="90000"/>
              </a:lnSpc>
            </a:pPr>
            <a:r>
              <a:rPr lang="zh-CN" altLang="zh-CN" sz="2400" dirty="0"/>
              <a:t>ISA(Industry Standard Architecture)</a:t>
            </a:r>
            <a:r>
              <a:rPr lang="zh-CN" sz="2400" dirty="0"/>
              <a:t>工业标准总线是</a:t>
            </a:r>
            <a:r>
              <a:rPr lang="zh-CN" altLang="zh-CN" sz="2400" dirty="0"/>
              <a:t>IBM</a:t>
            </a:r>
            <a:r>
              <a:rPr lang="zh-CN" sz="2400" dirty="0"/>
              <a:t>公司为</a:t>
            </a:r>
            <a:r>
              <a:rPr lang="zh-CN" altLang="zh-CN" sz="2400" dirty="0"/>
              <a:t>286/AT</a:t>
            </a:r>
            <a:r>
              <a:rPr lang="zh-CN" sz="2400" dirty="0"/>
              <a:t>微型计算机制定的一种总线标准。也称为</a:t>
            </a:r>
            <a:r>
              <a:rPr lang="zh-CN" altLang="zh-CN" sz="2400" dirty="0"/>
              <a:t>AT</a:t>
            </a:r>
            <a:r>
              <a:rPr lang="zh-CN" sz="2400" dirty="0"/>
              <a:t>总线标准。</a:t>
            </a:r>
            <a:endParaRPr lang="zh-CN" sz="2400" dirty="0"/>
          </a:p>
          <a:p>
            <a:pPr>
              <a:lnSpc>
                <a:spcPct val="90000"/>
              </a:lnSpc>
            </a:pPr>
            <a:r>
              <a:rPr lang="zh-CN" altLang="zh-CN" sz="2400" dirty="0"/>
              <a:t>ISA</a:t>
            </a:r>
            <a:r>
              <a:rPr lang="zh-CN" sz="2400" dirty="0"/>
              <a:t>总线是在</a:t>
            </a:r>
            <a:r>
              <a:rPr lang="en-US" altLang="zh-CN" sz="2400" dirty="0"/>
              <a:t>XT</a:t>
            </a:r>
            <a:r>
              <a:rPr lang="zh-CN" sz="2400" dirty="0"/>
              <a:t>总线的基础上扩展一个</a:t>
            </a:r>
            <a:r>
              <a:rPr lang="zh-CN" altLang="zh-CN" sz="2400" dirty="0"/>
              <a:t>36</a:t>
            </a:r>
            <a:r>
              <a:rPr lang="zh-CN" sz="2400" dirty="0"/>
              <a:t>位插槽形成的。同一槽线的插槽，分成</a:t>
            </a:r>
            <a:r>
              <a:rPr lang="zh-CN" altLang="zh-CN" sz="2400" dirty="0"/>
              <a:t>62</a:t>
            </a:r>
            <a:r>
              <a:rPr lang="zh-CN" sz="2400" dirty="0"/>
              <a:t>线和</a:t>
            </a:r>
            <a:r>
              <a:rPr lang="zh-CN" altLang="zh-CN" sz="2400" dirty="0"/>
              <a:t>36</a:t>
            </a:r>
            <a:r>
              <a:rPr lang="zh-CN" sz="2400" dirty="0"/>
              <a:t>线两段，共计</a:t>
            </a:r>
            <a:r>
              <a:rPr lang="zh-CN" altLang="zh-CN" sz="2400" dirty="0"/>
              <a:t>98</a:t>
            </a:r>
            <a:r>
              <a:rPr lang="zh-CN" sz="2400" dirty="0" smtClean="0"/>
              <a:t>线。</a:t>
            </a:r>
            <a:endParaRPr lang="zh-CN" sz="2400" dirty="0"/>
          </a:p>
          <a:p>
            <a:pPr>
              <a:lnSpc>
                <a:spcPct val="90000"/>
              </a:lnSpc>
            </a:pPr>
            <a:r>
              <a:rPr lang="zh-CN" sz="2400" dirty="0"/>
              <a:t>在</a:t>
            </a:r>
            <a:r>
              <a:rPr lang="zh-CN" altLang="zh-CN" sz="2400" dirty="0"/>
              <a:t>62</a:t>
            </a:r>
            <a:r>
              <a:rPr lang="zh-CN" sz="2400" dirty="0"/>
              <a:t>条基本信号线中，数据线</a:t>
            </a:r>
            <a:r>
              <a:rPr lang="zh-CN" altLang="zh-CN" sz="2400" dirty="0"/>
              <a:t>8</a:t>
            </a:r>
            <a:r>
              <a:rPr lang="zh-CN" sz="2400" dirty="0"/>
              <a:t>条，地址线</a:t>
            </a:r>
            <a:r>
              <a:rPr lang="zh-CN" altLang="zh-CN" sz="2400" dirty="0"/>
              <a:t>20</a:t>
            </a:r>
            <a:r>
              <a:rPr lang="zh-CN" sz="2400" dirty="0"/>
              <a:t>条，控制信号线</a:t>
            </a:r>
            <a:r>
              <a:rPr lang="zh-CN" altLang="zh-CN" sz="2400" dirty="0"/>
              <a:t>22</a:t>
            </a:r>
            <a:r>
              <a:rPr lang="zh-CN" sz="2400" dirty="0"/>
              <a:t>条，电源、地及其它信号线</a:t>
            </a:r>
            <a:r>
              <a:rPr lang="zh-CN" altLang="zh-CN" sz="2400" dirty="0"/>
              <a:t>12</a:t>
            </a:r>
            <a:r>
              <a:rPr lang="zh-CN" sz="2400" dirty="0"/>
              <a:t>条。</a:t>
            </a:r>
            <a:endParaRPr lang="zh-CN" sz="2400" dirty="0"/>
          </a:p>
          <a:p>
            <a:pPr>
              <a:lnSpc>
                <a:spcPct val="90000"/>
              </a:lnSpc>
            </a:pPr>
            <a:r>
              <a:rPr lang="zh-CN" sz="2400" dirty="0"/>
              <a:t>在扩展的</a:t>
            </a:r>
            <a:r>
              <a:rPr lang="zh-CN" altLang="zh-CN" sz="2400" dirty="0"/>
              <a:t>36</a:t>
            </a:r>
            <a:r>
              <a:rPr lang="zh-CN" sz="2400" dirty="0"/>
              <a:t>条信号线中，数据／地址线</a:t>
            </a:r>
            <a:r>
              <a:rPr lang="zh-CN" altLang="zh-CN" sz="2400" dirty="0"/>
              <a:t>8</a:t>
            </a:r>
            <a:r>
              <a:rPr lang="zh-CN" sz="2400" dirty="0"/>
              <a:t>条，高位地址线</a:t>
            </a:r>
            <a:r>
              <a:rPr lang="zh-CN" altLang="zh-CN" sz="2400" dirty="0"/>
              <a:t>7</a:t>
            </a:r>
            <a:r>
              <a:rPr lang="zh-CN" sz="2400" dirty="0"/>
              <a:t>条，控制信号线</a:t>
            </a:r>
            <a:r>
              <a:rPr lang="zh-CN" altLang="zh-CN" sz="2400" dirty="0"/>
              <a:t>19</a:t>
            </a:r>
            <a:r>
              <a:rPr lang="zh-CN" sz="2400" dirty="0"/>
              <a:t>条，电源和地线</a:t>
            </a:r>
            <a:r>
              <a:rPr lang="zh-CN" altLang="zh-CN" sz="2400" dirty="0"/>
              <a:t>2</a:t>
            </a:r>
            <a:r>
              <a:rPr lang="zh-CN" sz="2400" dirty="0"/>
              <a:t>条。</a:t>
            </a:r>
            <a:endParaRPr lang="zh-CN"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 calcmode="lin" valueType="num">
                                      <p:cBhvr additive="base">
                                        <p:cTn id="25" dur="5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36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utoUpdateAnimBg="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122238"/>
            <a:ext cx="2981739" cy="1295400"/>
          </a:xfrm>
        </p:spPr>
        <p:txBody>
          <a:bodyPr/>
          <a:lstStyle/>
          <a:p>
            <a:r>
              <a:rPr lang="en-US" altLang="zh-CN" dirty="0"/>
              <a:t>ISA</a:t>
            </a:r>
            <a:r>
              <a:rPr lang="zh-CN" altLang="en-US" dirty="0"/>
              <a:t>总线：</a:t>
            </a:r>
            <a:endParaRPr lang="zh-CN" altLang="en-US" dirty="0"/>
          </a:p>
        </p:txBody>
      </p:sp>
      <p:sp>
        <p:nvSpPr>
          <p:cNvPr id="3" name="内容占位符 2"/>
          <p:cNvSpPr>
            <a:spLocks noGrp="1"/>
          </p:cNvSpPr>
          <p:nvPr>
            <p:ph idx="1"/>
          </p:nvPr>
        </p:nvSpPr>
        <p:spPr>
          <a:xfrm>
            <a:off x="609601" y="4439477"/>
            <a:ext cx="10058400" cy="1691447"/>
          </a:xfrm>
        </p:spPr>
        <p:txBody>
          <a:bodyPr/>
          <a:lstStyle/>
          <a:p>
            <a:r>
              <a:rPr lang="zh-CN" altLang="en-US" dirty="0"/>
              <a:t>工业标准体系结构</a:t>
            </a:r>
            <a:r>
              <a:rPr lang="zh-CN" altLang="en-US" dirty="0" smtClean="0"/>
              <a:t>，</a:t>
            </a:r>
            <a:r>
              <a:rPr lang="en-US" altLang="zh-CN" dirty="0" smtClean="0"/>
              <a:t>IBM</a:t>
            </a:r>
            <a:r>
              <a:rPr lang="zh-CN" altLang="en-US" dirty="0" smtClean="0"/>
              <a:t>在</a:t>
            </a:r>
            <a:r>
              <a:rPr lang="en-US" altLang="zh-CN" dirty="0"/>
              <a:t>PC</a:t>
            </a:r>
            <a:r>
              <a:rPr lang="zh-CN" altLang="en-US" dirty="0"/>
              <a:t>总线基础上发展而来，最高工作频率为</a:t>
            </a:r>
            <a:r>
              <a:rPr lang="en-US" altLang="zh-CN" dirty="0"/>
              <a:t>8MHz</a:t>
            </a:r>
            <a:r>
              <a:rPr lang="zh-CN" altLang="en-US" dirty="0"/>
              <a:t>，</a:t>
            </a:r>
            <a:r>
              <a:rPr lang="en-US" altLang="zh-CN" dirty="0"/>
              <a:t>24</a:t>
            </a:r>
            <a:r>
              <a:rPr lang="zh-CN" altLang="en-US" dirty="0"/>
              <a:t>根地址线，</a:t>
            </a:r>
            <a:r>
              <a:rPr lang="en-US" altLang="zh-CN" dirty="0"/>
              <a:t>16</a:t>
            </a:r>
            <a:r>
              <a:rPr lang="zh-CN" altLang="en-US" dirty="0"/>
              <a:t>位数据线，拥有大量接口卡，历经</a:t>
            </a:r>
            <a:r>
              <a:rPr lang="en-US" altLang="zh-CN" dirty="0"/>
              <a:t>286</a:t>
            </a:r>
            <a:r>
              <a:rPr lang="zh-CN" altLang="en-US" dirty="0"/>
              <a:t>、</a:t>
            </a:r>
            <a:r>
              <a:rPr lang="en-US" altLang="zh-CN" dirty="0"/>
              <a:t>386</a:t>
            </a:r>
            <a:r>
              <a:rPr lang="zh-CN" altLang="en-US" dirty="0"/>
              <a:t>、</a:t>
            </a:r>
            <a:r>
              <a:rPr lang="en-US" altLang="zh-CN" dirty="0"/>
              <a:t>486</a:t>
            </a:r>
            <a:r>
              <a:rPr lang="zh-CN" altLang="en-US" dirty="0"/>
              <a:t>和</a:t>
            </a:r>
            <a:r>
              <a:rPr lang="en-US" altLang="zh-CN" dirty="0"/>
              <a:t>Pentium</a:t>
            </a:r>
            <a:r>
              <a:rPr lang="zh-CN" altLang="en-US" dirty="0"/>
              <a:t>几代微机。</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3781063" y="913744"/>
            <a:ext cx="5391904" cy="2922542"/>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ISA</a:t>
            </a:r>
            <a:r>
              <a:rPr lang="zh-CN" altLang="en-US" dirty="0"/>
              <a:t>主要性能指标</a:t>
            </a:r>
            <a:endParaRPr lang="zh-CN" altLang="en-US" dirty="0"/>
          </a:p>
        </p:txBody>
      </p:sp>
      <p:sp>
        <p:nvSpPr>
          <p:cNvPr id="3" name="内容占位符 2"/>
          <p:cNvSpPr>
            <a:spLocks noGrp="1"/>
          </p:cNvSpPr>
          <p:nvPr>
            <p:ph idx="1"/>
          </p:nvPr>
        </p:nvSpPr>
        <p:spPr>
          <a:xfrm>
            <a:off x="693530" y="937384"/>
            <a:ext cx="10058400" cy="4411662"/>
          </a:xfrm>
        </p:spPr>
        <p:txBody>
          <a:bodyPr/>
          <a:lstStyle/>
          <a:p>
            <a:pPr marL="0" indent="0">
              <a:buNone/>
            </a:pPr>
            <a:endParaRPr lang="en-US" altLang="zh-CN" dirty="0"/>
          </a:p>
          <a:p>
            <a:r>
              <a:rPr lang="en-US" altLang="zh-CN" dirty="0"/>
              <a:t>24</a:t>
            </a:r>
            <a:r>
              <a:rPr lang="zh-CN" altLang="en-US" dirty="0"/>
              <a:t>位地址</a:t>
            </a:r>
            <a:r>
              <a:rPr lang="zh-CN" altLang="en-US" dirty="0" smtClean="0"/>
              <a:t>线</a:t>
            </a:r>
            <a:r>
              <a:rPr lang="zh-CN" altLang="zh-CN" dirty="0" smtClean="0"/>
              <a:t>可直接寻址的内存容量为16MB</a:t>
            </a:r>
            <a:endParaRPr lang="zh-CN" altLang="en-US" dirty="0"/>
          </a:p>
          <a:p>
            <a:r>
              <a:rPr lang="en-US" altLang="zh-CN" dirty="0"/>
              <a:t>8/16</a:t>
            </a:r>
            <a:r>
              <a:rPr lang="zh-CN" altLang="en-US" dirty="0"/>
              <a:t>位数据线</a:t>
            </a:r>
            <a:endParaRPr lang="zh-CN" altLang="en-US" dirty="0"/>
          </a:p>
          <a:p>
            <a:r>
              <a:rPr lang="zh-CN" altLang="en-US" dirty="0"/>
              <a:t>引脚数：</a:t>
            </a:r>
            <a:r>
              <a:rPr lang="en-US" altLang="zh-CN" dirty="0"/>
              <a:t>62+36=98</a:t>
            </a:r>
            <a:r>
              <a:rPr lang="zh-CN" altLang="en-US" dirty="0"/>
              <a:t>线</a:t>
            </a:r>
            <a:endParaRPr lang="zh-CN" altLang="en-US" dirty="0"/>
          </a:p>
          <a:p>
            <a:r>
              <a:rPr lang="zh-CN" altLang="en-US" dirty="0"/>
              <a:t>最高时钟频率</a:t>
            </a:r>
            <a:r>
              <a:rPr lang="en-US" altLang="zh-CN" dirty="0"/>
              <a:t>8MHz</a:t>
            </a:r>
            <a:endParaRPr lang="en-US" altLang="zh-CN" dirty="0"/>
          </a:p>
          <a:p>
            <a:r>
              <a:rPr lang="zh-CN" altLang="en-US" dirty="0"/>
              <a:t>最大传输率</a:t>
            </a:r>
            <a:r>
              <a:rPr lang="en-US" altLang="zh-CN" dirty="0"/>
              <a:t>16MB/s</a:t>
            </a:r>
            <a:endParaRPr lang="en-US" altLang="zh-CN" dirty="0"/>
          </a:p>
          <a:p>
            <a:r>
              <a:rPr lang="zh-CN" altLang="en-US" dirty="0"/>
              <a:t>中断功能与</a:t>
            </a:r>
            <a:r>
              <a:rPr lang="en-US" altLang="zh-CN" dirty="0"/>
              <a:t>DMA</a:t>
            </a:r>
            <a:r>
              <a:rPr lang="zh-CN" altLang="en-US" dirty="0"/>
              <a:t>通道功能</a:t>
            </a:r>
            <a:endParaRPr lang="zh-CN" altLang="en-US" dirty="0"/>
          </a:p>
          <a:p>
            <a:r>
              <a:rPr lang="zh-CN" altLang="en-US" dirty="0"/>
              <a:t>开放式总线结构，允许多个</a:t>
            </a:r>
            <a:r>
              <a:rPr lang="en-US" altLang="zh-CN" dirty="0"/>
              <a:t>CPU</a:t>
            </a:r>
            <a:r>
              <a:rPr lang="zh-CN" altLang="en-US" dirty="0"/>
              <a:t>共享系统资源</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zh-CN"/>
              <a:t>11.2.2  PCI</a:t>
            </a:r>
            <a:r>
              <a:rPr lang="zh-CN"/>
              <a:t>总线</a:t>
            </a:r>
            <a:endParaRPr lang="zh-CN"/>
          </a:p>
        </p:txBody>
      </p:sp>
      <p:sp>
        <p:nvSpPr>
          <p:cNvPr id="18435" name="Rectangle 3"/>
          <p:cNvSpPr>
            <a:spLocks noGrp="1" noChangeArrowheads="1"/>
          </p:cNvSpPr>
          <p:nvPr>
            <p:ph type="body" idx="1"/>
          </p:nvPr>
        </p:nvSpPr>
        <p:spPr>
          <a:xfrm>
            <a:off x="508000" y="1752600"/>
            <a:ext cx="11432117" cy="4967288"/>
          </a:xfrm>
        </p:spPr>
        <p:txBody>
          <a:bodyPr/>
          <a:lstStyle/>
          <a:p>
            <a:r>
              <a:rPr lang="zh-CN" altLang="zh-CN" sz="2800"/>
              <a:t>PCI</a:t>
            </a:r>
            <a:r>
              <a:rPr lang="zh-CN" sz="2800"/>
              <a:t>（</a:t>
            </a:r>
            <a:r>
              <a:rPr lang="zh-CN" altLang="zh-CN" sz="2800"/>
              <a:t>Peripheral Component Interconnect </a:t>
            </a:r>
            <a:r>
              <a:rPr lang="zh-CN" sz="2800"/>
              <a:t>即连接外部设备的计算机内部总线）总线是一种高性能的 </a:t>
            </a:r>
            <a:r>
              <a:rPr lang="zh-CN" altLang="zh-CN" sz="2800"/>
              <a:t>32 </a:t>
            </a:r>
            <a:r>
              <a:rPr lang="zh-CN" sz="2800"/>
              <a:t>位</a:t>
            </a:r>
            <a:r>
              <a:rPr lang="zh-CN" altLang="zh-CN" sz="2800"/>
              <a:t>/64 </a:t>
            </a:r>
            <a:r>
              <a:rPr lang="zh-CN" sz="2800"/>
              <a:t>位地址数据复用的高速外围设备接口局部总线。</a:t>
            </a:r>
            <a:endParaRPr lang="zh-CN" sz="2800"/>
          </a:p>
          <a:p>
            <a:r>
              <a:rPr lang="zh-CN" sz="2800"/>
              <a:t>其总线标准最早由 </a:t>
            </a:r>
            <a:r>
              <a:rPr lang="zh-CN" altLang="zh-CN" sz="2800"/>
              <a:t>Intel </a:t>
            </a:r>
            <a:r>
              <a:rPr lang="zh-CN" sz="2800"/>
              <a:t>公司的电脑结构实验室在 </a:t>
            </a:r>
            <a:r>
              <a:rPr lang="zh-CN" altLang="zh-CN" sz="2800"/>
              <a:t>1991 </a:t>
            </a:r>
            <a:r>
              <a:rPr lang="zh-CN" sz="2800"/>
              <a:t>年底提出，</a:t>
            </a:r>
            <a:r>
              <a:rPr lang="zh-CN" altLang="zh-CN" sz="2800"/>
              <a:t>1992 </a:t>
            </a:r>
            <a:r>
              <a:rPr lang="zh-CN" sz="2800"/>
              <a:t>年 </a:t>
            </a:r>
            <a:r>
              <a:rPr lang="zh-CN" altLang="zh-CN" sz="2800"/>
              <a:t>6 </a:t>
            </a:r>
            <a:r>
              <a:rPr lang="zh-CN" sz="2800"/>
              <a:t>月 </a:t>
            </a:r>
            <a:r>
              <a:rPr lang="zh-CN" altLang="zh-CN" sz="2800"/>
              <a:t>Intel </a:t>
            </a:r>
            <a:r>
              <a:rPr lang="zh-CN" sz="2800"/>
              <a:t>公司又联合 </a:t>
            </a:r>
            <a:r>
              <a:rPr lang="zh-CN" altLang="zh-CN" sz="2800"/>
              <a:t>IBM</a:t>
            </a:r>
            <a:r>
              <a:rPr lang="zh-CN" sz="2800"/>
              <a:t>、</a:t>
            </a:r>
            <a:r>
              <a:rPr lang="zh-CN" altLang="zh-CN" sz="2800"/>
              <a:t>Compaq</a:t>
            </a:r>
            <a:r>
              <a:rPr lang="zh-CN" sz="2800"/>
              <a:t>、</a:t>
            </a:r>
            <a:r>
              <a:rPr lang="zh-CN" altLang="zh-CN" sz="2800"/>
              <a:t>DEC </a:t>
            </a:r>
            <a:r>
              <a:rPr lang="zh-CN" sz="2800"/>
              <a:t>等公司组成 </a:t>
            </a:r>
            <a:r>
              <a:rPr lang="zh-CN" altLang="zh-CN" sz="2800"/>
              <a:t>PCISIG(PCI Special Interest Group)</a:t>
            </a:r>
            <a:r>
              <a:rPr lang="zh-CN" sz="2800"/>
              <a:t>，其致力于 </a:t>
            </a:r>
            <a:r>
              <a:rPr lang="zh-CN" altLang="zh-CN" sz="2800"/>
              <a:t>PCI</a:t>
            </a:r>
            <a:r>
              <a:rPr lang="zh-CN" sz="2800"/>
              <a:t>标准的推广，并公布了 </a:t>
            </a:r>
            <a:r>
              <a:rPr lang="zh-CN" altLang="zh-CN" sz="2800"/>
              <a:t>V1.0 </a:t>
            </a:r>
            <a:r>
              <a:rPr lang="zh-CN" sz="2800"/>
              <a:t>标准；在 </a:t>
            </a:r>
            <a:r>
              <a:rPr lang="zh-CN" altLang="zh-CN" sz="2800"/>
              <a:t>1993 </a:t>
            </a:r>
            <a:r>
              <a:rPr lang="zh-CN" sz="2800"/>
              <a:t>年 </a:t>
            </a:r>
            <a:r>
              <a:rPr lang="zh-CN" altLang="zh-CN" sz="2800"/>
              <a:t>4 </a:t>
            </a:r>
            <a:r>
              <a:rPr lang="zh-CN" sz="2800"/>
              <a:t>月升级到 </a:t>
            </a:r>
            <a:r>
              <a:rPr lang="zh-CN" altLang="zh-CN" sz="2800"/>
              <a:t>V2.0</a:t>
            </a:r>
            <a:r>
              <a:rPr lang="zh-CN" sz="2800"/>
              <a:t>，并扩展到 </a:t>
            </a:r>
            <a:r>
              <a:rPr lang="zh-CN" altLang="zh-CN" sz="2800"/>
              <a:t>64 </a:t>
            </a:r>
            <a:r>
              <a:rPr lang="zh-CN" sz="2800"/>
              <a:t>位，将总线带宽扩展到 </a:t>
            </a:r>
            <a:r>
              <a:rPr lang="zh-CN" altLang="zh-CN" sz="2800"/>
              <a:t>264MB/S</a:t>
            </a:r>
            <a:r>
              <a:rPr lang="zh-CN" sz="2800"/>
              <a:t>；</a:t>
            </a:r>
            <a:r>
              <a:rPr lang="zh-CN" altLang="zh-CN" sz="2800"/>
              <a:t>1995</a:t>
            </a:r>
            <a:r>
              <a:rPr lang="zh-CN" sz="2800"/>
              <a:t>年</a:t>
            </a:r>
            <a:r>
              <a:rPr lang="zh-CN" altLang="zh-CN" sz="2800"/>
              <a:t>1</a:t>
            </a:r>
            <a:r>
              <a:rPr lang="zh-CN" sz="2800"/>
              <a:t>月又升级到了 </a:t>
            </a:r>
            <a:r>
              <a:rPr lang="zh-CN" altLang="zh-CN" sz="2800"/>
              <a:t>V2.1</a:t>
            </a:r>
            <a:r>
              <a:rPr lang="zh-CN" sz="2800"/>
              <a:t>，总线时钟扩展到了 </a:t>
            </a:r>
            <a:r>
              <a:rPr lang="zh-CN" altLang="zh-CN" sz="2800"/>
              <a:t>66MHz</a:t>
            </a:r>
            <a:r>
              <a:rPr lang="zh-CN" sz="2800"/>
              <a:t>，将总线带宽扩展到了 </a:t>
            </a:r>
            <a:r>
              <a:rPr lang="zh-CN" altLang="zh-CN" sz="2800"/>
              <a:t>528MB/S</a:t>
            </a:r>
            <a:r>
              <a:rPr lang="zh-CN" sz="2800"/>
              <a:t>。</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autoUpdateAnimBg="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pic>
        <p:nvPicPr>
          <p:cNvPr id="7" name="图片 6"/>
          <p:cNvPicPr>
            <a:picLocks noChangeAspect="1"/>
          </p:cNvPicPr>
          <p:nvPr/>
        </p:nvPicPr>
        <p:blipFill>
          <a:blip r:embed="rId1" cstate="print"/>
          <a:stretch>
            <a:fillRect/>
          </a:stretch>
        </p:blipFill>
        <p:spPr>
          <a:xfrm>
            <a:off x="1693301" y="693425"/>
            <a:ext cx="7863467" cy="48459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PCI</a:t>
            </a:r>
            <a:r>
              <a:rPr lang="zh-CN" altLang="en-US" dirty="0"/>
              <a:t>总线主要性能</a:t>
            </a:r>
            <a:endParaRPr lang="zh-CN" altLang="en-US" dirty="0"/>
          </a:p>
        </p:txBody>
      </p:sp>
      <p:sp>
        <p:nvSpPr>
          <p:cNvPr id="3" name="内容占位符 2"/>
          <p:cNvSpPr>
            <a:spLocks noGrp="1"/>
          </p:cNvSpPr>
          <p:nvPr>
            <p:ph idx="1"/>
          </p:nvPr>
        </p:nvSpPr>
        <p:spPr/>
        <p:txBody>
          <a:bodyPr/>
          <a:lstStyle/>
          <a:p>
            <a:r>
              <a:rPr lang="zh-CN" altLang="en-US" dirty="0"/>
              <a:t>支持</a:t>
            </a:r>
            <a:r>
              <a:rPr lang="en-US" altLang="zh-CN" dirty="0"/>
              <a:t>10</a:t>
            </a:r>
            <a:r>
              <a:rPr lang="zh-CN" altLang="en-US" dirty="0"/>
              <a:t>台外设</a:t>
            </a:r>
            <a:endParaRPr lang="zh-CN" altLang="en-US" dirty="0"/>
          </a:p>
          <a:p>
            <a:r>
              <a:rPr lang="zh-CN" altLang="en-US" dirty="0"/>
              <a:t>总线时钟</a:t>
            </a:r>
            <a:r>
              <a:rPr lang="en-US" altLang="zh-CN" dirty="0"/>
              <a:t>33.3MHz/66M</a:t>
            </a:r>
            <a:endParaRPr lang="en-US" altLang="zh-CN" dirty="0"/>
          </a:p>
          <a:p>
            <a:r>
              <a:rPr lang="zh-CN" altLang="en-US" dirty="0"/>
              <a:t>最大数据率</a:t>
            </a:r>
            <a:r>
              <a:rPr lang="en-US" altLang="zh-CN" dirty="0"/>
              <a:t>133MB/S</a:t>
            </a:r>
            <a:endParaRPr lang="en-US" altLang="zh-CN" dirty="0"/>
          </a:p>
          <a:p>
            <a:r>
              <a:rPr lang="zh-CN" altLang="en-US" dirty="0"/>
              <a:t>总线宽度</a:t>
            </a:r>
            <a:r>
              <a:rPr lang="en-US" altLang="zh-CN" dirty="0"/>
              <a:t>32</a:t>
            </a:r>
            <a:r>
              <a:rPr lang="zh-CN" altLang="en-US" dirty="0"/>
              <a:t>位（</a:t>
            </a:r>
            <a:r>
              <a:rPr lang="en-US" altLang="zh-CN" dirty="0"/>
              <a:t>5V</a:t>
            </a:r>
            <a:r>
              <a:rPr lang="zh-CN" altLang="en-US" dirty="0"/>
              <a:t>）</a:t>
            </a:r>
            <a:r>
              <a:rPr lang="en-US" altLang="zh-CN" dirty="0"/>
              <a:t>/64</a:t>
            </a:r>
            <a:r>
              <a:rPr lang="zh-CN" altLang="en-US" dirty="0"/>
              <a:t>位（</a:t>
            </a:r>
            <a:r>
              <a:rPr lang="en-US" altLang="zh-CN" dirty="0"/>
              <a:t>3.3V</a:t>
            </a:r>
            <a:r>
              <a:rPr lang="zh-CN" altLang="en-US" dirty="0"/>
              <a:t>）</a:t>
            </a:r>
            <a:endParaRPr lang="zh-CN" altLang="en-US" dirty="0"/>
          </a:p>
          <a:p>
            <a:r>
              <a:rPr lang="zh-CN" altLang="en-US" dirty="0"/>
              <a:t>能自动识别外设</a:t>
            </a:r>
            <a:endParaRPr lang="zh-CN" altLang="en-US" dirty="0"/>
          </a:p>
          <a:p>
            <a:r>
              <a:rPr lang="zh-CN" altLang="en-US" dirty="0"/>
              <a:t>支持</a:t>
            </a:r>
            <a:r>
              <a:rPr lang="en-US" altLang="zh-CN" dirty="0"/>
              <a:t>64</a:t>
            </a:r>
            <a:r>
              <a:rPr lang="zh-CN" altLang="en-US" dirty="0"/>
              <a:t>位寻址</a:t>
            </a:r>
            <a:endParaRPr lang="zh-CN" altLang="en-US" dirty="0"/>
          </a:p>
          <a:p>
            <a:r>
              <a:rPr lang="zh-CN" altLang="en-US" dirty="0"/>
              <a:t>具有与处理器和存储器子系统完全并列操作的能力</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11.2.3 AGP</a:t>
            </a:r>
            <a:r>
              <a:rPr lang="zh-CN" altLang="en-US" dirty="0"/>
              <a:t>总线</a:t>
            </a:r>
            <a:endParaRPr lang="zh-CN" altLang="en-US" dirty="0"/>
          </a:p>
        </p:txBody>
      </p:sp>
      <p:sp>
        <p:nvSpPr>
          <p:cNvPr id="3" name="内容占位符 2"/>
          <p:cNvSpPr>
            <a:spLocks noGrp="1"/>
          </p:cNvSpPr>
          <p:nvPr>
            <p:ph idx="1"/>
          </p:nvPr>
        </p:nvSpPr>
        <p:spPr/>
        <p:txBody>
          <a:bodyPr/>
          <a:lstStyle/>
          <a:p>
            <a:r>
              <a:rPr lang="en-US" altLang="zh-CN" dirty="0"/>
              <a:t>Intel</a:t>
            </a:r>
            <a:r>
              <a:rPr lang="zh-CN" altLang="en-US" dirty="0"/>
              <a:t>公司为了解决高速视频或高品质画面的显示，在</a:t>
            </a:r>
            <a:r>
              <a:rPr lang="en-US" altLang="zh-CN" dirty="0"/>
              <a:t>1997</a:t>
            </a:r>
            <a:r>
              <a:rPr lang="zh-CN" altLang="en-US" dirty="0"/>
              <a:t>年又推出了一种高速图形接口的局部总线标准</a:t>
            </a:r>
            <a:r>
              <a:rPr lang="en-US" altLang="zh-CN" dirty="0"/>
              <a:t>—AGP</a:t>
            </a:r>
            <a:r>
              <a:rPr lang="zh-CN" altLang="en-US" dirty="0"/>
              <a:t>总线。</a:t>
            </a:r>
            <a:endParaRPr lang="zh-CN" altLang="en-US" dirty="0"/>
          </a:p>
          <a:p>
            <a:r>
              <a:rPr lang="en-US" altLang="zh-CN" dirty="0"/>
              <a:t>AGP</a:t>
            </a:r>
            <a:r>
              <a:rPr lang="zh-CN" altLang="en-US" dirty="0"/>
              <a:t>总线是对</a:t>
            </a:r>
            <a:r>
              <a:rPr lang="en-US" altLang="zh-CN" dirty="0"/>
              <a:t>PCI</a:t>
            </a:r>
            <a:r>
              <a:rPr lang="zh-CN" altLang="en-US" dirty="0"/>
              <a:t>总线的扩展和增强，但</a:t>
            </a:r>
            <a:r>
              <a:rPr lang="en-US" altLang="zh-CN" dirty="0"/>
              <a:t>AGP</a:t>
            </a:r>
            <a:r>
              <a:rPr lang="zh-CN" altLang="en-US" dirty="0"/>
              <a:t>接口只能为图形设备独占，不具有一般总线的共享特性。采用</a:t>
            </a:r>
            <a:r>
              <a:rPr lang="en-US" altLang="zh-CN" dirty="0"/>
              <a:t>AGP</a:t>
            </a:r>
            <a:r>
              <a:rPr lang="zh-CN" altLang="en-US" dirty="0"/>
              <a:t>接口，允许显示数据直接取自系统主存储器，而无需先预取至视频存储器中。通过系统设置，图形控制器可以从系统主存中划出一部分空间用于保存</a:t>
            </a:r>
            <a:r>
              <a:rPr lang="en-US" altLang="zh-CN" dirty="0"/>
              <a:t>AGP</a:t>
            </a:r>
            <a:r>
              <a:rPr lang="zh-CN" altLang="en-US" dirty="0"/>
              <a:t>数据。</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AGP</a:t>
            </a:r>
            <a:r>
              <a:rPr lang="zh-CN" altLang="en-US" dirty="0"/>
              <a:t>总线特点</a:t>
            </a:r>
            <a:endParaRPr lang="zh-CN" altLang="en-US" dirty="0"/>
          </a:p>
        </p:txBody>
      </p:sp>
      <p:sp>
        <p:nvSpPr>
          <p:cNvPr id="3" name="内容占位符 2"/>
          <p:cNvSpPr>
            <a:spLocks noGrp="1"/>
          </p:cNvSpPr>
          <p:nvPr>
            <p:ph idx="1"/>
          </p:nvPr>
        </p:nvSpPr>
        <p:spPr/>
        <p:txBody>
          <a:bodyPr/>
          <a:lstStyle/>
          <a:p>
            <a:r>
              <a:rPr lang="zh-CN" altLang="en-US" dirty="0"/>
              <a:t>具有双重驱动技术，允许在一个总线周期内传输两次数据从而将有效带宽提高</a:t>
            </a:r>
            <a:r>
              <a:rPr lang="en-US" altLang="zh-CN" dirty="0"/>
              <a:t>4</a:t>
            </a:r>
            <a:r>
              <a:rPr lang="zh-CN" altLang="en-US" dirty="0"/>
              <a:t>倍能达到</a:t>
            </a:r>
            <a:r>
              <a:rPr lang="en-US" altLang="zh-CN" dirty="0"/>
              <a:t>533MB/s</a:t>
            </a:r>
            <a:r>
              <a:rPr lang="zh-CN" altLang="en-US" dirty="0"/>
              <a:t>；</a:t>
            </a:r>
            <a:endParaRPr lang="zh-CN" altLang="en-US" dirty="0"/>
          </a:p>
          <a:p>
            <a:r>
              <a:rPr lang="zh-CN" altLang="en-US" dirty="0"/>
              <a:t>实现了地址和数据的多路复用，从而把整个</a:t>
            </a:r>
            <a:r>
              <a:rPr lang="en-US" altLang="zh-CN" dirty="0"/>
              <a:t>32</a:t>
            </a:r>
            <a:r>
              <a:rPr lang="zh-CN" altLang="en-US" dirty="0"/>
              <a:t>位的数据总线留出来给图形加速器；</a:t>
            </a:r>
            <a:endParaRPr lang="zh-CN" altLang="en-US" dirty="0"/>
          </a:p>
          <a:p>
            <a:r>
              <a:rPr lang="zh-CN" altLang="en-US" dirty="0"/>
              <a:t>采用内存请求流水线技术，对各种内存请求进行排队来减少延迟，从而加快了数据传输的速度；</a:t>
            </a:r>
            <a:endParaRPr lang="zh-CN" altLang="en-US" dirty="0"/>
          </a:p>
          <a:p>
            <a:r>
              <a:rPr lang="en-US" altLang="zh-CN" dirty="0"/>
              <a:t>AGP</a:t>
            </a:r>
            <a:r>
              <a:rPr lang="zh-CN" altLang="en-US" dirty="0"/>
              <a:t>总线是对</a:t>
            </a:r>
            <a:r>
              <a:rPr lang="en-US" altLang="zh-CN" dirty="0"/>
              <a:t>PCI</a:t>
            </a:r>
            <a:r>
              <a:rPr lang="zh-CN" altLang="en-US" dirty="0"/>
              <a:t>总线的扩展和增强，但</a:t>
            </a:r>
            <a:r>
              <a:rPr lang="en-US" altLang="zh-CN" dirty="0"/>
              <a:t>AGP</a:t>
            </a:r>
            <a:r>
              <a:rPr lang="zh-CN" altLang="en-US" dirty="0"/>
              <a:t>接口只能为图形设备独占，不具有一般总线的共享特性。所以，</a:t>
            </a:r>
            <a:r>
              <a:rPr lang="en-US" altLang="zh-CN" dirty="0"/>
              <a:t>AGP</a:t>
            </a:r>
            <a:r>
              <a:rPr lang="zh-CN" altLang="en-US" dirty="0"/>
              <a:t>是接口更合适。</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zh-CN" altLang="zh-CN"/>
              <a:t>11.2.4  PCI Express</a:t>
            </a:r>
            <a:r>
              <a:rPr lang="zh-CN"/>
              <a:t>总线</a:t>
            </a:r>
            <a:endParaRPr lang="zh-CN"/>
          </a:p>
        </p:txBody>
      </p:sp>
      <p:sp>
        <p:nvSpPr>
          <p:cNvPr id="24579" name="Rectangle 3"/>
          <p:cNvSpPr>
            <a:spLocks noGrp="1" noChangeArrowheads="1"/>
          </p:cNvSpPr>
          <p:nvPr>
            <p:ph type="body" idx="1"/>
          </p:nvPr>
        </p:nvSpPr>
        <p:spPr/>
        <p:txBody>
          <a:bodyPr/>
          <a:lstStyle/>
          <a:p>
            <a:pPr>
              <a:lnSpc>
                <a:spcPct val="80000"/>
              </a:lnSpc>
            </a:pPr>
            <a:r>
              <a:rPr lang="zh-CN"/>
              <a:t>早在</a:t>
            </a:r>
            <a:r>
              <a:rPr lang="zh-CN" altLang="zh-CN"/>
              <a:t>2001</a:t>
            </a:r>
            <a:r>
              <a:rPr lang="zh-CN"/>
              <a:t>年，</a:t>
            </a:r>
            <a:r>
              <a:rPr lang="zh-CN" altLang="zh-CN"/>
              <a:t>Intel</a:t>
            </a:r>
            <a:r>
              <a:rPr lang="zh-CN"/>
              <a:t>公司就提出了用新技术取代</a:t>
            </a:r>
            <a:r>
              <a:rPr lang="zh-CN" altLang="zh-CN"/>
              <a:t>PCI</a:t>
            </a:r>
            <a:r>
              <a:rPr lang="zh-CN"/>
              <a:t>总线和多种芯片的内部连接，并称为第三代</a:t>
            </a:r>
            <a:r>
              <a:rPr lang="zh-CN" altLang="zh-CN"/>
              <a:t>I/O</a:t>
            </a:r>
            <a:r>
              <a:rPr lang="zh-CN"/>
              <a:t>总线技术。</a:t>
            </a:r>
            <a:endParaRPr lang="zh-CN"/>
          </a:p>
          <a:p>
            <a:pPr>
              <a:lnSpc>
                <a:spcPct val="80000"/>
              </a:lnSpc>
            </a:pPr>
            <a:r>
              <a:rPr lang="zh-CN"/>
              <a:t>随后包括</a:t>
            </a:r>
            <a:r>
              <a:rPr lang="zh-CN" altLang="zh-CN"/>
              <a:t>Intel</a:t>
            </a:r>
            <a:r>
              <a:rPr lang="zh-CN"/>
              <a:t>、</a:t>
            </a:r>
            <a:r>
              <a:rPr lang="zh-CN" altLang="zh-CN"/>
              <a:t>AMD</a:t>
            </a:r>
            <a:r>
              <a:rPr lang="zh-CN"/>
              <a:t>、</a:t>
            </a:r>
            <a:r>
              <a:rPr lang="zh-CN" altLang="zh-CN"/>
              <a:t>DELL</a:t>
            </a:r>
            <a:r>
              <a:rPr lang="zh-CN"/>
              <a:t>和</a:t>
            </a:r>
            <a:r>
              <a:rPr lang="zh-CN" altLang="zh-CN"/>
              <a:t>IBM</a:t>
            </a:r>
            <a:r>
              <a:rPr lang="zh-CN"/>
              <a:t>在内的</a:t>
            </a:r>
            <a:r>
              <a:rPr lang="zh-CN" altLang="zh-CN"/>
              <a:t>20</a:t>
            </a:r>
            <a:r>
              <a:rPr lang="zh-CN"/>
              <a:t>多家公司开始起草新技术规范，并在</a:t>
            </a:r>
            <a:r>
              <a:rPr lang="zh-CN" altLang="zh-CN"/>
              <a:t>2002</a:t>
            </a:r>
            <a:r>
              <a:rPr lang="zh-CN"/>
              <a:t>年完成，将其正式命名为</a:t>
            </a:r>
            <a:r>
              <a:rPr lang="zh-CN" altLang="zh-CN"/>
              <a:t>PCI Express</a:t>
            </a:r>
            <a:r>
              <a:rPr lang="zh-CN"/>
              <a:t>。</a:t>
            </a:r>
            <a:endParaRPr lang="zh-CN"/>
          </a:p>
          <a:p>
            <a:pPr>
              <a:lnSpc>
                <a:spcPct val="80000"/>
              </a:lnSpc>
            </a:pPr>
            <a:r>
              <a:rPr lang="zh-CN"/>
              <a:t>它采用目前业内流行的点对点串行连接，比起</a:t>
            </a:r>
            <a:r>
              <a:rPr lang="zh-CN" altLang="zh-CN"/>
              <a:t>PCI</a:t>
            </a:r>
            <a:r>
              <a:rPr lang="zh-CN"/>
              <a:t>以及早期的计算机总线的共享并行架构，每个设备都有自己的专用连接，而且可以显著提高数据传输速率。</a:t>
            </a:r>
            <a:endParaRPr 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slide(fromBottom)">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24579">
                                            <p:txEl>
                                              <p:pRg st="1" end="1"/>
                                            </p:txEl>
                                          </p:spTgt>
                                        </p:tgtEl>
                                        <p:attrNameLst>
                                          <p:attrName>style.visibility</p:attrName>
                                        </p:attrNameLst>
                                      </p:cBhvr>
                                      <p:to>
                                        <p:strVal val="visible"/>
                                      </p:to>
                                    </p:set>
                                    <p:animEffect transition="in" filter="slide(fromBottom)">
                                      <p:cBhvr>
                                        <p:cTn id="12" dur="500"/>
                                        <p:tgtEl>
                                          <p:spTgt spid="245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24579">
                                            <p:txEl>
                                              <p:pRg st="2" end="2"/>
                                            </p:txEl>
                                          </p:spTgt>
                                        </p:tgtEl>
                                        <p:attrNameLst>
                                          <p:attrName>style.visibility</p:attrName>
                                        </p:attrNameLst>
                                      </p:cBhvr>
                                      <p:to>
                                        <p:strVal val="visible"/>
                                      </p:to>
                                    </p:set>
                                    <p:animEffect transition="in" filter="slide(fromBottom)">
                                      <p:cBhvr>
                                        <p:cTn id="17" dur="500"/>
                                        <p:tgtEl>
                                          <p:spTgt spid="245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sz="3600"/>
              <a:t>图</a:t>
            </a:r>
            <a:r>
              <a:rPr lang="zh-CN" altLang="zh-CN" sz="3600"/>
              <a:t>11.3  PCI Express</a:t>
            </a:r>
            <a:r>
              <a:rPr lang="zh-CN" sz="3600"/>
              <a:t>总线系统体系结构</a:t>
            </a:r>
            <a:endParaRPr lang="zh-CN" sz="3600"/>
          </a:p>
        </p:txBody>
      </p:sp>
      <p:graphicFrame>
        <p:nvGraphicFramePr>
          <p:cNvPr id="25603" name="Object 3"/>
          <p:cNvGraphicFramePr>
            <a:graphicFrameLocks noChangeAspect="1"/>
          </p:cNvGraphicFramePr>
          <p:nvPr/>
        </p:nvGraphicFramePr>
        <p:xfrm>
          <a:off x="2015067" y="1714500"/>
          <a:ext cx="8900584" cy="4191000"/>
        </p:xfrm>
        <a:graphic>
          <a:graphicData uri="http://schemas.openxmlformats.org/presentationml/2006/ole">
            <mc:AlternateContent xmlns:mc="http://schemas.openxmlformats.org/markup-compatibility/2006">
              <mc:Choice xmlns:v="urn:schemas-microsoft-com:vml" Requires="v">
                <p:oleObj spid="_x0000_s1025" name="" r:id="rId1" imgW="5613400" imgH="3543300" progId="">
                  <p:embed/>
                </p:oleObj>
              </mc:Choice>
              <mc:Fallback>
                <p:oleObj name="" r:id="rId1" imgW="5613400" imgH="3543300" progId="">
                  <p:embed/>
                  <p:pic>
                    <p:nvPicPr>
                      <p:cNvPr id="0" name="图片 1024"/>
                      <p:cNvPicPr>
                        <a:picLocks noChangeAspect="1"/>
                      </p:cNvPicPr>
                      <p:nvPr/>
                    </p:nvPicPr>
                    <p:blipFill>
                      <a:blip r:embed="rId2"/>
                      <a:stretch>
                        <a:fillRect/>
                      </a:stretch>
                    </p:blipFill>
                    <p:spPr>
                      <a:xfrm>
                        <a:off x="2015067" y="1714500"/>
                        <a:ext cx="8900584" cy="419100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zh-CN" altLang="en-US"/>
              <a:t>PCI Express总线的特点</a:t>
            </a:r>
            <a:endParaRPr lang="zh-CN" altLang="en-US"/>
          </a:p>
        </p:txBody>
      </p:sp>
      <p:sp>
        <p:nvSpPr>
          <p:cNvPr id="26627" name="Rectangle 3"/>
          <p:cNvSpPr>
            <a:spLocks noGrp="1" noChangeArrowheads="1"/>
          </p:cNvSpPr>
          <p:nvPr>
            <p:ph type="body" idx="1"/>
          </p:nvPr>
        </p:nvSpPr>
        <p:spPr/>
        <p:txBody>
          <a:bodyPr/>
          <a:lstStyle/>
          <a:p>
            <a:r>
              <a:rPr lang="zh-CN" altLang="zh-CN" sz="2000" dirty="0"/>
              <a:t>PCI Express</a:t>
            </a:r>
            <a:r>
              <a:rPr lang="zh-CN" sz="2000" dirty="0"/>
              <a:t>总线使用高速差分总线，并且采用端到端的连接方式，即在每条</a:t>
            </a:r>
            <a:r>
              <a:rPr lang="zh-CN" altLang="zh-CN" sz="2000" dirty="0"/>
              <a:t>PCI Express</a:t>
            </a:r>
            <a:r>
              <a:rPr lang="zh-CN" sz="2000" dirty="0"/>
              <a:t>链路的两端只能各连接一个设备，这两个设备互为数据发送端和数据接收端。端到端的串行连接方式减少了设备间的信号数量，降低了互联线路的复杂性。</a:t>
            </a:r>
            <a:endParaRPr lang="zh-CN" sz="2000" dirty="0"/>
          </a:p>
          <a:p>
            <a:r>
              <a:rPr lang="zh-CN" altLang="zh-CN" sz="2000" dirty="0"/>
              <a:t>PCI Express</a:t>
            </a:r>
            <a:r>
              <a:rPr lang="zh-CN" sz="2000" dirty="0"/>
              <a:t>总线链路使用差分信号进行数据传输，与单端信号相比，差分信号的抗干扰能力更强，并且能有效抑制电磁干扰，所以能够支持更高的总线频率。</a:t>
            </a:r>
            <a:r>
              <a:rPr lang="zh-CN" altLang="zh-CN" sz="2000" dirty="0"/>
              <a:t>PCI Express</a:t>
            </a:r>
            <a:r>
              <a:rPr lang="zh-CN" sz="2000" dirty="0"/>
              <a:t>链路可以由多条通路组成，目前的标准支持 </a:t>
            </a:r>
            <a:r>
              <a:rPr lang="zh-CN" altLang="zh-CN" sz="2000" dirty="0"/>
              <a:t>1x</a:t>
            </a:r>
            <a:r>
              <a:rPr lang="zh-CN" sz="2000" dirty="0"/>
              <a:t>、</a:t>
            </a:r>
            <a:r>
              <a:rPr lang="zh-CN" altLang="zh-CN" sz="2000" dirty="0"/>
              <a:t>2x</a:t>
            </a:r>
            <a:r>
              <a:rPr lang="zh-CN" sz="2000" dirty="0"/>
              <a:t>、</a:t>
            </a:r>
            <a:r>
              <a:rPr lang="zh-CN" altLang="zh-CN" sz="2000" dirty="0"/>
              <a:t>4x</a:t>
            </a:r>
            <a:r>
              <a:rPr lang="zh-CN" sz="2000" dirty="0"/>
              <a:t>、</a:t>
            </a:r>
            <a:r>
              <a:rPr lang="zh-CN" altLang="zh-CN" sz="2000" dirty="0"/>
              <a:t>8x</a:t>
            </a:r>
            <a:r>
              <a:rPr lang="zh-CN" sz="2000" dirty="0"/>
              <a:t>、</a:t>
            </a:r>
            <a:r>
              <a:rPr lang="zh-CN" altLang="zh-CN" sz="2000" dirty="0"/>
              <a:t>12x</a:t>
            </a:r>
            <a:r>
              <a:rPr lang="zh-CN" sz="2000" dirty="0"/>
              <a:t>、</a:t>
            </a:r>
            <a:r>
              <a:rPr lang="zh-CN" altLang="zh-CN" sz="2000" dirty="0"/>
              <a:t>16x</a:t>
            </a:r>
            <a:r>
              <a:rPr lang="zh-CN" sz="2000" dirty="0"/>
              <a:t>和</a:t>
            </a:r>
            <a:r>
              <a:rPr lang="zh-CN" altLang="zh-CN" sz="2000" dirty="0"/>
              <a:t>32x</a:t>
            </a:r>
            <a:r>
              <a:rPr lang="zh-CN" sz="2000" dirty="0"/>
              <a:t>宽度的 </a:t>
            </a:r>
            <a:r>
              <a:rPr lang="zh-CN" altLang="zh-CN" sz="2000" dirty="0"/>
              <a:t>PCI-E </a:t>
            </a:r>
            <a:r>
              <a:rPr lang="zh-CN" sz="2000" dirty="0"/>
              <a:t>链路，使其峰值带宽最大达到</a:t>
            </a:r>
            <a:r>
              <a:rPr lang="zh-CN" altLang="zh-CN" sz="2000" dirty="0"/>
              <a:t>80 GB/s</a:t>
            </a:r>
            <a:r>
              <a:rPr lang="zh-CN" sz="2000" dirty="0"/>
              <a:t>。虽然 </a:t>
            </a:r>
            <a:r>
              <a:rPr lang="zh-CN" altLang="zh-CN" sz="2000" dirty="0"/>
              <a:t>PCI-E </a:t>
            </a:r>
            <a:r>
              <a:rPr lang="zh-CN" sz="2000" dirty="0"/>
              <a:t>链路还需要考虑编码冗余、各层之间的协议损耗和传输延时，但其传输效率依然高于</a:t>
            </a:r>
            <a:r>
              <a:rPr lang="zh-CN" altLang="zh-CN" sz="2000" dirty="0"/>
              <a:t>PCI</a:t>
            </a:r>
            <a:r>
              <a:rPr lang="zh-CN" sz="2000" dirty="0"/>
              <a:t>总线的传输方式。</a:t>
            </a:r>
            <a:endParaRPr lang="zh-CN" sz="2000" dirty="0"/>
          </a:p>
          <a:p>
            <a:r>
              <a:rPr lang="zh-CN" altLang="zh-CN" sz="2000" dirty="0"/>
              <a:t>PCI Express</a:t>
            </a:r>
            <a:r>
              <a:rPr lang="zh-CN" sz="2000" dirty="0"/>
              <a:t>接口标准支持三种电压，分别为</a:t>
            </a:r>
            <a:r>
              <a:rPr lang="zh-CN" altLang="zh-CN" sz="2000" dirty="0"/>
              <a:t>+3.3V</a:t>
            </a:r>
            <a:r>
              <a:rPr lang="zh-CN" sz="2000" dirty="0"/>
              <a:t>、</a:t>
            </a:r>
            <a:r>
              <a:rPr lang="zh-CN" altLang="zh-CN" sz="2000" dirty="0"/>
              <a:t>3.3Vaux</a:t>
            </a:r>
            <a:r>
              <a:rPr lang="zh-CN" sz="2000" dirty="0"/>
              <a:t>和</a:t>
            </a:r>
            <a:r>
              <a:rPr lang="zh-CN" altLang="zh-CN" sz="2000" dirty="0"/>
              <a:t>+12V</a:t>
            </a:r>
            <a:r>
              <a:rPr lang="zh-CN" sz="2000" dirty="0"/>
              <a:t>。同时，</a:t>
            </a:r>
            <a:r>
              <a:rPr lang="zh-CN" altLang="zh-CN" sz="2000" dirty="0"/>
              <a:t>PCI-E </a:t>
            </a:r>
            <a:r>
              <a:rPr lang="zh-CN" sz="2000" dirty="0"/>
              <a:t>总线支持虚通路技术，优先级不同的数据报文可以根据协议设定，分别使用不同的虚通路，每一条虚通路可以独立设置缓冲。发送缓冲可以在链路拥堵时将不同类型的数据暂存起来，而不至于丢失，当链路空闲时，再根据流量类别的不同将数据按顺序发送出去；接收缓冲可以在接收到数据之后，暂存低优先级数据，优先发送高优先级数据。</a:t>
            </a:r>
            <a:endParaRPr lang="zh-CN" sz="20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 calcmode="lin" valueType="num">
                                      <p:cBhvr additive="base">
                                        <p:cTn id="7"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27">
                                            <p:txEl>
                                              <p:pRg st="1" end="1"/>
                                            </p:txEl>
                                          </p:spTgt>
                                        </p:tgtEl>
                                        <p:attrNameLst>
                                          <p:attrName>style.visibility</p:attrName>
                                        </p:attrNameLst>
                                      </p:cBhvr>
                                      <p:to>
                                        <p:strVal val="visible"/>
                                      </p:to>
                                    </p:set>
                                    <p:anim calcmode="lin" valueType="num">
                                      <p:cBhvr additive="base">
                                        <p:cTn id="13" dur="500" fill="hold"/>
                                        <p:tgtEl>
                                          <p:spTgt spid="26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 calcmode="lin" valueType="num">
                                      <p:cBhvr additive="base">
                                        <p:cTn id="19"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zh-CN" altLang="en-US" sz="4000"/>
              <a:t>PCI-E 总线使用的三层协议结构</a:t>
            </a:r>
            <a:endParaRPr lang="zh-CN" altLang="en-US" sz="4000"/>
          </a:p>
        </p:txBody>
      </p:sp>
      <p:sp>
        <p:nvSpPr>
          <p:cNvPr id="27651" name="Rectangle 3"/>
          <p:cNvSpPr>
            <a:spLocks noGrp="1" noChangeArrowheads="1"/>
          </p:cNvSpPr>
          <p:nvPr>
            <p:ph type="body" idx="1"/>
          </p:nvPr>
        </p:nvSpPr>
        <p:spPr/>
        <p:txBody>
          <a:bodyPr/>
          <a:lstStyle/>
          <a:p>
            <a:pPr>
              <a:lnSpc>
                <a:spcPct val="80000"/>
              </a:lnSpc>
            </a:pPr>
            <a:r>
              <a:rPr lang="zh-CN" altLang="en-US" sz="1800" dirty="0"/>
              <a:t>物理层</a:t>
            </a:r>
            <a:endParaRPr lang="zh-CN" altLang="en-US" sz="1800" dirty="0"/>
          </a:p>
          <a:p>
            <a:pPr lvl="1">
              <a:lnSpc>
                <a:spcPct val="80000"/>
              </a:lnSpc>
            </a:pPr>
            <a:r>
              <a:rPr lang="zh-CN" altLang="en-US" sz="1800" dirty="0"/>
              <a:t>PCI Express物理层作为总线的最底层，负责直接连接PCI Express设备，它为设备间的数据通信提供传送介质。</a:t>
            </a:r>
            <a:endParaRPr lang="zh-CN" altLang="en-US" sz="1800" dirty="0"/>
          </a:p>
          <a:p>
            <a:pPr lvl="1">
              <a:lnSpc>
                <a:spcPct val="80000"/>
              </a:lnSpc>
            </a:pPr>
            <a:r>
              <a:rPr lang="zh-CN" altLang="en-US" sz="1800" dirty="0"/>
              <a:t>物理层分为两部分：</a:t>
            </a:r>
            <a:endParaRPr lang="zh-CN" altLang="en-US" sz="1800" dirty="0"/>
          </a:p>
          <a:p>
            <a:pPr lvl="2">
              <a:lnSpc>
                <a:spcPct val="80000"/>
              </a:lnSpc>
              <a:buFont typeface="Wingdings" panose="05000000000000000000" pitchFamily="2" charset="2"/>
              <a:buChar char="u"/>
            </a:pPr>
            <a:r>
              <a:rPr lang="zh-CN" altLang="en-US" sz="1800" b="0" dirty="0">
                <a:latin typeface="Times New Roman" panose="02020603050405020304" pitchFamily="18" charset="0"/>
                <a:ea typeface="楷体_GB2312" pitchFamily="1" charset="-122"/>
                <a:sym typeface="Arial" panose="020B0604020202020204" pitchFamily="34" charset="0"/>
              </a:rPr>
              <a:t>逻辑物理层。逻辑物理层包括对数据包进行相关处理的数字</a:t>
            </a:r>
            <a:r>
              <a:rPr lang="zh-CN" altLang="en-US" sz="1800" b="0" dirty="0" smtClean="0">
                <a:latin typeface="Times New Roman" panose="02020603050405020304" pitchFamily="18" charset="0"/>
                <a:ea typeface="楷体_GB2312" pitchFamily="1" charset="-122"/>
                <a:sym typeface="Arial" panose="020B0604020202020204" pitchFamily="34" charset="0"/>
              </a:rPr>
              <a:t>逻辑</a:t>
            </a:r>
            <a:endParaRPr lang="zh-CN" altLang="en-US" sz="1800" b="0" dirty="0">
              <a:latin typeface="Times New Roman" panose="02020603050405020304" pitchFamily="18" charset="0"/>
              <a:ea typeface="楷体_GB2312" pitchFamily="1" charset="-122"/>
              <a:sym typeface="Arial" panose="020B0604020202020204" pitchFamily="34" charset="0"/>
            </a:endParaRPr>
          </a:p>
          <a:p>
            <a:pPr lvl="2">
              <a:lnSpc>
                <a:spcPct val="80000"/>
              </a:lnSpc>
              <a:buFont typeface="Wingdings" panose="05000000000000000000" pitchFamily="2" charset="2"/>
              <a:buChar char="u"/>
            </a:pPr>
            <a:r>
              <a:rPr lang="zh-CN" altLang="en-US" sz="1800" b="0" dirty="0">
                <a:latin typeface="Times New Roman" panose="02020603050405020304" pitchFamily="18" charset="0"/>
                <a:ea typeface="楷体_GB2312" pitchFamily="1" charset="-122"/>
                <a:sym typeface="Arial" panose="020B0604020202020204" pitchFamily="34" charset="0"/>
              </a:rPr>
              <a:t>电气物理层。电气物理层是连接物理层和链路的模拟接口，由各通道的差分驱动器和差分接收器组成。</a:t>
            </a:r>
            <a:endParaRPr lang="zh-CN" altLang="en-US" sz="1800" b="0" dirty="0">
              <a:latin typeface="Times New Roman" panose="02020603050405020304" pitchFamily="18" charset="0"/>
              <a:ea typeface="楷体_GB2312" pitchFamily="1" charset="-122"/>
              <a:sym typeface="Arial" panose="020B0604020202020204" pitchFamily="34" charset="0"/>
            </a:endParaRPr>
          </a:p>
          <a:p>
            <a:pPr>
              <a:lnSpc>
                <a:spcPct val="80000"/>
              </a:lnSpc>
            </a:pPr>
            <a:r>
              <a:rPr lang="zh-CN" altLang="en-US" sz="1800" dirty="0"/>
              <a:t>数据链接层</a:t>
            </a:r>
            <a:endParaRPr lang="zh-CN" altLang="en-US" sz="1800" dirty="0"/>
          </a:p>
          <a:p>
            <a:pPr lvl="1">
              <a:lnSpc>
                <a:spcPct val="80000"/>
              </a:lnSpc>
            </a:pPr>
            <a:r>
              <a:rPr lang="zh-CN" altLang="en-US" sz="1800" dirty="0"/>
              <a:t>数据链路层连接事务处理层和物理层，其主要功能是保证在各链路上发送和接收数据包时的数据完整性。如果发送设备发送交换层数据包（Transaction Layer Packets，TLPs）到链路另一端的接收设备，但接收设备检测到校验错误，则发送设备会收到NAK信号并自动重发该数据。</a:t>
            </a:r>
            <a:endParaRPr lang="zh-CN" altLang="en-US" sz="1800" dirty="0"/>
          </a:p>
          <a:p>
            <a:pPr>
              <a:lnSpc>
                <a:spcPct val="80000"/>
              </a:lnSpc>
            </a:pPr>
            <a:r>
              <a:rPr lang="zh-CN" altLang="en-US" sz="1800" dirty="0"/>
              <a:t>事务处理层</a:t>
            </a:r>
            <a:endParaRPr lang="zh-CN" altLang="en-US" sz="1800" dirty="0"/>
          </a:p>
          <a:p>
            <a:pPr lvl="1">
              <a:lnSpc>
                <a:spcPct val="80000"/>
              </a:lnSpc>
            </a:pPr>
            <a:r>
              <a:rPr lang="zh-CN" altLang="en-US" sz="1800" dirty="0"/>
              <a:t>事务处理层是三层协议结构的最高层，数据在这一层组成事务处理层数据包TLP。从功能上看，事务处理层可以分为发送部分、接收部分、流量控制、虚拟信道、事务排序、电源管理和配置寄存器等部分。</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anim calcmode="lin" valueType="num">
                                      <p:cBhvr additive="base">
                                        <p:cTn id="11"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65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anim calcmode="lin" valueType="num">
                                      <p:cBhvr additive="base">
                                        <p:cTn id="15"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anim calcmode="lin" valueType="num">
                                      <p:cBhvr additive="base">
                                        <p:cTn id="19"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7651">
                                            <p:txEl>
                                              <p:pRg st="4" end="4"/>
                                            </p:txEl>
                                          </p:spTgt>
                                        </p:tgtEl>
                                        <p:attrNameLst>
                                          <p:attrName>style.visibility</p:attrName>
                                        </p:attrNameLst>
                                      </p:cBhvr>
                                      <p:to>
                                        <p:strVal val="visible"/>
                                      </p:to>
                                    </p:set>
                                    <p:anim calcmode="lin" valueType="num">
                                      <p:cBhvr additive="base">
                                        <p:cTn id="23"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7651">
                                            <p:txEl>
                                              <p:pRg st="5" end="5"/>
                                            </p:txEl>
                                          </p:spTgt>
                                        </p:tgtEl>
                                        <p:attrNameLst>
                                          <p:attrName>style.visibility</p:attrName>
                                        </p:attrNameLst>
                                      </p:cBhvr>
                                      <p:to>
                                        <p:strVal val="visible"/>
                                      </p:to>
                                    </p:set>
                                    <p:anim calcmode="lin" valueType="num">
                                      <p:cBhvr additive="base">
                                        <p:cTn id="29" dur="5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765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7651">
                                            <p:txEl>
                                              <p:pRg st="6" end="6"/>
                                            </p:txEl>
                                          </p:spTgt>
                                        </p:tgtEl>
                                        <p:attrNameLst>
                                          <p:attrName>style.visibility</p:attrName>
                                        </p:attrNameLst>
                                      </p:cBhvr>
                                      <p:to>
                                        <p:strVal val="visible"/>
                                      </p:to>
                                    </p:set>
                                    <p:anim calcmode="lin" valueType="num">
                                      <p:cBhvr additive="base">
                                        <p:cTn id="33" dur="500" fill="hold"/>
                                        <p:tgtEl>
                                          <p:spTgt spid="2765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765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7651">
                                            <p:txEl>
                                              <p:pRg st="7" end="7"/>
                                            </p:txEl>
                                          </p:spTgt>
                                        </p:tgtEl>
                                        <p:attrNameLst>
                                          <p:attrName>style.visibility</p:attrName>
                                        </p:attrNameLst>
                                      </p:cBhvr>
                                      <p:to>
                                        <p:strVal val="visible"/>
                                      </p:to>
                                    </p:set>
                                    <p:anim calcmode="lin" valueType="num">
                                      <p:cBhvr additive="base">
                                        <p:cTn id="39" dur="500" fill="hold"/>
                                        <p:tgtEl>
                                          <p:spTgt spid="27651">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7651">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7651">
                                            <p:txEl>
                                              <p:pRg st="8" end="8"/>
                                            </p:txEl>
                                          </p:spTgt>
                                        </p:tgtEl>
                                        <p:attrNameLst>
                                          <p:attrName>style.visibility</p:attrName>
                                        </p:attrNameLst>
                                      </p:cBhvr>
                                      <p:to>
                                        <p:strVal val="visible"/>
                                      </p:to>
                                    </p:set>
                                    <p:anim calcmode="lin" valueType="num">
                                      <p:cBhvr additive="base">
                                        <p:cTn id="43" dur="500" fill="hold"/>
                                        <p:tgtEl>
                                          <p:spTgt spid="27651">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765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11.3 </a:t>
            </a:r>
            <a:r>
              <a:rPr lang="zh-CN" altLang="en-US" dirty="0" smtClean="0"/>
              <a:t>通信</a:t>
            </a:r>
            <a:r>
              <a:rPr lang="zh-CN" altLang="en-US" dirty="0"/>
              <a:t>总线</a:t>
            </a:r>
            <a:endParaRPr lang="zh-CN" altLang="en-US" dirty="0"/>
          </a:p>
        </p:txBody>
      </p:sp>
      <p:sp>
        <p:nvSpPr>
          <p:cNvPr id="3" name="内容占位符 2"/>
          <p:cNvSpPr>
            <a:spLocks noGrp="1"/>
          </p:cNvSpPr>
          <p:nvPr>
            <p:ph idx="1"/>
          </p:nvPr>
        </p:nvSpPr>
        <p:spPr/>
        <p:txBody>
          <a:bodyPr/>
          <a:lstStyle/>
          <a:p>
            <a:pPr marL="0" indent="0">
              <a:buNone/>
            </a:pPr>
            <a:r>
              <a:rPr lang="en-US" altLang="zh-CN" dirty="0"/>
              <a:t>USB</a:t>
            </a:r>
            <a:r>
              <a:rPr lang="zh-CN" altLang="en-US" dirty="0"/>
              <a:t>总线：</a:t>
            </a:r>
            <a:endParaRPr lang="en-US" altLang="zh-CN" dirty="0"/>
          </a:p>
          <a:p>
            <a:r>
              <a:rPr lang="en-US" altLang="zh-CN" dirty="0"/>
              <a:t>USB</a:t>
            </a:r>
            <a:r>
              <a:rPr lang="zh-CN" altLang="en-US" dirty="0"/>
              <a:t>是</a:t>
            </a:r>
            <a:r>
              <a:rPr lang="en-US" altLang="zh-CN" dirty="0"/>
              <a:t>Universal serial Bus(</a:t>
            </a:r>
            <a:r>
              <a:rPr lang="zh-CN" altLang="en-US" dirty="0"/>
              <a:t>通用串行总线</a:t>
            </a:r>
            <a:r>
              <a:rPr lang="en-US" altLang="zh-CN" dirty="0"/>
              <a:t>)</a:t>
            </a:r>
            <a:r>
              <a:rPr lang="zh-CN" altLang="en-US" dirty="0"/>
              <a:t>的简称，是</a:t>
            </a:r>
            <a:r>
              <a:rPr lang="en-US" altLang="zh-CN" dirty="0"/>
              <a:t>1995</a:t>
            </a:r>
            <a:r>
              <a:rPr lang="zh-CN" altLang="en-US" dirty="0"/>
              <a:t>年由</a:t>
            </a:r>
            <a:r>
              <a:rPr lang="en-US" altLang="zh-CN" dirty="0"/>
              <a:t>Compaq</a:t>
            </a:r>
            <a:r>
              <a:rPr lang="zh-CN" altLang="en-US" dirty="0"/>
              <a:t>等公司为解决传统总线的不足而推广的一种新型串行标准化通讯标准。</a:t>
            </a:r>
            <a:endParaRPr lang="zh-CN" altLang="en-US" dirty="0"/>
          </a:p>
          <a:p>
            <a:r>
              <a:rPr lang="zh-CN" altLang="en-US" dirty="0"/>
              <a:t>由于</a:t>
            </a:r>
            <a:r>
              <a:rPr lang="en-US" altLang="zh-CN" dirty="0"/>
              <a:t>USB</a:t>
            </a:r>
            <a:r>
              <a:rPr lang="zh-CN" altLang="en-US" dirty="0"/>
              <a:t>具有易使用、热插拔、高性能、造价低等优点，迅速被应用于摄像采集、扫描仪、监视器、</a:t>
            </a:r>
            <a:r>
              <a:rPr lang="en-US" altLang="zh-CN" dirty="0"/>
              <a:t>PC</a:t>
            </a:r>
            <a:r>
              <a:rPr lang="zh-CN" altLang="en-US" dirty="0"/>
              <a:t>、人机交互设备和游戏设备等领域。</a:t>
            </a:r>
            <a:r>
              <a:rPr lang="en-US" altLang="zh-CN" dirty="0"/>
              <a:t>USB</a:t>
            </a:r>
            <a:r>
              <a:rPr lang="zh-CN" altLang="en-US" dirty="0"/>
              <a:t>为个人电脑与其外围设备之间的连接提供了一种标准化接口的可能。</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647700"/>
            <a:ext cx="10058400" cy="1295400"/>
          </a:xfrm>
        </p:spPr>
        <p:txBody>
          <a:bodyPr/>
          <a:lstStyle/>
          <a:p>
            <a:r>
              <a:rPr lang="en-US" altLang="zh-CN" dirty="0"/>
              <a:t>USB</a:t>
            </a:r>
            <a:r>
              <a:rPr lang="zh-CN" altLang="en-US" dirty="0"/>
              <a:t>总线特点</a:t>
            </a:r>
            <a:endParaRPr lang="zh-CN" altLang="en-US" dirty="0"/>
          </a:p>
        </p:txBody>
      </p:sp>
      <p:sp>
        <p:nvSpPr>
          <p:cNvPr id="3" name="内容占位符 2"/>
          <p:cNvSpPr>
            <a:spLocks noGrp="1"/>
          </p:cNvSpPr>
          <p:nvPr>
            <p:ph idx="1"/>
          </p:nvPr>
        </p:nvSpPr>
        <p:spPr>
          <a:xfrm>
            <a:off x="609600" y="791611"/>
            <a:ext cx="10058400" cy="4411662"/>
          </a:xfrm>
        </p:spPr>
        <p:txBody>
          <a:bodyPr/>
          <a:lstStyle/>
          <a:p>
            <a:r>
              <a:rPr lang="zh-CN" altLang="en-US" dirty="0"/>
              <a:t>传输速度快。版本从</a:t>
            </a:r>
            <a:r>
              <a:rPr lang="en-US" altLang="zh-CN" dirty="0"/>
              <a:t>USB1.1-USB3.0</a:t>
            </a:r>
            <a:r>
              <a:rPr lang="zh-CN" altLang="en-US" dirty="0"/>
              <a:t>，传输速率从低速</a:t>
            </a:r>
            <a:r>
              <a:rPr lang="en-US" altLang="zh-CN" dirty="0"/>
              <a:t>1.1Mbps-5.0Gbps</a:t>
            </a:r>
            <a:r>
              <a:rPr lang="zh-CN" altLang="en-US" dirty="0"/>
              <a:t>。</a:t>
            </a:r>
            <a:endParaRPr lang="zh-CN" altLang="en-US" dirty="0"/>
          </a:p>
          <a:p>
            <a:r>
              <a:rPr lang="zh-CN" altLang="en-US" dirty="0"/>
              <a:t>支持即插即用。</a:t>
            </a:r>
            <a:r>
              <a:rPr lang="en-US" altLang="zh-CN" dirty="0"/>
              <a:t>USB</a:t>
            </a:r>
            <a:r>
              <a:rPr lang="zh-CN" altLang="en-US" dirty="0"/>
              <a:t>支持热插拔，可自动检测到新设备。</a:t>
            </a:r>
            <a:endParaRPr lang="zh-CN" altLang="en-US" dirty="0"/>
          </a:p>
          <a:p>
            <a:r>
              <a:rPr lang="zh-CN" altLang="en-US" dirty="0"/>
              <a:t>易于扩展。</a:t>
            </a:r>
            <a:r>
              <a:rPr lang="en-US" altLang="zh-CN" dirty="0"/>
              <a:t>USB</a:t>
            </a:r>
            <a:r>
              <a:rPr lang="zh-CN" altLang="en-US" dirty="0"/>
              <a:t>接口支持多个不同设备，一个</a:t>
            </a:r>
            <a:r>
              <a:rPr lang="en-US" altLang="zh-CN" dirty="0"/>
              <a:t>USB</a:t>
            </a:r>
            <a:r>
              <a:rPr lang="zh-CN" altLang="en-US" dirty="0"/>
              <a:t>控制器可以连接多达</a:t>
            </a:r>
            <a:r>
              <a:rPr lang="en-US" altLang="zh-CN" dirty="0"/>
              <a:t>127</a:t>
            </a:r>
            <a:r>
              <a:rPr lang="zh-CN" altLang="en-US" dirty="0"/>
              <a:t>个外设。</a:t>
            </a:r>
            <a:endParaRPr lang="zh-CN" altLang="en-US" dirty="0"/>
          </a:p>
          <a:p>
            <a:r>
              <a:rPr lang="zh-CN" altLang="en-US" dirty="0"/>
              <a:t>优秀的电源管理。而</a:t>
            </a:r>
            <a:r>
              <a:rPr lang="en-US" altLang="zh-CN" dirty="0"/>
              <a:t>USB</a:t>
            </a:r>
            <a:r>
              <a:rPr lang="zh-CN" altLang="en-US" dirty="0"/>
              <a:t>采用总线供电方式，可提供最大</a:t>
            </a:r>
            <a:r>
              <a:rPr lang="en-US" altLang="zh-CN" dirty="0"/>
              <a:t>500mA</a:t>
            </a:r>
            <a:r>
              <a:rPr lang="zh-CN" altLang="en-US" dirty="0"/>
              <a:t>的电流。</a:t>
            </a:r>
            <a:endParaRPr lang="zh-CN" altLang="en-US" dirty="0"/>
          </a:p>
          <a:p>
            <a:r>
              <a:rPr lang="zh-CN" altLang="en-US" dirty="0"/>
              <a:t>抗干扰性强。由于</a:t>
            </a:r>
            <a:r>
              <a:rPr lang="en-US" altLang="zh-CN" dirty="0"/>
              <a:t>USB</a:t>
            </a:r>
            <a:r>
              <a:rPr lang="zh-CN" altLang="en-US" dirty="0"/>
              <a:t>可外置于计算机箱外，不受机箱内的板间电磁干扰。</a:t>
            </a:r>
            <a:endParaRPr lang="zh-CN" altLang="en-US" dirty="0"/>
          </a:p>
          <a:p>
            <a:r>
              <a:rPr lang="zh-CN" altLang="en-US" dirty="0"/>
              <a:t>兼容性良好。</a:t>
            </a:r>
            <a:r>
              <a:rPr lang="en-US" altLang="zh-CN" dirty="0"/>
              <a:t>USB</a:t>
            </a:r>
            <a:r>
              <a:rPr lang="zh-CN" altLang="en-US" dirty="0"/>
              <a:t>规范具有良好的向下兼容性，</a:t>
            </a:r>
            <a:r>
              <a:rPr lang="en-US" altLang="zh-CN" dirty="0"/>
              <a:t>USB2.0</a:t>
            </a:r>
            <a:r>
              <a:rPr lang="zh-CN" altLang="en-US" dirty="0"/>
              <a:t>的主控制器能很好地兼容</a:t>
            </a:r>
            <a:r>
              <a:rPr lang="en-US" altLang="zh-CN" dirty="0"/>
              <a:t>USB1.1</a:t>
            </a:r>
            <a:r>
              <a:rPr lang="zh-CN" altLang="en-US" dirty="0"/>
              <a:t>接口的产品。</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CAN</a:t>
            </a:r>
            <a:r>
              <a:rPr lang="zh-CN" altLang="en-US" dirty="0"/>
              <a:t>总线</a:t>
            </a:r>
            <a:endParaRPr lang="zh-CN" altLang="en-US" dirty="0"/>
          </a:p>
        </p:txBody>
      </p:sp>
      <p:sp>
        <p:nvSpPr>
          <p:cNvPr id="3" name="内容占位符 2"/>
          <p:cNvSpPr>
            <a:spLocks noGrp="1"/>
          </p:cNvSpPr>
          <p:nvPr>
            <p:ph idx="1"/>
          </p:nvPr>
        </p:nvSpPr>
        <p:spPr/>
        <p:txBody>
          <a:bodyPr/>
          <a:lstStyle/>
          <a:p>
            <a:r>
              <a:rPr lang="en-US" altLang="zh-CN" dirty="0"/>
              <a:t>CAN</a:t>
            </a:r>
            <a:r>
              <a:rPr lang="zh-CN" altLang="en-US" dirty="0"/>
              <a:t>是</a:t>
            </a:r>
            <a:r>
              <a:rPr lang="en-US" altLang="zh-CN" dirty="0"/>
              <a:t>Controller Area Net</a:t>
            </a:r>
            <a:r>
              <a:rPr lang="zh-CN" altLang="en-US" dirty="0"/>
              <a:t>的缩写，即控制器局部网，它是一种支持分布式控制或实时控制的串行数据通讯协议。</a:t>
            </a:r>
            <a:endParaRPr lang="zh-CN" altLang="en-US" dirty="0"/>
          </a:p>
          <a:p>
            <a:r>
              <a:rPr lang="en-US" altLang="zh-CN" dirty="0"/>
              <a:t>CAN</a:t>
            </a:r>
            <a:r>
              <a:rPr lang="zh-CN" altLang="en-US" dirty="0"/>
              <a:t>总线具有强有力的检错与抗干扰能力，在工业现场控制领域得到了广泛应用。</a:t>
            </a:r>
            <a:endParaRPr lang="zh-CN" altLang="en-US" dirty="0"/>
          </a:p>
          <a:p>
            <a:r>
              <a:rPr lang="en-US" altLang="zh-CN" dirty="0"/>
              <a:t>1991</a:t>
            </a:r>
            <a:r>
              <a:rPr lang="zh-CN" altLang="en-US" dirty="0"/>
              <a:t>年</a:t>
            </a:r>
            <a:r>
              <a:rPr lang="en-US" altLang="zh-CN" dirty="0"/>
              <a:t>9</a:t>
            </a:r>
            <a:r>
              <a:rPr lang="zh-CN" altLang="en-US" dirty="0"/>
              <a:t>月，</a:t>
            </a:r>
            <a:r>
              <a:rPr lang="en-US" altLang="zh-CN" dirty="0"/>
              <a:t>PHILIPS</a:t>
            </a:r>
            <a:r>
              <a:rPr lang="zh-CN" altLang="en-US" dirty="0"/>
              <a:t>制订并发布了</a:t>
            </a:r>
            <a:r>
              <a:rPr lang="en-US" altLang="zh-CN" dirty="0"/>
              <a:t>CAN </a:t>
            </a:r>
            <a:r>
              <a:rPr lang="zh-CN" altLang="en-US" dirty="0"/>
              <a:t>技术规范。</a:t>
            </a:r>
            <a:r>
              <a:rPr lang="en-US" altLang="zh-CN" dirty="0"/>
              <a:t>1993</a:t>
            </a:r>
            <a:r>
              <a:rPr lang="zh-CN" altLang="en-US" dirty="0"/>
              <a:t>年</a:t>
            </a:r>
            <a:r>
              <a:rPr lang="en-US" altLang="zh-CN" dirty="0"/>
              <a:t>11</a:t>
            </a:r>
            <a:r>
              <a:rPr lang="zh-CN" altLang="en-US" dirty="0"/>
              <a:t>月</a:t>
            </a:r>
            <a:r>
              <a:rPr lang="en-US" altLang="zh-CN" dirty="0"/>
              <a:t>ISO</a:t>
            </a:r>
            <a:r>
              <a:rPr lang="zh-CN" altLang="en-US" dirty="0"/>
              <a:t>正式颁布了</a:t>
            </a:r>
            <a:r>
              <a:rPr lang="en-US" altLang="zh-CN" dirty="0"/>
              <a:t>CAN</a:t>
            </a:r>
            <a:r>
              <a:rPr lang="zh-CN" altLang="en-US" dirty="0"/>
              <a:t>总线的国际标准，为</a:t>
            </a:r>
            <a:r>
              <a:rPr lang="en-US" altLang="zh-CN" dirty="0"/>
              <a:t>CAN</a:t>
            </a:r>
            <a:r>
              <a:rPr lang="zh-CN" altLang="en-US" dirty="0"/>
              <a:t>总线标准化、规范化的推广铺平了道路。</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CAN</a:t>
            </a:r>
            <a:r>
              <a:rPr lang="zh-CN" altLang="en-US" dirty="0"/>
              <a:t>总线的特点</a:t>
            </a:r>
            <a:endParaRPr lang="zh-CN" altLang="en-US" dirty="0"/>
          </a:p>
        </p:txBody>
      </p:sp>
      <p:sp>
        <p:nvSpPr>
          <p:cNvPr id="3" name="内容占位符 2"/>
          <p:cNvSpPr>
            <a:spLocks noGrp="1"/>
          </p:cNvSpPr>
          <p:nvPr>
            <p:ph idx="1"/>
          </p:nvPr>
        </p:nvSpPr>
        <p:spPr>
          <a:xfrm>
            <a:off x="609600" y="1719263"/>
            <a:ext cx="10972799" cy="4411662"/>
          </a:xfrm>
        </p:spPr>
        <p:txBody>
          <a:bodyPr/>
          <a:lstStyle/>
          <a:p>
            <a:r>
              <a:rPr lang="zh-CN" altLang="en-US" dirty="0"/>
              <a:t>可在多主机方式下工作，网络上任意一个节点均可以在任意时刻，主动地向网上其它节点发送信息，最先访问总线的单元可获得总线控制权，而不分主从，通讯方式灵活；</a:t>
            </a:r>
            <a:endParaRPr lang="zh-CN" altLang="en-US" dirty="0"/>
          </a:p>
          <a:p>
            <a:r>
              <a:rPr lang="zh-CN" altLang="en-US" dirty="0"/>
              <a:t>总线节点可分成不同的优先级，以满足不同的实时要求；</a:t>
            </a:r>
            <a:endParaRPr lang="zh-CN" altLang="en-US" dirty="0"/>
          </a:p>
          <a:p>
            <a:r>
              <a:rPr lang="zh-CN" altLang="en-US" dirty="0"/>
              <a:t>支持点对点、一点对多点、及全局广播方式传送和接收数据，无需专门的调度；</a:t>
            </a:r>
            <a:endParaRPr lang="zh-CN" altLang="en-US" dirty="0"/>
          </a:p>
          <a:p>
            <a:r>
              <a:rPr lang="zh-CN" altLang="en-US" dirty="0"/>
              <a:t>采用短报文结构，传输时间短，受干扰概率低，重新发送时间短；</a:t>
            </a:r>
            <a:endParaRPr lang="zh-CN" altLang="en-US" dirty="0"/>
          </a:p>
          <a:p>
            <a:r>
              <a:rPr lang="zh-CN" altLang="en-US" dirty="0"/>
              <a:t>节点在错误严重的情况下，具有自动关闭总线的功能，切断它与总线的联系，使总线上其他操作不受影响。</a:t>
            </a:r>
            <a:endParaRPr lang="zh-CN" altLang="en-US" dirty="0"/>
          </a:p>
        </p:txBody>
      </p:sp>
      <p:sp>
        <p:nvSpPr>
          <p:cNvPr id="4" name="日期占位符 3"/>
          <p:cNvSpPr>
            <a:spLocks noGrp="1"/>
          </p:cNvSpPr>
          <p:nvPr>
            <p:ph type="dt" sz="half" idx="10"/>
          </p:nvPr>
        </p:nvSpPr>
        <p:spPr/>
        <p:txBody>
          <a:bodyPr/>
          <a:lstStyle/>
          <a:p>
            <a:pPr>
              <a:defRPr/>
            </a:pPr>
            <a:fld id="{FFCF43AE-F8FD-49EE-9553-888B016E31A5}"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8F4C0CD6-327D-499A-9754-0F1E4D84582B}" type="slidenum">
              <a:rPr lang="en-US" altLang="zh-CN" smtClean="0"/>
            </a:fld>
            <a:endParaRPr lang="en-US" altLang="zh-CN"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r>
              <a:rPr lang="zh-CN" altLang="zh-CN"/>
              <a:t>11.3.4 </a:t>
            </a:r>
            <a:r>
              <a:rPr lang="zh-CN"/>
              <a:t>其它总线</a:t>
            </a:r>
            <a:endParaRPr lang="zh-CN"/>
          </a:p>
        </p:txBody>
      </p:sp>
      <p:sp>
        <p:nvSpPr>
          <p:cNvPr id="40963" name="Rectangle 3"/>
          <p:cNvSpPr>
            <a:spLocks noGrp="1" noChangeArrowheads="1"/>
          </p:cNvSpPr>
          <p:nvPr>
            <p:ph type="body" idx="1"/>
          </p:nvPr>
        </p:nvSpPr>
        <p:spPr/>
        <p:txBody>
          <a:bodyPr/>
          <a:lstStyle/>
          <a:p>
            <a:pPr>
              <a:buFont typeface="Wingdings" panose="05000000000000000000" pitchFamily="2" charset="2"/>
              <a:buNone/>
            </a:pPr>
            <a:r>
              <a:rPr lang="zh-CN" altLang="en-US"/>
              <a:t>包括：</a:t>
            </a:r>
            <a:endParaRPr lang="zh-CN" altLang="en-US"/>
          </a:p>
          <a:p>
            <a:pPr lvl="1"/>
            <a:r>
              <a:rPr lang="zh-CN" altLang="en-US"/>
              <a:t>SCSI总线</a:t>
            </a:r>
            <a:endParaRPr lang="zh-CN" altLang="en-US"/>
          </a:p>
          <a:p>
            <a:pPr lvl="1"/>
            <a:r>
              <a:rPr lang="zh-CN" altLang="en-US"/>
              <a:t>PCMCIA总线</a:t>
            </a:r>
            <a:endParaRPr lang="zh-CN" alt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zh-CN" altLang="zh-CN"/>
              <a:t>1)SCSI</a:t>
            </a:r>
            <a:r>
              <a:rPr lang="zh-CN"/>
              <a:t>总线</a:t>
            </a:r>
            <a:endParaRPr lang="zh-CN"/>
          </a:p>
        </p:txBody>
      </p:sp>
      <p:sp>
        <p:nvSpPr>
          <p:cNvPr id="41987" name="Rectangle 3"/>
          <p:cNvSpPr>
            <a:spLocks noGrp="1" noChangeArrowheads="1"/>
          </p:cNvSpPr>
          <p:nvPr>
            <p:ph type="body" idx="1"/>
          </p:nvPr>
        </p:nvSpPr>
        <p:spPr>
          <a:xfrm>
            <a:off x="508001" y="1752601"/>
            <a:ext cx="11434233" cy="4848225"/>
          </a:xfrm>
        </p:spPr>
        <p:txBody>
          <a:bodyPr/>
          <a:lstStyle/>
          <a:p>
            <a:pPr>
              <a:lnSpc>
                <a:spcPct val="80000"/>
              </a:lnSpc>
            </a:pPr>
            <a:r>
              <a:rPr lang="zh-CN" altLang="en-US" sz="2400" dirty="0"/>
              <a:t>SCSI是Small Computer System Interface的缩写，即小型计算机系统接口。它用于计算机与磁盘机、扫描仪、通信设备和打印机等外部设备的连接。目前广泛用于微型计算机中主机与硬盘和光盘的连接，成为最重要、最有潜力的新总线标准。</a:t>
            </a:r>
            <a:endParaRPr lang="zh-CN" altLang="en-US" sz="2400" dirty="0"/>
          </a:p>
          <a:p>
            <a:pPr>
              <a:lnSpc>
                <a:spcPct val="80000"/>
              </a:lnSpc>
            </a:pPr>
            <a:r>
              <a:rPr lang="zh-CN" altLang="en-US" sz="2400" dirty="0"/>
              <a:t>SCSI是一种低成本、具有通用功能、用于计算机与外部设备并行传送的外总线，可以采用异步传送，当采用异步传送8位的数据时，传输速度可达1.5 MBps。也可以采用同步传送，速率达5 MBps。其下一代SCSI-2(fast SCSI)速度为10 MBps，Ultra SCSI传输速度为20 MBps，Ultra-Wide SCSI(即数据为32位宽)传输速率高达40 MBps。</a:t>
            </a:r>
            <a:endParaRPr lang="zh-CN" altLang="en-US" sz="2400" dirty="0"/>
          </a:p>
          <a:p>
            <a:pPr>
              <a:lnSpc>
                <a:spcPct val="80000"/>
              </a:lnSpc>
            </a:pPr>
            <a:r>
              <a:rPr lang="zh-CN" altLang="en-US" sz="2400" dirty="0"/>
              <a:t>SCSI的启动设备(命令别的设备操作的设备)和目标设备(接受请求操作的设备)通过高级命令进行通信，不涉及外设的物理层，如磁头、磁道、扇区等的物理参数，不管是与磁盘或光盘接口，都不必修改硬件和软件，所以是一种连接很方便的通用接口，它也是一种智能接口。</a:t>
            </a:r>
            <a:endParaRPr lang="zh-CN" altLang="en-US" sz="2400" dirty="0"/>
          </a:p>
          <a:p>
            <a:pPr>
              <a:lnSpc>
                <a:spcPct val="80000"/>
              </a:lnSpc>
            </a:pPr>
            <a:r>
              <a:rPr lang="zh-CN" altLang="en-US" sz="2400" dirty="0"/>
              <a:t>当采用单端驱动器和单端接收器时，允许电缆长达6 m；若采用差动驱动器和差动接收器时，允许电缆可长达25 m。总线上最多可挂接8台总线设备(包括适配器和控制器)，但在任何时刻只允许两个总线设备进行通信。</a:t>
            </a:r>
            <a:endParaRPr lang="zh-CN" altLang="en-US" sz="24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 calcmode="lin" valueType="num">
                                      <p:cBhvr additive="base">
                                        <p:cTn id="7" dur="500" fill="hold"/>
                                        <p:tgtEl>
                                          <p:spTgt spid="419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19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1987">
                                            <p:txEl>
                                              <p:pRg st="1" end="1"/>
                                            </p:txEl>
                                          </p:spTgt>
                                        </p:tgtEl>
                                        <p:attrNameLst>
                                          <p:attrName>style.visibility</p:attrName>
                                        </p:attrNameLst>
                                      </p:cBhvr>
                                      <p:to>
                                        <p:strVal val="visible"/>
                                      </p:to>
                                    </p:set>
                                    <p:anim calcmode="lin" valueType="num">
                                      <p:cBhvr additive="base">
                                        <p:cTn id="13"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1987">
                                            <p:txEl>
                                              <p:pRg st="2" end="2"/>
                                            </p:txEl>
                                          </p:spTgt>
                                        </p:tgtEl>
                                        <p:attrNameLst>
                                          <p:attrName>style.visibility</p:attrName>
                                        </p:attrNameLst>
                                      </p:cBhvr>
                                      <p:to>
                                        <p:strVal val="visible"/>
                                      </p:to>
                                    </p:set>
                                    <p:anim calcmode="lin" valueType="num">
                                      <p:cBhvr additive="base">
                                        <p:cTn id="19" dur="5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19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1987">
                                            <p:txEl>
                                              <p:pRg st="3" end="3"/>
                                            </p:txEl>
                                          </p:spTgt>
                                        </p:tgtEl>
                                        <p:attrNameLst>
                                          <p:attrName>style.visibility</p:attrName>
                                        </p:attrNameLst>
                                      </p:cBhvr>
                                      <p:to>
                                        <p:strVal val="visible"/>
                                      </p:to>
                                    </p:set>
                                    <p:anim calcmode="lin" valueType="num">
                                      <p:cBhvr additive="base">
                                        <p:cTn id="25" dur="5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198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zh-CN" altLang="zh-CN"/>
              <a:t>2)PCMCIA</a:t>
            </a:r>
            <a:r>
              <a:rPr lang="zh-CN"/>
              <a:t>总线</a:t>
            </a:r>
            <a:endParaRPr lang="zh-CN"/>
          </a:p>
        </p:txBody>
      </p:sp>
      <p:sp>
        <p:nvSpPr>
          <p:cNvPr id="43011" name="Rectangle 3"/>
          <p:cNvSpPr>
            <a:spLocks noGrp="1" noChangeArrowheads="1"/>
          </p:cNvSpPr>
          <p:nvPr>
            <p:ph type="body" idx="1"/>
          </p:nvPr>
        </p:nvSpPr>
        <p:spPr/>
        <p:txBody>
          <a:bodyPr/>
          <a:lstStyle/>
          <a:p>
            <a:pPr>
              <a:lnSpc>
                <a:spcPct val="80000"/>
              </a:lnSpc>
            </a:pPr>
            <a:r>
              <a:rPr lang="zh-CN" altLang="zh-CN" sz="2800"/>
              <a:t>PCMCIA(</a:t>
            </a:r>
            <a:r>
              <a:rPr lang="zh-CN" sz="2800"/>
              <a:t>个人计算机存储器卡国际协会</a:t>
            </a:r>
            <a:r>
              <a:rPr lang="zh-CN" altLang="zh-CN" sz="2800"/>
              <a:t>)</a:t>
            </a:r>
            <a:r>
              <a:rPr lang="zh-CN" sz="2800"/>
              <a:t>总线是笔记本型微型计算机广泛采用的总线标准，按此标准制造的板卡称为</a:t>
            </a:r>
            <a:r>
              <a:rPr lang="zh-CN" altLang="zh-CN" sz="2800"/>
              <a:t>PCMCIA</a:t>
            </a:r>
            <a:r>
              <a:rPr lang="zh-CN" sz="2800"/>
              <a:t>卡</a:t>
            </a:r>
            <a:r>
              <a:rPr lang="zh-CN" altLang="zh-CN" sz="2800"/>
              <a:t>(</a:t>
            </a:r>
            <a:r>
              <a:rPr lang="zh-CN" sz="2800"/>
              <a:t>简称</a:t>
            </a:r>
            <a:r>
              <a:rPr lang="zh-CN" altLang="zh-CN" sz="2800"/>
              <a:t>PC</a:t>
            </a:r>
            <a:r>
              <a:rPr lang="zh-CN" sz="2800"/>
              <a:t>卡</a:t>
            </a:r>
            <a:r>
              <a:rPr lang="zh-CN" altLang="zh-CN" sz="2800"/>
              <a:t>)</a:t>
            </a:r>
            <a:r>
              <a:rPr lang="zh-CN" sz="2800"/>
              <a:t>。目前生产的</a:t>
            </a:r>
            <a:r>
              <a:rPr lang="zh-CN" altLang="zh-CN" sz="2800"/>
              <a:t>PCMCIA</a:t>
            </a:r>
            <a:r>
              <a:rPr lang="zh-CN" sz="2800"/>
              <a:t>卡有通用型卡、存储卡、</a:t>
            </a:r>
            <a:r>
              <a:rPr lang="zh-CN" altLang="zh-CN" sz="2800"/>
              <a:t>FAX/MODEM</a:t>
            </a:r>
            <a:r>
              <a:rPr lang="zh-CN" sz="2800"/>
              <a:t>卡、网络适配器卡、语音卡、多功能卡、硬驱卡等。</a:t>
            </a:r>
            <a:endParaRPr lang="zh-CN" sz="2800"/>
          </a:p>
          <a:p>
            <a:pPr>
              <a:lnSpc>
                <a:spcPct val="80000"/>
              </a:lnSpc>
            </a:pPr>
            <a:r>
              <a:rPr lang="zh-CN" altLang="zh-CN" sz="2800"/>
              <a:t>PCMCIA</a:t>
            </a:r>
            <a:r>
              <a:rPr lang="zh-CN" sz="2800"/>
              <a:t>总线分为两类，一类为</a:t>
            </a:r>
            <a:r>
              <a:rPr lang="zh-CN" altLang="zh-CN" sz="2800"/>
              <a:t>16</a:t>
            </a:r>
            <a:r>
              <a:rPr lang="zh-CN" sz="2800"/>
              <a:t>位的</a:t>
            </a:r>
            <a:r>
              <a:rPr lang="zh-CN" altLang="zh-CN" sz="2800"/>
              <a:t>PCMCIA</a:t>
            </a:r>
            <a:r>
              <a:rPr lang="zh-CN" sz="2800"/>
              <a:t>，另一类为</a:t>
            </a:r>
            <a:r>
              <a:rPr lang="zh-CN" altLang="zh-CN" sz="2800"/>
              <a:t>32</a:t>
            </a:r>
            <a:r>
              <a:rPr lang="zh-CN" sz="2800"/>
              <a:t>位的</a:t>
            </a:r>
            <a:r>
              <a:rPr lang="zh-CN" altLang="zh-CN" sz="2800"/>
              <a:t>CardBus</a:t>
            </a:r>
            <a:r>
              <a:rPr lang="zh-CN" sz="2800"/>
              <a:t>。</a:t>
            </a:r>
            <a:r>
              <a:rPr lang="zh-CN" altLang="zh-CN" sz="2800"/>
              <a:t>CardBus</a:t>
            </a:r>
            <a:r>
              <a:rPr lang="zh-CN" sz="2800"/>
              <a:t>是一种用于笔记本计算机的新的高性能</a:t>
            </a:r>
            <a:r>
              <a:rPr lang="zh-CN" altLang="zh-CN" sz="2800"/>
              <a:t>PC</a:t>
            </a:r>
            <a:r>
              <a:rPr lang="zh-CN" sz="2800"/>
              <a:t>卡总线接口标准，就像广泛地应用在台式计算机中的</a:t>
            </a:r>
            <a:r>
              <a:rPr lang="zh-CN" altLang="zh-CN" sz="2800"/>
              <a:t>PCI</a:t>
            </a:r>
            <a:r>
              <a:rPr lang="zh-CN" sz="2800"/>
              <a:t>总线一样。</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3011">
                                            <p:txEl>
                                              <p:pRg st="1" end="1"/>
                                            </p:txEl>
                                          </p:spTgt>
                                        </p:tgtEl>
                                        <p:attrNameLst>
                                          <p:attrName>style.visibility</p:attrName>
                                        </p:attrNameLst>
                                      </p:cBhvr>
                                      <p:to>
                                        <p:strVal val="visible"/>
                                      </p:to>
                                    </p:set>
                                    <p:anim calcmode="lin" valueType="num">
                                      <p:cBhvr additive="base">
                                        <p:cTn id="13"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zh-CN" altLang="en-US"/>
              <a:t>PCMCIA总线的特点</a:t>
            </a:r>
            <a:endParaRPr lang="zh-CN" altLang="en-US"/>
          </a:p>
        </p:txBody>
      </p:sp>
      <p:sp>
        <p:nvSpPr>
          <p:cNvPr id="44035" name="Rectangle 3"/>
          <p:cNvSpPr>
            <a:spLocks noGrp="1" noChangeArrowheads="1"/>
          </p:cNvSpPr>
          <p:nvPr>
            <p:ph type="body" idx="1"/>
          </p:nvPr>
        </p:nvSpPr>
        <p:spPr/>
        <p:txBody>
          <a:bodyPr/>
          <a:lstStyle/>
          <a:p>
            <a:pPr>
              <a:lnSpc>
                <a:spcPct val="80000"/>
              </a:lnSpc>
            </a:pPr>
            <a:r>
              <a:rPr lang="zh-CN" altLang="zh-CN" sz="2800"/>
              <a:t>32</a:t>
            </a:r>
            <a:r>
              <a:rPr lang="zh-CN" sz="2800"/>
              <a:t>位数据传输和</a:t>
            </a:r>
            <a:r>
              <a:rPr lang="zh-CN" altLang="zh-CN" sz="2800"/>
              <a:t>33MHz</a:t>
            </a:r>
            <a:r>
              <a:rPr lang="zh-CN" sz="2800"/>
              <a:t>操作。如</a:t>
            </a:r>
            <a:r>
              <a:rPr lang="zh-CN" altLang="zh-CN" sz="2800"/>
              <a:t>CardBus</a:t>
            </a:r>
            <a:r>
              <a:rPr lang="zh-CN" sz="2800"/>
              <a:t>快速以太网</a:t>
            </a:r>
            <a:r>
              <a:rPr lang="zh-CN" altLang="zh-CN" sz="2800"/>
              <a:t>PC</a:t>
            </a:r>
            <a:r>
              <a:rPr lang="zh-CN" sz="2800"/>
              <a:t>卡的最大吞吐量接近</a:t>
            </a:r>
            <a:r>
              <a:rPr lang="zh-CN" altLang="zh-CN" sz="2800"/>
              <a:t>90 Mbps</a:t>
            </a:r>
            <a:r>
              <a:rPr lang="zh-CN" sz="2800"/>
              <a:t>，而</a:t>
            </a:r>
            <a:r>
              <a:rPr lang="zh-CN" altLang="zh-CN" sz="2800"/>
              <a:t>16</a:t>
            </a:r>
            <a:r>
              <a:rPr lang="zh-CN" sz="2800"/>
              <a:t>位快速以太网</a:t>
            </a:r>
            <a:r>
              <a:rPr lang="zh-CN" altLang="zh-CN" sz="2800"/>
              <a:t>PC</a:t>
            </a:r>
            <a:r>
              <a:rPr lang="zh-CN" sz="2800"/>
              <a:t>卡仅能达到</a:t>
            </a:r>
            <a:r>
              <a:rPr lang="zh-CN" altLang="zh-CN" sz="2800"/>
              <a:t>20-30 Mbps</a:t>
            </a:r>
            <a:r>
              <a:rPr lang="zh-CN" sz="2800"/>
              <a:t>。</a:t>
            </a:r>
            <a:endParaRPr lang="zh-CN" sz="2800"/>
          </a:p>
          <a:p>
            <a:pPr>
              <a:lnSpc>
                <a:spcPct val="80000"/>
              </a:lnSpc>
            </a:pPr>
            <a:r>
              <a:rPr lang="zh-CN" sz="2800"/>
              <a:t>总线自主。使</a:t>
            </a:r>
            <a:r>
              <a:rPr lang="zh-CN" altLang="zh-CN" sz="2800"/>
              <a:t>PC</a:t>
            </a:r>
            <a:r>
              <a:rPr lang="zh-CN" sz="2800"/>
              <a:t>卡可以独立于主</a:t>
            </a:r>
            <a:r>
              <a:rPr lang="zh-CN" altLang="zh-CN" sz="2800"/>
              <a:t>CPU</a:t>
            </a:r>
            <a:r>
              <a:rPr lang="zh-CN" sz="2800"/>
              <a:t>，与计算机内存间直接交换数据，这样</a:t>
            </a:r>
            <a:r>
              <a:rPr lang="zh-CN" altLang="zh-CN" sz="2800"/>
              <a:t>CPU</a:t>
            </a:r>
            <a:r>
              <a:rPr lang="zh-CN" sz="2800"/>
              <a:t>就可以处理其它的任务。</a:t>
            </a:r>
            <a:endParaRPr lang="zh-CN" sz="2800"/>
          </a:p>
          <a:p>
            <a:pPr>
              <a:lnSpc>
                <a:spcPct val="80000"/>
              </a:lnSpc>
            </a:pPr>
            <a:r>
              <a:rPr lang="zh-CN" altLang="zh-CN" sz="2800"/>
              <a:t>3.3V</a:t>
            </a:r>
            <a:r>
              <a:rPr lang="zh-CN" sz="2800"/>
              <a:t>供电，低功耗。提高了电池的寿命，降低了计算机内部的热扩散，增强了系统的可靠性。</a:t>
            </a:r>
            <a:endParaRPr lang="zh-CN" sz="2800"/>
          </a:p>
          <a:p>
            <a:pPr>
              <a:lnSpc>
                <a:spcPct val="80000"/>
              </a:lnSpc>
            </a:pPr>
            <a:r>
              <a:rPr lang="zh-CN" sz="2800"/>
              <a:t>后向兼容</a:t>
            </a:r>
            <a:r>
              <a:rPr lang="zh-CN" altLang="zh-CN" sz="2800"/>
              <a:t>16</a:t>
            </a:r>
            <a:r>
              <a:rPr lang="zh-CN" sz="2800"/>
              <a:t>位的</a:t>
            </a:r>
            <a:r>
              <a:rPr lang="zh-CN" altLang="zh-CN" sz="2800"/>
              <a:t>PC</a:t>
            </a:r>
            <a:r>
              <a:rPr lang="zh-CN" sz="2800"/>
              <a:t>卡。老式以太网和</a:t>
            </a:r>
            <a:r>
              <a:rPr lang="zh-CN" altLang="zh-CN" sz="2800"/>
              <a:t>Modem</a:t>
            </a:r>
            <a:r>
              <a:rPr lang="zh-CN" sz="2800"/>
              <a:t>设备的</a:t>
            </a:r>
            <a:r>
              <a:rPr lang="zh-CN" altLang="zh-CN" sz="2800"/>
              <a:t>PC</a:t>
            </a:r>
            <a:r>
              <a:rPr lang="zh-CN" sz="2800"/>
              <a:t>卡仍然可以插在</a:t>
            </a:r>
            <a:r>
              <a:rPr lang="zh-CN" altLang="zh-CN" sz="2800"/>
              <a:t>CardBus</a:t>
            </a:r>
            <a:r>
              <a:rPr lang="zh-CN" sz="2800"/>
              <a:t>插槽上使用。</a:t>
            </a:r>
            <a:endParaRPr lang="zh-CN" sz="28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anim calcmode="lin" valueType="num">
                                      <p:cBhvr additive="base">
                                        <p:cTn id="7" dur="500" fill="hold"/>
                                        <p:tgtEl>
                                          <p:spTgt spid="440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4035">
                                            <p:txEl>
                                              <p:pRg st="1" end="1"/>
                                            </p:txEl>
                                          </p:spTgt>
                                        </p:tgtEl>
                                        <p:attrNameLst>
                                          <p:attrName>style.visibility</p:attrName>
                                        </p:attrNameLst>
                                      </p:cBhvr>
                                      <p:to>
                                        <p:strVal val="visible"/>
                                      </p:to>
                                    </p:set>
                                    <p:anim calcmode="lin" valueType="num">
                                      <p:cBhvr additive="base">
                                        <p:cTn id="13" dur="500" fill="hold"/>
                                        <p:tgtEl>
                                          <p:spTgt spid="440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anim calcmode="lin" valueType="num">
                                      <p:cBhvr additive="base">
                                        <p:cTn id="19" dur="500" fill="hold"/>
                                        <p:tgtEl>
                                          <p:spTgt spid="440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4035">
                                            <p:txEl>
                                              <p:pRg st="3" end="3"/>
                                            </p:txEl>
                                          </p:spTgt>
                                        </p:tgtEl>
                                        <p:attrNameLst>
                                          <p:attrName>style.visibility</p:attrName>
                                        </p:attrNameLst>
                                      </p:cBhvr>
                                      <p:to>
                                        <p:strVal val="visible"/>
                                      </p:to>
                                    </p:set>
                                    <p:anim calcmode="lin" valueType="num">
                                      <p:cBhvr additive="base">
                                        <p:cTn id="25" dur="500" fill="hold"/>
                                        <p:tgtEl>
                                          <p:spTgt spid="440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0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Network">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6369</Words>
  <Application>WPS 演示</Application>
  <PresentationFormat>自定义</PresentationFormat>
  <Paragraphs>250</Paragraphs>
  <Slides>29</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0</vt:i4>
      </vt:variant>
      <vt:variant>
        <vt:lpstr>幻灯片标题</vt:lpstr>
      </vt:variant>
      <vt:variant>
        <vt:i4>29</vt:i4>
      </vt:variant>
    </vt:vector>
  </HeadingPairs>
  <TitlesOfParts>
    <vt:vector size="43" baseType="lpstr">
      <vt:lpstr>Arial</vt:lpstr>
      <vt:lpstr>宋体</vt:lpstr>
      <vt:lpstr>Wingdings</vt:lpstr>
      <vt:lpstr>微软雅黑</vt:lpstr>
      <vt:lpstr>Arial Unicode MS</vt:lpstr>
      <vt:lpstr>等线</vt:lpstr>
      <vt:lpstr>Times New Roman</vt:lpstr>
      <vt:lpstr>楷体_GB2312</vt:lpstr>
      <vt:lpstr>新宋体</vt:lpstr>
      <vt:lpstr>Calibri</vt:lpstr>
      <vt:lpstr>Wingdings</vt:lpstr>
      <vt:lpstr>楷体_GB2312</vt:lpstr>
      <vt:lpstr>方正楷体_GB2312</vt:lpstr>
      <vt:lpstr>Network</vt:lpstr>
      <vt:lpstr>第11章总线技术</vt:lpstr>
      <vt:lpstr>11.1 概述</vt:lpstr>
      <vt:lpstr>PowerPoint 演示文稿</vt:lpstr>
      <vt:lpstr>PowerPoint 演示文稿</vt:lpstr>
      <vt:lpstr>总线分类</vt:lpstr>
      <vt:lpstr>总线传输方式</vt:lpstr>
      <vt:lpstr>1)同步方式</vt:lpstr>
      <vt:lpstr>2)异步方式</vt:lpstr>
      <vt:lpstr>11.2  系统总线</vt:lpstr>
      <vt:lpstr>11.2.1  ISA总线</vt:lpstr>
      <vt:lpstr>ISA总线：</vt:lpstr>
      <vt:lpstr>ISA主要性能指标</vt:lpstr>
      <vt:lpstr>11.2.2  PCI总线</vt:lpstr>
      <vt:lpstr>PowerPoint 演示文稿</vt:lpstr>
      <vt:lpstr>PCI总线主要性能</vt:lpstr>
      <vt:lpstr>11.2.3 AGP总线</vt:lpstr>
      <vt:lpstr>AGP总线特点</vt:lpstr>
      <vt:lpstr>11.2.4  PCI Express总线</vt:lpstr>
      <vt:lpstr>图11.3  PCI Express总线系统体系结构</vt:lpstr>
      <vt:lpstr>PCI Express总线的特点</vt:lpstr>
      <vt:lpstr>PCI-E 总线使用的三层协议结构</vt:lpstr>
      <vt:lpstr>11.3 通信总线</vt:lpstr>
      <vt:lpstr>USB总线特点</vt:lpstr>
      <vt:lpstr>CAN总线</vt:lpstr>
      <vt:lpstr>CAN总线的特点</vt:lpstr>
      <vt:lpstr>11.3.4 其它总线</vt:lpstr>
      <vt:lpstr>1)SCSI总线</vt:lpstr>
      <vt:lpstr>2)PCMCIA总线</vt:lpstr>
      <vt:lpstr>PCMCIA总线的特点</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Zhou Jian</dc:creator>
  <cp:lastModifiedBy>杨领军</cp:lastModifiedBy>
  <cp:revision>97</cp:revision>
  <dcterms:created xsi:type="dcterms:W3CDTF">2021-02-04T09:02:00Z</dcterms:created>
  <dcterms:modified xsi:type="dcterms:W3CDTF">2026-06-09T01:11:24Z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6481541EE15D418590F806B04C4858BB_12</vt:lpwstr>
  </property>
  <property fmtid="{D5CDD505-2E9C-101B-9397-08002B2CF9AE}" pid="3" name="KSOProductBuildVer">
    <vt:lpwstr>2052-12.1.0.26895</vt:lpwstr>
  </property>
</Properties>
</file>