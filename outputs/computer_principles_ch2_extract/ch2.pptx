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1240" r:id="rId2"/>
    <p:sldId id="1238" r:id="rId3"/>
    <p:sldId id="416" r:id="rId4"/>
    <p:sldId id="277" r:id="rId5"/>
    <p:sldId id="417" r:id="rId6"/>
    <p:sldId id="884" r:id="rId7"/>
    <p:sldId id="885" r:id="rId8"/>
    <p:sldId id="886" r:id="rId9"/>
    <p:sldId id="887" r:id="rId10"/>
    <p:sldId id="716" r:id="rId11"/>
    <p:sldId id="888" r:id="rId12"/>
    <p:sldId id="890" r:id="rId13"/>
    <p:sldId id="891" r:id="rId14"/>
    <p:sldId id="889" r:id="rId15"/>
    <p:sldId id="892" r:id="rId16"/>
    <p:sldId id="718" r:id="rId17"/>
    <p:sldId id="923" r:id="rId18"/>
    <p:sldId id="917" r:id="rId19"/>
    <p:sldId id="894" r:id="rId20"/>
    <p:sldId id="918" r:id="rId21"/>
    <p:sldId id="895" r:id="rId22"/>
    <p:sldId id="896" r:id="rId23"/>
    <p:sldId id="897" r:id="rId24"/>
    <p:sldId id="898" r:id="rId25"/>
    <p:sldId id="899" r:id="rId26"/>
    <p:sldId id="900" r:id="rId27"/>
    <p:sldId id="919" r:id="rId28"/>
    <p:sldId id="901" r:id="rId29"/>
    <p:sldId id="920" r:id="rId30"/>
    <p:sldId id="902" r:id="rId31"/>
    <p:sldId id="921" r:id="rId32"/>
    <p:sldId id="903" r:id="rId33"/>
    <p:sldId id="904" r:id="rId34"/>
    <p:sldId id="905" r:id="rId35"/>
    <p:sldId id="906" r:id="rId36"/>
    <p:sldId id="1060" r:id="rId37"/>
    <p:sldId id="908" r:id="rId38"/>
    <p:sldId id="836" r:id="rId39"/>
    <p:sldId id="909" r:id="rId40"/>
    <p:sldId id="910" r:id="rId41"/>
    <p:sldId id="922" r:id="rId42"/>
    <p:sldId id="911" r:id="rId43"/>
    <p:sldId id="912" r:id="rId44"/>
    <p:sldId id="1242" r:id="rId45"/>
    <p:sldId id="914" r:id="rId46"/>
    <p:sldId id="915" r:id="rId47"/>
    <p:sldId id="837" r:id="rId48"/>
    <p:sldId id="1061" r:id="rId49"/>
    <p:sldId id="1062" r:id="rId50"/>
    <p:sldId id="1063" r:id="rId51"/>
    <p:sldId id="1064" r:id="rId52"/>
    <p:sldId id="1066" r:id="rId53"/>
    <p:sldId id="1067" r:id="rId54"/>
    <p:sldId id="924" r:id="rId55"/>
    <p:sldId id="743" r:id="rId56"/>
    <p:sldId id="447" r:id="rId57"/>
    <p:sldId id="448" r:id="rId58"/>
    <p:sldId id="840" r:id="rId59"/>
    <p:sldId id="451" r:id="rId60"/>
    <p:sldId id="750" r:id="rId61"/>
    <p:sldId id="746" r:id="rId62"/>
    <p:sldId id="453" r:id="rId63"/>
    <p:sldId id="452" r:id="rId64"/>
    <p:sldId id="744" r:id="rId65"/>
    <p:sldId id="745" r:id="rId66"/>
    <p:sldId id="747" r:id="rId67"/>
    <p:sldId id="455" r:id="rId68"/>
    <p:sldId id="748" r:id="rId69"/>
    <p:sldId id="749" r:id="rId70"/>
    <p:sldId id="751" r:id="rId71"/>
    <p:sldId id="752" r:id="rId72"/>
    <p:sldId id="454" r:id="rId73"/>
    <p:sldId id="458" r:id="rId74"/>
    <p:sldId id="460" r:id="rId75"/>
    <p:sldId id="753" r:id="rId76"/>
    <p:sldId id="486" r:id="rId77"/>
    <p:sldId id="487" r:id="rId78"/>
    <p:sldId id="754" r:id="rId79"/>
    <p:sldId id="488" r:id="rId80"/>
    <p:sldId id="842" r:id="rId81"/>
    <p:sldId id="1241" r:id="rId82"/>
    <p:sldId id="1068" r:id="rId83"/>
    <p:sldId id="756" r:id="rId84"/>
    <p:sldId id="843" r:id="rId85"/>
    <p:sldId id="816" r:id="rId86"/>
    <p:sldId id="844" r:id="rId87"/>
    <p:sldId id="817" r:id="rId88"/>
    <p:sldId id="845" r:id="rId89"/>
    <p:sldId id="818" r:id="rId90"/>
    <p:sldId id="846" r:id="rId91"/>
    <p:sldId id="758" r:id="rId92"/>
    <p:sldId id="759" r:id="rId93"/>
    <p:sldId id="819" r:id="rId94"/>
    <p:sldId id="1069" r:id="rId95"/>
    <p:sldId id="808" r:id="rId96"/>
    <p:sldId id="848" r:id="rId97"/>
    <p:sldId id="764" r:id="rId98"/>
    <p:sldId id="849" r:id="rId99"/>
    <p:sldId id="850" r:id="rId100"/>
    <p:sldId id="851" r:id="rId101"/>
    <p:sldId id="852" r:id="rId102"/>
    <p:sldId id="769" r:id="rId103"/>
  </p:sldIdLst>
  <p:sldSz cx="9144000" cy="6858000" type="screen4x3"/>
  <p:notesSz cx="6858000" cy="9144000"/>
  <p:custDataLst>
    <p:tags r:id="rId104"/>
  </p:custDataLst>
  <p:defaultTextStyle>
    <a:defPPr>
      <a:defRPr lang="en-US"/>
    </a:defPPr>
    <a:lvl1pPr algn="l" rtl="0" fontAlgn="base">
      <a:spcBef>
        <a:spcPct val="0"/>
      </a:spcBef>
      <a:spcAft>
        <a:spcPct val="0"/>
      </a:spcAft>
      <a:defRPr sz="2000" kern="1200" baseline="-250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000" kern="1200" baseline="-250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000" kern="1200" baseline="-250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000" kern="1200" baseline="-250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000" kern="1200" baseline="-250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000" kern="1200" baseline="-250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000" kern="1200" baseline="-250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000" kern="1200" baseline="-250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000" kern="1200" baseline="-250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66"/>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varScale="1">
        <p:scale>
          <a:sx n="104" d="100"/>
          <a:sy n="104" d="100"/>
        </p:scale>
        <p:origin x="-1188" y="-78"/>
      </p:cViewPr>
      <p:guideLst>
        <p:guide orient="horz" pos="217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830F3D1-BFB2-C243-D680-1D4B3F150B03}"/>
              </a:ext>
            </a:extLst>
          </p:cNvPr>
          <p:cNvGrpSpPr>
            <a:grpSpLocks/>
          </p:cNvGrpSpPr>
          <p:nvPr/>
        </p:nvGrpSpPr>
        <p:grpSpPr bwMode="auto">
          <a:xfrm>
            <a:off x="0" y="2438400"/>
            <a:ext cx="9009063" cy="1052513"/>
            <a:chOff x="0" y="0"/>
            <a:chExt cx="5675" cy="663"/>
          </a:xfrm>
        </p:grpSpPr>
        <p:grpSp>
          <p:nvGrpSpPr>
            <p:cNvPr id="3" name="Group 3">
              <a:extLst>
                <a:ext uri="{FF2B5EF4-FFF2-40B4-BE49-F238E27FC236}">
                  <a16:creationId xmlns:a16="http://schemas.microsoft.com/office/drawing/2014/main" id="{E02BF9A6-F80F-7750-9715-12D0132AAB16}"/>
                </a:ext>
              </a:extLst>
            </p:cNvPr>
            <p:cNvGrpSpPr>
              <a:grpSpLocks/>
            </p:cNvGrpSpPr>
            <p:nvPr/>
          </p:nvGrpSpPr>
          <p:grpSpPr bwMode="auto">
            <a:xfrm>
              <a:off x="183" y="68"/>
              <a:ext cx="448" cy="299"/>
              <a:chOff x="0" y="0"/>
              <a:chExt cx="624" cy="432"/>
            </a:xfrm>
          </p:grpSpPr>
          <p:sp>
            <p:nvSpPr>
              <p:cNvPr id="10" name="Rectangle 4">
                <a:extLst>
                  <a:ext uri="{FF2B5EF4-FFF2-40B4-BE49-F238E27FC236}">
                    <a16:creationId xmlns:a16="http://schemas.microsoft.com/office/drawing/2014/main" id="{93033F19-8CA1-9625-0ECE-2115C534627D}"/>
                  </a:ext>
                </a:extLst>
              </p:cNvPr>
              <p:cNvSpPr>
                <a:spLocks noChangeArrowheads="1"/>
              </p:cNvSpPr>
              <p:nvPr/>
            </p:nvSpPr>
            <p:spPr bwMode="auto">
              <a:xfrm>
                <a:off x="0" y="0"/>
                <a:ext cx="384" cy="432"/>
              </a:xfrm>
              <a:prstGeom prst="rect">
                <a:avLst/>
              </a:prstGeom>
              <a:solidFill>
                <a:schemeClr val="folHlink"/>
              </a:solidFill>
              <a:ln w="9525">
                <a:noFill/>
                <a:miter lim="800000"/>
              </a:ln>
            </p:spPr>
            <p:txBody>
              <a:bodyPr wrap="none" anchor="ctr"/>
              <a:lstStyle/>
              <a:p>
                <a:pPr algn="ctr">
                  <a:buFont typeface="Arial" panose="020B0604020202020204" pitchFamily="34" charset="0"/>
                  <a:buNone/>
                  <a:defRPr/>
                </a:pPr>
                <a:endParaRPr lang="zh-CN" altLang="en-US"/>
              </a:p>
            </p:txBody>
          </p:sp>
          <p:sp>
            <p:nvSpPr>
              <p:cNvPr id="11" name="Rectangle 5">
                <a:extLst>
                  <a:ext uri="{FF2B5EF4-FFF2-40B4-BE49-F238E27FC236}">
                    <a16:creationId xmlns:a16="http://schemas.microsoft.com/office/drawing/2014/main" id="{93250AB5-5CB0-15A8-D36A-2D0495575C45}"/>
                  </a:ext>
                </a:extLst>
              </p:cNvPr>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w="9525">
                <a:noFill/>
                <a:miter lim="800000"/>
              </a:ln>
            </p:spPr>
            <p:txBody>
              <a:bodyPr wrap="none" anchor="ctr"/>
              <a:lstStyle/>
              <a:p>
                <a:pPr algn="ctr">
                  <a:buFont typeface="Arial" panose="020B0604020202020204" pitchFamily="34" charset="0"/>
                  <a:buNone/>
                  <a:defRPr/>
                </a:pPr>
                <a:endParaRPr lang="zh-CN" altLang="en-US"/>
              </a:p>
            </p:txBody>
          </p:sp>
        </p:grpSp>
        <p:grpSp>
          <p:nvGrpSpPr>
            <p:cNvPr id="4" name="Group 6">
              <a:extLst>
                <a:ext uri="{FF2B5EF4-FFF2-40B4-BE49-F238E27FC236}">
                  <a16:creationId xmlns:a16="http://schemas.microsoft.com/office/drawing/2014/main" id="{6AFF2E56-65B2-A22D-380C-A553B1CC780E}"/>
                </a:ext>
              </a:extLst>
            </p:cNvPr>
            <p:cNvGrpSpPr>
              <a:grpSpLocks/>
            </p:cNvGrpSpPr>
            <p:nvPr/>
          </p:nvGrpSpPr>
          <p:grpSpPr bwMode="auto">
            <a:xfrm>
              <a:off x="261" y="334"/>
              <a:ext cx="465" cy="299"/>
              <a:chOff x="0" y="0"/>
              <a:chExt cx="672" cy="432"/>
            </a:xfrm>
          </p:grpSpPr>
          <p:sp>
            <p:nvSpPr>
              <p:cNvPr id="8" name="Rectangle 7">
                <a:extLst>
                  <a:ext uri="{FF2B5EF4-FFF2-40B4-BE49-F238E27FC236}">
                    <a16:creationId xmlns:a16="http://schemas.microsoft.com/office/drawing/2014/main" id="{AB55B0E0-C853-B4AB-1AA5-0ACE93E8087A}"/>
                  </a:ext>
                </a:extLst>
              </p:cNvPr>
              <p:cNvSpPr>
                <a:spLocks noChangeArrowheads="1"/>
              </p:cNvSpPr>
              <p:nvPr/>
            </p:nvSpPr>
            <p:spPr bwMode="auto">
              <a:xfrm>
                <a:off x="0" y="0"/>
                <a:ext cx="384" cy="432"/>
              </a:xfrm>
              <a:prstGeom prst="rect">
                <a:avLst/>
              </a:prstGeom>
              <a:solidFill>
                <a:schemeClr val="accent2"/>
              </a:solidFill>
              <a:ln w="9525">
                <a:noFill/>
                <a:miter lim="800000"/>
              </a:ln>
            </p:spPr>
            <p:txBody>
              <a:bodyPr wrap="none" anchor="ctr"/>
              <a:lstStyle/>
              <a:p>
                <a:pPr algn="ctr">
                  <a:buFont typeface="Arial" panose="020B0604020202020204" pitchFamily="34" charset="0"/>
                  <a:buNone/>
                  <a:defRPr/>
                </a:pPr>
                <a:endParaRPr lang="zh-CN" altLang="en-US"/>
              </a:p>
            </p:txBody>
          </p:sp>
          <p:sp>
            <p:nvSpPr>
              <p:cNvPr id="9" name="Rectangle 8">
                <a:extLst>
                  <a:ext uri="{FF2B5EF4-FFF2-40B4-BE49-F238E27FC236}">
                    <a16:creationId xmlns:a16="http://schemas.microsoft.com/office/drawing/2014/main" id="{85519F8D-08BF-F4B9-0333-94A960158E7D}"/>
                  </a:ext>
                </a:extLst>
              </p:cNvPr>
              <p:cNvSpPr>
                <a:spLocks noChangeArrowheads="1"/>
              </p:cNvSpPr>
              <p:nvPr/>
            </p:nvSpPr>
            <p:spPr bwMode="auto">
              <a:xfrm>
                <a:off x="337" y="0"/>
                <a:ext cx="335" cy="432"/>
              </a:xfrm>
              <a:prstGeom prst="rect">
                <a:avLst/>
              </a:prstGeom>
              <a:gradFill rotWithShape="0">
                <a:gsLst>
                  <a:gs pos="0">
                    <a:schemeClr val="accent2"/>
                  </a:gs>
                  <a:gs pos="100000">
                    <a:schemeClr val="bg1"/>
                  </a:gs>
                </a:gsLst>
                <a:lin ang="0" scaled="1"/>
              </a:gradFill>
              <a:ln w="9525">
                <a:noFill/>
                <a:miter lim="800000"/>
              </a:ln>
            </p:spPr>
            <p:txBody>
              <a:bodyPr wrap="none" anchor="ctr"/>
              <a:lstStyle/>
              <a:p>
                <a:pPr algn="ctr">
                  <a:buFont typeface="Arial" panose="020B0604020202020204" pitchFamily="34" charset="0"/>
                  <a:buNone/>
                  <a:defRPr/>
                </a:pPr>
                <a:endParaRPr lang="zh-CN" altLang="en-US"/>
              </a:p>
            </p:txBody>
          </p:sp>
        </p:grpSp>
        <p:sp>
          <p:nvSpPr>
            <p:cNvPr id="5" name="Rectangle 9">
              <a:extLst>
                <a:ext uri="{FF2B5EF4-FFF2-40B4-BE49-F238E27FC236}">
                  <a16:creationId xmlns:a16="http://schemas.microsoft.com/office/drawing/2014/main" id="{EE52179A-67D2-A306-EE26-AAB9A2CD6718}"/>
                </a:ext>
              </a:extLst>
            </p:cNvPr>
            <p:cNvSpPr>
              <a:spLocks noChangeArrowheads="1"/>
            </p:cNvSpPr>
            <p:nvPr/>
          </p:nvSpPr>
          <p:spPr bwMode="auto">
            <a:xfrm>
              <a:off x="0" y="288"/>
              <a:ext cx="353" cy="266"/>
            </a:xfrm>
            <a:prstGeom prst="rect">
              <a:avLst/>
            </a:prstGeom>
            <a:gradFill rotWithShape="0">
              <a:gsLst>
                <a:gs pos="0">
                  <a:schemeClr val="bg1"/>
                </a:gs>
                <a:gs pos="100000">
                  <a:schemeClr val="hlink"/>
                </a:gs>
              </a:gsLst>
              <a:lin ang="18900000" scaled="1"/>
            </a:gradFill>
            <a:ln w="9525">
              <a:noFill/>
              <a:miter lim="800000"/>
            </a:ln>
          </p:spPr>
          <p:txBody>
            <a:bodyPr wrap="none" anchor="ctr"/>
            <a:lstStyle/>
            <a:p>
              <a:pPr algn="ctr">
                <a:buFont typeface="Arial" panose="020B0604020202020204" pitchFamily="34" charset="0"/>
                <a:buNone/>
                <a:defRPr/>
              </a:pPr>
              <a:endParaRPr lang="zh-CN" altLang="en-US"/>
            </a:p>
          </p:txBody>
        </p:sp>
        <p:sp>
          <p:nvSpPr>
            <p:cNvPr id="6" name="Rectangle 10">
              <a:extLst>
                <a:ext uri="{FF2B5EF4-FFF2-40B4-BE49-F238E27FC236}">
                  <a16:creationId xmlns:a16="http://schemas.microsoft.com/office/drawing/2014/main" id="{7605B132-C673-4DE2-53E3-48999E20CA43}"/>
                </a:ext>
              </a:extLst>
            </p:cNvPr>
            <p:cNvSpPr>
              <a:spLocks noChangeArrowheads="1"/>
            </p:cNvSpPr>
            <p:nvPr/>
          </p:nvSpPr>
          <p:spPr bwMode="auto">
            <a:xfrm>
              <a:off x="400" y="0"/>
              <a:ext cx="20" cy="663"/>
            </a:xfrm>
            <a:prstGeom prst="rect">
              <a:avLst/>
            </a:prstGeom>
            <a:solidFill>
              <a:schemeClr val="bg2"/>
            </a:solidFill>
            <a:ln w="9525">
              <a:noFill/>
              <a:miter lim="800000"/>
            </a:ln>
          </p:spPr>
          <p:txBody>
            <a:bodyPr wrap="none" anchor="ctr"/>
            <a:lstStyle/>
            <a:p>
              <a:pPr algn="ctr">
                <a:buFont typeface="Arial" panose="020B0604020202020204" pitchFamily="34" charset="0"/>
                <a:buNone/>
                <a:defRPr/>
              </a:pPr>
              <a:endParaRPr lang="zh-CN" altLang="en-US"/>
            </a:p>
          </p:txBody>
        </p:sp>
        <p:sp>
          <p:nvSpPr>
            <p:cNvPr id="7" name="Rectangle 11">
              <a:extLst>
                <a:ext uri="{FF2B5EF4-FFF2-40B4-BE49-F238E27FC236}">
                  <a16:creationId xmlns:a16="http://schemas.microsoft.com/office/drawing/2014/main" id="{5DBE202C-A1BD-C613-8561-87D60072DF40}"/>
                </a:ext>
              </a:extLst>
            </p:cNvPr>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w="9525">
              <a:noFill/>
              <a:miter lim="800000"/>
            </a:ln>
          </p:spPr>
          <p:txBody>
            <a:bodyPr wrap="none" anchor="ctr"/>
            <a:lstStyle/>
            <a:p>
              <a:pPr algn="ctr">
                <a:buFont typeface="Arial" panose="020B0604020202020204" pitchFamily="34" charset="0"/>
                <a:buNone/>
                <a:defRPr/>
              </a:pPr>
              <a:endParaRPr lang="zh-CN" altLang="en-US"/>
            </a:p>
          </p:txBody>
        </p:sp>
      </p:grpSp>
      <p:sp>
        <p:nvSpPr>
          <p:cNvPr id="2060" name="Rectangle 12"/>
          <p:cNvSpPr>
            <a:spLocks noGrp="1" noChangeArrowheads="1"/>
          </p:cNvSpPr>
          <p:nvPr>
            <p:ph type="ctrTitle"/>
          </p:nvPr>
        </p:nvSpPr>
        <p:spPr>
          <a:xfrm>
            <a:off x="990600" y="1676400"/>
            <a:ext cx="7772400" cy="1462088"/>
          </a:xfrm>
        </p:spPr>
        <p:txBody>
          <a:bodyPr/>
          <a:lstStyle>
            <a:lvl1pPr>
              <a:defRPr/>
            </a:lvl1pPr>
          </a:lstStyle>
          <a:p>
            <a:r>
              <a:rPr lang="zh-CN" altLang="en-US" noProof="1"/>
              <a:t>单击此处编辑母版标题样式</a:t>
            </a:r>
          </a:p>
        </p:txBody>
      </p:sp>
      <p:sp>
        <p:nvSpPr>
          <p:cNvPr id="206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12" name="Rectangle 14">
            <a:extLst>
              <a:ext uri="{FF2B5EF4-FFF2-40B4-BE49-F238E27FC236}">
                <a16:creationId xmlns:a16="http://schemas.microsoft.com/office/drawing/2014/main" id="{B9576822-EE21-C105-1E60-4E3A8FD26109}"/>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3" name="Rectangle 15">
            <a:extLst>
              <a:ext uri="{FF2B5EF4-FFF2-40B4-BE49-F238E27FC236}">
                <a16:creationId xmlns:a16="http://schemas.microsoft.com/office/drawing/2014/main" id="{60280430-FC31-3A6C-00DE-8B085B9EF375}"/>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
        <p:nvSpPr>
          <p:cNvPr id="14" name="Rectangle 16">
            <a:extLst>
              <a:ext uri="{FF2B5EF4-FFF2-40B4-BE49-F238E27FC236}">
                <a16:creationId xmlns:a16="http://schemas.microsoft.com/office/drawing/2014/main" id="{AE359B1D-02C6-0747-7F21-40438ECC72AD}"/>
              </a:ext>
            </a:extLst>
          </p:cNvPr>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831B2F6F-43A6-471F-8243-AF7A8963416E}" type="slidenum">
              <a:rPr lang="zh-CN" altLang="en-US"/>
              <a:pPr/>
              <a:t>‹#›</a:t>
            </a:fld>
            <a:endParaRPr lang="zh-CN" altLang="en-US"/>
          </a:p>
        </p:txBody>
      </p:sp>
    </p:spTree>
    <p:extLst>
      <p:ext uri="{BB962C8B-B14F-4D97-AF65-F5344CB8AC3E}">
        <p14:creationId xmlns:p14="http://schemas.microsoft.com/office/powerpoint/2010/main" val="3762589871"/>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349AD4BE-0B36-BAC7-4D5A-37AE8098D836}"/>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13DC097E-4263-202A-266C-DE0B7165B523}"/>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D533778E-66E5-9911-A0D1-518446B4F23E}"/>
              </a:ext>
            </a:extLst>
          </p:cNvPr>
          <p:cNvSpPr>
            <a:spLocks noGrp="1" noChangeArrowheads="1"/>
          </p:cNvSpPr>
          <p:nvPr>
            <p:ph type="sldNum" sz="quarter" idx="12"/>
          </p:nvPr>
        </p:nvSpPr>
        <p:spPr/>
        <p:txBody>
          <a:bodyPr/>
          <a:lstStyle>
            <a:lvl1pPr>
              <a:defRPr/>
            </a:lvl1pPr>
          </a:lstStyle>
          <a:p>
            <a:fld id="{F54F123A-F166-44A7-BCC4-BC410E2014FB}" type="slidenum">
              <a:rPr lang="zh-CN" altLang="en-US"/>
              <a:pPr/>
              <a:t>‹#›</a:t>
            </a:fld>
            <a:endParaRPr lang="zh-CN" altLang="en-US"/>
          </a:p>
        </p:txBody>
      </p:sp>
    </p:spTree>
    <p:extLst>
      <p:ext uri="{BB962C8B-B14F-4D97-AF65-F5344CB8AC3E}">
        <p14:creationId xmlns:p14="http://schemas.microsoft.com/office/powerpoint/2010/main" val="842136662"/>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11">
            <a:extLst>
              <a:ext uri="{FF2B5EF4-FFF2-40B4-BE49-F238E27FC236}">
                <a16:creationId xmlns:a16="http://schemas.microsoft.com/office/drawing/2014/main" id="{030E332B-3735-A3CA-0B29-99BEA538C182}"/>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CB38DA6A-13D8-A292-D21E-51D6F779E49A}"/>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7668073E-3971-E79F-4A97-0D1BE68A3AD5}"/>
              </a:ext>
            </a:extLst>
          </p:cNvPr>
          <p:cNvSpPr>
            <a:spLocks noGrp="1" noChangeArrowheads="1"/>
          </p:cNvSpPr>
          <p:nvPr>
            <p:ph type="sldNum" sz="quarter" idx="12"/>
          </p:nvPr>
        </p:nvSpPr>
        <p:spPr/>
        <p:txBody>
          <a:bodyPr/>
          <a:lstStyle>
            <a:lvl1pPr>
              <a:defRPr/>
            </a:lvl1pPr>
          </a:lstStyle>
          <a:p>
            <a:fld id="{4DBA7533-A7FC-437E-B03A-708CFB845B8A}" type="slidenum">
              <a:rPr lang="zh-CN" altLang="en-US"/>
              <a:pPr/>
              <a:t>‹#›</a:t>
            </a:fld>
            <a:endParaRPr lang="zh-CN" altLang="en-US"/>
          </a:p>
        </p:txBody>
      </p:sp>
    </p:spTree>
    <p:extLst>
      <p:ext uri="{BB962C8B-B14F-4D97-AF65-F5344CB8AC3E}">
        <p14:creationId xmlns:p14="http://schemas.microsoft.com/office/powerpoint/2010/main" val="3950526822"/>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395288" y="1557338"/>
            <a:ext cx="417195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719638" y="1557338"/>
            <a:ext cx="4173537"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a:extLst>
              <a:ext uri="{FF2B5EF4-FFF2-40B4-BE49-F238E27FC236}">
                <a16:creationId xmlns:a16="http://schemas.microsoft.com/office/drawing/2014/main" id="{9F3711CB-F6BA-4A94-E5AA-7AFFECE8F508}"/>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D847F900-49BF-5C59-79D4-19F80D86857F}"/>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3F7E8D50-E70B-F09F-D4F5-60A6F50506DD}"/>
              </a:ext>
            </a:extLst>
          </p:cNvPr>
          <p:cNvSpPr>
            <a:spLocks noGrp="1" noChangeArrowheads="1"/>
          </p:cNvSpPr>
          <p:nvPr>
            <p:ph type="sldNum" sz="quarter" idx="12"/>
          </p:nvPr>
        </p:nvSpPr>
        <p:spPr/>
        <p:txBody>
          <a:bodyPr/>
          <a:lstStyle>
            <a:lvl1pPr>
              <a:defRPr/>
            </a:lvl1pPr>
          </a:lstStyle>
          <a:p>
            <a:fld id="{E60D46B9-3C03-44F6-9D04-921FAB677B90}" type="slidenum">
              <a:rPr lang="zh-CN" altLang="en-US"/>
              <a:pPr/>
              <a:t>‹#›</a:t>
            </a:fld>
            <a:endParaRPr lang="zh-CN" altLang="en-US"/>
          </a:p>
        </p:txBody>
      </p:sp>
    </p:spTree>
    <p:extLst>
      <p:ext uri="{BB962C8B-B14F-4D97-AF65-F5344CB8AC3E}">
        <p14:creationId xmlns:p14="http://schemas.microsoft.com/office/powerpoint/2010/main" val="4196178892"/>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11">
            <a:extLst>
              <a:ext uri="{FF2B5EF4-FFF2-40B4-BE49-F238E27FC236}">
                <a16:creationId xmlns:a16="http://schemas.microsoft.com/office/drawing/2014/main" id="{442D1B60-2B75-A503-46F3-5277B48F7EF7}"/>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C96C7D8D-375A-A316-238F-F2B09CD199A8}"/>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D38B9F66-003D-E4C8-F9A1-0FE0B8231478}"/>
              </a:ext>
            </a:extLst>
          </p:cNvPr>
          <p:cNvSpPr>
            <a:spLocks noGrp="1" noChangeArrowheads="1"/>
          </p:cNvSpPr>
          <p:nvPr>
            <p:ph type="sldNum" sz="quarter" idx="12"/>
          </p:nvPr>
        </p:nvSpPr>
        <p:spPr/>
        <p:txBody>
          <a:bodyPr/>
          <a:lstStyle>
            <a:lvl1pPr>
              <a:defRPr/>
            </a:lvl1pPr>
          </a:lstStyle>
          <a:p>
            <a:fld id="{BB569AF3-59D2-4488-B926-16E9A1E031D6}" type="slidenum">
              <a:rPr lang="zh-CN" altLang="en-US"/>
              <a:pPr/>
              <a:t>‹#›</a:t>
            </a:fld>
            <a:endParaRPr lang="zh-CN" altLang="en-US"/>
          </a:p>
        </p:txBody>
      </p:sp>
    </p:spTree>
    <p:extLst>
      <p:ext uri="{BB962C8B-B14F-4D97-AF65-F5344CB8AC3E}">
        <p14:creationId xmlns:p14="http://schemas.microsoft.com/office/powerpoint/2010/main" val="763202427"/>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11">
            <a:extLst>
              <a:ext uri="{FF2B5EF4-FFF2-40B4-BE49-F238E27FC236}">
                <a16:creationId xmlns:a16="http://schemas.microsoft.com/office/drawing/2014/main" id="{39D1D55C-2FFC-441F-4117-E786D9582C6B}"/>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4C3C3441-7C36-420A-8A27-0C92A73D104D}"/>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ECE8703E-B94F-2760-F57C-EE4779ED73FB}"/>
              </a:ext>
            </a:extLst>
          </p:cNvPr>
          <p:cNvSpPr>
            <a:spLocks noGrp="1" noChangeArrowheads="1"/>
          </p:cNvSpPr>
          <p:nvPr>
            <p:ph type="sldNum" sz="quarter" idx="12"/>
          </p:nvPr>
        </p:nvSpPr>
        <p:spPr/>
        <p:txBody>
          <a:bodyPr/>
          <a:lstStyle>
            <a:lvl1pPr>
              <a:defRPr/>
            </a:lvl1pPr>
          </a:lstStyle>
          <a:p>
            <a:fld id="{3F9CE01F-62AC-4248-8448-582E57A687A3}" type="slidenum">
              <a:rPr lang="zh-CN" altLang="en-US"/>
              <a:pPr/>
              <a:t>‹#›</a:t>
            </a:fld>
            <a:endParaRPr lang="zh-CN" altLang="en-US"/>
          </a:p>
        </p:txBody>
      </p:sp>
    </p:spTree>
    <p:extLst>
      <p:ext uri="{BB962C8B-B14F-4D97-AF65-F5344CB8AC3E}">
        <p14:creationId xmlns:p14="http://schemas.microsoft.com/office/powerpoint/2010/main" val="1979277195"/>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94F414BA-3835-E297-B6CC-328E33293982}"/>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6DB63F3D-A220-1BC6-679B-C2CCAF8E975E}"/>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C0CFA100-FD10-9434-B608-BD65436B268F}"/>
              </a:ext>
            </a:extLst>
          </p:cNvPr>
          <p:cNvSpPr>
            <a:spLocks noGrp="1" noChangeArrowheads="1"/>
          </p:cNvSpPr>
          <p:nvPr>
            <p:ph type="sldNum" sz="quarter" idx="12"/>
          </p:nvPr>
        </p:nvSpPr>
        <p:spPr/>
        <p:txBody>
          <a:bodyPr/>
          <a:lstStyle>
            <a:lvl1pPr>
              <a:defRPr/>
            </a:lvl1pPr>
          </a:lstStyle>
          <a:p>
            <a:fld id="{F4760F36-F40C-4DDF-B4CD-2CF43CE03032}" type="slidenum">
              <a:rPr lang="zh-CN" altLang="en-US"/>
              <a:pPr/>
              <a:t>‹#›</a:t>
            </a:fld>
            <a:endParaRPr lang="zh-CN" altLang="en-US"/>
          </a:p>
        </p:txBody>
      </p:sp>
    </p:spTree>
    <p:extLst>
      <p:ext uri="{BB962C8B-B14F-4D97-AF65-F5344CB8AC3E}">
        <p14:creationId xmlns:p14="http://schemas.microsoft.com/office/powerpoint/2010/main" val="1755225254"/>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49C9F098-F4BA-412D-8BDD-9543E08AA673}"/>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AE8FC389-2FBD-ACB5-4220-19E88F45E9BE}"/>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9C3D38EE-B441-41B5-BA47-9748B2FF89E2}"/>
              </a:ext>
            </a:extLst>
          </p:cNvPr>
          <p:cNvSpPr>
            <a:spLocks noGrp="1" noChangeArrowheads="1"/>
          </p:cNvSpPr>
          <p:nvPr>
            <p:ph type="sldNum" sz="quarter" idx="12"/>
          </p:nvPr>
        </p:nvSpPr>
        <p:spPr/>
        <p:txBody>
          <a:bodyPr/>
          <a:lstStyle>
            <a:lvl1pPr>
              <a:defRPr/>
            </a:lvl1pPr>
          </a:lstStyle>
          <a:p>
            <a:fld id="{180465B2-F2A7-4B9D-A192-4321FCE0F03C}" type="slidenum">
              <a:rPr lang="zh-CN" altLang="en-US"/>
              <a:pPr/>
              <a:t>‹#›</a:t>
            </a:fld>
            <a:endParaRPr lang="zh-CN" altLang="en-US"/>
          </a:p>
        </p:txBody>
      </p:sp>
    </p:spTree>
    <p:extLst>
      <p:ext uri="{BB962C8B-B14F-4D97-AF65-F5344CB8AC3E}">
        <p14:creationId xmlns:p14="http://schemas.microsoft.com/office/powerpoint/2010/main" val="2809234069"/>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F75F88E7-C139-2591-E873-4852FCB4DF73}"/>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D7E4C113-E0FC-664A-0164-1A33F5542EA9}"/>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F9AE641C-C74E-71CB-6BE7-5AFA8D0CF340}"/>
              </a:ext>
            </a:extLst>
          </p:cNvPr>
          <p:cNvSpPr>
            <a:spLocks noGrp="1" noChangeArrowheads="1"/>
          </p:cNvSpPr>
          <p:nvPr>
            <p:ph type="sldNum" sz="quarter" idx="12"/>
          </p:nvPr>
        </p:nvSpPr>
        <p:spPr/>
        <p:txBody>
          <a:bodyPr/>
          <a:lstStyle>
            <a:lvl1pPr>
              <a:defRPr/>
            </a:lvl1pPr>
          </a:lstStyle>
          <a:p>
            <a:fld id="{C88A5DC1-7054-4094-BF95-360C33D3282F}" type="slidenum">
              <a:rPr lang="zh-CN" altLang="en-US"/>
              <a:pPr/>
              <a:t>‹#›</a:t>
            </a:fld>
            <a:endParaRPr lang="zh-CN" altLang="en-US"/>
          </a:p>
        </p:txBody>
      </p:sp>
    </p:spTree>
    <p:extLst>
      <p:ext uri="{BB962C8B-B14F-4D97-AF65-F5344CB8AC3E}">
        <p14:creationId xmlns:p14="http://schemas.microsoft.com/office/powerpoint/2010/main" val="3926676547"/>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C6EE2113-9F58-2EE1-C619-ABED6529C877}"/>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31BE6A41-C003-5DE9-9710-174DC814D299}"/>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90C9C83A-969B-3186-05C3-C6342A720DCE}"/>
              </a:ext>
            </a:extLst>
          </p:cNvPr>
          <p:cNvSpPr>
            <a:spLocks noGrp="1" noChangeArrowheads="1"/>
          </p:cNvSpPr>
          <p:nvPr>
            <p:ph type="sldNum" sz="quarter" idx="12"/>
          </p:nvPr>
        </p:nvSpPr>
        <p:spPr/>
        <p:txBody>
          <a:bodyPr/>
          <a:lstStyle>
            <a:lvl1pPr>
              <a:defRPr/>
            </a:lvl1pPr>
          </a:lstStyle>
          <a:p>
            <a:fld id="{F6F6B1B5-9AD3-4DF3-8B6A-30C192E9D7AC}" type="slidenum">
              <a:rPr lang="zh-CN" altLang="en-US"/>
              <a:pPr/>
              <a:t>‹#›</a:t>
            </a:fld>
            <a:endParaRPr lang="zh-CN" altLang="en-US"/>
          </a:p>
        </p:txBody>
      </p:sp>
    </p:spTree>
    <p:extLst>
      <p:ext uri="{BB962C8B-B14F-4D97-AF65-F5344CB8AC3E}">
        <p14:creationId xmlns:p14="http://schemas.microsoft.com/office/powerpoint/2010/main" val="2456889093"/>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7200" y="214313"/>
            <a:ext cx="2136775" cy="54578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395288" y="214313"/>
            <a:ext cx="6259512" cy="54578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62BB973C-8071-7C41-B5FA-3DE1B35E3DF6}"/>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CC4B7973-AC37-9CC6-E225-3CD95508B772}"/>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CFE9D620-2E68-CE96-90E9-03789DE400B5}"/>
              </a:ext>
            </a:extLst>
          </p:cNvPr>
          <p:cNvSpPr>
            <a:spLocks noGrp="1" noChangeArrowheads="1"/>
          </p:cNvSpPr>
          <p:nvPr>
            <p:ph type="sldNum" sz="quarter" idx="12"/>
          </p:nvPr>
        </p:nvSpPr>
        <p:spPr/>
        <p:txBody>
          <a:bodyPr/>
          <a:lstStyle>
            <a:lvl1pPr>
              <a:defRPr/>
            </a:lvl1pPr>
          </a:lstStyle>
          <a:p>
            <a:fld id="{26B719EF-7722-4909-B307-17462965B411}" type="slidenum">
              <a:rPr lang="zh-CN" altLang="en-US"/>
              <a:pPr/>
              <a:t>‹#›</a:t>
            </a:fld>
            <a:endParaRPr lang="zh-CN" altLang="en-US"/>
          </a:p>
        </p:txBody>
      </p:sp>
    </p:spTree>
    <p:extLst>
      <p:ext uri="{BB962C8B-B14F-4D97-AF65-F5344CB8AC3E}">
        <p14:creationId xmlns:p14="http://schemas.microsoft.com/office/powerpoint/2010/main" val="1365855352"/>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05410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395288" y="1557338"/>
            <a:ext cx="417195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719638" y="1557338"/>
            <a:ext cx="4173537" cy="19812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4719638" y="3690938"/>
            <a:ext cx="4173537" cy="19812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Rectangle 11">
            <a:extLst>
              <a:ext uri="{FF2B5EF4-FFF2-40B4-BE49-F238E27FC236}">
                <a16:creationId xmlns:a16="http://schemas.microsoft.com/office/drawing/2014/main" id="{52331DB1-D1DD-65EE-19FE-DCE54FCBC55F}"/>
              </a:ext>
            </a:extLst>
          </p:cNvPr>
          <p:cNvSpPr>
            <a:spLocks noGrp="1" noChangeArrowheads="1"/>
          </p:cNvSpPr>
          <p:nvPr>
            <p:ph type="dt" sz="half" idx="10"/>
          </p:nvPr>
        </p:nvSpPr>
        <p:spPr/>
        <p:txBody>
          <a:bodyPr/>
          <a:lstStyle>
            <a:lvl1pPr>
              <a:defRPr/>
            </a:lvl1pPr>
          </a:lstStyle>
          <a:p>
            <a:pPr>
              <a:defRPr/>
            </a:pPr>
            <a:endParaRPr lang="en-US"/>
          </a:p>
        </p:txBody>
      </p:sp>
      <p:sp>
        <p:nvSpPr>
          <p:cNvPr id="7" name="Rectangle 12">
            <a:extLst>
              <a:ext uri="{FF2B5EF4-FFF2-40B4-BE49-F238E27FC236}">
                <a16:creationId xmlns:a16="http://schemas.microsoft.com/office/drawing/2014/main" id="{5D67973F-6F79-4E1A-8790-07C571E933C8}"/>
              </a:ext>
            </a:extLst>
          </p:cNvPr>
          <p:cNvSpPr>
            <a:spLocks noGrp="1" noChangeArrowheads="1"/>
          </p:cNvSpPr>
          <p:nvPr>
            <p:ph type="ftr" sz="quarter" idx="11"/>
          </p:nvPr>
        </p:nvSpPr>
        <p:spPr/>
        <p:txBody>
          <a:bodyPr/>
          <a:lstStyle>
            <a:lvl1pPr>
              <a:defRPr/>
            </a:lvl1pPr>
          </a:lstStyle>
          <a:p>
            <a:pPr>
              <a:defRPr/>
            </a:pPr>
            <a:endParaRPr lang="en-US"/>
          </a:p>
        </p:txBody>
      </p:sp>
      <p:sp>
        <p:nvSpPr>
          <p:cNvPr id="8" name="Rectangle 13">
            <a:extLst>
              <a:ext uri="{FF2B5EF4-FFF2-40B4-BE49-F238E27FC236}">
                <a16:creationId xmlns:a16="http://schemas.microsoft.com/office/drawing/2014/main" id="{9E1CCAD3-2075-8089-511D-512C1A466388}"/>
              </a:ext>
            </a:extLst>
          </p:cNvPr>
          <p:cNvSpPr>
            <a:spLocks noGrp="1" noChangeArrowheads="1"/>
          </p:cNvSpPr>
          <p:nvPr>
            <p:ph type="sldNum" sz="quarter" idx="12"/>
          </p:nvPr>
        </p:nvSpPr>
        <p:spPr/>
        <p:txBody>
          <a:bodyPr/>
          <a:lstStyle>
            <a:lvl1pPr>
              <a:defRPr/>
            </a:lvl1pPr>
          </a:lstStyle>
          <a:p>
            <a:fld id="{B16C33E8-533F-4613-89F6-EC9EA2662478}" type="slidenum">
              <a:rPr lang="zh-CN" altLang="en-US"/>
              <a:pPr/>
              <a:t>‹#›</a:t>
            </a:fld>
            <a:endParaRPr lang="zh-CN" altLang="en-US"/>
          </a:p>
        </p:txBody>
      </p:sp>
    </p:spTree>
    <p:extLst>
      <p:ext uri="{BB962C8B-B14F-4D97-AF65-F5344CB8AC3E}">
        <p14:creationId xmlns:p14="http://schemas.microsoft.com/office/powerpoint/2010/main" val="1692489012"/>
      </p:ext>
    </p:extLst>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05410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395288" y="1557338"/>
            <a:ext cx="417195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719638" y="1557338"/>
            <a:ext cx="4173537"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a:extLst>
              <a:ext uri="{FF2B5EF4-FFF2-40B4-BE49-F238E27FC236}">
                <a16:creationId xmlns:a16="http://schemas.microsoft.com/office/drawing/2014/main" id="{B20EC90D-D1B2-8FD0-C64F-1E93C85244D2}"/>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1B365AB4-F15F-127A-8B26-E027498AB610}"/>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FFB402F7-591F-E4ED-566F-2ED986527835}"/>
              </a:ext>
            </a:extLst>
          </p:cNvPr>
          <p:cNvSpPr>
            <a:spLocks noGrp="1" noChangeArrowheads="1"/>
          </p:cNvSpPr>
          <p:nvPr>
            <p:ph type="sldNum" sz="quarter" idx="12"/>
          </p:nvPr>
        </p:nvSpPr>
        <p:spPr/>
        <p:txBody>
          <a:bodyPr/>
          <a:lstStyle>
            <a:lvl1pPr>
              <a:defRPr/>
            </a:lvl1pPr>
          </a:lstStyle>
          <a:p>
            <a:fld id="{5F9F8202-E396-40CE-883E-4D42406A36B9}" type="slidenum">
              <a:rPr lang="zh-CN" altLang="en-US"/>
              <a:pPr/>
              <a:t>‹#›</a:t>
            </a:fld>
            <a:endParaRPr lang="zh-CN" altLang="en-US"/>
          </a:p>
        </p:txBody>
      </p:sp>
    </p:spTree>
    <p:extLst>
      <p:ext uri="{BB962C8B-B14F-4D97-AF65-F5344CB8AC3E}">
        <p14:creationId xmlns:p14="http://schemas.microsoft.com/office/powerpoint/2010/main" val="1143476639"/>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ED501B9-F438-54DB-116D-C36A657FB68A}"/>
              </a:ext>
            </a:extLst>
          </p:cNvPr>
          <p:cNvSpPr>
            <a:spLocks noChangeArrowheads="1"/>
          </p:cNvSpPr>
          <p:nvPr/>
        </p:nvSpPr>
        <p:spPr bwMode="auto">
          <a:xfrm>
            <a:off x="417513" y="584200"/>
            <a:ext cx="438150" cy="474663"/>
          </a:xfrm>
          <a:prstGeom prst="rect">
            <a:avLst/>
          </a:prstGeom>
          <a:solidFill>
            <a:schemeClr val="accent2"/>
          </a:solidFill>
          <a:ln w="9525">
            <a:noFill/>
            <a:miter lim="800000"/>
          </a:ln>
        </p:spPr>
        <p:txBody>
          <a:bodyPr wrap="none" anchor="ctr"/>
          <a:lstStyle/>
          <a:p>
            <a:pPr algn="ctr">
              <a:buFont typeface="Arial" panose="020B0604020202020204" pitchFamily="34" charset="0"/>
              <a:buNone/>
              <a:defRPr/>
            </a:pPr>
            <a:endParaRPr lang="zh-CN" altLang="en-US" sz="2400" baseline="0">
              <a:latin typeface="Tahoma" panose="020B0604030504040204" pitchFamily="34" charset="0"/>
            </a:endParaRPr>
          </a:p>
        </p:txBody>
      </p:sp>
      <p:sp>
        <p:nvSpPr>
          <p:cNvPr id="1027" name="Rectangle 3">
            <a:extLst>
              <a:ext uri="{FF2B5EF4-FFF2-40B4-BE49-F238E27FC236}">
                <a16:creationId xmlns:a16="http://schemas.microsoft.com/office/drawing/2014/main" id="{646FF94A-ADF2-5EB1-DF91-19813F396345}"/>
              </a:ext>
            </a:extLst>
          </p:cNvPr>
          <p:cNvSpPr>
            <a:spLocks noChangeArrowheads="1"/>
          </p:cNvSpPr>
          <p:nvPr/>
        </p:nvSpPr>
        <p:spPr bwMode="auto">
          <a:xfrm>
            <a:off x="800100" y="584200"/>
            <a:ext cx="328613" cy="474663"/>
          </a:xfrm>
          <a:prstGeom prst="rect">
            <a:avLst/>
          </a:prstGeom>
          <a:gradFill rotWithShape="0">
            <a:gsLst>
              <a:gs pos="0">
                <a:schemeClr val="accent2"/>
              </a:gs>
              <a:gs pos="100000">
                <a:schemeClr val="bg1"/>
              </a:gs>
            </a:gsLst>
            <a:lin ang="0" scaled="1"/>
          </a:gradFill>
          <a:ln w="9525">
            <a:noFill/>
            <a:miter lim="800000"/>
          </a:ln>
        </p:spPr>
        <p:txBody>
          <a:bodyPr wrap="none" anchor="ctr"/>
          <a:lstStyle/>
          <a:p>
            <a:pPr algn="ctr">
              <a:buFont typeface="Arial" panose="020B0604020202020204" pitchFamily="34" charset="0"/>
              <a:buNone/>
              <a:defRPr/>
            </a:pPr>
            <a:endParaRPr lang="zh-CN" altLang="en-US" sz="2400" baseline="0">
              <a:latin typeface="Tahoma" panose="020B0604030504040204" pitchFamily="34" charset="0"/>
            </a:endParaRPr>
          </a:p>
        </p:txBody>
      </p:sp>
      <p:sp>
        <p:nvSpPr>
          <p:cNvPr id="1028" name="Rectangle 4">
            <a:extLst>
              <a:ext uri="{FF2B5EF4-FFF2-40B4-BE49-F238E27FC236}">
                <a16:creationId xmlns:a16="http://schemas.microsoft.com/office/drawing/2014/main" id="{9A569187-F478-3067-9580-3093AD7F3906}"/>
              </a:ext>
            </a:extLst>
          </p:cNvPr>
          <p:cNvSpPr>
            <a:spLocks noChangeArrowheads="1"/>
          </p:cNvSpPr>
          <p:nvPr/>
        </p:nvSpPr>
        <p:spPr bwMode="auto">
          <a:xfrm>
            <a:off x="541338" y="1006475"/>
            <a:ext cx="422275" cy="474663"/>
          </a:xfrm>
          <a:prstGeom prst="rect">
            <a:avLst/>
          </a:prstGeom>
          <a:solidFill>
            <a:schemeClr val="folHlink"/>
          </a:solidFill>
          <a:ln w="9525">
            <a:noFill/>
            <a:miter lim="800000"/>
          </a:ln>
        </p:spPr>
        <p:txBody>
          <a:bodyPr wrap="none" anchor="ctr"/>
          <a:lstStyle/>
          <a:p>
            <a:pPr algn="ctr">
              <a:buFont typeface="Arial" panose="020B0604020202020204" pitchFamily="34" charset="0"/>
              <a:buNone/>
              <a:defRPr/>
            </a:pPr>
            <a:endParaRPr lang="zh-CN" altLang="en-US" sz="2400" baseline="0">
              <a:latin typeface="Tahoma" panose="020B0604030504040204" pitchFamily="34" charset="0"/>
            </a:endParaRPr>
          </a:p>
        </p:txBody>
      </p:sp>
      <p:sp>
        <p:nvSpPr>
          <p:cNvPr id="1029" name="Rectangle 5">
            <a:extLst>
              <a:ext uri="{FF2B5EF4-FFF2-40B4-BE49-F238E27FC236}">
                <a16:creationId xmlns:a16="http://schemas.microsoft.com/office/drawing/2014/main" id="{37E30CB4-80B0-AB3D-49D0-3CF31D67D68B}"/>
              </a:ext>
            </a:extLst>
          </p:cNvPr>
          <p:cNvSpPr>
            <a:spLocks noChangeArrowheads="1"/>
          </p:cNvSpPr>
          <p:nvPr/>
        </p:nvSpPr>
        <p:spPr bwMode="auto">
          <a:xfrm>
            <a:off x="911225" y="1006475"/>
            <a:ext cx="368300" cy="474663"/>
          </a:xfrm>
          <a:prstGeom prst="rect">
            <a:avLst/>
          </a:prstGeom>
          <a:gradFill rotWithShape="0">
            <a:gsLst>
              <a:gs pos="0">
                <a:schemeClr val="folHlink"/>
              </a:gs>
              <a:gs pos="100000">
                <a:schemeClr val="bg1"/>
              </a:gs>
            </a:gsLst>
            <a:lin ang="0" scaled="1"/>
          </a:gradFill>
          <a:ln w="9525">
            <a:noFill/>
            <a:miter lim="800000"/>
          </a:ln>
        </p:spPr>
        <p:txBody>
          <a:bodyPr wrap="none" anchor="ctr"/>
          <a:lstStyle/>
          <a:p>
            <a:pPr algn="ctr">
              <a:buFont typeface="Arial" panose="020B0604020202020204" pitchFamily="34" charset="0"/>
              <a:buNone/>
              <a:defRPr/>
            </a:pPr>
            <a:endParaRPr lang="zh-CN" altLang="en-US" sz="2400" baseline="0">
              <a:latin typeface="Tahoma" panose="020B0604030504040204" pitchFamily="34" charset="0"/>
            </a:endParaRPr>
          </a:p>
        </p:txBody>
      </p:sp>
      <p:sp>
        <p:nvSpPr>
          <p:cNvPr id="1030" name="Rectangle 6">
            <a:extLst>
              <a:ext uri="{FF2B5EF4-FFF2-40B4-BE49-F238E27FC236}">
                <a16:creationId xmlns:a16="http://schemas.microsoft.com/office/drawing/2014/main" id="{6AA40544-98ED-C0CC-8209-D61503848634}"/>
              </a:ext>
            </a:extLst>
          </p:cNvPr>
          <p:cNvSpPr>
            <a:spLocks noChangeArrowheads="1"/>
          </p:cNvSpPr>
          <p:nvPr/>
        </p:nvSpPr>
        <p:spPr bwMode="auto">
          <a:xfrm>
            <a:off x="127000" y="908050"/>
            <a:ext cx="560388" cy="422275"/>
          </a:xfrm>
          <a:prstGeom prst="rect">
            <a:avLst/>
          </a:prstGeom>
          <a:gradFill rotWithShape="0">
            <a:gsLst>
              <a:gs pos="0">
                <a:schemeClr val="bg1"/>
              </a:gs>
              <a:gs pos="100000">
                <a:schemeClr val="hlink"/>
              </a:gs>
            </a:gsLst>
            <a:lin ang="18900000" scaled="1"/>
          </a:gradFill>
          <a:ln w="9525">
            <a:noFill/>
            <a:miter lim="800000"/>
          </a:ln>
        </p:spPr>
        <p:txBody>
          <a:bodyPr wrap="none" anchor="ctr"/>
          <a:lstStyle/>
          <a:p>
            <a:pPr algn="ctr">
              <a:buFont typeface="Arial" panose="020B0604020202020204" pitchFamily="34" charset="0"/>
              <a:buNone/>
              <a:defRPr/>
            </a:pPr>
            <a:endParaRPr lang="zh-CN" altLang="en-US" sz="2400" baseline="0">
              <a:latin typeface="Tahoma" panose="020B0604030504040204" pitchFamily="34" charset="0"/>
            </a:endParaRPr>
          </a:p>
        </p:txBody>
      </p:sp>
      <p:sp>
        <p:nvSpPr>
          <p:cNvPr id="1031" name="Rectangle 7">
            <a:extLst>
              <a:ext uri="{FF2B5EF4-FFF2-40B4-BE49-F238E27FC236}">
                <a16:creationId xmlns:a16="http://schemas.microsoft.com/office/drawing/2014/main" id="{F729CC82-DB7E-4AF2-25E4-A7597E1F4316}"/>
              </a:ext>
            </a:extLst>
          </p:cNvPr>
          <p:cNvSpPr>
            <a:spLocks noChangeArrowheads="1"/>
          </p:cNvSpPr>
          <p:nvPr/>
        </p:nvSpPr>
        <p:spPr bwMode="auto">
          <a:xfrm>
            <a:off x="762000" y="476250"/>
            <a:ext cx="31750" cy="1052513"/>
          </a:xfrm>
          <a:prstGeom prst="rect">
            <a:avLst/>
          </a:prstGeom>
          <a:solidFill>
            <a:schemeClr val="bg2"/>
          </a:solidFill>
          <a:ln w="9525">
            <a:noFill/>
            <a:miter lim="800000"/>
          </a:ln>
        </p:spPr>
        <p:txBody>
          <a:bodyPr wrap="none" anchor="ctr"/>
          <a:lstStyle/>
          <a:p>
            <a:pPr algn="ctr">
              <a:buFont typeface="Arial" panose="020B0604020202020204" pitchFamily="34" charset="0"/>
              <a:buNone/>
              <a:defRPr/>
            </a:pPr>
            <a:endParaRPr lang="zh-CN" altLang="en-US" sz="2400" baseline="0">
              <a:latin typeface="Tahoma" panose="020B0604030504040204" pitchFamily="34" charset="0"/>
            </a:endParaRPr>
          </a:p>
        </p:txBody>
      </p:sp>
      <p:sp>
        <p:nvSpPr>
          <p:cNvPr id="1032" name="Rectangle 8">
            <a:extLst>
              <a:ext uri="{FF2B5EF4-FFF2-40B4-BE49-F238E27FC236}">
                <a16:creationId xmlns:a16="http://schemas.microsoft.com/office/drawing/2014/main" id="{2715E36B-EADF-7ABB-7BD9-CFDDC93F5E9E}"/>
              </a:ext>
            </a:extLst>
          </p:cNvPr>
          <p:cNvSpPr>
            <a:spLocks noChangeArrowheads="1"/>
          </p:cNvSpPr>
          <p:nvPr/>
        </p:nvSpPr>
        <p:spPr bwMode="auto">
          <a:xfrm>
            <a:off x="442913" y="1266825"/>
            <a:ext cx="8226425" cy="31750"/>
          </a:xfrm>
          <a:prstGeom prst="rect">
            <a:avLst/>
          </a:prstGeom>
          <a:gradFill rotWithShape="0">
            <a:gsLst>
              <a:gs pos="0">
                <a:schemeClr val="bg2"/>
              </a:gs>
              <a:gs pos="100000">
                <a:schemeClr val="bg1"/>
              </a:gs>
            </a:gsLst>
            <a:lin ang="0" scaled="1"/>
          </a:gradFill>
          <a:ln w="9525">
            <a:noFill/>
            <a:miter lim="800000"/>
          </a:ln>
        </p:spPr>
        <p:txBody>
          <a:bodyPr wrap="none" anchor="ctr"/>
          <a:lstStyle/>
          <a:p>
            <a:pPr algn="ctr">
              <a:buFont typeface="Arial" panose="020B0604020202020204" pitchFamily="34" charset="0"/>
              <a:buNone/>
              <a:defRPr/>
            </a:pPr>
            <a:endParaRPr lang="zh-CN" altLang="en-US" sz="2400" baseline="0">
              <a:latin typeface="Tahoma" panose="020B0604030504040204" pitchFamily="34" charset="0"/>
            </a:endParaRPr>
          </a:p>
        </p:txBody>
      </p:sp>
      <p:sp>
        <p:nvSpPr>
          <p:cNvPr id="1033" name="Rectangle 9">
            <a:extLst>
              <a:ext uri="{FF2B5EF4-FFF2-40B4-BE49-F238E27FC236}">
                <a16:creationId xmlns:a16="http://schemas.microsoft.com/office/drawing/2014/main" id="{387368DF-5760-C4F7-4F95-C8871717C1DF}"/>
              </a:ext>
            </a:extLst>
          </p:cNvPr>
          <p:cNvSpPr>
            <a:spLocks noGrp="1" noChangeArrowheads="1"/>
          </p:cNvSpPr>
          <p:nvPr>
            <p:ph type="title" idx="4294967295"/>
          </p:nvPr>
        </p:nvSpPr>
        <p:spPr bwMode="auto">
          <a:xfrm>
            <a:off x="1150938" y="214313"/>
            <a:ext cx="7793037"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
            <a:extLst>
              <a:ext uri="{FF2B5EF4-FFF2-40B4-BE49-F238E27FC236}">
                <a16:creationId xmlns:a16="http://schemas.microsoft.com/office/drawing/2014/main" id="{504D1708-83BF-FF13-D1D8-562C88F412F7}"/>
              </a:ext>
            </a:extLst>
          </p:cNvPr>
          <p:cNvSpPr>
            <a:spLocks noGrp="1" noChangeArrowheads="1"/>
          </p:cNvSpPr>
          <p:nvPr>
            <p:ph type="body" idx="4294967295"/>
          </p:nvPr>
        </p:nvSpPr>
        <p:spPr bwMode="auto">
          <a:xfrm>
            <a:off x="395288" y="1557338"/>
            <a:ext cx="8497887"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5" name="Rectangle 11">
            <a:extLst>
              <a:ext uri="{FF2B5EF4-FFF2-40B4-BE49-F238E27FC236}">
                <a16:creationId xmlns:a16="http://schemas.microsoft.com/office/drawing/2014/main" id="{35A91224-7E98-25B6-4BFC-C5B3DF9CB413}"/>
              </a:ext>
            </a:extLst>
          </p:cNvPr>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buFont typeface="Arial" panose="020B0604020202020204" pitchFamily="34" charset="0"/>
              <a:buNone/>
              <a:defRPr sz="1400" baseline="0">
                <a:latin typeface="+mn-lt"/>
              </a:defRPr>
            </a:lvl1pPr>
          </a:lstStyle>
          <a:p>
            <a:pPr>
              <a:defRPr/>
            </a:pPr>
            <a:endParaRPr lang="en-US"/>
          </a:p>
        </p:txBody>
      </p:sp>
      <p:sp>
        <p:nvSpPr>
          <p:cNvPr id="1036" name="Rectangle 12">
            <a:extLst>
              <a:ext uri="{FF2B5EF4-FFF2-40B4-BE49-F238E27FC236}">
                <a16:creationId xmlns:a16="http://schemas.microsoft.com/office/drawing/2014/main" id="{CCE17380-C53A-6EE3-1C41-E83EED1A1BDF}"/>
              </a:ext>
            </a:extLst>
          </p:cNvPr>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buFont typeface="Arial" panose="020B0604020202020204" pitchFamily="34" charset="0"/>
              <a:buNone/>
              <a:defRPr sz="1400" baseline="0">
                <a:latin typeface="+mn-lt"/>
              </a:defRPr>
            </a:lvl1pPr>
          </a:lstStyle>
          <a:p>
            <a:pPr>
              <a:defRPr/>
            </a:pPr>
            <a:endParaRPr lang="en-US"/>
          </a:p>
        </p:txBody>
      </p:sp>
      <p:sp>
        <p:nvSpPr>
          <p:cNvPr id="1037" name="Rectangle 13">
            <a:extLst>
              <a:ext uri="{FF2B5EF4-FFF2-40B4-BE49-F238E27FC236}">
                <a16:creationId xmlns:a16="http://schemas.microsoft.com/office/drawing/2014/main" id="{CCD016F6-1920-40DC-FE44-91B5F61C2952}"/>
              </a:ext>
            </a:extLst>
          </p:cNvPr>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a:defRPr sz="1400" baseline="0">
                <a:latin typeface="Tahoma" panose="020B0604030504040204" pitchFamily="34" charset="0"/>
              </a:defRPr>
            </a:lvl1pPr>
          </a:lstStyle>
          <a:p>
            <a:fld id="{29B0213E-C13C-43C5-B325-33224A049FDA}" type="slidenum">
              <a:rPr lang="zh-CN" altLang="en-US"/>
              <a:pPr/>
              <a:t>‹#›</a:t>
            </a:fld>
            <a:endParaRPr lang="zh-CN" altLang="en-US">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ransition>
    <p:random/>
  </p:transition>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2.bin"/><Relationship Id="rId1" Type="http://schemas.openxmlformats.org/officeDocument/2006/relationships/slideLayout" Target="../slideLayouts/slideLayout12.xml"/><Relationship Id="rId5" Type="http://schemas.openxmlformats.org/officeDocument/2006/relationships/image" Target="../media/image15.wmf"/><Relationship Id="rId4" Type="http://schemas.openxmlformats.org/officeDocument/2006/relationships/oleObject" Target="../embeddings/oleObject3.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7.wmf"/><Relationship Id="rId7" Type="http://schemas.openxmlformats.org/officeDocument/2006/relationships/image" Target="../media/image19.wmf"/><Relationship Id="rId2" Type="http://schemas.openxmlformats.org/officeDocument/2006/relationships/oleObject" Target="../embeddings/oleObject4.bin"/><Relationship Id="rId1" Type="http://schemas.openxmlformats.org/officeDocument/2006/relationships/slideLayout" Target="../slideLayouts/slideLayout12.xml"/><Relationship Id="rId6" Type="http://schemas.openxmlformats.org/officeDocument/2006/relationships/oleObject" Target="../embeddings/oleObject6.bin"/><Relationship Id="rId5" Type="http://schemas.openxmlformats.org/officeDocument/2006/relationships/image" Target="../media/image18.wmf"/><Relationship Id="rId4" Type="http://schemas.openxmlformats.org/officeDocument/2006/relationships/oleObject" Target="../embeddings/oleObject5.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7.bin"/><Relationship Id="rId1" Type="http://schemas.openxmlformats.org/officeDocument/2006/relationships/slideLayout" Target="../slideLayouts/slideLayout12.xml"/><Relationship Id="rId5" Type="http://schemas.openxmlformats.org/officeDocument/2006/relationships/image" Target="../media/image22.wmf"/><Relationship Id="rId4" Type="http://schemas.openxmlformats.org/officeDocument/2006/relationships/oleObject" Target="../embeddings/oleObject8.bin"/></Relationships>
</file>

<file path=ppt/slides/_rels/slide64.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9.bin"/><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24.wmf"/><Relationship Id="rId7" Type="http://schemas.openxmlformats.org/officeDocument/2006/relationships/image" Target="../media/image13.png"/><Relationship Id="rId2" Type="http://schemas.openxmlformats.org/officeDocument/2006/relationships/oleObject" Target="../embeddings/oleObject10.bin"/><Relationship Id="rId1" Type="http://schemas.openxmlformats.org/officeDocument/2006/relationships/slideLayout" Target="../slideLayouts/slideLayout12.xml"/><Relationship Id="rId6" Type="http://schemas.openxmlformats.org/officeDocument/2006/relationships/oleObject" Target="../embeddings/oleObject12.bin"/><Relationship Id="rId5" Type="http://schemas.openxmlformats.org/officeDocument/2006/relationships/image" Target="../media/image25.wmf"/><Relationship Id="rId4" Type="http://schemas.openxmlformats.org/officeDocument/2006/relationships/oleObject" Target="../embeddings/oleObject11.bin"/></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13.bin"/><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14.bin"/><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71.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15.bin"/><Relationship Id="rId1" Type="http://schemas.openxmlformats.org/officeDocument/2006/relationships/slideLayout" Target="../slideLayouts/slideLayout13.xml"/><Relationship Id="rId5" Type="http://schemas.openxmlformats.org/officeDocument/2006/relationships/image" Target="../media/image29.wmf"/><Relationship Id="rId4" Type="http://schemas.openxmlformats.org/officeDocument/2006/relationships/oleObject" Target="../embeddings/oleObject16.bin"/></Relationships>
</file>

<file path=ppt/slides/_rels/slide72.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17.bin"/><Relationship Id="rId1" Type="http://schemas.openxmlformats.org/officeDocument/2006/relationships/slideLayout" Target="../slideLayouts/slideLayout12.xml"/><Relationship Id="rId4" Type="http://schemas.openxmlformats.org/officeDocument/2006/relationships/oleObject" Target="../embeddings/oleObject18.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9.bin"/><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76.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20.bin"/><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77.x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21.bin"/><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79.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22.bin"/><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image" Target="../media/image19.wmf"/><Relationship Id="rId7" Type="http://schemas.openxmlformats.org/officeDocument/2006/relationships/image" Target="../media/image27.wmf"/><Relationship Id="rId12" Type="http://schemas.openxmlformats.org/officeDocument/2006/relationships/image" Target="../media/image13.png"/><Relationship Id="rId2" Type="http://schemas.openxmlformats.org/officeDocument/2006/relationships/oleObject" Target="../embeddings/oleObject23.bin"/><Relationship Id="rId1" Type="http://schemas.openxmlformats.org/officeDocument/2006/relationships/slideLayout" Target="../slideLayouts/slideLayout12.xml"/><Relationship Id="rId6" Type="http://schemas.openxmlformats.org/officeDocument/2006/relationships/oleObject" Target="../embeddings/oleObject25.bin"/><Relationship Id="rId11" Type="http://schemas.openxmlformats.org/officeDocument/2006/relationships/image" Target="../media/image37.wmf"/><Relationship Id="rId5" Type="http://schemas.openxmlformats.org/officeDocument/2006/relationships/image" Target="../media/image25.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36.wmf"/></Relationships>
</file>

<file path=ppt/slides/_rels/slide8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8.bin"/><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29.bin"/><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image" Target="../media/image43.wmf"/><Relationship Id="rId7" Type="http://schemas.openxmlformats.org/officeDocument/2006/relationships/image" Target="../media/image22.wmf"/><Relationship Id="rId2" Type="http://schemas.openxmlformats.org/officeDocument/2006/relationships/oleObject" Target="../embeddings/oleObject30.bin"/><Relationship Id="rId1" Type="http://schemas.openxmlformats.org/officeDocument/2006/relationships/slideLayout" Target="../slideLayouts/slideLayout2.xml"/><Relationship Id="rId6" Type="http://schemas.openxmlformats.org/officeDocument/2006/relationships/oleObject" Target="../embeddings/oleObject31.bin"/><Relationship Id="rId5" Type="http://schemas.openxmlformats.org/officeDocument/2006/relationships/image" Target="../media/image25.wmf"/><Relationship Id="rId4" Type="http://schemas.openxmlformats.org/officeDocument/2006/relationships/oleObject" Target="../embeddings/oleObject24.bin"/><Relationship Id="rId9" Type="http://schemas.openxmlformats.org/officeDocument/2006/relationships/image" Target="../media/image44.wmf"/></Relationships>
</file>

<file path=ppt/slides/_rels/slide9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33.bin"/><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A18E280E-185E-E481-6680-FA108B281772}"/>
              </a:ext>
            </a:extLst>
          </p:cNvPr>
          <p:cNvSpPr>
            <a:spLocks noGrp="1" noChangeArrowheads="1"/>
          </p:cNvSpPr>
          <p:nvPr>
            <p:ph type="title"/>
          </p:nvPr>
        </p:nvSpPr>
        <p:spPr/>
        <p:txBody>
          <a:bodyPr/>
          <a:lstStyle/>
          <a:p>
            <a:pPr algn="ctr" eaLnBrk="1" fontAlgn="auto" hangingPunct="1">
              <a:spcAft>
                <a:spcPts val="0"/>
              </a:spcAft>
              <a:defRPr/>
            </a:pPr>
            <a:r>
              <a:rPr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第</a:t>
            </a:r>
            <a:r>
              <a:rPr lang="en-US" altLang="zh-CN"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2</a:t>
            </a:r>
            <a:r>
              <a:rPr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章 </a:t>
            </a:r>
            <a:r>
              <a:rPr lang="en-US" altLang="zh-CN"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16</a:t>
            </a:r>
            <a:r>
              <a:rPr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位和</a:t>
            </a:r>
            <a:r>
              <a:rPr lang="en-US" altLang="zh-CN"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32</a:t>
            </a:r>
            <a:r>
              <a:rPr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位微处理器</a:t>
            </a:r>
          </a:p>
        </p:txBody>
      </p:sp>
      <p:sp>
        <p:nvSpPr>
          <p:cNvPr id="15362" name="Rectangle 3">
            <a:extLst>
              <a:ext uri="{FF2B5EF4-FFF2-40B4-BE49-F238E27FC236}">
                <a16:creationId xmlns:a16="http://schemas.microsoft.com/office/drawing/2014/main" id="{A14FCF5B-81CF-6AAE-EB79-EDFC132A9812}"/>
              </a:ext>
            </a:extLst>
          </p:cNvPr>
          <p:cNvSpPr>
            <a:spLocks noGrp="1" noChangeArrowheads="1"/>
          </p:cNvSpPr>
          <p:nvPr>
            <p:ph idx="1"/>
          </p:nvPr>
        </p:nvSpPr>
        <p:spPr/>
        <p:txBody>
          <a:bodyPr/>
          <a:lstStyle/>
          <a:p>
            <a:pPr eaLnBrk="1" hangingPunct="1">
              <a:buFont typeface="Wingdings" panose="05000000000000000000" pitchFamily="2" charset="2"/>
              <a:buNone/>
            </a:pPr>
            <a:r>
              <a:rPr lang="zh-CN" altLang="en-US" sz="3600">
                <a:latin typeface="楷体_GB2312" pitchFamily="1" charset="-122"/>
                <a:ea typeface="楷体_GB2312" pitchFamily="1" charset="-122"/>
              </a:rPr>
              <a:t>本章内容：</a:t>
            </a:r>
          </a:p>
          <a:p>
            <a:pPr lvl="1" eaLnBrk="1" hangingPunct="1"/>
            <a:r>
              <a:rPr lang="zh-CN" altLang="en-US" sz="3600">
                <a:solidFill>
                  <a:srgbClr val="FF0000"/>
                </a:solidFill>
                <a:latin typeface="楷体_GB2312" pitchFamily="1" charset="-122"/>
                <a:ea typeface="楷体_GB2312" pitchFamily="1" charset="-122"/>
              </a:rPr>
              <a:t>16位微处理器8086/8088</a:t>
            </a:r>
          </a:p>
          <a:p>
            <a:pPr lvl="1" eaLnBrk="1" hangingPunct="1"/>
            <a:r>
              <a:rPr lang="zh-CN" altLang="en-US" sz="3600">
                <a:latin typeface="楷体_GB2312" pitchFamily="1" charset="-122"/>
                <a:ea typeface="楷体_GB2312" pitchFamily="1" charset="-122"/>
              </a:rPr>
              <a:t>32位微处理器80386</a:t>
            </a:r>
          </a:p>
          <a:p>
            <a:pPr lvl="1" eaLnBrk="1" hangingPunct="1"/>
            <a:r>
              <a:rPr lang="zh-CN" altLang="en-US" sz="3600">
                <a:latin typeface="楷体_GB2312" pitchFamily="1" charset="-122"/>
                <a:ea typeface="楷体_GB2312" pitchFamily="1" charset="-122"/>
              </a:rPr>
              <a:t>32位微处理器Pentium</a:t>
            </a: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82591F11-9DDD-A7EE-097F-64F0D9F5D545}"/>
              </a:ext>
            </a:extLst>
          </p:cNvPr>
          <p:cNvSpPr>
            <a:spLocks noGrp="1" noChangeArrowheads="1"/>
          </p:cNvSpPr>
          <p:nvPr>
            <p:ph type="title"/>
          </p:nvPr>
        </p:nvSpPr>
        <p:spPr/>
        <p:txBody>
          <a:bodyPr/>
          <a:lstStyle/>
          <a:p>
            <a:pPr algn="ctr" eaLnBrk="1" hangingPunct="1">
              <a:defRPr/>
            </a:pP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2.1  16</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位微处理器</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8086/8088</a:t>
            </a:r>
            <a:r>
              <a:rPr lang="en-US">
                <a:solidFill>
                  <a:schemeClr val="tx1"/>
                </a:solidFill>
                <a:latin typeface="Times New Roman" panose="02020603050405020304" pitchFamily="18" charset="0"/>
                <a:ea typeface="楷体_GB2312" pitchFamily="1" charset="-122"/>
              </a:rPr>
              <a:t> </a:t>
            </a:r>
          </a:p>
        </p:txBody>
      </p:sp>
      <p:sp>
        <p:nvSpPr>
          <p:cNvPr id="16386" name="Rectangle 3">
            <a:extLst>
              <a:ext uri="{FF2B5EF4-FFF2-40B4-BE49-F238E27FC236}">
                <a16:creationId xmlns:a16="http://schemas.microsoft.com/office/drawing/2014/main" id="{550D1477-AD5E-690F-ADF7-1E7E1DEA854A}"/>
              </a:ext>
            </a:extLst>
          </p:cNvPr>
          <p:cNvSpPr>
            <a:spLocks noGrp="1" noChangeArrowheads="1"/>
          </p:cNvSpPr>
          <p:nvPr>
            <p:ph idx="1"/>
          </p:nvPr>
        </p:nvSpPr>
        <p:spPr/>
        <p:txBody>
          <a:bodyPr/>
          <a:lstStyle/>
          <a:p>
            <a:pPr eaLnBrk="1" hangingPunct="1">
              <a:lnSpc>
                <a:spcPct val="80000"/>
              </a:lnSpc>
              <a:buFont typeface="Wingdings" panose="05000000000000000000" pitchFamily="2" charset="2"/>
              <a:buNone/>
            </a:pPr>
            <a:r>
              <a:rPr lang="zh-CN" altLang="en-US" sz="2800">
                <a:latin typeface="楷体_GB2312" pitchFamily="1" charset="-122"/>
                <a:ea typeface="楷体_GB2312" pitchFamily="1" charset="-122"/>
              </a:rPr>
              <a:t>本节内容：</a:t>
            </a:r>
          </a:p>
          <a:p>
            <a:pPr lvl="1" eaLnBrk="1" hangingPunct="1">
              <a:lnSpc>
                <a:spcPct val="80000"/>
              </a:lnSpc>
            </a:pPr>
            <a:r>
              <a:rPr lang="zh-CN" altLang="en-US">
                <a:latin typeface="楷体_GB2312" pitchFamily="1" charset="-122"/>
                <a:ea typeface="楷体_GB2312" pitchFamily="1" charset="-122"/>
              </a:rPr>
              <a:t>简介</a:t>
            </a:r>
          </a:p>
          <a:p>
            <a:pPr lvl="1" eaLnBrk="1" hangingPunct="1">
              <a:lnSpc>
                <a:spcPct val="80000"/>
              </a:lnSpc>
            </a:pPr>
            <a:r>
              <a:rPr lang="en-US" altLang="zh-CN">
                <a:latin typeface="楷体_GB2312" pitchFamily="1" charset="-122"/>
                <a:ea typeface="楷体_GB2312" pitchFamily="1" charset="-122"/>
              </a:rPr>
              <a:t>8086/8088CPU</a:t>
            </a:r>
            <a:r>
              <a:rPr lang="zh-CN" altLang="en-US">
                <a:latin typeface="楷体_GB2312" pitchFamily="1" charset="-122"/>
                <a:ea typeface="楷体_GB2312" pitchFamily="1" charset="-122"/>
              </a:rPr>
              <a:t>的内部结构</a:t>
            </a:r>
          </a:p>
          <a:p>
            <a:pPr lvl="1" eaLnBrk="1" hangingPunct="1">
              <a:lnSpc>
                <a:spcPct val="80000"/>
              </a:lnSpc>
            </a:pPr>
            <a:r>
              <a:rPr lang="zh-CN" altLang="en-US">
                <a:latin typeface="楷体_GB2312" pitchFamily="1" charset="-122"/>
                <a:ea typeface="楷体_GB2312" pitchFamily="1" charset="-122"/>
              </a:rPr>
              <a:t>8086/8088 CPU的寄存器结构</a:t>
            </a:r>
          </a:p>
          <a:p>
            <a:pPr lvl="1" eaLnBrk="1" hangingPunct="1">
              <a:lnSpc>
                <a:spcPct val="80000"/>
              </a:lnSpc>
            </a:pPr>
            <a:r>
              <a:rPr lang="zh-CN" altLang="en-US">
                <a:latin typeface="楷体_GB2312" pitchFamily="1" charset="-122"/>
                <a:ea typeface="楷体_GB2312" pitchFamily="1" charset="-122"/>
              </a:rPr>
              <a:t>时钟周期、总线周期的概念</a:t>
            </a:r>
          </a:p>
          <a:p>
            <a:pPr lvl="1" eaLnBrk="1" hangingPunct="1">
              <a:lnSpc>
                <a:spcPct val="80000"/>
              </a:lnSpc>
            </a:pPr>
            <a:r>
              <a:rPr lang="zh-CN" altLang="en-US">
                <a:latin typeface="楷体_GB2312" pitchFamily="1" charset="-122"/>
                <a:ea typeface="楷体_GB2312" pitchFamily="1" charset="-122"/>
              </a:rPr>
              <a:t>8086/8088CPU的引脚信号和功能</a:t>
            </a:r>
          </a:p>
          <a:p>
            <a:pPr lvl="1" eaLnBrk="1" hangingPunct="1">
              <a:lnSpc>
                <a:spcPct val="80000"/>
              </a:lnSpc>
            </a:pPr>
            <a:r>
              <a:rPr lang="zh-CN" altLang="en-US">
                <a:latin typeface="楷体_GB2312" pitchFamily="1" charset="-122"/>
                <a:ea typeface="楷体_GB2312" pitchFamily="1" charset="-122"/>
              </a:rPr>
              <a:t>8086/8088系统的工作模式</a:t>
            </a:r>
          </a:p>
          <a:p>
            <a:pPr lvl="1" eaLnBrk="1" hangingPunct="1">
              <a:lnSpc>
                <a:spcPct val="80000"/>
              </a:lnSpc>
            </a:pPr>
            <a:r>
              <a:rPr lang="zh-CN" altLang="en-US">
                <a:latin typeface="楷体_GB2312" pitchFamily="1" charset="-122"/>
                <a:ea typeface="楷体_GB2312" pitchFamily="1" charset="-122"/>
              </a:rPr>
              <a:t>8086/8088的操作时序</a:t>
            </a:r>
          </a:p>
          <a:p>
            <a:pPr lvl="1" eaLnBrk="1" hangingPunct="1">
              <a:lnSpc>
                <a:spcPct val="80000"/>
              </a:lnSpc>
            </a:pPr>
            <a:r>
              <a:rPr lang="zh-CN" altLang="en-US">
                <a:latin typeface="楷体_GB2312" pitchFamily="1" charset="-122"/>
                <a:ea typeface="楷体_GB2312" pitchFamily="1" charset="-122"/>
              </a:rPr>
              <a:t>8086/8088的存储器组织</a:t>
            </a: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1B17E378-EB1A-F577-F136-4A2A99A91A1E}"/>
              </a:ext>
            </a:extLst>
          </p:cNvPr>
          <p:cNvSpPr>
            <a:spLocks noGrp="1" noChangeArrowheads="1"/>
          </p:cNvSpPr>
          <p:nvPr>
            <p:ph type="title"/>
          </p:nvPr>
        </p:nvSpPr>
        <p:spPr>
          <a:xfrm>
            <a:off x="1150938" y="431800"/>
            <a:ext cx="7793037" cy="777875"/>
          </a:xfrm>
        </p:spPr>
        <p:txBody>
          <a:bodyPr/>
          <a:lstStyle/>
          <a:p>
            <a:pPr algn="ctr" eaLnBrk="1" hangingPunct="1">
              <a:defRPr/>
            </a:pP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2.1.0 </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简介</a:t>
            </a:r>
          </a:p>
        </p:txBody>
      </p:sp>
      <p:sp>
        <p:nvSpPr>
          <p:cNvPr id="6147" name="Rectangle 3">
            <a:extLst>
              <a:ext uri="{FF2B5EF4-FFF2-40B4-BE49-F238E27FC236}">
                <a16:creationId xmlns:a16="http://schemas.microsoft.com/office/drawing/2014/main" id="{237D7198-AB95-61FA-5AB0-3272B7064868}"/>
              </a:ext>
            </a:extLst>
          </p:cNvPr>
          <p:cNvSpPr>
            <a:spLocks noGrp="1" noChangeArrowheads="1"/>
          </p:cNvSpPr>
          <p:nvPr>
            <p:ph idx="1"/>
          </p:nvPr>
        </p:nvSpPr>
        <p:spPr>
          <a:xfrm>
            <a:off x="395288" y="1628775"/>
            <a:ext cx="8497887" cy="4895850"/>
          </a:xfrm>
        </p:spPr>
        <p:txBody>
          <a:bodyPr/>
          <a:lstStyle/>
          <a:p>
            <a:pPr eaLnBrk="1" hangingPunct="1">
              <a:lnSpc>
                <a:spcPct val="90000"/>
              </a:lnSpc>
              <a:buFont typeface="Wingdings" panose="05000000000000000000" pitchFamily="2" charset="2"/>
              <a:buChar char="Ø"/>
            </a:pPr>
            <a:r>
              <a:rPr lang="en-US" altLang="zh-CN" sz="2400">
                <a:latin typeface="Times New Roman" panose="02020603050405020304" pitchFamily="18" charset="0"/>
                <a:ea typeface="楷体_GB2312" pitchFamily="1" charset="-122"/>
              </a:rPr>
              <a:t>8086</a:t>
            </a:r>
            <a:r>
              <a:rPr lang="zh-CN" altLang="en-US" sz="2400">
                <a:latin typeface="Times New Roman" panose="02020603050405020304" pitchFamily="18" charset="0"/>
                <a:ea typeface="楷体_GB2312" pitchFamily="1" charset="-122"/>
              </a:rPr>
              <a:t>：</a:t>
            </a:r>
            <a:r>
              <a:rPr lang="en-US" altLang="zh-CN" sz="2400">
                <a:solidFill>
                  <a:schemeClr val="hlink"/>
                </a:solidFill>
                <a:latin typeface="Times New Roman" panose="02020603050405020304" pitchFamily="18" charset="0"/>
                <a:ea typeface="楷体_GB2312" pitchFamily="1" charset="-122"/>
              </a:rPr>
              <a:t>16</a:t>
            </a:r>
            <a:r>
              <a:rPr lang="zh-CN" altLang="en-US" sz="2400">
                <a:solidFill>
                  <a:schemeClr val="hlink"/>
                </a:solidFill>
                <a:latin typeface="Times New Roman" panose="02020603050405020304" pitchFamily="18" charset="0"/>
                <a:ea typeface="楷体_GB2312" pitchFamily="1" charset="-122"/>
              </a:rPr>
              <a:t>位微处理器</a:t>
            </a:r>
          </a:p>
          <a:p>
            <a:pPr eaLnBrk="1" hangingPunct="1">
              <a:lnSpc>
                <a:spcPct val="90000"/>
              </a:lnSpc>
            </a:pPr>
            <a:r>
              <a:rPr lang="zh-CN" altLang="en-US" sz="2400">
                <a:latin typeface="Times New Roman" panose="02020603050405020304" pitchFamily="18" charset="0"/>
                <a:ea typeface="楷体_GB2312" pitchFamily="1" charset="-122"/>
              </a:rPr>
              <a:t>采用单一的</a:t>
            </a:r>
            <a:r>
              <a:rPr lang="en-US" altLang="zh-CN" sz="2400">
                <a:latin typeface="Times New Roman" panose="02020603050405020304" pitchFamily="18" charset="0"/>
                <a:ea typeface="楷体_GB2312" pitchFamily="1" charset="-122"/>
              </a:rPr>
              <a:t>+5V</a:t>
            </a:r>
            <a:r>
              <a:rPr lang="zh-CN" altLang="en-US" sz="2400">
                <a:latin typeface="Times New Roman" panose="02020603050405020304" pitchFamily="18" charset="0"/>
                <a:ea typeface="楷体_GB2312" pitchFamily="1" charset="-122"/>
              </a:rPr>
              <a:t>电源和</a:t>
            </a:r>
            <a:r>
              <a:rPr lang="en-US" altLang="zh-CN" sz="2400">
                <a:latin typeface="Times New Roman" panose="02020603050405020304" pitchFamily="18" charset="0"/>
                <a:ea typeface="楷体_GB2312" pitchFamily="1" charset="-122"/>
              </a:rPr>
              <a:t>40</a:t>
            </a:r>
            <a:r>
              <a:rPr lang="zh-CN" altLang="en-US" sz="2400">
                <a:latin typeface="Times New Roman" panose="02020603050405020304" pitchFamily="18" charset="0"/>
                <a:ea typeface="楷体_GB2312" pitchFamily="1" charset="-122"/>
              </a:rPr>
              <a:t>条引脚的双列直插式封装；</a:t>
            </a:r>
            <a:r>
              <a:rPr lang="zh-CN" altLang="en-US" sz="2400" b="1">
                <a:solidFill>
                  <a:schemeClr val="folHlink"/>
                </a:solidFill>
                <a:latin typeface="Times New Roman" panose="02020603050405020304" pitchFamily="18" charset="0"/>
                <a:ea typeface="楷体_GB2312" pitchFamily="1" charset="-122"/>
              </a:rPr>
              <a:t>时钟频率为</a:t>
            </a:r>
            <a:r>
              <a:rPr lang="en-US" altLang="zh-CN" sz="2400" b="1">
                <a:solidFill>
                  <a:schemeClr val="folHlink"/>
                </a:solidFill>
                <a:latin typeface="Times New Roman" panose="02020603050405020304" pitchFamily="18" charset="0"/>
                <a:ea typeface="楷体_GB2312" pitchFamily="1" charset="-122"/>
              </a:rPr>
              <a:t>5MHz~10MHz</a:t>
            </a:r>
            <a:r>
              <a:rPr lang="zh-CN" altLang="en-US" sz="2400">
                <a:latin typeface="Times New Roman" panose="02020603050405020304" pitchFamily="18" charset="0"/>
                <a:ea typeface="楷体_GB2312" pitchFamily="1" charset="-122"/>
              </a:rPr>
              <a:t>，最快的指令执行时间为</a:t>
            </a:r>
            <a:r>
              <a:rPr lang="en-US" altLang="zh-CN" sz="2400">
                <a:latin typeface="Times New Roman" panose="02020603050405020304" pitchFamily="18" charset="0"/>
                <a:ea typeface="楷体_GB2312" pitchFamily="1" charset="-122"/>
              </a:rPr>
              <a:t>0.4µs</a:t>
            </a:r>
            <a:r>
              <a:rPr lang="zh-CN" altLang="en-US" sz="2400">
                <a:latin typeface="Times New Roman" panose="02020603050405020304" pitchFamily="18" charset="0"/>
                <a:ea typeface="楷体_GB2312" pitchFamily="1" charset="-122"/>
              </a:rPr>
              <a:t>。</a:t>
            </a:r>
          </a:p>
          <a:p>
            <a:pPr eaLnBrk="1" hangingPunct="1">
              <a:lnSpc>
                <a:spcPct val="90000"/>
              </a:lnSpc>
            </a:pPr>
            <a:r>
              <a:rPr lang="en-US" altLang="zh-CN" sz="2400">
                <a:latin typeface="Times New Roman" panose="02020603050405020304" pitchFamily="18" charset="0"/>
                <a:ea typeface="楷体_GB2312" pitchFamily="1" charset="-122"/>
              </a:rPr>
              <a:t>8086</a:t>
            </a:r>
            <a:r>
              <a:rPr lang="zh-CN" altLang="en-US" sz="2400">
                <a:latin typeface="Times New Roman" panose="02020603050405020304" pitchFamily="18" charset="0"/>
                <a:ea typeface="楷体_GB2312" pitchFamily="1" charset="-122"/>
              </a:rPr>
              <a:t>有</a:t>
            </a:r>
            <a:r>
              <a:rPr lang="en-US" altLang="zh-CN" sz="2400" b="1">
                <a:solidFill>
                  <a:schemeClr val="folHlink"/>
                </a:solidFill>
                <a:latin typeface="Times New Roman" panose="02020603050405020304" pitchFamily="18" charset="0"/>
                <a:ea typeface="楷体_GB2312" pitchFamily="1" charset="-122"/>
              </a:rPr>
              <a:t>16</a:t>
            </a:r>
            <a:r>
              <a:rPr lang="zh-CN" altLang="en-US" sz="2400" b="1">
                <a:solidFill>
                  <a:schemeClr val="folHlink"/>
                </a:solidFill>
                <a:latin typeface="Times New Roman" panose="02020603050405020304" pitchFamily="18" charset="0"/>
                <a:ea typeface="楷体_GB2312" pitchFamily="1" charset="-122"/>
              </a:rPr>
              <a:t>根数据线</a:t>
            </a:r>
            <a:r>
              <a:rPr lang="zh-CN" altLang="en-US" sz="2400">
                <a:latin typeface="Times New Roman" panose="02020603050405020304" pitchFamily="18" charset="0"/>
                <a:ea typeface="楷体_GB2312" pitchFamily="1" charset="-122"/>
              </a:rPr>
              <a:t>和</a:t>
            </a:r>
            <a:r>
              <a:rPr lang="en-US" altLang="zh-CN" sz="2400" b="1">
                <a:solidFill>
                  <a:schemeClr val="folHlink"/>
                </a:solidFill>
                <a:latin typeface="Times New Roman" panose="02020603050405020304" pitchFamily="18" charset="0"/>
                <a:ea typeface="楷体_GB2312" pitchFamily="1" charset="-122"/>
              </a:rPr>
              <a:t>20</a:t>
            </a:r>
            <a:r>
              <a:rPr lang="zh-CN" altLang="en-US" sz="2400" b="1">
                <a:solidFill>
                  <a:schemeClr val="folHlink"/>
                </a:solidFill>
                <a:latin typeface="Times New Roman" panose="02020603050405020304" pitchFamily="18" charset="0"/>
                <a:ea typeface="楷体_GB2312" pitchFamily="1" charset="-122"/>
              </a:rPr>
              <a:t>根地址线</a:t>
            </a:r>
            <a:r>
              <a:rPr lang="zh-CN" altLang="en-US" sz="2400">
                <a:latin typeface="Times New Roman" panose="02020603050405020304" pitchFamily="18" charset="0"/>
                <a:ea typeface="楷体_GB2312" pitchFamily="1" charset="-122"/>
              </a:rPr>
              <a:t>，可以处理</a:t>
            </a:r>
            <a:r>
              <a:rPr lang="en-US" altLang="zh-CN" sz="2400">
                <a:latin typeface="Times New Roman" panose="02020603050405020304" pitchFamily="18" charset="0"/>
                <a:ea typeface="楷体_GB2312" pitchFamily="1" charset="-122"/>
              </a:rPr>
              <a:t>8</a:t>
            </a:r>
            <a:r>
              <a:rPr lang="zh-CN" altLang="en-US" sz="2400">
                <a:latin typeface="Times New Roman" panose="02020603050405020304" pitchFamily="18" charset="0"/>
                <a:ea typeface="楷体_GB2312" pitchFamily="1" charset="-122"/>
              </a:rPr>
              <a:t>位或</a:t>
            </a:r>
            <a:r>
              <a:rPr lang="en-US" altLang="zh-CN" sz="2400">
                <a:latin typeface="Times New Roman" panose="02020603050405020304" pitchFamily="18" charset="0"/>
                <a:ea typeface="楷体_GB2312" pitchFamily="1" charset="-122"/>
              </a:rPr>
              <a:t>16</a:t>
            </a:r>
            <a:r>
              <a:rPr lang="zh-CN" altLang="en-US" sz="2400">
                <a:latin typeface="Times New Roman" panose="02020603050405020304" pitchFamily="18" charset="0"/>
                <a:ea typeface="楷体_GB2312" pitchFamily="1" charset="-122"/>
              </a:rPr>
              <a:t>位数据，可寻址</a:t>
            </a:r>
            <a:r>
              <a:rPr lang="en-US" altLang="zh-CN" sz="2400">
                <a:latin typeface="Times New Roman" panose="02020603050405020304" pitchFamily="18" charset="0"/>
                <a:ea typeface="楷体_GB2312" pitchFamily="1" charset="-122"/>
              </a:rPr>
              <a:t>2</a:t>
            </a:r>
            <a:r>
              <a:rPr lang="en-US" altLang="zh-CN" sz="2400" baseline="30000">
                <a:latin typeface="Times New Roman" panose="02020603050405020304" pitchFamily="18" charset="0"/>
                <a:ea typeface="楷体_GB2312" pitchFamily="1" charset="-122"/>
              </a:rPr>
              <a:t>20</a:t>
            </a:r>
            <a:r>
              <a:rPr lang="zh-CN" altLang="en-US" sz="2400">
                <a:latin typeface="Times New Roman" panose="02020603050405020304" pitchFamily="18" charset="0"/>
                <a:ea typeface="楷体_GB2312" pitchFamily="1" charset="-122"/>
              </a:rPr>
              <a:t>即</a:t>
            </a:r>
            <a:r>
              <a:rPr lang="en-US" altLang="zh-CN" sz="2400">
                <a:latin typeface="Times New Roman" panose="02020603050405020304" pitchFamily="18" charset="0"/>
                <a:ea typeface="楷体_GB2312" pitchFamily="1" charset="-122"/>
              </a:rPr>
              <a:t>1MB</a:t>
            </a:r>
            <a:r>
              <a:rPr lang="zh-CN" altLang="en-US" sz="2400">
                <a:latin typeface="Times New Roman" panose="02020603050405020304" pitchFamily="18" charset="0"/>
                <a:ea typeface="楷体_GB2312" pitchFamily="1" charset="-122"/>
              </a:rPr>
              <a:t>的存储单元和</a:t>
            </a:r>
            <a:r>
              <a:rPr lang="en-US" altLang="zh-CN" sz="2400">
                <a:latin typeface="Times New Roman" panose="02020603050405020304" pitchFamily="18" charset="0"/>
                <a:ea typeface="楷体_GB2312" pitchFamily="1" charset="-122"/>
              </a:rPr>
              <a:t>64KB</a:t>
            </a:r>
            <a:r>
              <a:rPr lang="zh-CN" altLang="en-US" sz="2400">
                <a:latin typeface="Times New Roman" panose="02020603050405020304" pitchFamily="18" charset="0"/>
                <a:ea typeface="楷体_GB2312" pitchFamily="1" charset="-122"/>
              </a:rPr>
              <a:t>的</a:t>
            </a:r>
            <a:r>
              <a:rPr lang="en-US" altLang="zh-CN" sz="2400">
                <a:latin typeface="Times New Roman" panose="02020603050405020304" pitchFamily="18" charset="0"/>
                <a:ea typeface="楷体_GB2312" pitchFamily="1" charset="-122"/>
              </a:rPr>
              <a:t>I/O</a:t>
            </a:r>
            <a:r>
              <a:rPr lang="zh-CN" altLang="en-US" sz="2400">
                <a:latin typeface="Times New Roman" panose="02020603050405020304" pitchFamily="18" charset="0"/>
                <a:ea typeface="楷体_GB2312" pitchFamily="1" charset="-122"/>
              </a:rPr>
              <a:t>端口。</a:t>
            </a:r>
          </a:p>
          <a:p>
            <a:pPr eaLnBrk="1" hangingPunct="1">
              <a:lnSpc>
                <a:spcPct val="90000"/>
              </a:lnSpc>
              <a:buFont typeface="Wingdings" panose="05000000000000000000" pitchFamily="2" charset="2"/>
              <a:buChar char="Ø"/>
            </a:pPr>
            <a:r>
              <a:rPr lang="en-US" altLang="zh-CN" sz="2400">
                <a:latin typeface="Times New Roman" panose="02020603050405020304" pitchFamily="18" charset="0"/>
                <a:ea typeface="楷体_GB2312" pitchFamily="1" charset="-122"/>
              </a:rPr>
              <a:t>8088</a:t>
            </a:r>
            <a:r>
              <a:rPr lang="zh-CN" altLang="en-US" sz="2400">
                <a:latin typeface="Times New Roman" panose="02020603050405020304" pitchFamily="18" charset="0"/>
                <a:ea typeface="楷体_GB2312" pitchFamily="1" charset="-122"/>
              </a:rPr>
              <a:t>：</a:t>
            </a:r>
            <a:r>
              <a:rPr lang="zh-CN" altLang="en-US" sz="2400">
                <a:solidFill>
                  <a:schemeClr val="hlink"/>
                </a:solidFill>
                <a:latin typeface="Times New Roman" panose="02020603050405020304" pitchFamily="18" charset="0"/>
                <a:ea typeface="楷体_GB2312" pitchFamily="1" charset="-122"/>
              </a:rPr>
              <a:t>准</a:t>
            </a:r>
            <a:r>
              <a:rPr lang="en-US" altLang="zh-CN" sz="2400">
                <a:solidFill>
                  <a:schemeClr val="hlink"/>
                </a:solidFill>
                <a:latin typeface="Times New Roman" panose="02020603050405020304" pitchFamily="18" charset="0"/>
                <a:ea typeface="楷体_GB2312" pitchFamily="1" charset="-122"/>
              </a:rPr>
              <a:t>16</a:t>
            </a:r>
            <a:r>
              <a:rPr lang="zh-CN" altLang="en-US" sz="2400">
                <a:solidFill>
                  <a:schemeClr val="hlink"/>
                </a:solidFill>
                <a:latin typeface="Times New Roman" panose="02020603050405020304" pitchFamily="18" charset="0"/>
                <a:ea typeface="楷体_GB2312" pitchFamily="1" charset="-122"/>
              </a:rPr>
              <a:t>位微处理器</a:t>
            </a:r>
          </a:p>
          <a:p>
            <a:pPr eaLnBrk="1" hangingPunct="1">
              <a:lnSpc>
                <a:spcPct val="90000"/>
              </a:lnSpc>
            </a:pPr>
            <a:r>
              <a:rPr lang="zh-CN" altLang="en-US" sz="2400">
                <a:latin typeface="Times New Roman" panose="02020603050405020304" pitchFamily="18" charset="0"/>
                <a:ea typeface="楷体_GB2312" pitchFamily="1" charset="-122"/>
              </a:rPr>
              <a:t>设计的主要目的是为了与</a:t>
            </a:r>
            <a:r>
              <a:rPr lang="en-US" altLang="zh-CN" sz="2400">
                <a:latin typeface="Times New Roman" panose="02020603050405020304" pitchFamily="18" charset="0"/>
                <a:ea typeface="楷体_GB2312" pitchFamily="1" charset="-122"/>
              </a:rPr>
              <a:t>Intel</a:t>
            </a:r>
            <a:r>
              <a:rPr lang="zh-CN" altLang="en-US" sz="2400">
                <a:latin typeface="Times New Roman" panose="02020603050405020304" pitchFamily="18" charset="0"/>
                <a:ea typeface="楷体_GB2312" pitchFamily="1" charset="-122"/>
              </a:rPr>
              <a:t>原有的</a:t>
            </a:r>
            <a:r>
              <a:rPr lang="en-US" altLang="zh-CN" sz="2400">
                <a:latin typeface="Times New Roman" panose="02020603050405020304" pitchFamily="18" charset="0"/>
                <a:ea typeface="楷体_GB2312" pitchFamily="1" charset="-122"/>
              </a:rPr>
              <a:t>8</a:t>
            </a:r>
            <a:r>
              <a:rPr lang="zh-CN" altLang="en-US" sz="2400">
                <a:latin typeface="Times New Roman" panose="02020603050405020304" pitchFamily="18" charset="0"/>
                <a:ea typeface="楷体_GB2312" pitchFamily="1" charset="-122"/>
              </a:rPr>
              <a:t>位外围接口芯片直接兼容。</a:t>
            </a:r>
          </a:p>
          <a:p>
            <a:pPr eaLnBrk="1" hangingPunct="1">
              <a:lnSpc>
                <a:spcPct val="90000"/>
              </a:lnSpc>
            </a:pPr>
            <a:r>
              <a:rPr lang="en-US" altLang="zh-CN" sz="2400">
                <a:latin typeface="Times New Roman" panose="02020603050405020304" pitchFamily="18" charset="0"/>
                <a:ea typeface="楷体_GB2312" pitchFamily="1" charset="-122"/>
              </a:rPr>
              <a:t>8088</a:t>
            </a:r>
            <a:r>
              <a:rPr lang="zh-CN" altLang="en-US" sz="2400">
                <a:latin typeface="Times New Roman" panose="02020603050405020304" pitchFamily="18" charset="0"/>
                <a:ea typeface="楷体_GB2312" pitchFamily="1" charset="-122"/>
              </a:rPr>
              <a:t>的内部寄存器、运算器以及内部数据总线都是按</a:t>
            </a:r>
            <a:r>
              <a:rPr lang="en-US" altLang="zh-CN" sz="2400">
                <a:latin typeface="Times New Roman" panose="02020603050405020304" pitchFamily="18" charset="0"/>
                <a:ea typeface="楷体_GB2312" pitchFamily="1" charset="-122"/>
              </a:rPr>
              <a:t>16</a:t>
            </a:r>
            <a:r>
              <a:rPr lang="zh-CN" altLang="en-US" sz="2400">
                <a:latin typeface="Times New Roman" panose="02020603050405020304" pitchFamily="18" charset="0"/>
                <a:ea typeface="楷体_GB2312" pitchFamily="1" charset="-122"/>
              </a:rPr>
              <a:t>位设计的，但</a:t>
            </a:r>
            <a:r>
              <a:rPr lang="zh-CN" altLang="en-US" sz="2400" b="1">
                <a:solidFill>
                  <a:schemeClr val="folHlink"/>
                </a:solidFill>
                <a:latin typeface="Times New Roman" panose="02020603050405020304" pitchFamily="18" charset="0"/>
                <a:ea typeface="楷体_GB2312" pitchFamily="1" charset="-122"/>
              </a:rPr>
              <a:t>外部数据总线只有</a:t>
            </a:r>
            <a:r>
              <a:rPr lang="en-US" altLang="zh-CN" sz="2400" b="1">
                <a:solidFill>
                  <a:schemeClr val="folHlink"/>
                </a:solidFill>
                <a:latin typeface="Times New Roman" panose="02020603050405020304" pitchFamily="18" charset="0"/>
                <a:ea typeface="楷体_GB2312" pitchFamily="1" charset="-122"/>
              </a:rPr>
              <a:t>8</a:t>
            </a:r>
            <a:r>
              <a:rPr lang="zh-CN" altLang="en-US" sz="2400" b="1">
                <a:solidFill>
                  <a:schemeClr val="folHlink"/>
                </a:solidFill>
                <a:latin typeface="Times New Roman" panose="02020603050405020304" pitchFamily="18" charset="0"/>
                <a:ea typeface="楷体_GB2312" pitchFamily="1" charset="-122"/>
              </a:rPr>
              <a:t>条</a:t>
            </a:r>
            <a:r>
              <a:rPr lang="zh-CN" altLang="en-US" sz="2400">
                <a:latin typeface="Times New Roman" panose="02020603050405020304" pitchFamily="18" charset="0"/>
                <a:ea typeface="楷体_GB2312" pitchFamily="1" charset="-122"/>
              </a:rPr>
              <a:t>，因此执行相同的程序，</a:t>
            </a:r>
            <a:r>
              <a:rPr lang="en-US" altLang="zh-CN" sz="2400">
                <a:latin typeface="Times New Roman" panose="02020603050405020304" pitchFamily="18" charset="0"/>
                <a:ea typeface="楷体_GB2312" pitchFamily="1" charset="-122"/>
              </a:rPr>
              <a:t>8088</a:t>
            </a:r>
            <a:r>
              <a:rPr lang="zh-CN" altLang="en-US" sz="2400">
                <a:latin typeface="Times New Roman" panose="02020603050405020304" pitchFamily="18" charset="0"/>
                <a:ea typeface="楷体_GB2312" pitchFamily="1" charset="-122"/>
              </a:rPr>
              <a:t>要比</a:t>
            </a:r>
            <a:r>
              <a:rPr lang="en-US" altLang="zh-CN" sz="2400">
                <a:latin typeface="Times New Roman" panose="02020603050405020304" pitchFamily="18" charset="0"/>
                <a:ea typeface="楷体_GB2312" pitchFamily="1" charset="-122"/>
              </a:rPr>
              <a:t>8086</a:t>
            </a:r>
            <a:r>
              <a:rPr lang="zh-CN" altLang="en-US" sz="2400">
                <a:latin typeface="Times New Roman" panose="02020603050405020304" pitchFamily="18" charset="0"/>
                <a:ea typeface="楷体_GB2312" pitchFamily="1" charset="-122"/>
              </a:rPr>
              <a:t>有较多的外部存取操作而执行得较慢。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arn(inHorizontal)">
                                      <p:cBhvr>
                                        <p:cTn id="7" dur="500"/>
                                        <p:tgtEl>
                                          <p:spTgt spid="61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barn(inHorizontal)">
                                      <p:cBhvr>
                                        <p:cTn id="12" dur="500"/>
                                        <p:tgtEl>
                                          <p:spTgt spid="61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6" fill="hold"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barn(inHorizontal)">
                                      <p:cBhvr>
                                        <p:cTn id="17" dur="500"/>
                                        <p:tgtEl>
                                          <p:spTgt spid="61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6" fill="hold" nodeType="clickEffect">
                                  <p:stCondLst>
                                    <p:cond delay="0"/>
                                  </p:stCondLst>
                                  <p:childTnLst>
                                    <p:set>
                                      <p:cBhvr>
                                        <p:cTn id="21" dur="1" fill="hold">
                                          <p:stCondLst>
                                            <p:cond delay="0"/>
                                          </p:stCondLst>
                                        </p:cTn>
                                        <p:tgtEl>
                                          <p:spTgt spid="6147">
                                            <p:txEl>
                                              <p:pRg st="3" end="3"/>
                                            </p:txEl>
                                          </p:spTgt>
                                        </p:tgtEl>
                                        <p:attrNameLst>
                                          <p:attrName>style.visibility</p:attrName>
                                        </p:attrNameLst>
                                      </p:cBhvr>
                                      <p:to>
                                        <p:strVal val="visible"/>
                                      </p:to>
                                    </p:set>
                                    <p:animEffect transition="in" filter="barn(inHorizontal)">
                                      <p:cBhvr>
                                        <p:cTn id="22" dur="500"/>
                                        <p:tgtEl>
                                          <p:spTgt spid="614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6" fill="hold"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animEffect transition="in" filter="barn(inHorizontal)">
                                      <p:cBhvr>
                                        <p:cTn id="27" dur="500"/>
                                        <p:tgtEl>
                                          <p:spTgt spid="614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6" fill="hold" nodeType="clickEffect">
                                  <p:stCondLst>
                                    <p:cond delay="0"/>
                                  </p:stCondLst>
                                  <p:childTnLst>
                                    <p:set>
                                      <p:cBhvr>
                                        <p:cTn id="31" dur="1" fill="hold">
                                          <p:stCondLst>
                                            <p:cond delay="0"/>
                                          </p:stCondLst>
                                        </p:cTn>
                                        <p:tgtEl>
                                          <p:spTgt spid="6147">
                                            <p:txEl>
                                              <p:pRg st="5" end="5"/>
                                            </p:txEl>
                                          </p:spTgt>
                                        </p:tgtEl>
                                        <p:attrNameLst>
                                          <p:attrName>style.visibility</p:attrName>
                                        </p:attrNameLst>
                                      </p:cBhvr>
                                      <p:to>
                                        <p:strVal val="visible"/>
                                      </p:to>
                                    </p:set>
                                    <p:animEffect transition="in" filter="barn(inHorizontal)">
                                      <p:cBhvr>
                                        <p:cTn id="32" dur="500"/>
                                        <p:tgtEl>
                                          <p:spTgt spid="61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57DD7AA1-2A25-3EE1-1C67-9DCB87D47F8C}"/>
              </a:ext>
            </a:extLst>
          </p:cNvPr>
          <p:cNvSpPr>
            <a:spLocks noGrp="1" noChangeArrowheads="1"/>
          </p:cNvSpPr>
          <p:nvPr>
            <p:ph type="title"/>
          </p:nvPr>
        </p:nvSpPr>
        <p:spPr>
          <a:xfrm>
            <a:off x="1150938" y="639763"/>
            <a:ext cx="7793037" cy="569912"/>
          </a:xfrm>
        </p:spPr>
        <p:txBody>
          <a:bodyPr/>
          <a:lstStyle/>
          <a:p>
            <a:pPr algn="ctr" eaLnBrk="1" hangingPunct="1">
              <a:defRPr/>
            </a:pP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2.1.1  8086/8088 CPU</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的内部结构</a:t>
            </a:r>
            <a:r>
              <a:rPr lang="zh-CN" altLang="en-US" sz="4000">
                <a:solidFill>
                  <a:schemeClr val="tx1"/>
                </a:solidFill>
                <a:latin typeface="Times New Roman" panose="02020603050405020304" pitchFamily="18" charset="0"/>
              </a:rPr>
              <a:t> </a:t>
            </a:r>
            <a:endParaRPr lang="en-US" sz="4000">
              <a:solidFill>
                <a:schemeClr val="tx1"/>
              </a:solidFill>
              <a:latin typeface="Times New Roman" panose="02020603050405020304" pitchFamily="18" charset="0"/>
            </a:endParaRPr>
          </a:p>
        </p:txBody>
      </p:sp>
      <p:pic>
        <p:nvPicPr>
          <p:cNvPr id="18434" name="Picture 670" descr="无标题">
            <a:extLst>
              <a:ext uri="{FF2B5EF4-FFF2-40B4-BE49-F238E27FC236}">
                <a16:creationId xmlns:a16="http://schemas.microsoft.com/office/drawing/2014/main" id="{687CAC51-0CC8-ECD9-032B-47EF7D2AA4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1341438"/>
            <a:ext cx="6983412" cy="48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Text Box 4">
            <a:extLst>
              <a:ext uri="{FF2B5EF4-FFF2-40B4-BE49-F238E27FC236}">
                <a16:creationId xmlns:a16="http://schemas.microsoft.com/office/drawing/2014/main" id="{BBD2E682-1627-7793-779A-710650E9C23D}"/>
              </a:ext>
            </a:extLst>
          </p:cNvPr>
          <p:cNvSpPr txBox="1">
            <a:spLocks noChangeArrowheads="1"/>
          </p:cNvSpPr>
          <p:nvPr/>
        </p:nvSpPr>
        <p:spPr bwMode="auto">
          <a:xfrm>
            <a:off x="3060700" y="6237288"/>
            <a:ext cx="4144963"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400" b="1" baseline="0">
                <a:latin typeface="黑体" panose="02010609060101010101" pitchFamily="49" charset="-122"/>
                <a:ea typeface="黑体" panose="02010609060101010101" pitchFamily="49" charset="-122"/>
                <a:sym typeface="黑体" panose="02010609060101010101" pitchFamily="49" charset="-122"/>
              </a:rPr>
              <a:t>图</a:t>
            </a:r>
            <a:r>
              <a:rPr lang="en-US" altLang="zh-CN" sz="1400" b="1" baseline="0">
                <a:latin typeface="黑体" panose="02010609060101010101" pitchFamily="49" charset="-122"/>
                <a:ea typeface="黑体" panose="02010609060101010101" pitchFamily="49" charset="-122"/>
                <a:sym typeface="黑体" panose="02010609060101010101" pitchFamily="49" charset="-122"/>
              </a:rPr>
              <a:t>2.1 8086</a:t>
            </a:r>
            <a:r>
              <a:rPr lang="zh-CN" altLang="en-US" sz="1400" b="1" baseline="0">
                <a:latin typeface="黑体" panose="02010609060101010101" pitchFamily="49" charset="-122"/>
                <a:ea typeface="黑体" panose="02010609060101010101" pitchFamily="49" charset="-122"/>
                <a:sym typeface="黑体" panose="02010609060101010101" pitchFamily="49" charset="-122"/>
              </a:rPr>
              <a:t>微处理器内部结构框图</a:t>
            </a:r>
            <a:endParaRPr lang="zh-CN" altLang="en-US" sz="1400" b="1">
              <a:latin typeface="黑体" panose="02010609060101010101" pitchFamily="49" charset="-122"/>
              <a:ea typeface="黑体" panose="02010609060101010101" pitchFamily="49" charset="-122"/>
              <a:sym typeface="黑体" panose="02010609060101010101" pitchFamily="49" charset="-122"/>
            </a:endParaRP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41380D4-ADC7-D89E-1C6C-B271412222EC}"/>
              </a:ext>
            </a:extLst>
          </p:cNvPr>
          <p:cNvSpPr>
            <a:spLocks noGrp="1" noChangeArrowheads="1"/>
          </p:cNvSpPr>
          <p:nvPr>
            <p:ph type="title"/>
          </p:nvPr>
        </p:nvSpPr>
        <p:spPr>
          <a:xfrm>
            <a:off x="1150938" y="452438"/>
            <a:ext cx="7793037" cy="757237"/>
          </a:xfrm>
        </p:spPr>
        <p:txBody>
          <a:bodyPr/>
          <a:lstStyle/>
          <a:p>
            <a:pPr algn="ctr" eaLnBrk="1" hangingPunct="1">
              <a:defRPr/>
            </a:pP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1.</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总线接口部件</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BIU</a:t>
            </a:r>
            <a:endPar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8195" name="Rectangle 3">
            <a:extLst>
              <a:ext uri="{FF2B5EF4-FFF2-40B4-BE49-F238E27FC236}">
                <a16:creationId xmlns:a16="http://schemas.microsoft.com/office/drawing/2014/main" id="{F1B38484-1048-A4C0-4366-6C236540E5BB}"/>
              </a:ext>
            </a:extLst>
          </p:cNvPr>
          <p:cNvSpPr>
            <a:spLocks noGrp="1" noChangeArrowheads="1"/>
          </p:cNvSpPr>
          <p:nvPr>
            <p:ph idx="1"/>
          </p:nvPr>
        </p:nvSpPr>
        <p:spPr>
          <a:xfrm>
            <a:off x="611188" y="1628775"/>
            <a:ext cx="8001000" cy="4027488"/>
          </a:xfrm>
        </p:spPr>
        <p:txBody>
          <a:bodyPr/>
          <a:lstStyle/>
          <a:p>
            <a:pPr eaLnBrk="1" hangingPunct="1">
              <a:buFont typeface="Wingdings" panose="05000000000000000000" pitchFamily="2" charset="2"/>
              <a:buChar char="Ø"/>
            </a:pPr>
            <a:r>
              <a:rPr lang="zh-CN" altLang="en-US" sz="2800" b="1">
                <a:latin typeface="Times New Roman" panose="02020603050405020304" pitchFamily="18" charset="0"/>
              </a:rPr>
              <a:t>功能</a:t>
            </a:r>
          </a:p>
          <a:p>
            <a:pPr eaLnBrk="1" hangingPunct="1">
              <a:buFont typeface="Wingdings" panose="05000000000000000000" pitchFamily="2" charset="2"/>
              <a:buNone/>
            </a:pPr>
            <a:r>
              <a:rPr lang="zh-CN" altLang="en-US" sz="2800">
                <a:latin typeface="Times New Roman" panose="02020603050405020304" pitchFamily="18" charset="0"/>
                <a:ea typeface="楷体_GB2312" pitchFamily="1" charset="-122"/>
              </a:rPr>
              <a:t>    负责</a:t>
            </a:r>
            <a:r>
              <a:rPr lang="en-US" altLang="zh-CN" sz="2800">
                <a:latin typeface="Times New Roman" panose="02020603050405020304" pitchFamily="18" charset="0"/>
                <a:ea typeface="楷体_GB2312" pitchFamily="1" charset="-122"/>
              </a:rPr>
              <a:t>CPU</a:t>
            </a:r>
            <a:r>
              <a:rPr lang="zh-CN" altLang="en-US" sz="2800">
                <a:latin typeface="Times New Roman" panose="02020603050405020304" pitchFamily="18" charset="0"/>
                <a:ea typeface="楷体_GB2312" pitchFamily="1" charset="-122"/>
              </a:rPr>
              <a:t>与内存或</a:t>
            </a:r>
            <a:r>
              <a:rPr lang="en-US" altLang="zh-CN" sz="2800">
                <a:latin typeface="Times New Roman" panose="02020603050405020304" pitchFamily="18" charset="0"/>
                <a:ea typeface="楷体_GB2312" pitchFamily="1" charset="-122"/>
              </a:rPr>
              <a:t>I/O</a:t>
            </a:r>
            <a:r>
              <a:rPr lang="zh-CN" altLang="en-US" sz="2800">
                <a:latin typeface="Times New Roman" panose="02020603050405020304" pitchFamily="18" charset="0"/>
                <a:ea typeface="楷体_GB2312" pitchFamily="1" charset="-122"/>
              </a:rPr>
              <a:t>端口传送指令或数据。</a:t>
            </a:r>
          </a:p>
          <a:p>
            <a:pPr eaLnBrk="1" hangingPunct="1">
              <a:buFont typeface="Wingdings" panose="05000000000000000000" pitchFamily="2" charset="2"/>
              <a:buChar char="v"/>
            </a:pPr>
            <a:r>
              <a:rPr lang="en-US" altLang="zh-CN" sz="2800">
                <a:latin typeface="Times New Roman" panose="02020603050405020304" pitchFamily="18" charset="0"/>
                <a:ea typeface="楷体_GB2312" pitchFamily="1" charset="-122"/>
              </a:rPr>
              <a:t>BIU</a:t>
            </a:r>
            <a:r>
              <a:rPr lang="zh-CN" altLang="en-US" sz="2800">
                <a:latin typeface="Times New Roman" panose="02020603050405020304" pitchFamily="18" charset="0"/>
                <a:ea typeface="楷体_GB2312" pitchFamily="1" charset="-122"/>
              </a:rPr>
              <a:t>从内存取指令送到指令队列缓冲器。</a:t>
            </a:r>
          </a:p>
          <a:p>
            <a:pPr eaLnBrk="1" hangingPunct="1">
              <a:buFont typeface="Wingdings" panose="05000000000000000000" pitchFamily="2" charset="2"/>
              <a:buChar char="v"/>
            </a:pPr>
            <a:r>
              <a:rPr lang="zh-CN" altLang="en-US" sz="2800">
                <a:latin typeface="Times New Roman" panose="02020603050405020304" pitchFamily="18" charset="0"/>
                <a:ea typeface="楷体_GB2312" pitchFamily="1" charset="-122"/>
              </a:rPr>
              <a:t>当</a:t>
            </a:r>
            <a:r>
              <a:rPr lang="en-US" altLang="zh-CN" sz="2800">
                <a:latin typeface="Times New Roman" panose="02020603050405020304" pitchFamily="18" charset="0"/>
                <a:ea typeface="楷体_GB2312" pitchFamily="1" charset="-122"/>
              </a:rPr>
              <a:t>EU</a:t>
            </a:r>
            <a:r>
              <a:rPr lang="zh-CN" altLang="en-US" sz="2800">
                <a:latin typeface="Times New Roman" panose="02020603050405020304" pitchFamily="18" charset="0"/>
                <a:ea typeface="楷体_GB2312" pitchFamily="1" charset="-122"/>
              </a:rPr>
              <a:t>执行指令时，</a:t>
            </a:r>
            <a:r>
              <a:rPr lang="en-US" altLang="zh-CN" sz="2800">
                <a:latin typeface="Times New Roman" panose="02020603050405020304" pitchFamily="18" charset="0"/>
                <a:ea typeface="楷体_GB2312" pitchFamily="1" charset="-122"/>
              </a:rPr>
              <a:t>BIU</a:t>
            </a:r>
            <a:r>
              <a:rPr lang="zh-CN" altLang="en-US" sz="2800">
                <a:latin typeface="Times New Roman" panose="02020603050405020304" pitchFamily="18" charset="0"/>
                <a:ea typeface="楷体_GB2312" pitchFamily="1" charset="-122"/>
              </a:rPr>
              <a:t>要配合</a:t>
            </a:r>
            <a:r>
              <a:rPr lang="en-US" altLang="zh-CN" sz="2800">
                <a:latin typeface="Times New Roman" panose="02020603050405020304" pitchFamily="18" charset="0"/>
                <a:ea typeface="楷体_GB2312" pitchFamily="1" charset="-122"/>
              </a:rPr>
              <a:t>EU</a:t>
            </a:r>
            <a:r>
              <a:rPr lang="zh-CN" altLang="en-US" sz="2800">
                <a:latin typeface="Times New Roman" panose="02020603050405020304" pitchFamily="18" charset="0"/>
                <a:ea typeface="楷体_GB2312" pitchFamily="1" charset="-122"/>
              </a:rPr>
              <a:t>从指定的内存单元或</a:t>
            </a:r>
            <a:r>
              <a:rPr lang="en-US" altLang="zh-CN" sz="2800">
                <a:latin typeface="Times New Roman" panose="02020603050405020304" pitchFamily="18" charset="0"/>
                <a:ea typeface="楷体_GB2312" pitchFamily="1" charset="-122"/>
              </a:rPr>
              <a:t>I/O</a:t>
            </a:r>
            <a:r>
              <a:rPr lang="zh-CN" altLang="en-US" sz="2800">
                <a:latin typeface="Times New Roman" panose="02020603050405020304" pitchFamily="18" charset="0"/>
                <a:ea typeface="楷体_GB2312" pitchFamily="1" charset="-122"/>
              </a:rPr>
              <a:t>端口中读取数据，或者把</a:t>
            </a:r>
            <a:r>
              <a:rPr lang="en-US" altLang="zh-CN" sz="2800">
                <a:latin typeface="Times New Roman" panose="02020603050405020304" pitchFamily="18" charset="0"/>
                <a:ea typeface="楷体_GB2312" pitchFamily="1" charset="-122"/>
              </a:rPr>
              <a:t>EU</a:t>
            </a:r>
            <a:r>
              <a:rPr lang="zh-CN" altLang="en-US" sz="2800">
                <a:latin typeface="Times New Roman" panose="02020603050405020304" pitchFamily="18" charset="0"/>
                <a:ea typeface="楷体_GB2312" pitchFamily="1" charset="-122"/>
              </a:rPr>
              <a:t>的操作结果送到指定的内存单元或</a:t>
            </a:r>
            <a:r>
              <a:rPr lang="en-US" altLang="zh-CN" sz="2800">
                <a:latin typeface="Times New Roman" panose="02020603050405020304" pitchFamily="18" charset="0"/>
                <a:ea typeface="楷体_GB2312" pitchFamily="1" charset="-122"/>
              </a:rPr>
              <a:t>I/O</a:t>
            </a:r>
            <a:r>
              <a:rPr lang="zh-CN" altLang="en-US" sz="2800">
                <a:latin typeface="Times New Roman" panose="02020603050405020304" pitchFamily="18" charset="0"/>
                <a:ea typeface="楷体_GB2312" pitchFamily="1" charset="-122"/>
              </a:rPr>
              <a:t>端口去。</a:t>
            </a:r>
          </a:p>
          <a:p>
            <a:pPr eaLnBrk="1" hangingPunct="1">
              <a:buFont typeface="Wingdings" panose="05000000000000000000" pitchFamily="2" charset="2"/>
              <a:buChar char="Ø"/>
            </a:pPr>
            <a:r>
              <a:rPr lang="zh-CN" altLang="en-US" sz="2800" b="1">
                <a:latin typeface="Times New Roman" panose="02020603050405020304" pitchFamily="18" charset="0"/>
              </a:rPr>
              <a:t>组成：</a:t>
            </a:r>
            <a:r>
              <a:rPr lang="zh-CN" altLang="en-US">
                <a:ea typeface="楷体_GB2312" pitchFamily="1" charset="-122"/>
              </a:rPr>
              <a:t>段寄存器、指令指针寄存器、地址加法器、指令预取队列及总线控制逻辑</a:t>
            </a:r>
            <a:r>
              <a:rPr lang="zh-CN" altLang="en-US"/>
              <a:t>。</a:t>
            </a:r>
          </a:p>
        </p:txBody>
      </p:sp>
      <p:sp>
        <p:nvSpPr>
          <p:cNvPr id="19459" name="Text Box 4">
            <a:extLst>
              <a:ext uri="{FF2B5EF4-FFF2-40B4-BE49-F238E27FC236}">
                <a16:creationId xmlns:a16="http://schemas.microsoft.com/office/drawing/2014/main" id="{31A723D2-0B67-446E-A7F0-3D880EA26E8C}"/>
              </a:ext>
            </a:extLst>
          </p:cNvPr>
          <p:cNvSpPr txBox="1">
            <a:spLocks noChangeArrowheads="1"/>
          </p:cNvSpPr>
          <p:nvPr/>
        </p:nvSpPr>
        <p:spPr bwMode="auto">
          <a:xfrm>
            <a:off x="7315200" y="4724400"/>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endParaRPr lang="zh-CN" altLang="en-US" sz="1800" baseline="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arn(inHorizontal)">
                                      <p:cBhvr>
                                        <p:cTn id="7" dur="500"/>
                                        <p:tgtEl>
                                          <p:spTgt spid="8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barn(inHorizontal)">
                                      <p:cBhvr>
                                        <p:cTn id="12" dur="500"/>
                                        <p:tgtEl>
                                          <p:spTgt spid="81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6" fill="hold"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barn(inHorizontal)">
                                      <p:cBhvr>
                                        <p:cTn id="17" dur="500"/>
                                        <p:tgtEl>
                                          <p:spTgt spid="81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6" fill="hold"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barn(inHorizontal)">
                                      <p:cBhvr>
                                        <p:cTn id="22" dur="500"/>
                                        <p:tgtEl>
                                          <p:spTgt spid="819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6" fill="hold"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barn(inHorizontal)">
                                      <p:cBhvr>
                                        <p:cTn id="27" dur="500"/>
                                        <p:tgtEl>
                                          <p:spTgt spid="81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C4B50A3E-241E-A699-E9C6-660FEDA0D425}"/>
              </a:ext>
            </a:extLst>
          </p:cNvPr>
          <p:cNvSpPr>
            <a:spLocks noGrp="1" noChangeArrowheads="1"/>
          </p:cNvSpPr>
          <p:nvPr>
            <p:ph type="title"/>
          </p:nvPr>
        </p:nvSpPr>
        <p:spPr>
          <a:xfrm>
            <a:off x="1150938" y="550863"/>
            <a:ext cx="7793037" cy="698500"/>
          </a:xfrm>
        </p:spPr>
        <p:txBody>
          <a:bodyPr/>
          <a:lstStyle/>
          <a:p>
            <a:pPr algn="ctr" eaLnBrk="1" hangingPunct="1">
              <a:defRPr/>
            </a:pP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1)</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段寄存器</a:t>
            </a:r>
          </a:p>
        </p:txBody>
      </p:sp>
      <p:sp>
        <p:nvSpPr>
          <p:cNvPr id="9219" name="Rectangle 3">
            <a:extLst>
              <a:ext uri="{FF2B5EF4-FFF2-40B4-BE49-F238E27FC236}">
                <a16:creationId xmlns:a16="http://schemas.microsoft.com/office/drawing/2014/main" id="{7CB1868D-21DF-3224-2C6C-B494873CFCB8}"/>
              </a:ext>
            </a:extLst>
          </p:cNvPr>
          <p:cNvSpPr>
            <a:spLocks noGrp="1" noChangeArrowheads="1"/>
          </p:cNvSpPr>
          <p:nvPr>
            <p:ph idx="1"/>
          </p:nvPr>
        </p:nvSpPr>
        <p:spPr>
          <a:xfrm>
            <a:off x="468313" y="1557338"/>
            <a:ext cx="8064500" cy="4392612"/>
          </a:xfrm>
        </p:spPr>
        <p:txBody>
          <a:bodyPr/>
          <a:lstStyle/>
          <a:p>
            <a:pPr eaLnBrk="1" hangingPunct="1">
              <a:lnSpc>
                <a:spcPct val="80000"/>
              </a:lnSpc>
              <a:buFont typeface="Wingdings" panose="05000000000000000000" pitchFamily="2" charset="2"/>
              <a:buChar char="Ø"/>
            </a:pPr>
            <a:r>
              <a:rPr lang="zh-CN" altLang="en-US" sz="2800">
                <a:latin typeface="Times New Roman" panose="02020603050405020304" pitchFamily="18" charset="0"/>
                <a:ea typeface="楷体_GB2312" pitchFamily="1" charset="-122"/>
              </a:rPr>
              <a:t>所有寄存器都是</a:t>
            </a:r>
            <a:r>
              <a:rPr lang="en-US" altLang="zh-CN" sz="2800">
                <a:latin typeface="Times New Roman" panose="02020603050405020304" pitchFamily="18" charset="0"/>
                <a:ea typeface="楷体_GB2312" pitchFamily="1" charset="-122"/>
              </a:rPr>
              <a:t>16</a:t>
            </a:r>
            <a:r>
              <a:rPr lang="zh-CN" altLang="en-US" sz="2800">
                <a:latin typeface="Times New Roman" panose="02020603050405020304" pitchFamily="18" charset="0"/>
                <a:ea typeface="楷体_GB2312" pitchFamily="1" charset="-122"/>
              </a:rPr>
              <a:t>位的，因此，能够提供的</a:t>
            </a:r>
            <a:r>
              <a:rPr lang="zh-CN" altLang="en-US" sz="2800" b="1">
                <a:solidFill>
                  <a:schemeClr val="folHlink"/>
                </a:solidFill>
                <a:latin typeface="Times New Roman" panose="02020603050405020304" pitchFamily="18" charset="0"/>
                <a:ea typeface="楷体_GB2312" pitchFamily="1" charset="-122"/>
              </a:rPr>
              <a:t>最大地址空间只能为</a:t>
            </a:r>
            <a:r>
              <a:rPr lang="en-US" altLang="zh-CN" sz="2800" b="1">
                <a:solidFill>
                  <a:schemeClr val="folHlink"/>
                </a:solidFill>
                <a:latin typeface="Times New Roman" panose="02020603050405020304" pitchFamily="18" charset="0"/>
                <a:ea typeface="楷体_GB2312" pitchFamily="1" charset="-122"/>
              </a:rPr>
              <a:t>64 KB</a:t>
            </a:r>
            <a:r>
              <a:rPr lang="zh-CN" altLang="en-US" sz="2800">
                <a:latin typeface="Times New Roman" panose="02020603050405020304" pitchFamily="18" charset="0"/>
                <a:ea typeface="楷体_GB2312" pitchFamily="1" charset="-122"/>
              </a:rPr>
              <a:t>。</a:t>
            </a:r>
          </a:p>
          <a:p>
            <a:pPr eaLnBrk="1" hangingPunct="1">
              <a:lnSpc>
                <a:spcPct val="80000"/>
              </a:lnSpc>
              <a:buFont typeface="Wingdings" panose="05000000000000000000" pitchFamily="2" charset="2"/>
              <a:buChar char="Ø"/>
            </a:pPr>
            <a:r>
              <a:rPr lang="zh-CN" altLang="en-US" sz="2800">
                <a:latin typeface="Times New Roman" panose="02020603050405020304" pitchFamily="18" charset="0"/>
                <a:ea typeface="楷体_GB2312" pitchFamily="1" charset="-122"/>
              </a:rPr>
              <a:t>为了寻址</a:t>
            </a:r>
            <a:r>
              <a:rPr lang="en-US" altLang="zh-CN" sz="2800">
                <a:latin typeface="Times New Roman" panose="02020603050405020304" pitchFamily="18" charset="0"/>
                <a:ea typeface="楷体_GB2312" pitchFamily="1" charset="-122"/>
              </a:rPr>
              <a:t>1MB</a:t>
            </a:r>
            <a:r>
              <a:rPr lang="zh-CN" altLang="en-US" sz="2800">
                <a:latin typeface="Times New Roman" panose="02020603050405020304" pitchFamily="18" charset="0"/>
                <a:ea typeface="楷体_GB2312" pitchFamily="1" charset="-122"/>
              </a:rPr>
              <a:t>，将存储器的空间分成若干段，</a:t>
            </a:r>
            <a:r>
              <a:rPr lang="zh-CN" altLang="en-US" sz="2800" b="1">
                <a:solidFill>
                  <a:schemeClr val="folHlink"/>
                </a:solidFill>
                <a:latin typeface="Times New Roman" panose="02020603050405020304" pitchFamily="18" charset="0"/>
                <a:ea typeface="楷体_GB2312" pitchFamily="1" charset="-122"/>
              </a:rPr>
              <a:t>每段最大为</a:t>
            </a:r>
            <a:r>
              <a:rPr lang="en-US" altLang="zh-CN" sz="2800" b="1">
                <a:solidFill>
                  <a:schemeClr val="folHlink"/>
                </a:solidFill>
                <a:latin typeface="Times New Roman" panose="02020603050405020304" pitchFamily="18" charset="0"/>
                <a:ea typeface="楷体_GB2312" pitchFamily="1" charset="-122"/>
              </a:rPr>
              <a:t>64KB</a:t>
            </a:r>
            <a:r>
              <a:rPr lang="zh-CN" altLang="en-US" sz="2800">
                <a:latin typeface="Times New Roman" panose="02020603050405020304" pitchFamily="18" charset="0"/>
                <a:ea typeface="楷体_GB2312" pitchFamily="1" charset="-122"/>
              </a:rPr>
              <a:t>。</a:t>
            </a:r>
          </a:p>
          <a:p>
            <a:pPr eaLnBrk="1" hangingPunct="1">
              <a:lnSpc>
                <a:spcPct val="80000"/>
              </a:lnSpc>
              <a:buFont typeface="Wingdings" panose="05000000000000000000" pitchFamily="2" charset="2"/>
              <a:buChar char="Ø"/>
            </a:pPr>
            <a:r>
              <a:rPr lang="zh-CN" altLang="en-US" sz="2800" b="1">
                <a:solidFill>
                  <a:schemeClr val="hlink"/>
                </a:solidFill>
                <a:latin typeface="Times New Roman" panose="02020603050405020304" pitchFamily="18" charset="0"/>
                <a:ea typeface="楷体_GB2312" pitchFamily="1" charset="-122"/>
              </a:rPr>
              <a:t>段寄存器</a:t>
            </a:r>
            <a:r>
              <a:rPr lang="zh-CN" altLang="en-US" sz="2800">
                <a:latin typeface="Times New Roman" panose="02020603050405020304" pitchFamily="18" charset="0"/>
                <a:ea typeface="楷体_GB2312" pitchFamily="1" charset="-122"/>
              </a:rPr>
              <a:t>：用来存放段的起始地址</a:t>
            </a:r>
            <a:r>
              <a:rPr lang="en-US" altLang="zh-CN" sz="2800">
                <a:latin typeface="Times New Roman" panose="02020603050405020304" pitchFamily="18" charset="0"/>
                <a:ea typeface="楷体_GB2312" pitchFamily="1" charset="-122"/>
              </a:rPr>
              <a:t>(16</a:t>
            </a:r>
            <a:r>
              <a:rPr lang="zh-CN" altLang="en-US" sz="2800">
                <a:latin typeface="Times New Roman" panose="02020603050405020304" pitchFamily="18" charset="0"/>
                <a:ea typeface="楷体_GB2312" pitchFamily="1" charset="-122"/>
              </a:rPr>
              <a:t>位</a:t>
            </a:r>
            <a:r>
              <a:rPr lang="en-US" altLang="zh-CN" sz="2800">
                <a:latin typeface="Times New Roman" panose="02020603050405020304" pitchFamily="18" charset="0"/>
                <a:ea typeface="楷体_GB2312" pitchFamily="1" charset="-122"/>
              </a:rPr>
              <a:t>)</a:t>
            </a:r>
            <a:r>
              <a:rPr lang="zh-CN" altLang="en-US" sz="2800">
                <a:latin typeface="Times New Roman" panose="02020603050405020304" pitchFamily="18" charset="0"/>
                <a:ea typeface="楷体_GB2312" pitchFamily="1" charset="-122"/>
              </a:rPr>
              <a:t>的寄存器，设有四个段寄存器：</a:t>
            </a:r>
          </a:p>
          <a:p>
            <a:pPr eaLnBrk="1" hangingPunct="1">
              <a:lnSpc>
                <a:spcPct val="80000"/>
              </a:lnSpc>
            </a:pPr>
            <a:r>
              <a:rPr lang="en-US" altLang="zh-CN" sz="2800" b="1">
                <a:solidFill>
                  <a:schemeClr val="folHlink"/>
                </a:solidFill>
                <a:latin typeface="Times New Roman" panose="02020603050405020304" pitchFamily="18" charset="0"/>
                <a:ea typeface="楷体_GB2312" pitchFamily="1" charset="-122"/>
              </a:rPr>
              <a:t>CS</a:t>
            </a:r>
            <a:r>
              <a:rPr lang="en-US" altLang="zh-CN" sz="2800">
                <a:latin typeface="Times New Roman" panose="02020603050405020304" pitchFamily="18" charset="0"/>
                <a:ea typeface="楷体_GB2312" pitchFamily="1" charset="-122"/>
              </a:rPr>
              <a:t> </a:t>
            </a:r>
            <a:r>
              <a:rPr lang="zh-CN" altLang="en-US" sz="2800">
                <a:latin typeface="Times New Roman" panose="02020603050405020304" pitchFamily="18" charset="0"/>
                <a:ea typeface="楷体_GB2312" pitchFamily="1" charset="-122"/>
              </a:rPr>
              <a:t>代码段寄存器</a:t>
            </a:r>
            <a:r>
              <a:rPr lang="en-US" altLang="zh-CN" sz="2800">
                <a:latin typeface="Times New Roman" panose="02020603050405020304" pitchFamily="18" charset="0"/>
                <a:ea typeface="楷体_GB2312" pitchFamily="1" charset="-122"/>
              </a:rPr>
              <a:t>(Code Segment register)</a:t>
            </a:r>
          </a:p>
          <a:p>
            <a:pPr eaLnBrk="1" hangingPunct="1">
              <a:lnSpc>
                <a:spcPct val="80000"/>
              </a:lnSpc>
            </a:pPr>
            <a:r>
              <a:rPr lang="en-US" altLang="zh-CN" sz="2800" b="1">
                <a:solidFill>
                  <a:schemeClr val="folHlink"/>
                </a:solidFill>
                <a:latin typeface="Times New Roman" panose="02020603050405020304" pitchFamily="18" charset="0"/>
                <a:ea typeface="楷体_GB2312" pitchFamily="1" charset="-122"/>
              </a:rPr>
              <a:t>DS</a:t>
            </a:r>
            <a:r>
              <a:rPr lang="en-US" altLang="zh-CN" sz="2800">
                <a:latin typeface="Times New Roman" panose="02020603050405020304" pitchFamily="18" charset="0"/>
                <a:ea typeface="楷体_GB2312" pitchFamily="1" charset="-122"/>
              </a:rPr>
              <a:t> </a:t>
            </a:r>
            <a:r>
              <a:rPr lang="zh-CN" altLang="en-US" sz="2800">
                <a:latin typeface="Times New Roman" panose="02020603050405020304" pitchFamily="18" charset="0"/>
                <a:ea typeface="楷体_GB2312" pitchFamily="1" charset="-122"/>
              </a:rPr>
              <a:t>数据段寄存器</a:t>
            </a:r>
            <a:r>
              <a:rPr lang="en-US" altLang="zh-CN" sz="2800">
                <a:latin typeface="Times New Roman" panose="02020603050405020304" pitchFamily="18" charset="0"/>
                <a:ea typeface="楷体_GB2312" pitchFamily="1" charset="-122"/>
              </a:rPr>
              <a:t>(Data Segment register)</a:t>
            </a:r>
          </a:p>
          <a:p>
            <a:pPr eaLnBrk="1" hangingPunct="1">
              <a:lnSpc>
                <a:spcPct val="80000"/>
              </a:lnSpc>
            </a:pPr>
            <a:r>
              <a:rPr lang="en-US" altLang="zh-CN" sz="2800" b="1">
                <a:solidFill>
                  <a:schemeClr val="folHlink"/>
                </a:solidFill>
                <a:latin typeface="Times New Roman" panose="02020603050405020304" pitchFamily="18" charset="0"/>
                <a:ea typeface="楷体_GB2312" pitchFamily="1" charset="-122"/>
              </a:rPr>
              <a:t>SS</a:t>
            </a:r>
            <a:r>
              <a:rPr lang="en-US" altLang="zh-CN" sz="2800">
                <a:latin typeface="Times New Roman" panose="02020603050405020304" pitchFamily="18" charset="0"/>
                <a:ea typeface="楷体_GB2312" pitchFamily="1" charset="-122"/>
              </a:rPr>
              <a:t> </a:t>
            </a:r>
            <a:r>
              <a:rPr lang="zh-CN" altLang="en-US" sz="2800">
                <a:latin typeface="Times New Roman" panose="02020603050405020304" pitchFamily="18" charset="0"/>
                <a:ea typeface="楷体_GB2312" pitchFamily="1" charset="-122"/>
              </a:rPr>
              <a:t>堆栈段寄存器</a:t>
            </a:r>
            <a:r>
              <a:rPr lang="en-US" altLang="zh-CN" sz="2800">
                <a:latin typeface="Times New Roman" panose="02020603050405020304" pitchFamily="18" charset="0"/>
                <a:ea typeface="楷体_GB2312" pitchFamily="1" charset="-122"/>
              </a:rPr>
              <a:t>(Stack Segment register)</a:t>
            </a:r>
          </a:p>
          <a:p>
            <a:pPr eaLnBrk="1" hangingPunct="1">
              <a:lnSpc>
                <a:spcPct val="80000"/>
              </a:lnSpc>
            </a:pPr>
            <a:r>
              <a:rPr lang="en-US" altLang="zh-CN" sz="2800" b="1">
                <a:solidFill>
                  <a:schemeClr val="folHlink"/>
                </a:solidFill>
                <a:latin typeface="Times New Roman" panose="02020603050405020304" pitchFamily="18" charset="0"/>
                <a:ea typeface="楷体_GB2312" pitchFamily="1" charset="-122"/>
              </a:rPr>
              <a:t>ES</a:t>
            </a:r>
            <a:r>
              <a:rPr lang="en-US" altLang="zh-CN" sz="2800">
                <a:latin typeface="Times New Roman" panose="02020603050405020304" pitchFamily="18" charset="0"/>
                <a:ea typeface="楷体_GB2312" pitchFamily="1" charset="-122"/>
              </a:rPr>
              <a:t> </a:t>
            </a:r>
            <a:r>
              <a:rPr lang="zh-CN" altLang="en-US" sz="2800">
                <a:latin typeface="Times New Roman" panose="02020603050405020304" pitchFamily="18" charset="0"/>
                <a:ea typeface="楷体_GB2312" pitchFamily="1" charset="-122"/>
              </a:rPr>
              <a:t>附加数据段寄存器</a:t>
            </a:r>
            <a:r>
              <a:rPr lang="en-US" altLang="zh-CN" sz="2800">
                <a:latin typeface="Times New Roman" panose="02020603050405020304" pitchFamily="18" charset="0"/>
                <a:ea typeface="楷体_GB2312" pitchFamily="1" charset="-122"/>
              </a:rPr>
              <a:t>(Extra Segment register)</a:t>
            </a:r>
            <a:r>
              <a:rPr lang="zh-CN" altLang="en-US" sz="2800">
                <a:latin typeface="Times New Roman" panose="02020603050405020304" pitchFamily="18" charset="0"/>
                <a:ea typeface="楷体_GB2312" pitchFamily="1" charset="-122"/>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 calcmode="lin" valueType="num">
                                      <p:cBhvr additive="base">
                                        <p:cTn id="7" dur="500" fill="hold"/>
                                        <p:tgtEl>
                                          <p:spTgt spid="92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219">
                                            <p:txEl>
                                              <p:pRg st="1" end="1"/>
                                            </p:txEl>
                                          </p:spTgt>
                                        </p:tgtEl>
                                        <p:attrNameLst>
                                          <p:attrName>style.visibility</p:attrName>
                                        </p:attrNameLst>
                                      </p:cBhvr>
                                      <p:to>
                                        <p:strVal val="visible"/>
                                      </p:to>
                                    </p:set>
                                    <p:anim calcmode="lin" valueType="num">
                                      <p:cBhvr additive="base">
                                        <p:cTn id="13" dur="500" fill="hold"/>
                                        <p:tgtEl>
                                          <p:spTgt spid="921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219">
                                            <p:txEl>
                                              <p:pRg st="2" end="2"/>
                                            </p:txEl>
                                          </p:spTgt>
                                        </p:tgtEl>
                                        <p:attrNameLst>
                                          <p:attrName>style.visibility</p:attrName>
                                        </p:attrNameLst>
                                      </p:cBhvr>
                                      <p:to>
                                        <p:strVal val="visible"/>
                                      </p:to>
                                    </p:set>
                                    <p:anim calcmode="lin" valueType="num">
                                      <p:cBhvr additive="base">
                                        <p:cTn id="19" dur="500" fill="hold"/>
                                        <p:tgtEl>
                                          <p:spTgt spid="921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219">
                                            <p:txEl>
                                              <p:pRg st="3" end="3"/>
                                            </p:txEl>
                                          </p:spTgt>
                                        </p:tgtEl>
                                        <p:attrNameLst>
                                          <p:attrName>style.visibility</p:attrName>
                                        </p:attrNameLst>
                                      </p:cBhvr>
                                      <p:to>
                                        <p:strVal val="visible"/>
                                      </p:to>
                                    </p:set>
                                    <p:anim calcmode="lin" valueType="num">
                                      <p:cBhvr additive="base">
                                        <p:cTn id="25" dur="500" fill="hold"/>
                                        <p:tgtEl>
                                          <p:spTgt spid="921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2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219">
                                            <p:txEl>
                                              <p:pRg st="4" end="4"/>
                                            </p:txEl>
                                          </p:spTgt>
                                        </p:tgtEl>
                                        <p:attrNameLst>
                                          <p:attrName>style.visibility</p:attrName>
                                        </p:attrNameLst>
                                      </p:cBhvr>
                                      <p:to>
                                        <p:strVal val="visible"/>
                                      </p:to>
                                    </p:set>
                                    <p:anim calcmode="lin" valueType="num">
                                      <p:cBhvr additive="base">
                                        <p:cTn id="31" dur="500" fill="hold"/>
                                        <p:tgtEl>
                                          <p:spTgt spid="921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2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219">
                                            <p:txEl>
                                              <p:pRg st="5" end="5"/>
                                            </p:txEl>
                                          </p:spTgt>
                                        </p:tgtEl>
                                        <p:attrNameLst>
                                          <p:attrName>style.visibility</p:attrName>
                                        </p:attrNameLst>
                                      </p:cBhvr>
                                      <p:to>
                                        <p:strVal val="visible"/>
                                      </p:to>
                                    </p:set>
                                    <p:anim calcmode="lin" valueType="num">
                                      <p:cBhvr additive="base">
                                        <p:cTn id="37" dur="500" fill="hold"/>
                                        <p:tgtEl>
                                          <p:spTgt spid="921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21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9219">
                                            <p:txEl>
                                              <p:pRg st="6" end="6"/>
                                            </p:txEl>
                                          </p:spTgt>
                                        </p:tgtEl>
                                        <p:attrNameLst>
                                          <p:attrName>style.visibility</p:attrName>
                                        </p:attrNameLst>
                                      </p:cBhvr>
                                      <p:to>
                                        <p:strVal val="visible"/>
                                      </p:to>
                                    </p:set>
                                    <p:anim calcmode="lin" valueType="num">
                                      <p:cBhvr additive="base">
                                        <p:cTn id="43" dur="500" fill="hold"/>
                                        <p:tgtEl>
                                          <p:spTgt spid="921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21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DA00754-B5BE-1976-8976-A2264EC6D2F4}"/>
              </a:ext>
            </a:extLst>
          </p:cNvPr>
          <p:cNvSpPr>
            <a:spLocks noGrp="1" noChangeArrowheads="1"/>
          </p:cNvSpPr>
          <p:nvPr>
            <p:ph type="title"/>
          </p:nvPr>
        </p:nvSpPr>
        <p:spPr>
          <a:xfrm>
            <a:off x="1150938" y="512763"/>
            <a:ext cx="7793037" cy="696912"/>
          </a:xfrm>
        </p:spPr>
        <p:txBody>
          <a:bodyPr/>
          <a:lstStyle/>
          <a:p>
            <a:pPr algn="ctr" eaLnBrk="1" hangingPunct="1">
              <a:defRPr/>
            </a:pP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地址加法器</a:t>
            </a:r>
          </a:p>
        </p:txBody>
      </p:sp>
      <p:sp>
        <p:nvSpPr>
          <p:cNvPr id="21506" name="Rectangle 3">
            <a:extLst>
              <a:ext uri="{FF2B5EF4-FFF2-40B4-BE49-F238E27FC236}">
                <a16:creationId xmlns:a16="http://schemas.microsoft.com/office/drawing/2014/main" id="{836ED559-9A0B-530B-AF3E-5F9DD8EA1ABF}"/>
              </a:ext>
            </a:extLst>
          </p:cNvPr>
          <p:cNvSpPr>
            <a:spLocks noGrp="1" noChangeArrowheads="1"/>
          </p:cNvSpPr>
          <p:nvPr>
            <p:ph idx="1"/>
          </p:nvPr>
        </p:nvSpPr>
        <p:spPr>
          <a:xfrm>
            <a:off x="396875" y="1846263"/>
            <a:ext cx="8496300" cy="1655762"/>
          </a:xfrm>
        </p:spPr>
        <p:txBody>
          <a:bodyPr/>
          <a:lstStyle/>
          <a:p>
            <a:pPr marL="0" indent="0" eaLnBrk="1" hangingPunct="1">
              <a:buFont typeface="Wingdings" panose="05000000000000000000" pitchFamily="2" charset="2"/>
              <a:buNone/>
            </a:pPr>
            <a:r>
              <a:rPr lang="zh-CN" altLang="en-US" sz="2800">
                <a:latin typeface="Times New Roman" panose="02020603050405020304" pitchFamily="18" charset="0"/>
                <a:ea typeface="楷体_GB2312" pitchFamily="1" charset="-122"/>
              </a:rPr>
              <a:t>由于</a:t>
            </a:r>
            <a:r>
              <a:rPr lang="en-US" altLang="zh-CN" sz="2800">
                <a:latin typeface="Times New Roman" panose="02020603050405020304" pitchFamily="18" charset="0"/>
                <a:ea typeface="楷体_GB2312" pitchFamily="1" charset="-122"/>
              </a:rPr>
              <a:t>8086</a:t>
            </a:r>
            <a:r>
              <a:rPr lang="zh-CN" altLang="en-US" sz="2800">
                <a:latin typeface="Times New Roman" panose="02020603050405020304" pitchFamily="18" charset="0"/>
                <a:ea typeface="楷体_GB2312" pitchFamily="1" charset="-122"/>
              </a:rPr>
              <a:t>内部寄存器都是</a:t>
            </a:r>
            <a:r>
              <a:rPr lang="en-US" altLang="zh-CN" sz="2800">
                <a:latin typeface="Times New Roman" panose="02020603050405020304" pitchFamily="18" charset="0"/>
                <a:ea typeface="楷体_GB2312" pitchFamily="1" charset="-122"/>
              </a:rPr>
              <a:t>16</a:t>
            </a:r>
            <a:r>
              <a:rPr lang="zh-CN" altLang="en-US" sz="2800">
                <a:latin typeface="Times New Roman" panose="02020603050405020304" pitchFamily="18" charset="0"/>
                <a:ea typeface="楷体_GB2312" pitchFamily="1" charset="-122"/>
              </a:rPr>
              <a:t>位的，需要一个附加结构</a:t>
            </a:r>
            <a:r>
              <a:rPr lang="en-US" altLang="zh-CN" sz="2800">
                <a:latin typeface="Times New Roman" panose="02020603050405020304" pitchFamily="18" charset="0"/>
                <a:ea typeface="楷体_GB2312" pitchFamily="1" charset="-122"/>
              </a:rPr>
              <a:t>-</a:t>
            </a:r>
            <a:r>
              <a:rPr lang="zh-CN" altLang="en-US" sz="2800">
                <a:latin typeface="Times New Roman" panose="02020603050405020304" pitchFamily="18" charset="0"/>
                <a:ea typeface="楷体_GB2312" pitchFamily="1" charset="-122"/>
              </a:rPr>
              <a:t>地址加法器来根据提供的</a:t>
            </a:r>
            <a:r>
              <a:rPr lang="en-US" altLang="zh-CN" sz="2800">
                <a:latin typeface="Times New Roman" panose="02020603050405020304" pitchFamily="18" charset="0"/>
                <a:ea typeface="楷体_GB2312" pitchFamily="1" charset="-122"/>
              </a:rPr>
              <a:t>16</a:t>
            </a:r>
            <a:r>
              <a:rPr lang="zh-CN" altLang="en-US" sz="2800">
                <a:latin typeface="Times New Roman" panose="02020603050405020304" pitchFamily="18" charset="0"/>
                <a:ea typeface="楷体_GB2312" pitchFamily="1" charset="-122"/>
              </a:rPr>
              <a:t>位信息产生</a:t>
            </a:r>
            <a:r>
              <a:rPr lang="en-US" altLang="zh-CN" sz="2800">
                <a:latin typeface="Times New Roman" panose="02020603050405020304" pitchFamily="18" charset="0"/>
                <a:ea typeface="楷体_GB2312" pitchFamily="1" charset="-122"/>
              </a:rPr>
              <a:t>20</a:t>
            </a:r>
            <a:r>
              <a:rPr lang="zh-CN" altLang="en-US" sz="2800">
                <a:latin typeface="Times New Roman" panose="02020603050405020304" pitchFamily="18" charset="0"/>
                <a:ea typeface="楷体_GB2312" pitchFamily="1" charset="-122"/>
              </a:rPr>
              <a:t>位地址。 </a:t>
            </a:r>
          </a:p>
        </p:txBody>
      </p:sp>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A986EA39-844E-F9A3-DF65-63756B75D820}"/>
              </a:ext>
            </a:extLst>
          </p:cNvPr>
          <p:cNvSpPr>
            <a:spLocks noGrp="1" noChangeArrowheads="1"/>
          </p:cNvSpPr>
          <p:nvPr>
            <p:ph type="title"/>
          </p:nvPr>
        </p:nvSpPr>
        <p:spPr>
          <a:xfrm>
            <a:off x="1150938" y="512763"/>
            <a:ext cx="7793037" cy="696912"/>
          </a:xfrm>
        </p:spPr>
        <p:txBody>
          <a:bodyPr/>
          <a:lstStyle/>
          <a:p>
            <a:pPr algn="ctr" eaLnBrk="1" hangingPunct="1">
              <a:defRPr/>
            </a:pP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3)</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指令预取队列(指令队列缓冲器)</a:t>
            </a:r>
          </a:p>
        </p:txBody>
      </p:sp>
      <p:sp>
        <p:nvSpPr>
          <p:cNvPr id="11267" name="Rectangle 3">
            <a:extLst>
              <a:ext uri="{FF2B5EF4-FFF2-40B4-BE49-F238E27FC236}">
                <a16:creationId xmlns:a16="http://schemas.microsoft.com/office/drawing/2014/main" id="{73F1404F-03EB-2DB2-35D4-F98ED868F53E}"/>
              </a:ext>
            </a:extLst>
          </p:cNvPr>
          <p:cNvSpPr>
            <a:spLocks noGrp="1" noChangeArrowheads="1"/>
          </p:cNvSpPr>
          <p:nvPr>
            <p:ph idx="1"/>
          </p:nvPr>
        </p:nvSpPr>
        <p:spPr>
          <a:xfrm>
            <a:off x="539750" y="1773238"/>
            <a:ext cx="8208963" cy="4321175"/>
          </a:xfrm>
        </p:spPr>
        <p:txBody>
          <a:bodyPr/>
          <a:lstStyle/>
          <a:p>
            <a:pPr marL="0" indent="0" eaLnBrk="1" hangingPunct="1">
              <a:lnSpc>
                <a:spcPct val="90000"/>
              </a:lnSpc>
              <a:buFont typeface="Wingdings" panose="05000000000000000000" pitchFamily="2" charset="2"/>
              <a:buChar char="Ø"/>
            </a:pPr>
            <a:r>
              <a:rPr lang="en-US" altLang="zh-CN">
                <a:latin typeface="Times New Roman" panose="02020603050405020304" pitchFamily="18" charset="0"/>
                <a:ea typeface="楷体_GB2312" pitchFamily="1" charset="-122"/>
              </a:rPr>
              <a:t>8086</a:t>
            </a:r>
            <a:r>
              <a:rPr lang="zh-CN" altLang="en-US">
                <a:latin typeface="Times New Roman" panose="02020603050405020304" pitchFamily="18" charset="0"/>
                <a:ea typeface="楷体_GB2312" pitchFamily="1" charset="-122"/>
              </a:rPr>
              <a:t>：指令预取队列为</a:t>
            </a:r>
            <a:r>
              <a:rPr lang="en-US" altLang="zh-CN" b="1">
                <a:solidFill>
                  <a:schemeClr val="folHlink"/>
                </a:solidFill>
                <a:latin typeface="Times New Roman" panose="02020603050405020304" pitchFamily="18" charset="0"/>
                <a:ea typeface="楷体_GB2312" pitchFamily="1" charset="-122"/>
              </a:rPr>
              <a:t>6</a:t>
            </a:r>
            <a:r>
              <a:rPr lang="zh-CN" altLang="en-US">
                <a:latin typeface="Times New Roman" panose="02020603050405020304" pitchFamily="18" charset="0"/>
                <a:ea typeface="楷体_GB2312" pitchFamily="1" charset="-122"/>
              </a:rPr>
              <a:t>字节</a:t>
            </a:r>
          </a:p>
          <a:p>
            <a:pPr marL="0" indent="0" eaLnBrk="1" hangingPunct="1">
              <a:lnSpc>
                <a:spcPct val="90000"/>
              </a:lnSpc>
              <a:buFont typeface="Wingdings" panose="05000000000000000000" pitchFamily="2" charset="2"/>
              <a:buChar char="Ø"/>
            </a:pPr>
            <a:r>
              <a:rPr lang="en-US" altLang="zh-CN">
                <a:latin typeface="Times New Roman" panose="02020603050405020304" pitchFamily="18" charset="0"/>
                <a:ea typeface="楷体_GB2312" pitchFamily="1" charset="-122"/>
              </a:rPr>
              <a:t>8088</a:t>
            </a:r>
            <a:r>
              <a:rPr lang="zh-CN" altLang="en-US">
                <a:latin typeface="Times New Roman" panose="02020603050405020304" pitchFamily="18" charset="0"/>
                <a:ea typeface="楷体_GB2312" pitchFamily="1" charset="-122"/>
              </a:rPr>
              <a:t>：指令预取队列为</a:t>
            </a:r>
            <a:r>
              <a:rPr lang="en-US" altLang="zh-CN" b="1">
                <a:solidFill>
                  <a:schemeClr val="folHlink"/>
                </a:solidFill>
                <a:latin typeface="Times New Roman" panose="02020603050405020304" pitchFamily="18" charset="0"/>
                <a:ea typeface="楷体_GB2312" pitchFamily="1" charset="-122"/>
              </a:rPr>
              <a:t>4</a:t>
            </a:r>
            <a:r>
              <a:rPr lang="zh-CN" altLang="en-US">
                <a:latin typeface="Times New Roman" panose="02020603050405020304" pitchFamily="18" charset="0"/>
                <a:ea typeface="楷体_GB2312" pitchFamily="1" charset="-122"/>
              </a:rPr>
              <a:t>字节</a:t>
            </a:r>
          </a:p>
          <a:p>
            <a:pPr marL="0" indent="0" eaLnBrk="1" hangingPunct="1">
              <a:lnSpc>
                <a:spcPct val="90000"/>
              </a:lnSpc>
              <a:buFont typeface="Wingdings" panose="05000000000000000000" pitchFamily="2" charset="2"/>
              <a:buChar char="Ø"/>
            </a:pPr>
            <a:r>
              <a:rPr lang="zh-CN" altLang="en-US">
                <a:latin typeface="Times New Roman" panose="02020603050405020304" pitchFamily="18" charset="0"/>
                <a:ea typeface="楷体_GB2312" pitchFamily="1" charset="-122"/>
              </a:rPr>
              <a:t>指令预取队列采用“</a:t>
            </a:r>
            <a:r>
              <a:rPr lang="zh-CN" altLang="en-US" b="1">
                <a:solidFill>
                  <a:schemeClr val="hlink"/>
                </a:solidFill>
                <a:latin typeface="Times New Roman" panose="02020603050405020304" pitchFamily="18" charset="0"/>
                <a:ea typeface="楷体_GB2312" pitchFamily="1" charset="-122"/>
              </a:rPr>
              <a:t>先进先出</a:t>
            </a:r>
            <a:r>
              <a:rPr lang="zh-CN" altLang="en-US">
                <a:latin typeface="Times New Roman" panose="02020603050405020304" pitchFamily="18" charset="0"/>
                <a:ea typeface="楷体_GB2312" pitchFamily="1" charset="-122"/>
              </a:rPr>
              <a:t>”原则。</a:t>
            </a:r>
          </a:p>
          <a:p>
            <a:pPr marL="0" indent="0" eaLnBrk="1" hangingPunct="1">
              <a:lnSpc>
                <a:spcPct val="90000"/>
              </a:lnSpc>
              <a:buFont typeface="Wingdings" panose="05000000000000000000" pitchFamily="2" charset="2"/>
              <a:buChar char="Ø"/>
            </a:pPr>
            <a:r>
              <a:rPr lang="zh-CN" altLang="en-US">
                <a:latin typeface="Times New Roman" panose="02020603050405020304" pitchFamily="18" charset="0"/>
                <a:ea typeface="楷体_GB2312" pitchFamily="1" charset="-122"/>
              </a:rPr>
              <a:t>要执行的指令预先由</a:t>
            </a:r>
            <a:r>
              <a:rPr lang="en-US" altLang="zh-CN">
                <a:latin typeface="Times New Roman" panose="02020603050405020304" pitchFamily="18" charset="0"/>
                <a:ea typeface="楷体_GB2312" pitchFamily="1" charset="-122"/>
              </a:rPr>
              <a:t>BIU</a:t>
            </a:r>
            <a:r>
              <a:rPr lang="zh-CN" altLang="en-US">
                <a:latin typeface="Times New Roman" panose="02020603050405020304" pitchFamily="18" charset="0"/>
                <a:ea typeface="楷体_GB2312" pitchFamily="1" charset="-122"/>
              </a:rPr>
              <a:t>从内存取出放在队列中，然后</a:t>
            </a:r>
            <a:r>
              <a:rPr lang="en-US" altLang="zh-CN">
                <a:latin typeface="Times New Roman" panose="02020603050405020304" pitchFamily="18" charset="0"/>
                <a:ea typeface="楷体_GB2312" pitchFamily="1" charset="-122"/>
              </a:rPr>
              <a:t>EU</a:t>
            </a:r>
            <a:r>
              <a:rPr lang="zh-CN" altLang="en-US">
                <a:latin typeface="Times New Roman" panose="02020603050405020304" pitchFamily="18" charset="0"/>
                <a:ea typeface="楷体_GB2312" pitchFamily="1" charset="-122"/>
              </a:rPr>
              <a:t>再从队列中取出指令并执行。</a:t>
            </a:r>
          </a:p>
          <a:p>
            <a:pPr marL="0" indent="0" eaLnBrk="1" hangingPunct="1">
              <a:lnSpc>
                <a:spcPct val="90000"/>
              </a:lnSpc>
              <a:buFont typeface="Wingdings" panose="05000000000000000000" pitchFamily="2" charset="2"/>
              <a:buChar char="Ø"/>
            </a:pPr>
            <a:r>
              <a:rPr lang="zh-CN" altLang="en-US" b="1">
                <a:solidFill>
                  <a:schemeClr val="folHlink"/>
                </a:solidFill>
                <a:latin typeface="Times New Roman" panose="02020603050405020304" pitchFamily="18" charset="0"/>
                <a:ea typeface="楷体_GB2312" pitchFamily="1" charset="-122"/>
              </a:rPr>
              <a:t>一般情况下，</a:t>
            </a:r>
            <a:r>
              <a:rPr lang="en-US" altLang="zh-CN" b="1">
                <a:solidFill>
                  <a:schemeClr val="folHlink"/>
                </a:solidFill>
                <a:latin typeface="Times New Roman" panose="02020603050405020304" pitchFamily="18" charset="0"/>
                <a:ea typeface="楷体_GB2312" pitchFamily="1" charset="-122"/>
              </a:rPr>
              <a:t>EU</a:t>
            </a:r>
            <a:r>
              <a:rPr lang="zh-CN" altLang="en-US" b="1">
                <a:solidFill>
                  <a:schemeClr val="folHlink"/>
                </a:solidFill>
                <a:latin typeface="Times New Roman" panose="02020603050405020304" pitchFamily="18" charset="0"/>
                <a:ea typeface="楷体_GB2312" pitchFamily="1" charset="-122"/>
              </a:rPr>
              <a:t>每执行完一条指令，就可以立即从指令队列中取指令执行，从而提高了</a:t>
            </a:r>
            <a:r>
              <a:rPr lang="en-US" altLang="zh-CN" b="1">
                <a:solidFill>
                  <a:schemeClr val="folHlink"/>
                </a:solidFill>
                <a:latin typeface="Times New Roman" panose="02020603050405020304" pitchFamily="18" charset="0"/>
                <a:ea typeface="楷体_GB2312" pitchFamily="1" charset="-122"/>
              </a:rPr>
              <a:t>CPU</a:t>
            </a:r>
            <a:r>
              <a:rPr lang="zh-CN" altLang="en-US" b="1">
                <a:solidFill>
                  <a:schemeClr val="folHlink"/>
                </a:solidFill>
                <a:latin typeface="Times New Roman" panose="02020603050405020304" pitchFamily="18" charset="0"/>
                <a:ea typeface="楷体_GB2312" pitchFamily="1" charset="-122"/>
              </a:rPr>
              <a:t>的效率。</a:t>
            </a:r>
            <a:r>
              <a:rPr lang="zh-CN" altLang="en-US">
                <a:latin typeface="Times New Roman" panose="02020603050405020304" pitchFamily="18" charset="0"/>
                <a:ea typeface="楷体_GB2312" pitchFamily="1" charset="-122"/>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267">
                                            <p:txEl>
                                              <p:pRg st="1" end="1"/>
                                            </p:txEl>
                                          </p:spTgt>
                                        </p:tgtEl>
                                        <p:attrNameLst>
                                          <p:attrName>style.visibility</p:attrName>
                                        </p:attrNameLst>
                                      </p:cBhvr>
                                      <p:to>
                                        <p:strVal val="visible"/>
                                      </p:to>
                                    </p:set>
                                    <p:anim calcmode="lin" valueType="num">
                                      <p:cBhvr additive="base">
                                        <p:cTn id="13" dur="500" fill="hold"/>
                                        <p:tgtEl>
                                          <p:spTgt spid="112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267">
                                            <p:txEl>
                                              <p:pRg st="2" end="2"/>
                                            </p:txEl>
                                          </p:spTgt>
                                        </p:tgtEl>
                                        <p:attrNameLst>
                                          <p:attrName>style.visibility</p:attrName>
                                        </p:attrNameLst>
                                      </p:cBhvr>
                                      <p:to>
                                        <p:strVal val="visible"/>
                                      </p:to>
                                    </p:set>
                                    <p:anim calcmode="lin" valueType="num">
                                      <p:cBhvr additive="base">
                                        <p:cTn id="19" dur="500" fill="hold"/>
                                        <p:tgtEl>
                                          <p:spTgt spid="112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267">
                                            <p:txEl>
                                              <p:pRg st="3" end="3"/>
                                            </p:txEl>
                                          </p:spTgt>
                                        </p:tgtEl>
                                        <p:attrNameLst>
                                          <p:attrName>style.visibility</p:attrName>
                                        </p:attrNameLst>
                                      </p:cBhvr>
                                      <p:to>
                                        <p:strVal val="visible"/>
                                      </p:to>
                                    </p:set>
                                    <p:anim calcmode="lin" valueType="num">
                                      <p:cBhvr additive="base">
                                        <p:cTn id="25" dur="500" fill="hold"/>
                                        <p:tgtEl>
                                          <p:spTgt spid="112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2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267">
                                            <p:txEl>
                                              <p:pRg st="4" end="4"/>
                                            </p:txEl>
                                          </p:spTgt>
                                        </p:tgtEl>
                                        <p:attrNameLst>
                                          <p:attrName>style.visibility</p:attrName>
                                        </p:attrNameLst>
                                      </p:cBhvr>
                                      <p:to>
                                        <p:strVal val="visible"/>
                                      </p:to>
                                    </p:set>
                                    <p:anim calcmode="lin" valueType="num">
                                      <p:cBhvr additive="base">
                                        <p:cTn id="31" dur="500" fill="hold"/>
                                        <p:tgtEl>
                                          <p:spTgt spid="1126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26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3776097-14BA-750F-A40C-470117753F98}"/>
              </a:ext>
            </a:extLst>
          </p:cNvPr>
          <p:cNvSpPr>
            <a:spLocks noGrp="1" noChangeArrowheads="1"/>
          </p:cNvSpPr>
          <p:nvPr>
            <p:ph type="title"/>
          </p:nvPr>
        </p:nvSpPr>
        <p:spPr/>
        <p:txBody>
          <a:bodyPr/>
          <a:lstStyle/>
          <a:p>
            <a:pPr algn="ctr" eaLnBrk="1" hangingPunct="1">
              <a:defRPr/>
            </a:pP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4)</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总线控制逻辑</a:t>
            </a:r>
          </a:p>
        </p:txBody>
      </p:sp>
      <p:sp>
        <p:nvSpPr>
          <p:cNvPr id="12291" name="Rectangle 3">
            <a:extLst>
              <a:ext uri="{FF2B5EF4-FFF2-40B4-BE49-F238E27FC236}">
                <a16:creationId xmlns:a16="http://schemas.microsoft.com/office/drawing/2014/main" id="{D8C68593-733E-9033-B2F8-52BD64FFDFDF}"/>
              </a:ext>
            </a:extLst>
          </p:cNvPr>
          <p:cNvSpPr>
            <a:spLocks noGrp="1" noChangeArrowheads="1"/>
          </p:cNvSpPr>
          <p:nvPr>
            <p:ph idx="1"/>
          </p:nvPr>
        </p:nvSpPr>
        <p:spPr>
          <a:xfrm>
            <a:off x="468313" y="1557338"/>
            <a:ext cx="8135937" cy="4114800"/>
          </a:xfrm>
        </p:spPr>
        <p:txBody>
          <a:bodyPr/>
          <a:lstStyle/>
          <a:p>
            <a:pPr eaLnBrk="1" hangingPunct="1">
              <a:buFont typeface="Wingdings" panose="05000000000000000000" pitchFamily="2" charset="2"/>
              <a:buChar char="Ø"/>
            </a:pPr>
            <a:r>
              <a:rPr lang="zh-CN" altLang="en-US"/>
              <a:t> </a:t>
            </a:r>
            <a:r>
              <a:rPr lang="en-US" altLang="zh-CN">
                <a:latin typeface="Times New Roman" panose="02020603050405020304" pitchFamily="18" charset="0"/>
                <a:ea typeface="楷体_GB2312" pitchFamily="1" charset="-122"/>
              </a:rPr>
              <a:t>8086</a:t>
            </a:r>
            <a:r>
              <a:rPr lang="zh-CN" altLang="en-US">
                <a:latin typeface="Times New Roman" panose="02020603050405020304" pitchFamily="18" charset="0"/>
                <a:ea typeface="楷体_GB2312" pitchFamily="1" charset="-122"/>
              </a:rPr>
              <a:t>分配</a:t>
            </a:r>
            <a:r>
              <a:rPr lang="en-US" altLang="zh-CN">
                <a:latin typeface="Times New Roman" panose="02020603050405020304" pitchFamily="18" charset="0"/>
                <a:ea typeface="楷体_GB2312" pitchFamily="1" charset="-122"/>
              </a:rPr>
              <a:t>20</a:t>
            </a:r>
            <a:r>
              <a:rPr lang="zh-CN" altLang="en-US">
                <a:latin typeface="Times New Roman" panose="02020603050405020304" pitchFamily="18" charset="0"/>
                <a:ea typeface="楷体_GB2312" pitchFamily="1" charset="-122"/>
              </a:rPr>
              <a:t>条引脚线传送</a:t>
            </a:r>
            <a:r>
              <a:rPr lang="en-US" altLang="zh-CN">
                <a:latin typeface="Times New Roman" panose="02020603050405020304" pitchFamily="18" charset="0"/>
                <a:ea typeface="楷体_GB2312" pitchFamily="1" charset="-122"/>
              </a:rPr>
              <a:t>20</a:t>
            </a:r>
            <a:r>
              <a:rPr lang="zh-CN" altLang="en-US">
                <a:latin typeface="Times New Roman" panose="02020603050405020304" pitchFamily="18" charset="0"/>
                <a:ea typeface="楷体_GB2312" pitchFamily="1" charset="-122"/>
              </a:rPr>
              <a:t>位地址、</a:t>
            </a:r>
            <a:r>
              <a:rPr lang="en-US" altLang="zh-CN">
                <a:latin typeface="Times New Roman" panose="02020603050405020304" pitchFamily="18" charset="0"/>
                <a:ea typeface="楷体_GB2312" pitchFamily="1" charset="-122"/>
              </a:rPr>
              <a:t>16</a:t>
            </a:r>
            <a:r>
              <a:rPr lang="zh-CN" altLang="en-US">
                <a:latin typeface="Times New Roman" panose="02020603050405020304" pitchFamily="18" charset="0"/>
                <a:ea typeface="楷体_GB2312" pitchFamily="1" charset="-122"/>
              </a:rPr>
              <a:t>位数据和</a:t>
            </a:r>
            <a:r>
              <a:rPr lang="en-US" altLang="zh-CN">
                <a:latin typeface="Times New Roman" panose="02020603050405020304" pitchFamily="18" charset="0"/>
                <a:ea typeface="楷体_GB2312" pitchFamily="1" charset="-122"/>
              </a:rPr>
              <a:t>4</a:t>
            </a:r>
            <a:r>
              <a:rPr lang="zh-CN" altLang="en-US">
                <a:latin typeface="Times New Roman" panose="02020603050405020304" pitchFamily="18" charset="0"/>
                <a:ea typeface="楷体_GB2312" pitchFamily="1" charset="-122"/>
              </a:rPr>
              <a:t>位状态信息，这就必须要分时传送。</a:t>
            </a:r>
          </a:p>
          <a:p>
            <a:pPr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总线控制逻辑的功能，就是以逻辑控制方法实现上述信息的分时传送。</a:t>
            </a:r>
            <a:r>
              <a:rPr lang="zh-CN" altLang="en-US"/>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 calcmode="lin" valueType="num">
                                      <p:cBhvr>
                                        <p:cTn id="7" dur="500" fill="hold"/>
                                        <p:tgtEl>
                                          <p:spTgt spid="1229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2291">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2291">
                                            <p:txEl>
                                              <p:pRg st="1" end="1"/>
                                            </p:txEl>
                                          </p:spTgt>
                                        </p:tgtEl>
                                        <p:attrNameLst>
                                          <p:attrName>style.visibility</p:attrName>
                                        </p:attrNameLst>
                                      </p:cBhvr>
                                      <p:to>
                                        <p:strVal val="visible"/>
                                      </p:to>
                                    </p:set>
                                    <p:anim calcmode="lin" valueType="num">
                                      <p:cBhvr>
                                        <p:cTn id="13" dur="500" fill="hold"/>
                                        <p:tgtEl>
                                          <p:spTgt spid="12291">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12291">
                                            <p:txEl>
                                              <p:pRg st="1" end="1"/>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FA042036-CFB8-1F34-F05F-601AC4191174}"/>
              </a:ext>
            </a:extLst>
          </p:cNvPr>
          <p:cNvSpPr>
            <a:spLocks noGrp="1" noChangeArrowheads="1"/>
          </p:cNvSpPr>
          <p:nvPr>
            <p:ph type="title"/>
          </p:nvPr>
        </p:nvSpPr>
        <p:spPr>
          <a:xfrm>
            <a:off x="1150938" y="452438"/>
            <a:ext cx="7793037" cy="757237"/>
          </a:xfrm>
        </p:spPr>
        <p:txBody>
          <a:bodyPr/>
          <a:lstStyle/>
          <a:p>
            <a:pPr algn="ctr" eaLnBrk="1" hangingPunct="1">
              <a:defRPr/>
            </a:pP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a:t>
            </a:r>
            <a:r>
              <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执行部件</a:t>
            </a: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EU</a:t>
            </a:r>
            <a:r>
              <a:rPr lang="en-US" sz="4000" b="1">
                <a:solidFill>
                  <a:schemeClr val="tx1"/>
                </a:solidFill>
                <a:latin typeface="Times New Roman" panose="02020603050405020304" pitchFamily="18" charset="0"/>
              </a:rPr>
              <a:t> </a:t>
            </a:r>
            <a:endParaRPr lang="zh-CN" altLang="en-US" sz="4000" b="1">
              <a:solidFill>
                <a:schemeClr val="tx1"/>
              </a:solidFill>
              <a:latin typeface="Times New Roman" panose="02020603050405020304" pitchFamily="18" charset="0"/>
            </a:endParaRPr>
          </a:p>
        </p:txBody>
      </p:sp>
      <p:sp>
        <p:nvSpPr>
          <p:cNvPr id="13315" name="Rectangle 3">
            <a:extLst>
              <a:ext uri="{FF2B5EF4-FFF2-40B4-BE49-F238E27FC236}">
                <a16:creationId xmlns:a16="http://schemas.microsoft.com/office/drawing/2014/main" id="{C64D92A9-D871-9C42-8003-3BF69C3C2C53}"/>
              </a:ext>
            </a:extLst>
          </p:cNvPr>
          <p:cNvSpPr>
            <a:spLocks noGrp="1" noChangeArrowheads="1"/>
          </p:cNvSpPr>
          <p:nvPr>
            <p:ph idx="1"/>
          </p:nvPr>
        </p:nvSpPr>
        <p:spPr>
          <a:xfrm>
            <a:off x="539750" y="1557338"/>
            <a:ext cx="8064500" cy="4114800"/>
          </a:xfrm>
        </p:spPr>
        <p:txBody>
          <a:bodyPr/>
          <a:lstStyle/>
          <a:p>
            <a:pPr eaLnBrk="1" hangingPunct="1">
              <a:buFont typeface="Wingdings" panose="05000000000000000000" pitchFamily="2" charset="2"/>
              <a:buChar char="Ø"/>
            </a:pPr>
            <a:r>
              <a:rPr lang="zh-CN" altLang="en-US" b="1"/>
              <a:t>功能</a:t>
            </a:r>
          </a:p>
          <a:p>
            <a:pPr eaLnBrk="1" hangingPunct="1"/>
            <a:r>
              <a:rPr lang="zh-CN" altLang="en-US">
                <a:latin typeface="Times New Roman" panose="02020603050405020304" pitchFamily="18" charset="0"/>
                <a:ea typeface="楷体_GB2312" pitchFamily="1" charset="-122"/>
              </a:rPr>
              <a:t>负责指令的译码、执行和数据运算。</a:t>
            </a:r>
          </a:p>
          <a:p>
            <a:pPr eaLnBrk="1" hangingPunct="1"/>
            <a:r>
              <a:rPr lang="zh-CN" altLang="en-US">
                <a:latin typeface="Times New Roman" panose="02020603050405020304" pitchFamily="18" charset="0"/>
                <a:ea typeface="楷体_GB2312" pitchFamily="1" charset="-122"/>
              </a:rPr>
              <a:t>负责向总线接口部件</a:t>
            </a:r>
            <a:r>
              <a:rPr lang="en-US" altLang="zh-CN">
                <a:latin typeface="Times New Roman" panose="02020603050405020304" pitchFamily="18" charset="0"/>
                <a:ea typeface="楷体_GB2312" pitchFamily="1" charset="-122"/>
              </a:rPr>
              <a:t>BIU</a:t>
            </a:r>
            <a:r>
              <a:rPr lang="zh-CN" altLang="en-US">
                <a:latin typeface="Times New Roman" panose="02020603050405020304" pitchFamily="18" charset="0"/>
                <a:ea typeface="楷体_GB2312" pitchFamily="1" charset="-122"/>
              </a:rPr>
              <a:t>提供偏移地址。</a:t>
            </a:r>
          </a:p>
          <a:p>
            <a:pPr eaLnBrk="1" hangingPunct="1"/>
            <a:r>
              <a:rPr lang="zh-CN" altLang="en-US">
                <a:latin typeface="Times New Roman" panose="02020603050405020304" pitchFamily="18" charset="0"/>
                <a:ea typeface="楷体_GB2312" pitchFamily="1" charset="-122"/>
              </a:rPr>
              <a:t>对通用寄存器和标志寄存器进行管理。</a:t>
            </a:r>
          </a:p>
          <a:p>
            <a:pPr eaLnBrk="1" hangingPunct="1">
              <a:buFont typeface="Wingdings" panose="05000000000000000000" pitchFamily="2" charset="2"/>
              <a:buChar char="Ø"/>
            </a:pPr>
            <a:r>
              <a:rPr lang="zh-CN" altLang="en-US" b="1"/>
              <a:t>组成：</a:t>
            </a:r>
            <a:r>
              <a:rPr lang="zh-CN" altLang="en-US">
                <a:latin typeface="Times New Roman" panose="02020603050405020304" pitchFamily="18" charset="0"/>
                <a:ea typeface="楷体_GB2312" pitchFamily="1" charset="-122"/>
              </a:rPr>
              <a:t>算术逻辑单元</a:t>
            </a:r>
            <a:r>
              <a:rPr lang="en-US" altLang="zh-CN">
                <a:latin typeface="Times New Roman" panose="02020603050405020304" pitchFamily="18" charset="0"/>
                <a:ea typeface="楷体_GB2312" pitchFamily="1" charset="-122"/>
              </a:rPr>
              <a:t>(ALU) </a:t>
            </a:r>
            <a:r>
              <a:rPr lang="zh-CN" altLang="en-US">
                <a:latin typeface="Times New Roman" panose="02020603050405020304" pitchFamily="18" charset="0"/>
                <a:ea typeface="楷体_GB2312" pitchFamily="1" charset="-122"/>
              </a:rPr>
              <a:t>、</a:t>
            </a:r>
            <a:r>
              <a:rPr lang="en-US" altLang="zh-CN">
                <a:latin typeface="Times New Roman" panose="02020603050405020304" pitchFamily="18" charset="0"/>
                <a:ea typeface="楷体_GB2312" pitchFamily="1" charset="-122"/>
              </a:rPr>
              <a:t>1</a:t>
            </a:r>
            <a:r>
              <a:rPr lang="zh-CN" altLang="en-US">
                <a:latin typeface="Times New Roman" panose="02020603050405020304" pitchFamily="18" charset="0"/>
                <a:ea typeface="楷体_GB2312" pitchFamily="1" charset="-122"/>
              </a:rPr>
              <a:t>个标志寄存器、</a:t>
            </a:r>
            <a:r>
              <a:rPr lang="en-US" altLang="zh-CN">
                <a:latin typeface="Times New Roman" panose="02020603050405020304" pitchFamily="18" charset="0"/>
                <a:ea typeface="楷体_GB2312" pitchFamily="1" charset="-122"/>
              </a:rPr>
              <a:t>8</a:t>
            </a:r>
            <a:r>
              <a:rPr lang="zh-CN" altLang="en-US">
                <a:latin typeface="Times New Roman" panose="02020603050405020304" pitchFamily="18" charset="0"/>
                <a:ea typeface="楷体_GB2312" pitchFamily="1" charset="-122"/>
              </a:rPr>
              <a:t>个通用寄存器、</a:t>
            </a:r>
            <a:r>
              <a:rPr lang="en-US" altLang="zh-CN">
                <a:latin typeface="Times New Roman" panose="02020603050405020304" pitchFamily="18" charset="0"/>
                <a:ea typeface="楷体_GB2312" pitchFamily="1" charset="-122"/>
              </a:rPr>
              <a:t>1</a:t>
            </a:r>
            <a:r>
              <a:rPr lang="zh-CN" altLang="en-US">
                <a:latin typeface="Times New Roman" panose="02020603050405020304" pitchFamily="18" charset="0"/>
                <a:ea typeface="楷体_GB2312" pitchFamily="1" charset="-122"/>
              </a:rPr>
              <a:t>个数据暂存寄存器和</a:t>
            </a:r>
            <a:r>
              <a:rPr lang="en-US" altLang="zh-CN">
                <a:latin typeface="Times New Roman" panose="02020603050405020304" pitchFamily="18" charset="0"/>
                <a:ea typeface="楷体_GB2312" pitchFamily="1" charset="-122"/>
              </a:rPr>
              <a:t>EU</a:t>
            </a:r>
            <a:r>
              <a:rPr lang="zh-CN" altLang="en-US">
                <a:latin typeface="Times New Roman" panose="02020603050405020304" pitchFamily="18" charset="0"/>
                <a:ea typeface="楷体_GB2312" pitchFamily="1" charset="-122"/>
              </a:rPr>
              <a:t>控制电路。</a:t>
            </a:r>
            <a:r>
              <a:rPr lang="zh-CN" altLang="en-US"/>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arn(inHorizontal)">
                                      <p:cBhvr>
                                        <p:cTn id="7" dur="500"/>
                                        <p:tgtEl>
                                          <p:spTgt spid="133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barn(inHorizontal)">
                                      <p:cBhvr>
                                        <p:cTn id="12" dur="500"/>
                                        <p:tgtEl>
                                          <p:spTgt spid="133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6" fill="hold"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barn(inHorizontal)">
                                      <p:cBhvr>
                                        <p:cTn id="17" dur="500"/>
                                        <p:tgtEl>
                                          <p:spTgt spid="133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6" fill="hold" nodeType="clickEffect">
                                  <p:stCondLst>
                                    <p:cond delay="0"/>
                                  </p:stCondLst>
                                  <p:childTnLst>
                                    <p:set>
                                      <p:cBhvr>
                                        <p:cTn id="21" dur="1" fill="hold">
                                          <p:stCondLst>
                                            <p:cond delay="0"/>
                                          </p:stCondLst>
                                        </p:cTn>
                                        <p:tgtEl>
                                          <p:spTgt spid="13315">
                                            <p:txEl>
                                              <p:pRg st="3" end="3"/>
                                            </p:txEl>
                                          </p:spTgt>
                                        </p:tgtEl>
                                        <p:attrNameLst>
                                          <p:attrName>style.visibility</p:attrName>
                                        </p:attrNameLst>
                                      </p:cBhvr>
                                      <p:to>
                                        <p:strVal val="visible"/>
                                      </p:to>
                                    </p:set>
                                    <p:animEffect transition="in" filter="barn(inHorizontal)">
                                      <p:cBhvr>
                                        <p:cTn id="22" dur="500"/>
                                        <p:tgtEl>
                                          <p:spTgt spid="133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6" fill="hold" nodeType="clickEffect">
                                  <p:stCondLst>
                                    <p:cond delay="0"/>
                                  </p:stCondLst>
                                  <p:childTnLst>
                                    <p:set>
                                      <p:cBhvr>
                                        <p:cTn id="26" dur="1" fill="hold">
                                          <p:stCondLst>
                                            <p:cond delay="0"/>
                                          </p:stCondLst>
                                        </p:cTn>
                                        <p:tgtEl>
                                          <p:spTgt spid="13315">
                                            <p:txEl>
                                              <p:pRg st="4" end="4"/>
                                            </p:txEl>
                                          </p:spTgt>
                                        </p:tgtEl>
                                        <p:attrNameLst>
                                          <p:attrName>style.visibility</p:attrName>
                                        </p:attrNameLst>
                                      </p:cBhvr>
                                      <p:to>
                                        <p:strVal val="visible"/>
                                      </p:to>
                                    </p:set>
                                    <p:animEffect transition="in" filter="barn(inHorizontal)">
                                      <p:cBhvr>
                                        <p:cTn id="27" dur="500"/>
                                        <p:tgtEl>
                                          <p:spTgt spid="133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5F97A9D5-59A9-0FDB-E269-2D901352E530}"/>
              </a:ext>
            </a:extLst>
          </p:cNvPr>
          <p:cNvSpPr>
            <a:spLocks noGrp="1" noChangeArrowheads="1"/>
          </p:cNvSpPr>
          <p:nvPr>
            <p:ph type="title"/>
          </p:nvPr>
        </p:nvSpPr>
        <p:spPr>
          <a:xfrm>
            <a:off x="1150938" y="404813"/>
            <a:ext cx="7793037" cy="804862"/>
          </a:xfrm>
        </p:spPr>
        <p:txBody>
          <a:bodyPr/>
          <a:lstStyle/>
          <a:p>
            <a:pPr algn="ctr" eaLnBrk="1" hangingPunct="1">
              <a:defRPr/>
            </a:pP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1)</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算术逻辑部件</a:t>
            </a: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ALU</a:t>
            </a:r>
            <a:endPar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14339" name="Rectangle 3">
            <a:extLst>
              <a:ext uri="{FF2B5EF4-FFF2-40B4-BE49-F238E27FC236}">
                <a16:creationId xmlns:a16="http://schemas.microsoft.com/office/drawing/2014/main" id="{6E765C65-D875-49B7-A4B5-F180403D942C}"/>
              </a:ext>
            </a:extLst>
          </p:cNvPr>
          <p:cNvSpPr>
            <a:spLocks noGrp="1" noChangeArrowheads="1"/>
          </p:cNvSpPr>
          <p:nvPr>
            <p:ph idx="1"/>
          </p:nvPr>
        </p:nvSpPr>
        <p:spPr>
          <a:xfrm>
            <a:off x="395288" y="1557338"/>
            <a:ext cx="8135937" cy="5040312"/>
          </a:xfrm>
        </p:spPr>
        <p:txBody>
          <a:bodyPr/>
          <a:lstStyle/>
          <a:p>
            <a:pPr marL="0" indent="0" eaLnBrk="1" hangingPunct="1">
              <a:buFont typeface="Wingdings" panose="05000000000000000000" pitchFamily="2" charset="2"/>
              <a:buNone/>
            </a:pPr>
            <a:r>
              <a:rPr lang="zh-CN" altLang="en-US">
                <a:latin typeface="Times New Roman" panose="02020603050405020304" pitchFamily="18" charset="0"/>
                <a:ea typeface="楷体_GB2312" pitchFamily="1" charset="-122"/>
              </a:rPr>
              <a:t>用于进行</a:t>
            </a:r>
            <a:r>
              <a:rPr lang="en-US" altLang="zh-CN">
                <a:latin typeface="Times New Roman" panose="02020603050405020304" pitchFamily="18" charset="0"/>
                <a:ea typeface="楷体_GB2312" pitchFamily="1" charset="-122"/>
              </a:rPr>
              <a:t>8</a:t>
            </a:r>
            <a:r>
              <a:rPr lang="zh-CN" altLang="en-US">
                <a:latin typeface="Times New Roman" panose="02020603050405020304" pitchFamily="18" charset="0"/>
                <a:ea typeface="楷体_GB2312" pitchFamily="1" charset="-122"/>
              </a:rPr>
              <a:t>位和</a:t>
            </a:r>
            <a:r>
              <a:rPr lang="en-US" altLang="zh-CN">
                <a:latin typeface="Times New Roman" panose="02020603050405020304" pitchFamily="18" charset="0"/>
                <a:ea typeface="楷体_GB2312" pitchFamily="1" charset="-122"/>
              </a:rPr>
              <a:t>16</a:t>
            </a:r>
            <a:r>
              <a:rPr lang="zh-CN" altLang="en-US">
                <a:latin typeface="Times New Roman" panose="02020603050405020304" pitchFamily="18" charset="0"/>
                <a:ea typeface="楷体_GB2312" pitchFamily="1" charset="-122"/>
              </a:rPr>
              <a:t>位的</a:t>
            </a:r>
            <a:r>
              <a:rPr lang="zh-CN" altLang="en-US" b="1">
                <a:solidFill>
                  <a:schemeClr val="folHlink"/>
                </a:solidFill>
                <a:latin typeface="Times New Roman" panose="02020603050405020304" pitchFamily="18" charset="0"/>
                <a:ea typeface="楷体_GB2312" pitchFamily="1" charset="-122"/>
              </a:rPr>
              <a:t>算术和逻辑运算</a:t>
            </a:r>
            <a:r>
              <a:rPr lang="zh-CN" altLang="en-US">
                <a:latin typeface="Times New Roman" panose="02020603050405020304" pitchFamily="18" charset="0"/>
                <a:ea typeface="楷体_GB2312" pitchFamily="1" charset="-122"/>
              </a:rPr>
              <a:t>，也可以按照指令的寻址方式</a:t>
            </a:r>
            <a:r>
              <a:rPr lang="zh-CN" altLang="en-US" b="1">
                <a:solidFill>
                  <a:schemeClr val="folHlink"/>
                </a:solidFill>
                <a:latin typeface="Times New Roman" panose="02020603050405020304" pitchFamily="18" charset="0"/>
                <a:ea typeface="楷体_GB2312" pitchFamily="1" charset="-122"/>
              </a:rPr>
              <a:t>计算出寻址单元的</a:t>
            </a:r>
            <a:r>
              <a:rPr lang="en-US" altLang="zh-CN" b="1">
                <a:solidFill>
                  <a:schemeClr val="folHlink"/>
                </a:solidFill>
                <a:latin typeface="Times New Roman" panose="02020603050405020304" pitchFamily="18" charset="0"/>
                <a:ea typeface="楷体_GB2312" pitchFamily="1" charset="-122"/>
              </a:rPr>
              <a:t>16</a:t>
            </a:r>
            <a:r>
              <a:rPr lang="zh-CN" altLang="en-US" b="1">
                <a:solidFill>
                  <a:schemeClr val="folHlink"/>
                </a:solidFill>
                <a:latin typeface="Times New Roman" panose="02020603050405020304" pitchFamily="18" charset="0"/>
                <a:ea typeface="楷体_GB2312" pitchFamily="1" charset="-122"/>
              </a:rPr>
              <a:t>位偏移量</a:t>
            </a:r>
            <a:r>
              <a:rPr lang="zh-CN" altLang="en-US">
                <a:latin typeface="Times New Roman" panose="02020603050405020304" pitchFamily="18" charset="0"/>
                <a:ea typeface="楷体_GB2312" pitchFamily="1" charset="-122"/>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 calcmode="lin" valueType="num">
                                      <p:cBhvr additive="base">
                                        <p:cTn id="7" dur="500" fill="hold"/>
                                        <p:tgtEl>
                                          <p:spTgt spid="143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CCA16B5B-9DF0-D5C0-75E2-4BC776FC3C55}"/>
              </a:ext>
            </a:extLst>
          </p:cNvPr>
          <p:cNvSpPr>
            <a:spLocks noGrp="1" noChangeArrowheads="1"/>
          </p:cNvSpPr>
          <p:nvPr>
            <p:ph type="title"/>
          </p:nvPr>
        </p:nvSpPr>
        <p:spPr/>
        <p:txBody>
          <a:bodyPr/>
          <a:lstStyle/>
          <a:p>
            <a:pPr algn="ctr" eaLnBrk="1" hangingPunct="1">
              <a:defRPr/>
            </a:pP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标志寄存器</a:t>
            </a: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FR</a:t>
            </a:r>
            <a:endPar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26626" name="Rectangle 3">
            <a:extLst>
              <a:ext uri="{FF2B5EF4-FFF2-40B4-BE49-F238E27FC236}">
                <a16:creationId xmlns:a16="http://schemas.microsoft.com/office/drawing/2014/main" id="{108BE2E3-139C-E51E-8EDB-32CA165969BB}"/>
              </a:ext>
            </a:extLst>
          </p:cNvPr>
          <p:cNvSpPr>
            <a:spLocks noGrp="1" noChangeArrowheads="1"/>
          </p:cNvSpPr>
          <p:nvPr>
            <p:ph idx="1"/>
          </p:nvPr>
        </p:nvSpPr>
        <p:spPr/>
        <p:txBody>
          <a:bodyPr/>
          <a:lstStyle/>
          <a:p>
            <a:pPr marL="0" indent="0" eaLnBrk="1" hangingPunct="1">
              <a:buFont typeface="Wingdings" panose="05000000000000000000" pitchFamily="2" charset="2"/>
              <a:buNone/>
            </a:pPr>
            <a:r>
              <a:rPr lang="en-US" altLang="zh-CN" b="1">
                <a:latin typeface="Times New Roman" panose="02020603050405020304" pitchFamily="18" charset="0"/>
              </a:rPr>
              <a:t>16</a:t>
            </a:r>
            <a:r>
              <a:rPr lang="zh-CN" altLang="en-US" b="1">
                <a:latin typeface="Times New Roman" panose="02020603050405020304" pitchFamily="18" charset="0"/>
              </a:rPr>
              <a:t>位，</a:t>
            </a:r>
            <a:r>
              <a:rPr lang="zh-CN" altLang="en-US">
                <a:latin typeface="Times New Roman" panose="02020603050405020304" pitchFamily="18" charset="0"/>
                <a:ea typeface="楷体_GB2312" pitchFamily="1" charset="-122"/>
              </a:rPr>
              <a:t>用来反映</a:t>
            </a:r>
            <a:r>
              <a:rPr lang="en-US" altLang="zh-CN">
                <a:latin typeface="Times New Roman" panose="02020603050405020304" pitchFamily="18" charset="0"/>
                <a:ea typeface="楷体_GB2312" pitchFamily="1" charset="-122"/>
              </a:rPr>
              <a:t>CPU</a:t>
            </a:r>
            <a:r>
              <a:rPr lang="zh-CN" altLang="en-US">
                <a:latin typeface="Times New Roman" panose="02020603050405020304" pitchFamily="18" charset="0"/>
                <a:ea typeface="楷体_GB2312" pitchFamily="1" charset="-122"/>
              </a:rPr>
              <a:t>运算的状态特征或存放控制标志。</a:t>
            </a:r>
          </a:p>
        </p:txBody>
      </p:sp>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A10F534F-B90A-B72E-6A5A-B16C1B9C46F4}"/>
              </a:ext>
            </a:extLst>
          </p:cNvPr>
          <p:cNvSpPr>
            <a:spLocks noGrp="1" noChangeArrowheads="1"/>
          </p:cNvSpPr>
          <p:nvPr>
            <p:ph type="title"/>
          </p:nvPr>
        </p:nvSpPr>
        <p:spPr/>
        <p:txBody>
          <a:bodyPr/>
          <a:lstStyle/>
          <a:p>
            <a:pPr algn="ctr" eaLnBrk="1" hangingPunct="1">
              <a:defRPr/>
            </a:pP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3)</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通用寄存器组</a:t>
            </a:r>
          </a:p>
        </p:txBody>
      </p:sp>
      <p:sp>
        <p:nvSpPr>
          <p:cNvPr id="16387" name="Rectangle 3">
            <a:extLst>
              <a:ext uri="{FF2B5EF4-FFF2-40B4-BE49-F238E27FC236}">
                <a16:creationId xmlns:a16="http://schemas.microsoft.com/office/drawing/2014/main" id="{8B20D206-562A-BE38-A199-4E3C9B4C9D47}"/>
              </a:ext>
            </a:extLst>
          </p:cNvPr>
          <p:cNvSpPr>
            <a:spLocks noGrp="1" noChangeArrowheads="1"/>
          </p:cNvSpPr>
          <p:nvPr>
            <p:ph idx="1"/>
          </p:nvPr>
        </p:nvSpPr>
        <p:spPr>
          <a:xfrm>
            <a:off x="396875" y="1557338"/>
            <a:ext cx="8496300" cy="4114800"/>
          </a:xfrm>
        </p:spPr>
        <p:txBody>
          <a:bodyPr/>
          <a:lstStyle/>
          <a:p>
            <a:pPr eaLnBrk="1" hangingPunct="1">
              <a:buFont typeface="Wingdings" panose="05000000000000000000" pitchFamily="2" charset="2"/>
              <a:buChar char="Ø"/>
            </a:pPr>
            <a:r>
              <a:rPr lang="en-US" altLang="zh-CN">
                <a:latin typeface="Times New Roman" panose="02020603050405020304" pitchFamily="18" charset="0"/>
                <a:ea typeface="楷体_GB2312" pitchFamily="1" charset="-122"/>
              </a:rPr>
              <a:t>4</a:t>
            </a:r>
            <a:r>
              <a:rPr lang="zh-CN" altLang="en-US">
                <a:latin typeface="Times New Roman" panose="02020603050405020304" pitchFamily="18" charset="0"/>
                <a:ea typeface="楷体_GB2312" pitchFamily="1" charset="-122"/>
              </a:rPr>
              <a:t>个</a:t>
            </a:r>
            <a:r>
              <a:rPr lang="en-US" altLang="zh-CN">
                <a:latin typeface="Times New Roman" panose="02020603050405020304" pitchFamily="18" charset="0"/>
                <a:ea typeface="楷体_GB2312" pitchFamily="1" charset="-122"/>
              </a:rPr>
              <a:t>16</a:t>
            </a:r>
            <a:r>
              <a:rPr lang="zh-CN" altLang="en-US">
                <a:latin typeface="Times New Roman" panose="02020603050405020304" pitchFamily="18" charset="0"/>
                <a:ea typeface="楷体_GB2312" pitchFamily="1" charset="-122"/>
              </a:rPr>
              <a:t>位数据寄存器</a:t>
            </a:r>
            <a:r>
              <a:rPr lang="en-US" altLang="zh-CN" b="1">
                <a:solidFill>
                  <a:schemeClr val="folHlink"/>
                </a:solidFill>
                <a:latin typeface="Times New Roman" panose="02020603050405020304" pitchFamily="18" charset="0"/>
                <a:ea typeface="楷体_GB2312" pitchFamily="1" charset="-122"/>
              </a:rPr>
              <a:t>AX</a:t>
            </a:r>
            <a:r>
              <a:rPr lang="zh-CN" altLang="en-US">
                <a:latin typeface="Times New Roman" panose="02020603050405020304" pitchFamily="18" charset="0"/>
                <a:ea typeface="楷体_GB2312" pitchFamily="1" charset="-122"/>
              </a:rPr>
              <a:t>、</a:t>
            </a:r>
            <a:r>
              <a:rPr lang="en-US" altLang="zh-CN" b="1">
                <a:solidFill>
                  <a:schemeClr val="folHlink"/>
                </a:solidFill>
                <a:latin typeface="Times New Roman" panose="02020603050405020304" pitchFamily="18" charset="0"/>
                <a:ea typeface="楷体_GB2312" pitchFamily="1" charset="-122"/>
              </a:rPr>
              <a:t>BX</a:t>
            </a:r>
            <a:r>
              <a:rPr lang="zh-CN" altLang="en-US">
                <a:latin typeface="Times New Roman" panose="02020603050405020304" pitchFamily="18" charset="0"/>
                <a:ea typeface="楷体_GB2312" pitchFamily="1" charset="-122"/>
              </a:rPr>
              <a:t>、</a:t>
            </a:r>
            <a:r>
              <a:rPr lang="en-US" altLang="zh-CN" b="1">
                <a:solidFill>
                  <a:schemeClr val="folHlink"/>
                </a:solidFill>
                <a:latin typeface="Times New Roman" panose="02020603050405020304" pitchFamily="18" charset="0"/>
                <a:ea typeface="楷体_GB2312" pitchFamily="1" charset="-122"/>
              </a:rPr>
              <a:t>CX</a:t>
            </a:r>
            <a:r>
              <a:rPr lang="zh-CN" altLang="en-US">
                <a:latin typeface="Times New Roman" panose="02020603050405020304" pitchFamily="18" charset="0"/>
                <a:ea typeface="楷体_GB2312" pitchFamily="1" charset="-122"/>
              </a:rPr>
              <a:t>、</a:t>
            </a:r>
            <a:r>
              <a:rPr lang="en-US" altLang="zh-CN" b="1">
                <a:solidFill>
                  <a:schemeClr val="folHlink"/>
                </a:solidFill>
                <a:latin typeface="Times New Roman" panose="02020603050405020304" pitchFamily="18" charset="0"/>
                <a:ea typeface="楷体_GB2312" pitchFamily="1" charset="-122"/>
              </a:rPr>
              <a:t>DX</a:t>
            </a:r>
          </a:p>
          <a:p>
            <a:pPr eaLnBrk="1" hangingPunct="1">
              <a:buFont typeface="Wingdings" panose="05000000000000000000" pitchFamily="2" charset="2"/>
              <a:buChar char="Ø"/>
            </a:pPr>
            <a:r>
              <a:rPr lang="en-US" altLang="zh-CN">
                <a:latin typeface="Times New Roman" panose="02020603050405020304" pitchFamily="18" charset="0"/>
                <a:ea typeface="楷体_GB2312" pitchFamily="1" charset="-122"/>
              </a:rPr>
              <a:t>4</a:t>
            </a:r>
            <a:r>
              <a:rPr lang="zh-CN" altLang="en-US">
                <a:latin typeface="Times New Roman" panose="02020603050405020304" pitchFamily="18" charset="0"/>
                <a:ea typeface="楷体_GB2312" pitchFamily="1" charset="-122"/>
              </a:rPr>
              <a:t>个</a:t>
            </a:r>
            <a:r>
              <a:rPr lang="en-US" altLang="zh-CN">
                <a:latin typeface="Times New Roman" panose="02020603050405020304" pitchFamily="18" charset="0"/>
                <a:ea typeface="楷体_GB2312" pitchFamily="1" charset="-122"/>
              </a:rPr>
              <a:t>16</a:t>
            </a:r>
            <a:r>
              <a:rPr lang="zh-CN" altLang="en-US">
                <a:latin typeface="Times New Roman" panose="02020603050405020304" pitchFamily="18" charset="0"/>
                <a:ea typeface="楷体_GB2312" pitchFamily="1" charset="-122"/>
              </a:rPr>
              <a:t>位指针与变址寄存器：</a:t>
            </a:r>
            <a:br>
              <a:rPr lang="zh-CN" altLang="en-US">
                <a:latin typeface="Times New Roman" panose="02020603050405020304" pitchFamily="18" charset="0"/>
                <a:ea typeface="楷体_GB2312" pitchFamily="1" charset="-122"/>
              </a:rPr>
            </a:br>
            <a:r>
              <a:rPr lang="zh-CN" altLang="en-US">
                <a:latin typeface="Times New Roman" panose="02020603050405020304" pitchFamily="18" charset="0"/>
                <a:ea typeface="楷体_GB2312" pitchFamily="1" charset="-122"/>
              </a:rPr>
              <a:t>堆栈指针寄存器</a:t>
            </a:r>
            <a:r>
              <a:rPr lang="en-US" altLang="zh-CN" b="1">
                <a:solidFill>
                  <a:schemeClr val="folHlink"/>
                </a:solidFill>
                <a:latin typeface="Times New Roman" panose="02020603050405020304" pitchFamily="18" charset="0"/>
                <a:ea typeface="楷体_GB2312" pitchFamily="1" charset="-122"/>
              </a:rPr>
              <a:t>SP</a:t>
            </a:r>
            <a:r>
              <a:rPr lang="en-US" altLang="zh-CN">
                <a:latin typeface="Times New Roman" panose="02020603050405020304" pitchFamily="18" charset="0"/>
                <a:ea typeface="楷体_GB2312" pitchFamily="1" charset="-122"/>
              </a:rPr>
              <a:t>(Stack Pointer)</a:t>
            </a:r>
            <a:br>
              <a:rPr lang="en-US" altLang="zh-CN">
                <a:latin typeface="Times New Roman" panose="02020603050405020304" pitchFamily="18" charset="0"/>
                <a:ea typeface="楷体_GB2312" pitchFamily="1" charset="-122"/>
              </a:rPr>
            </a:br>
            <a:r>
              <a:rPr lang="zh-CN" altLang="en-US">
                <a:latin typeface="Times New Roman" panose="02020603050405020304" pitchFamily="18" charset="0"/>
                <a:ea typeface="楷体_GB2312" pitchFamily="1" charset="-122"/>
              </a:rPr>
              <a:t>基址指针寄存器</a:t>
            </a:r>
            <a:r>
              <a:rPr lang="en-US" altLang="zh-CN" b="1">
                <a:solidFill>
                  <a:schemeClr val="folHlink"/>
                </a:solidFill>
                <a:latin typeface="Times New Roman" panose="02020603050405020304" pitchFamily="18" charset="0"/>
                <a:ea typeface="楷体_GB2312" pitchFamily="1" charset="-122"/>
              </a:rPr>
              <a:t>BP</a:t>
            </a:r>
            <a:r>
              <a:rPr lang="en-US" altLang="zh-CN">
                <a:latin typeface="Times New Roman" panose="02020603050405020304" pitchFamily="18" charset="0"/>
                <a:ea typeface="楷体_GB2312" pitchFamily="1" charset="-122"/>
              </a:rPr>
              <a:t>(Base Pointer)</a:t>
            </a:r>
            <a:r>
              <a:rPr lang="zh-CN" altLang="en-US">
                <a:latin typeface="Times New Roman" panose="02020603050405020304" pitchFamily="18" charset="0"/>
                <a:ea typeface="楷体_GB2312" pitchFamily="1" charset="-122"/>
              </a:rPr>
              <a:t> </a:t>
            </a:r>
            <a:br>
              <a:rPr lang="zh-CN" altLang="en-US">
                <a:latin typeface="Times New Roman" panose="02020603050405020304" pitchFamily="18" charset="0"/>
                <a:ea typeface="楷体_GB2312" pitchFamily="1" charset="-122"/>
              </a:rPr>
            </a:br>
            <a:r>
              <a:rPr lang="zh-CN" altLang="en-US">
                <a:latin typeface="Times New Roman" panose="02020603050405020304" pitchFamily="18" charset="0"/>
                <a:ea typeface="楷体_GB2312" pitchFamily="1" charset="-122"/>
              </a:rPr>
              <a:t>源变址寄存器</a:t>
            </a:r>
            <a:r>
              <a:rPr lang="en-US" altLang="zh-CN" b="1">
                <a:solidFill>
                  <a:schemeClr val="folHlink"/>
                </a:solidFill>
                <a:latin typeface="Times New Roman" panose="02020603050405020304" pitchFamily="18" charset="0"/>
                <a:ea typeface="楷体_GB2312" pitchFamily="1" charset="-122"/>
              </a:rPr>
              <a:t>SI</a:t>
            </a:r>
            <a:r>
              <a:rPr lang="en-US" altLang="zh-CN">
                <a:latin typeface="Times New Roman" panose="02020603050405020304" pitchFamily="18" charset="0"/>
                <a:ea typeface="楷体_GB2312" pitchFamily="1" charset="-122"/>
              </a:rPr>
              <a:t>(Source Index)</a:t>
            </a:r>
            <a:r>
              <a:rPr lang="zh-CN" altLang="en-US">
                <a:latin typeface="Times New Roman" panose="02020603050405020304" pitchFamily="18" charset="0"/>
                <a:ea typeface="楷体_GB2312" pitchFamily="1" charset="-122"/>
              </a:rPr>
              <a:t> </a:t>
            </a:r>
            <a:br>
              <a:rPr lang="zh-CN" altLang="en-US">
                <a:latin typeface="Times New Roman" panose="02020603050405020304" pitchFamily="18" charset="0"/>
                <a:ea typeface="楷体_GB2312" pitchFamily="1" charset="-122"/>
              </a:rPr>
            </a:br>
            <a:r>
              <a:rPr lang="zh-CN" altLang="en-US">
                <a:latin typeface="Times New Roman" panose="02020603050405020304" pitchFamily="18" charset="0"/>
                <a:ea typeface="楷体_GB2312" pitchFamily="1" charset="-122"/>
              </a:rPr>
              <a:t>目的变址寄存器</a:t>
            </a:r>
            <a:r>
              <a:rPr lang="en-US" altLang="zh-CN" b="1">
                <a:solidFill>
                  <a:schemeClr val="folHlink"/>
                </a:solidFill>
                <a:latin typeface="Times New Roman" panose="02020603050405020304" pitchFamily="18" charset="0"/>
                <a:ea typeface="楷体_GB2312" pitchFamily="1" charset="-122"/>
              </a:rPr>
              <a:t>DI</a:t>
            </a:r>
            <a:r>
              <a:rPr lang="en-US" altLang="zh-CN">
                <a:latin typeface="Times New Roman" panose="02020603050405020304" pitchFamily="18" charset="0"/>
                <a:ea typeface="楷体_GB2312" pitchFamily="1" charset="-122"/>
              </a:rPr>
              <a:t>(Destination Index)</a:t>
            </a:r>
            <a:r>
              <a:rPr lang="zh-CN" altLang="en-US">
                <a:latin typeface="Times New Roman" panose="02020603050405020304" pitchFamily="18" charset="0"/>
                <a:ea typeface="楷体_GB2312" pitchFamily="1" charset="-122"/>
              </a:rPr>
              <a:t> </a:t>
            </a:r>
          </a:p>
          <a:p>
            <a:pPr eaLnBrk="1" hangingPunct="1"/>
            <a:endParaRPr lang="zh-CN" altLang="en-US"/>
          </a:p>
        </p:txBody>
      </p:sp>
      <p:pic>
        <p:nvPicPr>
          <p:cNvPr id="27651" name="Picture 670" descr="无标题">
            <a:extLst>
              <a:ext uri="{FF2B5EF4-FFF2-40B4-BE49-F238E27FC236}">
                <a16:creationId xmlns:a16="http://schemas.microsoft.com/office/drawing/2014/main" id="{4D3BE71B-C1BD-2A1E-418B-18E7426928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4768850"/>
            <a:ext cx="6983413"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387">
                                            <p:txEl>
                                              <p:pRg st="1" end="1"/>
                                            </p:txEl>
                                          </p:spTgt>
                                        </p:tgtEl>
                                        <p:attrNameLst>
                                          <p:attrName>style.visibility</p:attrName>
                                        </p:attrNameLst>
                                      </p:cBhvr>
                                      <p:to>
                                        <p:strVal val="visible"/>
                                      </p:to>
                                    </p:set>
                                    <p:anim calcmode="lin" valueType="num">
                                      <p:cBhvr additive="base">
                                        <p:cTn id="13" dur="5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38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D135D27F-C561-3C6E-8411-AA7288B52835}"/>
              </a:ext>
            </a:extLst>
          </p:cNvPr>
          <p:cNvSpPr>
            <a:spLocks noGrp="1" noChangeArrowheads="1"/>
          </p:cNvSpPr>
          <p:nvPr>
            <p:ph type="title"/>
          </p:nvPr>
        </p:nvSpPr>
        <p:spPr/>
        <p:txBody>
          <a:bodyPr/>
          <a:lstStyle/>
          <a:p>
            <a:pPr algn="ctr" eaLnBrk="1" hangingPunct="1">
              <a:defRPr/>
            </a:pP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4)</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数据暂存寄存器</a:t>
            </a:r>
            <a:endPar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28674" name="Rectangle 3">
            <a:extLst>
              <a:ext uri="{FF2B5EF4-FFF2-40B4-BE49-F238E27FC236}">
                <a16:creationId xmlns:a16="http://schemas.microsoft.com/office/drawing/2014/main" id="{BB2D2109-E3CA-CD3D-4D2A-38A5487A47E0}"/>
              </a:ext>
            </a:extLst>
          </p:cNvPr>
          <p:cNvSpPr>
            <a:spLocks noGrp="1" noChangeArrowheads="1"/>
          </p:cNvSpPr>
          <p:nvPr>
            <p:ph idx="1"/>
          </p:nvPr>
        </p:nvSpPr>
        <p:spPr>
          <a:xfrm>
            <a:off x="468313" y="1557338"/>
            <a:ext cx="8064500" cy="4681537"/>
          </a:xfrm>
        </p:spPr>
        <p:txBody>
          <a:bodyPr/>
          <a:lstStyle/>
          <a:p>
            <a:pPr eaLnBrk="1" hangingPunct="1">
              <a:buFont typeface="Wingdings" panose="05000000000000000000" pitchFamily="2" charset="2"/>
              <a:buNone/>
            </a:pPr>
            <a:r>
              <a:rPr lang="zh-CN" altLang="en-US">
                <a:latin typeface="Times New Roman" panose="02020603050405020304" pitchFamily="18" charset="0"/>
                <a:ea typeface="楷体_GB2312" pitchFamily="1" charset="-122"/>
              </a:rPr>
              <a:t>协助</a:t>
            </a:r>
            <a:r>
              <a:rPr lang="en-US" altLang="zh-CN">
                <a:latin typeface="Times New Roman" panose="02020603050405020304" pitchFamily="18" charset="0"/>
                <a:ea typeface="楷体_GB2312" pitchFamily="1" charset="-122"/>
              </a:rPr>
              <a:t>ALU</a:t>
            </a:r>
            <a:r>
              <a:rPr lang="zh-CN" altLang="en-US">
                <a:latin typeface="Times New Roman" panose="02020603050405020304" pitchFamily="18" charset="0"/>
                <a:ea typeface="楷体_GB2312" pitchFamily="1" charset="-122"/>
              </a:rPr>
              <a:t>完成运算，暂存参加运算的数据。</a:t>
            </a:r>
          </a:p>
        </p:txBody>
      </p:sp>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AC3087A-1EC5-B129-9774-6B45F9CBBC2D}"/>
              </a:ext>
            </a:extLst>
          </p:cNvPr>
          <p:cNvSpPr>
            <a:spLocks noGrp="1" noChangeArrowheads="1"/>
          </p:cNvSpPr>
          <p:nvPr>
            <p:ph type="title"/>
          </p:nvPr>
        </p:nvSpPr>
        <p:spPr/>
        <p:txBody>
          <a:bodyPr/>
          <a:lstStyle/>
          <a:p>
            <a:pPr algn="ctr" eaLnBrk="1" hangingPunct="1">
              <a:defRPr/>
            </a:pP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5)EU</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控制电路</a:t>
            </a:r>
          </a:p>
        </p:txBody>
      </p:sp>
      <p:sp>
        <p:nvSpPr>
          <p:cNvPr id="18435" name="Rectangle 3">
            <a:extLst>
              <a:ext uri="{FF2B5EF4-FFF2-40B4-BE49-F238E27FC236}">
                <a16:creationId xmlns:a16="http://schemas.microsoft.com/office/drawing/2014/main" id="{A4FCAF4C-8FD5-C1A8-89B3-60F3546ADA7B}"/>
              </a:ext>
            </a:extLst>
          </p:cNvPr>
          <p:cNvSpPr>
            <a:spLocks noGrp="1" noChangeArrowheads="1"/>
          </p:cNvSpPr>
          <p:nvPr>
            <p:ph idx="1"/>
          </p:nvPr>
        </p:nvSpPr>
        <p:spPr/>
        <p:txBody>
          <a:bodyPr/>
          <a:lstStyle/>
          <a:p>
            <a:pPr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它是控制、定时与状态逻辑电路，接收从</a:t>
            </a:r>
            <a:r>
              <a:rPr lang="en-US" altLang="zh-CN">
                <a:latin typeface="Times New Roman" panose="02020603050405020304" pitchFamily="18" charset="0"/>
                <a:ea typeface="楷体_GB2312" pitchFamily="1" charset="-122"/>
              </a:rPr>
              <a:t>BIU</a:t>
            </a:r>
            <a:r>
              <a:rPr lang="zh-CN" altLang="en-US">
                <a:latin typeface="Times New Roman" panose="02020603050405020304" pitchFamily="18" charset="0"/>
                <a:ea typeface="楷体_GB2312" pitchFamily="1" charset="-122"/>
              </a:rPr>
              <a:t>中指令队列取来的指令，经过指令译码形成各种定时控制信号，对</a:t>
            </a:r>
            <a:r>
              <a:rPr lang="en-US" altLang="zh-CN">
                <a:latin typeface="Times New Roman" panose="02020603050405020304" pitchFamily="18" charset="0"/>
                <a:ea typeface="楷体_GB2312" pitchFamily="1" charset="-122"/>
              </a:rPr>
              <a:t>EU</a:t>
            </a:r>
            <a:r>
              <a:rPr lang="zh-CN" altLang="en-US">
                <a:latin typeface="Times New Roman" panose="02020603050405020304" pitchFamily="18" charset="0"/>
                <a:ea typeface="楷体_GB2312" pitchFamily="1" charset="-122"/>
              </a:rPr>
              <a:t>的各个部件实现特定的定时操作。</a:t>
            </a:r>
          </a:p>
          <a:p>
            <a:pPr eaLnBrk="1" hangingPunct="1">
              <a:buFont typeface="Wingdings" panose="05000000000000000000" pitchFamily="2" charset="2"/>
              <a:buChar char="Ø"/>
            </a:pPr>
            <a:r>
              <a:rPr lang="en-US" altLang="zh-CN">
                <a:latin typeface="Times New Roman" panose="02020603050405020304" pitchFamily="18" charset="0"/>
                <a:ea typeface="楷体_GB2312" pitchFamily="1" charset="-122"/>
              </a:rPr>
              <a:t>EU</a:t>
            </a:r>
            <a:r>
              <a:rPr lang="zh-CN" altLang="en-US">
                <a:latin typeface="Times New Roman" panose="02020603050405020304" pitchFamily="18" charset="0"/>
                <a:ea typeface="楷体_GB2312" pitchFamily="1" charset="-122"/>
              </a:rPr>
              <a:t>中所有的寄存器和数据通道</a:t>
            </a:r>
            <a:r>
              <a:rPr lang="en-US" altLang="zh-CN">
                <a:latin typeface="Times New Roman" panose="02020603050405020304" pitchFamily="18" charset="0"/>
                <a:ea typeface="楷体_GB2312" pitchFamily="1" charset="-122"/>
              </a:rPr>
              <a:t>(</a:t>
            </a:r>
            <a:r>
              <a:rPr lang="zh-CN" altLang="en-US">
                <a:latin typeface="Times New Roman" panose="02020603050405020304" pitchFamily="18" charset="0"/>
                <a:ea typeface="楷体_GB2312" pitchFamily="1" charset="-122"/>
              </a:rPr>
              <a:t>除指令队列总线为</a:t>
            </a:r>
            <a:r>
              <a:rPr lang="en-US" altLang="zh-CN">
                <a:latin typeface="Times New Roman" panose="02020603050405020304" pitchFamily="18" charset="0"/>
                <a:ea typeface="楷体_GB2312" pitchFamily="1" charset="-122"/>
              </a:rPr>
              <a:t>8</a:t>
            </a:r>
            <a:r>
              <a:rPr lang="zh-CN" altLang="en-US">
                <a:latin typeface="Times New Roman" panose="02020603050405020304" pitchFamily="18" charset="0"/>
                <a:ea typeface="楷体_GB2312" pitchFamily="1" charset="-122"/>
              </a:rPr>
              <a:t>位外</a:t>
            </a:r>
            <a:r>
              <a:rPr lang="en-US" altLang="zh-CN">
                <a:latin typeface="Times New Roman" panose="02020603050405020304" pitchFamily="18" charset="0"/>
                <a:ea typeface="楷体_GB2312" pitchFamily="1" charset="-122"/>
              </a:rPr>
              <a:t>)</a:t>
            </a:r>
            <a:r>
              <a:rPr lang="zh-CN" altLang="en-US">
                <a:latin typeface="Times New Roman" panose="02020603050405020304" pitchFamily="18" charset="0"/>
                <a:ea typeface="楷体_GB2312" pitchFamily="1" charset="-122"/>
              </a:rPr>
              <a:t>都是</a:t>
            </a:r>
            <a:r>
              <a:rPr lang="en-US" altLang="zh-CN">
                <a:latin typeface="Times New Roman" panose="02020603050405020304" pitchFamily="18" charset="0"/>
                <a:ea typeface="楷体_GB2312" pitchFamily="1" charset="-122"/>
              </a:rPr>
              <a:t>16</a:t>
            </a:r>
            <a:r>
              <a:rPr lang="zh-CN" altLang="en-US">
                <a:latin typeface="Times New Roman" panose="02020603050405020304" pitchFamily="18" charset="0"/>
                <a:ea typeface="楷体_GB2312" pitchFamily="1" charset="-122"/>
              </a:rPr>
              <a:t>位的宽度，可实现数据的快速传送。</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p:cTn id="7" dur="500" fill="hold"/>
                                        <p:tgtEl>
                                          <p:spTgt spid="1843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843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8435">
                                            <p:txEl>
                                              <p:pRg st="1" end="1"/>
                                            </p:txEl>
                                          </p:spTgt>
                                        </p:tgtEl>
                                        <p:attrNameLst>
                                          <p:attrName>style.visibility</p:attrName>
                                        </p:attrNameLst>
                                      </p:cBhvr>
                                      <p:to>
                                        <p:strVal val="visible"/>
                                      </p:to>
                                    </p:set>
                                    <p:anim calcmode="lin" valueType="num">
                                      <p:cBhvr>
                                        <p:cTn id="13" dur="500" fill="hold"/>
                                        <p:tgtEl>
                                          <p:spTgt spid="18435">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18435">
                                            <p:txEl>
                                              <p:pRg st="1" end="1"/>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4F73B14-1AE4-7815-7F5D-5EDECD150572}"/>
              </a:ext>
            </a:extLst>
          </p:cNvPr>
          <p:cNvSpPr>
            <a:spLocks noGrp="1" noChangeArrowheads="1"/>
          </p:cNvSpPr>
          <p:nvPr>
            <p:ph type="title"/>
          </p:nvPr>
        </p:nvSpPr>
        <p:spPr>
          <a:xfrm>
            <a:off x="1150938" y="431800"/>
            <a:ext cx="7793037" cy="817563"/>
          </a:xfrm>
        </p:spPr>
        <p:txBody>
          <a:bodyPr/>
          <a:lstStyle/>
          <a:p>
            <a:pPr algn="ctr" eaLnBrk="1" hangingPunct="1">
              <a:defRPr/>
            </a:pP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3.BIU</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和</a:t>
            </a: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EU</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的流水线管理</a:t>
            </a:r>
            <a:r>
              <a:rPr lang="zh-CN" altLang="en-US" b="1">
                <a:solidFill>
                  <a:schemeClr val="tx1"/>
                </a:solidFill>
                <a:latin typeface="Times New Roman" panose="02020603050405020304" pitchFamily="18" charset="0"/>
              </a:rPr>
              <a:t> </a:t>
            </a:r>
          </a:p>
        </p:txBody>
      </p:sp>
      <p:sp>
        <p:nvSpPr>
          <p:cNvPr id="19459" name="Rectangle 3">
            <a:extLst>
              <a:ext uri="{FF2B5EF4-FFF2-40B4-BE49-F238E27FC236}">
                <a16:creationId xmlns:a16="http://schemas.microsoft.com/office/drawing/2014/main" id="{F71C1B7E-DE49-B39C-6CF0-F6A69DE951E9}"/>
              </a:ext>
            </a:extLst>
          </p:cNvPr>
          <p:cNvSpPr>
            <a:spLocks noGrp="1" noChangeArrowheads="1"/>
          </p:cNvSpPr>
          <p:nvPr>
            <p:ph idx="1"/>
          </p:nvPr>
        </p:nvSpPr>
        <p:spPr>
          <a:xfrm>
            <a:off x="395288" y="1700213"/>
            <a:ext cx="8208962" cy="5157787"/>
          </a:xfrm>
        </p:spPr>
        <p:txBody>
          <a:bodyPr/>
          <a:lstStyle/>
          <a:p>
            <a:pPr marL="0" indent="0" eaLnBrk="1" hangingPunct="1">
              <a:lnSpc>
                <a:spcPct val="120000"/>
              </a:lnSpc>
              <a:buFont typeface="Wingdings" panose="05000000000000000000" pitchFamily="2" charset="2"/>
              <a:buNone/>
            </a:pPr>
            <a:r>
              <a:rPr lang="en-US" altLang="zh-CN" sz="2400">
                <a:latin typeface="Times New Roman" panose="02020603050405020304" pitchFamily="18" charset="0"/>
                <a:ea typeface="楷体_GB2312" pitchFamily="1" charset="-122"/>
              </a:rPr>
              <a:t>(1)</a:t>
            </a:r>
            <a:r>
              <a:rPr lang="zh-CN" altLang="en-US" sz="2400">
                <a:latin typeface="Times New Roman" panose="02020603050405020304" pitchFamily="18" charset="0"/>
                <a:ea typeface="楷体_GB2312" pitchFamily="1" charset="-122"/>
              </a:rPr>
              <a:t>每当</a:t>
            </a:r>
            <a:r>
              <a:rPr lang="en-US" altLang="zh-CN" sz="2400">
                <a:latin typeface="Times New Roman" panose="02020603050405020304" pitchFamily="18" charset="0"/>
                <a:ea typeface="楷体_GB2312" pitchFamily="1" charset="-122"/>
              </a:rPr>
              <a:t>8086</a:t>
            </a:r>
            <a:r>
              <a:rPr lang="zh-CN" altLang="en-US" sz="2400">
                <a:latin typeface="Times New Roman" panose="02020603050405020304" pitchFamily="18" charset="0"/>
                <a:ea typeface="楷体_GB2312" pitchFamily="1" charset="-122"/>
              </a:rPr>
              <a:t>的指令队列中有</a:t>
            </a:r>
            <a:r>
              <a:rPr lang="en-US" altLang="zh-CN" sz="2400" b="1">
                <a:solidFill>
                  <a:schemeClr val="folHlink"/>
                </a:solidFill>
                <a:latin typeface="Times New Roman" panose="02020603050405020304" pitchFamily="18" charset="0"/>
                <a:ea typeface="楷体_GB2312" pitchFamily="1" charset="-122"/>
              </a:rPr>
              <a:t>2</a:t>
            </a:r>
            <a:r>
              <a:rPr lang="zh-CN" altLang="en-US" sz="2400" b="1">
                <a:solidFill>
                  <a:schemeClr val="folHlink"/>
                </a:solidFill>
                <a:latin typeface="Times New Roman" panose="02020603050405020304" pitchFamily="18" charset="0"/>
                <a:ea typeface="楷体_GB2312" pitchFamily="1" charset="-122"/>
              </a:rPr>
              <a:t>个空字节</a:t>
            </a:r>
            <a:r>
              <a:rPr lang="zh-CN" altLang="en-US" sz="2400">
                <a:latin typeface="Times New Roman" panose="02020603050405020304" pitchFamily="18" charset="0"/>
                <a:ea typeface="楷体_GB2312" pitchFamily="1" charset="-122"/>
              </a:rPr>
              <a:t>或</a:t>
            </a:r>
            <a:r>
              <a:rPr lang="en-US" altLang="zh-CN" sz="2400">
                <a:latin typeface="Times New Roman" panose="02020603050405020304" pitchFamily="18" charset="0"/>
                <a:ea typeface="楷体_GB2312" pitchFamily="1" charset="-122"/>
              </a:rPr>
              <a:t>8088</a:t>
            </a:r>
            <a:r>
              <a:rPr lang="zh-CN" altLang="en-US" sz="2400">
                <a:latin typeface="Times New Roman" panose="02020603050405020304" pitchFamily="18" charset="0"/>
                <a:ea typeface="楷体_GB2312" pitchFamily="1" charset="-122"/>
              </a:rPr>
              <a:t>的指令队列有</a:t>
            </a:r>
            <a:r>
              <a:rPr lang="en-US" altLang="zh-CN" sz="2400">
                <a:latin typeface="Times New Roman" panose="02020603050405020304" pitchFamily="18" charset="0"/>
                <a:ea typeface="楷体_GB2312" pitchFamily="1" charset="-122"/>
              </a:rPr>
              <a:t>1</a:t>
            </a:r>
            <a:r>
              <a:rPr lang="zh-CN" altLang="en-US" sz="2400" b="1">
                <a:solidFill>
                  <a:schemeClr val="folHlink"/>
                </a:solidFill>
                <a:latin typeface="Times New Roman" panose="02020603050405020304" pitchFamily="18" charset="0"/>
                <a:ea typeface="楷体_GB2312" pitchFamily="1" charset="-122"/>
              </a:rPr>
              <a:t>个空字节</a:t>
            </a:r>
            <a:r>
              <a:rPr lang="zh-CN" altLang="en-US" sz="2400">
                <a:latin typeface="Times New Roman" panose="02020603050405020304" pitchFamily="18" charset="0"/>
                <a:ea typeface="楷体_GB2312" pitchFamily="1" charset="-122"/>
              </a:rPr>
              <a:t>，</a:t>
            </a:r>
            <a:r>
              <a:rPr lang="en-US" altLang="zh-CN" sz="2400">
                <a:latin typeface="Times New Roman" panose="02020603050405020304" pitchFamily="18" charset="0"/>
                <a:ea typeface="楷体_GB2312" pitchFamily="1" charset="-122"/>
              </a:rPr>
              <a:t>BIU</a:t>
            </a:r>
            <a:r>
              <a:rPr lang="zh-CN" altLang="en-US" sz="2400">
                <a:latin typeface="Times New Roman" panose="02020603050405020304" pitchFamily="18" charset="0"/>
                <a:ea typeface="楷体_GB2312" pitchFamily="1" charset="-122"/>
              </a:rPr>
              <a:t>就会自动把后面的指令从存储器取到指令队列中，从而提高了</a:t>
            </a:r>
            <a:r>
              <a:rPr lang="en-US" altLang="zh-CN" sz="2400">
                <a:latin typeface="Times New Roman" panose="02020603050405020304" pitchFamily="18" charset="0"/>
                <a:ea typeface="楷体_GB2312" pitchFamily="1" charset="-122"/>
              </a:rPr>
              <a:t>CPU</a:t>
            </a:r>
            <a:r>
              <a:rPr lang="zh-CN" altLang="en-US" sz="2400">
                <a:latin typeface="Times New Roman" panose="02020603050405020304" pitchFamily="18" charset="0"/>
                <a:ea typeface="楷体_GB2312" pitchFamily="1" charset="-122"/>
              </a:rPr>
              <a:t>执行指令的速度。</a:t>
            </a:r>
          </a:p>
          <a:p>
            <a:pPr marL="0" indent="0" eaLnBrk="1" hangingPunct="1">
              <a:lnSpc>
                <a:spcPct val="120000"/>
              </a:lnSpc>
              <a:buFont typeface="Wingdings" panose="05000000000000000000" pitchFamily="2" charset="2"/>
              <a:buNone/>
            </a:pPr>
            <a:r>
              <a:rPr lang="en-US" altLang="zh-CN" sz="2400">
                <a:latin typeface="Times New Roman" panose="02020603050405020304" pitchFamily="18" charset="0"/>
                <a:ea typeface="楷体_GB2312" pitchFamily="1" charset="-122"/>
              </a:rPr>
              <a:t>(2)</a:t>
            </a:r>
            <a:r>
              <a:rPr lang="zh-CN" altLang="en-US" sz="2400">
                <a:latin typeface="Times New Roman" panose="02020603050405020304" pitchFamily="18" charset="0"/>
                <a:ea typeface="楷体_GB2312" pitchFamily="1" charset="-122"/>
              </a:rPr>
              <a:t>每当</a:t>
            </a:r>
            <a:r>
              <a:rPr lang="en-US" altLang="zh-CN" sz="2400">
                <a:latin typeface="Times New Roman" panose="02020603050405020304" pitchFamily="18" charset="0"/>
                <a:ea typeface="楷体_GB2312" pitchFamily="1" charset="-122"/>
              </a:rPr>
              <a:t>EU</a:t>
            </a:r>
            <a:r>
              <a:rPr lang="zh-CN" altLang="en-US" sz="2400">
                <a:latin typeface="Times New Roman" panose="02020603050405020304" pitchFamily="18" charset="0"/>
                <a:ea typeface="楷体_GB2312" pitchFamily="1" charset="-122"/>
              </a:rPr>
              <a:t>准备执行一条指令时，它会从指令队列前部取出指令，进行译码，然后去执行。在执行指令时，如果必须访问存储器或</a:t>
            </a:r>
            <a:r>
              <a:rPr lang="en-US" altLang="zh-CN" sz="2400">
                <a:latin typeface="Times New Roman" panose="02020603050405020304" pitchFamily="18" charset="0"/>
                <a:ea typeface="楷体_GB2312" pitchFamily="1" charset="-122"/>
              </a:rPr>
              <a:t>I/O</a:t>
            </a:r>
            <a:r>
              <a:rPr lang="zh-CN" altLang="en-US" sz="2400">
                <a:latin typeface="Times New Roman" panose="02020603050405020304" pitchFamily="18" charset="0"/>
                <a:ea typeface="楷体_GB2312" pitchFamily="1" charset="-122"/>
              </a:rPr>
              <a:t>端口，</a:t>
            </a:r>
            <a:r>
              <a:rPr lang="en-US" altLang="zh-CN" sz="2400">
                <a:latin typeface="Times New Roman" panose="02020603050405020304" pitchFamily="18" charset="0"/>
                <a:ea typeface="楷体_GB2312" pitchFamily="1" charset="-122"/>
              </a:rPr>
              <a:t>EU</a:t>
            </a:r>
            <a:r>
              <a:rPr lang="zh-CN" altLang="en-US" sz="2400">
                <a:latin typeface="Times New Roman" panose="02020603050405020304" pitchFamily="18" charset="0"/>
                <a:ea typeface="楷体_GB2312" pitchFamily="1" charset="-122"/>
              </a:rPr>
              <a:t>就会请求</a:t>
            </a:r>
            <a:r>
              <a:rPr lang="en-US" altLang="zh-CN" sz="2400">
                <a:latin typeface="Times New Roman" panose="02020603050405020304" pitchFamily="18" charset="0"/>
                <a:ea typeface="楷体_GB2312" pitchFamily="1" charset="-122"/>
              </a:rPr>
              <a:t>BIU</a:t>
            </a:r>
            <a:r>
              <a:rPr lang="zh-CN" altLang="en-US" sz="2400">
                <a:latin typeface="Times New Roman" panose="02020603050405020304" pitchFamily="18" charset="0"/>
                <a:ea typeface="楷体_GB2312" pitchFamily="1" charset="-122"/>
              </a:rPr>
              <a:t>去完成访问外部的操作，如果此时</a:t>
            </a:r>
            <a:r>
              <a:rPr lang="en-US" altLang="zh-CN" sz="2400">
                <a:latin typeface="Times New Roman" panose="02020603050405020304" pitchFamily="18" charset="0"/>
                <a:ea typeface="楷体_GB2312" pitchFamily="1" charset="-122"/>
              </a:rPr>
              <a:t>BIU</a:t>
            </a:r>
            <a:r>
              <a:rPr lang="zh-CN" altLang="en-US" sz="2400">
                <a:latin typeface="Times New Roman" panose="02020603050405020304" pitchFamily="18" charset="0"/>
                <a:ea typeface="楷体_GB2312" pitchFamily="1" charset="-122"/>
              </a:rPr>
              <a:t>正好处于空闲状态，那么会立即响应</a:t>
            </a:r>
            <a:r>
              <a:rPr lang="en-US" altLang="zh-CN" sz="2400">
                <a:latin typeface="Times New Roman" panose="02020603050405020304" pitchFamily="18" charset="0"/>
                <a:ea typeface="楷体_GB2312" pitchFamily="1" charset="-122"/>
              </a:rPr>
              <a:t>EU</a:t>
            </a:r>
            <a:r>
              <a:rPr lang="zh-CN" altLang="en-US" sz="2400">
                <a:latin typeface="Times New Roman" panose="02020603050405020304" pitchFamily="18" charset="0"/>
                <a:ea typeface="楷体_GB2312" pitchFamily="1" charset="-122"/>
              </a:rPr>
              <a:t>的请求。若</a:t>
            </a:r>
            <a:r>
              <a:rPr lang="en-US" altLang="zh-CN" sz="2400">
                <a:latin typeface="Times New Roman" panose="02020603050405020304" pitchFamily="18" charset="0"/>
                <a:ea typeface="楷体_GB2312" pitchFamily="1" charset="-122"/>
              </a:rPr>
              <a:t>EU</a:t>
            </a:r>
            <a:r>
              <a:rPr lang="zh-CN" altLang="en-US" sz="2400">
                <a:latin typeface="Times New Roman" panose="02020603050405020304" pitchFamily="18" charset="0"/>
                <a:ea typeface="楷体_GB2312" pitchFamily="1" charset="-122"/>
              </a:rPr>
              <a:t>向</a:t>
            </a:r>
            <a:r>
              <a:rPr lang="en-US" altLang="zh-CN" sz="2400">
                <a:latin typeface="Times New Roman" panose="02020603050405020304" pitchFamily="18" charset="0"/>
                <a:ea typeface="楷体_GB2312" pitchFamily="1" charset="-122"/>
              </a:rPr>
              <a:t>BIU</a:t>
            </a:r>
            <a:r>
              <a:rPr lang="zh-CN" altLang="en-US" sz="2400">
                <a:latin typeface="Times New Roman" panose="02020603050405020304" pitchFamily="18" charset="0"/>
                <a:ea typeface="楷体_GB2312" pitchFamily="1" charset="-122"/>
              </a:rPr>
              <a:t>发出请求访问时，</a:t>
            </a:r>
            <a:r>
              <a:rPr lang="en-US" altLang="zh-CN" sz="2400">
                <a:latin typeface="Times New Roman" panose="02020603050405020304" pitchFamily="18" charset="0"/>
                <a:ea typeface="楷体_GB2312" pitchFamily="1" charset="-122"/>
              </a:rPr>
              <a:t>BIU</a:t>
            </a:r>
            <a:r>
              <a:rPr lang="zh-CN" altLang="en-US" sz="2400">
                <a:latin typeface="Times New Roman" panose="02020603050405020304" pitchFamily="18" charset="0"/>
                <a:ea typeface="楷体_GB2312" pitchFamily="1" charset="-122"/>
              </a:rPr>
              <a:t>正在将某条指令取到指令队列中，此时</a:t>
            </a:r>
            <a:r>
              <a:rPr lang="en-US" altLang="zh-CN" sz="2400">
                <a:latin typeface="Times New Roman" panose="02020603050405020304" pitchFamily="18" charset="0"/>
                <a:ea typeface="楷体_GB2312" pitchFamily="1" charset="-122"/>
              </a:rPr>
              <a:t>BIU</a:t>
            </a:r>
            <a:r>
              <a:rPr lang="zh-CN" altLang="en-US" sz="2400">
                <a:latin typeface="Times New Roman" panose="02020603050405020304" pitchFamily="18" charset="0"/>
                <a:ea typeface="楷体_GB2312" pitchFamily="1" charset="-122"/>
              </a:rPr>
              <a:t>首先完成取指令操作，然后再去响应</a:t>
            </a:r>
            <a:r>
              <a:rPr lang="en-US" altLang="zh-CN" sz="2400">
                <a:latin typeface="Times New Roman" panose="02020603050405020304" pitchFamily="18" charset="0"/>
                <a:ea typeface="楷体_GB2312" pitchFamily="1" charset="-122"/>
              </a:rPr>
              <a:t>EU</a:t>
            </a:r>
            <a:r>
              <a:rPr lang="zh-CN" altLang="en-US" sz="2400">
                <a:latin typeface="Times New Roman" panose="02020603050405020304" pitchFamily="18" charset="0"/>
                <a:ea typeface="楷体_GB2312" pitchFamily="1" charset="-122"/>
              </a:rPr>
              <a:t>发出的访问外界的请求。</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slide(fromBottom)">
                                      <p:cBhvr>
                                        <p:cTn id="7" dur="500"/>
                                        <p:tgtEl>
                                          <p:spTgt spid="194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slide(fromBottom)">
                                      <p:cBhvr>
                                        <p:cTn id="12" dur="500"/>
                                        <p:tgtEl>
                                          <p:spTgt spid="194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B614B3B6-45F1-506F-27BB-001766B887E6}"/>
              </a:ext>
            </a:extLst>
          </p:cNvPr>
          <p:cNvSpPr>
            <a:spLocks noGrp="1" noChangeArrowheads="1"/>
          </p:cNvSpPr>
          <p:nvPr>
            <p:ph type="title"/>
          </p:nvPr>
        </p:nvSpPr>
        <p:spPr/>
        <p:txBody>
          <a:bodyPr/>
          <a:lstStyle/>
          <a:p>
            <a:pPr algn="ctr" eaLnBrk="1" hangingPunct="1">
              <a:defRPr/>
            </a:pP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3.BIU</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和</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EU</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的流水线管理</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续</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a:t>
            </a:r>
          </a:p>
        </p:txBody>
      </p:sp>
      <p:sp>
        <p:nvSpPr>
          <p:cNvPr id="20483" name="Rectangle 3">
            <a:extLst>
              <a:ext uri="{FF2B5EF4-FFF2-40B4-BE49-F238E27FC236}">
                <a16:creationId xmlns:a16="http://schemas.microsoft.com/office/drawing/2014/main" id="{F8586957-AABE-0962-E42E-B67C37F2129D}"/>
              </a:ext>
            </a:extLst>
          </p:cNvPr>
          <p:cNvSpPr>
            <a:spLocks noGrp="1" noChangeArrowheads="1"/>
          </p:cNvSpPr>
          <p:nvPr>
            <p:ph idx="1"/>
          </p:nvPr>
        </p:nvSpPr>
        <p:spPr/>
        <p:txBody>
          <a:bodyPr/>
          <a:lstStyle/>
          <a:p>
            <a:pPr eaLnBrk="1" hangingPunct="1">
              <a:buFont typeface="Wingdings" panose="05000000000000000000" pitchFamily="2" charset="2"/>
              <a:buNone/>
            </a:pPr>
            <a:r>
              <a:rPr lang="en-US" altLang="zh-CN">
                <a:latin typeface="Times New Roman" panose="02020603050405020304" pitchFamily="18" charset="0"/>
                <a:ea typeface="楷体_GB2312" pitchFamily="1" charset="-122"/>
              </a:rPr>
              <a:t>(3)</a:t>
            </a:r>
            <a:r>
              <a:rPr lang="zh-CN" altLang="en-US">
                <a:latin typeface="Times New Roman" panose="02020603050405020304" pitchFamily="18" charset="0"/>
                <a:ea typeface="楷体_GB2312" pitchFamily="1" charset="-122"/>
              </a:rPr>
              <a:t>当指令队列已满，且</a:t>
            </a:r>
            <a:r>
              <a:rPr lang="en-US" altLang="zh-CN">
                <a:latin typeface="Times New Roman" panose="02020603050405020304" pitchFamily="18" charset="0"/>
                <a:ea typeface="楷体_GB2312" pitchFamily="1" charset="-122"/>
              </a:rPr>
              <a:t>EU</a:t>
            </a:r>
            <a:r>
              <a:rPr lang="zh-CN" altLang="en-US">
                <a:latin typeface="Times New Roman" panose="02020603050405020304" pitchFamily="18" charset="0"/>
                <a:ea typeface="楷体_GB2312" pitchFamily="1" charset="-122"/>
              </a:rPr>
              <a:t>对</a:t>
            </a:r>
            <a:r>
              <a:rPr lang="en-US" altLang="zh-CN">
                <a:latin typeface="Times New Roman" panose="02020603050405020304" pitchFamily="18" charset="0"/>
                <a:ea typeface="楷体_GB2312" pitchFamily="1" charset="-122"/>
              </a:rPr>
              <a:t>BIU</a:t>
            </a:r>
            <a:r>
              <a:rPr lang="zh-CN" altLang="en-US">
                <a:latin typeface="Times New Roman" panose="02020603050405020304" pitchFamily="18" charset="0"/>
                <a:ea typeface="楷体_GB2312" pitchFamily="1" charset="-122"/>
              </a:rPr>
              <a:t>又没有总线访问请求时，</a:t>
            </a:r>
            <a:r>
              <a:rPr lang="en-US" altLang="zh-CN">
                <a:latin typeface="Times New Roman" panose="02020603050405020304" pitchFamily="18" charset="0"/>
                <a:ea typeface="楷体_GB2312" pitchFamily="1" charset="-122"/>
              </a:rPr>
              <a:t>BIU</a:t>
            </a:r>
            <a:r>
              <a:rPr lang="zh-CN" altLang="en-US">
                <a:latin typeface="Times New Roman" panose="02020603050405020304" pitchFamily="18" charset="0"/>
                <a:ea typeface="楷体_GB2312" pitchFamily="1" charset="-122"/>
              </a:rPr>
              <a:t>进入</a:t>
            </a:r>
            <a:r>
              <a:rPr lang="zh-CN" altLang="en-US" b="1">
                <a:solidFill>
                  <a:schemeClr val="folHlink"/>
                </a:solidFill>
                <a:latin typeface="Times New Roman" panose="02020603050405020304" pitchFamily="18" charset="0"/>
                <a:ea typeface="楷体_GB2312" pitchFamily="1" charset="-122"/>
              </a:rPr>
              <a:t>空闲状态</a:t>
            </a:r>
            <a:r>
              <a:rPr lang="zh-CN" altLang="en-US">
                <a:latin typeface="Times New Roman" panose="02020603050405020304" pitchFamily="18" charset="0"/>
                <a:ea typeface="楷体_GB2312" pitchFamily="1" charset="-122"/>
              </a:rPr>
              <a:t>。</a:t>
            </a:r>
          </a:p>
          <a:p>
            <a:pPr eaLnBrk="1" hangingPunct="1">
              <a:buFont typeface="Wingdings" panose="05000000000000000000" pitchFamily="2" charset="2"/>
              <a:buNone/>
            </a:pPr>
            <a:r>
              <a:rPr lang="en-US" altLang="zh-CN">
                <a:latin typeface="Times New Roman" panose="02020603050405020304" pitchFamily="18" charset="0"/>
                <a:ea typeface="楷体_GB2312" pitchFamily="1" charset="-122"/>
              </a:rPr>
              <a:t>(4)</a:t>
            </a:r>
            <a:r>
              <a:rPr lang="zh-CN" altLang="en-US" b="1">
                <a:solidFill>
                  <a:schemeClr val="folHlink"/>
                </a:solidFill>
                <a:latin typeface="Times New Roman" panose="02020603050405020304" pitchFamily="18" charset="0"/>
                <a:ea typeface="楷体_GB2312" pitchFamily="1" charset="-122"/>
              </a:rPr>
              <a:t>在执行转移指令、调用指令和返回指令时</a:t>
            </a:r>
            <a:r>
              <a:rPr lang="zh-CN" altLang="en-US">
                <a:latin typeface="Times New Roman" panose="02020603050405020304" pitchFamily="18" charset="0"/>
                <a:ea typeface="楷体_GB2312" pitchFamily="1" charset="-122"/>
              </a:rPr>
              <a:t>，如果要执行的指令不在指令队列中，则指令队列中原有内容被自动清除，</a:t>
            </a:r>
            <a:r>
              <a:rPr lang="en-US" altLang="zh-CN">
                <a:latin typeface="Times New Roman" panose="02020603050405020304" pitchFamily="18" charset="0"/>
                <a:ea typeface="楷体_GB2312" pitchFamily="1" charset="-122"/>
              </a:rPr>
              <a:t>BIU</a:t>
            </a:r>
            <a:r>
              <a:rPr lang="zh-CN" altLang="en-US">
                <a:latin typeface="Times New Roman" panose="02020603050405020304" pitchFamily="18" charset="0"/>
                <a:ea typeface="楷体_GB2312" pitchFamily="1" charset="-122"/>
              </a:rPr>
              <a:t>会重新取指令，把将要转入的程序段的指令装入到指令队列中。 </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p:cTn id="7" dur="500" fill="hold"/>
                                        <p:tgtEl>
                                          <p:spTgt spid="2048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0483">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p:cTn id="13" dur="500" fill="hold"/>
                                        <p:tgtEl>
                                          <p:spTgt spid="2048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20483">
                                            <p:txEl>
                                              <p:pRg st="1" end="1"/>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EE911F4-BF14-F9C9-8958-C209AB7C3028}"/>
              </a:ext>
            </a:extLst>
          </p:cNvPr>
          <p:cNvSpPr>
            <a:spLocks noGrp="1" noChangeArrowheads="1"/>
          </p:cNvSpPr>
          <p:nvPr>
            <p:ph type="title"/>
          </p:nvPr>
        </p:nvSpPr>
        <p:spPr/>
        <p:txBody>
          <a:bodyPr/>
          <a:lstStyle/>
          <a:p>
            <a:pPr algn="ctr" eaLnBrk="1" hangingPunct="1">
              <a:defRPr/>
            </a:pP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2.1.2  8086/8088 CPU</a:t>
            </a:r>
            <a:r>
              <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的寄存器结构</a:t>
            </a:r>
          </a:p>
        </p:txBody>
      </p:sp>
      <p:graphicFrame>
        <p:nvGraphicFramePr>
          <p:cNvPr id="32770" name="Object 3">
            <a:extLst>
              <a:ext uri="{FF2B5EF4-FFF2-40B4-BE49-F238E27FC236}">
                <a16:creationId xmlns:a16="http://schemas.microsoft.com/office/drawing/2014/main" id="{EE6661A8-CE77-E503-039B-5699FF4DDD91}"/>
              </a:ext>
            </a:extLst>
          </p:cNvPr>
          <p:cNvGraphicFramePr>
            <a:graphicFrameLocks noChangeAspect="1"/>
          </p:cNvGraphicFramePr>
          <p:nvPr/>
        </p:nvGraphicFramePr>
        <p:xfrm>
          <a:off x="1692275" y="1628775"/>
          <a:ext cx="5973763" cy="4746625"/>
        </p:xfrm>
        <a:graphic>
          <a:graphicData uri="http://schemas.openxmlformats.org/presentationml/2006/ole">
            <mc:AlternateContent xmlns:mc="http://schemas.openxmlformats.org/markup-compatibility/2006">
              <mc:Choice xmlns:v="urn:schemas-microsoft-com:vml" Requires="v">
                <p:oleObj r:id="rId2" imgW="6857143" imgH="5447619" progId="PBrush">
                  <p:embed/>
                </p:oleObj>
              </mc:Choice>
              <mc:Fallback>
                <p:oleObj r:id="rId2" imgW="6857143" imgH="5447619" progId="PBrush">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1628775"/>
                        <a:ext cx="5973763" cy="474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B3A49F2-A2CB-BD93-816E-55E3B876673B}"/>
              </a:ext>
            </a:extLst>
          </p:cNvPr>
          <p:cNvSpPr>
            <a:spLocks noGrp="1" noChangeArrowheads="1"/>
          </p:cNvSpPr>
          <p:nvPr>
            <p:ph type="title"/>
          </p:nvPr>
        </p:nvSpPr>
        <p:spPr>
          <a:xfrm>
            <a:off x="1150938" y="550863"/>
            <a:ext cx="7793037" cy="658812"/>
          </a:xfrm>
        </p:spPr>
        <p:txBody>
          <a:bodyPr/>
          <a:lstStyle/>
          <a:p>
            <a:pPr algn="ctr" eaLnBrk="1" hangingPunct="1">
              <a:defRPr/>
            </a:pP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1.</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通用寄存器</a:t>
            </a:r>
            <a:r>
              <a:rPr lang="zh-CN" altLang="en-US" sz="4000" b="1">
                <a:solidFill>
                  <a:schemeClr val="tx1"/>
                </a:solidFill>
                <a:latin typeface="Times New Roman" panose="02020603050405020304" pitchFamily="18" charset="0"/>
              </a:rPr>
              <a:t> </a:t>
            </a:r>
          </a:p>
        </p:txBody>
      </p:sp>
      <p:sp>
        <p:nvSpPr>
          <p:cNvPr id="33794" name="Rectangle 3">
            <a:extLst>
              <a:ext uri="{FF2B5EF4-FFF2-40B4-BE49-F238E27FC236}">
                <a16:creationId xmlns:a16="http://schemas.microsoft.com/office/drawing/2014/main" id="{172D7487-6EA3-0BEC-0693-35156C181765}"/>
              </a:ext>
            </a:extLst>
          </p:cNvPr>
          <p:cNvSpPr>
            <a:spLocks noGrp="1" noChangeArrowheads="1"/>
          </p:cNvSpPr>
          <p:nvPr>
            <p:ph idx="1"/>
          </p:nvPr>
        </p:nvSpPr>
        <p:spPr>
          <a:xfrm>
            <a:off x="323850" y="1628775"/>
            <a:ext cx="8820150" cy="4751388"/>
          </a:xfrm>
        </p:spPr>
        <p:txBody>
          <a:bodyPr/>
          <a:lstStyle/>
          <a:p>
            <a:pPr marL="381000" indent="-381000" eaLnBrk="1" hangingPunct="1">
              <a:buFont typeface="Wingdings" panose="05000000000000000000" pitchFamily="2" charset="2"/>
              <a:buNone/>
            </a:pPr>
            <a:r>
              <a:rPr lang="zh-CN" altLang="en-US">
                <a:latin typeface="Times New Roman" panose="02020603050405020304" pitchFamily="18" charset="0"/>
                <a:ea typeface="楷体_GB2312" pitchFamily="1" charset="-122"/>
              </a:rPr>
              <a:t>分为：</a:t>
            </a:r>
          </a:p>
          <a:p>
            <a:pPr marL="800100" lvl="1" indent="-342900" eaLnBrk="1" hangingPunct="1"/>
            <a:r>
              <a:rPr lang="zh-CN" altLang="en-US" sz="3200">
                <a:latin typeface="Times New Roman" panose="02020603050405020304" pitchFamily="18" charset="0"/>
                <a:ea typeface="楷体_GB2312" pitchFamily="1" charset="-122"/>
              </a:rPr>
              <a:t>数据寄存器</a:t>
            </a:r>
          </a:p>
          <a:p>
            <a:pPr marL="800100" lvl="1" indent="-342900" eaLnBrk="1" hangingPunct="1"/>
            <a:r>
              <a:rPr lang="zh-CN" altLang="en-US" sz="3200">
                <a:latin typeface="Times New Roman" panose="02020603050405020304" pitchFamily="18" charset="0"/>
                <a:ea typeface="楷体_GB2312" pitchFamily="1" charset="-122"/>
              </a:rPr>
              <a:t>地址寄存器</a:t>
            </a:r>
            <a:endParaRPr lang="zh-CN" altLang="en-US" sz="3200">
              <a:latin typeface="Times New Roman" panose="02020603050405020304" pitchFamily="18" charset="0"/>
            </a:endParaRPr>
          </a:p>
        </p:txBody>
      </p:sp>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E7F564D-A226-8D4B-FD7D-B8498E91A3E4}"/>
              </a:ext>
            </a:extLst>
          </p:cNvPr>
          <p:cNvSpPr>
            <a:spLocks noGrp="1" noChangeArrowheads="1"/>
          </p:cNvSpPr>
          <p:nvPr>
            <p:ph type="title"/>
          </p:nvPr>
        </p:nvSpPr>
        <p:spPr>
          <a:xfrm>
            <a:off x="1150938" y="550863"/>
            <a:ext cx="7793037" cy="658812"/>
          </a:xfrm>
        </p:spPr>
        <p:txBody>
          <a:bodyPr/>
          <a:lstStyle/>
          <a:p>
            <a:pPr algn="ctr" eaLnBrk="1" hangingPunct="1">
              <a:defRPr/>
            </a:pP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1)</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数据寄存器</a:t>
            </a:r>
          </a:p>
        </p:txBody>
      </p:sp>
      <p:sp>
        <p:nvSpPr>
          <p:cNvPr id="23555" name="Rectangle 3">
            <a:extLst>
              <a:ext uri="{FF2B5EF4-FFF2-40B4-BE49-F238E27FC236}">
                <a16:creationId xmlns:a16="http://schemas.microsoft.com/office/drawing/2014/main" id="{7B901EBA-B929-9DF2-4A5D-1EAB0371D278}"/>
              </a:ext>
            </a:extLst>
          </p:cNvPr>
          <p:cNvSpPr>
            <a:spLocks noGrp="1" noChangeArrowheads="1"/>
          </p:cNvSpPr>
          <p:nvPr>
            <p:ph idx="1"/>
          </p:nvPr>
        </p:nvSpPr>
        <p:spPr>
          <a:xfrm>
            <a:off x="323850" y="1628775"/>
            <a:ext cx="8820150" cy="4751388"/>
          </a:xfrm>
        </p:spPr>
        <p:txBody>
          <a:bodyPr/>
          <a:lstStyle/>
          <a:p>
            <a:pPr marL="381000" indent="-381000" eaLnBrk="1" hangingPunct="1">
              <a:buFont typeface="Wingdings" panose="05000000000000000000" pitchFamily="2" charset="2"/>
              <a:buChar char="Ø"/>
            </a:pPr>
            <a:r>
              <a:rPr lang="en-US" altLang="zh-CN">
                <a:latin typeface="Times New Roman" panose="02020603050405020304" pitchFamily="18" charset="0"/>
                <a:ea typeface="楷体_GB2312" pitchFamily="1" charset="-122"/>
              </a:rPr>
              <a:t>EU</a:t>
            </a:r>
            <a:r>
              <a:rPr lang="zh-CN" altLang="en-US">
                <a:latin typeface="Times New Roman" panose="02020603050405020304" pitchFamily="18" charset="0"/>
                <a:ea typeface="楷体_GB2312" pitchFamily="1" charset="-122"/>
              </a:rPr>
              <a:t>中有</a:t>
            </a:r>
            <a:r>
              <a:rPr lang="en-US" altLang="zh-CN">
                <a:latin typeface="Times New Roman" panose="02020603050405020304" pitchFamily="18" charset="0"/>
                <a:ea typeface="楷体_GB2312" pitchFamily="1" charset="-122"/>
              </a:rPr>
              <a:t>4</a:t>
            </a:r>
            <a:r>
              <a:rPr lang="zh-CN" altLang="en-US">
                <a:latin typeface="Times New Roman" panose="02020603050405020304" pitchFamily="18" charset="0"/>
                <a:ea typeface="楷体_GB2312" pitchFamily="1" charset="-122"/>
              </a:rPr>
              <a:t>个</a:t>
            </a:r>
            <a:r>
              <a:rPr lang="en-US" altLang="zh-CN">
                <a:latin typeface="Times New Roman" panose="02020603050405020304" pitchFamily="18" charset="0"/>
                <a:ea typeface="楷体_GB2312" pitchFamily="1" charset="-122"/>
              </a:rPr>
              <a:t>16</a:t>
            </a:r>
            <a:r>
              <a:rPr lang="zh-CN" altLang="en-US">
                <a:latin typeface="Times New Roman" panose="02020603050405020304" pitchFamily="18" charset="0"/>
                <a:ea typeface="楷体_GB2312" pitchFamily="1" charset="-122"/>
              </a:rPr>
              <a:t>位的数据寄存器</a:t>
            </a:r>
            <a:r>
              <a:rPr lang="en-US" altLang="zh-CN">
                <a:latin typeface="Times New Roman" panose="02020603050405020304" pitchFamily="18" charset="0"/>
                <a:ea typeface="楷体_GB2312" pitchFamily="1" charset="-122"/>
              </a:rPr>
              <a:t>AX</a:t>
            </a:r>
            <a:r>
              <a:rPr lang="zh-CN" altLang="en-US">
                <a:latin typeface="Times New Roman" panose="02020603050405020304" pitchFamily="18" charset="0"/>
                <a:ea typeface="楷体_GB2312" pitchFamily="1" charset="-122"/>
              </a:rPr>
              <a:t>、</a:t>
            </a:r>
            <a:r>
              <a:rPr lang="en-US" altLang="zh-CN">
                <a:latin typeface="Times New Roman" panose="02020603050405020304" pitchFamily="18" charset="0"/>
                <a:ea typeface="楷体_GB2312" pitchFamily="1" charset="-122"/>
              </a:rPr>
              <a:t>BX</a:t>
            </a:r>
            <a:r>
              <a:rPr lang="zh-CN" altLang="en-US">
                <a:latin typeface="Times New Roman" panose="02020603050405020304" pitchFamily="18" charset="0"/>
                <a:ea typeface="楷体_GB2312" pitchFamily="1" charset="-122"/>
              </a:rPr>
              <a:t>、</a:t>
            </a:r>
            <a:r>
              <a:rPr lang="en-US" altLang="zh-CN">
                <a:latin typeface="Times New Roman" panose="02020603050405020304" pitchFamily="18" charset="0"/>
                <a:ea typeface="楷体_GB2312" pitchFamily="1" charset="-122"/>
              </a:rPr>
              <a:t>CX</a:t>
            </a:r>
            <a:r>
              <a:rPr lang="zh-CN" altLang="en-US">
                <a:latin typeface="Times New Roman" panose="02020603050405020304" pitchFamily="18" charset="0"/>
                <a:ea typeface="楷体_GB2312" pitchFamily="1" charset="-122"/>
              </a:rPr>
              <a:t>、</a:t>
            </a:r>
            <a:r>
              <a:rPr lang="en-US" altLang="zh-CN">
                <a:latin typeface="Times New Roman" panose="02020603050405020304" pitchFamily="18" charset="0"/>
                <a:ea typeface="楷体_GB2312" pitchFamily="1" charset="-122"/>
              </a:rPr>
              <a:t>DX</a:t>
            </a:r>
          </a:p>
          <a:p>
            <a:pPr marL="381000" indent="-381000"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每个数据寄存器又可分为</a:t>
            </a:r>
            <a:r>
              <a:rPr lang="zh-CN" altLang="en-US" b="1">
                <a:solidFill>
                  <a:schemeClr val="folHlink"/>
                </a:solidFill>
                <a:latin typeface="Times New Roman" panose="02020603050405020304" pitchFamily="18" charset="0"/>
                <a:ea typeface="楷体_GB2312" pitchFamily="1" charset="-122"/>
              </a:rPr>
              <a:t>高字节</a:t>
            </a:r>
            <a:r>
              <a:rPr lang="en-US" altLang="zh-CN" b="1">
                <a:solidFill>
                  <a:schemeClr val="folHlink"/>
                </a:solidFill>
                <a:latin typeface="Times New Roman" panose="02020603050405020304" pitchFamily="18" charset="0"/>
                <a:ea typeface="楷体_GB2312" pitchFamily="1" charset="-122"/>
              </a:rPr>
              <a:t>H</a:t>
            </a:r>
            <a:r>
              <a:rPr lang="zh-CN" altLang="en-US">
                <a:latin typeface="Times New Roman" panose="02020603050405020304" pitchFamily="18" charset="0"/>
                <a:ea typeface="楷体_GB2312" pitchFamily="1" charset="-122"/>
              </a:rPr>
              <a:t>和</a:t>
            </a:r>
            <a:r>
              <a:rPr lang="zh-CN" altLang="en-US" b="1">
                <a:solidFill>
                  <a:schemeClr val="folHlink"/>
                </a:solidFill>
                <a:latin typeface="Times New Roman" panose="02020603050405020304" pitchFamily="18" charset="0"/>
                <a:ea typeface="楷体_GB2312" pitchFamily="1" charset="-122"/>
              </a:rPr>
              <a:t>低字节</a:t>
            </a:r>
            <a:r>
              <a:rPr lang="en-US" altLang="zh-CN" b="1">
                <a:solidFill>
                  <a:schemeClr val="folHlink"/>
                </a:solidFill>
                <a:latin typeface="Times New Roman" panose="02020603050405020304" pitchFamily="18" charset="0"/>
                <a:ea typeface="楷体_GB2312" pitchFamily="1" charset="-122"/>
              </a:rPr>
              <a:t>L</a:t>
            </a:r>
            <a:r>
              <a:rPr lang="zh-CN" altLang="en-US">
                <a:latin typeface="Times New Roman" panose="02020603050405020304" pitchFamily="18" charset="0"/>
                <a:ea typeface="楷体_GB2312" pitchFamily="1" charset="-122"/>
              </a:rPr>
              <a:t>寄存器，即</a:t>
            </a:r>
            <a:r>
              <a:rPr lang="en-US" altLang="zh-CN">
                <a:latin typeface="Times New Roman" panose="02020603050405020304" pitchFamily="18" charset="0"/>
                <a:ea typeface="楷体_GB2312" pitchFamily="1" charset="-122"/>
              </a:rPr>
              <a:t>AH</a:t>
            </a:r>
            <a:r>
              <a:rPr lang="zh-CN" altLang="en-US">
                <a:latin typeface="Times New Roman" panose="02020603050405020304" pitchFamily="18" charset="0"/>
                <a:ea typeface="楷体_GB2312" pitchFamily="1" charset="-122"/>
              </a:rPr>
              <a:t>、</a:t>
            </a:r>
            <a:r>
              <a:rPr lang="en-US" altLang="zh-CN">
                <a:latin typeface="Times New Roman" panose="02020603050405020304" pitchFamily="18" charset="0"/>
                <a:ea typeface="楷体_GB2312" pitchFamily="1" charset="-122"/>
              </a:rPr>
              <a:t>BH</a:t>
            </a:r>
            <a:r>
              <a:rPr lang="zh-CN" altLang="en-US">
                <a:latin typeface="Times New Roman" panose="02020603050405020304" pitchFamily="18" charset="0"/>
                <a:ea typeface="楷体_GB2312" pitchFamily="1" charset="-122"/>
              </a:rPr>
              <a:t>、</a:t>
            </a:r>
            <a:r>
              <a:rPr lang="en-US" altLang="zh-CN">
                <a:latin typeface="Times New Roman" panose="02020603050405020304" pitchFamily="18" charset="0"/>
                <a:ea typeface="楷体_GB2312" pitchFamily="1" charset="-122"/>
              </a:rPr>
              <a:t>CH</a:t>
            </a:r>
            <a:r>
              <a:rPr lang="zh-CN" altLang="en-US">
                <a:latin typeface="Times New Roman" panose="02020603050405020304" pitchFamily="18" charset="0"/>
                <a:ea typeface="楷体_GB2312" pitchFamily="1" charset="-122"/>
              </a:rPr>
              <a:t>、</a:t>
            </a:r>
            <a:r>
              <a:rPr lang="en-US" altLang="zh-CN">
                <a:latin typeface="Times New Roman" panose="02020603050405020304" pitchFamily="18" charset="0"/>
                <a:ea typeface="楷体_GB2312" pitchFamily="1" charset="-122"/>
              </a:rPr>
              <a:t>DH</a:t>
            </a:r>
            <a:r>
              <a:rPr lang="zh-CN" altLang="en-US">
                <a:latin typeface="Times New Roman" panose="02020603050405020304" pitchFamily="18" charset="0"/>
                <a:ea typeface="楷体_GB2312" pitchFamily="1" charset="-122"/>
              </a:rPr>
              <a:t>和</a:t>
            </a:r>
            <a:r>
              <a:rPr lang="en-US" altLang="zh-CN">
                <a:latin typeface="Times New Roman" panose="02020603050405020304" pitchFamily="18" charset="0"/>
                <a:ea typeface="楷体_GB2312" pitchFamily="1" charset="-122"/>
              </a:rPr>
              <a:t>AL</a:t>
            </a:r>
            <a:r>
              <a:rPr lang="zh-CN" altLang="en-US">
                <a:latin typeface="Times New Roman" panose="02020603050405020304" pitchFamily="18" charset="0"/>
                <a:ea typeface="楷体_GB2312" pitchFamily="1" charset="-122"/>
              </a:rPr>
              <a:t>、</a:t>
            </a:r>
            <a:r>
              <a:rPr lang="en-US" altLang="zh-CN">
                <a:latin typeface="Times New Roman" panose="02020603050405020304" pitchFamily="18" charset="0"/>
                <a:ea typeface="楷体_GB2312" pitchFamily="1" charset="-122"/>
              </a:rPr>
              <a:t>BL</a:t>
            </a:r>
            <a:r>
              <a:rPr lang="zh-CN" altLang="en-US">
                <a:latin typeface="Times New Roman" panose="02020603050405020304" pitchFamily="18" charset="0"/>
                <a:ea typeface="楷体_GB2312" pitchFamily="1" charset="-122"/>
              </a:rPr>
              <a:t>、</a:t>
            </a:r>
            <a:r>
              <a:rPr lang="en-US" altLang="zh-CN">
                <a:latin typeface="Times New Roman" panose="02020603050405020304" pitchFamily="18" charset="0"/>
                <a:ea typeface="楷体_GB2312" pitchFamily="1" charset="-122"/>
              </a:rPr>
              <a:t>CL</a:t>
            </a:r>
            <a:r>
              <a:rPr lang="zh-CN" altLang="en-US">
                <a:latin typeface="Times New Roman" panose="02020603050405020304" pitchFamily="18" charset="0"/>
                <a:ea typeface="楷体_GB2312" pitchFamily="1" charset="-122"/>
              </a:rPr>
              <a:t>、</a:t>
            </a:r>
            <a:r>
              <a:rPr lang="en-US" altLang="zh-CN">
                <a:latin typeface="Times New Roman" panose="02020603050405020304" pitchFamily="18" charset="0"/>
                <a:ea typeface="楷体_GB2312" pitchFamily="1" charset="-122"/>
              </a:rPr>
              <a:t>DL</a:t>
            </a:r>
            <a:r>
              <a:rPr lang="zh-CN" altLang="en-US">
                <a:latin typeface="Times New Roman" panose="02020603050405020304" pitchFamily="18" charset="0"/>
                <a:ea typeface="楷体_GB2312" pitchFamily="1" charset="-122"/>
              </a:rPr>
              <a:t>两组。</a:t>
            </a:r>
          </a:p>
          <a:p>
            <a:pPr marL="381000" indent="-381000" eaLnBrk="1" hangingPunct="1">
              <a:buFont typeface="Wingdings" panose="05000000000000000000" pitchFamily="2" charset="2"/>
              <a:buChar char="Ø"/>
            </a:pPr>
            <a:r>
              <a:rPr lang="en-US" altLang="zh-CN" b="1">
                <a:solidFill>
                  <a:schemeClr val="folHlink"/>
                </a:solidFill>
                <a:latin typeface="Times New Roman" panose="02020603050405020304" pitchFamily="18" charset="0"/>
                <a:ea typeface="楷体_GB2312" pitchFamily="1" charset="-122"/>
              </a:rPr>
              <a:t>16</a:t>
            </a:r>
            <a:r>
              <a:rPr lang="zh-CN" altLang="en-US" b="1">
                <a:solidFill>
                  <a:schemeClr val="folHlink"/>
                </a:solidFill>
                <a:latin typeface="Times New Roman" panose="02020603050405020304" pitchFamily="18" charset="0"/>
                <a:ea typeface="楷体_GB2312" pitchFamily="1" charset="-122"/>
              </a:rPr>
              <a:t>位数据寄存器主要用于存放数据，也可存放地址，而</a:t>
            </a:r>
            <a:r>
              <a:rPr lang="en-US" altLang="zh-CN" b="1">
                <a:solidFill>
                  <a:schemeClr val="folHlink"/>
                </a:solidFill>
                <a:latin typeface="Times New Roman" panose="02020603050405020304" pitchFamily="18" charset="0"/>
                <a:ea typeface="楷体_GB2312" pitchFamily="1" charset="-122"/>
              </a:rPr>
              <a:t>8</a:t>
            </a:r>
            <a:r>
              <a:rPr lang="zh-CN" altLang="en-US" b="1">
                <a:solidFill>
                  <a:schemeClr val="folHlink"/>
                </a:solidFill>
                <a:latin typeface="Times New Roman" panose="02020603050405020304" pitchFamily="18" charset="0"/>
                <a:ea typeface="楷体_GB2312" pitchFamily="1" charset="-122"/>
              </a:rPr>
              <a:t>位寄存器只能用于存放数据</a:t>
            </a:r>
            <a:r>
              <a:rPr lang="zh-CN" altLang="en-US">
                <a:latin typeface="Times New Roman" panose="02020603050405020304" pitchFamily="18" charset="0"/>
                <a:ea typeface="楷体_GB2312" pitchFamily="1" charset="-122"/>
              </a:rPr>
              <a:t>，它们均可以用寄存器名来独立寻址、独立使用。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 calcmode="lin" valueType="num">
                                      <p:cBhvr additive="base">
                                        <p:cTn id="7" dur="500" fill="hold"/>
                                        <p:tgtEl>
                                          <p:spTgt spid="235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3555">
                                            <p:txEl>
                                              <p:pRg st="1" end="1"/>
                                            </p:txEl>
                                          </p:spTgt>
                                        </p:tgtEl>
                                        <p:attrNameLst>
                                          <p:attrName>style.visibility</p:attrName>
                                        </p:attrNameLst>
                                      </p:cBhvr>
                                      <p:to>
                                        <p:strVal val="visible"/>
                                      </p:to>
                                    </p:set>
                                    <p:anim calcmode="lin" valueType="num">
                                      <p:cBhvr additive="base">
                                        <p:cTn id="13" dur="500" fill="hold"/>
                                        <p:tgtEl>
                                          <p:spTgt spid="2355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3555">
                                            <p:txEl>
                                              <p:pRg st="2" end="2"/>
                                            </p:txEl>
                                          </p:spTgt>
                                        </p:tgtEl>
                                        <p:attrNameLst>
                                          <p:attrName>style.visibility</p:attrName>
                                        </p:attrNameLst>
                                      </p:cBhvr>
                                      <p:to>
                                        <p:strVal val="visible"/>
                                      </p:to>
                                    </p:set>
                                    <p:anim calcmode="lin" valueType="num">
                                      <p:cBhvr additive="base">
                                        <p:cTn id="19" dur="5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4F149DC-DBA9-EAD8-C548-FE3E2A39AA0E}"/>
              </a:ext>
            </a:extLst>
          </p:cNvPr>
          <p:cNvSpPr>
            <a:spLocks noGrp="1" noChangeArrowheads="1"/>
          </p:cNvSpPr>
          <p:nvPr>
            <p:ph type="title"/>
          </p:nvPr>
        </p:nvSpPr>
        <p:spPr/>
        <p:txBody>
          <a:bodyPr/>
          <a:lstStyle/>
          <a:p>
            <a:pPr algn="ctr" eaLnBrk="1" hangingPunct="1">
              <a:defRPr/>
            </a:pP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地址指针寄存器和变址寄存器</a:t>
            </a:r>
            <a:endPar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24579" name="Rectangle 3">
            <a:extLst>
              <a:ext uri="{FF2B5EF4-FFF2-40B4-BE49-F238E27FC236}">
                <a16:creationId xmlns:a16="http://schemas.microsoft.com/office/drawing/2014/main" id="{0C9BEEBC-582A-3B92-99AB-0D436264AD9A}"/>
              </a:ext>
            </a:extLst>
          </p:cNvPr>
          <p:cNvSpPr>
            <a:spLocks noGrp="1" noChangeArrowheads="1"/>
          </p:cNvSpPr>
          <p:nvPr>
            <p:ph idx="1"/>
          </p:nvPr>
        </p:nvSpPr>
        <p:spPr>
          <a:xfrm>
            <a:off x="395288" y="1628775"/>
            <a:ext cx="8280400" cy="4608513"/>
          </a:xfrm>
        </p:spPr>
        <p:txBody>
          <a:bodyPr/>
          <a:lstStyle/>
          <a:p>
            <a:pPr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都是</a:t>
            </a:r>
            <a:r>
              <a:rPr lang="en-US" altLang="zh-CN">
                <a:latin typeface="Times New Roman" panose="02020603050405020304" pitchFamily="18" charset="0"/>
                <a:ea typeface="楷体_GB2312" pitchFamily="1" charset="-122"/>
              </a:rPr>
              <a:t>16</a:t>
            </a:r>
            <a:r>
              <a:rPr lang="zh-CN" altLang="en-US">
                <a:latin typeface="Times New Roman" panose="02020603050405020304" pitchFamily="18" charset="0"/>
                <a:ea typeface="楷体_GB2312" pitchFamily="1" charset="-122"/>
              </a:rPr>
              <a:t>位，</a:t>
            </a:r>
            <a:r>
              <a:rPr lang="zh-CN" altLang="en-US" b="1">
                <a:solidFill>
                  <a:schemeClr val="folHlink"/>
                </a:solidFill>
                <a:latin typeface="Times New Roman" panose="02020603050405020304" pitchFamily="18" charset="0"/>
                <a:ea typeface="楷体_GB2312" pitchFamily="1" charset="-122"/>
              </a:rPr>
              <a:t>一般用来存放偏移地址</a:t>
            </a:r>
            <a:r>
              <a:rPr lang="zh-CN" altLang="en-US">
                <a:latin typeface="Times New Roman" panose="02020603050405020304" pitchFamily="18" charset="0"/>
                <a:ea typeface="楷体_GB2312" pitchFamily="1" charset="-122"/>
              </a:rPr>
              <a:t>。</a:t>
            </a:r>
          </a:p>
          <a:p>
            <a:pPr eaLnBrk="1" hangingPunct="1">
              <a:buFont typeface="Wingdings" panose="05000000000000000000" pitchFamily="2" charset="2"/>
              <a:buChar char="Ø"/>
            </a:pPr>
            <a:r>
              <a:rPr lang="zh-CN" altLang="en-US" b="1">
                <a:solidFill>
                  <a:schemeClr val="hlink"/>
                </a:solidFill>
                <a:latin typeface="Times New Roman" panose="02020603050405020304" pitchFamily="18" charset="0"/>
                <a:ea typeface="楷体_GB2312" pitchFamily="1" charset="-122"/>
              </a:rPr>
              <a:t>指针寄存器</a:t>
            </a:r>
            <a:r>
              <a:rPr lang="en-US" altLang="zh-CN" b="1">
                <a:solidFill>
                  <a:schemeClr val="hlink"/>
                </a:solidFill>
                <a:latin typeface="Times New Roman" panose="02020603050405020304" pitchFamily="18" charset="0"/>
                <a:ea typeface="楷体_GB2312" pitchFamily="1" charset="-122"/>
              </a:rPr>
              <a:t>SP</a:t>
            </a:r>
            <a:r>
              <a:rPr lang="zh-CN" altLang="en-US" b="1">
                <a:solidFill>
                  <a:schemeClr val="hlink"/>
                </a:solidFill>
                <a:latin typeface="Times New Roman" panose="02020603050405020304" pitchFamily="18" charset="0"/>
                <a:ea typeface="楷体_GB2312" pitchFamily="1" charset="-122"/>
              </a:rPr>
              <a:t>和</a:t>
            </a:r>
            <a:r>
              <a:rPr lang="en-US" altLang="zh-CN" b="1">
                <a:solidFill>
                  <a:schemeClr val="hlink"/>
                </a:solidFill>
                <a:latin typeface="Times New Roman" panose="02020603050405020304" pitchFamily="18" charset="0"/>
                <a:ea typeface="楷体_GB2312" pitchFamily="1" charset="-122"/>
              </a:rPr>
              <a:t>BP</a:t>
            </a:r>
            <a:r>
              <a:rPr lang="zh-CN" altLang="en-US" b="1">
                <a:solidFill>
                  <a:schemeClr val="hlink"/>
                </a:solidFill>
                <a:latin typeface="Times New Roman" panose="02020603050405020304" pitchFamily="18" charset="0"/>
                <a:ea typeface="楷体_GB2312" pitchFamily="1" charset="-122"/>
              </a:rPr>
              <a:t>用来存取位于当前堆栈段中的数据</a:t>
            </a:r>
            <a:r>
              <a:rPr lang="zh-CN" altLang="en-US">
                <a:latin typeface="Times New Roman" panose="02020603050405020304" pitchFamily="18" charset="0"/>
                <a:ea typeface="楷体_GB2312" pitchFamily="1" charset="-122"/>
              </a:rPr>
              <a:t>，但</a:t>
            </a:r>
            <a:r>
              <a:rPr lang="en-US" altLang="zh-CN">
                <a:latin typeface="Times New Roman" panose="02020603050405020304" pitchFamily="18" charset="0"/>
                <a:ea typeface="楷体_GB2312" pitchFamily="1" charset="-122"/>
              </a:rPr>
              <a:t>SP</a:t>
            </a:r>
            <a:r>
              <a:rPr lang="zh-CN" altLang="en-US">
                <a:latin typeface="Times New Roman" panose="02020603050405020304" pitchFamily="18" charset="0"/>
                <a:ea typeface="楷体_GB2312" pitchFamily="1" charset="-122"/>
              </a:rPr>
              <a:t>和</a:t>
            </a:r>
            <a:r>
              <a:rPr lang="en-US" altLang="zh-CN">
                <a:latin typeface="Times New Roman" panose="02020603050405020304" pitchFamily="18" charset="0"/>
                <a:ea typeface="楷体_GB2312" pitchFamily="1" charset="-122"/>
              </a:rPr>
              <a:t>BP</a:t>
            </a:r>
            <a:r>
              <a:rPr lang="zh-CN" altLang="en-US">
                <a:latin typeface="Times New Roman" panose="02020603050405020304" pitchFamily="18" charset="0"/>
                <a:ea typeface="楷体_GB2312" pitchFamily="1" charset="-122"/>
              </a:rPr>
              <a:t>使用上有区别。</a:t>
            </a:r>
          </a:p>
          <a:p>
            <a:pPr eaLnBrk="1" hangingPunct="1"/>
            <a:r>
              <a:rPr lang="zh-CN" altLang="en-US" b="1">
                <a:solidFill>
                  <a:schemeClr val="folHlink"/>
                </a:solidFill>
                <a:latin typeface="Times New Roman" panose="02020603050405020304" pitchFamily="18" charset="0"/>
                <a:ea typeface="楷体_GB2312" pitchFamily="1" charset="-122"/>
              </a:rPr>
              <a:t>堆栈指针寄存器</a:t>
            </a:r>
            <a:r>
              <a:rPr lang="en-US" altLang="zh-CN" b="1">
                <a:solidFill>
                  <a:schemeClr val="folHlink"/>
                </a:solidFill>
                <a:latin typeface="Times New Roman" panose="02020603050405020304" pitchFamily="18" charset="0"/>
                <a:ea typeface="楷体_GB2312" pitchFamily="1" charset="-122"/>
              </a:rPr>
              <a:t>SP</a:t>
            </a:r>
            <a:r>
              <a:rPr lang="zh-CN" altLang="en-US">
                <a:latin typeface="Times New Roman" panose="02020603050405020304" pitchFamily="18" charset="0"/>
                <a:ea typeface="楷体_GB2312" pitchFamily="1" charset="-122"/>
              </a:rPr>
              <a:t>给出栈顶的偏移地址。</a:t>
            </a:r>
          </a:p>
          <a:p>
            <a:pPr eaLnBrk="1" hangingPunct="1"/>
            <a:r>
              <a:rPr lang="zh-CN" altLang="en-US" b="1">
                <a:solidFill>
                  <a:schemeClr val="folHlink"/>
                </a:solidFill>
                <a:latin typeface="Times New Roman" panose="02020603050405020304" pitchFamily="18" charset="0"/>
                <a:ea typeface="楷体_GB2312" pitchFamily="1" charset="-122"/>
              </a:rPr>
              <a:t>基址指针寄存器</a:t>
            </a:r>
            <a:r>
              <a:rPr lang="en-US" altLang="zh-CN" b="1">
                <a:solidFill>
                  <a:schemeClr val="folHlink"/>
                </a:solidFill>
                <a:latin typeface="Times New Roman" panose="02020603050405020304" pitchFamily="18" charset="0"/>
                <a:ea typeface="楷体_GB2312" pitchFamily="1" charset="-122"/>
              </a:rPr>
              <a:t>BP</a:t>
            </a:r>
            <a:r>
              <a:rPr lang="zh-CN" altLang="en-US">
                <a:latin typeface="Times New Roman" panose="02020603050405020304" pitchFamily="18" charset="0"/>
                <a:ea typeface="楷体_GB2312" pitchFamily="1" charset="-122"/>
              </a:rPr>
              <a:t>用来存放位于堆栈段中的一个数据区基址的偏移地址。</a:t>
            </a:r>
          </a:p>
          <a:p>
            <a:pPr eaLnBrk="1" hangingPunct="1">
              <a:buFont typeface="Wingdings" panose="05000000000000000000" pitchFamily="2" charset="2"/>
              <a:buChar char="Ø"/>
            </a:pPr>
            <a:r>
              <a:rPr lang="zh-CN" altLang="en-US" b="1">
                <a:solidFill>
                  <a:schemeClr val="folHlink"/>
                </a:solidFill>
                <a:latin typeface="Times New Roman" panose="02020603050405020304" pitchFamily="18" charset="0"/>
                <a:ea typeface="楷体_GB2312" pitchFamily="1" charset="-122"/>
              </a:rPr>
              <a:t>源变址寄存器</a:t>
            </a:r>
            <a:r>
              <a:rPr lang="en-US" altLang="zh-CN">
                <a:latin typeface="Times New Roman" panose="02020603050405020304" pitchFamily="18" charset="0"/>
                <a:ea typeface="楷体_GB2312" pitchFamily="1" charset="-122"/>
              </a:rPr>
              <a:t>SI</a:t>
            </a:r>
            <a:r>
              <a:rPr lang="zh-CN" altLang="en-US">
                <a:latin typeface="Times New Roman" panose="02020603050405020304" pitchFamily="18" charset="0"/>
                <a:ea typeface="楷体_GB2312" pitchFamily="1" charset="-122"/>
              </a:rPr>
              <a:t>和</a:t>
            </a:r>
            <a:r>
              <a:rPr lang="zh-CN" altLang="en-US" b="1">
                <a:solidFill>
                  <a:schemeClr val="folHlink"/>
                </a:solidFill>
                <a:latin typeface="Times New Roman" panose="02020603050405020304" pitchFamily="18" charset="0"/>
                <a:ea typeface="楷体_GB2312" pitchFamily="1" charset="-122"/>
              </a:rPr>
              <a:t>目的变址寄存器</a:t>
            </a:r>
            <a:r>
              <a:rPr lang="en-US" altLang="zh-CN">
                <a:latin typeface="Times New Roman" panose="02020603050405020304" pitchFamily="18" charset="0"/>
                <a:ea typeface="楷体_GB2312" pitchFamily="1" charset="-122"/>
              </a:rPr>
              <a:t>DI</a:t>
            </a:r>
            <a:r>
              <a:rPr lang="zh-CN" altLang="en-US">
                <a:latin typeface="Times New Roman" panose="02020603050405020304" pitchFamily="18" charset="0"/>
                <a:ea typeface="楷体_GB2312" pitchFamily="1" charset="-122"/>
              </a:rPr>
              <a:t>用来存放当前数据段的偏移地址。</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p:cTn id="7" dur="500" fill="hold"/>
                                        <p:tgtEl>
                                          <p:spTgt spid="2457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4579">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24579">
                                            <p:txEl>
                                              <p:pRg st="1" end="1"/>
                                            </p:txEl>
                                          </p:spTgt>
                                        </p:tgtEl>
                                        <p:attrNameLst>
                                          <p:attrName>style.visibility</p:attrName>
                                        </p:attrNameLst>
                                      </p:cBhvr>
                                      <p:to>
                                        <p:strVal val="visible"/>
                                      </p:to>
                                    </p:set>
                                    <p:anim calcmode="lin" valueType="num">
                                      <p:cBhvr>
                                        <p:cTn id="13" dur="500" fill="hold"/>
                                        <p:tgtEl>
                                          <p:spTgt spid="24579">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24579">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24579">
                                            <p:txEl>
                                              <p:pRg st="2" end="2"/>
                                            </p:txEl>
                                          </p:spTgt>
                                        </p:tgtEl>
                                        <p:attrNameLst>
                                          <p:attrName>style.visibility</p:attrName>
                                        </p:attrNameLst>
                                      </p:cBhvr>
                                      <p:to>
                                        <p:strVal val="visible"/>
                                      </p:to>
                                    </p:set>
                                    <p:anim calcmode="lin" valueType="num">
                                      <p:cBhvr>
                                        <p:cTn id="19" dur="500" fill="hold"/>
                                        <p:tgtEl>
                                          <p:spTgt spid="24579">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24579">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24579">
                                            <p:txEl>
                                              <p:pRg st="3" end="3"/>
                                            </p:txEl>
                                          </p:spTgt>
                                        </p:tgtEl>
                                        <p:attrNameLst>
                                          <p:attrName>style.visibility</p:attrName>
                                        </p:attrNameLst>
                                      </p:cBhvr>
                                      <p:to>
                                        <p:strVal val="visible"/>
                                      </p:to>
                                    </p:set>
                                    <p:anim calcmode="lin" valueType="num">
                                      <p:cBhvr>
                                        <p:cTn id="25" dur="500" fill="hold"/>
                                        <p:tgtEl>
                                          <p:spTgt spid="24579">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24579">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24579">
                                            <p:txEl>
                                              <p:pRg st="4" end="4"/>
                                            </p:txEl>
                                          </p:spTgt>
                                        </p:tgtEl>
                                        <p:attrNameLst>
                                          <p:attrName>style.visibility</p:attrName>
                                        </p:attrNameLst>
                                      </p:cBhvr>
                                      <p:to>
                                        <p:strVal val="visible"/>
                                      </p:to>
                                    </p:set>
                                    <p:anim calcmode="lin" valueType="num">
                                      <p:cBhvr>
                                        <p:cTn id="31" dur="500" fill="hold"/>
                                        <p:tgtEl>
                                          <p:spTgt spid="24579">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24579">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BF1F1347-6D83-BCAC-DF34-1168C17F0420}"/>
              </a:ext>
            </a:extLst>
          </p:cNvPr>
          <p:cNvSpPr>
            <a:spLocks noGrp="1" noChangeArrowheads="1"/>
          </p:cNvSpPr>
          <p:nvPr>
            <p:ph type="title"/>
          </p:nvPr>
        </p:nvSpPr>
        <p:spPr/>
        <p:txBody>
          <a:bodyPr/>
          <a:lstStyle/>
          <a:p>
            <a:pPr algn="ctr" eaLnBrk="1" hangingPunct="1">
              <a:defRPr/>
            </a:pP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表</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2.1 </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寄存器的隐含使用</a:t>
            </a:r>
          </a:p>
        </p:txBody>
      </p:sp>
      <p:pic>
        <p:nvPicPr>
          <p:cNvPr id="36866" name="Picture 3">
            <a:extLst>
              <a:ext uri="{FF2B5EF4-FFF2-40B4-BE49-F238E27FC236}">
                <a16:creationId xmlns:a16="http://schemas.microsoft.com/office/drawing/2014/main" id="{373BE43C-4642-03B8-A01C-813F645DD8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628775"/>
            <a:ext cx="8137525" cy="343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D96F5555-DDC2-F7B8-0644-7ACD6E85C3CD}"/>
              </a:ext>
            </a:extLst>
          </p:cNvPr>
          <p:cNvSpPr>
            <a:spLocks noGrp="1" noChangeArrowheads="1"/>
          </p:cNvSpPr>
          <p:nvPr>
            <p:ph type="title"/>
          </p:nvPr>
        </p:nvSpPr>
        <p:spPr>
          <a:xfrm>
            <a:off x="1150938" y="333375"/>
            <a:ext cx="7793037" cy="865188"/>
          </a:xfrm>
        </p:spPr>
        <p:txBody>
          <a:bodyPr/>
          <a:lstStyle/>
          <a:p>
            <a:pPr algn="ctr" eaLnBrk="1" hangingPunct="1">
              <a:defRPr/>
            </a:pP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指令指针寄存器</a:t>
            </a:r>
          </a:p>
        </p:txBody>
      </p:sp>
      <p:sp>
        <p:nvSpPr>
          <p:cNvPr id="26627" name="Rectangle 3">
            <a:extLst>
              <a:ext uri="{FF2B5EF4-FFF2-40B4-BE49-F238E27FC236}">
                <a16:creationId xmlns:a16="http://schemas.microsoft.com/office/drawing/2014/main" id="{7D76E045-51B8-4928-AA0B-E6C39EA670DB}"/>
              </a:ext>
            </a:extLst>
          </p:cNvPr>
          <p:cNvSpPr>
            <a:spLocks noGrp="1" noChangeArrowheads="1"/>
          </p:cNvSpPr>
          <p:nvPr>
            <p:ph idx="1"/>
          </p:nvPr>
        </p:nvSpPr>
        <p:spPr>
          <a:xfrm>
            <a:off x="684213" y="1628775"/>
            <a:ext cx="7920037" cy="4114800"/>
          </a:xfrm>
        </p:spPr>
        <p:txBody>
          <a:bodyPr/>
          <a:lstStyle/>
          <a:p>
            <a:pPr marL="0" indent="0" eaLnBrk="1" hangingPunct="1">
              <a:lnSpc>
                <a:spcPct val="90000"/>
              </a:lnSpc>
              <a:buFont typeface="Wingdings" panose="05000000000000000000" pitchFamily="2" charset="2"/>
              <a:buChar char="Ø"/>
            </a:pPr>
            <a:r>
              <a:rPr lang="en-US" altLang="zh-CN">
                <a:latin typeface="Times New Roman" panose="02020603050405020304" pitchFamily="18" charset="0"/>
                <a:ea typeface="楷体_GB2312" pitchFamily="1" charset="-122"/>
              </a:rPr>
              <a:t>16</a:t>
            </a:r>
            <a:r>
              <a:rPr lang="zh-CN" altLang="en-US">
                <a:latin typeface="Times New Roman" panose="02020603050405020304" pitchFamily="18" charset="0"/>
                <a:ea typeface="楷体_GB2312" pitchFamily="1" charset="-122"/>
              </a:rPr>
              <a:t>位，</a:t>
            </a:r>
            <a:r>
              <a:rPr lang="zh-CN" altLang="en-US" b="1">
                <a:solidFill>
                  <a:schemeClr val="folHlink"/>
                </a:solidFill>
                <a:latin typeface="Times New Roman" panose="02020603050405020304" pitchFamily="18" charset="0"/>
                <a:ea typeface="楷体_GB2312" pitchFamily="1" charset="-122"/>
              </a:rPr>
              <a:t>存放着</a:t>
            </a:r>
            <a:r>
              <a:rPr lang="en-US" altLang="zh-CN" b="1">
                <a:solidFill>
                  <a:schemeClr val="folHlink"/>
                </a:solidFill>
                <a:latin typeface="Times New Roman" panose="02020603050405020304" pitchFamily="18" charset="0"/>
                <a:ea typeface="楷体_GB2312" pitchFamily="1" charset="-122"/>
              </a:rPr>
              <a:t>BIU</a:t>
            </a:r>
            <a:r>
              <a:rPr lang="zh-CN" altLang="en-US" b="1">
                <a:solidFill>
                  <a:schemeClr val="folHlink"/>
                </a:solidFill>
                <a:latin typeface="Times New Roman" panose="02020603050405020304" pitchFamily="18" charset="0"/>
                <a:ea typeface="楷体_GB2312" pitchFamily="1" charset="-122"/>
              </a:rPr>
              <a:t>要取的下一条指令的偏移地址</a:t>
            </a:r>
            <a:r>
              <a:rPr lang="zh-CN" altLang="en-US">
                <a:latin typeface="Times New Roman" panose="02020603050405020304" pitchFamily="18" charset="0"/>
                <a:ea typeface="楷体_GB2312" pitchFamily="1" charset="-122"/>
              </a:rPr>
              <a:t>。</a:t>
            </a:r>
          </a:p>
          <a:p>
            <a:pPr marL="0" indent="0" eaLnBrk="1" hangingPunct="1">
              <a:lnSpc>
                <a:spcPct val="90000"/>
              </a:lnSpc>
              <a:buFont typeface="Wingdings" panose="05000000000000000000" pitchFamily="2" charset="2"/>
              <a:buChar char="Ø"/>
            </a:pPr>
            <a:r>
              <a:rPr lang="zh-CN" altLang="en-US">
                <a:latin typeface="Times New Roman" panose="02020603050405020304" pitchFamily="18" charset="0"/>
                <a:ea typeface="楷体_GB2312" pitchFamily="1" charset="-122"/>
              </a:rPr>
              <a:t>指令执行时，每取一次指令</a:t>
            </a:r>
            <a:r>
              <a:rPr lang="en-US" altLang="zh-CN">
                <a:latin typeface="Times New Roman" panose="02020603050405020304" pitchFamily="18" charset="0"/>
                <a:ea typeface="楷体_GB2312" pitchFamily="1" charset="-122"/>
              </a:rPr>
              <a:t>IP</a:t>
            </a:r>
            <a:r>
              <a:rPr lang="zh-CN" altLang="en-US">
                <a:latin typeface="Times New Roman" panose="02020603050405020304" pitchFamily="18" charset="0"/>
                <a:ea typeface="楷体_GB2312" pitchFamily="1" charset="-122"/>
              </a:rPr>
              <a:t>就</a:t>
            </a:r>
            <a:r>
              <a:rPr lang="zh-CN" altLang="en-US">
                <a:solidFill>
                  <a:schemeClr val="hlink"/>
                </a:solidFill>
                <a:latin typeface="Times New Roman" panose="02020603050405020304" pitchFamily="18" charset="0"/>
                <a:ea typeface="楷体_GB2312" pitchFamily="1" charset="-122"/>
              </a:rPr>
              <a:t>自动加</a:t>
            </a:r>
            <a:r>
              <a:rPr lang="en-US" altLang="zh-CN">
                <a:solidFill>
                  <a:schemeClr val="hlink"/>
                </a:solidFill>
                <a:latin typeface="Times New Roman" panose="02020603050405020304" pitchFamily="18" charset="0"/>
                <a:ea typeface="楷体_GB2312" pitchFamily="1" charset="-122"/>
              </a:rPr>
              <a:t>1</a:t>
            </a:r>
            <a:r>
              <a:rPr lang="zh-CN" altLang="en-US">
                <a:latin typeface="Times New Roman" panose="02020603050405020304" pitchFamily="18" charset="0"/>
                <a:ea typeface="楷体_GB2312" pitchFamily="1" charset="-122"/>
              </a:rPr>
              <a:t>，这样保证能按顺序取出并执行指令。</a:t>
            </a:r>
          </a:p>
          <a:p>
            <a:pPr marL="0" indent="0" eaLnBrk="1" hangingPunct="1">
              <a:lnSpc>
                <a:spcPct val="90000"/>
              </a:lnSpc>
              <a:buFont typeface="Wingdings" panose="05000000000000000000" pitchFamily="2" charset="2"/>
              <a:buChar char="Ø"/>
            </a:pPr>
            <a:r>
              <a:rPr lang="zh-CN" altLang="en-US">
                <a:latin typeface="Times New Roman" panose="02020603050405020304" pitchFamily="18" charset="0"/>
                <a:ea typeface="楷体_GB2312" pitchFamily="1" charset="-122"/>
              </a:rPr>
              <a:t>指令代码存放在存储器的代码段，</a:t>
            </a:r>
            <a:r>
              <a:rPr lang="en-US" altLang="zh-CN">
                <a:solidFill>
                  <a:schemeClr val="hlink"/>
                </a:solidFill>
                <a:latin typeface="Times New Roman" panose="02020603050405020304" pitchFamily="18" charset="0"/>
                <a:ea typeface="楷体_GB2312" pitchFamily="1" charset="-122"/>
              </a:rPr>
              <a:t>CPU</a:t>
            </a:r>
            <a:r>
              <a:rPr lang="zh-CN" altLang="en-US">
                <a:solidFill>
                  <a:schemeClr val="hlink"/>
                </a:solidFill>
                <a:latin typeface="Times New Roman" panose="02020603050405020304" pitchFamily="18" charset="0"/>
                <a:ea typeface="楷体_GB2312" pitchFamily="1" charset="-122"/>
              </a:rPr>
              <a:t>利用</a:t>
            </a:r>
            <a:r>
              <a:rPr lang="en-US" altLang="zh-CN">
                <a:solidFill>
                  <a:schemeClr val="hlink"/>
                </a:solidFill>
                <a:latin typeface="Times New Roman" panose="02020603050405020304" pitchFamily="18" charset="0"/>
                <a:ea typeface="楷体_GB2312" pitchFamily="1" charset="-122"/>
              </a:rPr>
              <a:t>CS</a:t>
            </a:r>
            <a:r>
              <a:rPr lang="zh-CN" altLang="en-US">
                <a:solidFill>
                  <a:schemeClr val="hlink"/>
                </a:solidFill>
                <a:latin typeface="Times New Roman" panose="02020603050405020304" pitchFamily="18" charset="0"/>
                <a:ea typeface="楷体_GB2312" pitchFamily="1" charset="-122"/>
              </a:rPr>
              <a:t>和</a:t>
            </a:r>
            <a:r>
              <a:rPr lang="en-US" altLang="zh-CN">
                <a:solidFill>
                  <a:schemeClr val="hlink"/>
                </a:solidFill>
                <a:latin typeface="Times New Roman" panose="02020603050405020304" pitchFamily="18" charset="0"/>
                <a:ea typeface="楷体_GB2312" pitchFamily="1" charset="-122"/>
              </a:rPr>
              <a:t>IP</a:t>
            </a:r>
            <a:r>
              <a:rPr lang="zh-CN" altLang="en-US">
                <a:solidFill>
                  <a:schemeClr val="hlink"/>
                </a:solidFill>
                <a:latin typeface="Times New Roman" panose="02020603050405020304" pitchFamily="18" charset="0"/>
                <a:ea typeface="楷体_GB2312" pitchFamily="1" charset="-122"/>
              </a:rPr>
              <a:t>取得要执行的指令</a:t>
            </a:r>
            <a:r>
              <a:rPr lang="en-US" altLang="zh-CN">
                <a:latin typeface="Times New Roman" panose="02020603050405020304" pitchFamily="18" charset="0"/>
                <a:ea typeface="楷体_GB2312" pitchFamily="1" charset="-122"/>
              </a:rPr>
              <a:t>.</a:t>
            </a:r>
          </a:p>
          <a:p>
            <a:pPr marL="0" indent="0" eaLnBrk="1" hangingPunct="1">
              <a:lnSpc>
                <a:spcPct val="90000"/>
              </a:lnSpc>
              <a:buFont typeface="Wingdings" panose="05000000000000000000" pitchFamily="2" charset="2"/>
              <a:buChar char="Ø"/>
            </a:pPr>
            <a:r>
              <a:rPr lang="zh-CN" altLang="en-US">
                <a:latin typeface="Times New Roman" panose="02020603050405020304" pitchFamily="18" charset="0"/>
                <a:ea typeface="楷体_GB2312" pitchFamily="1" charset="-122"/>
              </a:rPr>
              <a:t>修改</a:t>
            </a:r>
            <a:r>
              <a:rPr lang="en-US" altLang="zh-CN">
                <a:latin typeface="Times New Roman" panose="02020603050405020304" pitchFamily="18" charset="0"/>
                <a:ea typeface="楷体_GB2312" pitchFamily="1" charset="-122"/>
              </a:rPr>
              <a:t>IP</a:t>
            </a:r>
            <a:r>
              <a:rPr lang="zh-CN" altLang="en-US">
                <a:latin typeface="Times New Roman" panose="02020603050405020304" pitchFamily="18" charset="0"/>
                <a:ea typeface="楷体_GB2312" pitchFamily="1" charset="-122"/>
              </a:rPr>
              <a:t>中的内容，就可以改变指令的执行流向。</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627">
                                            <p:txEl>
                                              <p:pRg st="1" end="1"/>
                                            </p:txEl>
                                          </p:spTgt>
                                        </p:tgtEl>
                                        <p:attrNameLst>
                                          <p:attrName>style.visibility</p:attrName>
                                        </p:attrNameLst>
                                      </p:cBhvr>
                                      <p:to>
                                        <p:strVal val="visible"/>
                                      </p:to>
                                    </p:set>
                                    <p:anim calcmode="lin" valueType="num">
                                      <p:cBhvr additive="base">
                                        <p:cTn id="13" dur="500" fill="hold"/>
                                        <p:tgtEl>
                                          <p:spTgt spid="266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6627">
                                            <p:txEl>
                                              <p:pRg st="2" end="2"/>
                                            </p:txEl>
                                          </p:spTgt>
                                        </p:tgtEl>
                                        <p:attrNameLst>
                                          <p:attrName>style.visibility</p:attrName>
                                        </p:attrNameLst>
                                      </p:cBhvr>
                                      <p:to>
                                        <p:strVal val="visible"/>
                                      </p:to>
                                    </p:set>
                                    <p:anim calcmode="lin" valueType="num">
                                      <p:cBhvr additive="base">
                                        <p:cTn id="19" dur="500" fill="hold"/>
                                        <p:tgtEl>
                                          <p:spTgt spid="266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6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6627">
                                            <p:txEl>
                                              <p:pRg st="3" end="3"/>
                                            </p:txEl>
                                          </p:spTgt>
                                        </p:tgtEl>
                                        <p:attrNameLst>
                                          <p:attrName>style.visibility</p:attrName>
                                        </p:attrNameLst>
                                      </p:cBhvr>
                                      <p:to>
                                        <p:strVal val="visible"/>
                                      </p:to>
                                    </p:set>
                                    <p:anim calcmode="lin" valueType="num">
                                      <p:cBhvr additive="base">
                                        <p:cTn id="25" dur="500" fill="hold"/>
                                        <p:tgtEl>
                                          <p:spTgt spid="2662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62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926B8707-4D1E-72DF-9791-2C24D616CD08}"/>
              </a:ext>
            </a:extLst>
          </p:cNvPr>
          <p:cNvSpPr>
            <a:spLocks noGrp="1" noChangeArrowheads="1"/>
          </p:cNvSpPr>
          <p:nvPr>
            <p:ph type="title"/>
          </p:nvPr>
        </p:nvSpPr>
        <p:spPr>
          <a:xfrm>
            <a:off x="1150938" y="333375"/>
            <a:ext cx="7793037" cy="865188"/>
          </a:xfrm>
        </p:spPr>
        <p:txBody>
          <a:bodyPr/>
          <a:lstStyle/>
          <a:p>
            <a:pPr algn="ctr" eaLnBrk="1" hangingPunct="1">
              <a:defRPr/>
            </a:pP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3.</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标志寄存器</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(16</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位</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a:t>
            </a:r>
          </a:p>
        </p:txBody>
      </p:sp>
      <p:sp>
        <p:nvSpPr>
          <p:cNvPr id="38914" name="Rectangle 3">
            <a:extLst>
              <a:ext uri="{FF2B5EF4-FFF2-40B4-BE49-F238E27FC236}">
                <a16:creationId xmlns:a16="http://schemas.microsoft.com/office/drawing/2014/main" id="{0AF1AD4A-F6A2-3C45-1D69-36B9830F7A8B}"/>
              </a:ext>
            </a:extLst>
          </p:cNvPr>
          <p:cNvSpPr>
            <a:spLocks noGrp="1" noChangeArrowheads="1"/>
          </p:cNvSpPr>
          <p:nvPr>
            <p:ph idx="1"/>
          </p:nvPr>
        </p:nvSpPr>
        <p:spPr>
          <a:xfrm>
            <a:off x="250825" y="1557338"/>
            <a:ext cx="8642350" cy="1439862"/>
          </a:xfrm>
        </p:spPr>
        <p:txBody>
          <a:bodyPr/>
          <a:lstStyle/>
          <a:p>
            <a:pPr eaLnBrk="1" hangingPunct="1">
              <a:lnSpc>
                <a:spcPct val="90000"/>
              </a:lnSpc>
              <a:buFont typeface="Wingdings" panose="05000000000000000000" pitchFamily="2" charset="2"/>
              <a:buChar char="Ø"/>
            </a:pPr>
            <a:r>
              <a:rPr lang="en-US" altLang="zh-CN" sz="2800">
                <a:latin typeface="Times New Roman" panose="02020603050405020304" pitchFamily="18" charset="0"/>
                <a:ea typeface="楷体_GB2312" pitchFamily="1" charset="-122"/>
              </a:rPr>
              <a:t>16</a:t>
            </a:r>
            <a:r>
              <a:rPr lang="zh-CN" altLang="en-US" sz="2800">
                <a:latin typeface="Times New Roman" panose="02020603050405020304" pitchFamily="18" charset="0"/>
                <a:ea typeface="楷体_GB2312" pitchFamily="1" charset="-122"/>
              </a:rPr>
              <a:t>位标志寄存器</a:t>
            </a:r>
            <a:r>
              <a:rPr lang="en-US" altLang="zh-CN" sz="2800">
                <a:latin typeface="Times New Roman" panose="02020603050405020304" pitchFamily="18" charset="0"/>
                <a:ea typeface="楷体_GB2312" pitchFamily="1" charset="-122"/>
              </a:rPr>
              <a:t>FR</a:t>
            </a:r>
            <a:r>
              <a:rPr lang="zh-CN" altLang="en-US" sz="2800">
                <a:latin typeface="Times New Roman" panose="02020603050405020304" pitchFamily="18" charset="0"/>
                <a:ea typeface="楷体_GB2312" pitchFamily="1" charset="-122"/>
              </a:rPr>
              <a:t>用于反映指令执行结果或控制指令执行的形式。</a:t>
            </a:r>
          </a:p>
          <a:p>
            <a:pPr eaLnBrk="1" hangingPunct="1">
              <a:lnSpc>
                <a:spcPct val="90000"/>
              </a:lnSpc>
              <a:buFont typeface="Wingdings" panose="05000000000000000000" pitchFamily="2" charset="2"/>
              <a:buChar char="Ø"/>
            </a:pPr>
            <a:r>
              <a:rPr lang="zh-CN" altLang="en-US" sz="2800">
                <a:latin typeface="Times New Roman" panose="02020603050405020304" pitchFamily="18" charset="0"/>
                <a:ea typeface="楷体_GB2312" pitchFamily="1" charset="-122"/>
              </a:rPr>
              <a:t>只用了其中的9位，分为：状态标志位和控制标志位。</a:t>
            </a:r>
          </a:p>
        </p:txBody>
      </p:sp>
      <p:pic>
        <p:nvPicPr>
          <p:cNvPr id="38915" name="Picture 4" descr="标志寄存器">
            <a:extLst>
              <a:ext uri="{FF2B5EF4-FFF2-40B4-BE49-F238E27FC236}">
                <a16:creationId xmlns:a16="http://schemas.microsoft.com/office/drawing/2014/main" id="{60030C63-24E6-8BBE-79DE-18AE158133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3167063"/>
            <a:ext cx="8299450" cy="270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7C32A4AE-5ED4-5614-EAEE-4879F68FBCA1}"/>
              </a:ext>
            </a:extLst>
          </p:cNvPr>
          <p:cNvSpPr>
            <a:spLocks noGrp="1" noChangeArrowheads="1"/>
          </p:cNvSpPr>
          <p:nvPr>
            <p:ph type="title"/>
          </p:nvPr>
        </p:nvSpPr>
        <p:spPr>
          <a:xfrm>
            <a:off x="1150938" y="333375"/>
            <a:ext cx="7793037" cy="865188"/>
          </a:xfrm>
        </p:spPr>
        <p:txBody>
          <a:bodyPr/>
          <a:lstStyle/>
          <a:p>
            <a:pPr algn="ctr" eaLnBrk="1" hangingPunct="1">
              <a:defRPr/>
            </a:pP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1)</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状态标志位</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(6</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位</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a:t>
            </a:r>
          </a:p>
        </p:txBody>
      </p:sp>
      <p:sp>
        <p:nvSpPr>
          <p:cNvPr id="39938" name="Rectangle 3">
            <a:extLst>
              <a:ext uri="{FF2B5EF4-FFF2-40B4-BE49-F238E27FC236}">
                <a16:creationId xmlns:a16="http://schemas.microsoft.com/office/drawing/2014/main" id="{1A385AA3-F6D3-E60D-ACDA-1A1F4D672D6F}"/>
              </a:ext>
            </a:extLst>
          </p:cNvPr>
          <p:cNvSpPr>
            <a:spLocks noGrp="1" noChangeArrowheads="1"/>
          </p:cNvSpPr>
          <p:nvPr>
            <p:ph idx="1"/>
          </p:nvPr>
        </p:nvSpPr>
        <p:spPr>
          <a:xfrm>
            <a:off x="533400" y="1628775"/>
            <a:ext cx="8359775" cy="4895850"/>
          </a:xfrm>
        </p:spPr>
        <p:txBody>
          <a:bodyPr/>
          <a:lstStyle/>
          <a:p>
            <a:pPr marL="0" indent="0" eaLnBrk="1" hangingPunct="1">
              <a:buFont typeface="Wingdings" panose="05000000000000000000" pitchFamily="2" charset="2"/>
              <a:buNone/>
            </a:pPr>
            <a:r>
              <a:rPr lang="zh-CN" altLang="en-US">
                <a:latin typeface="Times New Roman" panose="02020603050405020304" pitchFamily="18" charset="0"/>
                <a:ea typeface="楷体_GB2312" pitchFamily="1" charset="-122"/>
              </a:rPr>
              <a:t>用来反映算术或逻辑运算后结果的状态，以记录</a:t>
            </a:r>
            <a:r>
              <a:rPr lang="en-US" altLang="zh-CN">
                <a:latin typeface="Times New Roman" panose="02020603050405020304" pitchFamily="18" charset="0"/>
                <a:ea typeface="楷体_GB2312" pitchFamily="1" charset="-122"/>
              </a:rPr>
              <a:t>CPU</a:t>
            </a:r>
            <a:r>
              <a:rPr lang="zh-CN" altLang="en-US">
                <a:latin typeface="Times New Roman" panose="02020603050405020304" pitchFamily="18" charset="0"/>
                <a:ea typeface="楷体_GB2312" pitchFamily="1" charset="-122"/>
              </a:rPr>
              <a:t>的状态特征。</a:t>
            </a:r>
          </a:p>
        </p:txBody>
      </p:sp>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4E1BD7E0-648A-C542-6885-5A8DD58B533A}"/>
              </a:ext>
            </a:extLst>
          </p:cNvPr>
          <p:cNvSpPr>
            <a:spLocks noGrp="1" noChangeArrowheads="1"/>
          </p:cNvSpPr>
          <p:nvPr>
            <p:ph type="title"/>
          </p:nvPr>
        </p:nvSpPr>
        <p:spPr>
          <a:xfrm>
            <a:off x="1150938" y="333375"/>
            <a:ext cx="7793037" cy="865188"/>
          </a:xfrm>
        </p:spPr>
        <p:txBody>
          <a:bodyPr/>
          <a:lstStyle/>
          <a:p>
            <a:pPr algn="ctr" eaLnBrk="1" hangingPunct="1">
              <a:defRPr/>
            </a:pP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进位标志</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CF(Carry Flag)</a:t>
            </a:r>
          </a:p>
        </p:txBody>
      </p:sp>
      <p:sp>
        <p:nvSpPr>
          <p:cNvPr id="29699" name="Rectangle 3">
            <a:extLst>
              <a:ext uri="{FF2B5EF4-FFF2-40B4-BE49-F238E27FC236}">
                <a16:creationId xmlns:a16="http://schemas.microsoft.com/office/drawing/2014/main" id="{3FA66241-3CE7-B7A6-D148-E7830B05CBE6}"/>
              </a:ext>
            </a:extLst>
          </p:cNvPr>
          <p:cNvSpPr>
            <a:spLocks noGrp="1" noChangeArrowheads="1"/>
          </p:cNvSpPr>
          <p:nvPr>
            <p:ph idx="1"/>
          </p:nvPr>
        </p:nvSpPr>
        <p:spPr>
          <a:xfrm>
            <a:off x="250825" y="1557338"/>
            <a:ext cx="8569325" cy="3455987"/>
          </a:xfrm>
        </p:spPr>
        <p:txBody>
          <a:bodyPr/>
          <a:lstStyle/>
          <a:p>
            <a:pPr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加法时，最高位（字节操作时的</a:t>
            </a:r>
            <a:r>
              <a:rPr lang="en-US" altLang="zh-CN">
                <a:latin typeface="Times New Roman" panose="02020603050405020304" pitchFamily="18" charset="0"/>
                <a:ea typeface="楷体_GB2312" pitchFamily="1" charset="-122"/>
              </a:rPr>
              <a:t>D</a:t>
            </a:r>
            <a:r>
              <a:rPr lang="en-US" altLang="zh-CN" baseline="-25000">
                <a:latin typeface="Times New Roman" panose="02020603050405020304" pitchFamily="18" charset="0"/>
                <a:ea typeface="楷体_GB2312" pitchFamily="1" charset="-122"/>
              </a:rPr>
              <a:t>7</a:t>
            </a:r>
            <a:r>
              <a:rPr lang="zh-CN" altLang="en-US">
                <a:latin typeface="Times New Roman" panose="02020603050405020304" pitchFamily="18" charset="0"/>
                <a:ea typeface="楷体_GB2312" pitchFamily="1" charset="-122"/>
              </a:rPr>
              <a:t>位，字操作时的</a:t>
            </a:r>
            <a:r>
              <a:rPr lang="en-US" altLang="zh-CN">
                <a:latin typeface="Times New Roman" panose="02020603050405020304" pitchFamily="18" charset="0"/>
                <a:ea typeface="楷体_GB2312" pitchFamily="1" charset="-122"/>
              </a:rPr>
              <a:t>D</a:t>
            </a:r>
            <a:r>
              <a:rPr lang="en-US" altLang="zh-CN" baseline="-25000">
                <a:latin typeface="Times New Roman" panose="02020603050405020304" pitchFamily="18" charset="0"/>
                <a:ea typeface="楷体_GB2312" pitchFamily="1" charset="-122"/>
              </a:rPr>
              <a:t>15</a:t>
            </a:r>
            <a:r>
              <a:rPr lang="zh-CN" altLang="en-US">
                <a:latin typeface="Times New Roman" panose="02020603050405020304" pitchFamily="18" charset="0"/>
                <a:ea typeface="楷体_GB2312" pitchFamily="1" charset="-122"/>
              </a:rPr>
              <a:t>位）是否有</a:t>
            </a:r>
            <a:r>
              <a:rPr lang="zh-CN" altLang="en-US" b="1">
                <a:solidFill>
                  <a:schemeClr val="folHlink"/>
                </a:solidFill>
                <a:latin typeface="Times New Roman" panose="02020603050405020304" pitchFamily="18" charset="0"/>
                <a:ea typeface="楷体_GB2312" pitchFamily="1" charset="-122"/>
              </a:rPr>
              <a:t>进位</a:t>
            </a:r>
            <a:r>
              <a:rPr lang="zh-CN" altLang="en-US">
                <a:latin typeface="Times New Roman" panose="02020603050405020304" pitchFamily="18" charset="0"/>
                <a:ea typeface="楷体_GB2312" pitchFamily="1" charset="-122"/>
              </a:rPr>
              <a:t>产生。</a:t>
            </a:r>
          </a:p>
          <a:p>
            <a:pPr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减法时，最高位（字节操作时的</a:t>
            </a:r>
            <a:r>
              <a:rPr lang="en-US" altLang="zh-CN">
                <a:latin typeface="Times New Roman" panose="02020603050405020304" pitchFamily="18" charset="0"/>
                <a:ea typeface="楷体_GB2312" pitchFamily="1" charset="-122"/>
              </a:rPr>
              <a:t>D</a:t>
            </a:r>
            <a:r>
              <a:rPr lang="en-US" altLang="zh-CN" baseline="-25000">
                <a:latin typeface="Times New Roman" panose="02020603050405020304" pitchFamily="18" charset="0"/>
                <a:ea typeface="楷体_GB2312" pitchFamily="1" charset="-122"/>
              </a:rPr>
              <a:t>7</a:t>
            </a:r>
            <a:r>
              <a:rPr lang="zh-CN" altLang="en-US">
                <a:latin typeface="Times New Roman" panose="02020603050405020304" pitchFamily="18" charset="0"/>
                <a:ea typeface="楷体_GB2312" pitchFamily="1" charset="-122"/>
              </a:rPr>
              <a:t>位，字操作时的</a:t>
            </a:r>
            <a:r>
              <a:rPr lang="en-US" altLang="zh-CN">
                <a:latin typeface="Times New Roman" panose="02020603050405020304" pitchFamily="18" charset="0"/>
                <a:ea typeface="楷体_GB2312" pitchFamily="1" charset="-122"/>
              </a:rPr>
              <a:t>D</a:t>
            </a:r>
            <a:r>
              <a:rPr lang="en-US" altLang="zh-CN" baseline="-25000">
                <a:latin typeface="Times New Roman" panose="02020603050405020304" pitchFamily="18" charset="0"/>
                <a:ea typeface="楷体_GB2312" pitchFamily="1" charset="-122"/>
              </a:rPr>
              <a:t>15</a:t>
            </a:r>
            <a:r>
              <a:rPr lang="zh-CN" altLang="en-US">
                <a:latin typeface="Times New Roman" panose="02020603050405020304" pitchFamily="18" charset="0"/>
                <a:ea typeface="楷体_GB2312" pitchFamily="1" charset="-122"/>
              </a:rPr>
              <a:t>位）是否有</a:t>
            </a:r>
            <a:r>
              <a:rPr lang="zh-CN" altLang="en-US" b="1">
                <a:solidFill>
                  <a:schemeClr val="folHlink"/>
                </a:solidFill>
                <a:latin typeface="Times New Roman" panose="02020603050405020304" pitchFamily="18" charset="0"/>
                <a:ea typeface="楷体_GB2312" pitchFamily="1" charset="-122"/>
              </a:rPr>
              <a:t>借位</a:t>
            </a:r>
            <a:r>
              <a:rPr lang="zh-CN" altLang="en-US">
                <a:latin typeface="Times New Roman" panose="02020603050405020304" pitchFamily="18" charset="0"/>
                <a:ea typeface="楷体_GB2312" pitchFamily="1" charset="-122"/>
              </a:rPr>
              <a:t>产生。</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 calcmode="lin" valueType="num">
                                      <p:cBhvr additive="base">
                                        <p:cTn id="7" dur="500" fill="hold"/>
                                        <p:tgtEl>
                                          <p:spTgt spid="296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699">
                                            <p:txEl>
                                              <p:pRg st="1" end="1"/>
                                            </p:txEl>
                                          </p:spTgt>
                                        </p:tgtEl>
                                        <p:attrNameLst>
                                          <p:attrName>style.visibility</p:attrName>
                                        </p:attrNameLst>
                                      </p:cBhvr>
                                      <p:to>
                                        <p:strVal val="visible"/>
                                      </p:to>
                                    </p:set>
                                    <p:anim calcmode="lin" valueType="num">
                                      <p:cBhvr additive="base">
                                        <p:cTn id="13" dur="500" fill="hold"/>
                                        <p:tgtEl>
                                          <p:spTgt spid="296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69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E66B139-DDCB-43E7-15DA-8194BB408896}"/>
              </a:ext>
            </a:extLst>
          </p:cNvPr>
          <p:cNvSpPr>
            <a:spLocks noGrp="1" noChangeArrowheads="1"/>
          </p:cNvSpPr>
          <p:nvPr>
            <p:ph type="title"/>
          </p:nvPr>
        </p:nvSpPr>
        <p:spPr/>
        <p:txBody>
          <a:bodyPr/>
          <a:lstStyle/>
          <a:p>
            <a:pPr algn="ctr" eaLnBrk="1" hangingPunct="1">
              <a:defRPr/>
            </a:pP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奇偶标志</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PF(Parity Flag)</a:t>
            </a:r>
            <a:endPar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30723" name="Rectangle 3">
            <a:extLst>
              <a:ext uri="{FF2B5EF4-FFF2-40B4-BE49-F238E27FC236}">
                <a16:creationId xmlns:a16="http://schemas.microsoft.com/office/drawing/2014/main" id="{E85E14BA-0B4F-C771-C56C-75C1480DD69B}"/>
              </a:ext>
            </a:extLst>
          </p:cNvPr>
          <p:cNvSpPr>
            <a:spLocks noGrp="1" noChangeArrowheads="1"/>
          </p:cNvSpPr>
          <p:nvPr>
            <p:ph idx="1"/>
          </p:nvPr>
        </p:nvSpPr>
        <p:spPr/>
        <p:txBody>
          <a:bodyPr/>
          <a:lstStyle/>
          <a:p>
            <a:pPr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若运算结果</a:t>
            </a:r>
            <a:r>
              <a:rPr lang="zh-CN" altLang="en-US">
                <a:solidFill>
                  <a:schemeClr val="hlink"/>
                </a:solidFill>
                <a:latin typeface="Times New Roman" panose="02020603050405020304" pitchFamily="18" charset="0"/>
                <a:ea typeface="楷体_GB2312" pitchFamily="1" charset="-122"/>
              </a:rPr>
              <a:t>低8位</a:t>
            </a:r>
            <a:r>
              <a:rPr lang="zh-CN" altLang="en-US">
                <a:latin typeface="Times New Roman" panose="02020603050405020304" pitchFamily="18" charset="0"/>
                <a:ea typeface="楷体_GB2312" pitchFamily="1" charset="-122"/>
              </a:rPr>
              <a:t>中“1”的个数为偶数，则</a:t>
            </a:r>
            <a:r>
              <a:rPr lang="en-US" altLang="zh-CN">
                <a:latin typeface="Times New Roman" panose="02020603050405020304" pitchFamily="18" charset="0"/>
                <a:ea typeface="楷体_GB2312" pitchFamily="1" charset="-122"/>
              </a:rPr>
              <a:t>PF=1</a:t>
            </a:r>
            <a:r>
              <a:rPr lang="zh-CN" altLang="en-US">
                <a:latin typeface="Times New Roman" panose="02020603050405020304" pitchFamily="18" charset="0"/>
                <a:ea typeface="楷体_GB2312" pitchFamily="1" charset="-122"/>
              </a:rPr>
              <a:t>；否则</a:t>
            </a:r>
            <a:r>
              <a:rPr lang="en-US" altLang="zh-CN">
                <a:latin typeface="Times New Roman" panose="02020603050405020304" pitchFamily="18" charset="0"/>
                <a:ea typeface="楷体_GB2312" pitchFamily="1" charset="-122"/>
              </a:rPr>
              <a:t>PF=0</a:t>
            </a:r>
            <a:r>
              <a:rPr lang="zh-CN" altLang="en-US">
                <a:latin typeface="Times New Roman" panose="02020603050405020304" pitchFamily="18" charset="0"/>
                <a:ea typeface="楷体_GB2312" pitchFamily="1" charset="-122"/>
              </a:rPr>
              <a:t>。</a:t>
            </a:r>
          </a:p>
          <a:p>
            <a:pPr eaLnBrk="1" hangingPunct="1">
              <a:buFont typeface="Wingdings" panose="05000000000000000000" pitchFamily="2" charset="2"/>
              <a:buChar char="Ø"/>
            </a:pPr>
            <a:r>
              <a:rPr lang="zh-CN" altLang="en-US" b="1">
                <a:solidFill>
                  <a:schemeClr val="folHlink"/>
                </a:solidFill>
                <a:latin typeface="Times New Roman" panose="02020603050405020304" pitchFamily="18" charset="0"/>
                <a:ea typeface="楷体_GB2312" pitchFamily="1" charset="-122"/>
              </a:rPr>
              <a:t>一般用来检测数据传输中是否发生错误</a:t>
            </a:r>
            <a:r>
              <a:rPr lang="zh-CN" altLang="en-US">
                <a:latin typeface="Times New Roman" panose="02020603050405020304" pitchFamily="18" charset="0"/>
                <a:ea typeface="楷体_GB2312" pitchFamily="1"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slide(fromBottom)">
                                      <p:cBhvr>
                                        <p:cTn id="7" dur="500"/>
                                        <p:tgtEl>
                                          <p:spTgt spid="307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0723">
                                            <p:txEl>
                                              <p:pRg st="1" end="1"/>
                                            </p:txEl>
                                          </p:spTgt>
                                        </p:tgtEl>
                                        <p:attrNameLst>
                                          <p:attrName>style.visibility</p:attrName>
                                        </p:attrNameLst>
                                      </p:cBhvr>
                                      <p:to>
                                        <p:strVal val="visible"/>
                                      </p:to>
                                    </p:set>
                                    <p:animEffect transition="in" filter="slide(fromBottom)">
                                      <p:cBhvr>
                                        <p:cTn id="12" dur="500"/>
                                        <p:tgtEl>
                                          <p:spTgt spid="307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3F0B4D34-5889-3A07-00E8-41C6ED9182E3}"/>
              </a:ext>
            </a:extLst>
          </p:cNvPr>
          <p:cNvSpPr>
            <a:spLocks noGrp="1" noChangeArrowheads="1"/>
          </p:cNvSpPr>
          <p:nvPr>
            <p:ph type="title"/>
          </p:nvPr>
        </p:nvSpPr>
        <p:spPr>
          <a:xfrm>
            <a:off x="1150938" y="333375"/>
            <a:ext cx="7793037" cy="865188"/>
          </a:xfrm>
        </p:spPr>
        <p:txBody>
          <a:bodyPr/>
          <a:lstStyle/>
          <a:p>
            <a:pPr algn="ctr" eaLnBrk="1" hangingPunct="1">
              <a:defRPr/>
            </a:pPr>
            <a:r>
              <a:rPr lang="zh-CN" altLang="en-US" sz="32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辅助进位标志</a:t>
            </a:r>
            <a:r>
              <a:rPr lang="en-US" sz="32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AF(Auxiliary carrry Flag)</a:t>
            </a:r>
          </a:p>
        </p:txBody>
      </p:sp>
      <p:sp>
        <p:nvSpPr>
          <p:cNvPr id="31747" name="Rectangle 3">
            <a:extLst>
              <a:ext uri="{FF2B5EF4-FFF2-40B4-BE49-F238E27FC236}">
                <a16:creationId xmlns:a16="http://schemas.microsoft.com/office/drawing/2014/main" id="{4864289F-5DF5-1377-5D8C-288300AE893C}"/>
              </a:ext>
            </a:extLst>
          </p:cNvPr>
          <p:cNvSpPr>
            <a:spLocks noGrp="1" noChangeArrowheads="1"/>
          </p:cNvSpPr>
          <p:nvPr>
            <p:ph idx="1"/>
          </p:nvPr>
        </p:nvSpPr>
        <p:spPr>
          <a:xfrm>
            <a:off x="395288" y="1557338"/>
            <a:ext cx="8345487" cy="2879725"/>
          </a:xfrm>
        </p:spPr>
        <p:txBody>
          <a:bodyPr/>
          <a:lstStyle/>
          <a:p>
            <a:pPr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加法时，第3位向第4位有进位。</a:t>
            </a:r>
          </a:p>
          <a:p>
            <a:pPr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减法时，第3位向第4位有借位。</a:t>
            </a:r>
          </a:p>
          <a:p>
            <a:pPr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该标志位通常用于对</a:t>
            </a:r>
            <a:r>
              <a:rPr lang="en-US" altLang="zh-CN">
                <a:latin typeface="Times New Roman" panose="02020603050405020304" pitchFamily="18" charset="0"/>
                <a:ea typeface="楷体_GB2312" pitchFamily="1" charset="-122"/>
              </a:rPr>
              <a:t>BCD</a:t>
            </a:r>
            <a:r>
              <a:rPr lang="zh-CN" altLang="en-US">
                <a:latin typeface="Times New Roman" panose="02020603050405020304" pitchFamily="18" charset="0"/>
                <a:ea typeface="楷体_GB2312" pitchFamily="1" charset="-122"/>
              </a:rPr>
              <a:t>算术运算结果进行调整。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slide(fromBottom)">
                                      <p:cBhvr>
                                        <p:cTn id="7" dur="500"/>
                                        <p:tgtEl>
                                          <p:spTgt spid="317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1747">
                                            <p:txEl>
                                              <p:pRg st="1" end="1"/>
                                            </p:txEl>
                                          </p:spTgt>
                                        </p:tgtEl>
                                        <p:attrNameLst>
                                          <p:attrName>style.visibility</p:attrName>
                                        </p:attrNameLst>
                                      </p:cBhvr>
                                      <p:to>
                                        <p:strVal val="visible"/>
                                      </p:to>
                                    </p:set>
                                    <p:animEffect transition="in" filter="slide(fromBottom)">
                                      <p:cBhvr>
                                        <p:cTn id="12" dur="500"/>
                                        <p:tgtEl>
                                          <p:spTgt spid="317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1747">
                                            <p:txEl>
                                              <p:pRg st="2" end="2"/>
                                            </p:txEl>
                                          </p:spTgt>
                                        </p:tgtEl>
                                        <p:attrNameLst>
                                          <p:attrName>style.visibility</p:attrName>
                                        </p:attrNameLst>
                                      </p:cBhvr>
                                      <p:to>
                                        <p:strVal val="visible"/>
                                      </p:to>
                                    </p:set>
                                    <p:animEffect transition="in" filter="slide(fromBottom)">
                                      <p:cBhvr>
                                        <p:cTn id="17" dur="500"/>
                                        <p:tgtEl>
                                          <p:spTgt spid="317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99B28FF9-889C-E957-5D95-18BFD07B53E9}"/>
              </a:ext>
            </a:extLst>
          </p:cNvPr>
          <p:cNvSpPr>
            <a:spLocks noGrp="1" noChangeArrowheads="1"/>
          </p:cNvSpPr>
          <p:nvPr>
            <p:ph type="title"/>
          </p:nvPr>
        </p:nvSpPr>
        <p:spPr/>
        <p:txBody>
          <a:bodyPr/>
          <a:lstStyle/>
          <a:p>
            <a:pPr algn="ctr" eaLnBrk="1" hangingPunct="1">
              <a:defRPr/>
            </a:pP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零标志</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ZF(Zero Flag)</a:t>
            </a:r>
            <a:endPar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44034" name="Rectangle 3">
            <a:extLst>
              <a:ext uri="{FF2B5EF4-FFF2-40B4-BE49-F238E27FC236}">
                <a16:creationId xmlns:a16="http://schemas.microsoft.com/office/drawing/2014/main" id="{15A747DA-2563-4A57-44F6-25D74B4BF2AC}"/>
              </a:ext>
            </a:extLst>
          </p:cNvPr>
          <p:cNvSpPr>
            <a:spLocks noGrp="1" noChangeArrowheads="1"/>
          </p:cNvSpPr>
          <p:nvPr>
            <p:ph idx="1"/>
          </p:nvPr>
        </p:nvSpPr>
        <p:spPr/>
        <p:txBody>
          <a:bodyPr/>
          <a:lstStyle/>
          <a:p>
            <a:pPr eaLnBrk="1" hangingPunct="1">
              <a:buFont typeface="Wingdings" panose="05000000000000000000" pitchFamily="2" charset="2"/>
              <a:buNone/>
            </a:pPr>
            <a:r>
              <a:rPr lang="zh-CN" altLang="en-US">
                <a:latin typeface="Times New Roman" panose="02020603050405020304" pitchFamily="18" charset="0"/>
                <a:ea typeface="楷体_GB2312" pitchFamily="1" charset="-122"/>
              </a:rPr>
              <a:t>若运算结果为0，则</a:t>
            </a:r>
            <a:r>
              <a:rPr lang="en-US" altLang="zh-CN">
                <a:latin typeface="Times New Roman" panose="02020603050405020304" pitchFamily="18" charset="0"/>
                <a:ea typeface="楷体_GB2312" pitchFamily="1" charset="-122"/>
              </a:rPr>
              <a:t>ZF=1</a:t>
            </a:r>
            <a:r>
              <a:rPr lang="zh-CN" altLang="en-US">
                <a:latin typeface="Times New Roman" panose="02020603050405020304" pitchFamily="18" charset="0"/>
                <a:ea typeface="楷体_GB2312" pitchFamily="1" charset="-122"/>
              </a:rPr>
              <a:t>；否则</a:t>
            </a:r>
            <a:r>
              <a:rPr lang="en-US" altLang="zh-CN">
                <a:latin typeface="Times New Roman" panose="02020603050405020304" pitchFamily="18" charset="0"/>
                <a:ea typeface="楷体_GB2312" pitchFamily="1" charset="-122"/>
              </a:rPr>
              <a:t>ZF=0</a:t>
            </a:r>
            <a:r>
              <a:rPr lang="zh-CN" altLang="en-US">
                <a:latin typeface="Times New Roman" panose="02020603050405020304" pitchFamily="18" charset="0"/>
                <a:ea typeface="楷体_GB2312" pitchFamily="1" charset="-122"/>
              </a:rPr>
              <a:t>。</a:t>
            </a:r>
          </a:p>
          <a:p>
            <a:pPr eaLnBrk="1" hangingPunct="1"/>
            <a:endParaRPr lang="zh-CN" altLang="en-US"/>
          </a:p>
        </p:txBody>
      </p:sp>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1116C88E-3CFB-F95D-A75C-FCACA56EF85F}"/>
              </a:ext>
            </a:extLst>
          </p:cNvPr>
          <p:cNvSpPr>
            <a:spLocks noGrp="1" noChangeArrowheads="1"/>
          </p:cNvSpPr>
          <p:nvPr>
            <p:ph type="title"/>
          </p:nvPr>
        </p:nvSpPr>
        <p:spPr>
          <a:xfrm>
            <a:off x="1150938" y="260350"/>
            <a:ext cx="7793037" cy="936625"/>
          </a:xfrm>
        </p:spPr>
        <p:txBody>
          <a:bodyPr/>
          <a:lstStyle/>
          <a:p>
            <a:pPr algn="ctr" eaLnBrk="1" hangingPunct="1">
              <a:defRPr/>
            </a:pP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符号标志</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SF(Sign Flag)</a:t>
            </a:r>
          </a:p>
        </p:txBody>
      </p:sp>
      <p:sp>
        <p:nvSpPr>
          <p:cNvPr id="45058" name="Rectangle 3">
            <a:extLst>
              <a:ext uri="{FF2B5EF4-FFF2-40B4-BE49-F238E27FC236}">
                <a16:creationId xmlns:a16="http://schemas.microsoft.com/office/drawing/2014/main" id="{98DB96BC-5E6E-CB05-5A50-10D4B98D5588}"/>
              </a:ext>
            </a:extLst>
          </p:cNvPr>
          <p:cNvSpPr>
            <a:spLocks noGrp="1" noChangeArrowheads="1"/>
          </p:cNvSpPr>
          <p:nvPr>
            <p:ph idx="1"/>
          </p:nvPr>
        </p:nvSpPr>
        <p:spPr>
          <a:xfrm>
            <a:off x="468313" y="1557338"/>
            <a:ext cx="7772400" cy="2663825"/>
          </a:xfrm>
        </p:spPr>
        <p:txBody>
          <a:bodyPr/>
          <a:lstStyle/>
          <a:p>
            <a:pPr eaLnBrk="1" hangingPunct="1">
              <a:buFont typeface="Wingdings" panose="05000000000000000000" pitchFamily="2" charset="2"/>
              <a:buNone/>
            </a:pPr>
            <a:r>
              <a:rPr lang="zh-CN" altLang="en-US">
                <a:latin typeface="Times New Roman" panose="02020603050405020304" pitchFamily="18" charset="0"/>
                <a:ea typeface="楷体_GB2312" pitchFamily="1" charset="-122"/>
              </a:rPr>
              <a:t>它和运算结果的最高位</a:t>
            </a:r>
            <a:r>
              <a:rPr lang="en-US" altLang="zh-CN">
                <a:latin typeface="Times New Roman" panose="02020603050405020304" pitchFamily="18" charset="0"/>
                <a:ea typeface="楷体_GB2312" pitchFamily="1" charset="-122"/>
              </a:rPr>
              <a:t>D</a:t>
            </a:r>
            <a:r>
              <a:rPr lang="en-US" altLang="zh-CN" baseline="-25000">
                <a:latin typeface="Times New Roman" panose="02020603050405020304" pitchFamily="18" charset="0"/>
                <a:ea typeface="楷体_GB2312" pitchFamily="1" charset="-122"/>
              </a:rPr>
              <a:t>15</a:t>
            </a:r>
            <a:r>
              <a:rPr lang="zh-CN" altLang="en-US">
                <a:latin typeface="Times New Roman" panose="02020603050405020304" pitchFamily="18" charset="0"/>
                <a:ea typeface="楷体_GB2312" pitchFamily="1" charset="-122"/>
              </a:rPr>
              <a:t>或</a:t>
            </a:r>
            <a:r>
              <a:rPr lang="en-US" altLang="zh-CN">
                <a:latin typeface="Times New Roman" panose="02020603050405020304" pitchFamily="18" charset="0"/>
                <a:ea typeface="楷体_GB2312" pitchFamily="1" charset="-122"/>
              </a:rPr>
              <a:t>D</a:t>
            </a:r>
            <a:r>
              <a:rPr lang="en-US" altLang="zh-CN" baseline="-25000">
                <a:latin typeface="Times New Roman" panose="02020603050405020304" pitchFamily="18" charset="0"/>
                <a:ea typeface="楷体_GB2312" pitchFamily="1" charset="-122"/>
              </a:rPr>
              <a:t>7</a:t>
            </a:r>
            <a:r>
              <a:rPr lang="zh-CN" altLang="en-US">
                <a:latin typeface="Times New Roman" panose="02020603050405020304" pitchFamily="18" charset="0"/>
                <a:ea typeface="楷体_GB2312" pitchFamily="1" charset="-122"/>
              </a:rPr>
              <a:t>相同。</a:t>
            </a:r>
          </a:p>
        </p:txBody>
      </p:sp>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63AFF105-97E2-B494-3A49-40A3A7865630}"/>
              </a:ext>
            </a:extLst>
          </p:cNvPr>
          <p:cNvSpPr>
            <a:spLocks noGrp="1" noChangeArrowheads="1"/>
          </p:cNvSpPr>
          <p:nvPr>
            <p:ph type="title"/>
          </p:nvPr>
        </p:nvSpPr>
        <p:spPr/>
        <p:txBody>
          <a:bodyPr/>
          <a:lstStyle/>
          <a:p>
            <a:pPr algn="ctr" eaLnBrk="1" hangingPunct="1">
              <a:defRPr/>
            </a:pP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溢出标志</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OF(Overflow Flag)</a:t>
            </a:r>
            <a:endPar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46082" name="Rectangle 3">
            <a:extLst>
              <a:ext uri="{FF2B5EF4-FFF2-40B4-BE49-F238E27FC236}">
                <a16:creationId xmlns:a16="http://schemas.microsoft.com/office/drawing/2014/main" id="{ACEB31D0-E067-561C-F044-76A97449B0D9}"/>
              </a:ext>
            </a:extLst>
          </p:cNvPr>
          <p:cNvSpPr>
            <a:spLocks noGrp="1" noChangeArrowheads="1"/>
          </p:cNvSpPr>
          <p:nvPr>
            <p:ph idx="1"/>
          </p:nvPr>
        </p:nvSpPr>
        <p:spPr/>
        <p:txBody>
          <a:bodyPr/>
          <a:lstStyle/>
          <a:p>
            <a:pPr marL="0" indent="0" eaLnBrk="1" hangingPunct="1">
              <a:buFont typeface="Wingdings" panose="05000000000000000000" pitchFamily="2" charset="2"/>
              <a:buNone/>
            </a:pPr>
            <a:r>
              <a:rPr lang="zh-CN" altLang="en-US">
                <a:latin typeface="Times New Roman" panose="02020603050405020304" pitchFamily="18" charset="0"/>
                <a:ea typeface="楷体_GB2312" pitchFamily="1" charset="-122"/>
              </a:rPr>
              <a:t>若运算过程中发生了“溢出”，则</a:t>
            </a:r>
            <a:r>
              <a:rPr lang="en-US" altLang="zh-CN">
                <a:latin typeface="Times New Roman" panose="02020603050405020304" pitchFamily="18" charset="0"/>
                <a:ea typeface="楷体_GB2312" pitchFamily="1" charset="-122"/>
              </a:rPr>
              <a:t>OF=1</a:t>
            </a:r>
            <a:r>
              <a:rPr lang="zh-CN" altLang="en-US">
                <a:latin typeface="Times New Roman" panose="02020603050405020304" pitchFamily="18" charset="0"/>
                <a:ea typeface="楷体_GB2312" pitchFamily="1" charset="-122"/>
              </a:rPr>
              <a:t>，否则</a:t>
            </a:r>
            <a:r>
              <a:rPr lang="en-US" altLang="zh-CN">
                <a:latin typeface="Times New Roman" panose="02020603050405020304" pitchFamily="18" charset="0"/>
                <a:ea typeface="楷体_GB2312" pitchFamily="1" charset="-122"/>
              </a:rPr>
              <a:t>OF=0</a:t>
            </a:r>
            <a:r>
              <a:rPr lang="zh-CN" altLang="en-US">
                <a:latin typeface="Times New Roman" panose="02020603050405020304" pitchFamily="18" charset="0"/>
                <a:ea typeface="楷体_GB2312" pitchFamily="1" charset="-122"/>
              </a:rPr>
              <a:t>。字节运算大于</a:t>
            </a:r>
            <a:r>
              <a:rPr lang="en-US" altLang="zh-CN">
                <a:latin typeface="Times New Roman" panose="02020603050405020304" pitchFamily="18" charset="0"/>
                <a:ea typeface="楷体_GB2312" pitchFamily="1" charset="-122"/>
              </a:rPr>
              <a:t>127</a:t>
            </a:r>
            <a:r>
              <a:rPr lang="zh-CN" altLang="en-US">
                <a:latin typeface="Times New Roman" panose="02020603050405020304" pitchFamily="18" charset="0"/>
                <a:ea typeface="楷体_GB2312" pitchFamily="1" charset="-122"/>
              </a:rPr>
              <a:t>或小于</a:t>
            </a:r>
            <a:r>
              <a:rPr lang="en-US" altLang="zh-CN">
                <a:latin typeface="Times New Roman" panose="02020603050405020304" pitchFamily="18" charset="0"/>
                <a:ea typeface="楷体_GB2312" pitchFamily="1" charset="-122"/>
              </a:rPr>
              <a:t>-128</a:t>
            </a:r>
            <a:r>
              <a:rPr lang="zh-CN" altLang="en-US">
                <a:latin typeface="Times New Roman" panose="02020603050405020304" pitchFamily="18" charset="0"/>
                <a:ea typeface="楷体_GB2312" pitchFamily="1" charset="-122"/>
              </a:rPr>
              <a:t>时，标志位置</a:t>
            </a:r>
            <a:r>
              <a:rPr lang="en-US" altLang="zh-CN">
                <a:latin typeface="Times New Roman" panose="02020603050405020304" pitchFamily="18" charset="0"/>
                <a:ea typeface="楷体_GB2312" pitchFamily="1" charset="-122"/>
              </a:rPr>
              <a:t>1</a:t>
            </a:r>
            <a:r>
              <a:rPr lang="zh-CN" altLang="en-US">
                <a:latin typeface="Times New Roman" panose="02020603050405020304" pitchFamily="18" charset="0"/>
                <a:ea typeface="楷体_GB2312" pitchFamily="1" charset="-122"/>
              </a:rPr>
              <a:t>，当字运算大于</a:t>
            </a:r>
            <a:r>
              <a:rPr lang="en-US" altLang="zh-CN">
                <a:latin typeface="Times New Roman" panose="02020603050405020304" pitchFamily="18" charset="0"/>
                <a:ea typeface="楷体_GB2312" pitchFamily="1" charset="-122"/>
              </a:rPr>
              <a:t>32767</a:t>
            </a:r>
            <a:r>
              <a:rPr lang="zh-CN" altLang="en-US">
                <a:latin typeface="Times New Roman" panose="02020603050405020304" pitchFamily="18" charset="0"/>
                <a:ea typeface="楷体_GB2312" pitchFamily="1" charset="-122"/>
              </a:rPr>
              <a:t>或小于</a:t>
            </a:r>
            <a:r>
              <a:rPr lang="en-US" altLang="zh-CN">
                <a:latin typeface="Times New Roman" panose="02020603050405020304" pitchFamily="18" charset="0"/>
                <a:ea typeface="楷体_GB2312" pitchFamily="1" charset="-122"/>
              </a:rPr>
              <a:t>-32768</a:t>
            </a:r>
            <a:r>
              <a:rPr lang="zh-CN" altLang="en-US">
                <a:latin typeface="Times New Roman" panose="02020603050405020304" pitchFamily="18" charset="0"/>
                <a:ea typeface="楷体_GB2312" pitchFamily="1" charset="-122"/>
              </a:rPr>
              <a:t>，标志位置</a:t>
            </a:r>
            <a:r>
              <a:rPr lang="en-US" altLang="zh-CN">
                <a:latin typeface="Times New Roman" panose="02020603050405020304" pitchFamily="18" charset="0"/>
                <a:ea typeface="楷体_GB2312" pitchFamily="1" charset="-122"/>
              </a:rPr>
              <a:t>1</a:t>
            </a:r>
            <a:r>
              <a:rPr lang="zh-CN" altLang="en-US">
                <a:latin typeface="Times New Roman" panose="02020603050405020304" pitchFamily="18" charset="0"/>
                <a:ea typeface="楷体_GB2312" pitchFamily="1" charset="-122"/>
              </a:rPr>
              <a:t>。 </a:t>
            </a:r>
          </a:p>
          <a:p>
            <a:pPr marL="0" indent="0" eaLnBrk="1" hangingPunct="1">
              <a:buFont typeface="Wingdings" panose="05000000000000000000" pitchFamily="2" charset="2"/>
              <a:buNone/>
            </a:pPr>
            <a:endParaRPr lang="zh-CN" altLang="en-US"/>
          </a:p>
        </p:txBody>
      </p:sp>
    </p:spTree>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977E6C2A-AD48-E8F1-732B-D141DFA78969}"/>
              </a:ext>
            </a:extLst>
          </p:cNvPr>
          <p:cNvSpPr>
            <a:spLocks noGrp="1" noChangeArrowheads="1"/>
          </p:cNvSpPr>
          <p:nvPr>
            <p:ph type="title"/>
          </p:nvPr>
        </p:nvSpPr>
        <p:spPr>
          <a:xfrm>
            <a:off x="1150938" y="333375"/>
            <a:ext cx="7793037" cy="865188"/>
          </a:xfrm>
        </p:spPr>
        <p:txBody>
          <a:bodyPr/>
          <a:lstStyle/>
          <a:p>
            <a:pPr algn="ctr" eaLnBrk="1" hangingPunct="1">
              <a:defRPr/>
            </a:pP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控制标志位</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(3</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位</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a:t>
            </a:r>
          </a:p>
        </p:txBody>
      </p:sp>
      <p:sp>
        <p:nvSpPr>
          <p:cNvPr id="47106" name="Rectangle 3">
            <a:extLst>
              <a:ext uri="{FF2B5EF4-FFF2-40B4-BE49-F238E27FC236}">
                <a16:creationId xmlns:a16="http://schemas.microsoft.com/office/drawing/2014/main" id="{82FEF935-AC1A-AE06-D7BD-F19492894D3B}"/>
              </a:ext>
            </a:extLst>
          </p:cNvPr>
          <p:cNvSpPr>
            <a:spLocks noGrp="1" noChangeArrowheads="1"/>
          </p:cNvSpPr>
          <p:nvPr>
            <p:ph idx="1"/>
          </p:nvPr>
        </p:nvSpPr>
        <p:spPr>
          <a:xfrm>
            <a:off x="468313" y="1628775"/>
            <a:ext cx="8153400" cy="3168650"/>
          </a:xfrm>
        </p:spPr>
        <p:txBody>
          <a:bodyPr/>
          <a:lstStyle/>
          <a:p>
            <a:pPr eaLnBrk="1" hangingPunct="1">
              <a:buFont typeface="Wingdings" panose="05000000000000000000" pitchFamily="2" charset="2"/>
              <a:buNone/>
            </a:pPr>
            <a:r>
              <a:rPr lang="zh-CN" altLang="en-US">
                <a:latin typeface="Times New Roman" panose="02020603050405020304" pitchFamily="18" charset="0"/>
                <a:ea typeface="楷体_GB2312" pitchFamily="1" charset="-122"/>
              </a:rPr>
              <a:t>用来控制</a:t>
            </a:r>
            <a:r>
              <a:rPr lang="en-US" altLang="zh-CN">
                <a:latin typeface="Times New Roman" panose="02020603050405020304" pitchFamily="18" charset="0"/>
                <a:ea typeface="楷体_GB2312" pitchFamily="1" charset="-122"/>
              </a:rPr>
              <a:t>CPU</a:t>
            </a:r>
            <a:r>
              <a:rPr lang="zh-CN" altLang="en-US">
                <a:latin typeface="Times New Roman" panose="02020603050405020304" pitchFamily="18" charset="0"/>
                <a:ea typeface="楷体_GB2312" pitchFamily="1" charset="-122"/>
              </a:rPr>
              <a:t>的操作，由程序设置或清除。</a:t>
            </a:r>
            <a:endParaRPr lang="zh-CN" altLang="en-US" b="1">
              <a:latin typeface="Times New Roman" panose="02020603050405020304" pitchFamily="18" charset="0"/>
            </a:endParaRPr>
          </a:p>
        </p:txBody>
      </p:sp>
    </p:spTree>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B8CE931A-5937-119D-1C7A-1ED09F59CADE}"/>
              </a:ext>
            </a:extLst>
          </p:cNvPr>
          <p:cNvSpPr>
            <a:spLocks noGrp="1" noChangeArrowheads="1"/>
          </p:cNvSpPr>
          <p:nvPr>
            <p:ph type="title"/>
          </p:nvPr>
        </p:nvSpPr>
        <p:spPr>
          <a:xfrm>
            <a:off x="1150938" y="333375"/>
            <a:ext cx="7793037" cy="865188"/>
          </a:xfrm>
        </p:spPr>
        <p:txBody>
          <a:bodyPr/>
          <a:lstStyle/>
          <a:p>
            <a:pPr algn="ctr" eaLnBrk="1" hangingPunct="1">
              <a:defRPr/>
            </a:pPr>
            <a:r>
              <a:rPr lang="zh-CN" altLang="en-US" sz="32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中断允许标志</a:t>
            </a:r>
            <a:r>
              <a:rPr lang="en-US" sz="32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IF(Interrupt Enable Flag)</a:t>
            </a:r>
          </a:p>
        </p:txBody>
      </p:sp>
      <p:sp>
        <p:nvSpPr>
          <p:cNvPr id="36867" name="Rectangle 3">
            <a:extLst>
              <a:ext uri="{FF2B5EF4-FFF2-40B4-BE49-F238E27FC236}">
                <a16:creationId xmlns:a16="http://schemas.microsoft.com/office/drawing/2014/main" id="{FFF71D1F-3CDA-75A7-3E6C-DE3DB8DD182D}"/>
              </a:ext>
            </a:extLst>
          </p:cNvPr>
          <p:cNvSpPr>
            <a:spLocks noGrp="1" noChangeArrowheads="1"/>
          </p:cNvSpPr>
          <p:nvPr>
            <p:ph idx="1"/>
          </p:nvPr>
        </p:nvSpPr>
        <p:spPr>
          <a:xfrm>
            <a:off x="468313" y="1557338"/>
            <a:ext cx="7772400" cy="3163887"/>
          </a:xfrm>
        </p:spPr>
        <p:txBody>
          <a:bodyPr/>
          <a:lstStyle/>
          <a:p>
            <a:pPr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如果</a:t>
            </a:r>
            <a:r>
              <a:rPr lang="en-US" altLang="zh-CN">
                <a:latin typeface="Times New Roman" panose="02020603050405020304" pitchFamily="18" charset="0"/>
                <a:ea typeface="楷体_GB2312" pitchFamily="1" charset="-122"/>
              </a:rPr>
              <a:t>IF</a:t>
            </a:r>
            <a:r>
              <a:rPr lang="zh-CN" altLang="en-US">
                <a:latin typeface="Times New Roman" panose="02020603050405020304" pitchFamily="18" charset="0"/>
                <a:ea typeface="楷体_GB2312" pitchFamily="1" charset="-122"/>
              </a:rPr>
              <a:t>置“1”，则</a:t>
            </a:r>
            <a:r>
              <a:rPr lang="en-US" altLang="zh-CN">
                <a:latin typeface="Times New Roman" panose="02020603050405020304" pitchFamily="18" charset="0"/>
                <a:ea typeface="楷体_GB2312" pitchFamily="1" charset="-122"/>
              </a:rPr>
              <a:t>CPU</a:t>
            </a:r>
            <a:r>
              <a:rPr lang="zh-CN" altLang="en-US">
                <a:latin typeface="Times New Roman" panose="02020603050405020304" pitchFamily="18" charset="0"/>
                <a:ea typeface="楷体_GB2312" pitchFamily="1" charset="-122"/>
              </a:rPr>
              <a:t>可以接受</a:t>
            </a:r>
            <a:r>
              <a:rPr lang="zh-CN" altLang="en-US">
                <a:solidFill>
                  <a:schemeClr val="hlink"/>
                </a:solidFill>
                <a:latin typeface="Times New Roman" panose="02020603050405020304" pitchFamily="18" charset="0"/>
                <a:ea typeface="楷体_GB2312" pitchFamily="1" charset="-122"/>
              </a:rPr>
              <a:t>可屏蔽中断</a:t>
            </a:r>
            <a:r>
              <a:rPr lang="zh-CN" altLang="en-US">
                <a:latin typeface="Times New Roman" panose="02020603050405020304" pitchFamily="18" charset="0"/>
                <a:ea typeface="楷体_GB2312" pitchFamily="1" charset="-122"/>
              </a:rPr>
              <a:t>请求；反之，则</a:t>
            </a:r>
            <a:r>
              <a:rPr lang="en-US" altLang="zh-CN">
                <a:latin typeface="Times New Roman" panose="02020603050405020304" pitchFamily="18" charset="0"/>
                <a:ea typeface="楷体_GB2312" pitchFamily="1" charset="-122"/>
              </a:rPr>
              <a:t>CPU</a:t>
            </a:r>
            <a:r>
              <a:rPr lang="zh-CN" altLang="en-US">
                <a:latin typeface="Times New Roman" panose="02020603050405020304" pitchFamily="18" charset="0"/>
                <a:ea typeface="楷体_GB2312" pitchFamily="1" charset="-122"/>
              </a:rPr>
              <a:t>不能接受可屏蔽中断请求。</a:t>
            </a:r>
          </a:p>
          <a:p>
            <a:pPr eaLnBrk="1" hangingPunct="1">
              <a:buFont typeface="Wingdings" panose="05000000000000000000" pitchFamily="2" charset="2"/>
              <a:buChar char="Ø"/>
            </a:pPr>
            <a:r>
              <a:rPr lang="en-US" altLang="zh-CN">
                <a:latin typeface="Times New Roman" panose="02020603050405020304" pitchFamily="18" charset="0"/>
                <a:ea typeface="楷体_GB2312" pitchFamily="1" charset="-122"/>
              </a:rPr>
              <a:t>STI </a:t>
            </a:r>
            <a:r>
              <a:rPr lang="zh-CN" altLang="en-US">
                <a:latin typeface="Times New Roman" panose="02020603050405020304" pitchFamily="18" charset="0"/>
                <a:ea typeface="楷体_GB2312" pitchFamily="1" charset="-122"/>
              </a:rPr>
              <a:t>使</a:t>
            </a:r>
            <a:r>
              <a:rPr lang="en-US" altLang="zh-CN">
                <a:latin typeface="Times New Roman" panose="02020603050405020304" pitchFamily="18" charset="0"/>
                <a:ea typeface="楷体_GB2312" pitchFamily="1" charset="-122"/>
              </a:rPr>
              <a:t>IF</a:t>
            </a:r>
            <a:r>
              <a:rPr lang="zh-CN" altLang="en-US">
                <a:latin typeface="Times New Roman" panose="02020603050405020304" pitchFamily="18" charset="0"/>
                <a:ea typeface="楷体_GB2312" pitchFamily="1" charset="-122"/>
              </a:rPr>
              <a:t>置“1”，即开放中断。</a:t>
            </a:r>
          </a:p>
          <a:p>
            <a:pPr eaLnBrk="1" hangingPunct="1">
              <a:buFont typeface="Wingdings" panose="05000000000000000000" pitchFamily="2" charset="2"/>
              <a:buNone/>
            </a:pPr>
            <a:r>
              <a:rPr lang="zh-CN" altLang="en-US">
                <a:latin typeface="Times New Roman" panose="02020603050405020304" pitchFamily="18" charset="0"/>
                <a:ea typeface="楷体_GB2312" pitchFamily="1" charset="-122"/>
              </a:rPr>
              <a:t>   </a:t>
            </a:r>
            <a:r>
              <a:rPr lang="en-US" altLang="zh-CN">
                <a:latin typeface="Times New Roman" panose="02020603050405020304" pitchFamily="18" charset="0"/>
                <a:ea typeface="楷体_GB2312" pitchFamily="1" charset="-122"/>
              </a:rPr>
              <a:t>CLI </a:t>
            </a:r>
            <a:r>
              <a:rPr lang="zh-CN" altLang="en-US">
                <a:latin typeface="Times New Roman" panose="02020603050405020304" pitchFamily="18" charset="0"/>
                <a:ea typeface="楷体_GB2312" pitchFamily="1" charset="-122"/>
              </a:rPr>
              <a:t>使</a:t>
            </a:r>
            <a:r>
              <a:rPr lang="en-US" altLang="zh-CN">
                <a:latin typeface="Times New Roman" panose="02020603050405020304" pitchFamily="18" charset="0"/>
                <a:ea typeface="楷体_GB2312" pitchFamily="1" charset="-122"/>
              </a:rPr>
              <a:t>IF</a:t>
            </a:r>
            <a:r>
              <a:rPr lang="zh-CN" altLang="en-US">
                <a:latin typeface="Times New Roman" panose="02020603050405020304" pitchFamily="18" charset="0"/>
                <a:ea typeface="楷体_GB2312" pitchFamily="1" charset="-122"/>
              </a:rPr>
              <a:t>清“0”，即关闭中断。</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0" presetClass="entr" presetSubtype="0"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Effect transition="in" filter="fade">
                                      <p:cBhvr>
                                        <p:cTn id="7" dur="800" decel="100000"/>
                                        <p:tgtEl>
                                          <p:spTgt spid="36867">
                                            <p:txEl>
                                              <p:pRg st="0" end="0"/>
                                            </p:txEl>
                                          </p:spTgt>
                                        </p:tgtEl>
                                      </p:cBhvr>
                                    </p:animEffect>
                                    <p:anim calcmode="lin" valueType="num">
                                      <p:cBhvr>
                                        <p:cTn id="8" dur="800" decel="100000" fill="hold"/>
                                        <p:tgtEl>
                                          <p:spTgt spid="36867">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36867">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36867">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6867">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6867">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30" presetClass="entr" presetSubtype="0" fill="hold" nodeType="clickEffect">
                                  <p:stCondLst>
                                    <p:cond delay="0"/>
                                  </p:stCondLst>
                                  <p:childTnLst>
                                    <p:set>
                                      <p:cBhvr>
                                        <p:cTn id="16" dur="1" fill="hold">
                                          <p:stCondLst>
                                            <p:cond delay="0"/>
                                          </p:stCondLst>
                                        </p:cTn>
                                        <p:tgtEl>
                                          <p:spTgt spid="36867">
                                            <p:txEl>
                                              <p:pRg st="1" end="1"/>
                                            </p:txEl>
                                          </p:spTgt>
                                        </p:tgtEl>
                                        <p:attrNameLst>
                                          <p:attrName>style.visibility</p:attrName>
                                        </p:attrNameLst>
                                      </p:cBhvr>
                                      <p:to>
                                        <p:strVal val="visible"/>
                                      </p:to>
                                    </p:set>
                                    <p:animEffect transition="in" filter="fade">
                                      <p:cBhvr>
                                        <p:cTn id="17" dur="800" decel="100000"/>
                                        <p:tgtEl>
                                          <p:spTgt spid="36867">
                                            <p:txEl>
                                              <p:pRg st="1" end="1"/>
                                            </p:txEl>
                                          </p:spTgt>
                                        </p:tgtEl>
                                      </p:cBhvr>
                                    </p:animEffect>
                                    <p:anim calcmode="lin" valueType="num">
                                      <p:cBhvr>
                                        <p:cTn id="18" dur="800" decel="100000" fill="hold"/>
                                        <p:tgtEl>
                                          <p:spTgt spid="36867">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36867">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36867">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36867">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36867">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30" presetClass="entr" presetSubtype="0" fill="hold" nodeType="clickEffect">
                                  <p:stCondLst>
                                    <p:cond delay="0"/>
                                  </p:stCondLst>
                                  <p:childTnLst>
                                    <p:set>
                                      <p:cBhvr>
                                        <p:cTn id="26" dur="1" fill="hold">
                                          <p:stCondLst>
                                            <p:cond delay="0"/>
                                          </p:stCondLst>
                                        </p:cTn>
                                        <p:tgtEl>
                                          <p:spTgt spid="36867">
                                            <p:txEl>
                                              <p:pRg st="2" end="2"/>
                                            </p:txEl>
                                          </p:spTgt>
                                        </p:tgtEl>
                                        <p:attrNameLst>
                                          <p:attrName>style.visibility</p:attrName>
                                        </p:attrNameLst>
                                      </p:cBhvr>
                                      <p:to>
                                        <p:strVal val="visible"/>
                                      </p:to>
                                    </p:set>
                                    <p:animEffect transition="in" filter="fade">
                                      <p:cBhvr>
                                        <p:cTn id="27" dur="800" decel="100000"/>
                                        <p:tgtEl>
                                          <p:spTgt spid="36867">
                                            <p:txEl>
                                              <p:pRg st="2" end="2"/>
                                            </p:txEl>
                                          </p:spTgt>
                                        </p:tgtEl>
                                      </p:cBhvr>
                                    </p:animEffect>
                                    <p:anim calcmode="lin" valueType="num">
                                      <p:cBhvr>
                                        <p:cTn id="28" dur="800" decel="100000" fill="hold"/>
                                        <p:tgtEl>
                                          <p:spTgt spid="36867">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36867">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36867">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36867">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36867">
                                            <p:txEl>
                                              <p:pRg st="2" end="2"/>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EB494CBA-A3DB-099B-3732-7FE38E17EB8E}"/>
              </a:ext>
            </a:extLst>
          </p:cNvPr>
          <p:cNvSpPr>
            <a:spLocks noGrp="1" noChangeArrowheads="1"/>
          </p:cNvSpPr>
          <p:nvPr>
            <p:ph type="title"/>
          </p:nvPr>
        </p:nvSpPr>
        <p:spPr>
          <a:xfrm>
            <a:off x="1150938" y="260350"/>
            <a:ext cx="7793037" cy="936625"/>
          </a:xfrm>
        </p:spPr>
        <p:txBody>
          <a:bodyPr/>
          <a:lstStyle/>
          <a:p>
            <a:pPr algn="ctr" eaLnBrk="1" hangingPunct="1">
              <a:defRPr/>
            </a:pP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方向标志</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DF(Direction Flag)</a:t>
            </a:r>
          </a:p>
        </p:txBody>
      </p:sp>
      <p:sp>
        <p:nvSpPr>
          <p:cNvPr id="37891" name="Rectangle 3">
            <a:extLst>
              <a:ext uri="{FF2B5EF4-FFF2-40B4-BE49-F238E27FC236}">
                <a16:creationId xmlns:a16="http://schemas.microsoft.com/office/drawing/2014/main" id="{89DA8335-46C5-3CAC-6627-B6D200CCBD97}"/>
              </a:ext>
            </a:extLst>
          </p:cNvPr>
          <p:cNvSpPr>
            <a:spLocks noGrp="1" noChangeArrowheads="1"/>
          </p:cNvSpPr>
          <p:nvPr>
            <p:ph idx="1"/>
          </p:nvPr>
        </p:nvSpPr>
        <p:spPr>
          <a:xfrm>
            <a:off x="539750" y="1557338"/>
            <a:ext cx="7772400" cy="4248150"/>
          </a:xfrm>
        </p:spPr>
        <p:txBody>
          <a:bodyPr/>
          <a:lstStyle/>
          <a:p>
            <a:pPr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控制字符串操作指令的步进方向。</a:t>
            </a:r>
          </a:p>
          <a:p>
            <a:pPr eaLnBrk="1" hangingPunct="1">
              <a:buFont typeface="Wingdings" panose="05000000000000000000" pitchFamily="2" charset="2"/>
              <a:buNone/>
            </a:pPr>
            <a:r>
              <a:rPr lang="zh-CN" altLang="en-US">
                <a:latin typeface="Times New Roman" panose="02020603050405020304" pitchFamily="18" charset="0"/>
                <a:ea typeface="楷体_GB2312" pitchFamily="1" charset="-122"/>
              </a:rPr>
              <a:t>    </a:t>
            </a:r>
            <a:r>
              <a:rPr lang="en-US" altLang="zh-CN">
                <a:latin typeface="Times New Roman" panose="02020603050405020304" pitchFamily="18" charset="0"/>
                <a:ea typeface="楷体_GB2312" pitchFamily="1" charset="-122"/>
              </a:rPr>
              <a:t>DF=1</a:t>
            </a:r>
            <a:r>
              <a:rPr lang="zh-CN" altLang="en-US">
                <a:latin typeface="Times New Roman" panose="02020603050405020304" pitchFamily="18" charset="0"/>
                <a:ea typeface="楷体_GB2312" pitchFamily="1" charset="-122"/>
              </a:rPr>
              <a:t>时，地址自动递减；</a:t>
            </a:r>
          </a:p>
          <a:p>
            <a:pPr eaLnBrk="1" hangingPunct="1">
              <a:buFont typeface="Wingdings" panose="05000000000000000000" pitchFamily="2" charset="2"/>
              <a:buNone/>
            </a:pPr>
            <a:r>
              <a:rPr lang="en-US" altLang="zh-CN">
                <a:latin typeface="Times New Roman" panose="02020603050405020304" pitchFamily="18" charset="0"/>
                <a:ea typeface="楷体_GB2312" pitchFamily="1" charset="-122"/>
              </a:rPr>
              <a:t>    DF=0</a:t>
            </a:r>
            <a:r>
              <a:rPr lang="zh-CN" altLang="en-US">
                <a:latin typeface="Times New Roman" panose="02020603050405020304" pitchFamily="18" charset="0"/>
                <a:ea typeface="楷体_GB2312" pitchFamily="1" charset="-122"/>
              </a:rPr>
              <a:t>时，地址自动递增。 </a:t>
            </a:r>
          </a:p>
          <a:p>
            <a:pPr eaLnBrk="1" hangingPunct="1">
              <a:buFont typeface="Wingdings" panose="05000000000000000000" pitchFamily="2" charset="2"/>
              <a:buChar char="Ø"/>
            </a:pPr>
            <a:r>
              <a:rPr lang="en-US" altLang="zh-CN">
                <a:latin typeface="Times New Roman" panose="02020603050405020304" pitchFamily="18" charset="0"/>
                <a:ea typeface="楷体_GB2312" pitchFamily="1" charset="-122"/>
              </a:rPr>
              <a:t>STD</a:t>
            </a:r>
            <a:r>
              <a:rPr lang="zh-CN" altLang="en-US">
                <a:latin typeface="Times New Roman" panose="02020603050405020304" pitchFamily="18" charset="0"/>
                <a:ea typeface="楷体_GB2312" pitchFamily="1" charset="-122"/>
              </a:rPr>
              <a:t>使</a:t>
            </a:r>
            <a:r>
              <a:rPr lang="en-US" altLang="zh-CN">
                <a:latin typeface="Times New Roman" panose="02020603050405020304" pitchFamily="18" charset="0"/>
                <a:ea typeface="楷体_GB2312" pitchFamily="1" charset="-122"/>
              </a:rPr>
              <a:t>DF=1</a:t>
            </a:r>
            <a:r>
              <a:rPr lang="zh-CN" altLang="en-US">
                <a:latin typeface="Times New Roman" panose="02020603050405020304" pitchFamily="18" charset="0"/>
                <a:ea typeface="楷体_GB2312" pitchFamily="1" charset="-122"/>
              </a:rPr>
              <a:t>。</a:t>
            </a:r>
          </a:p>
          <a:p>
            <a:pPr eaLnBrk="1" hangingPunct="1">
              <a:buFont typeface="Wingdings" panose="05000000000000000000" pitchFamily="2" charset="2"/>
              <a:buNone/>
            </a:pPr>
            <a:r>
              <a:rPr lang="en-US" altLang="zh-CN">
                <a:latin typeface="Times New Roman" panose="02020603050405020304" pitchFamily="18" charset="0"/>
                <a:ea typeface="楷体_GB2312" pitchFamily="1" charset="-122"/>
              </a:rPr>
              <a:t>    CLD</a:t>
            </a:r>
            <a:r>
              <a:rPr lang="zh-CN" altLang="en-US">
                <a:latin typeface="Times New Roman" panose="02020603050405020304" pitchFamily="18" charset="0"/>
                <a:ea typeface="楷体_GB2312" pitchFamily="1" charset="-122"/>
              </a:rPr>
              <a:t>使</a:t>
            </a:r>
            <a:r>
              <a:rPr lang="en-US" altLang="zh-CN">
                <a:latin typeface="Times New Roman" panose="02020603050405020304" pitchFamily="18" charset="0"/>
                <a:ea typeface="楷体_GB2312" pitchFamily="1" charset="-122"/>
              </a:rPr>
              <a:t>DF=0</a:t>
            </a:r>
            <a:r>
              <a:rPr lang="zh-CN" altLang="en-US">
                <a:latin typeface="Times New Roman" panose="02020603050405020304" pitchFamily="18" charset="0"/>
                <a:ea typeface="楷体_GB2312" pitchFamily="1"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barn(inHorizontal)">
                                      <p:cBhvr>
                                        <p:cTn id="7" dur="500"/>
                                        <p:tgtEl>
                                          <p:spTgt spid="378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nodeType="clickEffect">
                                  <p:stCondLst>
                                    <p:cond delay="0"/>
                                  </p:stCondLst>
                                  <p:childTnLst>
                                    <p:set>
                                      <p:cBhvr>
                                        <p:cTn id="11" dur="1" fill="hold">
                                          <p:stCondLst>
                                            <p:cond delay="0"/>
                                          </p:stCondLst>
                                        </p:cTn>
                                        <p:tgtEl>
                                          <p:spTgt spid="37891">
                                            <p:txEl>
                                              <p:pRg st="1" end="1"/>
                                            </p:txEl>
                                          </p:spTgt>
                                        </p:tgtEl>
                                        <p:attrNameLst>
                                          <p:attrName>style.visibility</p:attrName>
                                        </p:attrNameLst>
                                      </p:cBhvr>
                                      <p:to>
                                        <p:strVal val="visible"/>
                                      </p:to>
                                    </p:set>
                                    <p:animEffect transition="in" filter="barn(inHorizontal)">
                                      <p:cBhvr>
                                        <p:cTn id="12" dur="500"/>
                                        <p:tgtEl>
                                          <p:spTgt spid="378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6" fill="hold" nodeType="clickEffect">
                                  <p:stCondLst>
                                    <p:cond delay="0"/>
                                  </p:stCondLst>
                                  <p:childTnLst>
                                    <p:set>
                                      <p:cBhvr>
                                        <p:cTn id="16" dur="1" fill="hold">
                                          <p:stCondLst>
                                            <p:cond delay="0"/>
                                          </p:stCondLst>
                                        </p:cTn>
                                        <p:tgtEl>
                                          <p:spTgt spid="37891">
                                            <p:txEl>
                                              <p:pRg st="2" end="2"/>
                                            </p:txEl>
                                          </p:spTgt>
                                        </p:tgtEl>
                                        <p:attrNameLst>
                                          <p:attrName>style.visibility</p:attrName>
                                        </p:attrNameLst>
                                      </p:cBhvr>
                                      <p:to>
                                        <p:strVal val="visible"/>
                                      </p:to>
                                    </p:set>
                                    <p:animEffect transition="in" filter="barn(inHorizontal)">
                                      <p:cBhvr>
                                        <p:cTn id="17" dur="500"/>
                                        <p:tgtEl>
                                          <p:spTgt spid="378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6" fill="hold" nodeType="clickEffect">
                                  <p:stCondLst>
                                    <p:cond delay="0"/>
                                  </p:stCondLst>
                                  <p:childTnLst>
                                    <p:set>
                                      <p:cBhvr>
                                        <p:cTn id="21" dur="1" fill="hold">
                                          <p:stCondLst>
                                            <p:cond delay="0"/>
                                          </p:stCondLst>
                                        </p:cTn>
                                        <p:tgtEl>
                                          <p:spTgt spid="37891">
                                            <p:txEl>
                                              <p:pRg st="3" end="3"/>
                                            </p:txEl>
                                          </p:spTgt>
                                        </p:tgtEl>
                                        <p:attrNameLst>
                                          <p:attrName>style.visibility</p:attrName>
                                        </p:attrNameLst>
                                      </p:cBhvr>
                                      <p:to>
                                        <p:strVal val="visible"/>
                                      </p:to>
                                    </p:set>
                                    <p:animEffect transition="in" filter="barn(inHorizontal)">
                                      <p:cBhvr>
                                        <p:cTn id="22" dur="500"/>
                                        <p:tgtEl>
                                          <p:spTgt spid="378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6" fill="hold" nodeType="clickEffect">
                                  <p:stCondLst>
                                    <p:cond delay="0"/>
                                  </p:stCondLst>
                                  <p:childTnLst>
                                    <p:set>
                                      <p:cBhvr>
                                        <p:cTn id="26" dur="1" fill="hold">
                                          <p:stCondLst>
                                            <p:cond delay="0"/>
                                          </p:stCondLst>
                                        </p:cTn>
                                        <p:tgtEl>
                                          <p:spTgt spid="37891">
                                            <p:txEl>
                                              <p:pRg st="4" end="4"/>
                                            </p:txEl>
                                          </p:spTgt>
                                        </p:tgtEl>
                                        <p:attrNameLst>
                                          <p:attrName>style.visibility</p:attrName>
                                        </p:attrNameLst>
                                      </p:cBhvr>
                                      <p:to>
                                        <p:strVal val="visible"/>
                                      </p:to>
                                    </p:set>
                                    <p:animEffect transition="in" filter="barn(inHorizontal)">
                                      <p:cBhvr>
                                        <p:cTn id="27" dur="500"/>
                                        <p:tgtEl>
                                          <p:spTgt spid="378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22F4F004-FFD3-C94C-98A8-218CE269382A}"/>
              </a:ext>
            </a:extLst>
          </p:cNvPr>
          <p:cNvSpPr>
            <a:spLocks noGrp="1" noChangeArrowheads="1"/>
          </p:cNvSpPr>
          <p:nvPr>
            <p:ph type="title"/>
          </p:nvPr>
        </p:nvSpPr>
        <p:spPr>
          <a:xfrm>
            <a:off x="1150938" y="333375"/>
            <a:ext cx="7793037" cy="865188"/>
          </a:xfrm>
        </p:spPr>
        <p:txBody>
          <a:bodyPr/>
          <a:lstStyle/>
          <a:p>
            <a:pPr algn="ctr" eaLnBrk="1" hangingPunct="1">
              <a:defRPr/>
            </a:pP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跟踪</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陷阱</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标志</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TF(Trap Flag)</a:t>
            </a:r>
            <a:endPar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38915" name="Rectangle 3">
            <a:extLst>
              <a:ext uri="{FF2B5EF4-FFF2-40B4-BE49-F238E27FC236}">
                <a16:creationId xmlns:a16="http://schemas.microsoft.com/office/drawing/2014/main" id="{C4AE7EFC-C075-11BE-49A7-4B3F13789A2B}"/>
              </a:ext>
            </a:extLst>
          </p:cNvPr>
          <p:cNvSpPr>
            <a:spLocks noGrp="1" noChangeArrowheads="1"/>
          </p:cNvSpPr>
          <p:nvPr>
            <p:ph idx="1"/>
          </p:nvPr>
        </p:nvSpPr>
        <p:spPr>
          <a:xfrm>
            <a:off x="468313" y="1557338"/>
            <a:ext cx="7848600" cy="3529012"/>
          </a:xfrm>
        </p:spPr>
        <p:txBody>
          <a:bodyPr/>
          <a:lstStyle/>
          <a:p>
            <a:pPr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为调试程序的方便而设置的。</a:t>
            </a:r>
          </a:p>
          <a:p>
            <a:pPr eaLnBrk="1" hangingPunct="1">
              <a:buFont typeface="Wingdings" panose="05000000000000000000" pitchFamily="2" charset="2"/>
              <a:buNone/>
            </a:pPr>
            <a:r>
              <a:rPr lang="en-US" altLang="zh-CN">
                <a:latin typeface="Times New Roman" panose="02020603050405020304" pitchFamily="18" charset="0"/>
                <a:ea typeface="楷体_GB2312" pitchFamily="1" charset="-122"/>
              </a:rPr>
              <a:t>    TF=1</a:t>
            </a:r>
            <a:r>
              <a:rPr lang="zh-CN" altLang="en-US">
                <a:latin typeface="Times New Roman" panose="02020603050405020304" pitchFamily="18" charset="0"/>
                <a:ea typeface="楷体_GB2312" pitchFamily="1" charset="-122"/>
              </a:rPr>
              <a:t>，则处于单步工作方式；</a:t>
            </a:r>
          </a:p>
          <a:p>
            <a:pPr eaLnBrk="1" hangingPunct="1">
              <a:buFont typeface="Wingdings" panose="05000000000000000000" pitchFamily="2" charset="2"/>
              <a:buNone/>
            </a:pPr>
            <a:r>
              <a:rPr lang="en-US" altLang="zh-CN">
                <a:latin typeface="Times New Roman" panose="02020603050405020304" pitchFamily="18" charset="0"/>
                <a:ea typeface="楷体_GB2312" pitchFamily="1" charset="-122"/>
              </a:rPr>
              <a:t>    TF=0</a:t>
            </a:r>
            <a:r>
              <a:rPr lang="zh-CN" altLang="en-US">
                <a:latin typeface="Times New Roman" panose="02020603050405020304" pitchFamily="18" charset="0"/>
                <a:ea typeface="楷体_GB2312" pitchFamily="1" charset="-122"/>
              </a:rPr>
              <a:t> ，将正常执行程序。</a:t>
            </a:r>
          </a:p>
          <a:p>
            <a:pPr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例如，在系统调试软件</a:t>
            </a:r>
            <a:r>
              <a:rPr lang="en-US" altLang="zh-CN">
                <a:latin typeface="Times New Roman" panose="02020603050405020304" pitchFamily="18" charset="0"/>
                <a:ea typeface="楷体_GB2312" pitchFamily="1" charset="-122"/>
              </a:rPr>
              <a:t>DEBUG</a:t>
            </a:r>
            <a:r>
              <a:rPr lang="zh-CN" altLang="en-US">
                <a:latin typeface="Times New Roman" panose="02020603050405020304" pitchFamily="18" charset="0"/>
                <a:ea typeface="楷体_GB2312" pitchFamily="1" charset="-122"/>
              </a:rPr>
              <a:t>中的</a:t>
            </a:r>
            <a:r>
              <a:rPr lang="en-US" altLang="zh-CN">
                <a:latin typeface="Times New Roman" panose="02020603050405020304" pitchFamily="18" charset="0"/>
                <a:ea typeface="楷体_GB2312" pitchFamily="1" charset="-122"/>
              </a:rPr>
              <a:t>T</a:t>
            </a:r>
            <a:r>
              <a:rPr lang="zh-CN" altLang="en-US">
                <a:latin typeface="Times New Roman" panose="02020603050405020304" pitchFamily="18" charset="0"/>
                <a:ea typeface="楷体_GB2312" pitchFamily="1" charset="-122"/>
              </a:rPr>
              <a:t>命令，就是用该标志位来进行程序的单步跟踪的。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 calcmode="lin" valueType="num">
                                      <p:cBhvr>
                                        <p:cTn id="7" dur="500" fill="hold"/>
                                        <p:tgtEl>
                                          <p:spTgt spid="3891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891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38915">
                                            <p:txEl>
                                              <p:pRg st="1" end="1"/>
                                            </p:txEl>
                                          </p:spTgt>
                                        </p:tgtEl>
                                        <p:attrNameLst>
                                          <p:attrName>style.visibility</p:attrName>
                                        </p:attrNameLst>
                                      </p:cBhvr>
                                      <p:to>
                                        <p:strVal val="visible"/>
                                      </p:to>
                                    </p:set>
                                    <p:anim calcmode="lin" valueType="num">
                                      <p:cBhvr>
                                        <p:cTn id="13" dur="500" fill="hold"/>
                                        <p:tgtEl>
                                          <p:spTgt spid="38915">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8915">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nodeType="clickEffect">
                                  <p:stCondLst>
                                    <p:cond delay="0"/>
                                  </p:stCondLst>
                                  <p:childTnLst>
                                    <p:set>
                                      <p:cBhvr>
                                        <p:cTn id="18" dur="1" fill="hold">
                                          <p:stCondLst>
                                            <p:cond delay="0"/>
                                          </p:stCondLst>
                                        </p:cTn>
                                        <p:tgtEl>
                                          <p:spTgt spid="38915">
                                            <p:txEl>
                                              <p:pRg st="2" end="2"/>
                                            </p:txEl>
                                          </p:spTgt>
                                        </p:tgtEl>
                                        <p:attrNameLst>
                                          <p:attrName>style.visibility</p:attrName>
                                        </p:attrNameLst>
                                      </p:cBhvr>
                                      <p:to>
                                        <p:strVal val="visible"/>
                                      </p:to>
                                    </p:set>
                                    <p:anim calcmode="lin" valueType="num">
                                      <p:cBhvr>
                                        <p:cTn id="19" dur="500" fill="hold"/>
                                        <p:tgtEl>
                                          <p:spTgt spid="38915">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8915">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nodeType="clickEffect">
                                  <p:stCondLst>
                                    <p:cond delay="0"/>
                                  </p:stCondLst>
                                  <p:childTnLst>
                                    <p:set>
                                      <p:cBhvr>
                                        <p:cTn id="24" dur="1" fill="hold">
                                          <p:stCondLst>
                                            <p:cond delay="0"/>
                                          </p:stCondLst>
                                        </p:cTn>
                                        <p:tgtEl>
                                          <p:spTgt spid="38915">
                                            <p:txEl>
                                              <p:pRg st="3" end="3"/>
                                            </p:txEl>
                                          </p:spTgt>
                                        </p:tgtEl>
                                        <p:attrNameLst>
                                          <p:attrName>style.visibility</p:attrName>
                                        </p:attrNameLst>
                                      </p:cBhvr>
                                      <p:to>
                                        <p:strVal val="visible"/>
                                      </p:to>
                                    </p:set>
                                    <p:anim calcmode="lin" valueType="num">
                                      <p:cBhvr>
                                        <p:cTn id="25" dur="500" fill="hold"/>
                                        <p:tgtEl>
                                          <p:spTgt spid="38915">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38915">
                                            <p:txEl>
                                              <p:pRg st="3" end="3"/>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C1AAE2A2-1D29-C031-E48B-A77C52B97F31}"/>
              </a:ext>
            </a:extLst>
          </p:cNvPr>
          <p:cNvSpPr>
            <a:spLocks noGrp="1" noChangeArrowheads="1"/>
          </p:cNvSpPr>
          <p:nvPr>
            <p:ph type="title"/>
          </p:nvPr>
        </p:nvSpPr>
        <p:spPr/>
        <p:txBody>
          <a:bodyPr/>
          <a:lstStyle/>
          <a:p>
            <a:pPr algn="ctr" eaLnBrk="1" hangingPunct="1">
              <a:defRPr/>
            </a:pPr>
            <a:r>
              <a:rPr lang="en-US" altLang="zh-CN"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4.</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段寄存器</a:t>
            </a:r>
          </a:p>
        </p:txBody>
      </p:sp>
      <p:sp>
        <p:nvSpPr>
          <p:cNvPr id="51202" name="Rectangle 3">
            <a:extLst>
              <a:ext uri="{FF2B5EF4-FFF2-40B4-BE49-F238E27FC236}">
                <a16:creationId xmlns:a16="http://schemas.microsoft.com/office/drawing/2014/main" id="{D9B9EEED-4B23-9B98-8483-EBB2258F177F}"/>
              </a:ext>
            </a:extLst>
          </p:cNvPr>
          <p:cNvSpPr>
            <a:spLocks noGrp="1" noChangeArrowheads="1"/>
          </p:cNvSpPr>
          <p:nvPr>
            <p:ph idx="1"/>
          </p:nvPr>
        </p:nvSpPr>
        <p:spPr/>
        <p:txBody>
          <a:bodyPr/>
          <a:lstStyle/>
          <a:p>
            <a:pPr eaLnBrk="1" hangingPunct="1">
              <a:buFont typeface="Wingdings" panose="05000000000000000000" pitchFamily="2" charset="2"/>
              <a:buNone/>
            </a:pPr>
            <a:r>
              <a:rPr lang="zh-CN" altLang="en-US">
                <a:ea typeface="楷体_GB2312" pitchFamily="1" charset="-122"/>
              </a:rPr>
              <a:t>介绍如下内容：</a:t>
            </a:r>
          </a:p>
          <a:p>
            <a:pPr lvl="1" eaLnBrk="1" hangingPunct="1"/>
            <a:r>
              <a:rPr lang="zh-CN" altLang="en-US" sz="3200">
                <a:ea typeface="楷体_GB2312" pitchFamily="1" charset="-122"/>
              </a:rPr>
              <a:t>存储器分段的概念</a:t>
            </a:r>
          </a:p>
          <a:p>
            <a:pPr lvl="1" eaLnBrk="1" hangingPunct="1"/>
            <a:r>
              <a:rPr lang="zh-CN" altLang="en-US" sz="3200">
                <a:ea typeface="楷体_GB2312" pitchFamily="1" charset="-122"/>
              </a:rPr>
              <a:t>逻辑地址和物理地址</a:t>
            </a:r>
          </a:p>
          <a:p>
            <a:pPr lvl="1" eaLnBrk="1" hangingPunct="1"/>
            <a:r>
              <a:rPr lang="zh-CN" altLang="en-US" sz="3200">
                <a:ea typeface="楷体_GB2312" pitchFamily="1" charset="-122"/>
              </a:rPr>
              <a:t>堆栈</a:t>
            </a:r>
          </a:p>
          <a:p>
            <a:pPr lvl="1" eaLnBrk="1" hangingPunct="1"/>
            <a:r>
              <a:rPr lang="zh-CN" altLang="en-US" sz="3200">
                <a:ea typeface="楷体_GB2312" pitchFamily="1" charset="-122"/>
              </a:rPr>
              <a:t>段寄存器的使用</a:t>
            </a:r>
          </a:p>
        </p:txBody>
      </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6F974012-9C96-5203-A5B7-D5E763551A15}"/>
              </a:ext>
            </a:extLst>
          </p:cNvPr>
          <p:cNvSpPr>
            <a:spLocks noGrp="1" noChangeArrowheads="1"/>
          </p:cNvSpPr>
          <p:nvPr>
            <p:ph type="title"/>
          </p:nvPr>
        </p:nvSpPr>
        <p:spPr>
          <a:xfrm>
            <a:off x="1150938" y="188913"/>
            <a:ext cx="7793037" cy="1008062"/>
          </a:xfrm>
        </p:spPr>
        <p:txBody>
          <a:bodyPr/>
          <a:lstStyle/>
          <a:p>
            <a:pPr algn="ctr" eaLnBrk="1" hangingPunct="1">
              <a:defRPr/>
            </a:pP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1)</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存储器分段的概念</a:t>
            </a:r>
          </a:p>
        </p:txBody>
      </p:sp>
      <p:sp>
        <p:nvSpPr>
          <p:cNvPr id="40963" name="Rectangle 3">
            <a:extLst>
              <a:ext uri="{FF2B5EF4-FFF2-40B4-BE49-F238E27FC236}">
                <a16:creationId xmlns:a16="http://schemas.microsoft.com/office/drawing/2014/main" id="{BA5695D1-227A-87CD-E101-C166600F56C3}"/>
              </a:ext>
            </a:extLst>
          </p:cNvPr>
          <p:cNvSpPr>
            <a:spLocks noGrp="1" noChangeArrowheads="1"/>
          </p:cNvSpPr>
          <p:nvPr>
            <p:ph idx="1"/>
          </p:nvPr>
        </p:nvSpPr>
        <p:spPr>
          <a:xfrm>
            <a:off x="539750" y="1557338"/>
            <a:ext cx="8059738" cy="4114800"/>
          </a:xfrm>
        </p:spPr>
        <p:txBody>
          <a:bodyPr/>
          <a:lstStyle/>
          <a:p>
            <a:pPr eaLnBrk="1" hangingPunct="1">
              <a:lnSpc>
                <a:spcPct val="90000"/>
              </a:lnSpc>
              <a:buFont typeface="Wingdings" panose="05000000000000000000" pitchFamily="2" charset="2"/>
              <a:buChar char="Ø"/>
            </a:pPr>
            <a:r>
              <a:rPr lang="en-US" altLang="zh-CN" sz="2800">
                <a:latin typeface="Times New Roman" panose="02020603050405020304" pitchFamily="18" charset="0"/>
                <a:ea typeface="楷体_GB2312" pitchFamily="1" charset="-122"/>
              </a:rPr>
              <a:t>8086/8088</a:t>
            </a:r>
            <a:r>
              <a:rPr lang="zh-CN" altLang="en-US" sz="2800">
                <a:latin typeface="Times New Roman" panose="02020603050405020304" pitchFamily="18" charset="0"/>
                <a:ea typeface="楷体_GB2312" pitchFamily="1" charset="-122"/>
              </a:rPr>
              <a:t>有</a:t>
            </a:r>
            <a:r>
              <a:rPr lang="en-US" altLang="zh-CN" sz="2800">
                <a:latin typeface="Times New Roman" panose="02020603050405020304" pitchFamily="18" charset="0"/>
                <a:ea typeface="楷体_GB2312" pitchFamily="1" charset="-122"/>
              </a:rPr>
              <a:t>20</a:t>
            </a:r>
            <a:r>
              <a:rPr lang="zh-CN" altLang="en-US" sz="2800">
                <a:latin typeface="Times New Roman" panose="02020603050405020304" pitchFamily="18" charset="0"/>
                <a:ea typeface="楷体_GB2312" pitchFamily="1" charset="-122"/>
              </a:rPr>
              <a:t>位地址线，</a:t>
            </a:r>
            <a:r>
              <a:rPr lang="zh-CN" altLang="en-US" sz="2800" b="1">
                <a:solidFill>
                  <a:schemeClr val="folHlink"/>
                </a:solidFill>
                <a:latin typeface="Times New Roman" panose="02020603050405020304" pitchFamily="18" charset="0"/>
                <a:ea typeface="楷体_GB2312" pitchFamily="1" charset="-122"/>
              </a:rPr>
              <a:t>能够寻址</a:t>
            </a:r>
            <a:r>
              <a:rPr lang="en-US" altLang="zh-CN" sz="2800" b="1">
                <a:solidFill>
                  <a:schemeClr val="folHlink"/>
                </a:solidFill>
                <a:latin typeface="Times New Roman" panose="02020603050405020304" pitchFamily="18" charset="0"/>
                <a:ea typeface="楷体_GB2312" pitchFamily="1" charset="-122"/>
              </a:rPr>
              <a:t>1 MB</a:t>
            </a:r>
            <a:r>
              <a:rPr lang="zh-CN" altLang="en-US" sz="2800">
                <a:latin typeface="Times New Roman" panose="02020603050405020304" pitchFamily="18" charset="0"/>
                <a:ea typeface="楷体_GB2312" pitchFamily="1" charset="-122"/>
              </a:rPr>
              <a:t>的内存空间；</a:t>
            </a:r>
          </a:p>
          <a:p>
            <a:pPr eaLnBrk="1" hangingPunct="1">
              <a:lnSpc>
                <a:spcPct val="90000"/>
              </a:lnSpc>
              <a:buFont typeface="Wingdings" panose="05000000000000000000" pitchFamily="2" charset="2"/>
              <a:buChar char="Ø"/>
            </a:pPr>
            <a:r>
              <a:rPr lang="en-US" altLang="zh-CN" sz="2800">
                <a:latin typeface="Times New Roman" panose="02020603050405020304" pitchFamily="18" charset="0"/>
                <a:ea typeface="楷体_GB2312" pitchFamily="1" charset="-122"/>
              </a:rPr>
              <a:t>CPU</a:t>
            </a:r>
            <a:r>
              <a:rPr lang="zh-CN" altLang="en-US" sz="2800">
                <a:latin typeface="Times New Roman" panose="02020603050405020304" pitchFamily="18" charset="0"/>
                <a:ea typeface="楷体_GB2312" pitchFamily="1" charset="-122"/>
              </a:rPr>
              <a:t>内部存放地址信息的</a:t>
            </a:r>
            <a:r>
              <a:rPr lang="en-US" altLang="zh-CN" sz="2800">
                <a:latin typeface="Times New Roman" panose="02020603050405020304" pitchFamily="18" charset="0"/>
                <a:ea typeface="楷体_GB2312" pitchFamily="1" charset="-122"/>
              </a:rPr>
              <a:t>IP</a:t>
            </a:r>
            <a:r>
              <a:rPr lang="zh-CN" altLang="en-US" sz="2800">
                <a:latin typeface="Times New Roman" panose="02020603050405020304" pitchFamily="18" charset="0"/>
                <a:ea typeface="楷体_GB2312" pitchFamily="1" charset="-122"/>
              </a:rPr>
              <a:t>、</a:t>
            </a:r>
            <a:r>
              <a:rPr lang="en-US" altLang="zh-CN" sz="2800">
                <a:latin typeface="Times New Roman" panose="02020603050405020304" pitchFamily="18" charset="0"/>
                <a:ea typeface="楷体_GB2312" pitchFamily="1" charset="-122"/>
              </a:rPr>
              <a:t>SP</a:t>
            </a:r>
            <a:r>
              <a:rPr lang="zh-CN" altLang="en-US" sz="2800">
                <a:latin typeface="Times New Roman" panose="02020603050405020304" pitchFamily="18" charset="0"/>
                <a:ea typeface="楷体_GB2312" pitchFamily="1" charset="-122"/>
              </a:rPr>
              <a:t>、</a:t>
            </a:r>
            <a:r>
              <a:rPr lang="en-US" altLang="zh-CN" sz="2800">
                <a:latin typeface="Times New Roman" panose="02020603050405020304" pitchFamily="18" charset="0"/>
                <a:ea typeface="楷体_GB2312" pitchFamily="1" charset="-122"/>
              </a:rPr>
              <a:t>SI</a:t>
            </a:r>
            <a:r>
              <a:rPr lang="zh-CN" altLang="en-US" sz="2800">
                <a:latin typeface="Times New Roman" panose="02020603050405020304" pitchFamily="18" charset="0"/>
                <a:ea typeface="楷体_GB2312" pitchFamily="1" charset="-122"/>
              </a:rPr>
              <a:t>、</a:t>
            </a:r>
            <a:r>
              <a:rPr lang="en-US" altLang="zh-CN" sz="2800">
                <a:latin typeface="Times New Roman" panose="02020603050405020304" pitchFamily="18" charset="0"/>
                <a:ea typeface="楷体_GB2312" pitchFamily="1" charset="-122"/>
              </a:rPr>
              <a:t>DI</a:t>
            </a:r>
            <a:r>
              <a:rPr lang="zh-CN" altLang="en-US" sz="2800">
                <a:latin typeface="Times New Roman" panose="02020603050405020304" pitchFamily="18" charset="0"/>
                <a:ea typeface="楷体_GB2312" pitchFamily="1" charset="-122"/>
              </a:rPr>
              <a:t>或</a:t>
            </a:r>
            <a:r>
              <a:rPr lang="en-US" altLang="zh-CN" sz="2800">
                <a:latin typeface="Times New Roman" panose="02020603050405020304" pitchFamily="18" charset="0"/>
                <a:ea typeface="楷体_GB2312" pitchFamily="1" charset="-122"/>
              </a:rPr>
              <a:t>BX</a:t>
            </a:r>
            <a:r>
              <a:rPr lang="zh-CN" altLang="en-US" sz="2800">
                <a:latin typeface="Times New Roman" panose="02020603050405020304" pitchFamily="18" charset="0"/>
                <a:ea typeface="楷体_GB2312" pitchFamily="1" charset="-122"/>
              </a:rPr>
              <a:t>等寄存器却只有</a:t>
            </a:r>
            <a:r>
              <a:rPr lang="en-US" altLang="zh-CN" sz="2800">
                <a:latin typeface="Times New Roman" panose="02020603050405020304" pitchFamily="18" charset="0"/>
                <a:ea typeface="楷体_GB2312" pitchFamily="1" charset="-122"/>
              </a:rPr>
              <a:t>16</a:t>
            </a:r>
            <a:r>
              <a:rPr lang="zh-CN" altLang="en-US" sz="2800">
                <a:latin typeface="Times New Roman" panose="02020603050405020304" pitchFamily="18" charset="0"/>
                <a:ea typeface="楷体_GB2312" pitchFamily="1" charset="-122"/>
              </a:rPr>
              <a:t>位，只能</a:t>
            </a:r>
            <a:r>
              <a:rPr lang="zh-CN" altLang="en-US" sz="2800" b="1">
                <a:solidFill>
                  <a:schemeClr val="folHlink"/>
                </a:solidFill>
                <a:latin typeface="Times New Roman" panose="02020603050405020304" pitchFamily="18" charset="0"/>
                <a:ea typeface="楷体_GB2312" pitchFamily="1" charset="-122"/>
              </a:rPr>
              <a:t>寻址</a:t>
            </a:r>
            <a:r>
              <a:rPr lang="en-US" altLang="zh-CN" sz="2800" b="1">
                <a:solidFill>
                  <a:schemeClr val="folHlink"/>
                </a:solidFill>
                <a:latin typeface="Times New Roman" panose="02020603050405020304" pitchFamily="18" charset="0"/>
                <a:ea typeface="楷体_GB2312" pitchFamily="1" charset="-122"/>
              </a:rPr>
              <a:t>64KB</a:t>
            </a:r>
            <a:r>
              <a:rPr lang="zh-CN" altLang="en-US" sz="2800">
                <a:latin typeface="Times New Roman" panose="02020603050405020304" pitchFamily="18" charset="0"/>
                <a:ea typeface="楷体_GB2312" pitchFamily="1" charset="-122"/>
              </a:rPr>
              <a:t>存储空间。</a:t>
            </a:r>
          </a:p>
          <a:p>
            <a:pPr eaLnBrk="1" hangingPunct="1">
              <a:lnSpc>
                <a:spcPct val="90000"/>
              </a:lnSpc>
              <a:buFont typeface="Wingdings" panose="05000000000000000000" pitchFamily="2" charset="2"/>
              <a:buChar char="Ø"/>
            </a:pPr>
            <a:r>
              <a:rPr lang="zh-CN" altLang="en-US" sz="2800" b="1">
                <a:solidFill>
                  <a:schemeClr val="folHlink"/>
                </a:solidFill>
                <a:latin typeface="Times New Roman" panose="02020603050405020304" pitchFamily="18" charset="0"/>
                <a:ea typeface="楷体_GB2312" pitchFamily="1" charset="-122"/>
              </a:rPr>
              <a:t>所谓分段技术就是把</a:t>
            </a:r>
            <a:r>
              <a:rPr lang="en-US" altLang="zh-CN" sz="2800" b="1">
                <a:solidFill>
                  <a:schemeClr val="folHlink"/>
                </a:solidFill>
                <a:latin typeface="Times New Roman" panose="02020603050405020304" pitchFamily="18" charset="0"/>
                <a:ea typeface="楷体_GB2312" pitchFamily="1" charset="-122"/>
              </a:rPr>
              <a:t>1MB</a:t>
            </a:r>
            <a:r>
              <a:rPr lang="zh-CN" altLang="en-US" sz="2800" b="1">
                <a:solidFill>
                  <a:schemeClr val="folHlink"/>
                </a:solidFill>
                <a:latin typeface="Times New Roman" panose="02020603050405020304" pitchFamily="18" charset="0"/>
                <a:ea typeface="楷体_GB2312" pitchFamily="1" charset="-122"/>
              </a:rPr>
              <a:t>的存储空间分成若干逻辑段，每个逻辑段最大具有</a:t>
            </a:r>
            <a:r>
              <a:rPr lang="en-US" altLang="zh-CN" sz="2800" b="1">
                <a:solidFill>
                  <a:schemeClr val="folHlink"/>
                </a:solidFill>
                <a:latin typeface="Times New Roman" panose="02020603050405020304" pitchFamily="18" charset="0"/>
                <a:ea typeface="楷体_GB2312" pitchFamily="1" charset="-122"/>
              </a:rPr>
              <a:t>64 KB</a:t>
            </a:r>
            <a:r>
              <a:rPr lang="zh-CN" altLang="en-US" sz="2800" b="1">
                <a:solidFill>
                  <a:schemeClr val="folHlink"/>
                </a:solidFill>
                <a:latin typeface="Times New Roman" panose="02020603050405020304" pitchFamily="18" charset="0"/>
                <a:ea typeface="楷体_GB2312" pitchFamily="1" charset="-122"/>
              </a:rPr>
              <a:t>的存储空间</a:t>
            </a:r>
            <a:r>
              <a:rPr lang="zh-CN" altLang="en-US" sz="2800">
                <a:latin typeface="Times New Roman" panose="02020603050405020304" pitchFamily="18" charset="0"/>
                <a:ea typeface="楷体_GB2312" pitchFamily="1" charset="-122"/>
              </a:rPr>
              <a:t>。</a:t>
            </a:r>
          </a:p>
          <a:p>
            <a:pPr eaLnBrk="1" hangingPunct="1">
              <a:lnSpc>
                <a:spcPct val="90000"/>
              </a:lnSpc>
              <a:buFont typeface="Wingdings" panose="05000000000000000000" pitchFamily="2" charset="2"/>
              <a:buChar char="Ø"/>
            </a:pPr>
            <a:r>
              <a:rPr lang="zh-CN" altLang="en-US" sz="2800">
                <a:latin typeface="Times New Roman" panose="02020603050405020304" pitchFamily="18" charset="0"/>
                <a:ea typeface="楷体_GB2312" pitchFamily="1" charset="-122"/>
              </a:rPr>
              <a:t>段内地址是连续的，段与段之间是相互独立的。逻辑段可以在整个存储空间浮动，即段的排列可以连续、分开、部分重叠或完全重叠，非常灵活。</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 calcmode="lin" valueType="num">
                                      <p:cBhvr additive="base">
                                        <p:cTn id="7" dur="500" fill="hold"/>
                                        <p:tgtEl>
                                          <p:spTgt spid="409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963">
                                            <p:txEl>
                                              <p:pRg st="1" end="1"/>
                                            </p:txEl>
                                          </p:spTgt>
                                        </p:tgtEl>
                                        <p:attrNameLst>
                                          <p:attrName>style.visibility</p:attrName>
                                        </p:attrNameLst>
                                      </p:cBhvr>
                                      <p:to>
                                        <p:strVal val="visible"/>
                                      </p:to>
                                    </p:set>
                                    <p:anim calcmode="lin" valueType="num">
                                      <p:cBhvr additive="base">
                                        <p:cTn id="13" dur="500" fill="hold"/>
                                        <p:tgtEl>
                                          <p:spTgt spid="409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9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0963">
                                            <p:txEl>
                                              <p:pRg st="2" end="2"/>
                                            </p:txEl>
                                          </p:spTgt>
                                        </p:tgtEl>
                                        <p:attrNameLst>
                                          <p:attrName>style.visibility</p:attrName>
                                        </p:attrNameLst>
                                      </p:cBhvr>
                                      <p:to>
                                        <p:strVal val="visible"/>
                                      </p:to>
                                    </p:set>
                                    <p:anim calcmode="lin" valueType="num">
                                      <p:cBhvr additive="base">
                                        <p:cTn id="19" dur="500" fill="hold"/>
                                        <p:tgtEl>
                                          <p:spTgt spid="409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9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0963">
                                            <p:txEl>
                                              <p:pRg st="3" end="3"/>
                                            </p:txEl>
                                          </p:spTgt>
                                        </p:tgtEl>
                                        <p:attrNameLst>
                                          <p:attrName>style.visibility</p:attrName>
                                        </p:attrNameLst>
                                      </p:cBhvr>
                                      <p:to>
                                        <p:strVal val="visible"/>
                                      </p:to>
                                    </p:set>
                                    <p:anim calcmode="lin" valueType="num">
                                      <p:cBhvr additive="base">
                                        <p:cTn id="25" dur="500" fill="hold"/>
                                        <p:tgtEl>
                                          <p:spTgt spid="4096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096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F4A15C79-E3EB-BA76-6FA6-317EE0E2F897}"/>
              </a:ext>
            </a:extLst>
          </p:cNvPr>
          <p:cNvSpPr>
            <a:spLocks noGrp="1" noChangeArrowheads="1"/>
          </p:cNvSpPr>
          <p:nvPr>
            <p:ph type="title"/>
          </p:nvPr>
        </p:nvSpPr>
        <p:spPr/>
        <p:txBody>
          <a:bodyPr/>
          <a:lstStyle/>
          <a:p>
            <a:pPr algn="ctr" eaLnBrk="1" hangingPunct="1">
              <a:defRPr/>
            </a:pP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图</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2.4  </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逻辑分段的示意图</a:t>
            </a:r>
          </a:p>
        </p:txBody>
      </p:sp>
      <p:pic>
        <p:nvPicPr>
          <p:cNvPr id="53250" name="Picture 3">
            <a:extLst>
              <a:ext uri="{FF2B5EF4-FFF2-40B4-BE49-F238E27FC236}">
                <a16:creationId xmlns:a16="http://schemas.microsoft.com/office/drawing/2014/main" id="{FC186327-F4E6-73EF-5540-465BD1C78F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484313"/>
            <a:ext cx="6551613" cy="471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0A5474E0-F732-B1DD-4819-D993B1F88713}"/>
              </a:ext>
            </a:extLst>
          </p:cNvPr>
          <p:cNvSpPr>
            <a:spLocks noGrp="1" noChangeArrowheads="1"/>
          </p:cNvSpPr>
          <p:nvPr>
            <p:ph type="title"/>
          </p:nvPr>
        </p:nvSpPr>
        <p:spPr>
          <a:xfrm>
            <a:off x="900113" y="115888"/>
            <a:ext cx="7793037" cy="936625"/>
          </a:xfrm>
        </p:spPr>
        <p:txBody>
          <a:bodyPr/>
          <a:lstStyle/>
          <a:p>
            <a:pPr algn="ctr" eaLnBrk="1" hangingPunct="1">
              <a:defRPr/>
            </a:pPr>
            <a:r>
              <a:rPr lang="en-US" b="1" dirty="0">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a:t>
            </a:r>
            <a:r>
              <a:rPr lang="zh-CN" altLang="en-US" b="1" dirty="0">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逻辑地址和物理地址</a:t>
            </a:r>
          </a:p>
        </p:txBody>
      </p:sp>
      <p:sp>
        <p:nvSpPr>
          <p:cNvPr id="43011" name="Rectangle 3">
            <a:extLst>
              <a:ext uri="{FF2B5EF4-FFF2-40B4-BE49-F238E27FC236}">
                <a16:creationId xmlns:a16="http://schemas.microsoft.com/office/drawing/2014/main" id="{43B46194-C548-0E82-0A6E-80B50D01215D}"/>
              </a:ext>
            </a:extLst>
          </p:cNvPr>
          <p:cNvSpPr>
            <a:spLocks noGrp="1" noChangeArrowheads="1"/>
          </p:cNvSpPr>
          <p:nvPr>
            <p:ph idx="1"/>
          </p:nvPr>
        </p:nvSpPr>
        <p:spPr>
          <a:xfrm>
            <a:off x="323850" y="1341438"/>
            <a:ext cx="8496300" cy="2808287"/>
          </a:xfrm>
        </p:spPr>
        <p:txBody>
          <a:bodyPr/>
          <a:lstStyle/>
          <a:p>
            <a:pPr eaLnBrk="1" hangingPunct="1">
              <a:lnSpc>
                <a:spcPct val="80000"/>
              </a:lnSpc>
              <a:buFont typeface="Wingdings" panose="05000000000000000000" pitchFamily="2" charset="2"/>
              <a:buChar char="Ø"/>
            </a:pPr>
            <a:r>
              <a:rPr lang="zh-CN" altLang="en-US" sz="2400">
                <a:solidFill>
                  <a:schemeClr val="hlink"/>
                </a:solidFill>
                <a:latin typeface="Times New Roman" panose="02020603050405020304" pitchFamily="18" charset="0"/>
                <a:ea typeface="楷体_GB2312" pitchFamily="1" charset="-122"/>
              </a:rPr>
              <a:t>段首址</a:t>
            </a:r>
            <a:r>
              <a:rPr lang="zh-CN" altLang="en-US" sz="2400">
                <a:latin typeface="Times New Roman" panose="02020603050405020304" pitchFamily="18" charset="0"/>
                <a:ea typeface="楷体_GB2312" pitchFamily="1" charset="-122"/>
              </a:rPr>
              <a:t>：段的第一个单元的地址</a:t>
            </a:r>
            <a:r>
              <a:rPr lang="en-US" altLang="zh-CN" sz="2400">
                <a:latin typeface="Times New Roman" panose="02020603050405020304" pitchFamily="18" charset="0"/>
                <a:ea typeface="楷体_GB2312" pitchFamily="1" charset="-122"/>
              </a:rPr>
              <a:t>(20</a:t>
            </a:r>
            <a:r>
              <a:rPr lang="zh-CN" altLang="en-US" sz="2400">
                <a:latin typeface="Times New Roman" panose="02020603050405020304" pitchFamily="18" charset="0"/>
                <a:ea typeface="楷体_GB2312" pitchFamily="1" charset="-122"/>
              </a:rPr>
              <a:t>位</a:t>
            </a:r>
            <a:r>
              <a:rPr lang="en-US" altLang="zh-CN" sz="2400">
                <a:latin typeface="Times New Roman" panose="02020603050405020304" pitchFamily="18" charset="0"/>
                <a:ea typeface="楷体_GB2312" pitchFamily="1" charset="-122"/>
              </a:rPr>
              <a:t>)</a:t>
            </a:r>
            <a:r>
              <a:rPr lang="zh-CN" altLang="en-US" sz="2400">
                <a:latin typeface="Times New Roman" panose="02020603050405020304" pitchFamily="18" charset="0"/>
                <a:ea typeface="楷体_GB2312" pitchFamily="1" charset="-122"/>
              </a:rPr>
              <a:t>，最低</a:t>
            </a:r>
            <a:r>
              <a:rPr lang="en-US" altLang="zh-CN" sz="2400">
                <a:latin typeface="Times New Roman" panose="02020603050405020304" pitchFamily="18" charset="0"/>
                <a:ea typeface="楷体_GB2312" pitchFamily="1" charset="-122"/>
              </a:rPr>
              <a:t>4</a:t>
            </a:r>
            <a:r>
              <a:rPr lang="zh-CN" altLang="en-US" sz="2400">
                <a:latin typeface="Times New Roman" panose="02020603050405020304" pitchFamily="18" charset="0"/>
                <a:ea typeface="楷体_GB2312" pitchFamily="1" charset="-122"/>
              </a:rPr>
              <a:t>位是全</a:t>
            </a:r>
            <a:r>
              <a:rPr lang="en-US" altLang="zh-CN" sz="2400">
                <a:latin typeface="Times New Roman" panose="02020603050405020304" pitchFamily="18" charset="0"/>
                <a:ea typeface="楷体_GB2312" pitchFamily="1" charset="-122"/>
              </a:rPr>
              <a:t>0(</a:t>
            </a:r>
            <a:r>
              <a:rPr lang="zh-CN" altLang="en-US" sz="2400">
                <a:latin typeface="Times New Roman" panose="02020603050405020304" pitchFamily="18" charset="0"/>
                <a:ea typeface="楷体_GB2312" pitchFamily="1" charset="-122"/>
              </a:rPr>
              <a:t>即段首址是</a:t>
            </a:r>
            <a:r>
              <a:rPr lang="en-US" altLang="zh-CN" sz="2400">
                <a:latin typeface="Times New Roman" panose="02020603050405020304" pitchFamily="18" charset="0"/>
                <a:ea typeface="楷体_GB2312" pitchFamily="1" charset="-122"/>
              </a:rPr>
              <a:t>16</a:t>
            </a:r>
            <a:r>
              <a:rPr lang="zh-CN" altLang="en-US" sz="2400">
                <a:latin typeface="Times New Roman" panose="02020603050405020304" pitchFamily="18" charset="0"/>
                <a:ea typeface="楷体_GB2312" pitchFamily="1" charset="-122"/>
              </a:rPr>
              <a:t>的整数倍</a:t>
            </a:r>
            <a:r>
              <a:rPr lang="en-US" altLang="zh-CN" sz="2400">
                <a:latin typeface="Times New Roman" panose="02020603050405020304" pitchFamily="18" charset="0"/>
                <a:ea typeface="楷体_GB2312" pitchFamily="1" charset="-122"/>
              </a:rPr>
              <a:t>)</a:t>
            </a:r>
            <a:r>
              <a:rPr lang="zh-CN" altLang="en-US" sz="2400">
                <a:latin typeface="Times New Roman" panose="02020603050405020304" pitchFamily="18" charset="0"/>
                <a:ea typeface="楷体_GB2312" pitchFamily="1" charset="-122"/>
              </a:rPr>
              <a:t>。</a:t>
            </a:r>
          </a:p>
          <a:p>
            <a:pPr eaLnBrk="1" hangingPunct="1">
              <a:lnSpc>
                <a:spcPct val="80000"/>
              </a:lnSpc>
              <a:buFont typeface="Wingdings" panose="05000000000000000000" pitchFamily="2" charset="2"/>
              <a:buChar char="Ø"/>
            </a:pPr>
            <a:r>
              <a:rPr lang="zh-CN" altLang="en-US" sz="2400">
                <a:solidFill>
                  <a:schemeClr val="hlink"/>
                </a:solidFill>
                <a:latin typeface="Times New Roman" panose="02020603050405020304" pitchFamily="18" charset="0"/>
                <a:ea typeface="楷体_GB2312" pitchFamily="1" charset="-122"/>
              </a:rPr>
              <a:t>段基址</a:t>
            </a:r>
            <a:r>
              <a:rPr lang="zh-CN" altLang="en-US" sz="2400">
                <a:latin typeface="Times New Roman" panose="02020603050405020304" pitchFamily="18" charset="0"/>
                <a:ea typeface="楷体_GB2312" pitchFamily="1" charset="-122"/>
              </a:rPr>
              <a:t>：段首址的高</a:t>
            </a:r>
            <a:r>
              <a:rPr lang="en-US" altLang="zh-CN" sz="2400">
                <a:latin typeface="Times New Roman" panose="02020603050405020304" pitchFamily="18" charset="0"/>
                <a:ea typeface="楷体_GB2312" pitchFamily="1" charset="-122"/>
              </a:rPr>
              <a:t>16</a:t>
            </a:r>
            <a:r>
              <a:rPr lang="zh-CN" altLang="en-US" sz="2400">
                <a:latin typeface="Times New Roman" panose="02020603050405020304" pitchFamily="18" charset="0"/>
                <a:ea typeface="楷体_GB2312" pitchFamily="1" charset="-122"/>
              </a:rPr>
              <a:t>位。段基址存放在段寄存器中。</a:t>
            </a:r>
          </a:p>
          <a:p>
            <a:pPr eaLnBrk="1" hangingPunct="1">
              <a:lnSpc>
                <a:spcPct val="80000"/>
              </a:lnSpc>
              <a:buFont typeface="Wingdings" panose="05000000000000000000" pitchFamily="2" charset="2"/>
              <a:buChar char="Ø"/>
            </a:pPr>
            <a:r>
              <a:rPr lang="zh-CN" altLang="en-US" sz="2400">
                <a:solidFill>
                  <a:schemeClr val="hlink"/>
                </a:solidFill>
                <a:latin typeface="Times New Roman" panose="02020603050405020304" pitchFamily="18" charset="0"/>
                <a:ea typeface="楷体_GB2312" pitchFamily="1" charset="-122"/>
              </a:rPr>
              <a:t>偏移地址</a:t>
            </a:r>
            <a:r>
              <a:rPr lang="zh-CN" altLang="en-US" sz="2400">
                <a:latin typeface="Times New Roman" panose="02020603050405020304" pitchFamily="18" charset="0"/>
                <a:ea typeface="楷体_GB2312" pitchFamily="1" charset="-122"/>
              </a:rPr>
              <a:t>：段内存储单元距离段首地址的偏移量</a:t>
            </a:r>
            <a:r>
              <a:rPr lang="en-US" altLang="zh-CN" sz="2400">
                <a:latin typeface="Times New Roman" panose="02020603050405020304" pitchFamily="18" charset="0"/>
                <a:ea typeface="楷体_GB2312" pitchFamily="1" charset="-122"/>
              </a:rPr>
              <a:t>(</a:t>
            </a:r>
            <a:r>
              <a:rPr lang="zh-CN" altLang="en-US" sz="2400">
                <a:latin typeface="Times New Roman" panose="02020603050405020304" pitchFamily="18" charset="0"/>
                <a:ea typeface="楷体_GB2312" pitchFamily="1" charset="-122"/>
              </a:rPr>
              <a:t>以字节数计算，</a:t>
            </a:r>
            <a:r>
              <a:rPr lang="en-US" altLang="zh-CN" sz="2400">
                <a:latin typeface="Times New Roman" panose="02020603050405020304" pitchFamily="18" charset="0"/>
                <a:ea typeface="楷体_GB2312" pitchFamily="1" charset="-122"/>
              </a:rPr>
              <a:t>16</a:t>
            </a:r>
            <a:r>
              <a:rPr lang="zh-CN" altLang="en-US" sz="2400">
                <a:latin typeface="Times New Roman" panose="02020603050405020304" pitchFamily="18" charset="0"/>
                <a:ea typeface="楷体_GB2312" pitchFamily="1" charset="-122"/>
              </a:rPr>
              <a:t>位</a:t>
            </a:r>
            <a:r>
              <a:rPr lang="en-US" altLang="zh-CN" sz="2400">
                <a:latin typeface="Times New Roman" panose="02020603050405020304" pitchFamily="18" charset="0"/>
                <a:ea typeface="楷体_GB2312" pitchFamily="1" charset="-122"/>
              </a:rPr>
              <a:t>)</a:t>
            </a:r>
            <a:r>
              <a:rPr lang="zh-CN" altLang="en-US" sz="2400">
                <a:latin typeface="Times New Roman" panose="02020603050405020304" pitchFamily="18" charset="0"/>
                <a:ea typeface="楷体_GB2312" pitchFamily="1" charset="-122"/>
              </a:rPr>
              <a:t>，也称有效地址</a:t>
            </a:r>
            <a:r>
              <a:rPr lang="en-US" altLang="zh-CN" sz="2400">
                <a:latin typeface="Times New Roman" panose="02020603050405020304" pitchFamily="18" charset="0"/>
                <a:ea typeface="楷体_GB2312" pitchFamily="1" charset="-122"/>
              </a:rPr>
              <a:t>EA</a:t>
            </a:r>
            <a:r>
              <a:rPr lang="zh-CN" altLang="en-US" sz="2400">
                <a:latin typeface="Times New Roman" panose="02020603050405020304" pitchFamily="18" charset="0"/>
                <a:ea typeface="楷体_GB2312" pitchFamily="1" charset="-122"/>
              </a:rPr>
              <a:t>。偏移地址存放在</a:t>
            </a:r>
            <a:r>
              <a:rPr lang="en-US" altLang="zh-CN" sz="2400">
                <a:latin typeface="Times New Roman" panose="02020603050405020304" pitchFamily="18" charset="0"/>
                <a:ea typeface="楷体_GB2312" pitchFamily="1" charset="-122"/>
              </a:rPr>
              <a:t>IP</a:t>
            </a:r>
            <a:r>
              <a:rPr lang="zh-CN" altLang="en-US" sz="2400">
                <a:latin typeface="Times New Roman" panose="02020603050405020304" pitchFamily="18" charset="0"/>
                <a:ea typeface="楷体_GB2312" pitchFamily="1" charset="-122"/>
              </a:rPr>
              <a:t>、</a:t>
            </a:r>
            <a:r>
              <a:rPr lang="en-US" altLang="zh-CN" sz="2400">
                <a:latin typeface="Times New Roman" panose="02020603050405020304" pitchFamily="18" charset="0"/>
                <a:ea typeface="楷体_GB2312" pitchFamily="1" charset="-122"/>
              </a:rPr>
              <a:t>BP</a:t>
            </a:r>
            <a:r>
              <a:rPr lang="zh-CN" altLang="en-US" sz="2400">
                <a:latin typeface="Times New Roman" panose="02020603050405020304" pitchFamily="18" charset="0"/>
                <a:ea typeface="楷体_GB2312" pitchFamily="1" charset="-122"/>
              </a:rPr>
              <a:t>、</a:t>
            </a:r>
            <a:r>
              <a:rPr lang="en-US" altLang="zh-CN" sz="2400">
                <a:latin typeface="Times New Roman" panose="02020603050405020304" pitchFamily="18" charset="0"/>
                <a:ea typeface="楷体_GB2312" pitchFamily="1" charset="-122"/>
              </a:rPr>
              <a:t>SI</a:t>
            </a:r>
            <a:r>
              <a:rPr lang="zh-CN" altLang="en-US" sz="2400">
                <a:latin typeface="Times New Roman" panose="02020603050405020304" pitchFamily="18" charset="0"/>
                <a:ea typeface="楷体_GB2312" pitchFamily="1" charset="-122"/>
              </a:rPr>
              <a:t>、</a:t>
            </a:r>
            <a:r>
              <a:rPr lang="en-US" altLang="zh-CN" sz="2400">
                <a:latin typeface="Times New Roman" panose="02020603050405020304" pitchFamily="18" charset="0"/>
                <a:ea typeface="楷体_GB2312" pitchFamily="1" charset="-122"/>
              </a:rPr>
              <a:t>DI</a:t>
            </a:r>
            <a:r>
              <a:rPr lang="zh-CN" altLang="en-US" sz="2400">
                <a:latin typeface="Times New Roman" panose="02020603050405020304" pitchFamily="18" charset="0"/>
                <a:ea typeface="楷体_GB2312" pitchFamily="1" charset="-122"/>
              </a:rPr>
              <a:t>或</a:t>
            </a:r>
            <a:r>
              <a:rPr lang="en-US" altLang="zh-CN" sz="2400">
                <a:latin typeface="Times New Roman" panose="02020603050405020304" pitchFamily="18" charset="0"/>
                <a:ea typeface="楷体_GB2312" pitchFamily="1" charset="-122"/>
              </a:rPr>
              <a:t>BX</a:t>
            </a:r>
            <a:r>
              <a:rPr lang="zh-CN" altLang="en-US" sz="2400">
                <a:latin typeface="Times New Roman" panose="02020603050405020304" pitchFamily="18" charset="0"/>
                <a:ea typeface="楷体_GB2312" pitchFamily="1" charset="-122"/>
              </a:rPr>
              <a:t>中，或者是通过计算得到。</a:t>
            </a:r>
          </a:p>
          <a:p>
            <a:pPr eaLnBrk="1" hangingPunct="1">
              <a:lnSpc>
                <a:spcPct val="80000"/>
              </a:lnSpc>
              <a:buFont typeface="Wingdings" panose="05000000000000000000" pitchFamily="2" charset="2"/>
              <a:buChar char="Ø"/>
            </a:pPr>
            <a:r>
              <a:rPr lang="zh-CN" altLang="en-US" sz="2400">
                <a:solidFill>
                  <a:schemeClr val="hlink"/>
                </a:solidFill>
                <a:latin typeface="Times New Roman" panose="02020603050405020304" pitchFamily="18" charset="0"/>
                <a:ea typeface="楷体_GB2312" pitchFamily="1" charset="-122"/>
              </a:rPr>
              <a:t>逻辑地址</a:t>
            </a:r>
            <a:r>
              <a:rPr lang="zh-CN" altLang="en-US" sz="2400">
                <a:latin typeface="Times New Roman" panose="02020603050405020304" pitchFamily="18" charset="0"/>
                <a:ea typeface="楷体_GB2312" pitchFamily="1" charset="-122"/>
              </a:rPr>
              <a:t>：通常用</a:t>
            </a:r>
            <a:r>
              <a:rPr lang="zh-CN" altLang="en-US" sz="2400" b="1">
                <a:solidFill>
                  <a:schemeClr val="folHlink"/>
                </a:solidFill>
                <a:latin typeface="Times New Roman" panose="02020603050405020304" pitchFamily="18" charset="0"/>
                <a:ea typeface="楷体_GB2312" pitchFamily="1" charset="-122"/>
              </a:rPr>
              <a:t>段基址：偏移地址</a:t>
            </a:r>
            <a:r>
              <a:rPr lang="zh-CN" altLang="en-US" sz="2400">
                <a:latin typeface="Times New Roman" panose="02020603050405020304" pitchFamily="18" charset="0"/>
                <a:ea typeface="楷体_GB2312" pitchFamily="1" charset="-122"/>
              </a:rPr>
              <a:t>的形式来描述，在程序中使用。</a:t>
            </a:r>
          </a:p>
        </p:txBody>
      </p:sp>
      <p:pic>
        <p:nvPicPr>
          <p:cNvPr id="43012" name="Picture 4" descr="偏移量的概念">
            <a:extLst>
              <a:ext uri="{FF2B5EF4-FFF2-40B4-BE49-F238E27FC236}">
                <a16:creationId xmlns:a16="http://schemas.microsoft.com/office/drawing/2014/main" id="{BEEFC4E3-1DD8-27DE-6E5A-D328817E2F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3933825"/>
            <a:ext cx="5230813" cy="267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 calcmode="lin" valueType="num">
                                      <p:cBhvr additive="base">
                                        <p:cTn id="7" dur="500" fill="hold"/>
                                        <p:tgtEl>
                                          <p:spTgt spid="430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3011">
                                            <p:txEl>
                                              <p:pRg st="1" end="1"/>
                                            </p:txEl>
                                          </p:spTgt>
                                        </p:tgtEl>
                                        <p:attrNameLst>
                                          <p:attrName>style.visibility</p:attrName>
                                        </p:attrNameLst>
                                      </p:cBhvr>
                                      <p:to>
                                        <p:strVal val="visible"/>
                                      </p:to>
                                    </p:set>
                                    <p:anim calcmode="lin" valueType="num">
                                      <p:cBhvr additive="base">
                                        <p:cTn id="13" dur="500" fill="hold"/>
                                        <p:tgtEl>
                                          <p:spTgt spid="430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30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3011">
                                            <p:txEl>
                                              <p:pRg st="2" end="2"/>
                                            </p:txEl>
                                          </p:spTgt>
                                        </p:tgtEl>
                                        <p:attrNameLst>
                                          <p:attrName>style.visibility</p:attrName>
                                        </p:attrNameLst>
                                      </p:cBhvr>
                                      <p:to>
                                        <p:strVal val="visible"/>
                                      </p:to>
                                    </p:set>
                                    <p:anim calcmode="lin" valueType="num">
                                      <p:cBhvr additive="base">
                                        <p:cTn id="19" dur="500" fill="hold"/>
                                        <p:tgtEl>
                                          <p:spTgt spid="430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30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3011">
                                            <p:txEl>
                                              <p:pRg st="3" end="3"/>
                                            </p:txEl>
                                          </p:spTgt>
                                        </p:tgtEl>
                                        <p:attrNameLst>
                                          <p:attrName>style.visibility</p:attrName>
                                        </p:attrNameLst>
                                      </p:cBhvr>
                                      <p:to>
                                        <p:strVal val="visible"/>
                                      </p:to>
                                    </p:set>
                                    <p:anim calcmode="lin" valueType="num">
                                      <p:cBhvr additive="base">
                                        <p:cTn id="25" dur="500" fill="hold"/>
                                        <p:tgtEl>
                                          <p:spTgt spid="4301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3011">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3012"/>
                                        </p:tgtEl>
                                        <p:attrNameLst>
                                          <p:attrName>style.visibility</p:attrName>
                                        </p:attrNameLst>
                                      </p:cBhvr>
                                      <p:to>
                                        <p:strVal val="visible"/>
                                      </p:to>
                                    </p:set>
                                    <p:anim calcmode="lin" valueType="num">
                                      <p:cBhvr additive="base">
                                        <p:cTn id="29" dur="500" fill="hold"/>
                                        <p:tgtEl>
                                          <p:spTgt spid="43012"/>
                                        </p:tgtEl>
                                        <p:attrNameLst>
                                          <p:attrName>ppt_x</p:attrName>
                                        </p:attrNameLst>
                                      </p:cBhvr>
                                      <p:tavLst>
                                        <p:tav tm="0">
                                          <p:val>
                                            <p:strVal val="#ppt_x"/>
                                          </p:val>
                                        </p:tav>
                                        <p:tav tm="100000">
                                          <p:val>
                                            <p:strVal val="#ppt_x"/>
                                          </p:val>
                                        </p:tav>
                                      </p:tavLst>
                                    </p:anim>
                                    <p:anim calcmode="lin" valueType="num">
                                      <p:cBhvr additive="base">
                                        <p:cTn id="30" dur="500" fill="hold"/>
                                        <p:tgtEl>
                                          <p:spTgt spid="430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F0ECFBE7-06E3-01A6-E32C-D1EBB0B1AA11}"/>
              </a:ext>
            </a:extLst>
          </p:cNvPr>
          <p:cNvSpPr>
            <a:spLocks noGrp="1" noChangeArrowheads="1"/>
          </p:cNvSpPr>
          <p:nvPr>
            <p:ph type="title"/>
          </p:nvPr>
        </p:nvSpPr>
        <p:spPr>
          <a:xfrm>
            <a:off x="1150938" y="404813"/>
            <a:ext cx="7793037" cy="792162"/>
          </a:xfrm>
        </p:spPr>
        <p:txBody>
          <a:bodyPr/>
          <a:lstStyle/>
          <a:p>
            <a:pPr algn="ctr" eaLnBrk="1" hangingPunct="1">
              <a:defRPr/>
            </a:pP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物理地址的形成</a:t>
            </a:r>
          </a:p>
        </p:txBody>
      </p:sp>
      <p:sp>
        <p:nvSpPr>
          <p:cNvPr id="44035" name="Rectangle 3">
            <a:extLst>
              <a:ext uri="{FF2B5EF4-FFF2-40B4-BE49-F238E27FC236}">
                <a16:creationId xmlns:a16="http://schemas.microsoft.com/office/drawing/2014/main" id="{86931E96-0B94-345A-E9A6-A8FB4E7B8701}"/>
              </a:ext>
            </a:extLst>
          </p:cNvPr>
          <p:cNvSpPr>
            <a:spLocks noGrp="1" noChangeArrowheads="1"/>
          </p:cNvSpPr>
          <p:nvPr>
            <p:ph idx="1"/>
          </p:nvPr>
        </p:nvSpPr>
        <p:spPr>
          <a:xfrm>
            <a:off x="539750" y="1557338"/>
            <a:ext cx="8059738" cy="2016125"/>
          </a:xfrm>
        </p:spPr>
        <p:txBody>
          <a:bodyPr/>
          <a:lstStyle/>
          <a:p>
            <a:pPr marL="0" indent="0" eaLnBrk="1" hangingPunct="1">
              <a:lnSpc>
                <a:spcPct val="90000"/>
              </a:lnSpc>
              <a:buFont typeface="Wingdings" panose="05000000000000000000" pitchFamily="2" charset="2"/>
              <a:buChar char="Ø"/>
            </a:pPr>
            <a:r>
              <a:rPr lang="zh-CN" altLang="en-US" sz="2400">
                <a:solidFill>
                  <a:schemeClr val="hlink"/>
                </a:solidFill>
                <a:latin typeface="Times New Roman" panose="02020603050405020304" pitchFamily="18" charset="0"/>
                <a:ea typeface="楷体_GB2312" pitchFamily="1" charset="-122"/>
              </a:rPr>
              <a:t>物理地址</a:t>
            </a:r>
            <a:r>
              <a:rPr lang="zh-CN" altLang="en-US" sz="2400">
                <a:latin typeface="Times New Roman" panose="02020603050405020304" pitchFamily="18" charset="0"/>
                <a:ea typeface="楷体_GB2312" pitchFamily="1" charset="-122"/>
              </a:rPr>
              <a:t>：指</a:t>
            </a:r>
            <a:r>
              <a:rPr lang="en-US" altLang="zh-CN" sz="2400">
                <a:latin typeface="Times New Roman" panose="02020603050405020304" pitchFamily="18" charset="0"/>
                <a:ea typeface="楷体_GB2312" pitchFamily="1" charset="-122"/>
              </a:rPr>
              <a:t>CPU</a:t>
            </a:r>
            <a:r>
              <a:rPr lang="zh-CN" altLang="en-US" sz="2400">
                <a:latin typeface="Times New Roman" panose="02020603050405020304" pitchFamily="18" charset="0"/>
                <a:ea typeface="楷体_GB2312" pitchFamily="1" charset="-122"/>
              </a:rPr>
              <a:t>和存储器进行数据交换时实际寻址所使用的地址，是用</a:t>
            </a:r>
            <a:r>
              <a:rPr lang="en-US" altLang="zh-CN" sz="2400">
                <a:latin typeface="Times New Roman" panose="02020603050405020304" pitchFamily="18" charset="0"/>
                <a:ea typeface="楷体_GB2312" pitchFamily="1" charset="-122"/>
              </a:rPr>
              <a:t>20</a:t>
            </a:r>
            <a:r>
              <a:rPr lang="zh-CN" altLang="en-US" sz="2400">
                <a:latin typeface="Times New Roman" panose="02020603050405020304" pitchFamily="18" charset="0"/>
                <a:ea typeface="楷体_GB2312" pitchFamily="1" charset="-122"/>
              </a:rPr>
              <a:t>位二进制数或</a:t>
            </a:r>
            <a:r>
              <a:rPr lang="en-US" altLang="zh-CN" sz="2400">
                <a:latin typeface="Times New Roman" panose="02020603050405020304" pitchFamily="18" charset="0"/>
                <a:ea typeface="楷体_GB2312" pitchFamily="1" charset="-122"/>
              </a:rPr>
              <a:t>5</a:t>
            </a:r>
            <a:r>
              <a:rPr lang="zh-CN" altLang="en-US" sz="2400">
                <a:latin typeface="Times New Roman" panose="02020603050405020304" pitchFamily="18" charset="0"/>
                <a:ea typeface="楷体_GB2312" pitchFamily="1" charset="-122"/>
              </a:rPr>
              <a:t>位十六进制数表示的地址。</a:t>
            </a:r>
          </a:p>
          <a:p>
            <a:pPr marL="0" indent="0" eaLnBrk="1" hangingPunct="1">
              <a:lnSpc>
                <a:spcPct val="90000"/>
              </a:lnSpc>
              <a:buFont typeface="Wingdings" panose="05000000000000000000" pitchFamily="2" charset="2"/>
              <a:buChar char="Ø"/>
            </a:pPr>
            <a:r>
              <a:rPr lang="zh-CN" altLang="en-US" sz="2400">
                <a:latin typeface="Times New Roman" panose="02020603050405020304" pitchFamily="18" charset="0"/>
                <a:ea typeface="楷体_GB2312" pitchFamily="1" charset="-122"/>
              </a:rPr>
              <a:t>任何一个单元的</a:t>
            </a:r>
            <a:r>
              <a:rPr lang="en-US" altLang="zh-CN" sz="2400">
                <a:latin typeface="Times New Roman" panose="02020603050405020304" pitchFamily="18" charset="0"/>
                <a:ea typeface="楷体_GB2312" pitchFamily="1" charset="-122"/>
              </a:rPr>
              <a:t>20</a:t>
            </a:r>
            <a:r>
              <a:rPr lang="zh-CN" altLang="en-US" sz="2400">
                <a:latin typeface="Times New Roman" panose="02020603050405020304" pitchFamily="18" charset="0"/>
                <a:ea typeface="楷体_GB2312" pitchFamily="1" charset="-122"/>
              </a:rPr>
              <a:t>位物理地址都是由它的逻辑地址变换得到的：</a:t>
            </a:r>
          </a:p>
          <a:p>
            <a:pPr marL="0" indent="0" algn="ctr" eaLnBrk="1" hangingPunct="1">
              <a:lnSpc>
                <a:spcPct val="90000"/>
              </a:lnSpc>
              <a:buFont typeface="Wingdings" panose="05000000000000000000" pitchFamily="2" charset="2"/>
              <a:buNone/>
            </a:pPr>
            <a:r>
              <a:rPr lang="zh-CN" altLang="en-US" sz="2400" b="1">
                <a:solidFill>
                  <a:schemeClr val="folHlink"/>
                </a:solidFill>
                <a:latin typeface="Times New Roman" panose="02020603050405020304" pitchFamily="18" charset="0"/>
                <a:ea typeface="楷体_GB2312" pitchFamily="1" charset="-122"/>
              </a:rPr>
              <a:t>物理地址＝段基址</a:t>
            </a:r>
            <a:r>
              <a:rPr lang="en-US" altLang="zh-CN" sz="2400" b="1">
                <a:solidFill>
                  <a:schemeClr val="folHlink"/>
                </a:solidFill>
                <a:latin typeface="Times New Roman" panose="02020603050405020304" pitchFamily="18" charset="0"/>
                <a:ea typeface="楷体_GB2312" pitchFamily="1" charset="-122"/>
              </a:rPr>
              <a:t>×16</a:t>
            </a:r>
            <a:r>
              <a:rPr lang="zh-CN" altLang="en-US" sz="2400" b="1">
                <a:solidFill>
                  <a:schemeClr val="folHlink"/>
                </a:solidFill>
                <a:latin typeface="Times New Roman" panose="02020603050405020304" pitchFamily="18" charset="0"/>
                <a:ea typeface="楷体_GB2312" pitchFamily="1" charset="-122"/>
              </a:rPr>
              <a:t>＋偏移地址</a:t>
            </a:r>
            <a:r>
              <a:rPr lang="zh-CN" altLang="en-US" sz="2400"/>
              <a:t> </a:t>
            </a:r>
          </a:p>
        </p:txBody>
      </p:sp>
      <p:pic>
        <p:nvPicPr>
          <p:cNvPr id="44036" name="Picture 4" descr="物理地址的产生过程">
            <a:extLst>
              <a:ext uri="{FF2B5EF4-FFF2-40B4-BE49-F238E27FC236}">
                <a16:creationId xmlns:a16="http://schemas.microsoft.com/office/drawing/2014/main" id="{3F4BC763-A706-65FA-0527-75FCC50248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3644900"/>
            <a:ext cx="5616575" cy="306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 calcmode="lin" valueType="num">
                                      <p:cBhvr additive="base">
                                        <p:cTn id="7" dur="500" fill="hold"/>
                                        <p:tgtEl>
                                          <p:spTgt spid="440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0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4035">
                                            <p:txEl>
                                              <p:pRg st="1" end="1"/>
                                            </p:txEl>
                                          </p:spTgt>
                                        </p:tgtEl>
                                        <p:attrNameLst>
                                          <p:attrName>style.visibility</p:attrName>
                                        </p:attrNameLst>
                                      </p:cBhvr>
                                      <p:to>
                                        <p:strVal val="visible"/>
                                      </p:to>
                                    </p:set>
                                    <p:anim calcmode="lin" valueType="num">
                                      <p:cBhvr additive="base">
                                        <p:cTn id="13" dur="500" fill="hold"/>
                                        <p:tgtEl>
                                          <p:spTgt spid="440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03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4035">
                                            <p:txEl>
                                              <p:pRg st="2" end="2"/>
                                            </p:txEl>
                                          </p:spTgt>
                                        </p:tgtEl>
                                        <p:attrNameLst>
                                          <p:attrName>style.visibility</p:attrName>
                                        </p:attrNameLst>
                                      </p:cBhvr>
                                      <p:to>
                                        <p:strVal val="visible"/>
                                      </p:to>
                                    </p:set>
                                    <p:anim calcmode="lin" valueType="num">
                                      <p:cBhvr additive="base">
                                        <p:cTn id="17" dur="500" fill="hold"/>
                                        <p:tgtEl>
                                          <p:spTgt spid="4403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40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16" fill="hold" nodeType="clickEffect">
                                  <p:stCondLst>
                                    <p:cond delay="0"/>
                                  </p:stCondLst>
                                  <p:childTnLst>
                                    <p:set>
                                      <p:cBhvr>
                                        <p:cTn id="22" dur="1" fill="hold">
                                          <p:stCondLst>
                                            <p:cond delay="0"/>
                                          </p:stCondLst>
                                        </p:cTn>
                                        <p:tgtEl>
                                          <p:spTgt spid="44036"/>
                                        </p:tgtEl>
                                        <p:attrNameLst>
                                          <p:attrName>style.visibility</p:attrName>
                                        </p:attrNameLst>
                                      </p:cBhvr>
                                      <p:to>
                                        <p:strVal val="visible"/>
                                      </p:to>
                                    </p:set>
                                    <p:anim calcmode="lin" valueType="num">
                                      <p:cBhvr>
                                        <p:cTn id="23" dur="500" fill="hold"/>
                                        <p:tgtEl>
                                          <p:spTgt spid="44036"/>
                                        </p:tgtEl>
                                        <p:attrNameLst>
                                          <p:attrName>ppt_w</p:attrName>
                                        </p:attrNameLst>
                                      </p:cBhvr>
                                      <p:tavLst>
                                        <p:tav tm="0">
                                          <p:val>
                                            <p:fltVal val="0"/>
                                          </p:val>
                                        </p:tav>
                                        <p:tav tm="100000">
                                          <p:val>
                                            <p:strVal val="#ppt_w"/>
                                          </p:val>
                                        </p:tav>
                                      </p:tavLst>
                                    </p:anim>
                                    <p:anim calcmode="lin" valueType="num">
                                      <p:cBhvr>
                                        <p:cTn id="24" dur="500" fill="hold"/>
                                        <p:tgtEl>
                                          <p:spTgt spid="4403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E93CF0E5-47FA-C44D-ABFA-7B855631628A}"/>
              </a:ext>
            </a:extLst>
          </p:cNvPr>
          <p:cNvSpPr>
            <a:spLocks noGrp="1" noChangeArrowheads="1"/>
          </p:cNvSpPr>
          <p:nvPr>
            <p:ph type="title"/>
          </p:nvPr>
        </p:nvSpPr>
        <p:spPr>
          <a:xfrm>
            <a:off x="1077913" y="430213"/>
            <a:ext cx="7793037" cy="838200"/>
          </a:xfrm>
        </p:spPr>
        <p:txBody>
          <a:bodyPr/>
          <a:lstStyle/>
          <a:p>
            <a:pPr algn="ctr" eaLnBrk="1" hangingPunct="1">
              <a:defRPr/>
            </a:pP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例题</a:t>
            </a:r>
          </a:p>
        </p:txBody>
      </p:sp>
      <p:sp>
        <p:nvSpPr>
          <p:cNvPr id="56322" name="Rectangle 3">
            <a:extLst>
              <a:ext uri="{FF2B5EF4-FFF2-40B4-BE49-F238E27FC236}">
                <a16:creationId xmlns:a16="http://schemas.microsoft.com/office/drawing/2014/main" id="{A30A1EC5-995F-159D-A4C7-CFEE45746BE8}"/>
              </a:ext>
            </a:extLst>
          </p:cNvPr>
          <p:cNvSpPr>
            <a:spLocks noChangeArrowheads="1"/>
          </p:cNvSpPr>
          <p:nvPr/>
        </p:nvSpPr>
        <p:spPr bwMode="auto">
          <a:xfrm>
            <a:off x="898525" y="1654175"/>
            <a:ext cx="6575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aseline="0">
                <a:ea typeface="楷体_GB2312" pitchFamily="1" charset="-122"/>
              </a:rPr>
              <a:t>设</a:t>
            </a:r>
            <a:r>
              <a:rPr lang="en-US" altLang="zh-CN" sz="2400" baseline="0">
                <a:ea typeface="楷体_GB2312" pitchFamily="1" charset="-122"/>
              </a:rPr>
              <a:t>(CS)=4232H </a:t>
            </a:r>
            <a:r>
              <a:rPr lang="zh-CN" altLang="en-US" sz="2400" baseline="0">
                <a:ea typeface="楷体_GB2312" pitchFamily="1" charset="-122"/>
              </a:rPr>
              <a:t>，</a:t>
            </a:r>
            <a:r>
              <a:rPr lang="en-US" altLang="zh-CN" sz="2400" baseline="0">
                <a:ea typeface="楷体_GB2312" pitchFamily="1" charset="-122"/>
              </a:rPr>
              <a:t>(IP)=0066H</a:t>
            </a:r>
            <a:r>
              <a:rPr lang="zh-CN" altLang="en-US" sz="2400" baseline="0">
                <a:ea typeface="楷体_GB2312" pitchFamily="1" charset="-122"/>
              </a:rPr>
              <a:t>，试计算物理地址。</a:t>
            </a:r>
          </a:p>
        </p:txBody>
      </p:sp>
      <p:pic>
        <p:nvPicPr>
          <p:cNvPr id="56323" name="Picture 4" descr="物理地址的计算例题">
            <a:extLst>
              <a:ext uri="{FF2B5EF4-FFF2-40B4-BE49-F238E27FC236}">
                <a16:creationId xmlns:a16="http://schemas.microsoft.com/office/drawing/2014/main" id="{CEBC21F1-E8FA-1545-26A9-6737AB6181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638" y="2378075"/>
            <a:ext cx="7824787" cy="359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B1385BAA-3509-0D02-1E97-DBFEC5DFC55E}"/>
              </a:ext>
            </a:extLst>
          </p:cNvPr>
          <p:cNvSpPr>
            <a:spLocks noGrp="1" noChangeArrowheads="1"/>
          </p:cNvSpPr>
          <p:nvPr>
            <p:ph type="title"/>
          </p:nvPr>
        </p:nvSpPr>
        <p:spPr>
          <a:xfrm>
            <a:off x="1150938" y="404813"/>
            <a:ext cx="7793037" cy="792162"/>
          </a:xfrm>
        </p:spPr>
        <p:txBody>
          <a:bodyPr/>
          <a:lstStyle/>
          <a:p>
            <a:pPr algn="ctr" eaLnBrk="1" hangingPunct="1">
              <a:defRPr/>
            </a:pP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注意</a:t>
            </a:r>
          </a:p>
        </p:txBody>
      </p:sp>
      <p:sp>
        <p:nvSpPr>
          <p:cNvPr id="46083" name="Rectangle 3">
            <a:extLst>
              <a:ext uri="{FF2B5EF4-FFF2-40B4-BE49-F238E27FC236}">
                <a16:creationId xmlns:a16="http://schemas.microsoft.com/office/drawing/2014/main" id="{564E659A-A0A3-A6FE-6025-DDB9431131D0}"/>
              </a:ext>
            </a:extLst>
          </p:cNvPr>
          <p:cNvSpPr>
            <a:spLocks noGrp="1" noChangeArrowheads="1"/>
          </p:cNvSpPr>
          <p:nvPr>
            <p:ph idx="1"/>
          </p:nvPr>
        </p:nvSpPr>
        <p:spPr>
          <a:xfrm>
            <a:off x="468313" y="1557338"/>
            <a:ext cx="7991475" cy="4114800"/>
          </a:xfrm>
        </p:spPr>
        <p:txBody>
          <a:bodyPr/>
          <a:lstStyle/>
          <a:p>
            <a:pPr marL="0" indent="0" eaLnBrk="1" hangingPunct="1">
              <a:buFont typeface="Wingdings" panose="05000000000000000000" pitchFamily="2" charset="2"/>
              <a:buNone/>
            </a:pPr>
            <a:r>
              <a:rPr lang="zh-CN" altLang="en-US">
                <a:latin typeface="Times New Roman" panose="02020603050405020304" pitchFamily="18" charset="0"/>
                <a:ea typeface="楷体_GB2312" pitchFamily="1" charset="-122"/>
              </a:rPr>
              <a:t>一个存储单元的物理地址是唯一的，而逻辑地址是可以不唯一的。</a:t>
            </a:r>
          </a:p>
          <a:p>
            <a:pPr marL="0" indent="0" eaLnBrk="1" hangingPunct="1"/>
            <a:r>
              <a:rPr lang="zh-CN" altLang="en-US">
                <a:latin typeface="Times New Roman" panose="02020603050405020304" pitchFamily="18" charset="0"/>
                <a:ea typeface="楷体_GB2312" pitchFamily="1" charset="-122"/>
              </a:rPr>
              <a:t>例如，物理地址是</a:t>
            </a:r>
            <a:r>
              <a:rPr lang="en-US" altLang="zh-CN">
                <a:latin typeface="Times New Roman" panose="02020603050405020304" pitchFamily="18" charset="0"/>
                <a:ea typeface="楷体_GB2312" pitchFamily="1" charset="-122"/>
              </a:rPr>
              <a:t>12345H</a:t>
            </a:r>
            <a:r>
              <a:rPr lang="zh-CN" altLang="en-US">
                <a:latin typeface="Times New Roman" panose="02020603050405020304" pitchFamily="18" charset="0"/>
                <a:ea typeface="楷体_GB2312" pitchFamily="1" charset="-122"/>
              </a:rPr>
              <a:t>，它的逻辑地址可以是</a:t>
            </a:r>
            <a:r>
              <a:rPr lang="en-US" altLang="zh-CN">
                <a:latin typeface="Times New Roman" panose="02020603050405020304" pitchFamily="18" charset="0"/>
                <a:ea typeface="楷体_GB2312" pitchFamily="1" charset="-122"/>
              </a:rPr>
              <a:t>1233H</a:t>
            </a:r>
            <a:r>
              <a:rPr lang="zh-CN" altLang="en-US">
                <a:latin typeface="Times New Roman" panose="02020603050405020304" pitchFamily="18" charset="0"/>
                <a:ea typeface="楷体_GB2312" pitchFamily="1" charset="-122"/>
              </a:rPr>
              <a:t>：</a:t>
            </a:r>
            <a:r>
              <a:rPr lang="en-US" altLang="zh-CN">
                <a:latin typeface="Times New Roman" panose="02020603050405020304" pitchFamily="18" charset="0"/>
                <a:ea typeface="楷体_GB2312" pitchFamily="1" charset="-122"/>
              </a:rPr>
              <a:t>0015H</a:t>
            </a:r>
          </a:p>
          <a:p>
            <a:pPr marL="0" indent="0" eaLnBrk="1" hangingPunct="1"/>
            <a:r>
              <a:rPr lang="zh-CN" altLang="en-US">
                <a:latin typeface="Times New Roman" panose="02020603050405020304" pitchFamily="18" charset="0"/>
                <a:ea typeface="楷体_GB2312" pitchFamily="1" charset="-122"/>
              </a:rPr>
              <a:t>也可以是</a:t>
            </a:r>
            <a:r>
              <a:rPr lang="en-US" altLang="zh-CN">
                <a:latin typeface="Times New Roman" panose="02020603050405020304" pitchFamily="18" charset="0"/>
                <a:ea typeface="楷体_GB2312" pitchFamily="1" charset="-122"/>
              </a:rPr>
              <a:t>1234H</a:t>
            </a:r>
            <a:r>
              <a:rPr lang="zh-CN" altLang="en-US">
                <a:latin typeface="Times New Roman" panose="02020603050405020304" pitchFamily="18" charset="0"/>
                <a:ea typeface="楷体_GB2312" pitchFamily="1" charset="-122"/>
              </a:rPr>
              <a:t>：</a:t>
            </a:r>
            <a:r>
              <a:rPr lang="en-US" altLang="zh-CN">
                <a:latin typeface="Times New Roman" panose="02020603050405020304" pitchFamily="18" charset="0"/>
                <a:ea typeface="楷体_GB2312" pitchFamily="1" charset="-122"/>
              </a:rPr>
              <a:t>0005H</a:t>
            </a:r>
            <a:r>
              <a:rPr lang="zh-CN" altLang="en-US">
                <a:latin typeface="Times New Roman" panose="02020603050405020304" pitchFamily="18" charset="0"/>
                <a:ea typeface="楷体_GB2312" pitchFamily="1"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 calcmode="lin" valueType="num">
                                      <p:cBhvr additive="base">
                                        <p:cTn id="7" dur="500" fill="hold"/>
                                        <p:tgtEl>
                                          <p:spTgt spid="460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0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6083">
                                            <p:txEl>
                                              <p:pRg st="1" end="1"/>
                                            </p:txEl>
                                          </p:spTgt>
                                        </p:tgtEl>
                                        <p:attrNameLst>
                                          <p:attrName>style.visibility</p:attrName>
                                        </p:attrNameLst>
                                      </p:cBhvr>
                                      <p:to>
                                        <p:strVal val="visible"/>
                                      </p:to>
                                    </p:set>
                                    <p:anim calcmode="lin" valueType="num">
                                      <p:cBhvr additive="base">
                                        <p:cTn id="13" dur="500" fill="hold"/>
                                        <p:tgtEl>
                                          <p:spTgt spid="460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0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6083">
                                            <p:txEl>
                                              <p:pRg st="2" end="2"/>
                                            </p:txEl>
                                          </p:spTgt>
                                        </p:tgtEl>
                                        <p:attrNameLst>
                                          <p:attrName>style.visibility</p:attrName>
                                        </p:attrNameLst>
                                      </p:cBhvr>
                                      <p:to>
                                        <p:strVal val="visible"/>
                                      </p:to>
                                    </p:set>
                                    <p:anim calcmode="lin" valueType="num">
                                      <p:cBhvr additive="base">
                                        <p:cTn id="19" dur="500" fill="hold"/>
                                        <p:tgtEl>
                                          <p:spTgt spid="460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608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52A09215-7AE1-ED4C-47ED-3A3CCA9B2569}"/>
              </a:ext>
            </a:extLst>
          </p:cNvPr>
          <p:cNvSpPr>
            <a:spLocks noGrp="1" noChangeArrowheads="1"/>
          </p:cNvSpPr>
          <p:nvPr>
            <p:ph type="title"/>
          </p:nvPr>
        </p:nvSpPr>
        <p:spPr>
          <a:xfrm>
            <a:off x="1150938" y="333375"/>
            <a:ext cx="7793037" cy="865188"/>
          </a:xfrm>
        </p:spPr>
        <p:txBody>
          <a:bodyPr/>
          <a:lstStyle/>
          <a:p>
            <a:pPr algn="ctr" eaLnBrk="1" hangingPunct="1">
              <a:defRPr/>
            </a:pP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3)</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堆栈</a:t>
            </a:r>
          </a:p>
        </p:txBody>
      </p:sp>
      <p:sp>
        <p:nvSpPr>
          <p:cNvPr id="47107" name="Rectangle 3">
            <a:extLst>
              <a:ext uri="{FF2B5EF4-FFF2-40B4-BE49-F238E27FC236}">
                <a16:creationId xmlns:a16="http://schemas.microsoft.com/office/drawing/2014/main" id="{2D9615D8-A4A6-C439-1860-BA7BD8F92928}"/>
              </a:ext>
            </a:extLst>
          </p:cNvPr>
          <p:cNvSpPr>
            <a:spLocks noGrp="1" noChangeArrowheads="1"/>
          </p:cNvSpPr>
          <p:nvPr>
            <p:ph idx="1"/>
          </p:nvPr>
        </p:nvSpPr>
        <p:spPr>
          <a:xfrm>
            <a:off x="395288" y="1557338"/>
            <a:ext cx="8353425" cy="4824412"/>
          </a:xfrm>
        </p:spPr>
        <p:txBody>
          <a:bodyPr/>
          <a:lstStyle/>
          <a:p>
            <a:pPr eaLnBrk="1" hangingPunct="1">
              <a:lnSpc>
                <a:spcPct val="80000"/>
              </a:lnSpc>
              <a:buFont typeface="Wingdings" panose="05000000000000000000" pitchFamily="2" charset="2"/>
              <a:buChar char="Ø"/>
            </a:pPr>
            <a:r>
              <a:rPr lang="zh-CN" altLang="en-US" sz="2800">
                <a:latin typeface="Times New Roman" panose="02020603050405020304" pitchFamily="18" charset="0"/>
                <a:ea typeface="楷体_GB2312" pitchFamily="1" charset="-122"/>
              </a:rPr>
              <a:t>堆栈是以</a:t>
            </a:r>
            <a:r>
              <a:rPr lang="zh-CN" altLang="en-US" sz="2800" b="1">
                <a:solidFill>
                  <a:schemeClr val="folHlink"/>
                </a:solidFill>
                <a:latin typeface="Times New Roman" panose="02020603050405020304" pitchFamily="18" charset="0"/>
                <a:ea typeface="楷体_GB2312" pitchFamily="1" charset="-122"/>
              </a:rPr>
              <a:t>“先进后出”或“后进先出”</a:t>
            </a:r>
            <a:r>
              <a:rPr lang="zh-CN" altLang="en-US" sz="2800">
                <a:latin typeface="Times New Roman" panose="02020603050405020304" pitchFamily="18" charset="0"/>
                <a:ea typeface="楷体_GB2312" pitchFamily="1" charset="-122"/>
              </a:rPr>
              <a:t>原则管理的存储区域。</a:t>
            </a:r>
          </a:p>
          <a:p>
            <a:pPr eaLnBrk="1" hangingPunct="1">
              <a:lnSpc>
                <a:spcPct val="80000"/>
              </a:lnSpc>
              <a:buFont typeface="Wingdings" panose="05000000000000000000" pitchFamily="2" charset="2"/>
              <a:buChar char="Ø"/>
            </a:pPr>
            <a:r>
              <a:rPr lang="zh-CN" altLang="en-US" sz="2800">
                <a:latin typeface="Times New Roman" panose="02020603050405020304" pitchFamily="18" charset="0"/>
                <a:ea typeface="楷体_GB2312" pitchFamily="1" charset="-122"/>
              </a:rPr>
              <a:t>堆栈段也采用段定义语句在存储器中定义，最大为</a:t>
            </a:r>
            <a:r>
              <a:rPr lang="en-US" altLang="zh-CN" sz="2800">
                <a:latin typeface="Times New Roman" panose="02020603050405020304" pitchFamily="18" charset="0"/>
                <a:ea typeface="楷体_GB2312" pitchFamily="1" charset="-122"/>
              </a:rPr>
              <a:t>64KB</a:t>
            </a:r>
            <a:r>
              <a:rPr lang="zh-CN" altLang="en-US" sz="2800">
                <a:latin typeface="Times New Roman" panose="02020603050405020304" pitchFamily="18" charset="0"/>
                <a:ea typeface="楷体_GB2312" pitchFamily="1" charset="-122"/>
              </a:rPr>
              <a:t>。可在</a:t>
            </a:r>
            <a:r>
              <a:rPr lang="en-US" altLang="zh-CN" sz="2800">
                <a:latin typeface="Times New Roman" panose="02020603050405020304" pitchFamily="18" charset="0"/>
                <a:ea typeface="楷体_GB2312" pitchFamily="1" charset="-122"/>
              </a:rPr>
              <a:t>1MB</a:t>
            </a:r>
            <a:r>
              <a:rPr lang="zh-CN" altLang="en-US" sz="2800">
                <a:latin typeface="Times New Roman" panose="02020603050405020304" pitchFamily="18" charset="0"/>
                <a:ea typeface="楷体_GB2312" pitchFamily="1" charset="-122"/>
              </a:rPr>
              <a:t>的存储空间内浮动。</a:t>
            </a:r>
          </a:p>
          <a:p>
            <a:pPr eaLnBrk="1" hangingPunct="1">
              <a:lnSpc>
                <a:spcPct val="80000"/>
              </a:lnSpc>
              <a:buFont typeface="Wingdings" panose="05000000000000000000" pitchFamily="2" charset="2"/>
              <a:buChar char="Ø"/>
            </a:pPr>
            <a:r>
              <a:rPr lang="zh-CN" altLang="en-US" sz="2800">
                <a:latin typeface="Times New Roman" panose="02020603050405020304" pitchFamily="18" charset="0"/>
                <a:ea typeface="楷体_GB2312" pitchFamily="1" charset="-122"/>
              </a:rPr>
              <a:t>堆栈段所在存储区中的位置由堆栈段寄存器</a:t>
            </a:r>
            <a:r>
              <a:rPr lang="en-US" altLang="zh-CN" sz="2800">
                <a:latin typeface="Times New Roman" panose="02020603050405020304" pitchFamily="18" charset="0"/>
                <a:ea typeface="楷体_GB2312" pitchFamily="1" charset="-122"/>
              </a:rPr>
              <a:t>SS</a:t>
            </a:r>
            <a:r>
              <a:rPr lang="zh-CN" altLang="en-US" sz="2800">
                <a:latin typeface="Times New Roman" panose="02020603050405020304" pitchFamily="18" charset="0"/>
                <a:ea typeface="楷体_GB2312" pitchFamily="1" charset="-122"/>
              </a:rPr>
              <a:t>和堆栈指针</a:t>
            </a:r>
            <a:r>
              <a:rPr lang="en-US" altLang="zh-CN" sz="2800">
                <a:latin typeface="Times New Roman" panose="02020603050405020304" pitchFamily="18" charset="0"/>
                <a:ea typeface="楷体_GB2312" pitchFamily="1" charset="-122"/>
              </a:rPr>
              <a:t>SP</a:t>
            </a:r>
            <a:r>
              <a:rPr lang="zh-CN" altLang="en-US" sz="2800">
                <a:latin typeface="Times New Roman" panose="02020603050405020304" pitchFamily="18" charset="0"/>
                <a:ea typeface="楷体_GB2312" pitchFamily="1" charset="-122"/>
              </a:rPr>
              <a:t>来指示。</a:t>
            </a:r>
          </a:p>
          <a:p>
            <a:pPr eaLnBrk="1" hangingPunct="1">
              <a:lnSpc>
                <a:spcPct val="80000"/>
              </a:lnSpc>
            </a:pPr>
            <a:r>
              <a:rPr lang="en-US" altLang="zh-CN" sz="2800" b="1">
                <a:solidFill>
                  <a:schemeClr val="folHlink"/>
                </a:solidFill>
                <a:latin typeface="Times New Roman" panose="02020603050405020304" pitchFamily="18" charset="0"/>
                <a:ea typeface="楷体_GB2312" pitchFamily="1" charset="-122"/>
              </a:rPr>
              <a:t>SS</a:t>
            </a:r>
            <a:r>
              <a:rPr lang="zh-CN" altLang="en-US" sz="2800" b="1">
                <a:solidFill>
                  <a:schemeClr val="folHlink"/>
                </a:solidFill>
                <a:latin typeface="Times New Roman" panose="02020603050405020304" pitchFamily="18" charset="0"/>
                <a:ea typeface="楷体_GB2312" pitchFamily="1" charset="-122"/>
              </a:rPr>
              <a:t>给出堆栈段的段基址</a:t>
            </a:r>
          </a:p>
          <a:p>
            <a:pPr eaLnBrk="1" hangingPunct="1">
              <a:lnSpc>
                <a:spcPct val="80000"/>
              </a:lnSpc>
            </a:pPr>
            <a:r>
              <a:rPr lang="en-US" altLang="zh-CN" sz="2800" b="1">
                <a:solidFill>
                  <a:schemeClr val="folHlink"/>
                </a:solidFill>
                <a:latin typeface="Times New Roman" panose="02020603050405020304" pitchFamily="18" charset="0"/>
                <a:ea typeface="楷体_GB2312" pitchFamily="1" charset="-122"/>
              </a:rPr>
              <a:t>SP</a:t>
            </a:r>
            <a:r>
              <a:rPr lang="zh-CN" altLang="en-US" sz="2800" b="1">
                <a:solidFill>
                  <a:schemeClr val="folHlink"/>
                </a:solidFill>
                <a:latin typeface="Times New Roman" panose="02020603050405020304" pitchFamily="18" charset="0"/>
                <a:ea typeface="楷体_GB2312" pitchFamily="1" charset="-122"/>
              </a:rPr>
              <a:t>存放栈顶地址</a:t>
            </a:r>
            <a:r>
              <a:rPr lang="zh-CN" altLang="en-US" sz="2800">
                <a:latin typeface="Times New Roman" panose="02020603050405020304" pitchFamily="18" charset="0"/>
                <a:ea typeface="楷体_GB2312" pitchFamily="1" charset="-122"/>
              </a:rPr>
              <a:t>，指出从栈顶到段首址的偏移量。</a:t>
            </a:r>
          </a:p>
          <a:p>
            <a:pPr eaLnBrk="1" hangingPunct="1">
              <a:lnSpc>
                <a:spcPct val="80000"/>
              </a:lnSpc>
            </a:pPr>
            <a:r>
              <a:rPr lang="zh-CN" altLang="en-US" sz="2800">
                <a:latin typeface="Times New Roman" panose="02020603050405020304" pitchFamily="18" charset="0"/>
                <a:ea typeface="楷体_GB2312" pitchFamily="1" charset="-122"/>
              </a:rPr>
              <a:t>栈顶与栈底之间单元中的内容是堆栈段中的有效数据。</a:t>
            </a:r>
          </a:p>
          <a:p>
            <a:pPr eaLnBrk="1" hangingPunct="1">
              <a:lnSpc>
                <a:spcPct val="80000"/>
              </a:lnSpc>
              <a:buFont typeface="Wingdings" panose="05000000000000000000" pitchFamily="2" charset="2"/>
              <a:buChar char="Ø"/>
            </a:pPr>
            <a:r>
              <a:rPr lang="zh-CN" altLang="en-US" sz="2800">
                <a:latin typeface="Times New Roman" panose="02020603050405020304" pitchFamily="18" charset="0"/>
                <a:ea typeface="楷体_GB2312" pitchFamily="1" charset="-122"/>
              </a:rPr>
              <a:t>堆栈操作有</a:t>
            </a:r>
            <a:r>
              <a:rPr lang="zh-CN" altLang="en-US" sz="2800" b="1">
                <a:solidFill>
                  <a:schemeClr val="folHlink"/>
                </a:solidFill>
                <a:latin typeface="Times New Roman" panose="02020603050405020304" pitchFamily="18" charset="0"/>
                <a:ea typeface="楷体_GB2312" pitchFamily="1" charset="-122"/>
              </a:rPr>
              <a:t>入栈</a:t>
            </a:r>
            <a:r>
              <a:rPr lang="en-US" altLang="zh-CN" sz="2800" b="1">
                <a:solidFill>
                  <a:schemeClr val="folHlink"/>
                </a:solidFill>
                <a:latin typeface="Times New Roman" panose="02020603050405020304" pitchFamily="18" charset="0"/>
                <a:ea typeface="楷体_GB2312" pitchFamily="1" charset="-122"/>
              </a:rPr>
              <a:t>(PUSH)</a:t>
            </a:r>
            <a:r>
              <a:rPr lang="zh-CN" altLang="en-US" sz="2800" b="1">
                <a:solidFill>
                  <a:schemeClr val="folHlink"/>
                </a:solidFill>
                <a:latin typeface="Times New Roman" panose="02020603050405020304" pitchFamily="18" charset="0"/>
                <a:ea typeface="楷体_GB2312" pitchFamily="1" charset="-122"/>
              </a:rPr>
              <a:t>和出栈</a:t>
            </a:r>
            <a:r>
              <a:rPr lang="en-US" altLang="zh-CN" sz="2800" b="1">
                <a:solidFill>
                  <a:schemeClr val="folHlink"/>
                </a:solidFill>
                <a:latin typeface="Times New Roman" panose="02020603050405020304" pitchFamily="18" charset="0"/>
                <a:ea typeface="楷体_GB2312" pitchFamily="1" charset="-122"/>
              </a:rPr>
              <a:t>(POP)</a:t>
            </a:r>
            <a:r>
              <a:rPr lang="zh-CN" altLang="en-US" sz="2800">
                <a:latin typeface="Times New Roman" panose="02020603050405020304" pitchFamily="18" charset="0"/>
                <a:ea typeface="楷体_GB2312" pitchFamily="1" charset="-122"/>
              </a:rPr>
              <a:t>两种。</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107">
                                            <p:txEl>
                                              <p:pRg st="4" end="4"/>
                                            </p:txEl>
                                          </p:spTgt>
                                        </p:tgtEl>
                                        <p:attrNameLst>
                                          <p:attrName>style.visibility</p:attrName>
                                        </p:attrNameLst>
                                      </p:cBhvr>
                                      <p:to>
                                        <p:strVal val="visible"/>
                                      </p:to>
                                    </p:set>
                                    <p:anim calcmode="lin" valueType="num">
                                      <p:cBhvr additive="base">
                                        <p:cTn id="31"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7107">
                                            <p:txEl>
                                              <p:pRg st="5" end="5"/>
                                            </p:txEl>
                                          </p:spTgt>
                                        </p:tgtEl>
                                        <p:attrNameLst>
                                          <p:attrName>style.visibility</p:attrName>
                                        </p:attrNameLst>
                                      </p:cBhvr>
                                      <p:to>
                                        <p:strVal val="visible"/>
                                      </p:to>
                                    </p:set>
                                    <p:anim calcmode="lin" valueType="num">
                                      <p:cBhvr additive="base">
                                        <p:cTn id="37"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1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7107">
                                            <p:txEl>
                                              <p:pRg st="6" end="6"/>
                                            </p:txEl>
                                          </p:spTgt>
                                        </p:tgtEl>
                                        <p:attrNameLst>
                                          <p:attrName>style.visibility</p:attrName>
                                        </p:attrNameLst>
                                      </p:cBhvr>
                                      <p:to>
                                        <p:strVal val="visible"/>
                                      </p:to>
                                    </p:set>
                                    <p:anim calcmode="lin" valueType="num">
                                      <p:cBhvr additive="base">
                                        <p:cTn id="43" dur="500" fill="hold"/>
                                        <p:tgtEl>
                                          <p:spTgt spid="4710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710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3" name="Picture 2">
            <a:extLst>
              <a:ext uri="{FF2B5EF4-FFF2-40B4-BE49-F238E27FC236}">
                <a16:creationId xmlns:a16="http://schemas.microsoft.com/office/drawing/2014/main" id="{60D92A7F-5CCD-6909-2CD2-269494E849F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00113" y="2565400"/>
            <a:ext cx="6715125" cy="4114800"/>
          </a:xfrm>
        </p:spPr>
      </p:pic>
      <p:sp>
        <p:nvSpPr>
          <p:cNvPr id="59394" name="TextBox 4">
            <a:extLst>
              <a:ext uri="{FF2B5EF4-FFF2-40B4-BE49-F238E27FC236}">
                <a16:creationId xmlns:a16="http://schemas.microsoft.com/office/drawing/2014/main" id="{48141BB0-1529-6AB6-ADC9-89E7DC1FC85B}"/>
              </a:ext>
            </a:extLst>
          </p:cNvPr>
          <p:cNvSpPr txBox="1">
            <a:spLocks noChangeArrowheads="1"/>
          </p:cNvSpPr>
          <p:nvPr/>
        </p:nvSpPr>
        <p:spPr bwMode="auto">
          <a:xfrm>
            <a:off x="1619250" y="1557338"/>
            <a:ext cx="65532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400"/>
              <a:t>SS=1050H,  SP=008H,AX=1234H          </a:t>
            </a:r>
          </a:p>
          <a:p>
            <a:pPr eaLnBrk="0" hangingPunct="0"/>
            <a:r>
              <a:rPr lang="en-US" altLang="zh-CN" sz="2400"/>
              <a:t>PHSH  AX </a:t>
            </a:r>
          </a:p>
          <a:p>
            <a:pPr eaLnBrk="0" hangingPunct="0"/>
            <a:r>
              <a:rPr lang="en-US" altLang="zh-CN" sz="2400"/>
              <a:t>POP   AX</a:t>
            </a:r>
          </a:p>
          <a:p>
            <a:pPr eaLnBrk="0" hangingPunct="0"/>
            <a:r>
              <a:rPr lang="en-US" altLang="zh-CN" sz="2400"/>
              <a:t>POP  BX</a:t>
            </a:r>
            <a:endParaRPr lang="zh-CN" altLang="en-US" sz="2400"/>
          </a:p>
        </p:txBody>
      </p:sp>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6ED5A6C-F2C2-E194-9EFA-51EE70B6850B}"/>
              </a:ext>
            </a:extLst>
          </p:cNvPr>
          <p:cNvSpPr>
            <a:spLocks noGrp="1" noChangeArrowheads="1"/>
          </p:cNvSpPr>
          <p:nvPr>
            <p:ph type="title"/>
          </p:nvPr>
        </p:nvSpPr>
        <p:spPr/>
        <p:txBody>
          <a:bodyPr/>
          <a:lstStyle/>
          <a:p>
            <a:pPr algn="ctr" eaLnBrk="1" hangingPunct="1">
              <a:defRPr/>
            </a:pP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4)</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段寄存器的使用</a:t>
            </a:r>
          </a:p>
        </p:txBody>
      </p:sp>
      <p:sp>
        <p:nvSpPr>
          <p:cNvPr id="48131" name="Rectangle 3">
            <a:extLst>
              <a:ext uri="{FF2B5EF4-FFF2-40B4-BE49-F238E27FC236}">
                <a16:creationId xmlns:a16="http://schemas.microsoft.com/office/drawing/2014/main" id="{54CEE173-3029-4429-BCDC-89B5A0B14635}"/>
              </a:ext>
            </a:extLst>
          </p:cNvPr>
          <p:cNvSpPr>
            <a:spLocks noGrp="1" noChangeArrowheads="1"/>
          </p:cNvSpPr>
          <p:nvPr>
            <p:ph idx="1"/>
          </p:nvPr>
        </p:nvSpPr>
        <p:spPr>
          <a:xfrm>
            <a:off x="250825" y="1557338"/>
            <a:ext cx="8569325" cy="4679950"/>
          </a:xfrm>
        </p:spPr>
        <p:txBody>
          <a:bodyPr/>
          <a:lstStyle/>
          <a:p>
            <a:pPr eaLnBrk="1" hangingPunct="1">
              <a:lnSpc>
                <a:spcPct val="80000"/>
              </a:lnSpc>
              <a:buFont typeface="Wingdings" panose="05000000000000000000" pitchFamily="2" charset="2"/>
              <a:buNone/>
            </a:pPr>
            <a:r>
              <a:rPr lang="zh-CN" altLang="en-US" sz="2400">
                <a:latin typeface="Times New Roman" panose="02020603050405020304" pitchFamily="18" charset="0"/>
                <a:ea typeface="楷体_GB2312" pitchFamily="1" charset="-122"/>
              </a:rPr>
              <a:t>四个段寄存器分别指明四个现行可寻址的逻辑段：</a:t>
            </a:r>
          </a:p>
          <a:p>
            <a:pPr eaLnBrk="1" hangingPunct="1">
              <a:lnSpc>
                <a:spcPct val="80000"/>
              </a:lnSpc>
              <a:buFont typeface="Wingdings" panose="05000000000000000000" pitchFamily="2" charset="2"/>
              <a:buNone/>
            </a:pPr>
            <a:r>
              <a:rPr lang="en-US" altLang="zh-CN" sz="2400" b="1">
                <a:latin typeface="Times New Roman" panose="02020603050405020304" pitchFamily="18" charset="0"/>
              </a:rPr>
              <a:t>(1)</a:t>
            </a:r>
            <a:r>
              <a:rPr lang="zh-CN" altLang="en-US" sz="2400" b="1">
                <a:solidFill>
                  <a:schemeClr val="folHlink"/>
                </a:solidFill>
                <a:latin typeface="Times New Roman" panose="02020603050405020304" pitchFamily="18" charset="0"/>
              </a:rPr>
              <a:t>代码段</a:t>
            </a:r>
            <a:r>
              <a:rPr lang="en-US" altLang="zh-CN" sz="2400" b="1">
                <a:latin typeface="Times New Roman" panose="02020603050405020304" pitchFamily="18" charset="0"/>
              </a:rPr>
              <a:t>(Code Segment)</a:t>
            </a:r>
            <a:r>
              <a:rPr lang="zh-CN" altLang="en-US" sz="2400" b="1">
                <a:latin typeface="Times New Roman" panose="02020603050405020304" pitchFamily="18" charset="0"/>
              </a:rPr>
              <a:t>：</a:t>
            </a:r>
            <a:r>
              <a:rPr lang="zh-CN" altLang="en-US" sz="2400">
                <a:latin typeface="Times New Roman" panose="02020603050405020304" pitchFamily="18" charset="0"/>
                <a:ea typeface="楷体_GB2312" pitchFamily="1" charset="-122"/>
              </a:rPr>
              <a:t>用来存放当前正在运行的程序。系统在取指令时将寻址代码段，其段基址和偏移地址分别由段寄存器</a:t>
            </a:r>
            <a:r>
              <a:rPr lang="en-US" altLang="zh-CN" sz="2400">
                <a:latin typeface="Times New Roman" panose="02020603050405020304" pitchFamily="18" charset="0"/>
                <a:ea typeface="楷体_GB2312" pitchFamily="1" charset="-122"/>
              </a:rPr>
              <a:t>CS</a:t>
            </a:r>
            <a:r>
              <a:rPr lang="zh-CN" altLang="en-US" sz="2400">
                <a:latin typeface="Times New Roman" panose="02020603050405020304" pitchFamily="18" charset="0"/>
                <a:ea typeface="楷体_GB2312" pitchFamily="1" charset="-122"/>
              </a:rPr>
              <a:t>和指令指针</a:t>
            </a:r>
            <a:r>
              <a:rPr lang="en-US" altLang="zh-CN" sz="2400">
                <a:latin typeface="Times New Roman" panose="02020603050405020304" pitchFamily="18" charset="0"/>
                <a:ea typeface="楷体_GB2312" pitchFamily="1" charset="-122"/>
              </a:rPr>
              <a:t>IP</a:t>
            </a:r>
            <a:r>
              <a:rPr lang="zh-CN" altLang="en-US" sz="2400">
                <a:latin typeface="Times New Roman" panose="02020603050405020304" pitchFamily="18" charset="0"/>
                <a:ea typeface="楷体_GB2312" pitchFamily="1" charset="-122"/>
              </a:rPr>
              <a:t>给出。</a:t>
            </a:r>
          </a:p>
          <a:p>
            <a:pPr eaLnBrk="1" hangingPunct="1">
              <a:lnSpc>
                <a:spcPct val="80000"/>
              </a:lnSpc>
              <a:buFont typeface="Wingdings" panose="05000000000000000000" pitchFamily="2" charset="2"/>
              <a:buNone/>
            </a:pPr>
            <a:r>
              <a:rPr lang="en-US" altLang="zh-CN" sz="2400" b="1">
                <a:latin typeface="Times New Roman" panose="02020603050405020304" pitchFamily="18" charset="0"/>
              </a:rPr>
              <a:t>(2)</a:t>
            </a:r>
            <a:r>
              <a:rPr lang="zh-CN" altLang="en-US" sz="2400" b="1">
                <a:solidFill>
                  <a:schemeClr val="folHlink"/>
                </a:solidFill>
                <a:latin typeface="Times New Roman" panose="02020603050405020304" pitchFamily="18" charset="0"/>
              </a:rPr>
              <a:t>数据段</a:t>
            </a:r>
            <a:r>
              <a:rPr lang="en-US" altLang="zh-CN" sz="2400" b="1">
                <a:latin typeface="Times New Roman" panose="02020603050405020304" pitchFamily="18" charset="0"/>
              </a:rPr>
              <a:t>(Data Segment)</a:t>
            </a:r>
            <a:r>
              <a:rPr lang="zh-CN" altLang="en-US" sz="2400" b="1">
                <a:latin typeface="Times New Roman" panose="02020603050405020304" pitchFamily="18" charset="0"/>
              </a:rPr>
              <a:t>：</a:t>
            </a:r>
            <a:r>
              <a:rPr lang="zh-CN" altLang="en-US" sz="2400">
                <a:latin typeface="Times New Roman" panose="02020603050405020304" pitchFamily="18" charset="0"/>
                <a:ea typeface="楷体_GB2312" pitchFamily="1" charset="-122"/>
              </a:rPr>
              <a:t>存放当前运行程序所用的数据。用户在寻址该段内的数据时，可以缺省段的说明，其偏移地址可通过多种寻址方式形成。</a:t>
            </a:r>
          </a:p>
          <a:p>
            <a:pPr eaLnBrk="1" hangingPunct="1">
              <a:lnSpc>
                <a:spcPct val="80000"/>
              </a:lnSpc>
              <a:buFont typeface="Wingdings" panose="05000000000000000000" pitchFamily="2" charset="2"/>
              <a:buNone/>
            </a:pPr>
            <a:r>
              <a:rPr lang="en-US" altLang="zh-CN" sz="2400" b="1">
                <a:latin typeface="Times New Roman" panose="02020603050405020304" pitchFamily="18" charset="0"/>
              </a:rPr>
              <a:t>(3)</a:t>
            </a:r>
            <a:r>
              <a:rPr lang="zh-CN" altLang="en-US" sz="2400" b="1">
                <a:solidFill>
                  <a:schemeClr val="folHlink"/>
                </a:solidFill>
                <a:latin typeface="Times New Roman" panose="02020603050405020304" pitchFamily="18" charset="0"/>
              </a:rPr>
              <a:t>堆栈段</a:t>
            </a:r>
            <a:r>
              <a:rPr lang="en-US" altLang="zh-CN" sz="2400" b="1">
                <a:latin typeface="Times New Roman" panose="02020603050405020304" pitchFamily="18" charset="0"/>
              </a:rPr>
              <a:t>(Stack Segment)</a:t>
            </a:r>
            <a:r>
              <a:rPr lang="zh-CN" altLang="en-US" sz="2400" b="1">
                <a:latin typeface="Times New Roman" panose="02020603050405020304" pitchFamily="18" charset="0"/>
              </a:rPr>
              <a:t>：</a:t>
            </a:r>
            <a:r>
              <a:rPr lang="zh-CN" altLang="en-US" sz="2400">
                <a:latin typeface="Times New Roman" panose="02020603050405020304" pitchFamily="18" charset="0"/>
                <a:ea typeface="楷体_GB2312" pitchFamily="1" charset="-122"/>
              </a:rPr>
              <a:t>堆栈为保护、调度数据提供了重要的手段。系统在执行栈操作指令时将寻址堆栈段，段基址和偏移地址分别由段寄存器</a:t>
            </a:r>
            <a:r>
              <a:rPr lang="en-US" altLang="zh-CN" sz="2400">
                <a:latin typeface="Times New Roman" panose="02020603050405020304" pitchFamily="18" charset="0"/>
                <a:ea typeface="楷体_GB2312" pitchFamily="1" charset="-122"/>
              </a:rPr>
              <a:t>SS</a:t>
            </a:r>
            <a:r>
              <a:rPr lang="zh-CN" altLang="en-US" sz="2400">
                <a:latin typeface="Times New Roman" panose="02020603050405020304" pitchFamily="18" charset="0"/>
                <a:ea typeface="楷体_GB2312" pitchFamily="1" charset="-122"/>
              </a:rPr>
              <a:t>和堆栈指针</a:t>
            </a:r>
            <a:r>
              <a:rPr lang="en-US" altLang="zh-CN" sz="2400">
                <a:latin typeface="Times New Roman" panose="02020603050405020304" pitchFamily="18" charset="0"/>
                <a:ea typeface="楷体_GB2312" pitchFamily="1" charset="-122"/>
              </a:rPr>
              <a:t>SP</a:t>
            </a:r>
            <a:r>
              <a:rPr lang="zh-CN" altLang="en-US" sz="2400">
                <a:latin typeface="Times New Roman" panose="02020603050405020304" pitchFamily="18" charset="0"/>
                <a:ea typeface="楷体_GB2312" pitchFamily="1" charset="-122"/>
              </a:rPr>
              <a:t>提供。</a:t>
            </a:r>
          </a:p>
          <a:p>
            <a:pPr eaLnBrk="1" hangingPunct="1">
              <a:lnSpc>
                <a:spcPct val="80000"/>
              </a:lnSpc>
              <a:buFont typeface="Wingdings" panose="05000000000000000000" pitchFamily="2" charset="2"/>
              <a:buNone/>
            </a:pPr>
            <a:r>
              <a:rPr lang="en-US" altLang="zh-CN" sz="2400" b="1">
                <a:latin typeface="Times New Roman" panose="02020603050405020304" pitchFamily="18" charset="0"/>
              </a:rPr>
              <a:t>(4)</a:t>
            </a:r>
            <a:r>
              <a:rPr lang="zh-CN" altLang="en-US" sz="2400" b="1">
                <a:solidFill>
                  <a:schemeClr val="folHlink"/>
                </a:solidFill>
                <a:latin typeface="Times New Roman" panose="02020603050405020304" pitchFamily="18" charset="0"/>
              </a:rPr>
              <a:t>附加数据段</a:t>
            </a:r>
            <a:r>
              <a:rPr lang="en-US" altLang="zh-CN" sz="2400" b="1">
                <a:latin typeface="Times New Roman" panose="02020603050405020304" pitchFamily="18" charset="0"/>
              </a:rPr>
              <a:t>(Extra Segment)</a:t>
            </a:r>
            <a:r>
              <a:rPr lang="zh-CN" altLang="en-US" sz="2400" b="1">
                <a:latin typeface="Times New Roman" panose="02020603050405020304" pitchFamily="18" charset="0"/>
              </a:rPr>
              <a:t>：</a:t>
            </a:r>
            <a:r>
              <a:rPr lang="zh-CN" altLang="en-US" sz="2400">
                <a:latin typeface="Times New Roman" panose="02020603050405020304" pitchFamily="18" charset="0"/>
                <a:ea typeface="楷体_GB2312" pitchFamily="1" charset="-122"/>
              </a:rPr>
              <a:t>该段是一个辅助的数据区，也用于数据的保存。用户在访问段内的数据时，其偏移地址同样可以通过多种寻址方式来形成，但在偏移地址前要加上段的说明</a:t>
            </a:r>
            <a:r>
              <a:rPr lang="en-US" altLang="zh-CN" sz="2400">
                <a:latin typeface="Times New Roman" panose="02020603050405020304" pitchFamily="18" charset="0"/>
                <a:ea typeface="楷体_GB2312" pitchFamily="1" charset="-122"/>
              </a:rPr>
              <a:t>(</a:t>
            </a:r>
            <a:r>
              <a:rPr lang="zh-CN" altLang="en-US" sz="2400">
                <a:latin typeface="Times New Roman" panose="02020603050405020304" pitchFamily="18" charset="0"/>
                <a:ea typeface="楷体_GB2312" pitchFamily="1" charset="-122"/>
              </a:rPr>
              <a:t>即段跨越前缀</a:t>
            </a:r>
            <a:r>
              <a:rPr lang="en-US" altLang="zh-CN" sz="2400">
                <a:latin typeface="Times New Roman" panose="02020603050405020304" pitchFamily="18" charset="0"/>
                <a:ea typeface="楷体_GB2312" pitchFamily="1" charset="-122"/>
              </a:rPr>
              <a:t>ES)</a:t>
            </a:r>
            <a:r>
              <a:rPr lang="zh-CN" altLang="en-US" sz="2400">
                <a:latin typeface="Times New Roman" panose="02020603050405020304" pitchFamily="18" charset="0"/>
                <a:ea typeface="楷体_GB2312" pitchFamily="1"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 calcmode="lin" valueType="num">
                                      <p:cBhvr>
                                        <p:cTn id="7" dur="500" fill="hold"/>
                                        <p:tgtEl>
                                          <p:spTgt spid="4813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8131">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48131">
                                            <p:txEl>
                                              <p:pRg st="1" end="1"/>
                                            </p:txEl>
                                          </p:spTgt>
                                        </p:tgtEl>
                                        <p:attrNameLst>
                                          <p:attrName>style.visibility</p:attrName>
                                        </p:attrNameLst>
                                      </p:cBhvr>
                                      <p:to>
                                        <p:strVal val="visible"/>
                                      </p:to>
                                    </p:set>
                                    <p:anim calcmode="lin" valueType="num">
                                      <p:cBhvr>
                                        <p:cTn id="13" dur="500" fill="hold"/>
                                        <p:tgtEl>
                                          <p:spTgt spid="48131">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48131">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48131">
                                            <p:txEl>
                                              <p:pRg st="2" end="2"/>
                                            </p:txEl>
                                          </p:spTgt>
                                        </p:tgtEl>
                                        <p:attrNameLst>
                                          <p:attrName>style.visibility</p:attrName>
                                        </p:attrNameLst>
                                      </p:cBhvr>
                                      <p:to>
                                        <p:strVal val="visible"/>
                                      </p:to>
                                    </p:set>
                                    <p:anim calcmode="lin" valueType="num">
                                      <p:cBhvr>
                                        <p:cTn id="19" dur="500" fill="hold"/>
                                        <p:tgtEl>
                                          <p:spTgt spid="48131">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48131">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48131">
                                            <p:txEl>
                                              <p:pRg st="3" end="3"/>
                                            </p:txEl>
                                          </p:spTgt>
                                        </p:tgtEl>
                                        <p:attrNameLst>
                                          <p:attrName>style.visibility</p:attrName>
                                        </p:attrNameLst>
                                      </p:cBhvr>
                                      <p:to>
                                        <p:strVal val="visible"/>
                                      </p:to>
                                    </p:set>
                                    <p:anim calcmode="lin" valueType="num">
                                      <p:cBhvr>
                                        <p:cTn id="25" dur="500" fill="hold"/>
                                        <p:tgtEl>
                                          <p:spTgt spid="48131">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48131">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48131">
                                            <p:txEl>
                                              <p:pRg st="4" end="4"/>
                                            </p:txEl>
                                          </p:spTgt>
                                        </p:tgtEl>
                                        <p:attrNameLst>
                                          <p:attrName>style.visibility</p:attrName>
                                        </p:attrNameLst>
                                      </p:cBhvr>
                                      <p:to>
                                        <p:strVal val="visible"/>
                                      </p:to>
                                    </p:set>
                                    <p:anim calcmode="lin" valueType="num">
                                      <p:cBhvr>
                                        <p:cTn id="31" dur="500" fill="hold"/>
                                        <p:tgtEl>
                                          <p:spTgt spid="48131">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48131">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0B157CAE-3002-6E76-7467-7B49CCA55747}"/>
              </a:ext>
            </a:extLst>
          </p:cNvPr>
          <p:cNvSpPr>
            <a:spLocks noGrp="1" noChangeArrowheads="1"/>
          </p:cNvSpPr>
          <p:nvPr>
            <p:ph type="title"/>
          </p:nvPr>
        </p:nvSpPr>
        <p:spPr/>
        <p:txBody>
          <a:bodyPr/>
          <a:lstStyle/>
          <a:p>
            <a:pPr algn="ctr" eaLnBrk="1" hangingPunct="1">
              <a:defRPr/>
            </a:pP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图</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2.7 </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段寄存器的使用情况</a:t>
            </a:r>
          </a:p>
        </p:txBody>
      </p:sp>
      <p:pic>
        <p:nvPicPr>
          <p:cNvPr id="61442" name="Picture 3">
            <a:extLst>
              <a:ext uri="{FF2B5EF4-FFF2-40B4-BE49-F238E27FC236}">
                <a16:creationId xmlns:a16="http://schemas.microsoft.com/office/drawing/2014/main" id="{864C5839-7BF2-5A5C-7DF1-8EB0D1522B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2565400"/>
            <a:ext cx="6121400" cy="392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3" name="Text Box 4">
            <a:extLst>
              <a:ext uri="{FF2B5EF4-FFF2-40B4-BE49-F238E27FC236}">
                <a16:creationId xmlns:a16="http://schemas.microsoft.com/office/drawing/2014/main" id="{1E86EF17-5F83-CCA1-5C1A-D75ADC94EBE0}"/>
              </a:ext>
            </a:extLst>
          </p:cNvPr>
          <p:cNvSpPr txBox="1">
            <a:spLocks noChangeArrowheads="1"/>
          </p:cNvSpPr>
          <p:nvPr/>
        </p:nvSpPr>
        <p:spPr bwMode="auto">
          <a:xfrm>
            <a:off x="468313" y="1557338"/>
            <a:ext cx="8135937"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80000"/>
              </a:lnSpc>
              <a:spcBef>
                <a:spcPct val="20000"/>
              </a:spcBef>
              <a:buClr>
                <a:schemeClr val="folHlink"/>
              </a:buClr>
              <a:buSzPct val="60000"/>
              <a:buFont typeface="Wingdings" panose="05000000000000000000" pitchFamily="2" charset="2"/>
              <a:buNone/>
            </a:pPr>
            <a:r>
              <a:rPr lang="zh-CN" altLang="en-US" sz="2400" baseline="0">
                <a:ea typeface="楷体_GB2312" pitchFamily="1" charset="-122"/>
              </a:rPr>
              <a:t>只要修改段寄存器的内容，就可以将相应的存放区设置在内存存储空间的任何位置上。这些区域可以相互独立，也可以部分或完全重叠。</a:t>
            </a:r>
          </a:p>
        </p:txBody>
      </p:sp>
    </p:spTree>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CD52313C-9FAB-AA22-9720-8F51DBFA0817}"/>
              </a:ext>
            </a:extLst>
          </p:cNvPr>
          <p:cNvSpPr>
            <a:spLocks noGrp="1" noChangeArrowheads="1"/>
          </p:cNvSpPr>
          <p:nvPr>
            <p:ph type="title"/>
          </p:nvPr>
        </p:nvSpPr>
        <p:spPr/>
        <p:txBody>
          <a:bodyPr/>
          <a:lstStyle/>
          <a:p>
            <a:pPr algn="ctr" eaLnBrk="1" hangingPunct="1">
              <a:defRPr/>
            </a:pPr>
            <a:r>
              <a:rPr lang="zh-CN" altLang="en-US" sz="32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表</a:t>
            </a:r>
            <a:r>
              <a:rPr lang="en-US" sz="32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2.2  </a:t>
            </a:r>
            <a:r>
              <a:rPr lang="zh-CN" altLang="en-US" sz="32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段寄存器使用时的一些基本约定</a:t>
            </a:r>
          </a:p>
        </p:txBody>
      </p:sp>
      <p:pic>
        <p:nvPicPr>
          <p:cNvPr id="62466" name="Picture 3">
            <a:extLst>
              <a:ext uri="{FF2B5EF4-FFF2-40B4-BE49-F238E27FC236}">
                <a16:creationId xmlns:a16="http://schemas.microsoft.com/office/drawing/2014/main" id="{01046C04-A7EC-473E-5C3A-5856D89195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163" y="1844675"/>
            <a:ext cx="7921625"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0279A8E9-1AF1-6AF4-0B17-788FA9C253F5}"/>
              </a:ext>
            </a:extLst>
          </p:cNvPr>
          <p:cNvSpPr>
            <a:spLocks noGrp="1" noChangeArrowheads="1"/>
          </p:cNvSpPr>
          <p:nvPr>
            <p:ph type="title"/>
          </p:nvPr>
        </p:nvSpPr>
        <p:spPr/>
        <p:txBody>
          <a:bodyPr/>
          <a:lstStyle/>
          <a:p>
            <a:pPr algn="ctr" eaLnBrk="1" hangingPunct="1">
              <a:defRPr/>
            </a:pPr>
            <a:r>
              <a:rPr lang="en-US" altLang="zh-CN"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2.1.3 </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时钟周期、总线周期的概念</a:t>
            </a:r>
          </a:p>
        </p:txBody>
      </p:sp>
      <p:sp>
        <p:nvSpPr>
          <p:cNvPr id="63490" name="Rectangle 3">
            <a:extLst>
              <a:ext uri="{FF2B5EF4-FFF2-40B4-BE49-F238E27FC236}">
                <a16:creationId xmlns:a16="http://schemas.microsoft.com/office/drawing/2014/main" id="{70C42B80-1729-087C-54ED-2A724E3E6478}"/>
              </a:ext>
            </a:extLst>
          </p:cNvPr>
          <p:cNvSpPr>
            <a:spLocks noGrp="1" noChangeArrowheads="1"/>
          </p:cNvSpPr>
          <p:nvPr>
            <p:ph idx="1"/>
          </p:nvPr>
        </p:nvSpPr>
        <p:spPr/>
        <p:txBody>
          <a:bodyPr/>
          <a:lstStyle/>
          <a:p>
            <a:pPr eaLnBrk="1" hangingPunct="1">
              <a:buFont typeface="Wingdings" panose="05000000000000000000" pitchFamily="2" charset="2"/>
              <a:buNone/>
            </a:pPr>
            <a:r>
              <a:rPr lang="zh-CN" altLang="en-US" sz="3600">
                <a:ea typeface="楷体_GB2312" pitchFamily="1" charset="-122"/>
              </a:rPr>
              <a:t>本小节内容：</a:t>
            </a:r>
          </a:p>
          <a:p>
            <a:pPr lvl="1" eaLnBrk="1" hangingPunct="1"/>
            <a:r>
              <a:rPr lang="zh-CN" altLang="en-US" sz="3600">
                <a:ea typeface="楷体_GB2312" pitchFamily="1" charset="-122"/>
              </a:rPr>
              <a:t>时钟周期</a:t>
            </a:r>
          </a:p>
          <a:p>
            <a:pPr lvl="1" eaLnBrk="1" hangingPunct="1"/>
            <a:r>
              <a:rPr lang="zh-CN" altLang="en-US" sz="3600">
                <a:ea typeface="楷体_GB2312" pitchFamily="1" charset="-122"/>
              </a:rPr>
              <a:t>总线周期与指令周期</a:t>
            </a:r>
          </a:p>
        </p:txBody>
      </p:sp>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0C9AB7E7-394D-50D3-F546-DB975361C307}"/>
              </a:ext>
            </a:extLst>
          </p:cNvPr>
          <p:cNvSpPr>
            <a:spLocks noGrp="1" noChangeArrowheads="1"/>
          </p:cNvSpPr>
          <p:nvPr>
            <p:ph type="title"/>
          </p:nvPr>
        </p:nvSpPr>
        <p:spPr/>
        <p:txBody>
          <a:bodyPr/>
          <a:lstStyle/>
          <a:p>
            <a:pPr algn="ctr" eaLnBrk="1" hangingPunct="1">
              <a:defRPr/>
            </a:pPr>
            <a:r>
              <a:rPr lang="en-US" altLang="zh-CN"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1.</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时钟周期</a:t>
            </a:r>
          </a:p>
        </p:txBody>
      </p:sp>
      <p:sp>
        <p:nvSpPr>
          <p:cNvPr id="52227" name="Rectangle 3">
            <a:extLst>
              <a:ext uri="{FF2B5EF4-FFF2-40B4-BE49-F238E27FC236}">
                <a16:creationId xmlns:a16="http://schemas.microsoft.com/office/drawing/2014/main" id="{07FBA2A6-F935-53C6-7C4B-388D3183D0ED}"/>
              </a:ext>
            </a:extLst>
          </p:cNvPr>
          <p:cNvSpPr>
            <a:spLocks noGrp="1" noChangeArrowheads="1"/>
          </p:cNvSpPr>
          <p:nvPr>
            <p:ph idx="1"/>
          </p:nvPr>
        </p:nvSpPr>
        <p:spPr/>
        <p:txBody>
          <a:bodyPr/>
          <a:lstStyle/>
          <a:p>
            <a:pPr eaLnBrk="1" hangingPunct="1">
              <a:buFont typeface="Wingdings" panose="05000000000000000000" pitchFamily="2" charset="2"/>
              <a:buChar char="Ø"/>
            </a:pPr>
            <a:r>
              <a:rPr lang="zh-CN" altLang="en-US">
                <a:latin typeface="楷体_GB2312" pitchFamily="1" charset="-122"/>
                <a:ea typeface="楷体_GB2312" pitchFamily="1" charset="-122"/>
              </a:rPr>
              <a:t>时钟周期是</a:t>
            </a:r>
            <a:r>
              <a:rPr lang="en-US" altLang="zh-CN">
                <a:latin typeface="楷体_GB2312" pitchFamily="1" charset="-122"/>
                <a:ea typeface="楷体_GB2312" pitchFamily="1" charset="-122"/>
              </a:rPr>
              <a:t>CPU</a:t>
            </a:r>
            <a:r>
              <a:rPr lang="zh-CN" altLang="en-US">
                <a:latin typeface="楷体_GB2312" pitchFamily="1" charset="-122"/>
                <a:ea typeface="楷体_GB2312" pitchFamily="1" charset="-122"/>
              </a:rPr>
              <a:t>的基本时间计量单位，是</a:t>
            </a:r>
            <a:r>
              <a:rPr lang="en-US" altLang="zh-CN">
                <a:latin typeface="楷体_GB2312" pitchFamily="1" charset="-122"/>
                <a:ea typeface="楷体_GB2312" pitchFamily="1" charset="-122"/>
              </a:rPr>
              <a:t>CPU</a:t>
            </a:r>
            <a:r>
              <a:rPr lang="zh-CN" altLang="en-US">
                <a:latin typeface="楷体_GB2312" pitchFamily="1" charset="-122"/>
                <a:ea typeface="楷体_GB2312" pitchFamily="1" charset="-122"/>
              </a:rPr>
              <a:t>工作的最小时间单位，也称节拍脉冲或</a:t>
            </a:r>
            <a:r>
              <a:rPr lang="en-US" altLang="zh-CN">
                <a:latin typeface="楷体_GB2312" pitchFamily="1" charset="-122"/>
                <a:ea typeface="楷体_GB2312" pitchFamily="1" charset="-122"/>
              </a:rPr>
              <a:t>T</a:t>
            </a:r>
            <a:r>
              <a:rPr lang="zh-CN" altLang="en-US">
                <a:latin typeface="楷体_GB2312" pitchFamily="1" charset="-122"/>
                <a:ea typeface="楷体_GB2312" pitchFamily="1" charset="-122"/>
              </a:rPr>
              <a:t>周期，由主频决定。</a:t>
            </a:r>
          </a:p>
          <a:p>
            <a:pPr eaLnBrk="1" hangingPunct="1">
              <a:buFont typeface="Wingdings" panose="05000000000000000000" pitchFamily="2" charset="2"/>
              <a:buChar char="Ø"/>
            </a:pPr>
            <a:r>
              <a:rPr lang="zh-CN" altLang="en-US">
                <a:latin typeface="楷体_GB2312" pitchFamily="1" charset="-122"/>
                <a:ea typeface="楷体_GB2312" pitchFamily="1" charset="-122"/>
              </a:rPr>
              <a:t>对于</a:t>
            </a:r>
            <a:r>
              <a:rPr lang="en-US" altLang="zh-CN">
                <a:latin typeface="楷体_GB2312" pitchFamily="1" charset="-122"/>
                <a:ea typeface="楷体_GB2312" pitchFamily="1" charset="-122"/>
              </a:rPr>
              <a:t>8086</a:t>
            </a:r>
            <a:r>
              <a:rPr lang="zh-CN" altLang="en-US">
                <a:latin typeface="楷体_GB2312" pitchFamily="1" charset="-122"/>
                <a:ea typeface="楷体_GB2312" pitchFamily="1" charset="-122"/>
              </a:rPr>
              <a:t>来讲，若其主频为</a:t>
            </a:r>
            <a:r>
              <a:rPr lang="en-US" altLang="zh-CN">
                <a:latin typeface="楷体_GB2312" pitchFamily="1" charset="-122"/>
                <a:ea typeface="楷体_GB2312" pitchFamily="1" charset="-122"/>
              </a:rPr>
              <a:t>5MHz</a:t>
            </a:r>
            <a:r>
              <a:rPr lang="zh-CN" altLang="en-US">
                <a:latin typeface="楷体_GB2312" pitchFamily="1" charset="-122"/>
                <a:ea typeface="楷体_GB2312" pitchFamily="1" charset="-122"/>
              </a:rPr>
              <a:t>，则一个时钟周期为</a:t>
            </a:r>
            <a:r>
              <a:rPr lang="en-US" altLang="zh-CN">
                <a:latin typeface="楷体_GB2312" pitchFamily="1" charset="-122"/>
                <a:ea typeface="楷体_GB2312" pitchFamily="1" charset="-122"/>
              </a:rPr>
              <a:t>200ns</a:t>
            </a:r>
            <a:r>
              <a:rPr lang="zh-CN" altLang="en-US">
                <a:latin typeface="楷体_GB2312" pitchFamily="1" charset="-122"/>
                <a:ea typeface="楷体_GB2312" pitchFamily="1"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 calcmode="lin" valueType="num">
                                      <p:cBhvr additive="base">
                                        <p:cTn id="7" dur="500" fill="hold"/>
                                        <p:tgtEl>
                                          <p:spTgt spid="522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2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2227">
                                            <p:txEl>
                                              <p:pRg st="1" end="1"/>
                                            </p:txEl>
                                          </p:spTgt>
                                        </p:tgtEl>
                                        <p:attrNameLst>
                                          <p:attrName>style.visibility</p:attrName>
                                        </p:attrNameLst>
                                      </p:cBhvr>
                                      <p:to>
                                        <p:strVal val="visible"/>
                                      </p:to>
                                    </p:set>
                                    <p:anim calcmode="lin" valueType="num">
                                      <p:cBhvr additive="base">
                                        <p:cTn id="13" dur="500" fill="hold"/>
                                        <p:tgtEl>
                                          <p:spTgt spid="522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22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32040461-EE32-31BF-06F1-DBB70EB1FE87}"/>
              </a:ext>
            </a:extLst>
          </p:cNvPr>
          <p:cNvSpPr>
            <a:spLocks noGrp="1" noChangeArrowheads="1"/>
          </p:cNvSpPr>
          <p:nvPr>
            <p:ph type="title"/>
          </p:nvPr>
        </p:nvSpPr>
        <p:spPr/>
        <p:txBody>
          <a:bodyPr/>
          <a:lstStyle/>
          <a:p>
            <a:pPr algn="ctr" eaLnBrk="1" hangingPunct="1">
              <a:defRPr/>
            </a:pPr>
            <a:r>
              <a:rPr lang="en-US" altLang="zh-CN"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2.</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总线周期与指令周期</a:t>
            </a:r>
          </a:p>
        </p:txBody>
      </p:sp>
      <p:sp>
        <p:nvSpPr>
          <p:cNvPr id="53251" name="Rectangle 3">
            <a:extLst>
              <a:ext uri="{FF2B5EF4-FFF2-40B4-BE49-F238E27FC236}">
                <a16:creationId xmlns:a16="http://schemas.microsoft.com/office/drawing/2014/main" id="{6D3EDC29-EFF4-92BF-B4D5-8E8E2393E37D}"/>
              </a:ext>
            </a:extLst>
          </p:cNvPr>
          <p:cNvSpPr>
            <a:spLocks noGrp="1" noChangeArrowheads="1"/>
          </p:cNvSpPr>
          <p:nvPr>
            <p:ph idx="1"/>
          </p:nvPr>
        </p:nvSpPr>
        <p:spPr/>
        <p:txBody>
          <a:bodyPr/>
          <a:lstStyle/>
          <a:p>
            <a:pPr eaLnBrk="1" hangingPunct="1">
              <a:buFont typeface="Wingdings" panose="05000000000000000000" pitchFamily="2" charset="2"/>
              <a:buNone/>
            </a:pPr>
            <a:r>
              <a:rPr lang="zh-CN" altLang="en-US" sz="2800">
                <a:latin typeface="楷体_GB2312" pitchFamily="1" charset="-122"/>
                <a:ea typeface="楷体_GB2312" pitchFamily="1" charset="-122"/>
              </a:rPr>
              <a:t>总线周期</a:t>
            </a:r>
          </a:p>
          <a:p>
            <a:pPr lvl="1" eaLnBrk="1" hangingPunct="1"/>
            <a:r>
              <a:rPr lang="en-US" altLang="zh-CN">
                <a:latin typeface="楷体_GB2312" pitchFamily="1" charset="-122"/>
                <a:ea typeface="楷体_GB2312" pitchFamily="1" charset="-122"/>
              </a:rPr>
              <a:t>8086CPU</a:t>
            </a:r>
            <a:r>
              <a:rPr lang="zh-CN" altLang="en-US">
                <a:latin typeface="楷体_GB2312" pitchFamily="1" charset="-122"/>
                <a:ea typeface="楷体_GB2312" pitchFamily="1" charset="-122"/>
              </a:rPr>
              <a:t>通过总线对存储器或</a:t>
            </a:r>
            <a:r>
              <a:rPr lang="en-US" altLang="zh-CN">
                <a:latin typeface="楷体_GB2312" pitchFamily="1" charset="-122"/>
                <a:ea typeface="楷体_GB2312" pitchFamily="1" charset="-122"/>
              </a:rPr>
              <a:t>I/O</a:t>
            </a:r>
            <a:r>
              <a:rPr lang="zh-CN" altLang="en-US">
                <a:latin typeface="楷体_GB2312" pitchFamily="1" charset="-122"/>
                <a:ea typeface="楷体_GB2312" pitchFamily="1" charset="-122"/>
              </a:rPr>
              <a:t>端口进行一次信息的输入或输出过程，称为</a:t>
            </a:r>
            <a:r>
              <a:rPr lang="zh-CN" altLang="en-US">
                <a:solidFill>
                  <a:schemeClr val="hlink"/>
                </a:solidFill>
                <a:latin typeface="楷体_GB2312" pitchFamily="1" charset="-122"/>
                <a:ea typeface="楷体_GB2312" pitchFamily="1" charset="-122"/>
              </a:rPr>
              <a:t>总线操作</a:t>
            </a:r>
            <a:r>
              <a:rPr lang="zh-CN" altLang="en-US">
                <a:latin typeface="楷体_GB2312" pitchFamily="1" charset="-122"/>
                <a:ea typeface="楷体_GB2312" pitchFamily="1" charset="-122"/>
              </a:rPr>
              <a:t>，执行该操作所需要的时间，称为</a:t>
            </a:r>
            <a:r>
              <a:rPr lang="zh-CN" altLang="en-US">
                <a:solidFill>
                  <a:schemeClr val="hlink"/>
                </a:solidFill>
                <a:latin typeface="楷体_GB2312" pitchFamily="1" charset="-122"/>
                <a:ea typeface="楷体_GB2312" pitchFamily="1" charset="-122"/>
              </a:rPr>
              <a:t>总线周期</a:t>
            </a:r>
            <a:r>
              <a:rPr lang="zh-CN" altLang="en-US">
                <a:latin typeface="楷体_GB2312" pitchFamily="1" charset="-122"/>
                <a:ea typeface="楷体_GB2312" pitchFamily="1" charset="-122"/>
              </a:rPr>
              <a:t>。</a:t>
            </a:r>
          </a:p>
          <a:p>
            <a:pPr lvl="1" eaLnBrk="1" hangingPunct="1"/>
            <a:r>
              <a:rPr lang="zh-CN" altLang="en-US">
                <a:latin typeface="楷体_GB2312" pitchFamily="1" charset="-122"/>
                <a:ea typeface="楷体_GB2312" pitchFamily="1" charset="-122"/>
              </a:rPr>
              <a:t>在</a:t>
            </a:r>
            <a:r>
              <a:rPr lang="en-US" altLang="zh-CN">
                <a:latin typeface="楷体_GB2312" pitchFamily="1" charset="-122"/>
                <a:ea typeface="楷体_GB2312" pitchFamily="1" charset="-122"/>
              </a:rPr>
              <a:t>8086</a:t>
            </a:r>
            <a:r>
              <a:rPr lang="zh-CN" altLang="en-US">
                <a:latin typeface="楷体_GB2312" pitchFamily="1" charset="-122"/>
                <a:ea typeface="楷体_GB2312" pitchFamily="1" charset="-122"/>
              </a:rPr>
              <a:t>中，一个最基本的总线周期由</a:t>
            </a:r>
            <a:r>
              <a:rPr lang="en-US" altLang="zh-CN">
                <a:latin typeface="楷体_GB2312" pitchFamily="1" charset="-122"/>
                <a:ea typeface="楷体_GB2312" pitchFamily="1" charset="-122"/>
              </a:rPr>
              <a:t>4</a:t>
            </a:r>
            <a:r>
              <a:rPr lang="zh-CN" altLang="en-US">
                <a:latin typeface="楷体_GB2312" pitchFamily="1" charset="-122"/>
                <a:ea typeface="楷体_GB2312" pitchFamily="1" charset="-122"/>
              </a:rPr>
              <a:t>个时钟周期组成，每个时钟周期称为</a:t>
            </a:r>
            <a:r>
              <a:rPr lang="en-US" altLang="zh-CN">
                <a:latin typeface="楷体_GB2312" pitchFamily="1" charset="-122"/>
                <a:ea typeface="楷体_GB2312" pitchFamily="1" charset="-122"/>
              </a:rPr>
              <a:t>T</a:t>
            </a:r>
            <a:r>
              <a:rPr lang="zh-CN" altLang="en-US">
                <a:latin typeface="楷体_GB2312" pitchFamily="1" charset="-122"/>
                <a:ea typeface="楷体_GB2312" pitchFamily="1" charset="-122"/>
              </a:rPr>
              <a:t>状态，因此基本总线周期用</a:t>
            </a:r>
            <a:r>
              <a:rPr lang="en-US" altLang="zh-CN">
                <a:latin typeface="楷体_GB2312" pitchFamily="1" charset="-122"/>
                <a:ea typeface="楷体_GB2312" pitchFamily="1" charset="-122"/>
              </a:rPr>
              <a:t>T</a:t>
            </a:r>
            <a:r>
              <a:rPr lang="en-US" altLang="zh-CN" baseline="-25000">
                <a:latin typeface="楷体_GB2312" pitchFamily="1" charset="-122"/>
                <a:ea typeface="楷体_GB2312" pitchFamily="1" charset="-122"/>
              </a:rPr>
              <a:t>1</a:t>
            </a:r>
            <a:r>
              <a:rPr lang="zh-CN" altLang="en-US">
                <a:latin typeface="楷体_GB2312" pitchFamily="1" charset="-122"/>
                <a:ea typeface="楷体_GB2312" pitchFamily="1" charset="-122"/>
              </a:rPr>
              <a:t>、</a:t>
            </a:r>
            <a:r>
              <a:rPr lang="en-US" altLang="zh-CN">
                <a:latin typeface="楷体_GB2312" pitchFamily="1" charset="-122"/>
                <a:ea typeface="楷体_GB2312" pitchFamily="1" charset="-122"/>
              </a:rPr>
              <a:t>T</a:t>
            </a:r>
            <a:r>
              <a:rPr lang="en-US" altLang="zh-CN" baseline="-25000">
                <a:latin typeface="楷体_GB2312" pitchFamily="1" charset="-122"/>
                <a:ea typeface="楷体_GB2312" pitchFamily="1" charset="-122"/>
              </a:rPr>
              <a:t>2</a:t>
            </a:r>
            <a:r>
              <a:rPr lang="zh-CN" altLang="en-US">
                <a:latin typeface="楷体_GB2312" pitchFamily="1" charset="-122"/>
                <a:ea typeface="楷体_GB2312" pitchFamily="1" charset="-122"/>
              </a:rPr>
              <a:t>、</a:t>
            </a:r>
            <a:r>
              <a:rPr lang="en-US" altLang="zh-CN">
                <a:latin typeface="楷体_GB2312" pitchFamily="1" charset="-122"/>
                <a:ea typeface="楷体_GB2312" pitchFamily="1" charset="-122"/>
              </a:rPr>
              <a:t>T</a:t>
            </a:r>
            <a:r>
              <a:rPr lang="en-US" altLang="zh-CN" baseline="-25000">
                <a:latin typeface="楷体_GB2312" pitchFamily="1" charset="-122"/>
                <a:ea typeface="楷体_GB2312" pitchFamily="1" charset="-122"/>
              </a:rPr>
              <a:t>3</a:t>
            </a:r>
            <a:r>
              <a:rPr lang="zh-CN" altLang="en-US">
                <a:latin typeface="楷体_GB2312" pitchFamily="1" charset="-122"/>
                <a:ea typeface="楷体_GB2312" pitchFamily="1" charset="-122"/>
              </a:rPr>
              <a:t>、</a:t>
            </a:r>
            <a:r>
              <a:rPr lang="en-US" altLang="zh-CN">
                <a:latin typeface="楷体_GB2312" pitchFamily="1" charset="-122"/>
                <a:ea typeface="楷体_GB2312" pitchFamily="1" charset="-122"/>
              </a:rPr>
              <a:t>T</a:t>
            </a:r>
            <a:r>
              <a:rPr lang="en-US" altLang="zh-CN" baseline="-25000">
                <a:latin typeface="楷体_GB2312" pitchFamily="1" charset="-122"/>
                <a:ea typeface="楷体_GB2312" pitchFamily="1" charset="-122"/>
              </a:rPr>
              <a:t>4</a:t>
            </a:r>
            <a:r>
              <a:rPr lang="zh-CN" altLang="en-US">
                <a:latin typeface="楷体_GB2312" pitchFamily="1" charset="-122"/>
                <a:ea typeface="楷体_GB2312" pitchFamily="1" charset="-122"/>
              </a:rPr>
              <a:t>表示。</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3251">
                                            <p:txEl>
                                              <p:pRg st="1" end="1"/>
                                            </p:txEl>
                                          </p:spTgt>
                                        </p:tgtEl>
                                        <p:attrNameLst>
                                          <p:attrName>style.visibility</p:attrName>
                                        </p:attrNameLst>
                                      </p:cBhvr>
                                      <p:to>
                                        <p:strVal val="visible"/>
                                      </p:to>
                                    </p:set>
                                    <p:anim calcmode="lin" valueType="num">
                                      <p:cBhvr additive="base">
                                        <p:cTn id="7" dur="500" fill="hold"/>
                                        <p:tgtEl>
                                          <p:spTgt spid="5325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2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3251">
                                            <p:txEl>
                                              <p:pRg st="2" end="2"/>
                                            </p:txEl>
                                          </p:spTgt>
                                        </p:tgtEl>
                                        <p:attrNameLst>
                                          <p:attrName>style.visibility</p:attrName>
                                        </p:attrNameLst>
                                      </p:cBhvr>
                                      <p:to>
                                        <p:strVal val="visible"/>
                                      </p:to>
                                    </p:set>
                                    <p:anim calcmode="lin" valueType="num">
                                      <p:cBhvr additive="base">
                                        <p:cTn id="13" dur="500" fill="hold"/>
                                        <p:tgtEl>
                                          <p:spTgt spid="5325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325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A7B136ED-27E6-9752-4150-98D60A8E34D0}"/>
              </a:ext>
            </a:extLst>
          </p:cNvPr>
          <p:cNvSpPr>
            <a:spLocks noGrp="1" noChangeArrowheads="1"/>
          </p:cNvSpPr>
          <p:nvPr>
            <p:ph type="title"/>
          </p:nvPr>
        </p:nvSpPr>
        <p:spPr/>
        <p:txBody>
          <a:bodyPr/>
          <a:lstStyle/>
          <a:p>
            <a:pPr algn="ctr" eaLnBrk="1" hangingPunct="1">
              <a:defRPr/>
            </a:pPr>
            <a:r>
              <a:rPr lang="en-US" altLang="zh-CN"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2.</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总线周期与指令周期</a:t>
            </a:r>
            <a:r>
              <a:rPr lang="en-US" altLang="zh-CN"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续</a:t>
            </a:r>
            <a:r>
              <a:rPr lang="en-US" altLang="zh-CN"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a:t>
            </a:r>
          </a:p>
        </p:txBody>
      </p:sp>
      <p:sp>
        <p:nvSpPr>
          <p:cNvPr id="54275" name="Rectangle 3">
            <a:extLst>
              <a:ext uri="{FF2B5EF4-FFF2-40B4-BE49-F238E27FC236}">
                <a16:creationId xmlns:a16="http://schemas.microsoft.com/office/drawing/2014/main" id="{2A5D9BCE-56BD-B14E-4F39-69624B37C1A2}"/>
              </a:ext>
            </a:extLst>
          </p:cNvPr>
          <p:cNvSpPr>
            <a:spLocks noGrp="1" noChangeArrowheads="1"/>
          </p:cNvSpPr>
          <p:nvPr>
            <p:ph idx="1"/>
          </p:nvPr>
        </p:nvSpPr>
        <p:spPr/>
        <p:txBody>
          <a:bodyPr/>
          <a:lstStyle/>
          <a:p>
            <a:pPr eaLnBrk="1" hangingPunct="1">
              <a:lnSpc>
                <a:spcPct val="90000"/>
              </a:lnSpc>
              <a:buFont typeface="Wingdings" panose="05000000000000000000" pitchFamily="2" charset="2"/>
              <a:buNone/>
            </a:pPr>
            <a:r>
              <a:rPr lang="zh-CN" altLang="en-US">
                <a:ea typeface="楷体_GB2312" pitchFamily="1" charset="-122"/>
              </a:rPr>
              <a:t>指令周期</a:t>
            </a:r>
          </a:p>
          <a:p>
            <a:pPr lvl="1" eaLnBrk="1" hangingPunct="1">
              <a:lnSpc>
                <a:spcPct val="90000"/>
              </a:lnSpc>
            </a:pPr>
            <a:r>
              <a:rPr lang="zh-CN" altLang="en-US">
                <a:ea typeface="楷体_GB2312" pitchFamily="1" charset="-122"/>
              </a:rPr>
              <a:t>每条指令的执行由取指令、分析指令和执行指令等操作完成，执行一条指令所需要的时间称为一个指令周期。</a:t>
            </a:r>
          </a:p>
          <a:p>
            <a:pPr lvl="1" eaLnBrk="1" hangingPunct="1">
              <a:lnSpc>
                <a:spcPct val="90000"/>
              </a:lnSpc>
            </a:pPr>
            <a:r>
              <a:rPr lang="zh-CN" altLang="en-US">
                <a:ea typeface="楷体_GB2312" pitchFamily="1" charset="-122"/>
              </a:rPr>
              <a:t>简单指令执行时间就比较短，而复杂指令执行的时间就比较长，因此，不同指令的指令周期是不相同的。</a:t>
            </a:r>
          </a:p>
          <a:p>
            <a:pPr lvl="1" eaLnBrk="1" hangingPunct="1">
              <a:lnSpc>
                <a:spcPct val="90000"/>
              </a:lnSpc>
            </a:pPr>
            <a:r>
              <a:rPr lang="zh-CN" altLang="en-US">
                <a:ea typeface="楷体_GB2312" pitchFamily="1" charset="-122"/>
              </a:rPr>
              <a:t>一个指令周期由一个或几个总线周期组成，一个总线周期又由若干个时钟周期组成。</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4275">
                                            <p:txEl>
                                              <p:pRg st="1" end="1"/>
                                            </p:txEl>
                                          </p:spTgt>
                                        </p:tgtEl>
                                        <p:attrNameLst>
                                          <p:attrName>style.visibility</p:attrName>
                                        </p:attrNameLst>
                                      </p:cBhvr>
                                      <p:to>
                                        <p:strVal val="visible"/>
                                      </p:to>
                                    </p:set>
                                    <p:anim calcmode="lin" valueType="num">
                                      <p:cBhvr additive="base">
                                        <p:cTn id="7" dur="500" fill="hold"/>
                                        <p:tgtEl>
                                          <p:spTgt spid="5427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4275">
                                            <p:txEl>
                                              <p:pRg st="2" end="2"/>
                                            </p:txEl>
                                          </p:spTgt>
                                        </p:tgtEl>
                                        <p:attrNameLst>
                                          <p:attrName>style.visibility</p:attrName>
                                        </p:attrNameLst>
                                      </p:cBhvr>
                                      <p:to>
                                        <p:strVal val="visible"/>
                                      </p:to>
                                    </p:set>
                                    <p:anim calcmode="lin" valueType="num">
                                      <p:cBhvr additive="base">
                                        <p:cTn id="13" dur="500" fill="hold"/>
                                        <p:tgtEl>
                                          <p:spTgt spid="5427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42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4275">
                                            <p:txEl>
                                              <p:pRg st="3" end="3"/>
                                            </p:txEl>
                                          </p:spTgt>
                                        </p:tgtEl>
                                        <p:attrNameLst>
                                          <p:attrName>style.visibility</p:attrName>
                                        </p:attrNameLst>
                                      </p:cBhvr>
                                      <p:to>
                                        <p:strVal val="visible"/>
                                      </p:to>
                                    </p:set>
                                    <p:anim calcmode="lin" valueType="num">
                                      <p:cBhvr additive="base">
                                        <p:cTn id="19" dur="500" fill="hold"/>
                                        <p:tgtEl>
                                          <p:spTgt spid="5427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427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0D3AA866-20EF-5E8B-02D5-7B05906689B5}"/>
              </a:ext>
            </a:extLst>
          </p:cNvPr>
          <p:cNvSpPr>
            <a:spLocks noGrp="1" noChangeArrowheads="1"/>
          </p:cNvSpPr>
          <p:nvPr>
            <p:ph type="title"/>
          </p:nvPr>
        </p:nvSpPr>
        <p:spPr/>
        <p:txBody>
          <a:bodyPr/>
          <a:lstStyle/>
          <a:p>
            <a:pPr algn="ctr" eaLnBrk="1" hangingPunct="1">
              <a:defRPr/>
            </a:pP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图</a:t>
            </a:r>
            <a:r>
              <a:rPr lang="en-US" altLang="zh-CN"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2.8  </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典型的</a:t>
            </a:r>
            <a:r>
              <a:rPr lang="en-US" altLang="zh-CN"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8086</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总线周期序列</a:t>
            </a:r>
          </a:p>
        </p:txBody>
      </p:sp>
      <p:pic>
        <p:nvPicPr>
          <p:cNvPr id="67586" name="Picture 3">
            <a:extLst>
              <a:ext uri="{FF2B5EF4-FFF2-40B4-BE49-F238E27FC236}">
                <a16:creationId xmlns:a16="http://schemas.microsoft.com/office/drawing/2014/main" id="{3C0DB4BA-7FE1-7C18-2027-C425FFD242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575" y="1917700"/>
            <a:ext cx="7004050"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1A3CA52F-75D3-2B4E-4F8D-3B9005AA5CE9}"/>
              </a:ext>
            </a:extLst>
          </p:cNvPr>
          <p:cNvSpPr>
            <a:spLocks noGrp="1" noChangeArrowheads="1"/>
          </p:cNvSpPr>
          <p:nvPr>
            <p:ph type="title"/>
          </p:nvPr>
        </p:nvSpPr>
        <p:spPr/>
        <p:txBody>
          <a:bodyPr/>
          <a:lstStyle/>
          <a:p>
            <a:pPr algn="ctr" eaLnBrk="1" hangingPunct="1">
              <a:defRPr/>
            </a:pPr>
            <a:r>
              <a:rPr lang="en-US" altLang="zh-CN" sz="32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2.1.4  8086/8088 CPU</a:t>
            </a:r>
            <a:r>
              <a:rPr lang="zh-CN" altLang="en-US" sz="32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的引脚信号和功能 </a:t>
            </a:r>
          </a:p>
        </p:txBody>
      </p:sp>
      <p:sp>
        <p:nvSpPr>
          <p:cNvPr id="68610" name="Rectangle 3">
            <a:extLst>
              <a:ext uri="{FF2B5EF4-FFF2-40B4-BE49-F238E27FC236}">
                <a16:creationId xmlns:a16="http://schemas.microsoft.com/office/drawing/2014/main" id="{4D2E4491-6855-EF8C-CA4D-0142E3B02300}"/>
              </a:ext>
            </a:extLst>
          </p:cNvPr>
          <p:cNvSpPr>
            <a:spLocks noGrp="1" noChangeArrowheads="1"/>
          </p:cNvSpPr>
          <p:nvPr>
            <p:ph idx="1"/>
          </p:nvPr>
        </p:nvSpPr>
        <p:spPr/>
        <p:txBody>
          <a:bodyPr/>
          <a:lstStyle/>
          <a:p>
            <a:pPr eaLnBrk="1" hangingPunct="1">
              <a:buFont typeface="Wingdings" panose="05000000000000000000" pitchFamily="2" charset="2"/>
              <a:buNone/>
            </a:pPr>
            <a:r>
              <a:rPr lang="zh-CN" altLang="en-US">
                <a:latin typeface="楷体_GB2312" pitchFamily="1" charset="-122"/>
                <a:ea typeface="楷体_GB2312" pitchFamily="1" charset="-122"/>
              </a:rPr>
              <a:t>本小节内容：</a:t>
            </a:r>
          </a:p>
          <a:p>
            <a:pPr lvl="1" eaLnBrk="1" hangingPunct="1"/>
            <a:r>
              <a:rPr lang="zh-CN" altLang="en-US" sz="3200">
                <a:latin typeface="楷体_GB2312" pitchFamily="1" charset="-122"/>
                <a:ea typeface="楷体_GB2312" pitchFamily="1" charset="-122"/>
              </a:rPr>
              <a:t>8086最小模式下引脚的功能定义</a:t>
            </a:r>
          </a:p>
          <a:p>
            <a:pPr lvl="1" eaLnBrk="1" hangingPunct="1"/>
            <a:r>
              <a:rPr lang="zh-CN" altLang="en-US" sz="3200">
                <a:latin typeface="楷体_GB2312" pitchFamily="1" charset="-122"/>
                <a:ea typeface="楷体_GB2312" pitchFamily="1" charset="-122"/>
              </a:rPr>
              <a:t>8086最大模式下引脚的功能定义</a:t>
            </a:r>
          </a:p>
          <a:p>
            <a:pPr lvl="1" eaLnBrk="1" hangingPunct="1"/>
            <a:r>
              <a:rPr lang="zh-CN" altLang="en-US" sz="3200">
                <a:latin typeface="楷体_GB2312" pitchFamily="1" charset="-122"/>
                <a:ea typeface="楷体_GB2312" pitchFamily="1" charset="-122"/>
              </a:rPr>
              <a:t>8088的引脚特性</a:t>
            </a:r>
          </a:p>
        </p:txBody>
      </p:sp>
    </p:spTree>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0650D694-9146-B906-487C-617575C3E18D}"/>
              </a:ext>
            </a:extLst>
          </p:cNvPr>
          <p:cNvSpPr>
            <a:spLocks noGrp="1" noChangeArrowheads="1"/>
          </p:cNvSpPr>
          <p:nvPr>
            <p:ph type="title"/>
          </p:nvPr>
        </p:nvSpPr>
        <p:spPr/>
        <p:txBody>
          <a:bodyPr/>
          <a:lstStyle/>
          <a:p>
            <a:pPr algn="ctr" eaLnBrk="1" hangingPunct="1">
              <a:defRPr/>
            </a:pP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图</a:t>
            </a: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9</a:t>
            </a: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 8086/8088CPU</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的引脚信号</a:t>
            </a:r>
          </a:p>
        </p:txBody>
      </p:sp>
      <p:sp>
        <p:nvSpPr>
          <p:cNvPr id="69634" name="Line 3">
            <a:extLst>
              <a:ext uri="{FF2B5EF4-FFF2-40B4-BE49-F238E27FC236}">
                <a16:creationId xmlns:a16="http://schemas.microsoft.com/office/drawing/2014/main" id="{59F0F652-26A9-A788-6F33-494EAEE089C5}"/>
              </a:ext>
            </a:extLst>
          </p:cNvPr>
          <p:cNvSpPr>
            <a:spLocks noChangeShapeType="1"/>
          </p:cNvSpPr>
          <p:nvPr/>
        </p:nvSpPr>
        <p:spPr bwMode="auto">
          <a:xfrm>
            <a:off x="3708400" y="3933825"/>
            <a:ext cx="1428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9635" name="Picture 4">
            <a:extLst>
              <a:ext uri="{FF2B5EF4-FFF2-40B4-BE49-F238E27FC236}">
                <a16:creationId xmlns:a16="http://schemas.microsoft.com/office/drawing/2014/main" id="{FD0906BB-68F0-C3C3-83E0-45664708D1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1485900"/>
            <a:ext cx="6049962" cy="505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91A9F148-0823-6F0E-11BA-56027B0E25C7}"/>
              </a:ext>
            </a:extLst>
          </p:cNvPr>
          <p:cNvSpPr>
            <a:spLocks noGrp="1" noChangeArrowheads="1"/>
          </p:cNvSpPr>
          <p:nvPr>
            <p:ph type="title"/>
          </p:nvPr>
        </p:nvSpPr>
        <p:spPr/>
        <p:txBody>
          <a:bodyPr/>
          <a:lstStyle/>
          <a:p>
            <a:pPr algn="ctr" eaLnBrk="1" hangingPunct="1">
              <a:defRPr/>
            </a:pPr>
            <a:r>
              <a:rPr lang="zh-CN" altLang="en-US" sz="4000" b="1">
                <a:solidFill>
                  <a:schemeClr val="tx1"/>
                </a:solidFill>
                <a:latin typeface="Times New Roman" panose="02020603050405020304" pitchFamily="18" charset="0"/>
              </a:rPr>
              <a:t> </a:t>
            </a: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1.8086</a:t>
            </a:r>
            <a:r>
              <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最小模式下引脚的功能定义</a:t>
            </a:r>
            <a:r>
              <a:rPr lang="zh-CN" altLang="en-US" sz="4000" b="1">
                <a:solidFill>
                  <a:schemeClr val="tx1"/>
                </a:solidFill>
                <a:latin typeface="Times New Roman" panose="02020603050405020304" pitchFamily="18" charset="0"/>
              </a:rPr>
              <a:t> </a:t>
            </a:r>
          </a:p>
        </p:txBody>
      </p:sp>
      <p:sp>
        <p:nvSpPr>
          <p:cNvPr id="58371" name="Rectangle 3">
            <a:extLst>
              <a:ext uri="{FF2B5EF4-FFF2-40B4-BE49-F238E27FC236}">
                <a16:creationId xmlns:a16="http://schemas.microsoft.com/office/drawing/2014/main" id="{D5A778E5-BF9C-5020-4F24-4A90E2AEFC01}"/>
              </a:ext>
            </a:extLst>
          </p:cNvPr>
          <p:cNvSpPr>
            <a:spLocks noGrp="1" noChangeArrowheads="1"/>
          </p:cNvSpPr>
          <p:nvPr>
            <p:ph type="body" sz="half" idx="1"/>
          </p:nvPr>
        </p:nvSpPr>
        <p:spPr>
          <a:xfrm>
            <a:off x="395288" y="1557338"/>
            <a:ext cx="8064500" cy="4114800"/>
          </a:xfrm>
        </p:spPr>
        <p:txBody>
          <a:bodyPr/>
          <a:lstStyle/>
          <a:p>
            <a:pPr eaLnBrk="1" hangingPunct="1">
              <a:buFont typeface="Wingdings" panose="05000000000000000000" pitchFamily="2" charset="2"/>
              <a:buNone/>
            </a:pPr>
            <a:endParaRPr lang="en-US" altLang="zh-CN" sz="2800">
              <a:latin typeface="Times New Roman" panose="02020603050405020304" pitchFamily="18" charset="0"/>
              <a:ea typeface="楷体_GB2312" pitchFamily="1" charset="-122"/>
            </a:endParaRPr>
          </a:p>
          <a:p>
            <a:pPr eaLnBrk="1" hangingPunct="1">
              <a:buFont typeface="Wingdings" panose="05000000000000000000" pitchFamily="2" charset="2"/>
              <a:buChar char="Ø"/>
            </a:pPr>
            <a:r>
              <a:rPr lang="zh-CN" altLang="en-US" sz="2800">
                <a:latin typeface="Times New Roman" panose="02020603050405020304" pitchFamily="18" charset="0"/>
                <a:ea typeface="楷体_GB2312" pitchFamily="1" charset="-122"/>
              </a:rPr>
              <a:t>最小</a:t>
            </a:r>
            <a:r>
              <a:rPr lang="en-US" altLang="zh-CN" sz="2800">
                <a:latin typeface="Times New Roman" panose="02020603050405020304" pitchFamily="18" charset="0"/>
                <a:ea typeface="楷体_GB2312" pitchFamily="1" charset="-122"/>
              </a:rPr>
              <a:t>/</a:t>
            </a:r>
            <a:r>
              <a:rPr lang="zh-CN" altLang="en-US" sz="2800">
                <a:latin typeface="Times New Roman" panose="02020603050405020304" pitchFamily="18" charset="0"/>
                <a:ea typeface="楷体_GB2312" pitchFamily="1" charset="-122"/>
              </a:rPr>
              <a:t>最大模式设定，输入。</a:t>
            </a:r>
          </a:p>
          <a:p>
            <a:pPr eaLnBrk="1" hangingPunct="1">
              <a:buFont typeface="Wingdings" panose="05000000000000000000" pitchFamily="2" charset="2"/>
              <a:buChar char="Ø"/>
            </a:pPr>
            <a:r>
              <a:rPr lang="zh-CN" altLang="en-US" sz="2800">
                <a:latin typeface="Times New Roman" panose="02020603050405020304" pitchFamily="18" charset="0"/>
                <a:ea typeface="楷体_GB2312" pitchFamily="1" charset="-122"/>
              </a:rPr>
              <a:t>            </a:t>
            </a:r>
            <a:r>
              <a:rPr lang="en-US" altLang="zh-CN" sz="2800">
                <a:latin typeface="Times New Roman" panose="02020603050405020304" pitchFamily="18" charset="0"/>
                <a:ea typeface="楷体_GB2312" pitchFamily="1" charset="-122"/>
              </a:rPr>
              <a:t>=1</a:t>
            </a:r>
            <a:r>
              <a:rPr lang="zh-CN" altLang="en-US" sz="2800">
                <a:latin typeface="Times New Roman" panose="02020603050405020304" pitchFamily="18" charset="0"/>
                <a:ea typeface="楷体_GB2312" pitchFamily="1" charset="-122"/>
              </a:rPr>
              <a:t>时：工作方式设置为</a:t>
            </a:r>
            <a:r>
              <a:rPr lang="zh-CN" altLang="en-US" sz="2800" b="1">
                <a:solidFill>
                  <a:schemeClr val="folHlink"/>
                </a:solidFill>
                <a:latin typeface="Times New Roman" panose="02020603050405020304" pitchFamily="18" charset="0"/>
                <a:ea typeface="楷体_GB2312" pitchFamily="1" charset="-122"/>
              </a:rPr>
              <a:t>最小模式</a:t>
            </a:r>
            <a:r>
              <a:rPr lang="zh-CN" altLang="en-US" sz="2800">
                <a:latin typeface="Times New Roman" panose="02020603050405020304" pitchFamily="18" charset="0"/>
                <a:ea typeface="楷体_GB2312" pitchFamily="1" charset="-122"/>
              </a:rPr>
              <a:t>，在此方式下，系统全部控制信号由</a:t>
            </a:r>
            <a:r>
              <a:rPr lang="en-US" altLang="zh-CN" sz="2800">
                <a:latin typeface="Times New Roman" panose="02020603050405020304" pitchFamily="18" charset="0"/>
                <a:ea typeface="楷体_GB2312" pitchFamily="1" charset="-122"/>
              </a:rPr>
              <a:t>8086</a:t>
            </a:r>
            <a:r>
              <a:rPr lang="zh-CN" altLang="en-US" sz="2800">
                <a:latin typeface="Times New Roman" panose="02020603050405020304" pitchFamily="18" charset="0"/>
                <a:ea typeface="楷体_GB2312" pitchFamily="1" charset="-122"/>
              </a:rPr>
              <a:t>本身提供；</a:t>
            </a:r>
            <a:br>
              <a:rPr lang="zh-CN" altLang="en-US" sz="2800">
                <a:latin typeface="Times New Roman" panose="02020603050405020304" pitchFamily="18" charset="0"/>
                <a:ea typeface="楷体_GB2312" pitchFamily="1" charset="-122"/>
              </a:rPr>
            </a:br>
            <a:r>
              <a:rPr lang="zh-CN" altLang="en-US" sz="2800">
                <a:latin typeface="Times New Roman" panose="02020603050405020304" pitchFamily="18" charset="0"/>
                <a:ea typeface="楷体_GB2312" pitchFamily="1" charset="-122"/>
              </a:rPr>
              <a:t>            </a:t>
            </a:r>
            <a:r>
              <a:rPr lang="en-US" altLang="zh-CN" sz="2800">
                <a:latin typeface="Times New Roman" panose="02020603050405020304" pitchFamily="18" charset="0"/>
                <a:ea typeface="楷体_GB2312" pitchFamily="1" charset="-122"/>
              </a:rPr>
              <a:t>=0</a:t>
            </a:r>
            <a:r>
              <a:rPr lang="zh-CN" altLang="en-US" sz="2800">
                <a:latin typeface="Times New Roman" panose="02020603050405020304" pitchFamily="18" charset="0"/>
                <a:ea typeface="楷体_GB2312" pitchFamily="1" charset="-122"/>
              </a:rPr>
              <a:t>时：工作方式设置为</a:t>
            </a:r>
            <a:r>
              <a:rPr lang="zh-CN" altLang="en-US" sz="2800" b="1">
                <a:solidFill>
                  <a:schemeClr val="folHlink"/>
                </a:solidFill>
                <a:latin typeface="Times New Roman" panose="02020603050405020304" pitchFamily="18" charset="0"/>
                <a:ea typeface="楷体_GB2312" pitchFamily="1" charset="-122"/>
              </a:rPr>
              <a:t>最大模式</a:t>
            </a:r>
            <a:r>
              <a:rPr lang="zh-CN" altLang="en-US" sz="2800">
                <a:latin typeface="Times New Roman" panose="02020603050405020304" pitchFamily="18" charset="0"/>
                <a:ea typeface="楷体_GB2312" pitchFamily="1" charset="-122"/>
              </a:rPr>
              <a:t>。</a:t>
            </a:r>
          </a:p>
        </p:txBody>
      </p:sp>
      <p:graphicFrame>
        <p:nvGraphicFramePr>
          <p:cNvPr id="58372" name="Object 4">
            <a:extLst>
              <a:ext uri="{FF2B5EF4-FFF2-40B4-BE49-F238E27FC236}">
                <a16:creationId xmlns:a16="http://schemas.microsoft.com/office/drawing/2014/main" id="{5A712E33-4463-236A-6795-2D25B5AEF752}"/>
              </a:ext>
            </a:extLst>
          </p:cNvPr>
          <p:cNvGraphicFramePr>
            <a:graphicFrameLocks noChangeAspect="1"/>
          </p:cNvGraphicFramePr>
          <p:nvPr>
            <p:ph sz="quarter" idx="2"/>
          </p:nvPr>
        </p:nvGraphicFramePr>
        <p:xfrm>
          <a:off x="827088" y="2636838"/>
          <a:ext cx="1081087" cy="404812"/>
        </p:xfrm>
        <a:graphic>
          <a:graphicData uri="http://schemas.openxmlformats.org/presentationml/2006/ole">
            <mc:AlternateContent xmlns:mc="http://schemas.openxmlformats.org/markup-compatibility/2006">
              <mc:Choice xmlns:v="urn:schemas-microsoft-com:vml" Requires="v">
                <p:oleObj r:id="rId2" imgW="509105" imgH="190914" progId="Equation.3">
                  <p:embed/>
                </p:oleObj>
              </mc:Choice>
              <mc:Fallback>
                <p:oleObj r:id="rId2" imgW="509105" imgH="190914"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2636838"/>
                        <a:ext cx="1081087" cy="404812"/>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8374" name="Object 6">
            <a:extLst>
              <a:ext uri="{FF2B5EF4-FFF2-40B4-BE49-F238E27FC236}">
                <a16:creationId xmlns:a16="http://schemas.microsoft.com/office/drawing/2014/main" id="{E6682906-431A-FF47-BA7C-50A0D7F91C20}"/>
              </a:ext>
            </a:extLst>
          </p:cNvPr>
          <p:cNvGraphicFramePr>
            <a:graphicFrameLocks noChangeAspect="1"/>
          </p:cNvGraphicFramePr>
          <p:nvPr>
            <p:ph sz="quarter" idx="3"/>
          </p:nvPr>
        </p:nvGraphicFramePr>
        <p:xfrm>
          <a:off x="827088" y="3500438"/>
          <a:ext cx="1008062" cy="376237"/>
        </p:xfrm>
        <a:graphic>
          <a:graphicData uri="http://schemas.openxmlformats.org/presentationml/2006/ole">
            <mc:AlternateContent xmlns:mc="http://schemas.openxmlformats.org/markup-compatibility/2006">
              <mc:Choice xmlns:v="urn:schemas-microsoft-com:vml" Requires="v">
                <p:oleObj r:id="rId4" imgW="509105" imgH="190914" progId="Equation.3">
                  <p:embed/>
                </p:oleObj>
              </mc:Choice>
              <mc:Fallback>
                <p:oleObj r:id="rId4" imgW="509105" imgH="190914"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3500438"/>
                        <a:ext cx="1008062" cy="376237"/>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0661" name="Rectangle 5">
            <a:extLst>
              <a:ext uri="{FF2B5EF4-FFF2-40B4-BE49-F238E27FC236}">
                <a16:creationId xmlns:a16="http://schemas.microsoft.com/office/drawing/2014/main" id="{440A110C-D4BA-F6EF-ECDF-89A983B6AB6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endParaRPr lang="zh-CN" altLang="en-US"/>
          </a:p>
        </p:txBody>
      </p:sp>
      <p:graphicFrame>
        <p:nvGraphicFramePr>
          <p:cNvPr id="58375" name="Object 7">
            <a:extLst>
              <a:ext uri="{FF2B5EF4-FFF2-40B4-BE49-F238E27FC236}">
                <a16:creationId xmlns:a16="http://schemas.microsoft.com/office/drawing/2014/main" id="{6D1F69C3-D126-9C7E-F0BD-0C0707BDD836}"/>
              </a:ext>
            </a:extLst>
          </p:cNvPr>
          <p:cNvGraphicFramePr>
            <a:graphicFrameLocks noChangeAspect="1"/>
          </p:cNvGraphicFramePr>
          <p:nvPr/>
        </p:nvGraphicFramePr>
        <p:xfrm>
          <a:off x="539750" y="1557338"/>
          <a:ext cx="1223963" cy="458787"/>
        </p:xfrm>
        <a:graphic>
          <a:graphicData uri="http://schemas.openxmlformats.org/presentationml/2006/ole">
            <mc:AlternateContent xmlns:mc="http://schemas.openxmlformats.org/markup-compatibility/2006">
              <mc:Choice xmlns:v="urn:schemas-microsoft-com:vml" Requires="v">
                <p:oleObj r:id="rId4" imgW="509105" imgH="190914" progId="Equation.3">
                  <p:embed/>
                </p:oleObj>
              </mc:Choice>
              <mc:Fallback>
                <p:oleObj r:id="rId4" imgW="509105" imgH="190914"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1557338"/>
                        <a:ext cx="122396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58375"/>
                                        </p:tgtEl>
                                        <p:attrNameLst>
                                          <p:attrName>style.visibility</p:attrName>
                                        </p:attrNameLst>
                                      </p:cBhvr>
                                      <p:to>
                                        <p:strVal val="visible"/>
                                      </p:to>
                                    </p:set>
                                    <p:animEffect transition="in" filter="slide(fromBottom)">
                                      <p:cBhvr>
                                        <p:cTn id="7" dur="500"/>
                                        <p:tgtEl>
                                          <p:spTgt spid="583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58371">
                                            <p:txEl>
                                              <p:pRg st="1" end="1"/>
                                            </p:txEl>
                                          </p:spTgt>
                                        </p:tgtEl>
                                        <p:attrNameLst>
                                          <p:attrName>style.visibility</p:attrName>
                                        </p:attrNameLst>
                                      </p:cBhvr>
                                      <p:to>
                                        <p:strVal val="visible"/>
                                      </p:to>
                                    </p:set>
                                    <p:animEffect transition="in" filter="slide(fromBottom)">
                                      <p:cBhvr>
                                        <p:cTn id="12" dur="500"/>
                                        <p:tgtEl>
                                          <p:spTgt spid="583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58371">
                                            <p:txEl>
                                              <p:pRg st="2" end="2"/>
                                            </p:txEl>
                                          </p:spTgt>
                                        </p:tgtEl>
                                        <p:attrNameLst>
                                          <p:attrName>style.visibility</p:attrName>
                                        </p:attrNameLst>
                                      </p:cBhvr>
                                      <p:to>
                                        <p:strVal val="visible"/>
                                      </p:to>
                                    </p:set>
                                    <p:animEffect transition="in" filter="slide(fromBottom)">
                                      <p:cBhvr>
                                        <p:cTn id="17" dur="500"/>
                                        <p:tgtEl>
                                          <p:spTgt spid="58371">
                                            <p:txEl>
                                              <p:pRg st="2" end="2"/>
                                            </p:txEl>
                                          </p:spTgt>
                                        </p:tgtEl>
                                      </p:cBhvr>
                                    </p:animEffect>
                                  </p:childTnLst>
                                </p:cTn>
                              </p:par>
                              <p:par>
                                <p:cTn id="18" presetID="12" presetClass="entr" presetSubtype="4" fill="hold" nodeType="withEffect">
                                  <p:stCondLst>
                                    <p:cond delay="0"/>
                                  </p:stCondLst>
                                  <p:childTnLst>
                                    <p:set>
                                      <p:cBhvr>
                                        <p:cTn id="19" dur="1" fill="hold">
                                          <p:stCondLst>
                                            <p:cond delay="0"/>
                                          </p:stCondLst>
                                        </p:cTn>
                                        <p:tgtEl>
                                          <p:spTgt spid="58372"/>
                                        </p:tgtEl>
                                        <p:attrNameLst>
                                          <p:attrName>style.visibility</p:attrName>
                                        </p:attrNameLst>
                                      </p:cBhvr>
                                      <p:to>
                                        <p:strVal val="visible"/>
                                      </p:to>
                                    </p:set>
                                    <p:animEffect transition="in" filter="slide(fromBottom)">
                                      <p:cBhvr>
                                        <p:cTn id="20" dur="500"/>
                                        <p:tgtEl>
                                          <p:spTgt spid="58372"/>
                                        </p:tgtEl>
                                      </p:cBhvr>
                                    </p:animEffect>
                                  </p:childTnLst>
                                </p:cTn>
                              </p:par>
                              <p:par>
                                <p:cTn id="21" presetID="12" presetClass="entr" presetSubtype="4" fill="hold" nodeType="withEffect">
                                  <p:stCondLst>
                                    <p:cond delay="0"/>
                                  </p:stCondLst>
                                  <p:childTnLst>
                                    <p:set>
                                      <p:cBhvr>
                                        <p:cTn id="22" dur="1" fill="hold">
                                          <p:stCondLst>
                                            <p:cond delay="0"/>
                                          </p:stCondLst>
                                        </p:cTn>
                                        <p:tgtEl>
                                          <p:spTgt spid="58374"/>
                                        </p:tgtEl>
                                        <p:attrNameLst>
                                          <p:attrName>style.visibility</p:attrName>
                                        </p:attrNameLst>
                                      </p:cBhvr>
                                      <p:to>
                                        <p:strVal val="visible"/>
                                      </p:to>
                                    </p:set>
                                    <p:animEffect transition="in" filter="slide(fromBottom)">
                                      <p:cBhvr>
                                        <p:cTn id="23" dur="500"/>
                                        <p:tgtEl>
                                          <p:spTgt spid="58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B6CCA9BA-9A3B-449A-60F7-85BAD064DECB}"/>
              </a:ext>
            </a:extLst>
          </p:cNvPr>
          <p:cNvSpPr>
            <a:spLocks noGrp="1" noChangeArrowheads="1"/>
          </p:cNvSpPr>
          <p:nvPr>
            <p:ph type="title"/>
          </p:nvPr>
        </p:nvSpPr>
        <p:spPr>
          <a:xfrm>
            <a:off x="1150938" y="476250"/>
            <a:ext cx="7793037" cy="720725"/>
          </a:xfrm>
        </p:spPr>
        <p:txBody>
          <a:bodyPr/>
          <a:lstStyle/>
          <a:p>
            <a:pPr algn="ctr" eaLnBrk="1" hangingPunct="1">
              <a:defRPr/>
            </a:pP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AD</a:t>
            </a:r>
            <a:r>
              <a:rPr lang="en-US" sz="3600" b="1" baseline="-25000">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15</a:t>
            </a: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～AD</a:t>
            </a:r>
            <a:r>
              <a:rPr lang="en-US" sz="3600" b="1" baseline="-25000">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0</a:t>
            </a:r>
            <a:endParaRPr lang="zh-CN" altLang="en-US" sz="3600" b="1" baseline="-25000">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59395" name="Rectangle 3">
            <a:extLst>
              <a:ext uri="{FF2B5EF4-FFF2-40B4-BE49-F238E27FC236}">
                <a16:creationId xmlns:a16="http://schemas.microsoft.com/office/drawing/2014/main" id="{58C065D0-7BD9-6837-4D04-1B449F83ED73}"/>
              </a:ext>
            </a:extLst>
          </p:cNvPr>
          <p:cNvSpPr>
            <a:spLocks noGrp="1" noChangeArrowheads="1"/>
          </p:cNvSpPr>
          <p:nvPr>
            <p:ph idx="1"/>
          </p:nvPr>
        </p:nvSpPr>
        <p:spPr>
          <a:xfrm>
            <a:off x="611188" y="1557338"/>
            <a:ext cx="8137525" cy="4114800"/>
          </a:xfrm>
        </p:spPr>
        <p:txBody>
          <a:bodyPr/>
          <a:lstStyle/>
          <a:p>
            <a:pPr eaLnBrk="1" hangingPunct="1">
              <a:spcBef>
                <a:spcPct val="50000"/>
              </a:spcBef>
              <a:buFont typeface="Wingdings" panose="05000000000000000000" pitchFamily="2" charset="2"/>
              <a:buChar char="Ø"/>
            </a:pPr>
            <a:r>
              <a:rPr lang="zh-CN" altLang="en-US" sz="2800">
                <a:latin typeface="Times New Roman" panose="02020603050405020304" pitchFamily="18" charset="0"/>
                <a:ea typeface="楷体_GB2312" pitchFamily="1" charset="-122"/>
              </a:rPr>
              <a:t>地址/数据</a:t>
            </a:r>
            <a:r>
              <a:rPr lang="zh-CN" altLang="en-US" sz="2800">
                <a:solidFill>
                  <a:schemeClr val="hlink"/>
                </a:solidFill>
                <a:latin typeface="Times New Roman" panose="02020603050405020304" pitchFamily="18" charset="0"/>
                <a:ea typeface="楷体_GB2312" pitchFamily="1" charset="-122"/>
              </a:rPr>
              <a:t>复用</a:t>
            </a:r>
            <a:r>
              <a:rPr lang="zh-CN" altLang="en-US" sz="2800">
                <a:latin typeface="Times New Roman" panose="02020603050405020304" pitchFamily="18" charset="0"/>
                <a:ea typeface="楷体_GB2312" pitchFamily="1" charset="-122"/>
              </a:rPr>
              <a:t>引脚。</a:t>
            </a:r>
          </a:p>
          <a:p>
            <a:pPr eaLnBrk="1" hangingPunct="1">
              <a:spcBef>
                <a:spcPct val="50000"/>
              </a:spcBef>
              <a:buFont typeface="Wingdings" panose="05000000000000000000" pitchFamily="2" charset="2"/>
              <a:buChar char="Ø"/>
            </a:pPr>
            <a:r>
              <a:rPr lang="zh-CN" altLang="en-US" sz="2800">
                <a:latin typeface="Times New Roman" panose="02020603050405020304" pitchFamily="18" charset="0"/>
                <a:ea typeface="楷体_GB2312" pitchFamily="1" charset="-122"/>
              </a:rPr>
              <a:t>在总线周期的</a:t>
            </a:r>
            <a:r>
              <a:rPr lang="en-US" altLang="zh-CN" sz="2800" b="1">
                <a:solidFill>
                  <a:schemeClr val="folHlink"/>
                </a:solidFill>
                <a:latin typeface="Times New Roman" panose="02020603050405020304" pitchFamily="18" charset="0"/>
                <a:ea typeface="楷体_GB2312" pitchFamily="1" charset="-122"/>
              </a:rPr>
              <a:t>T</a:t>
            </a:r>
            <a:r>
              <a:rPr lang="en-US" altLang="zh-CN" sz="2800" b="1" baseline="-25000">
                <a:solidFill>
                  <a:schemeClr val="folHlink"/>
                </a:solidFill>
                <a:latin typeface="Times New Roman" panose="02020603050405020304" pitchFamily="18" charset="0"/>
                <a:ea typeface="楷体_GB2312" pitchFamily="1" charset="-122"/>
              </a:rPr>
              <a:t>1</a:t>
            </a:r>
            <a:r>
              <a:rPr lang="zh-CN" altLang="en-US" sz="2800" b="1">
                <a:solidFill>
                  <a:schemeClr val="folHlink"/>
                </a:solidFill>
                <a:latin typeface="Times New Roman" panose="02020603050405020304" pitchFamily="18" charset="0"/>
                <a:ea typeface="楷体_GB2312" pitchFamily="1" charset="-122"/>
              </a:rPr>
              <a:t>状态用来输出要访问的存储器或</a:t>
            </a:r>
            <a:r>
              <a:rPr lang="en-US" altLang="zh-CN" sz="2800" b="1">
                <a:solidFill>
                  <a:schemeClr val="folHlink"/>
                </a:solidFill>
                <a:latin typeface="Times New Roman" panose="02020603050405020304" pitchFamily="18" charset="0"/>
                <a:ea typeface="楷体_GB2312" pitchFamily="1" charset="-122"/>
              </a:rPr>
              <a:t>I/O</a:t>
            </a:r>
            <a:r>
              <a:rPr lang="zh-CN" altLang="en-US" sz="2800" b="1">
                <a:solidFill>
                  <a:schemeClr val="folHlink"/>
                </a:solidFill>
                <a:latin typeface="Times New Roman" panose="02020603050405020304" pitchFamily="18" charset="0"/>
                <a:ea typeface="楷体_GB2312" pitchFamily="1" charset="-122"/>
              </a:rPr>
              <a:t>端口地址，在</a:t>
            </a:r>
            <a:r>
              <a:rPr lang="en-US" altLang="zh-CN" sz="2800" b="1">
                <a:solidFill>
                  <a:schemeClr val="folHlink"/>
                </a:solidFill>
                <a:latin typeface="Times New Roman" panose="02020603050405020304" pitchFamily="18" charset="0"/>
                <a:ea typeface="楷体_GB2312" pitchFamily="1" charset="-122"/>
              </a:rPr>
              <a:t>T</a:t>
            </a:r>
            <a:r>
              <a:rPr lang="en-US" altLang="zh-CN" sz="2800" b="1" baseline="-25000">
                <a:solidFill>
                  <a:schemeClr val="folHlink"/>
                </a:solidFill>
                <a:latin typeface="Times New Roman" panose="02020603050405020304" pitchFamily="18" charset="0"/>
                <a:ea typeface="楷体_GB2312" pitchFamily="1" charset="-122"/>
              </a:rPr>
              <a:t>2</a:t>
            </a:r>
            <a:r>
              <a:rPr lang="en-US" altLang="zh-CN" sz="2800" b="1">
                <a:solidFill>
                  <a:schemeClr val="folHlink"/>
                </a:solidFill>
                <a:latin typeface="Times New Roman" panose="02020603050405020304" pitchFamily="18" charset="0"/>
                <a:ea typeface="楷体_GB2312" pitchFamily="1" charset="-122"/>
              </a:rPr>
              <a:t>~T</a:t>
            </a:r>
            <a:r>
              <a:rPr lang="en-US" altLang="zh-CN" sz="2800" b="1" baseline="-25000">
                <a:solidFill>
                  <a:schemeClr val="folHlink"/>
                </a:solidFill>
                <a:latin typeface="Times New Roman" panose="02020603050405020304" pitchFamily="18" charset="0"/>
                <a:ea typeface="楷体_GB2312" pitchFamily="1" charset="-122"/>
              </a:rPr>
              <a:t>4</a:t>
            </a:r>
            <a:r>
              <a:rPr lang="zh-CN" altLang="en-US" sz="2800" b="1">
                <a:solidFill>
                  <a:schemeClr val="folHlink"/>
                </a:solidFill>
                <a:latin typeface="Times New Roman" panose="02020603050405020304" pitchFamily="18" charset="0"/>
                <a:ea typeface="楷体_GB2312" pitchFamily="1" charset="-122"/>
              </a:rPr>
              <a:t>状态，作为数据传输线</a:t>
            </a:r>
            <a:r>
              <a:rPr lang="zh-CN" altLang="en-US" sz="2800">
                <a:latin typeface="Times New Roman" panose="02020603050405020304" pitchFamily="18" charset="0"/>
                <a:ea typeface="楷体_GB2312" pitchFamily="1" charset="-122"/>
              </a:rPr>
              <a:t>。</a:t>
            </a:r>
          </a:p>
          <a:p>
            <a:pPr eaLnBrk="1" hangingPunct="1">
              <a:spcBef>
                <a:spcPct val="50000"/>
              </a:spcBef>
              <a:buFont typeface="Wingdings" panose="05000000000000000000" pitchFamily="2" charset="2"/>
              <a:buChar char="Ø"/>
            </a:pPr>
            <a:r>
              <a:rPr lang="zh-CN" altLang="en-US" sz="2800">
                <a:latin typeface="Times New Roman" panose="02020603050405020304" pitchFamily="18" charset="0"/>
                <a:ea typeface="楷体_GB2312" pitchFamily="1" charset="-122"/>
              </a:rPr>
              <a:t>传送地址时为三态</a:t>
            </a:r>
            <a:r>
              <a:rPr lang="zh-CN" altLang="en-US" sz="2800" b="1">
                <a:solidFill>
                  <a:schemeClr val="folHlink"/>
                </a:solidFill>
                <a:latin typeface="Times New Roman" panose="02020603050405020304" pitchFamily="18" charset="0"/>
                <a:ea typeface="楷体_GB2312" pitchFamily="1" charset="-122"/>
              </a:rPr>
              <a:t>输出</a:t>
            </a:r>
            <a:r>
              <a:rPr lang="zh-CN" altLang="en-US" sz="2800">
                <a:latin typeface="Times New Roman" panose="02020603050405020304" pitchFamily="18" charset="0"/>
                <a:ea typeface="楷体_GB2312" pitchFamily="1" charset="-122"/>
              </a:rPr>
              <a:t>，传送数据时可</a:t>
            </a:r>
            <a:r>
              <a:rPr lang="zh-CN" altLang="en-US" sz="2800" b="1">
                <a:solidFill>
                  <a:schemeClr val="folHlink"/>
                </a:solidFill>
                <a:latin typeface="Times New Roman" panose="02020603050405020304" pitchFamily="18" charset="0"/>
                <a:ea typeface="楷体_GB2312" pitchFamily="1" charset="-122"/>
              </a:rPr>
              <a:t>双向</a:t>
            </a:r>
            <a:r>
              <a:rPr lang="zh-CN" altLang="en-US" sz="2800">
                <a:latin typeface="Times New Roman" panose="02020603050405020304" pitchFamily="18" charset="0"/>
                <a:ea typeface="楷体_GB2312" pitchFamily="1" charset="-122"/>
              </a:rPr>
              <a:t>三态输入/输出。</a:t>
            </a:r>
          </a:p>
          <a:p>
            <a:pPr eaLnBrk="1" hangingPunct="1">
              <a:spcBef>
                <a:spcPct val="50000"/>
              </a:spcBef>
              <a:buFont typeface="Wingdings" panose="05000000000000000000" pitchFamily="2" charset="2"/>
              <a:buChar char="Ø"/>
            </a:pPr>
            <a:r>
              <a:rPr lang="zh-CN" altLang="en-US" sz="2800">
                <a:latin typeface="Times New Roman" panose="02020603050405020304" pitchFamily="18" charset="0"/>
                <a:ea typeface="楷体_GB2312" pitchFamily="1" charset="-122"/>
              </a:rPr>
              <a:t>在8088中，只有</a:t>
            </a:r>
            <a:r>
              <a:rPr lang="en-US" altLang="zh-CN" sz="2800">
                <a:latin typeface="Times New Roman" panose="02020603050405020304" pitchFamily="18" charset="0"/>
                <a:ea typeface="楷体_GB2312" pitchFamily="1" charset="-122"/>
              </a:rPr>
              <a:t>AD</a:t>
            </a:r>
            <a:r>
              <a:rPr lang="en-US" altLang="zh-CN" sz="2800" baseline="-30000">
                <a:latin typeface="Times New Roman" panose="02020603050405020304" pitchFamily="18" charset="0"/>
                <a:ea typeface="楷体_GB2312" pitchFamily="1" charset="-122"/>
              </a:rPr>
              <a:t>7</a:t>
            </a:r>
            <a:r>
              <a:rPr lang="zh-CN" altLang="en-US" sz="2800">
                <a:latin typeface="Times New Roman" panose="02020603050405020304" pitchFamily="18" charset="0"/>
                <a:ea typeface="楷体_GB2312" pitchFamily="1" charset="-122"/>
              </a:rPr>
              <a:t>～</a:t>
            </a:r>
            <a:r>
              <a:rPr lang="en-US" altLang="zh-CN" sz="2800">
                <a:latin typeface="Times New Roman" panose="02020603050405020304" pitchFamily="18" charset="0"/>
                <a:ea typeface="楷体_GB2312" pitchFamily="1" charset="-122"/>
              </a:rPr>
              <a:t>AD</a:t>
            </a:r>
            <a:r>
              <a:rPr lang="en-US" altLang="zh-CN" sz="2800" baseline="-30000">
                <a:latin typeface="Times New Roman" panose="02020603050405020304" pitchFamily="18" charset="0"/>
                <a:ea typeface="楷体_GB2312" pitchFamily="1" charset="-122"/>
              </a:rPr>
              <a:t>0</a:t>
            </a:r>
            <a:r>
              <a:rPr lang="en-US" altLang="zh-CN" sz="2800">
                <a:latin typeface="Times New Roman" panose="02020603050405020304" pitchFamily="18" charset="0"/>
                <a:ea typeface="楷体_GB2312" pitchFamily="1" charset="-122"/>
              </a:rPr>
              <a:t>8</a:t>
            </a:r>
            <a:r>
              <a:rPr lang="zh-CN" altLang="en-US" sz="2800">
                <a:latin typeface="Times New Roman" panose="02020603050405020304" pitchFamily="18" charset="0"/>
                <a:ea typeface="楷体_GB2312" pitchFamily="1" charset="-122"/>
              </a:rPr>
              <a:t>条地址/数据线，</a:t>
            </a:r>
            <a:r>
              <a:rPr lang="en-US" altLang="zh-CN" sz="2800">
                <a:latin typeface="Times New Roman" panose="02020603050405020304" pitchFamily="18" charset="0"/>
                <a:ea typeface="楷体_GB2312" pitchFamily="1" charset="-122"/>
              </a:rPr>
              <a:t>AD</a:t>
            </a:r>
            <a:r>
              <a:rPr lang="en-US" altLang="zh-CN" sz="2800" baseline="-30000">
                <a:latin typeface="Times New Roman" panose="02020603050405020304" pitchFamily="18" charset="0"/>
                <a:ea typeface="楷体_GB2312" pitchFamily="1" charset="-122"/>
              </a:rPr>
              <a:t>15</a:t>
            </a:r>
            <a:r>
              <a:rPr lang="zh-CN" altLang="en-US" sz="2800">
                <a:latin typeface="Times New Roman" panose="02020603050405020304" pitchFamily="18" charset="0"/>
                <a:ea typeface="楷体_GB2312" pitchFamily="1" charset="-122"/>
              </a:rPr>
              <a:t>～</a:t>
            </a:r>
            <a:r>
              <a:rPr lang="en-US" altLang="zh-CN" sz="2800">
                <a:latin typeface="Times New Roman" panose="02020603050405020304" pitchFamily="18" charset="0"/>
                <a:ea typeface="楷体_GB2312" pitchFamily="1" charset="-122"/>
              </a:rPr>
              <a:t>AD</a:t>
            </a:r>
            <a:r>
              <a:rPr lang="en-US" altLang="zh-CN" sz="2800" baseline="-30000">
                <a:latin typeface="Times New Roman" panose="02020603050405020304" pitchFamily="18" charset="0"/>
                <a:ea typeface="楷体_GB2312" pitchFamily="1" charset="-122"/>
              </a:rPr>
              <a:t>8</a:t>
            </a:r>
            <a:r>
              <a:rPr lang="zh-CN" altLang="en-US" sz="2800">
                <a:latin typeface="Times New Roman" panose="02020603050405020304" pitchFamily="18" charset="0"/>
                <a:ea typeface="楷体_GB2312" pitchFamily="1" charset="-122"/>
              </a:rPr>
              <a:t>只用来输出地址。</a:t>
            </a:r>
            <a:endParaRPr lang="zh-CN" altLang="en-US" sz="1600">
              <a:latin typeface="Times New Roman" panose="02020603050405020304" pitchFamily="18" charset="0"/>
              <a:ea typeface="楷体_GB2312" pitchFamily="1"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nodeType="clickEffect">
                                  <p:stCondLst>
                                    <p:cond delay="0"/>
                                  </p:stCondLst>
                                  <p:childTnLst>
                                    <p:set>
                                      <p:cBhvr>
                                        <p:cTn id="6" dur="1" fill="hold">
                                          <p:stCondLst>
                                            <p:cond delay="0"/>
                                          </p:stCondLst>
                                        </p:cTn>
                                        <p:tgtEl>
                                          <p:spTgt spid="59395">
                                            <p:txEl>
                                              <p:pRg st="1" end="1"/>
                                            </p:txEl>
                                          </p:spTgt>
                                        </p:tgtEl>
                                        <p:attrNameLst>
                                          <p:attrName>style.visibility</p:attrName>
                                        </p:attrNameLst>
                                      </p:cBhvr>
                                      <p:to>
                                        <p:strVal val="visible"/>
                                      </p:to>
                                    </p:set>
                                    <p:animEffect transition="in" filter="barn(inHorizontal)">
                                      <p:cBhvr>
                                        <p:cTn id="7" dur="500"/>
                                        <p:tgtEl>
                                          <p:spTgt spid="5939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nodeType="clickEffect">
                                  <p:stCondLst>
                                    <p:cond delay="0"/>
                                  </p:stCondLst>
                                  <p:childTnLst>
                                    <p:set>
                                      <p:cBhvr>
                                        <p:cTn id="11" dur="1" fill="hold">
                                          <p:stCondLst>
                                            <p:cond delay="0"/>
                                          </p:stCondLst>
                                        </p:cTn>
                                        <p:tgtEl>
                                          <p:spTgt spid="59395">
                                            <p:txEl>
                                              <p:pRg st="2" end="2"/>
                                            </p:txEl>
                                          </p:spTgt>
                                        </p:tgtEl>
                                        <p:attrNameLst>
                                          <p:attrName>style.visibility</p:attrName>
                                        </p:attrNameLst>
                                      </p:cBhvr>
                                      <p:to>
                                        <p:strVal val="visible"/>
                                      </p:to>
                                    </p:set>
                                    <p:animEffect transition="in" filter="barn(inHorizontal)">
                                      <p:cBhvr>
                                        <p:cTn id="12" dur="500"/>
                                        <p:tgtEl>
                                          <p:spTgt spid="5939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6" fill="hold" nodeType="clickEffect">
                                  <p:stCondLst>
                                    <p:cond delay="0"/>
                                  </p:stCondLst>
                                  <p:childTnLst>
                                    <p:set>
                                      <p:cBhvr>
                                        <p:cTn id="16" dur="1" fill="hold">
                                          <p:stCondLst>
                                            <p:cond delay="0"/>
                                          </p:stCondLst>
                                        </p:cTn>
                                        <p:tgtEl>
                                          <p:spTgt spid="59395">
                                            <p:txEl>
                                              <p:pRg st="3" end="3"/>
                                            </p:txEl>
                                          </p:spTgt>
                                        </p:tgtEl>
                                        <p:attrNameLst>
                                          <p:attrName>style.visibility</p:attrName>
                                        </p:attrNameLst>
                                      </p:cBhvr>
                                      <p:to>
                                        <p:strVal val="visible"/>
                                      </p:to>
                                    </p:set>
                                    <p:animEffect transition="in" filter="barn(inHorizontal)">
                                      <p:cBhvr>
                                        <p:cTn id="17" dur="500"/>
                                        <p:tgtEl>
                                          <p:spTgt spid="593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AC314347-7903-5E34-1C63-9E0CC8A864A9}"/>
              </a:ext>
            </a:extLst>
          </p:cNvPr>
          <p:cNvSpPr>
            <a:spLocks noGrp="1" noChangeArrowheads="1"/>
          </p:cNvSpPr>
          <p:nvPr>
            <p:ph type="title"/>
          </p:nvPr>
        </p:nvSpPr>
        <p:spPr>
          <a:xfrm>
            <a:off x="1042988" y="476250"/>
            <a:ext cx="7793037" cy="792163"/>
          </a:xfrm>
        </p:spPr>
        <p:txBody>
          <a:bodyPr/>
          <a:lstStyle/>
          <a:p>
            <a:pPr algn="ctr" eaLnBrk="1" hangingPunct="1">
              <a:defRPr/>
            </a:pPr>
            <a:r>
              <a:rPr lang="en-US" b="1">
                <a:solidFill>
                  <a:schemeClr val="tx1"/>
                </a:solidFill>
                <a:effectLst>
                  <a:outerShdw blurRad="38100" dist="38100" dir="2700000" algn="tl">
                    <a:srgbClr val="C0C0C0"/>
                  </a:outerShdw>
                </a:effectLst>
                <a:latin typeface="Times New Roman" panose="02020603050405020304" pitchFamily="18" charset="0"/>
              </a:rPr>
              <a:t>A</a:t>
            </a:r>
            <a:r>
              <a:rPr lang="en-US" b="1" baseline="-25000">
                <a:solidFill>
                  <a:schemeClr val="tx1"/>
                </a:solidFill>
                <a:effectLst>
                  <a:outerShdw blurRad="38100" dist="38100" dir="2700000" algn="tl">
                    <a:srgbClr val="C0C0C0"/>
                  </a:outerShdw>
                </a:effectLst>
                <a:latin typeface="Times New Roman" panose="02020603050405020304" pitchFamily="18" charset="0"/>
              </a:rPr>
              <a:t>19</a:t>
            </a:r>
            <a:r>
              <a:rPr lang="en-US" b="1">
                <a:solidFill>
                  <a:schemeClr val="tx1"/>
                </a:solidFill>
                <a:effectLst>
                  <a:outerShdw blurRad="38100" dist="38100" dir="2700000" algn="tl">
                    <a:srgbClr val="C0C0C0"/>
                  </a:outerShdw>
                </a:effectLst>
                <a:latin typeface="Times New Roman" panose="02020603050405020304" pitchFamily="18" charset="0"/>
              </a:rPr>
              <a:t>/S</a:t>
            </a:r>
            <a:r>
              <a:rPr lang="en-US" b="1" baseline="-25000">
                <a:solidFill>
                  <a:schemeClr val="tx1"/>
                </a:solidFill>
                <a:effectLst>
                  <a:outerShdw blurRad="38100" dist="38100" dir="2700000" algn="tl">
                    <a:srgbClr val="C0C0C0"/>
                  </a:outerShdw>
                </a:effectLst>
                <a:latin typeface="Times New Roman" panose="02020603050405020304" pitchFamily="18" charset="0"/>
              </a:rPr>
              <a:t>6</a:t>
            </a:r>
            <a:r>
              <a:rPr lang="en-US" b="1">
                <a:solidFill>
                  <a:schemeClr val="tx1"/>
                </a:solidFill>
                <a:effectLst>
                  <a:outerShdw blurRad="38100" dist="38100" dir="2700000" algn="tl">
                    <a:srgbClr val="C0C0C0"/>
                  </a:outerShdw>
                </a:effectLst>
                <a:latin typeface="Times New Roman" panose="02020603050405020304" pitchFamily="18" charset="0"/>
              </a:rPr>
              <a:t>～A</a:t>
            </a:r>
            <a:r>
              <a:rPr lang="en-US" b="1" baseline="-25000">
                <a:solidFill>
                  <a:schemeClr val="tx1"/>
                </a:solidFill>
                <a:effectLst>
                  <a:outerShdw blurRad="38100" dist="38100" dir="2700000" algn="tl">
                    <a:srgbClr val="C0C0C0"/>
                  </a:outerShdw>
                </a:effectLst>
                <a:latin typeface="Times New Roman" panose="02020603050405020304" pitchFamily="18" charset="0"/>
              </a:rPr>
              <a:t>16</a:t>
            </a:r>
            <a:r>
              <a:rPr lang="en-US" b="1">
                <a:solidFill>
                  <a:schemeClr val="tx1"/>
                </a:solidFill>
                <a:effectLst>
                  <a:outerShdw blurRad="38100" dist="38100" dir="2700000" algn="tl">
                    <a:srgbClr val="C0C0C0"/>
                  </a:outerShdw>
                </a:effectLst>
                <a:latin typeface="Times New Roman" panose="02020603050405020304" pitchFamily="18" charset="0"/>
              </a:rPr>
              <a:t>/S</a:t>
            </a:r>
            <a:r>
              <a:rPr lang="en-US" b="1" baseline="-25000">
                <a:solidFill>
                  <a:schemeClr val="tx1"/>
                </a:solidFill>
                <a:effectLst>
                  <a:outerShdw blurRad="38100" dist="38100" dir="2700000" algn="tl">
                    <a:srgbClr val="C0C0C0"/>
                  </a:outerShdw>
                </a:effectLst>
                <a:latin typeface="Times New Roman" panose="02020603050405020304" pitchFamily="18" charset="0"/>
              </a:rPr>
              <a:t>3</a:t>
            </a:r>
            <a:endParaRPr lang="zh-CN" altLang="en-US" b="1" baseline="-25000">
              <a:solidFill>
                <a:schemeClr val="tx1"/>
              </a:solidFill>
              <a:effectLst>
                <a:outerShdw blurRad="38100" dist="38100" dir="2700000" algn="tl">
                  <a:srgbClr val="C0C0C0"/>
                </a:outerShdw>
              </a:effectLst>
              <a:latin typeface="Times New Roman" panose="02020603050405020304" pitchFamily="18" charset="0"/>
            </a:endParaRPr>
          </a:p>
        </p:txBody>
      </p:sp>
      <p:sp>
        <p:nvSpPr>
          <p:cNvPr id="60419" name="Rectangle 3">
            <a:extLst>
              <a:ext uri="{FF2B5EF4-FFF2-40B4-BE49-F238E27FC236}">
                <a16:creationId xmlns:a16="http://schemas.microsoft.com/office/drawing/2014/main" id="{83324343-FAE8-BA08-F543-2BAEB3633912}"/>
              </a:ext>
            </a:extLst>
          </p:cNvPr>
          <p:cNvSpPr>
            <a:spLocks noGrp="1" noChangeArrowheads="1"/>
          </p:cNvSpPr>
          <p:nvPr>
            <p:ph idx="1"/>
          </p:nvPr>
        </p:nvSpPr>
        <p:spPr>
          <a:xfrm>
            <a:off x="539750" y="1557338"/>
            <a:ext cx="8064500" cy="4176712"/>
          </a:xfrm>
        </p:spPr>
        <p:txBody>
          <a:bodyPr/>
          <a:lstStyle/>
          <a:p>
            <a:pPr algn="just" eaLnBrk="1" hangingPunct="1">
              <a:lnSpc>
                <a:spcPct val="90000"/>
              </a:lnSpc>
              <a:spcBef>
                <a:spcPct val="50000"/>
              </a:spcBef>
              <a:buFont typeface="Wingdings" panose="05000000000000000000" pitchFamily="2" charset="2"/>
              <a:buChar char="Ø"/>
            </a:pPr>
            <a:r>
              <a:rPr lang="zh-CN" altLang="en-US" sz="2400">
                <a:latin typeface="Times New Roman" panose="02020603050405020304" pitchFamily="18" charset="0"/>
                <a:ea typeface="楷体_GB2312" pitchFamily="1" charset="-122"/>
              </a:rPr>
              <a:t>地址/状态</a:t>
            </a:r>
            <a:r>
              <a:rPr lang="zh-CN" altLang="en-US" sz="2400">
                <a:solidFill>
                  <a:schemeClr val="hlink"/>
                </a:solidFill>
                <a:latin typeface="Times New Roman" panose="02020603050405020304" pitchFamily="18" charset="0"/>
                <a:ea typeface="楷体_GB2312" pitchFamily="1" charset="-122"/>
              </a:rPr>
              <a:t>复用</a:t>
            </a:r>
            <a:r>
              <a:rPr lang="zh-CN" altLang="en-US" sz="2400">
                <a:latin typeface="Times New Roman" panose="02020603050405020304" pitchFamily="18" charset="0"/>
                <a:ea typeface="楷体_GB2312" pitchFamily="1" charset="-122"/>
              </a:rPr>
              <a:t>引脚，三态，分时输出。</a:t>
            </a:r>
          </a:p>
          <a:p>
            <a:pPr algn="just" eaLnBrk="1" hangingPunct="1">
              <a:lnSpc>
                <a:spcPct val="90000"/>
              </a:lnSpc>
              <a:spcBef>
                <a:spcPct val="50000"/>
              </a:spcBef>
              <a:buFont typeface="Wingdings" panose="05000000000000000000" pitchFamily="2" charset="2"/>
              <a:buChar char="Ø"/>
            </a:pPr>
            <a:r>
              <a:rPr lang="zh-CN" altLang="en-US" sz="2400">
                <a:latin typeface="Times New Roman" panose="02020603050405020304" pitchFamily="18" charset="0"/>
                <a:ea typeface="楷体_GB2312" pitchFamily="1" charset="-122"/>
              </a:rPr>
              <a:t>在</a:t>
            </a:r>
            <a:r>
              <a:rPr lang="en-US" altLang="zh-CN" sz="2400">
                <a:latin typeface="Times New Roman" panose="02020603050405020304" pitchFamily="18" charset="0"/>
                <a:ea typeface="楷体_GB2312" pitchFamily="1" charset="-122"/>
              </a:rPr>
              <a:t>T</a:t>
            </a:r>
            <a:r>
              <a:rPr lang="en-US" altLang="zh-CN" sz="2400" baseline="-30000">
                <a:latin typeface="Times New Roman" panose="02020603050405020304" pitchFamily="18" charset="0"/>
                <a:ea typeface="楷体_GB2312" pitchFamily="1" charset="-122"/>
              </a:rPr>
              <a:t>1</a:t>
            </a:r>
            <a:r>
              <a:rPr lang="zh-CN" altLang="en-US" sz="2400">
                <a:latin typeface="Times New Roman" panose="02020603050405020304" pitchFamily="18" charset="0"/>
                <a:ea typeface="楷体_GB2312" pitchFamily="1" charset="-122"/>
              </a:rPr>
              <a:t>状态：输出高4位地址。</a:t>
            </a:r>
          </a:p>
          <a:p>
            <a:pPr algn="just" eaLnBrk="1" hangingPunct="1">
              <a:lnSpc>
                <a:spcPct val="90000"/>
              </a:lnSpc>
              <a:spcBef>
                <a:spcPct val="50000"/>
              </a:spcBef>
            </a:pPr>
            <a:r>
              <a:rPr lang="zh-CN" altLang="en-US" sz="2400" b="1">
                <a:solidFill>
                  <a:schemeClr val="folHlink"/>
                </a:solidFill>
                <a:latin typeface="Times New Roman" panose="02020603050405020304" pitchFamily="18" charset="0"/>
                <a:ea typeface="楷体_GB2312" pitchFamily="1" charset="-122"/>
              </a:rPr>
              <a:t>访问存储器时</a:t>
            </a:r>
            <a:r>
              <a:rPr lang="zh-CN" altLang="en-US" sz="2400">
                <a:latin typeface="Times New Roman" panose="02020603050405020304" pitchFamily="18" charset="0"/>
                <a:ea typeface="楷体_GB2312" pitchFamily="1" charset="-122"/>
              </a:rPr>
              <a:t>：</a:t>
            </a:r>
            <a:r>
              <a:rPr lang="en-US" altLang="zh-CN" sz="2400">
                <a:latin typeface="Times New Roman" panose="02020603050405020304" pitchFamily="18" charset="0"/>
                <a:ea typeface="楷体_GB2312" pitchFamily="1" charset="-122"/>
              </a:rPr>
              <a:t>A</a:t>
            </a:r>
            <a:r>
              <a:rPr lang="en-US" altLang="zh-CN" sz="2400" baseline="-30000">
                <a:latin typeface="Times New Roman" panose="02020603050405020304" pitchFamily="18" charset="0"/>
                <a:ea typeface="楷体_GB2312" pitchFamily="1" charset="-122"/>
              </a:rPr>
              <a:t>19</a:t>
            </a:r>
            <a:r>
              <a:rPr lang="zh-CN" altLang="en-US" sz="2400">
                <a:latin typeface="Times New Roman" panose="02020603050405020304" pitchFamily="18" charset="0"/>
                <a:ea typeface="楷体_GB2312" pitchFamily="1" charset="-122"/>
              </a:rPr>
              <a:t>～</a:t>
            </a:r>
            <a:r>
              <a:rPr lang="en-US" altLang="zh-CN" sz="2400">
                <a:latin typeface="Times New Roman" panose="02020603050405020304" pitchFamily="18" charset="0"/>
                <a:ea typeface="楷体_GB2312" pitchFamily="1" charset="-122"/>
              </a:rPr>
              <a:t>A</a:t>
            </a:r>
            <a:r>
              <a:rPr lang="en-US" altLang="zh-CN" sz="2400" baseline="-30000">
                <a:latin typeface="Times New Roman" panose="02020603050405020304" pitchFamily="18" charset="0"/>
                <a:ea typeface="楷体_GB2312" pitchFamily="1" charset="-122"/>
              </a:rPr>
              <a:t>16</a:t>
            </a:r>
            <a:r>
              <a:rPr lang="zh-CN" altLang="en-US" sz="2400">
                <a:latin typeface="Times New Roman" panose="02020603050405020304" pitchFamily="18" charset="0"/>
                <a:ea typeface="楷体_GB2312" pitchFamily="1" charset="-122"/>
              </a:rPr>
              <a:t>与</a:t>
            </a:r>
            <a:r>
              <a:rPr lang="en-US" altLang="zh-CN" sz="2400">
                <a:latin typeface="Times New Roman" panose="02020603050405020304" pitchFamily="18" charset="0"/>
                <a:ea typeface="楷体_GB2312" pitchFamily="1" charset="-122"/>
              </a:rPr>
              <a:t>AD</a:t>
            </a:r>
            <a:r>
              <a:rPr lang="en-US" altLang="zh-CN" sz="2400" baseline="-30000">
                <a:latin typeface="Times New Roman" panose="02020603050405020304" pitchFamily="18" charset="0"/>
                <a:ea typeface="楷体_GB2312" pitchFamily="1" charset="-122"/>
              </a:rPr>
              <a:t>15 </a:t>
            </a:r>
            <a:r>
              <a:rPr lang="zh-CN" altLang="en-US" sz="2400">
                <a:latin typeface="Times New Roman" panose="02020603050405020304" pitchFamily="18" charset="0"/>
                <a:ea typeface="楷体_GB2312" pitchFamily="1" charset="-122"/>
              </a:rPr>
              <a:t>～</a:t>
            </a:r>
            <a:r>
              <a:rPr lang="en-US" altLang="zh-CN" sz="2400">
                <a:latin typeface="Times New Roman" panose="02020603050405020304" pitchFamily="18" charset="0"/>
                <a:ea typeface="楷体_GB2312" pitchFamily="1" charset="-122"/>
              </a:rPr>
              <a:t>AD</a:t>
            </a:r>
            <a:r>
              <a:rPr lang="en-US" altLang="zh-CN" sz="2400" baseline="-30000">
                <a:latin typeface="Times New Roman" panose="02020603050405020304" pitchFamily="18" charset="0"/>
                <a:ea typeface="楷体_GB2312" pitchFamily="1" charset="-122"/>
              </a:rPr>
              <a:t>0</a:t>
            </a:r>
            <a:r>
              <a:rPr lang="zh-CN" altLang="en-US" sz="2400">
                <a:latin typeface="Times New Roman" panose="02020603050405020304" pitchFamily="18" charset="0"/>
                <a:ea typeface="楷体_GB2312" pitchFamily="1" charset="-122"/>
              </a:rPr>
              <a:t>组成20位地址；</a:t>
            </a:r>
          </a:p>
          <a:p>
            <a:pPr algn="just" eaLnBrk="1" hangingPunct="1">
              <a:lnSpc>
                <a:spcPct val="90000"/>
              </a:lnSpc>
              <a:spcBef>
                <a:spcPct val="50000"/>
              </a:spcBef>
            </a:pPr>
            <a:r>
              <a:rPr lang="zh-CN" altLang="en-US" sz="2400" b="1">
                <a:solidFill>
                  <a:schemeClr val="folHlink"/>
                </a:solidFill>
                <a:latin typeface="Times New Roman" panose="02020603050405020304" pitchFamily="18" charset="0"/>
                <a:ea typeface="楷体_GB2312" pitchFamily="1" charset="-122"/>
              </a:rPr>
              <a:t>访问</a:t>
            </a:r>
            <a:r>
              <a:rPr lang="en-US" altLang="zh-CN" sz="2400" b="1">
                <a:solidFill>
                  <a:schemeClr val="folHlink"/>
                </a:solidFill>
                <a:latin typeface="Times New Roman" panose="02020603050405020304" pitchFamily="18" charset="0"/>
                <a:ea typeface="楷体_GB2312" pitchFamily="1" charset="-122"/>
              </a:rPr>
              <a:t>I/O</a:t>
            </a:r>
            <a:r>
              <a:rPr lang="zh-CN" altLang="en-US" sz="2400" b="1">
                <a:solidFill>
                  <a:schemeClr val="folHlink"/>
                </a:solidFill>
                <a:latin typeface="Times New Roman" panose="02020603050405020304" pitchFamily="18" charset="0"/>
                <a:ea typeface="楷体_GB2312" pitchFamily="1" charset="-122"/>
              </a:rPr>
              <a:t>端口时</a:t>
            </a:r>
            <a:r>
              <a:rPr lang="zh-CN" altLang="en-US" sz="2400">
                <a:latin typeface="Times New Roman" panose="02020603050405020304" pitchFamily="18" charset="0"/>
                <a:ea typeface="楷体_GB2312" pitchFamily="1" charset="-122"/>
              </a:rPr>
              <a:t>：</a:t>
            </a:r>
            <a:r>
              <a:rPr lang="zh-CN" altLang="en-US" sz="2400">
                <a:solidFill>
                  <a:schemeClr val="hlink"/>
                </a:solidFill>
                <a:latin typeface="Times New Roman" panose="02020603050405020304" pitchFamily="18" charset="0"/>
                <a:ea typeface="楷体_GB2312" pitchFamily="1" charset="-122"/>
              </a:rPr>
              <a:t>不使用这4条引线</a:t>
            </a:r>
            <a:r>
              <a:rPr lang="zh-CN" altLang="en-US" sz="2400">
                <a:latin typeface="Times New Roman" panose="02020603050405020304" pitchFamily="18" charset="0"/>
                <a:ea typeface="楷体_GB2312" pitchFamily="1" charset="-122"/>
              </a:rPr>
              <a:t>。</a:t>
            </a:r>
          </a:p>
          <a:p>
            <a:pPr eaLnBrk="1" hangingPunct="1">
              <a:lnSpc>
                <a:spcPct val="90000"/>
              </a:lnSpc>
              <a:spcBef>
                <a:spcPct val="50000"/>
              </a:spcBef>
              <a:buFont typeface="Wingdings" panose="05000000000000000000" pitchFamily="2" charset="2"/>
              <a:buChar char="Ø"/>
            </a:pPr>
            <a:r>
              <a:rPr lang="zh-CN" altLang="en-US" sz="2400">
                <a:latin typeface="Times New Roman" panose="02020603050405020304" pitchFamily="18" charset="0"/>
                <a:ea typeface="楷体_GB2312" pitchFamily="1" charset="-122"/>
              </a:rPr>
              <a:t>在</a:t>
            </a:r>
            <a:r>
              <a:rPr lang="en-US" altLang="zh-CN" sz="2400">
                <a:latin typeface="Times New Roman" panose="02020603050405020304" pitchFamily="18" charset="0"/>
                <a:ea typeface="楷体_GB2312" pitchFamily="1" charset="-122"/>
              </a:rPr>
              <a:t>T</a:t>
            </a:r>
            <a:r>
              <a:rPr lang="en-US" altLang="zh-CN" sz="2400" baseline="-30000">
                <a:latin typeface="Times New Roman" panose="02020603050405020304" pitchFamily="18" charset="0"/>
                <a:ea typeface="楷体_GB2312" pitchFamily="1" charset="-122"/>
              </a:rPr>
              <a:t>2</a:t>
            </a:r>
            <a:r>
              <a:rPr lang="zh-CN" altLang="en-US" sz="2400">
                <a:latin typeface="Times New Roman" panose="02020603050405020304" pitchFamily="18" charset="0"/>
                <a:ea typeface="楷体_GB2312" pitchFamily="1" charset="-122"/>
              </a:rPr>
              <a:t>～</a:t>
            </a:r>
            <a:r>
              <a:rPr lang="en-US" altLang="zh-CN" sz="2400">
                <a:latin typeface="Times New Roman" panose="02020603050405020304" pitchFamily="18" charset="0"/>
                <a:ea typeface="楷体_GB2312" pitchFamily="1" charset="-122"/>
              </a:rPr>
              <a:t>T</a:t>
            </a:r>
            <a:r>
              <a:rPr lang="en-US" altLang="zh-CN" sz="2400" baseline="-30000">
                <a:latin typeface="Times New Roman" panose="02020603050405020304" pitchFamily="18" charset="0"/>
                <a:ea typeface="楷体_GB2312" pitchFamily="1" charset="-122"/>
              </a:rPr>
              <a:t>4</a:t>
            </a:r>
            <a:r>
              <a:rPr lang="zh-CN" altLang="en-US" sz="2400">
                <a:latin typeface="Times New Roman" panose="02020603050405020304" pitchFamily="18" charset="0"/>
                <a:ea typeface="楷体_GB2312" pitchFamily="1" charset="-122"/>
              </a:rPr>
              <a:t>状态：输出状态信息。</a:t>
            </a:r>
          </a:p>
          <a:p>
            <a:pPr eaLnBrk="1" hangingPunct="1">
              <a:lnSpc>
                <a:spcPct val="90000"/>
              </a:lnSpc>
              <a:spcBef>
                <a:spcPct val="50000"/>
              </a:spcBef>
              <a:buFont typeface="Wingdings" panose="05000000000000000000" pitchFamily="2" charset="2"/>
              <a:buNone/>
            </a:pPr>
            <a:r>
              <a:rPr lang="en-US" altLang="zh-CN" sz="2400">
                <a:latin typeface="Times New Roman" panose="02020603050405020304" pitchFamily="18" charset="0"/>
                <a:ea typeface="楷体_GB2312" pitchFamily="1" charset="-122"/>
              </a:rPr>
              <a:t>      S</a:t>
            </a:r>
            <a:r>
              <a:rPr lang="en-US" altLang="zh-CN" sz="2400" baseline="-25000">
                <a:latin typeface="Times New Roman" panose="02020603050405020304" pitchFamily="18" charset="0"/>
                <a:ea typeface="楷体_GB2312" pitchFamily="1" charset="-122"/>
              </a:rPr>
              <a:t>6</a:t>
            </a:r>
            <a:r>
              <a:rPr lang="en-US" altLang="zh-CN" sz="2400">
                <a:latin typeface="Times New Roman" panose="02020603050405020304" pitchFamily="18" charset="0"/>
                <a:ea typeface="楷体_GB2312" pitchFamily="1" charset="-122"/>
              </a:rPr>
              <a:t>=0</a:t>
            </a:r>
            <a:r>
              <a:rPr lang="zh-CN" altLang="en-US" sz="2400">
                <a:latin typeface="Times New Roman" panose="02020603050405020304" pitchFamily="18" charset="0"/>
                <a:ea typeface="楷体_GB2312" pitchFamily="1" charset="-122"/>
              </a:rPr>
              <a:t>，表示当前</a:t>
            </a:r>
            <a:r>
              <a:rPr lang="en-US" altLang="zh-CN" sz="2400">
                <a:latin typeface="Times New Roman" panose="02020603050405020304" pitchFamily="18" charset="0"/>
                <a:ea typeface="楷体_GB2312" pitchFamily="1" charset="-122"/>
              </a:rPr>
              <a:t>8086/8088</a:t>
            </a:r>
            <a:r>
              <a:rPr lang="zh-CN" altLang="en-US" sz="2400">
                <a:latin typeface="Times New Roman" panose="02020603050405020304" pitchFamily="18" charset="0"/>
                <a:ea typeface="楷体_GB2312" pitchFamily="1" charset="-122"/>
              </a:rPr>
              <a:t>与总线相连</a:t>
            </a:r>
            <a:r>
              <a:rPr lang="en-US" altLang="zh-CN" sz="2400">
                <a:latin typeface="Times New Roman" panose="02020603050405020304" pitchFamily="18" charset="0"/>
                <a:ea typeface="楷体_GB2312" pitchFamily="1" charset="-122"/>
              </a:rPr>
              <a:t>(</a:t>
            </a:r>
            <a:r>
              <a:rPr lang="zh-CN" altLang="en-US" sz="2400">
                <a:latin typeface="Times New Roman" panose="02020603050405020304" pitchFamily="18" charset="0"/>
                <a:ea typeface="楷体_GB2312" pitchFamily="1" charset="-122"/>
              </a:rPr>
              <a:t>即</a:t>
            </a:r>
            <a:r>
              <a:rPr lang="en-US" altLang="zh-CN" sz="2400">
                <a:latin typeface="Times New Roman" panose="02020603050405020304" pitchFamily="18" charset="0"/>
                <a:ea typeface="楷体_GB2312" pitchFamily="1" charset="-122"/>
              </a:rPr>
              <a:t>S6</a:t>
            </a:r>
            <a:r>
              <a:rPr lang="zh-CN" altLang="en-US" sz="2400">
                <a:latin typeface="Times New Roman" panose="02020603050405020304" pitchFamily="18" charset="0"/>
                <a:ea typeface="楷体_GB2312" pitchFamily="1" charset="-122"/>
              </a:rPr>
              <a:t>始终保持低电平</a:t>
            </a:r>
            <a:r>
              <a:rPr lang="en-US" altLang="zh-CN" sz="2400">
                <a:latin typeface="Times New Roman" panose="02020603050405020304" pitchFamily="18" charset="0"/>
                <a:ea typeface="楷体_GB2312" pitchFamily="1" charset="-122"/>
              </a:rPr>
              <a:t>)</a:t>
            </a:r>
            <a:r>
              <a:rPr lang="zh-CN" altLang="en-US" sz="2400">
                <a:latin typeface="Times New Roman" panose="02020603050405020304" pitchFamily="18" charset="0"/>
                <a:ea typeface="楷体_GB2312" pitchFamily="1" charset="-122"/>
              </a:rPr>
              <a:t>。</a:t>
            </a:r>
          </a:p>
          <a:p>
            <a:pPr eaLnBrk="1" hangingPunct="1">
              <a:lnSpc>
                <a:spcPct val="90000"/>
              </a:lnSpc>
              <a:spcBef>
                <a:spcPct val="50000"/>
              </a:spcBef>
              <a:buFont typeface="Wingdings" panose="05000000000000000000" pitchFamily="2" charset="2"/>
              <a:buNone/>
            </a:pPr>
            <a:r>
              <a:rPr lang="en-US" altLang="zh-CN" sz="2400">
                <a:latin typeface="Times New Roman" panose="02020603050405020304" pitchFamily="18" charset="0"/>
                <a:ea typeface="楷体_GB2312" pitchFamily="1" charset="-122"/>
              </a:rPr>
              <a:t>      S</a:t>
            </a:r>
            <a:r>
              <a:rPr lang="en-US" altLang="zh-CN" sz="2400" baseline="-25000">
                <a:latin typeface="Times New Roman" panose="02020603050405020304" pitchFamily="18" charset="0"/>
                <a:ea typeface="楷体_GB2312" pitchFamily="1" charset="-122"/>
              </a:rPr>
              <a:t>5</a:t>
            </a:r>
            <a:r>
              <a:rPr lang="en-US" altLang="zh-CN" sz="2400">
                <a:latin typeface="Times New Roman" panose="02020603050405020304" pitchFamily="18" charset="0"/>
                <a:ea typeface="楷体_GB2312" pitchFamily="1" charset="-122"/>
              </a:rPr>
              <a:t> </a:t>
            </a:r>
            <a:r>
              <a:rPr lang="zh-CN" altLang="en-US" sz="2400">
                <a:latin typeface="Times New Roman" panose="02020603050405020304" pitchFamily="18" charset="0"/>
                <a:ea typeface="楷体_GB2312" pitchFamily="1" charset="-122"/>
              </a:rPr>
              <a:t>用来指示状态寄存器中的中断允许标志</a:t>
            </a:r>
            <a:r>
              <a:rPr lang="en-US" altLang="zh-CN" sz="2400">
                <a:latin typeface="Times New Roman" panose="02020603050405020304" pitchFamily="18" charset="0"/>
                <a:ea typeface="楷体_GB2312" pitchFamily="1" charset="-122"/>
              </a:rPr>
              <a:t>IF</a:t>
            </a:r>
            <a:r>
              <a:rPr lang="zh-CN" altLang="en-US" sz="2400">
                <a:latin typeface="Times New Roman" panose="02020603050405020304" pitchFamily="18" charset="0"/>
                <a:ea typeface="楷体_GB2312" pitchFamily="1" charset="-122"/>
              </a:rPr>
              <a:t>的状态 </a:t>
            </a:r>
            <a:r>
              <a:rPr lang="en-US" altLang="zh-CN" sz="2400">
                <a:latin typeface="Times New Roman" panose="02020603050405020304" pitchFamily="18" charset="0"/>
                <a:ea typeface="楷体_GB2312" pitchFamily="1" charset="-122"/>
              </a:rPr>
              <a:t>(S</a:t>
            </a:r>
            <a:r>
              <a:rPr lang="en-US" altLang="zh-CN" sz="2400" baseline="-25000">
                <a:latin typeface="Times New Roman" panose="02020603050405020304" pitchFamily="18" charset="0"/>
                <a:ea typeface="楷体_GB2312" pitchFamily="1" charset="-122"/>
              </a:rPr>
              <a:t>5</a:t>
            </a:r>
            <a:r>
              <a:rPr lang="zh-CN" altLang="en-US" sz="2400">
                <a:latin typeface="Times New Roman" panose="02020603050405020304" pitchFamily="18" charset="0"/>
                <a:ea typeface="楷体_GB2312" pitchFamily="1" charset="-122"/>
              </a:rPr>
              <a:t>为</a:t>
            </a:r>
            <a:r>
              <a:rPr lang="en-US" altLang="zh-CN" sz="2400">
                <a:latin typeface="Times New Roman" panose="02020603050405020304" pitchFamily="18" charset="0"/>
                <a:ea typeface="楷体_GB2312" pitchFamily="1" charset="-122"/>
              </a:rPr>
              <a:t>1</a:t>
            </a:r>
            <a:r>
              <a:rPr lang="zh-CN" altLang="en-US" sz="2400">
                <a:latin typeface="Times New Roman" panose="02020603050405020304" pitchFamily="18" charset="0"/>
                <a:ea typeface="楷体_GB2312" pitchFamily="1" charset="-122"/>
              </a:rPr>
              <a:t>允许中断，</a:t>
            </a:r>
            <a:r>
              <a:rPr lang="en-US" altLang="zh-CN" sz="2400">
                <a:latin typeface="Times New Roman" panose="02020603050405020304" pitchFamily="18" charset="0"/>
                <a:ea typeface="楷体_GB2312" pitchFamily="1" charset="-122"/>
              </a:rPr>
              <a:t>S</a:t>
            </a:r>
            <a:r>
              <a:rPr lang="en-US" altLang="zh-CN" sz="2400" baseline="-25000">
                <a:latin typeface="Times New Roman" panose="02020603050405020304" pitchFamily="18" charset="0"/>
                <a:ea typeface="楷体_GB2312" pitchFamily="1" charset="-122"/>
              </a:rPr>
              <a:t>5</a:t>
            </a:r>
            <a:r>
              <a:rPr lang="zh-CN" altLang="en-US" sz="2400">
                <a:latin typeface="Times New Roman" panose="02020603050405020304" pitchFamily="18" charset="0"/>
                <a:ea typeface="楷体_GB2312" pitchFamily="1" charset="-122"/>
              </a:rPr>
              <a:t>为</a:t>
            </a:r>
            <a:r>
              <a:rPr lang="en-US" altLang="zh-CN" sz="2400">
                <a:latin typeface="Times New Roman" panose="02020603050405020304" pitchFamily="18" charset="0"/>
                <a:ea typeface="楷体_GB2312" pitchFamily="1" charset="-122"/>
              </a:rPr>
              <a:t>0</a:t>
            </a:r>
            <a:r>
              <a:rPr lang="zh-CN" altLang="en-US" sz="2400">
                <a:latin typeface="Times New Roman" panose="02020603050405020304" pitchFamily="18" charset="0"/>
                <a:ea typeface="楷体_GB2312" pitchFamily="1" charset="-122"/>
              </a:rPr>
              <a:t>禁止中断</a:t>
            </a:r>
            <a:r>
              <a:rPr lang="en-US" altLang="zh-CN" sz="2400">
                <a:latin typeface="Times New Roman" panose="02020603050405020304" pitchFamily="18" charset="0"/>
                <a:ea typeface="楷体_GB2312" pitchFamily="1" charset="-122"/>
              </a:rPr>
              <a:t>) </a:t>
            </a:r>
            <a:r>
              <a:rPr lang="zh-CN" altLang="en-US" sz="2400">
                <a:latin typeface="Times New Roman" panose="02020603050405020304" pitchFamily="18" charset="0"/>
                <a:ea typeface="楷体_GB2312" pitchFamily="1" charset="-122"/>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nodeType="clickEffect">
                                  <p:stCondLst>
                                    <p:cond delay="0"/>
                                  </p:stCondLst>
                                  <p:childTnLst>
                                    <p:set>
                                      <p:cBhvr>
                                        <p:cTn id="6" dur="1" fill="hold">
                                          <p:stCondLst>
                                            <p:cond delay="0"/>
                                          </p:stCondLst>
                                        </p:cTn>
                                        <p:tgtEl>
                                          <p:spTgt spid="60419">
                                            <p:txEl>
                                              <p:pRg st="1" end="1"/>
                                            </p:txEl>
                                          </p:spTgt>
                                        </p:tgtEl>
                                        <p:attrNameLst>
                                          <p:attrName>style.visibility</p:attrName>
                                        </p:attrNameLst>
                                      </p:cBhvr>
                                      <p:to>
                                        <p:strVal val="visible"/>
                                      </p:to>
                                    </p:set>
                                    <p:animEffect transition="in" filter="barn(inHorizontal)">
                                      <p:cBhvr>
                                        <p:cTn id="7" dur="500"/>
                                        <p:tgtEl>
                                          <p:spTgt spid="6041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nodeType="clickEffect">
                                  <p:stCondLst>
                                    <p:cond delay="0"/>
                                  </p:stCondLst>
                                  <p:childTnLst>
                                    <p:set>
                                      <p:cBhvr>
                                        <p:cTn id="11" dur="1" fill="hold">
                                          <p:stCondLst>
                                            <p:cond delay="0"/>
                                          </p:stCondLst>
                                        </p:cTn>
                                        <p:tgtEl>
                                          <p:spTgt spid="60419">
                                            <p:txEl>
                                              <p:pRg st="2" end="2"/>
                                            </p:txEl>
                                          </p:spTgt>
                                        </p:tgtEl>
                                        <p:attrNameLst>
                                          <p:attrName>style.visibility</p:attrName>
                                        </p:attrNameLst>
                                      </p:cBhvr>
                                      <p:to>
                                        <p:strVal val="visible"/>
                                      </p:to>
                                    </p:set>
                                    <p:animEffect transition="in" filter="barn(inHorizontal)">
                                      <p:cBhvr>
                                        <p:cTn id="12" dur="500"/>
                                        <p:tgtEl>
                                          <p:spTgt spid="6041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6" fill="hold" nodeType="clickEffect">
                                  <p:stCondLst>
                                    <p:cond delay="0"/>
                                  </p:stCondLst>
                                  <p:childTnLst>
                                    <p:set>
                                      <p:cBhvr>
                                        <p:cTn id="16" dur="1" fill="hold">
                                          <p:stCondLst>
                                            <p:cond delay="0"/>
                                          </p:stCondLst>
                                        </p:cTn>
                                        <p:tgtEl>
                                          <p:spTgt spid="60419">
                                            <p:txEl>
                                              <p:pRg st="3" end="3"/>
                                            </p:txEl>
                                          </p:spTgt>
                                        </p:tgtEl>
                                        <p:attrNameLst>
                                          <p:attrName>style.visibility</p:attrName>
                                        </p:attrNameLst>
                                      </p:cBhvr>
                                      <p:to>
                                        <p:strVal val="visible"/>
                                      </p:to>
                                    </p:set>
                                    <p:animEffect transition="in" filter="barn(inHorizontal)">
                                      <p:cBhvr>
                                        <p:cTn id="17" dur="500"/>
                                        <p:tgtEl>
                                          <p:spTgt spid="6041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6" fill="hold" nodeType="clickEffect">
                                  <p:stCondLst>
                                    <p:cond delay="0"/>
                                  </p:stCondLst>
                                  <p:childTnLst>
                                    <p:set>
                                      <p:cBhvr>
                                        <p:cTn id="21" dur="1" fill="hold">
                                          <p:stCondLst>
                                            <p:cond delay="0"/>
                                          </p:stCondLst>
                                        </p:cTn>
                                        <p:tgtEl>
                                          <p:spTgt spid="60419">
                                            <p:txEl>
                                              <p:pRg st="4" end="4"/>
                                            </p:txEl>
                                          </p:spTgt>
                                        </p:tgtEl>
                                        <p:attrNameLst>
                                          <p:attrName>style.visibility</p:attrName>
                                        </p:attrNameLst>
                                      </p:cBhvr>
                                      <p:to>
                                        <p:strVal val="visible"/>
                                      </p:to>
                                    </p:set>
                                    <p:animEffect transition="in" filter="barn(inHorizontal)">
                                      <p:cBhvr>
                                        <p:cTn id="22" dur="500"/>
                                        <p:tgtEl>
                                          <p:spTgt spid="60419">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6" fill="hold" nodeType="clickEffect">
                                  <p:stCondLst>
                                    <p:cond delay="0"/>
                                  </p:stCondLst>
                                  <p:childTnLst>
                                    <p:set>
                                      <p:cBhvr>
                                        <p:cTn id="26" dur="1" fill="hold">
                                          <p:stCondLst>
                                            <p:cond delay="0"/>
                                          </p:stCondLst>
                                        </p:cTn>
                                        <p:tgtEl>
                                          <p:spTgt spid="60419">
                                            <p:txEl>
                                              <p:pRg st="5" end="5"/>
                                            </p:txEl>
                                          </p:spTgt>
                                        </p:tgtEl>
                                        <p:attrNameLst>
                                          <p:attrName>style.visibility</p:attrName>
                                        </p:attrNameLst>
                                      </p:cBhvr>
                                      <p:to>
                                        <p:strVal val="visible"/>
                                      </p:to>
                                    </p:set>
                                    <p:animEffect transition="in" filter="barn(inHorizontal)">
                                      <p:cBhvr>
                                        <p:cTn id="27" dur="500"/>
                                        <p:tgtEl>
                                          <p:spTgt spid="60419">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6" fill="hold" nodeType="clickEffect">
                                  <p:stCondLst>
                                    <p:cond delay="0"/>
                                  </p:stCondLst>
                                  <p:childTnLst>
                                    <p:set>
                                      <p:cBhvr>
                                        <p:cTn id="31" dur="1" fill="hold">
                                          <p:stCondLst>
                                            <p:cond delay="0"/>
                                          </p:stCondLst>
                                        </p:cTn>
                                        <p:tgtEl>
                                          <p:spTgt spid="60419">
                                            <p:txEl>
                                              <p:pRg st="6" end="6"/>
                                            </p:txEl>
                                          </p:spTgt>
                                        </p:tgtEl>
                                        <p:attrNameLst>
                                          <p:attrName>style.visibility</p:attrName>
                                        </p:attrNameLst>
                                      </p:cBhvr>
                                      <p:to>
                                        <p:strVal val="visible"/>
                                      </p:to>
                                    </p:set>
                                    <p:animEffect transition="in" filter="barn(inHorizontal)">
                                      <p:cBhvr>
                                        <p:cTn id="32" dur="500"/>
                                        <p:tgtEl>
                                          <p:spTgt spid="604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C9992E97-2220-DB79-54F6-76877FA56AAA}"/>
              </a:ext>
            </a:extLst>
          </p:cNvPr>
          <p:cNvSpPr>
            <a:spLocks noGrp="1" noChangeArrowheads="1"/>
          </p:cNvSpPr>
          <p:nvPr>
            <p:ph type="title"/>
          </p:nvPr>
        </p:nvSpPr>
        <p:spPr/>
        <p:txBody>
          <a:bodyPr/>
          <a:lstStyle/>
          <a:p>
            <a:pPr algn="ctr" eaLnBrk="1" hangingPunct="1">
              <a:defRPr/>
            </a:pPr>
            <a:r>
              <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表</a:t>
            </a: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2.3  S</a:t>
            </a:r>
            <a:r>
              <a:rPr lang="en-US" sz="3600" b="1" baseline="-25000">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4</a:t>
            </a:r>
            <a:r>
              <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和</a:t>
            </a: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S</a:t>
            </a:r>
            <a:r>
              <a:rPr lang="en-US" sz="3600" b="1" baseline="-25000">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3</a:t>
            </a:r>
            <a:r>
              <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的组合</a:t>
            </a:r>
          </a:p>
        </p:txBody>
      </p:sp>
      <p:pic>
        <p:nvPicPr>
          <p:cNvPr id="73730" name="Picture 3">
            <a:extLst>
              <a:ext uri="{FF2B5EF4-FFF2-40B4-BE49-F238E27FC236}">
                <a16:creationId xmlns:a16="http://schemas.microsoft.com/office/drawing/2014/main" id="{195E4DFB-0F51-6B67-1B06-178E248C6E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989138"/>
            <a:ext cx="80645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9A229954-D38E-AFEE-4B37-6940D6C0F98E}"/>
              </a:ext>
            </a:extLst>
          </p:cNvPr>
          <p:cNvSpPr>
            <a:spLocks noGrp="1" noChangeArrowheads="1"/>
          </p:cNvSpPr>
          <p:nvPr>
            <p:ph type="body" sz="half" idx="1"/>
          </p:nvPr>
        </p:nvSpPr>
        <p:spPr>
          <a:xfrm>
            <a:off x="395288" y="1557338"/>
            <a:ext cx="8353425" cy="4114800"/>
          </a:xfrm>
        </p:spPr>
        <p:txBody>
          <a:bodyPr/>
          <a:lstStyle/>
          <a:p>
            <a:pPr eaLnBrk="1" hangingPunct="1">
              <a:spcBef>
                <a:spcPct val="50000"/>
              </a:spcBef>
              <a:buFont typeface="Wingdings" panose="05000000000000000000" pitchFamily="2" charset="2"/>
              <a:buChar char="Ø"/>
            </a:pPr>
            <a:r>
              <a:rPr lang="zh-CN" altLang="en-US">
                <a:latin typeface="Times New Roman" panose="02020603050405020304" pitchFamily="18" charset="0"/>
                <a:ea typeface="楷体_GB2312" pitchFamily="1" charset="-122"/>
              </a:rPr>
              <a:t>高8位数据总线允许/状态复用引脚，三态，输出。</a:t>
            </a:r>
          </a:p>
          <a:p>
            <a:pPr eaLnBrk="1" hangingPunct="1">
              <a:spcBef>
                <a:spcPct val="50000"/>
              </a:spcBef>
              <a:buFont typeface="Wingdings" panose="05000000000000000000" pitchFamily="2" charset="2"/>
              <a:buChar char="Ø"/>
            </a:pPr>
            <a:r>
              <a:rPr lang="zh-CN" altLang="en-US">
                <a:latin typeface="Times New Roman" panose="02020603050405020304" pitchFamily="18" charset="0"/>
                <a:ea typeface="楷体_GB2312" pitchFamily="1" charset="-122"/>
              </a:rPr>
              <a:t>在</a:t>
            </a:r>
            <a:r>
              <a:rPr lang="en-US" altLang="zh-CN">
                <a:latin typeface="Times New Roman" panose="02020603050405020304" pitchFamily="18" charset="0"/>
                <a:ea typeface="楷体_GB2312" pitchFamily="1" charset="-122"/>
              </a:rPr>
              <a:t>T</a:t>
            </a:r>
            <a:r>
              <a:rPr lang="en-US" altLang="zh-CN" baseline="-30000">
                <a:latin typeface="Times New Roman" panose="02020603050405020304" pitchFamily="18" charset="0"/>
                <a:ea typeface="楷体_GB2312" pitchFamily="1" charset="-122"/>
              </a:rPr>
              <a:t>1</a:t>
            </a:r>
            <a:r>
              <a:rPr lang="zh-CN" altLang="en-US">
                <a:latin typeface="Times New Roman" panose="02020603050405020304" pitchFamily="18" charset="0"/>
                <a:ea typeface="楷体_GB2312" pitchFamily="1" charset="-122"/>
              </a:rPr>
              <a:t>状态：     输出，若       </a:t>
            </a:r>
            <a:r>
              <a:rPr lang="en-US" altLang="zh-CN">
                <a:latin typeface="Times New Roman" panose="02020603050405020304" pitchFamily="18" charset="0"/>
                <a:ea typeface="楷体_GB2312" pitchFamily="1" charset="-122"/>
              </a:rPr>
              <a:t>=0</a:t>
            </a:r>
            <a:r>
              <a:rPr lang="zh-CN" altLang="en-US">
                <a:latin typeface="Times New Roman" panose="02020603050405020304" pitchFamily="18" charset="0"/>
                <a:ea typeface="楷体_GB2312" pitchFamily="1" charset="-122"/>
              </a:rPr>
              <a:t>，表示高</a:t>
            </a:r>
            <a:r>
              <a:rPr lang="en-US" altLang="zh-CN">
                <a:latin typeface="Times New Roman" panose="02020603050405020304" pitchFamily="18" charset="0"/>
                <a:ea typeface="楷体_GB2312" pitchFamily="1" charset="-122"/>
              </a:rPr>
              <a:t>8</a:t>
            </a:r>
            <a:r>
              <a:rPr lang="zh-CN" altLang="en-US">
                <a:latin typeface="Times New Roman" panose="02020603050405020304" pitchFamily="18" charset="0"/>
                <a:ea typeface="楷体_GB2312" pitchFamily="1" charset="-122"/>
              </a:rPr>
              <a:t>位数据线</a:t>
            </a:r>
            <a:r>
              <a:rPr lang="en-US" altLang="zh-CN">
                <a:latin typeface="Times New Roman" panose="02020603050405020304" pitchFamily="18" charset="0"/>
                <a:ea typeface="楷体_GB2312" pitchFamily="1" charset="-122"/>
              </a:rPr>
              <a:t>D</a:t>
            </a:r>
            <a:r>
              <a:rPr lang="en-US" altLang="zh-CN" baseline="-25000">
                <a:latin typeface="Times New Roman" panose="02020603050405020304" pitchFamily="18" charset="0"/>
                <a:ea typeface="楷体_GB2312" pitchFamily="1" charset="-122"/>
              </a:rPr>
              <a:t>15</a:t>
            </a:r>
            <a:r>
              <a:rPr lang="zh-CN" altLang="en-US">
                <a:latin typeface="Times New Roman" panose="02020603050405020304" pitchFamily="18" charset="0"/>
                <a:ea typeface="楷体_GB2312" pitchFamily="1" charset="-122"/>
              </a:rPr>
              <a:t>～</a:t>
            </a:r>
            <a:r>
              <a:rPr lang="en-US" altLang="zh-CN">
                <a:latin typeface="Times New Roman" panose="02020603050405020304" pitchFamily="18" charset="0"/>
                <a:ea typeface="楷体_GB2312" pitchFamily="1" charset="-122"/>
              </a:rPr>
              <a:t>D</a:t>
            </a:r>
            <a:r>
              <a:rPr lang="en-US" altLang="zh-CN" baseline="-25000">
                <a:latin typeface="Times New Roman" panose="02020603050405020304" pitchFamily="18" charset="0"/>
                <a:ea typeface="楷体_GB2312" pitchFamily="1" charset="-122"/>
              </a:rPr>
              <a:t>8</a:t>
            </a:r>
            <a:r>
              <a:rPr lang="zh-CN" altLang="en-US">
                <a:latin typeface="Times New Roman" panose="02020603050405020304" pitchFamily="18" charset="0"/>
                <a:ea typeface="楷体_GB2312" pitchFamily="1" charset="-122"/>
              </a:rPr>
              <a:t>上的数据有效。 </a:t>
            </a:r>
          </a:p>
          <a:p>
            <a:pPr eaLnBrk="1" hangingPunct="1">
              <a:spcBef>
                <a:spcPct val="50000"/>
              </a:spcBef>
              <a:buFont typeface="Wingdings" panose="05000000000000000000" pitchFamily="2" charset="2"/>
              <a:buChar char="Ø"/>
            </a:pPr>
            <a:r>
              <a:rPr lang="zh-CN" altLang="en-US">
                <a:latin typeface="Times New Roman" panose="02020603050405020304" pitchFamily="18" charset="0"/>
                <a:ea typeface="楷体_GB2312" pitchFamily="1" charset="-122"/>
              </a:rPr>
              <a:t>在</a:t>
            </a:r>
            <a:r>
              <a:rPr lang="en-US" altLang="zh-CN">
                <a:latin typeface="Times New Roman" panose="02020603050405020304" pitchFamily="18" charset="0"/>
                <a:ea typeface="楷体_GB2312" pitchFamily="1" charset="-122"/>
              </a:rPr>
              <a:t>T</a:t>
            </a:r>
            <a:r>
              <a:rPr lang="en-US" altLang="zh-CN" baseline="-30000">
                <a:latin typeface="Times New Roman" panose="02020603050405020304" pitchFamily="18" charset="0"/>
                <a:ea typeface="楷体_GB2312" pitchFamily="1" charset="-122"/>
              </a:rPr>
              <a:t>2</a:t>
            </a:r>
            <a:r>
              <a:rPr lang="zh-CN" altLang="en-US">
                <a:latin typeface="Times New Roman" panose="02020603050405020304" pitchFamily="18" charset="0"/>
                <a:ea typeface="楷体_GB2312" pitchFamily="1" charset="-122"/>
              </a:rPr>
              <a:t>～</a:t>
            </a:r>
            <a:r>
              <a:rPr lang="en-US" altLang="zh-CN">
                <a:latin typeface="Times New Roman" panose="02020603050405020304" pitchFamily="18" charset="0"/>
                <a:ea typeface="楷体_GB2312" pitchFamily="1" charset="-122"/>
              </a:rPr>
              <a:t>T</a:t>
            </a:r>
            <a:r>
              <a:rPr lang="en-US" altLang="zh-CN" baseline="-30000">
                <a:latin typeface="Times New Roman" panose="02020603050405020304" pitchFamily="18" charset="0"/>
                <a:ea typeface="楷体_GB2312" pitchFamily="1" charset="-122"/>
              </a:rPr>
              <a:t>4</a:t>
            </a:r>
            <a:r>
              <a:rPr lang="zh-CN" altLang="en-US">
                <a:latin typeface="Times New Roman" panose="02020603050405020304" pitchFamily="18" charset="0"/>
                <a:ea typeface="楷体_GB2312" pitchFamily="1" charset="-122"/>
              </a:rPr>
              <a:t>状态：输出</a:t>
            </a:r>
            <a:r>
              <a:rPr lang="en-US" altLang="zh-CN">
                <a:latin typeface="Times New Roman" panose="02020603050405020304" pitchFamily="18" charset="0"/>
                <a:ea typeface="楷体_GB2312" pitchFamily="1" charset="-122"/>
              </a:rPr>
              <a:t>S</a:t>
            </a:r>
            <a:r>
              <a:rPr lang="en-US" altLang="zh-CN" baseline="-30000">
                <a:latin typeface="Times New Roman" panose="02020603050405020304" pitchFamily="18" charset="0"/>
                <a:ea typeface="楷体_GB2312" pitchFamily="1" charset="-122"/>
              </a:rPr>
              <a:t>7</a:t>
            </a:r>
            <a:r>
              <a:rPr lang="en-US" altLang="zh-CN">
                <a:latin typeface="Times New Roman" panose="02020603050405020304" pitchFamily="18" charset="0"/>
                <a:ea typeface="楷体_GB2312" pitchFamily="1" charset="-122"/>
              </a:rPr>
              <a:t>(</a:t>
            </a:r>
            <a:r>
              <a:rPr lang="zh-CN" altLang="en-US">
                <a:latin typeface="Times New Roman" panose="02020603050405020304" pitchFamily="18" charset="0"/>
                <a:ea typeface="楷体_GB2312" pitchFamily="1" charset="-122"/>
              </a:rPr>
              <a:t>无意义</a:t>
            </a:r>
            <a:r>
              <a:rPr lang="en-US" altLang="zh-CN">
                <a:latin typeface="Times New Roman" panose="02020603050405020304" pitchFamily="18" charset="0"/>
                <a:ea typeface="楷体_GB2312" pitchFamily="1" charset="-122"/>
              </a:rPr>
              <a:t>)</a:t>
            </a:r>
            <a:r>
              <a:rPr lang="zh-CN" altLang="en-US">
                <a:latin typeface="Times New Roman" panose="02020603050405020304" pitchFamily="18" charset="0"/>
                <a:ea typeface="楷体_GB2312" pitchFamily="1" charset="-122"/>
              </a:rPr>
              <a:t>。</a:t>
            </a:r>
          </a:p>
        </p:txBody>
      </p:sp>
      <p:graphicFrame>
        <p:nvGraphicFramePr>
          <p:cNvPr id="62467" name="Object 3">
            <a:extLst>
              <a:ext uri="{FF2B5EF4-FFF2-40B4-BE49-F238E27FC236}">
                <a16:creationId xmlns:a16="http://schemas.microsoft.com/office/drawing/2014/main" id="{B8CB051A-66BE-6E1B-F719-780CFBE19C48}"/>
              </a:ext>
            </a:extLst>
          </p:cNvPr>
          <p:cNvGraphicFramePr>
            <a:graphicFrameLocks noChangeAspect="1"/>
          </p:cNvGraphicFramePr>
          <p:nvPr>
            <p:ph sz="quarter" idx="2"/>
          </p:nvPr>
        </p:nvGraphicFramePr>
        <p:xfrm>
          <a:off x="2555875" y="2822575"/>
          <a:ext cx="792163" cy="460375"/>
        </p:xfrm>
        <a:graphic>
          <a:graphicData uri="http://schemas.openxmlformats.org/presentationml/2006/ole">
            <mc:AlternateContent xmlns:mc="http://schemas.openxmlformats.org/markup-compatibility/2006">
              <mc:Choice xmlns:v="urn:schemas-microsoft-com:vml" Requires="v">
                <p:oleObj r:id="rId2" imgW="305729" imgH="178342" progId="Equation.3">
                  <p:embed/>
                </p:oleObj>
              </mc:Choice>
              <mc:Fallback>
                <p:oleObj r:id="rId2" imgW="305729" imgH="178342"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875" y="2822575"/>
                        <a:ext cx="792163" cy="460375"/>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2470" name="Object 6">
            <a:extLst>
              <a:ext uri="{FF2B5EF4-FFF2-40B4-BE49-F238E27FC236}">
                <a16:creationId xmlns:a16="http://schemas.microsoft.com/office/drawing/2014/main" id="{26C0572B-BE8B-5836-F93A-47FA290EDD6E}"/>
              </a:ext>
            </a:extLst>
          </p:cNvPr>
          <p:cNvGraphicFramePr>
            <a:graphicFrameLocks noChangeAspect="1"/>
          </p:cNvGraphicFramePr>
          <p:nvPr>
            <p:ph sz="quarter" idx="3"/>
          </p:nvPr>
        </p:nvGraphicFramePr>
        <p:xfrm>
          <a:off x="4932363" y="2822575"/>
          <a:ext cx="792162" cy="460375"/>
        </p:xfrm>
        <a:graphic>
          <a:graphicData uri="http://schemas.openxmlformats.org/presentationml/2006/ole">
            <mc:AlternateContent xmlns:mc="http://schemas.openxmlformats.org/markup-compatibility/2006">
              <mc:Choice xmlns:v="urn:schemas-microsoft-com:vml" Requires="v">
                <p:oleObj r:id="rId4" imgW="305729" imgH="178342" progId="Equation.3">
                  <p:embed/>
                </p:oleObj>
              </mc:Choice>
              <mc:Fallback>
                <p:oleObj r:id="rId4" imgW="305729" imgH="178342"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2363" y="2822575"/>
                        <a:ext cx="792162" cy="460375"/>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4756" name="Rectangle 4">
            <a:extLst>
              <a:ext uri="{FF2B5EF4-FFF2-40B4-BE49-F238E27FC236}">
                <a16:creationId xmlns:a16="http://schemas.microsoft.com/office/drawing/2014/main" id="{7C132C7B-5801-E100-4FE7-8D5C836FFB2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endParaRPr lang="zh-CN" altLang="en-US"/>
          </a:p>
        </p:txBody>
      </p:sp>
      <p:graphicFrame>
        <p:nvGraphicFramePr>
          <p:cNvPr id="74757" name="Object 5">
            <a:extLst>
              <a:ext uri="{FF2B5EF4-FFF2-40B4-BE49-F238E27FC236}">
                <a16:creationId xmlns:a16="http://schemas.microsoft.com/office/drawing/2014/main" id="{1645D204-EAB3-1192-1513-95C32FDDCB2C}"/>
              </a:ext>
            </a:extLst>
          </p:cNvPr>
          <p:cNvGraphicFramePr>
            <a:graphicFrameLocks noChangeAspect="1"/>
          </p:cNvGraphicFramePr>
          <p:nvPr/>
        </p:nvGraphicFramePr>
        <p:xfrm>
          <a:off x="4140200" y="630238"/>
          <a:ext cx="1655763" cy="782637"/>
        </p:xfrm>
        <a:graphic>
          <a:graphicData uri="http://schemas.openxmlformats.org/presentationml/2006/ole">
            <mc:AlternateContent xmlns:mc="http://schemas.openxmlformats.org/markup-compatibility/2006">
              <mc:Choice xmlns:v="urn:schemas-microsoft-com:vml" Requires="v">
                <p:oleObj r:id="rId6" imgW="458593" imgH="216558" progId="Equation.3">
                  <p:embed/>
                </p:oleObj>
              </mc:Choice>
              <mc:Fallback>
                <p:oleObj r:id="rId6" imgW="458593" imgH="216558"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40200" y="630238"/>
                        <a:ext cx="1655763"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74758" name="Picture 4">
            <a:extLst>
              <a:ext uri="{FF2B5EF4-FFF2-40B4-BE49-F238E27FC236}">
                <a16:creationId xmlns:a16="http://schemas.microsoft.com/office/drawing/2014/main" id="{7B759EBF-B199-A2AB-5A8A-AF353340FA3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52938" y="4562475"/>
            <a:ext cx="3360737"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6">
                                            <p:txEl>
                                              <p:pRg st="1" end="1"/>
                                            </p:txEl>
                                          </p:spTgt>
                                        </p:tgtEl>
                                        <p:attrNameLst>
                                          <p:attrName>style.visibility</p:attrName>
                                        </p:attrNameLst>
                                      </p:cBhvr>
                                      <p:to>
                                        <p:strVal val="visible"/>
                                      </p:to>
                                    </p:set>
                                    <p:anim calcmode="lin" valueType="num">
                                      <p:cBhvr additive="base">
                                        <p:cTn id="7" dur="500" fill="hold"/>
                                        <p:tgtEl>
                                          <p:spTgt spid="6246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46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2467"/>
                                        </p:tgtEl>
                                        <p:attrNameLst>
                                          <p:attrName>style.visibility</p:attrName>
                                        </p:attrNameLst>
                                      </p:cBhvr>
                                      <p:to>
                                        <p:strVal val="visible"/>
                                      </p:to>
                                    </p:set>
                                    <p:anim calcmode="lin" valueType="num">
                                      <p:cBhvr additive="base">
                                        <p:cTn id="11" dur="500" fill="hold"/>
                                        <p:tgtEl>
                                          <p:spTgt spid="62467"/>
                                        </p:tgtEl>
                                        <p:attrNameLst>
                                          <p:attrName>ppt_x</p:attrName>
                                        </p:attrNameLst>
                                      </p:cBhvr>
                                      <p:tavLst>
                                        <p:tav tm="0">
                                          <p:val>
                                            <p:strVal val="#ppt_x"/>
                                          </p:val>
                                        </p:tav>
                                        <p:tav tm="100000">
                                          <p:val>
                                            <p:strVal val="#ppt_x"/>
                                          </p:val>
                                        </p:tav>
                                      </p:tavLst>
                                    </p:anim>
                                    <p:anim calcmode="lin" valueType="num">
                                      <p:cBhvr additive="base">
                                        <p:cTn id="12" dur="500" fill="hold"/>
                                        <p:tgtEl>
                                          <p:spTgt spid="6246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2470"/>
                                        </p:tgtEl>
                                        <p:attrNameLst>
                                          <p:attrName>style.visibility</p:attrName>
                                        </p:attrNameLst>
                                      </p:cBhvr>
                                      <p:to>
                                        <p:strVal val="visible"/>
                                      </p:to>
                                    </p:set>
                                    <p:anim calcmode="lin" valueType="num">
                                      <p:cBhvr additive="base">
                                        <p:cTn id="15" dur="500" fill="hold"/>
                                        <p:tgtEl>
                                          <p:spTgt spid="62470"/>
                                        </p:tgtEl>
                                        <p:attrNameLst>
                                          <p:attrName>ppt_x</p:attrName>
                                        </p:attrNameLst>
                                      </p:cBhvr>
                                      <p:tavLst>
                                        <p:tav tm="0">
                                          <p:val>
                                            <p:strVal val="#ppt_x"/>
                                          </p:val>
                                        </p:tav>
                                        <p:tav tm="100000">
                                          <p:val>
                                            <p:strVal val="#ppt_x"/>
                                          </p:val>
                                        </p:tav>
                                      </p:tavLst>
                                    </p:anim>
                                    <p:anim calcmode="lin" valueType="num">
                                      <p:cBhvr additive="base">
                                        <p:cTn id="16" dur="500" fill="hold"/>
                                        <p:tgtEl>
                                          <p:spTgt spid="62470"/>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2466">
                                            <p:txEl>
                                              <p:pRg st="2" end="2"/>
                                            </p:txEl>
                                          </p:spTgt>
                                        </p:tgtEl>
                                        <p:attrNameLst>
                                          <p:attrName>style.visibility</p:attrName>
                                        </p:attrNameLst>
                                      </p:cBhvr>
                                      <p:to>
                                        <p:strVal val="visible"/>
                                      </p:to>
                                    </p:set>
                                    <p:anim calcmode="lin" valueType="num">
                                      <p:cBhvr additive="base">
                                        <p:cTn id="21" dur="500" fill="hold"/>
                                        <p:tgtEl>
                                          <p:spTgt spid="62466">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246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FCF522B0-235A-9894-C62F-7DD33EFB72F5}"/>
              </a:ext>
            </a:extLst>
          </p:cNvPr>
          <p:cNvSpPr>
            <a:spLocks noGrp="1" noChangeArrowheads="1"/>
          </p:cNvSpPr>
          <p:nvPr>
            <p:ph type="title"/>
          </p:nvPr>
        </p:nvSpPr>
        <p:spPr>
          <a:xfrm>
            <a:off x="1150938" y="404813"/>
            <a:ext cx="7793037" cy="792162"/>
          </a:xfrm>
        </p:spPr>
        <p:txBody>
          <a:bodyPr/>
          <a:lstStyle/>
          <a:p>
            <a:pPr algn="ctr" eaLnBrk="1" hangingPunct="1">
              <a:defRPr/>
            </a:pP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ALE</a:t>
            </a:r>
            <a:endPar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63491" name="Rectangle 3">
            <a:extLst>
              <a:ext uri="{FF2B5EF4-FFF2-40B4-BE49-F238E27FC236}">
                <a16:creationId xmlns:a16="http://schemas.microsoft.com/office/drawing/2014/main" id="{2D3BF8E6-D1F3-CCEC-18F0-37CAE0056696}"/>
              </a:ext>
            </a:extLst>
          </p:cNvPr>
          <p:cNvSpPr>
            <a:spLocks noGrp="1" noChangeArrowheads="1"/>
          </p:cNvSpPr>
          <p:nvPr>
            <p:ph idx="1"/>
          </p:nvPr>
        </p:nvSpPr>
        <p:spPr>
          <a:xfrm>
            <a:off x="395288" y="1557338"/>
            <a:ext cx="8137525" cy="4114800"/>
          </a:xfrm>
        </p:spPr>
        <p:txBody>
          <a:bodyPr/>
          <a:lstStyle/>
          <a:p>
            <a:pPr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地址锁存允许信号，输出，</a:t>
            </a:r>
            <a:r>
              <a:rPr lang="zh-CN" altLang="en-US">
                <a:solidFill>
                  <a:schemeClr val="hlink"/>
                </a:solidFill>
                <a:latin typeface="Times New Roman" panose="02020603050405020304" pitchFamily="18" charset="0"/>
                <a:ea typeface="楷体_GB2312" pitchFamily="1" charset="-122"/>
              </a:rPr>
              <a:t>正脉冲</a:t>
            </a:r>
            <a:r>
              <a:rPr lang="zh-CN" altLang="en-US">
                <a:latin typeface="Times New Roman" panose="02020603050405020304" pitchFamily="18" charset="0"/>
                <a:ea typeface="楷体_GB2312" pitchFamily="1" charset="-122"/>
              </a:rPr>
              <a:t>。</a:t>
            </a:r>
          </a:p>
          <a:p>
            <a:pPr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提供给地址锁存器8282的控制信号。</a:t>
            </a:r>
          </a:p>
          <a:p>
            <a:pPr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在任何一个总线周期的</a:t>
            </a:r>
            <a:r>
              <a:rPr lang="en-US" altLang="zh-CN" b="1">
                <a:solidFill>
                  <a:schemeClr val="folHlink"/>
                </a:solidFill>
                <a:latin typeface="Times New Roman" panose="02020603050405020304" pitchFamily="18" charset="0"/>
                <a:ea typeface="楷体_GB2312" pitchFamily="1" charset="-122"/>
              </a:rPr>
              <a:t>T</a:t>
            </a:r>
            <a:r>
              <a:rPr lang="en-US" altLang="zh-CN" b="1" baseline="-25000">
                <a:solidFill>
                  <a:schemeClr val="folHlink"/>
                </a:solidFill>
                <a:latin typeface="Times New Roman" panose="02020603050405020304" pitchFamily="18" charset="0"/>
                <a:ea typeface="楷体_GB2312" pitchFamily="1" charset="-122"/>
              </a:rPr>
              <a:t>1</a:t>
            </a:r>
            <a:r>
              <a:rPr lang="zh-CN" altLang="en-US" b="1">
                <a:solidFill>
                  <a:schemeClr val="folHlink"/>
                </a:solidFill>
                <a:latin typeface="Times New Roman" panose="02020603050405020304" pitchFamily="18" charset="0"/>
                <a:ea typeface="楷体_GB2312" pitchFamily="1" charset="-122"/>
              </a:rPr>
              <a:t>状态</a:t>
            </a:r>
            <a:r>
              <a:rPr lang="zh-CN" altLang="en-US">
                <a:latin typeface="Times New Roman" panose="02020603050405020304" pitchFamily="18" charset="0"/>
                <a:ea typeface="楷体_GB2312" pitchFamily="1" charset="-122"/>
              </a:rPr>
              <a:t>，</a:t>
            </a:r>
            <a:r>
              <a:rPr lang="en-US" altLang="zh-CN">
                <a:latin typeface="Times New Roman" panose="02020603050405020304" pitchFamily="18" charset="0"/>
                <a:ea typeface="楷体_GB2312" pitchFamily="1" charset="-122"/>
              </a:rPr>
              <a:t>ALE</a:t>
            </a:r>
            <a:r>
              <a:rPr lang="zh-CN" altLang="en-US">
                <a:latin typeface="Times New Roman" panose="02020603050405020304" pitchFamily="18" charset="0"/>
                <a:ea typeface="楷体_GB2312" pitchFamily="1" charset="-122"/>
              </a:rPr>
              <a:t>输出有效电平，以表示当前总线上输出的是地址信息，要求进行地址锁存。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3491">
                                            <p:txEl>
                                              <p:pRg st="1" end="1"/>
                                            </p:txEl>
                                          </p:spTgt>
                                        </p:tgtEl>
                                        <p:attrNameLst>
                                          <p:attrName>style.visibility</p:attrName>
                                        </p:attrNameLst>
                                      </p:cBhvr>
                                      <p:to>
                                        <p:strVal val="visible"/>
                                      </p:to>
                                    </p:set>
                                    <p:animEffect transition="in" filter="dissolve">
                                      <p:cBhvr>
                                        <p:cTn id="7" dur="500"/>
                                        <p:tgtEl>
                                          <p:spTgt spid="6349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3491">
                                            <p:txEl>
                                              <p:pRg st="2" end="2"/>
                                            </p:txEl>
                                          </p:spTgt>
                                        </p:tgtEl>
                                        <p:attrNameLst>
                                          <p:attrName>style.visibility</p:attrName>
                                        </p:attrNameLst>
                                      </p:cBhvr>
                                      <p:to>
                                        <p:strVal val="visible"/>
                                      </p:to>
                                    </p:set>
                                    <p:animEffect transition="in" filter="dissolve">
                                      <p:cBhvr>
                                        <p:cTn id="12" dur="500"/>
                                        <p:tgtEl>
                                          <p:spTgt spid="634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88D68AE5-589B-5B69-9843-1C88C9B59EC0}"/>
              </a:ext>
            </a:extLst>
          </p:cNvPr>
          <p:cNvSpPr>
            <a:spLocks noGrp="1" noChangeArrowheads="1"/>
          </p:cNvSpPr>
          <p:nvPr>
            <p:ph type="title"/>
          </p:nvPr>
        </p:nvSpPr>
        <p:spPr>
          <a:xfrm>
            <a:off x="1150938" y="333375"/>
            <a:ext cx="7793037" cy="865188"/>
          </a:xfrm>
        </p:spPr>
        <p:txBody>
          <a:bodyPr/>
          <a:lstStyle/>
          <a:p>
            <a:pPr algn="ctr" eaLnBrk="1" hangingPunct="1">
              <a:defRPr/>
            </a:pP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RESET</a:t>
            </a:r>
            <a:endPar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64515" name="Rectangle 3">
            <a:extLst>
              <a:ext uri="{FF2B5EF4-FFF2-40B4-BE49-F238E27FC236}">
                <a16:creationId xmlns:a16="http://schemas.microsoft.com/office/drawing/2014/main" id="{3F48C2CD-77E6-8B93-595A-910B07353E52}"/>
              </a:ext>
            </a:extLst>
          </p:cNvPr>
          <p:cNvSpPr>
            <a:spLocks noGrp="1" noChangeArrowheads="1"/>
          </p:cNvSpPr>
          <p:nvPr>
            <p:ph idx="1"/>
          </p:nvPr>
        </p:nvSpPr>
        <p:spPr>
          <a:xfrm>
            <a:off x="468313" y="1628775"/>
            <a:ext cx="8064500" cy="1584325"/>
          </a:xfrm>
        </p:spPr>
        <p:txBody>
          <a:bodyPr/>
          <a:lstStyle/>
          <a:p>
            <a:pPr eaLnBrk="1" hangingPunct="1">
              <a:buFont typeface="Wingdings" panose="05000000000000000000" pitchFamily="2" charset="2"/>
              <a:buChar char="Ø"/>
            </a:pPr>
            <a:r>
              <a:rPr lang="zh-CN" altLang="en-US" sz="2800">
                <a:latin typeface="Times New Roman" panose="02020603050405020304" pitchFamily="18" charset="0"/>
                <a:ea typeface="楷体_GB2312" pitchFamily="1" charset="-122"/>
              </a:rPr>
              <a:t>复位信号，输入，高电平有效。</a:t>
            </a:r>
          </a:p>
          <a:p>
            <a:pPr eaLnBrk="1" hangingPunct="1">
              <a:buFont typeface="Wingdings" panose="05000000000000000000" pitchFamily="2" charset="2"/>
              <a:buChar char="Ø"/>
            </a:pPr>
            <a:r>
              <a:rPr lang="zh-CN" altLang="en-US" sz="2800" b="1">
                <a:solidFill>
                  <a:schemeClr val="folHlink"/>
                </a:solidFill>
                <a:latin typeface="Times New Roman" panose="02020603050405020304" pitchFamily="18" charset="0"/>
                <a:ea typeface="楷体_GB2312" pitchFamily="1" charset="-122"/>
              </a:rPr>
              <a:t>至少维持4个时钟周期的高电平</a:t>
            </a:r>
            <a:r>
              <a:rPr lang="zh-CN" altLang="en-US" sz="2800">
                <a:latin typeface="Times New Roman" panose="02020603050405020304" pitchFamily="18" charset="0"/>
                <a:ea typeface="楷体_GB2312" pitchFamily="1" charset="-122"/>
              </a:rPr>
              <a:t>，接通电源时间不能小于</a:t>
            </a:r>
            <a:r>
              <a:rPr lang="en-US" altLang="zh-CN" sz="2800">
                <a:latin typeface="Times New Roman" panose="02020603050405020304" pitchFamily="18" charset="0"/>
                <a:ea typeface="楷体_GB2312" pitchFamily="1" charset="-122"/>
              </a:rPr>
              <a:t>50μs</a:t>
            </a:r>
            <a:r>
              <a:rPr lang="zh-CN" altLang="en-US" sz="2800">
                <a:latin typeface="Times New Roman" panose="02020603050405020304" pitchFamily="18" charset="0"/>
                <a:ea typeface="楷体_GB2312" pitchFamily="1" charset="-122"/>
              </a:rPr>
              <a:t>。</a:t>
            </a:r>
          </a:p>
        </p:txBody>
      </p:sp>
      <p:pic>
        <p:nvPicPr>
          <p:cNvPr id="64516" name="Picture 4">
            <a:extLst>
              <a:ext uri="{FF2B5EF4-FFF2-40B4-BE49-F238E27FC236}">
                <a16:creationId xmlns:a16="http://schemas.microsoft.com/office/drawing/2014/main" id="{864D658E-41AF-3772-2991-CB362E1820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3357563"/>
            <a:ext cx="7704137"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nodeType="clickEffect">
                                  <p:stCondLst>
                                    <p:cond delay="0"/>
                                  </p:stCondLst>
                                  <p:childTnLst>
                                    <p:set>
                                      <p:cBhvr>
                                        <p:cTn id="6" dur="1" fill="hold">
                                          <p:stCondLst>
                                            <p:cond delay="0"/>
                                          </p:stCondLst>
                                        </p:cTn>
                                        <p:tgtEl>
                                          <p:spTgt spid="64515">
                                            <p:txEl>
                                              <p:pRg st="1" end="1"/>
                                            </p:txEl>
                                          </p:spTgt>
                                        </p:tgtEl>
                                        <p:attrNameLst>
                                          <p:attrName>style.visibility</p:attrName>
                                        </p:attrNameLst>
                                      </p:cBhvr>
                                      <p:to>
                                        <p:strVal val="visible"/>
                                      </p:to>
                                    </p:set>
                                    <p:animEffect transition="in" filter="barn(inHorizontal)">
                                      <p:cBhvr>
                                        <p:cTn id="7" dur="500"/>
                                        <p:tgtEl>
                                          <p:spTgt spid="645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64516"/>
                                        </p:tgtEl>
                                        <p:attrNameLst>
                                          <p:attrName>style.visibility</p:attrName>
                                        </p:attrNameLst>
                                      </p:cBhvr>
                                      <p:to>
                                        <p:strVal val="visible"/>
                                      </p:to>
                                    </p:set>
                                    <p:anim calcmode="lin" valueType="num">
                                      <p:cBhvr additive="base">
                                        <p:cTn id="12" dur="500" fill="hold"/>
                                        <p:tgtEl>
                                          <p:spTgt spid="64516"/>
                                        </p:tgtEl>
                                        <p:attrNameLst>
                                          <p:attrName>ppt_x</p:attrName>
                                        </p:attrNameLst>
                                      </p:cBhvr>
                                      <p:tavLst>
                                        <p:tav tm="0">
                                          <p:val>
                                            <p:strVal val="#ppt_x"/>
                                          </p:val>
                                        </p:tav>
                                        <p:tav tm="100000">
                                          <p:val>
                                            <p:strVal val="#ppt_x"/>
                                          </p:val>
                                        </p:tav>
                                      </p:tavLst>
                                    </p:anim>
                                    <p:anim calcmode="lin" valueType="num">
                                      <p:cBhvr additive="base">
                                        <p:cTn id="13" dur="500" fill="hold"/>
                                        <p:tgtEl>
                                          <p:spTgt spid="645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B9AEC116-B2E6-3844-8F61-3D23C29B273D}"/>
              </a:ext>
            </a:extLst>
          </p:cNvPr>
          <p:cNvSpPr>
            <a:spLocks noGrp="1" noChangeArrowheads="1"/>
          </p:cNvSpPr>
          <p:nvPr>
            <p:ph type="title"/>
          </p:nvPr>
        </p:nvSpPr>
        <p:spPr>
          <a:xfrm>
            <a:off x="1150938" y="404813"/>
            <a:ext cx="7793037" cy="792162"/>
          </a:xfrm>
        </p:spPr>
        <p:txBody>
          <a:bodyPr/>
          <a:lstStyle/>
          <a:p>
            <a:pPr algn="ctr" eaLnBrk="1" hangingPunct="1">
              <a:defRPr/>
            </a:pP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READY</a:t>
            </a:r>
            <a:endPar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65539" name="Rectangle 3">
            <a:extLst>
              <a:ext uri="{FF2B5EF4-FFF2-40B4-BE49-F238E27FC236}">
                <a16:creationId xmlns:a16="http://schemas.microsoft.com/office/drawing/2014/main" id="{6755D0E1-3AD7-BF99-7848-07A2674A095B}"/>
              </a:ext>
            </a:extLst>
          </p:cNvPr>
          <p:cNvSpPr>
            <a:spLocks noGrp="1" noChangeArrowheads="1"/>
          </p:cNvSpPr>
          <p:nvPr>
            <p:ph idx="1"/>
          </p:nvPr>
        </p:nvSpPr>
        <p:spPr>
          <a:xfrm>
            <a:off x="468313" y="1557338"/>
            <a:ext cx="8135937" cy="4114800"/>
          </a:xfrm>
        </p:spPr>
        <p:txBody>
          <a:bodyPr/>
          <a:lstStyle/>
          <a:p>
            <a:pPr eaLnBrk="1" hangingPunct="1">
              <a:spcBef>
                <a:spcPct val="50000"/>
              </a:spcBef>
              <a:buFont typeface="Wingdings" panose="05000000000000000000" pitchFamily="2" charset="2"/>
              <a:buChar char="Ø"/>
            </a:pPr>
            <a:r>
              <a:rPr lang="en-US" altLang="zh-CN">
                <a:latin typeface="Times New Roman" panose="02020603050405020304" pitchFamily="18" charset="0"/>
                <a:ea typeface="楷体_GB2312" pitchFamily="1" charset="-122"/>
              </a:rPr>
              <a:t>“</a:t>
            </a:r>
            <a:r>
              <a:rPr lang="zh-CN" altLang="en-US">
                <a:latin typeface="Times New Roman" panose="02020603050405020304" pitchFamily="18" charset="0"/>
                <a:ea typeface="楷体_GB2312" pitchFamily="1" charset="-122"/>
              </a:rPr>
              <a:t>准备好”信号，输入，高电平有效</a:t>
            </a:r>
          </a:p>
          <a:p>
            <a:pPr eaLnBrk="1" hangingPunct="1">
              <a:spcBef>
                <a:spcPct val="50000"/>
              </a:spcBef>
              <a:buFont typeface="Wingdings" panose="05000000000000000000" pitchFamily="2" charset="2"/>
              <a:buChar char="Ø"/>
            </a:pPr>
            <a:r>
              <a:rPr lang="zh-CN" altLang="en-US">
                <a:latin typeface="Times New Roman" panose="02020603050405020304" pitchFamily="18" charset="0"/>
                <a:ea typeface="楷体_GB2312" pitchFamily="1" charset="-122"/>
              </a:rPr>
              <a:t>由所寻址的存储器或</a:t>
            </a:r>
            <a:r>
              <a:rPr lang="en-US" altLang="zh-CN">
                <a:latin typeface="Times New Roman" panose="02020603050405020304" pitchFamily="18" charset="0"/>
                <a:ea typeface="楷体_GB2312" pitchFamily="1" charset="-122"/>
              </a:rPr>
              <a:t>I/O</a:t>
            </a:r>
            <a:r>
              <a:rPr lang="zh-CN" altLang="en-US">
                <a:latin typeface="Times New Roman" panose="02020603050405020304" pitchFamily="18" charset="0"/>
                <a:ea typeface="楷体_GB2312" pitchFamily="1" charset="-122"/>
              </a:rPr>
              <a:t>端口发来的</a:t>
            </a:r>
            <a:r>
              <a:rPr lang="zh-CN" altLang="en-US" b="1">
                <a:solidFill>
                  <a:schemeClr val="folHlink"/>
                </a:solidFill>
                <a:latin typeface="Times New Roman" panose="02020603050405020304" pitchFamily="18" charset="0"/>
                <a:ea typeface="楷体_GB2312" pitchFamily="1" charset="-122"/>
              </a:rPr>
              <a:t>响应信号</a:t>
            </a:r>
            <a:r>
              <a:rPr lang="zh-CN" altLang="en-US">
                <a:latin typeface="Times New Roman" panose="02020603050405020304" pitchFamily="18" charset="0"/>
                <a:ea typeface="楷体_GB2312" pitchFamily="1" charset="-122"/>
              </a:rPr>
              <a:t>，表明存储器或</a:t>
            </a:r>
            <a:r>
              <a:rPr lang="en-US" altLang="zh-CN">
                <a:latin typeface="Times New Roman" panose="02020603050405020304" pitchFamily="18" charset="0"/>
                <a:ea typeface="楷体_GB2312" pitchFamily="1" charset="-122"/>
              </a:rPr>
              <a:t>I/O</a:t>
            </a:r>
            <a:r>
              <a:rPr lang="zh-CN" altLang="en-US">
                <a:latin typeface="Times New Roman" panose="02020603050405020304" pitchFamily="18" charset="0"/>
                <a:ea typeface="楷体_GB2312" pitchFamily="1" charset="-122"/>
              </a:rPr>
              <a:t>端口的状态。</a:t>
            </a:r>
          </a:p>
          <a:p>
            <a:pPr eaLnBrk="1" hangingPunct="1">
              <a:spcBef>
                <a:spcPct val="50000"/>
              </a:spcBef>
              <a:buFont typeface="Wingdings" panose="05000000000000000000" pitchFamily="2" charset="2"/>
              <a:buChar char="Ø"/>
            </a:pPr>
            <a:r>
              <a:rPr lang="en-US" altLang="zh-CN">
                <a:latin typeface="Times New Roman" panose="02020603050405020304" pitchFamily="18" charset="0"/>
                <a:ea typeface="楷体_GB2312" pitchFamily="1" charset="-122"/>
              </a:rPr>
              <a:t>CPU</a:t>
            </a:r>
            <a:r>
              <a:rPr lang="zh-CN" altLang="en-US">
                <a:latin typeface="Times New Roman" panose="02020603050405020304" pitchFamily="18" charset="0"/>
                <a:ea typeface="楷体_GB2312" pitchFamily="1" charset="-122"/>
              </a:rPr>
              <a:t>在</a:t>
            </a:r>
            <a:r>
              <a:rPr lang="en-US" altLang="zh-CN">
                <a:solidFill>
                  <a:schemeClr val="hlink"/>
                </a:solidFill>
                <a:latin typeface="Times New Roman" panose="02020603050405020304" pitchFamily="18" charset="0"/>
                <a:ea typeface="楷体_GB2312" pitchFamily="1" charset="-122"/>
              </a:rPr>
              <a:t>T</a:t>
            </a:r>
            <a:r>
              <a:rPr lang="en-US" altLang="zh-CN" baseline="-25000">
                <a:solidFill>
                  <a:schemeClr val="hlink"/>
                </a:solidFill>
                <a:latin typeface="Times New Roman" panose="02020603050405020304" pitchFamily="18" charset="0"/>
                <a:ea typeface="楷体_GB2312" pitchFamily="1" charset="-122"/>
              </a:rPr>
              <a:t>3</a:t>
            </a:r>
            <a:r>
              <a:rPr lang="zh-CN" altLang="en-US">
                <a:latin typeface="Times New Roman" panose="02020603050405020304" pitchFamily="18" charset="0"/>
                <a:ea typeface="楷体_GB2312" pitchFamily="1" charset="-122"/>
              </a:rPr>
              <a:t>采样</a:t>
            </a:r>
            <a:r>
              <a:rPr lang="en-US" altLang="zh-CN">
                <a:latin typeface="Times New Roman" panose="02020603050405020304" pitchFamily="18" charset="0"/>
                <a:ea typeface="楷体_GB2312" pitchFamily="1" charset="-122"/>
              </a:rPr>
              <a:t>READY</a:t>
            </a:r>
            <a:r>
              <a:rPr lang="zh-CN" altLang="en-US">
                <a:latin typeface="Times New Roman" panose="02020603050405020304" pitchFamily="18" charset="0"/>
                <a:ea typeface="楷体_GB2312" pitchFamily="1" charset="-122"/>
              </a:rPr>
              <a:t>，若</a:t>
            </a:r>
            <a:r>
              <a:rPr lang="en-US" altLang="zh-CN">
                <a:latin typeface="Times New Roman" panose="02020603050405020304" pitchFamily="18" charset="0"/>
                <a:ea typeface="楷体_GB2312" pitchFamily="1" charset="-122"/>
              </a:rPr>
              <a:t>READY=0</a:t>
            </a:r>
            <a:r>
              <a:rPr lang="zh-CN" altLang="en-US">
                <a:latin typeface="Times New Roman" panose="02020603050405020304" pitchFamily="18" charset="0"/>
                <a:ea typeface="楷体_GB2312" pitchFamily="1" charset="-122"/>
              </a:rPr>
              <a:t>，则在</a:t>
            </a:r>
            <a:r>
              <a:rPr lang="en-US" altLang="zh-CN">
                <a:latin typeface="Times New Roman" panose="02020603050405020304" pitchFamily="18" charset="0"/>
                <a:ea typeface="楷体_GB2312" pitchFamily="1" charset="-122"/>
              </a:rPr>
              <a:t>T</a:t>
            </a:r>
            <a:r>
              <a:rPr lang="en-US" altLang="zh-CN" baseline="-25000">
                <a:latin typeface="Times New Roman" panose="02020603050405020304" pitchFamily="18" charset="0"/>
                <a:ea typeface="楷体_GB2312" pitchFamily="1" charset="-122"/>
              </a:rPr>
              <a:t>3</a:t>
            </a:r>
            <a:r>
              <a:rPr lang="zh-CN" altLang="en-US">
                <a:latin typeface="Times New Roman" panose="02020603050405020304" pitchFamily="18" charset="0"/>
                <a:ea typeface="楷体_GB2312" pitchFamily="1" charset="-122"/>
              </a:rPr>
              <a:t>后插入一个或多个</a:t>
            </a:r>
            <a:r>
              <a:rPr lang="en-US" altLang="zh-CN">
                <a:latin typeface="Times New Roman" panose="02020603050405020304" pitchFamily="18" charset="0"/>
                <a:ea typeface="楷体_GB2312" pitchFamily="1" charset="-122"/>
              </a:rPr>
              <a:t>T</a:t>
            </a:r>
            <a:r>
              <a:rPr lang="en-US" altLang="zh-CN" baseline="-25000">
                <a:latin typeface="Times New Roman" panose="02020603050405020304" pitchFamily="18" charset="0"/>
                <a:ea typeface="楷体_GB2312" pitchFamily="1" charset="-122"/>
              </a:rPr>
              <a:t>W</a:t>
            </a:r>
            <a:r>
              <a:rPr lang="zh-CN" altLang="en-US">
                <a:latin typeface="Times New Roman" panose="02020603050405020304" pitchFamily="18" charset="0"/>
                <a:ea typeface="楷体_GB2312" pitchFamily="1" charset="-122"/>
              </a:rPr>
              <a:t>，直至</a:t>
            </a:r>
            <a:r>
              <a:rPr lang="en-US" altLang="zh-CN">
                <a:latin typeface="Times New Roman" panose="02020603050405020304" pitchFamily="18" charset="0"/>
                <a:ea typeface="楷体_GB2312" pitchFamily="1" charset="-122"/>
              </a:rPr>
              <a:t>READY=1</a:t>
            </a:r>
            <a:r>
              <a:rPr lang="zh-CN" altLang="en-US">
                <a:latin typeface="Times New Roman" panose="02020603050405020304" pitchFamily="18" charset="0"/>
                <a:ea typeface="楷体_GB2312" pitchFamily="1" charset="-122"/>
              </a:rPr>
              <a:t>，进入</a:t>
            </a:r>
            <a:r>
              <a:rPr lang="en-US" altLang="zh-CN">
                <a:latin typeface="Times New Roman" panose="02020603050405020304" pitchFamily="18" charset="0"/>
                <a:ea typeface="楷体_GB2312" pitchFamily="1" charset="-122"/>
              </a:rPr>
              <a:t>T</a:t>
            </a:r>
            <a:r>
              <a:rPr lang="en-US" altLang="zh-CN" baseline="-25000">
                <a:latin typeface="Times New Roman" panose="02020603050405020304" pitchFamily="18" charset="0"/>
                <a:ea typeface="楷体_GB2312" pitchFamily="1" charset="-122"/>
              </a:rPr>
              <a:t>4</a:t>
            </a:r>
            <a:r>
              <a:rPr lang="zh-CN" altLang="en-US">
                <a:latin typeface="Times New Roman" panose="02020603050405020304" pitchFamily="18" charset="0"/>
                <a:ea typeface="楷体_GB2312" pitchFamily="1" charset="-122"/>
              </a:rPr>
              <a:t>，完成数据传送，从而结束当前总线周期。</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nodeType="clickEffect">
                                  <p:stCondLst>
                                    <p:cond delay="0"/>
                                  </p:stCondLst>
                                  <p:childTnLst>
                                    <p:set>
                                      <p:cBhvr>
                                        <p:cTn id="6" dur="1" fill="hold">
                                          <p:stCondLst>
                                            <p:cond delay="0"/>
                                          </p:stCondLst>
                                        </p:cTn>
                                        <p:tgtEl>
                                          <p:spTgt spid="65539">
                                            <p:txEl>
                                              <p:pRg st="1" end="1"/>
                                            </p:txEl>
                                          </p:spTgt>
                                        </p:tgtEl>
                                        <p:attrNameLst>
                                          <p:attrName>style.visibility</p:attrName>
                                        </p:attrNameLst>
                                      </p:cBhvr>
                                      <p:to>
                                        <p:strVal val="visible"/>
                                      </p:to>
                                    </p:set>
                                    <p:animEffect transition="in" filter="barn(inHorizontal)">
                                      <p:cBhvr>
                                        <p:cTn id="7" dur="500"/>
                                        <p:tgtEl>
                                          <p:spTgt spid="6553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nodeType="clickEffect">
                                  <p:stCondLst>
                                    <p:cond delay="0"/>
                                  </p:stCondLst>
                                  <p:childTnLst>
                                    <p:set>
                                      <p:cBhvr>
                                        <p:cTn id="11" dur="1" fill="hold">
                                          <p:stCondLst>
                                            <p:cond delay="0"/>
                                          </p:stCondLst>
                                        </p:cTn>
                                        <p:tgtEl>
                                          <p:spTgt spid="65539">
                                            <p:txEl>
                                              <p:pRg st="2" end="2"/>
                                            </p:txEl>
                                          </p:spTgt>
                                        </p:tgtEl>
                                        <p:attrNameLst>
                                          <p:attrName>style.visibility</p:attrName>
                                        </p:attrNameLst>
                                      </p:cBhvr>
                                      <p:to>
                                        <p:strVal val="visible"/>
                                      </p:to>
                                    </p:set>
                                    <p:animEffect transition="in" filter="barn(inHorizontal)">
                                      <p:cBhvr>
                                        <p:cTn id="12" dur="500"/>
                                        <p:tgtEl>
                                          <p:spTgt spid="655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891AACAE-D539-93BA-48F3-E0D047800FB3}"/>
              </a:ext>
            </a:extLst>
          </p:cNvPr>
          <p:cNvSpPr>
            <a:spLocks noGrp="1" noChangeArrowheads="1"/>
          </p:cNvSpPr>
          <p:nvPr>
            <p:ph type="body" sz="half" idx="1"/>
          </p:nvPr>
        </p:nvSpPr>
        <p:spPr>
          <a:xfrm>
            <a:off x="395288" y="1557338"/>
            <a:ext cx="8137525" cy="4114800"/>
          </a:xfrm>
        </p:spPr>
        <p:txBody>
          <a:bodyPr/>
          <a:lstStyle/>
          <a:p>
            <a:pPr eaLnBrk="1" hangingPunct="1">
              <a:spcBef>
                <a:spcPct val="50000"/>
              </a:spcBef>
              <a:buFont typeface="Wingdings" panose="05000000000000000000" pitchFamily="2" charset="2"/>
              <a:buChar char="Ø"/>
            </a:pPr>
            <a:r>
              <a:rPr lang="zh-CN" altLang="en-US" sz="2800">
                <a:latin typeface="Times New Roman" panose="02020603050405020304" pitchFamily="18" charset="0"/>
                <a:ea typeface="楷体_GB2312" pitchFamily="1" charset="-122"/>
              </a:rPr>
              <a:t>读信号，三态、输出。</a:t>
            </a:r>
          </a:p>
          <a:p>
            <a:pPr eaLnBrk="1" hangingPunct="1">
              <a:spcBef>
                <a:spcPct val="50000"/>
              </a:spcBef>
              <a:buFont typeface="Wingdings" panose="05000000000000000000" pitchFamily="2" charset="2"/>
              <a:buChar char="Ø"/>
            </a:pPr>
            <a:r>
              <a:rPr lang="en-US" altLang="zh-CN" sz="2800">
                <a:latin typeface="Times New Roman" panose="02020603050405020304" pitchFamily="18" charset="0"/>
                <a:ea typeface="楷体_GB2312" pitchFamily="1" charset="-122"/>
              </a:rPr>
              <a:t>       =0</a:t>
            </a:r>
            <a:r>
              <a:rPr lang="zh-CN" altLang="en-US" sz="2800">
                <a:latin typeface="Times New Roman" panose="02020603050405020304" pitchFamily="18" charset="0"/>
                <a:ea typeface="楷体_GB2312" pitchFamily="1" charset="-122"/>
              </a:rPr>
              <a:t>时，表示将要执行一个对存储器或</a:t>
            </a:r>
            <a:r>
              <a:rPr lang="en-US" altLang="zh-CN" sz="2800">
                <a:latin typeface="Times New Roman" panose="02020603050405020304" pitchFamily="18" charset="0"/>
                <a:ea typeface="楷体_GB2312" pitchFamily="1" charset="-122"/>
              </a:rPr>
              <a:t>I/O</a:t>
            </a:r>
            <a:r>
              <a:rPr lang="zh-CN" altLang="en-US" sz="2800">
                <a:latin typeface="Times New Roman" panose="02020603050405020304" pitchFamily="18" charset="0"/>
                <a:ea typeface="楷体_GB2312" pitchFamily="1" charset="-122"/>
              </a:rPr>
              <a:t>端口的读操作。</a:t>
            </a:r>
          </a:p>
        </p:txBody>
      </p:sp>
      <p:graphicFrame>
        <p:nvGraphicFramePr>
          <p:cNvPr id="78850" name="Object 3">
            <a:extLst>
              <a:ext uri="{FF2B5EF4-FFF2-40B4-BE49-F238E27FC236}">
                <a16:creationId xmlns:a16="http://schemas.microsoft.com/office/drawing/2014/main" id="{E28D166A-37F7-55FE-15C2-675ACC5FCD7B}"/>
              </a:ext>
            </a:extLst>
          </p:cNvPr>
          <p:cNvGraphicFramePr>
            <a:graphicFrameLocks noChangeAspect="1"/>
          </p:cNvGraphicFramePr>
          <p:nvPr>
            <p:ph sz="quarter" idx="2"/>
          </p:nvPr>
        </p:nvGraphicFramePr>
        <p:xfrm>
          <a:off x="4138613" y="692150"/>
          <a:ext cx="719137" cy="560388"/>
        </p:xfrm>
        <a:graphic>
          <a:graphicData uri="http://schemas.openxmlformats.org/presentationml/2006/ole">
            <mc:AlternateContent xmlns:mc="http://schemas.openxmlformats.org/markup-compatibility/2006">
              <mc:Choice xmlns:v="urn:schemas-microsoft-com:vml" Requires="v">
                <p:oleObj r:id="rId2" imgW="229797" imgH="178731" progId="Equation.3">
                  <p:embed/>
                </p:oleObj>
              </mc:Choice>
              <mc:Fallback>
                <p:oleObj r:id="rId2" imgW="229797" imgH="178731"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8613" y="692150"/>
                        <a:ext cx="719137" cy="560388"/>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6564" name="Object 4">
            <a:extLst>
              <a:ext uri="{FF2B5EF4-FFF2-40B4-BE49-F238E27FC236}">
                <a16:creationId xmlns:a16="http://schemas.microsoft.com/office/drawing/2014/main" id="{8DFFCCFD-185D-5AAA-54DD-B2BFD6499C70}"/>
              </a:ext>
            </a:extLst>
          </p:cNvPr>
          <p:cNvGraphicFramePr>
            <a:graphicFrameLocks noChangeAspect="1"/>
          </p:cNvGraphicFramePr>
          <p:nvPr>
            <p:ph sz="quarter" idx="3"/>
          </p:nvPr>
        </p:nvGraphicFramePr>
        <p:xfrm>
          <a:off x="827088" y="2205038"/>
          <a:ext cx="617537" cy="481012"/>
        </p:xfrm>
        <a:graphic>
          <a:graphicData uri="http://schemas.openxmlformats.org/presentationml/2006/ole">
            <mc:AlternateContent xmlns:mc="http://schemas.openxmlformats.org/markup-compatibility/2006">
              <mc:Choice xmlns:v="urn:schemas-microsoft-com:vml" Requires="v">
                <p:oleObj r:id="rId4" imgW="229797" imgH="178731" progId="Equation.3">
                  <p:embed/>
                </p:oleObj>
              </mc:Choice>
              <mc:Fallback>
                <p:oleObj r:id="rId4" imgW="229797" imgH="178731"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2205038"/>
                        <a:ext cx="617537" cy="481012"/>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6562">
                                            <p:txEl>
                                              <p:pRg st="1" end="1"/>
                                            </p:txEl>
                                          </p:spTgt>
                                        </p:tgtEl>
                                        <p:attrNameLst>
                                          <p:attrName>style.visibility</p:attrName>
                                        </p:attrNameLst>
                                      </p:cBhvr>
                                      <p:to>
                                        <p:strVal val="visible"/>
                                      </p:to>
                                    </p:set>
                                    <p:anim calcmode="lin" valueType="num">
                                      <p:cBhvr additive="base">
                                        <p:cTn id="7" dur="500" fill="hold"/>
                                        <p:tgtEl>
                                          <p:spTgt spid="6656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56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6564"/>
                                        </p:tgtEl>
                                        <p:attrNameLst>
                                          <p:attrName>style.visibility</p:attrName>
                                        </p:attrNameLst>
                                      </p:cBhvr>
                                      <p:to>
                                        <p:strVal val="visible"/>
                                      </p:to>
                                    </p:set>
                                    <p:anim calcmode="lin" valueType="num">
                                      <p:cBhvr additive="base">
                                        <p:cTn id="11" dur="500" fill="hold"/>
                                        <p:tgtEl>
                                          <p:spTgt spid="66564"/>
                                        </p:tgtEl>
                                        <p:attrNameLst>
                                          <p:attrName>ppt_x</p:attrName>
                                        </p:attrNameLst>
                                      </p:cBhvr>
                                      <p:tavLst>
                                        <p:tav tm="0">
                                          <p:val>
                                            <p:strVal val="#ppt_x"/>
                                          </p:val>
                                        </p:tav>
                                        <p:tav tm="100000">
                                          <p:val>
                                            <p:strVal val="#ppt_x"/>
                                          </p:val>
                                        </p:tav>
                                      </p:tavLst>
                                    </p:anim>
                                    <p:anim calcmode="lin" valueType="num">
                                      <p:cBhvr additive="base">
                                        <p:cTn id="12" dur="500" fill="hold"/>
                                        <p:tgtEl>
                                          <p:spTgt spid="665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11F001F6-C3FA-9EE1-BA16-311B61BC20B2}"/>
              </a:ext>
            </a:extLst>
          </p:cNvPr>
          <p:cNvSpPr>
            <a:spLocks noGrp="1" noChangeArrowheads="1"/>
          </p:cNvSpPr>
          <p:nvPr>
            <p:ph type="body" sz="half" idx="1"/>
          </p:nvPr>
        </p:nvSpPr>
        <p:spPr>
          <a:xfrm>
            <a:off x="395288" y="1557338"/>
            <a:ext cx="8137525" cy="4114800"/>
          </a:xfrm>
        </p:spPr>
        <p:txBody>
          <a:bodyPr/>
          <a:lstStyle/>
          <a:p>
            <a:pPr eaLnBrk="1" hangingPunct="1">
              <a:spcBef>
                <a:spcPct val="50000"/>
              </a:spcBef>
              <a:buFont typeface="Wingdings" panose="05000000000000000000" pitchFamily="2" charset="2"/>
              <a:buChar char="Ø"/>
            </a:pPr>
            <a:r>
              <a:rPr lang="zh-CN" altLang="en-US" sz="2800">
                <a:latin typeface="Times New Roman" panose="02020603050405020304" pitchFamily="18" charset="0"/>
                <a:ea typeface="楷体_GB2312" pitchFamily="1" charset="-122"/>
              </a:rPr>
              <a:t>写信号，三态、输出。</a:t>
            </a:r>
          </a:p>
          <a:p>
            <a:pPr eaLnBrk="1" hangingPunct="1">
              <a:spcBef>
                <a:spcPct val="50000"/>
              </a:spcBef>
              <a:buFont typeface="Wingdings" panose="05000000000000000000" pitchFamily="2" charset="2"/>
              <a:buChar char="Ø"/>
            </a:pPr>
            <a:r>
              <a:rPr lang="en-US" altLang="zh-CN" sz="2800">
                <a:latin typeface="Times New Roman" panose="02020603050405020304" pitchFamily="18" charset="0"/>
                <a:ea typeface="楷体_GB2312" pitchFamily="1" charset="-122"/>
              </a:rPr>
              <a:t>       =0</a:t>
            </a:r>
            <a:r>
              <a:rPr lang="zh-CN" altLang="en-US" sz="2800">
                <a:latin typeface="Times New Roman" panose="02020603050405020304" pitchFamily="18" charset="0"/>
                <a:ea typeface="楷体_GB2312" pitchFamily="1" charset="-122"/>
              </a:rPr>
              <a:t>时，表示将要执行一个对存储器或</a:t>
            </a:r>
            <a:r>
              <a:rPr lang="en-US" altLang="zh-CN" sz="2800">
                <a:latin typeface="Times New Roman" panose="02020603050405020304" pitchFamily="18" charset="0"/>
                <a:ea typeface="楷体_GB2312" pitchFamily="1" charset="-122"/>
              </a:rPr>
              <a:t>I/O</a:t>
            </a:r>
            <a:r>
              <a:rPr lang="zh-CN" altLang="en-US" sz="2800">
                <a:latin typeface="Times New Roman" panose="02020603050405020304" pitchFamily="18" charset="0"/>
                <a:ea typeface="楷体_GB2312" pitchFamily="1" charset="-122"/>
              </a:rPr>
              <a:t>端口的写操作。</a:t>
            </a:r>
            <a:endParaRPr lang="zh-CN" altLang="en-US" sz="2800"/>
          </a:p>
        </p:txBody>
      </p:sp>
      <p:graphicFrame>
        <p:nvGraphicFramePr>
          <p:cNvPr id="79874" name="Object 3">
            <a:extLst>
              <a:ext uri="{FF2B5EF4-FFF2-40B4-BE49-F238E27FC236}">
                <a16:creationId xmlns:a16="http://schemas.microsoft.com/office/drawing/2014/main" id="{5FC7A9BD-E4F1-E209-6CFB-23787565A242}"/>
              </a:ext>
            </a:extLst>
          </p:cNvPr>
          <p:cNvGraphicFramePr>
            <a:graphicFrameLocks noChangeAspect="1"/>
          </p:cNvGraphicFramePr>
          <p:nvPr>
            <p:ph sz="quarter" idx="2"/>
          </p:nvPr>
        </p:nvGraphicFramePr>
        <p:xfrm>
          <a:off x="4213225" y="692150"/>
          <a:ext cx="788988" cy="565150"/>
        </p:xfrm>
        <a:graphic>
          <a:graphicData uri="http://schemas.openxmlformats.org/presentationml/2006/ole">
            <mc:AlternateContent xmlns:mc="http://schemas.openxmlformats.org/markup-compatibility/2006">
              <mc:Choice xmlns:v="urn:schemas-microsoft-com:vml" Requires="v">
                <p:oleObj r:id="rId2" imgW="268096" imgH="191497" progId="Equation.3">
                  <p:embed/>
                </p:oleObj>
              </mc:Choice>
              <mc:Fallback>
                <p:oleObj r:id="rId2" imgW="268096" imgH="191497"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3225" y="692150"/>
                        <a:ext cx="788988" cy="565150"/>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7588" name="Object 4">
            <a:extLst>
              <a:ext uri="{FF2B5EF4-FFF2-40B4-BE49-F238E27FC236}">
                <a16:creationId xmlns:a16="http://schemas.microsoft.com/office/drawing/2014/main" id="{F90DD27E-DD9B-D37F-95BC-131C7D3A47C6}"/>
              </a:ext>
            </a:extLst>
          </p:cNvPr>
          <p:cNvGraphicFramePr>
            <a:graphicFrameLocks noChangeAspect="1"/>
          </p:cNvGraphicFramePr>
          <p:nvPr>
            <p:ph sz="quarter" idx="3"/>
          </p:nvPr>
        </p:nvGraphicFramePr>
        <p:xfrm>
          <a:off x="828675" y="2205038"/>
          <a:ext cx="633413" cy="454025"/>
        </p:xfrm>
        <a:graphic>
          <a:graphicData uri="http://schemas.openxmlformats.org/presentationml/2006/ole">
            <mc:AlternateContent xmlns:mc="http://schemas.openxmlformats.org/markup-compatibility/2006">
              <mc:Choice xmlns:v="urn:schemas-microsoft-com:vml" Requires="v">
                <p:oleObj r:id="rId2" imgW="268096" imgH="191497" progId="Equation.3">
                  <p:embed/>
                </p:oleObj>
              </mc:Choice>
              <mc:Fallback>
                <p:oleObj r:id="rId2" imgW="268096" imgH="191497"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675" y="2205038"/>
                        <a:ext cx="633413" cy="454025"/>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7586">
                                            <p:txEl>
                                              <p:pRg st="1" end="1"/>
                                            </p:txEl>
                                          </p:spTgt>
                                        </p:tgtEl>
                                        <p:attrNameLst>
                                          <p:attrName>style.visibility</p:attrName>
                                        </p:attrNameLst>
                                      </p:cBhvr>
                                      <p:to>
                                        <p:strVal val="visible"/>
                                      </p:to>
                                    </p:set>
                                    <p:animEffect transition="in" filter="slide(fromBottom)">
                                      <p:cBhvr>
                                        <p:cTn id="7" dur="500"/>
                                        <p:tgtEl>
                                          <p:spTgt spid="67586">
                                            <p:txEl>
                                              <p:pRg st="1" end="1"/>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67588"/>
                                        </p:tgtEl>
                                        <p:attrNameLst>
                                          <p:attrName>style.visibility</p:attrName>
                                        </p:attrNameLst>
                                      </p:cBhvr>
                                      <p:to>
                                        <p:strVal val="visible"/>
                                      </p:to>
                                    </p:set>
                                    <p:animEffect transition="in" filter="slide(fromBottom)">
                                      <p:cBhvr>
                                        <p:cTn id="10" dur="500"/>
                                        <p:tgtEl>
                                          <p:spTgt spid="67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4AF948D3-158A-0826-FE67-F97A4AD41714}"/>
              </a:ext>
            </a:extLst>
          </p:cNvPr>
          <p:cNvSpPr>
            <a:spLocks noGrp="1" noChangeArrowheads="1"/>
          </p:cNvSpPr>
          <p:nvPr>
            <p:ph type="body" sz="half" idx="1"/>
          </p:nvPr>
        </p:nvSpPr>
        <p:spPr>
          <a:xfrm>
            <a:off x="395288" y="1557338"/>
            <a:ext cx="8353425" cy="4114800"/>
          </a:xfrm>
        </p:spPr>
        <p:txBody>
          <a:bodyPr/>
          <a:lstStyle/>
          <a:p>
            <a:pPr eaLnBrk="1" hangingPunct="1">
              <a:buFont typeface="Wingdings" panose="05000000000000000000" pitchFamily="2" charset="2"/>
              <a:buChar char="Ø"/>
            </a:pPr>
            <a:r>
              <a:rPr lang="zh-CN" altLang="en-US" sz="2800">
                <a:latin typeface="Times New Roman" panose="02020603050405020304" pitchFamily="18" charset="0"/>
                <a:ea typeface="楷体_GB2312" pitchFamily="1" charset="-122"/>
              </a:rPr>
              <a:t>存储器/外设控制信号，输出</a:t>
            </a:r>
            <a:br>
              <a:rPr lang="zh-CN" altLang="en-US" sz="2800">
                <a:latin typeface="Times New Roman" panose="02020603050405020304" pitchFamily="18" charset="0"/>
                <a:ea typeface="楷体_GB2312" pitchFamily="1" charset="-122"/>
              </a:rPr>
            </a:br>
            <a:r>
              <a:rPr lang="zh-CN" altLang="en-US" sz="2800">
                <a:latin typeface="Times New Roman" panose="02020603050405020304" pitchFamily="18" charset="0"/>
                <a:ea typeface="楷体_GB2312" pitchFamily="1" charset="-122"/>
              </a:rPr>
              <a:t>             =1：访问存储器</a:t>
            </a:r>
            <a:br>
              <a:rPr lang="zh-CN" altLang="en-US" sz="2800">
                <a:latin typeface="Times New Roman" panose="02020603050405020304" pitchFamily="18" charset="0"/>
                <a:ea typeface="楷体_GB2312" pitchFamily="1" charset="-122"/>
              </a:rPr>
            </a:br>
            <a:r>
              <a:rPr lang="zh-CN" altLang="en-US" sz="2800">
                <a:latin typeface="Times New Roman" panose="02020603050405020304" pitchFamily="18" charset="0"/>
                <a:ea typeface="楷体_GB2312" pitchFamily="1" charset="-122"/>
              </a:rPr>
              <a:t>             =0：访问</a:t>
            </a:r>
            <a:r>
              <a:rPr lang="en-US" altLang="zh-CN" sz="2800">
                <a:latin typeface="Times New Roman" panose="02020603050405020304" pitchFamily="18" charset="0"/>
                <a:ea typeface="楷体_GB2312" pitchFamily="1" charset="-122"/>
              </a:rPr>
              <a:t>I/O</a:t>
            </a:r>
            <a:r>
              <a:rPr lang="zh-CN" altLang="en-US" sz="2800">
                <a:latin typeface="Times New Roman" panose="02020603050405020304" pitchFamily="18" charset="0"/>
                <a:ea typeface="楷体_GB2312" pitchFamily="1" charset="-122"/>
              </a:rPr>
              <a:t>端口</a:t>
            </a:r>
          </a:p>
          <a:p>
            <a:pPr eaLnBrk="1" hangingPunct="1">
              <a:buFont typeface="Wingdings" panose="05000000000000000000" pitchFamily="2" charset="2"/>
              <a:buChar char="Ø"/>
            </a:pPr>
            <a:r>
              <a:rPr lang="zh-CN" altLang="en-US" sz="2800">
                <a:latin typeface="Times New Roman" panose="02020603050405020304" pitchFamily="18" charset="0"/>
                <a:ea typeface="楷体_GB2312" pitchFamily="1" charset="-122"/>
              </a:rPr>
              <a:t>一般被用于存储芯片或</a:t>
            </a:r>
            <a:r>
              <a:rPr lang="en-US" altLang="zh-CN" sz="2800">
                <a:latin typeface="Times New Roman" panose="02020603050405020304" pitchFamily="18" charset="0"/>
                <a:ea typeface="楷体_GB2312" pitchFamily="1" charset="-122"/>
              </a:rPr>
              <a:t>I/O</a:t>
            </a:r>
            <a:r>
              <a:rPr lang="zh-CN" altLang="en-US" sz="2800">
                <a:latin typeface="Times New Roman" panose="02020603050405020304" pitchFamily="18" charset="0"/>
                <a:ea typeface="楷体_GB2312" pitchFamily="1" charset="-122"/>
              </a:rPr>
              <a:t>接口芯片的片选</a:t>
            </a:r>
            <a:r>
              <a:rPr lang="en-US" altLang="zh-CN" sz="2800">
                <a:latin typeface="Times New Roman" panose="02020603050405020304" pitchFamily="18" charset="0"/>
                <a:ea typeface="楷体_GB2312" pitchFamily="1" charset="-122"/>
              </a:rPr>
              <a:t>(    )</a:t>
            </a:r>
            <a:r>
              <a:rPr lang="zh-CN" altLang="en-US" sz="2800">
                <a:latin typeface="Times New Roman" panose="02020603050405020304" pitchFamily="18" charset="0"/>
                <a:ea typeface="楷体_GB2312" pitchFamily="1" charset="-122"/>
              </a:rPr>
              <a:t>译码电路中。</a:t>
            </a:r>
          </a:p>
        </p:txBody>
      </p:sp>
      <p:graphicFrame>
        <p:nvGraphicFramePr>
          <p:cNvPr id="68611" name="Object 3">
            <a:extLst>
              <a:ext uri="{FF2B5EF4-FFF2-40B4-BE49-F238E27FC236}">
                <a16:creationId xmlns:a16="http://schemas.microsoft.com/office/drawing/2014/main" id="{90AD702D-02D4-C7B0-1ADC-1AC737B98A62}"/>
              </a:ext>
            </a:extLst>
          </p:cNvPr>
          <p:cNvGraphicFramePr>
            <a:graphicFrameLocks noChangeAspect="1"/>
          </p:cNvGraphicFramePr>
          <p:nvPr>
            <p:ph sz="quarter" idx="2"/>
          </p:nvPr>
        </p:nvGraphicFramePr>
        <p:xfrm>
          <a:off x="7451725" y="2997200"/>
          <a:ext cx="433388" cy="431800"/>
        </p:xfrm>
        <a:graphic>
          <a:graphicData uri="http://schemas.openxmlformats.org/presentationml/2006/ole">
            <mc:AlternateContent xmlns:mc="http://schemas.openxmlformats.org/markup-compatibility/2006">
              <mc:Choice xmlns:v="urn:schemas-microsoft-com:vml" Requires="v">
                <p:oleObj r:id="rId2" imgW="204800" imgH="192000" progId="Equation.3">
                  <p:embed/>
                </p:oleObj>
              </mc:Choice>
              <mc:Fallback>
                <p:oleObj r:id="rId2" imgW="204800" imgH="1920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1725" y="2997200"/>
                        <a:ext cx="433388" cy="431800"/>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0899" name="Object 4">
            <a:extLst>
              <a:ext uri="{FF2B5EF4-FFF2-40B4-BE49-F238E27FC236}">
                <a16:creationId xmlns:a16="http://schemas.microsoft.com/office/drawing/2014/main" id="{87F581AA-0B44-C349-87CA-A6D62BD0ACE5}"/>
              </a:ext>
            </a:extLst>
          </p:cNvPr>
          <p:cNvGraphicFramePr>
            <a:graphicFrameLocks noChangeAspect="1"/>
          </p:cNvGraphicFramePr>
          <p:nvPr/>
        </p:nvGraphicFramePr>
        <p:xfrm>
          <a:off x="3995738" y="692150"/>
          <a:ext cx="995362" cy="550863"/>
        </p:xfrm>
        <a:graphic>
          <a:graphicData uri="http://schemas.openxmlformats.org/presentationml/2006/ole">
            <mc:AlternateContent xmlns:mc="http://schemas.openxmlformats.org/markup-compatibility/2006">
              <mc:Choice xmlns:v="urn:schemas-microsoft-com:vml" Requires="v">
                <p:oleObj r:id="rId4" imgW="344395" imgH="191330" progId="Equation.3">
                  <p:embed/>
                </p:oleObj>
              </mc:Choice>
              <mc:Fallback>
                <p:oleObj r:id="rId4" imgW="344395" imgH="19133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95738" y="692150"/>
                        <a:ext cx="995362"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0900" name="Object 5">
            <a:extLst>
              <a:ext uri="{FF2B5EF4-FFF2-40B4-BE49-F238E27FC236}">
                <a16:creationId xmlns:a16="http://schemas.microsoft.com/office/drawing/2014/main" id="{D01C34F3-C545-FABC-3E20-CFF4EB2A24A5}"/>
              </a:ext>
            </a:extLst>
          </p:cNvPr>
          <p:cNvGraphicFramePr>
            <a:graphicFrameLocks noChangeAspect="1"/>
          </p:cNvGraphicFramePr>
          <p:nvPr/>
        </p:nvGraphicFramePr>
        <p:xfrm>
          <a:off x="1116013" y="2484438"/>
          <a:ext cx="792162" cy="439737"/>
        </p:xfrm>
        <a:graphic>
          <a:graphicData uri="http://schemas.openxmlformats.org/presentationml/2006/ole">
            <mc:AlternateContent xmlns:mc="http://schemas.openxmlformats.org/markup-compatibility/2006">
              <mc:Choice xmlns:v="urn:schemas-microsoft-com:vml" Requires="v">
                <p:oleObj r:id="rId6" imgW="344395" imgH="191330" progId="Equation.3">
                  <p:embed/>
                </p:oleObj>
              </mc:Choice>
              <mc:Fallback>
                <p:oleObj r:id="rId6" imgW="344395" imgH="19133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2484438"/>
                        <a:ext cx="792162"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0901" name="Object 6">
            <a:extLst>
              <a:ext uri="{FF2B5EF4-FFF2-40B4-BE49-F238E27FC236}">
                <a16:creationId xmlns:a16="http://schemas.microsoft.com/office/drawing/2014/main" id="{5085967F-DC30-DE78-70FE-543BA0AAF308}"/>
              </a:ext>
            </a:extLst>
          </p:cNvPr>
          <p:cNvGraphicFramePr>
            <a:graphicFrameLocks noChangeAspect="1"/>
          </p:cNvGraphicFramePr>
          <p:nvPr/>
        </p:nvGraphicFramePr>
        <p:xfrm>
          <a:off x="1116013" y="2060575"/>
          <a:ext cx="792162" cy="438150"/>
        </p:xfrm>
        <a:graphic>
          <a:graphicData uri="http://schemas.openxmlformats.org/presentationml/2006/ole">
            <mc:AlternateContent xmlns:mc="http://schemas.openxmlformats.org/markup-compatibility/2006">
              <mc:Choice xmlns:v="urn:schemas-microsoft-com:vml" Requires="v">
                <p:oleObj r:id="rId6" imgW="344395" imgH="191330" progId="Equation.3">
                  <p:embed/>
                </p:oleObj>
              </mc:Choice>
              <mc:Fallback>
                <p:oleObj r:id="rId6" imgW="344395" imgH="19133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2060575"/>
                        <a:ext cx="79216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80902" name="Picture 4">
            <a:extLst>
              <a:ext uri="{FF2B5EF4-FFF2-40B4-BE49-F238E27FC236}">
                <a16:creationId xmlns:a16="http://schemas.microsoft.com/office/drawing/2014/main" id="{3BFBD565-B356-92C3-8E95-B7473B530C7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2850" y="3573463"/>
            <a:ext cx="6049963" cy="311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8610">
                                            <p:txEl>
                                              <p:pRg st="1" end="1"/>
                                            </p:txEl>
                                          </p:spTgt>
                                        </p:tgtEl>
                                        <p:attrNameLst>
                                          <p:attrName>style.visibility</p:attrName>
                                        </p:attrNameLst>
                                      </p:cBhvr>
                                      <p:to>
                                        <p:strVal val="visible"/>
                                      </p:to>
                                    </p:set>
                                    <p:anim calcmode="lin" valueType="num">
                                      <p:cBhvr>
                                        <p:cTn id="7" dur="500" fill="hold"/>
                                        <p:tgtEl>
                                          <p:spTgt spid="68610">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68610">
                                            <p:txEl>
                                              <p:pRg st="1" end="1"/>
                                            </p:txEl>
                                          </p:spTgt>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68611"/>
                                        </p:tgtEl>
                                        <p:attrNameLst>
                                          <p:attrName>style.visibility</p:attrName>
                                        </p:attrNameLst>
                                      </p:cBhvr>
                                      <p:to>
                                        <p:strVal val="visible"/>
                                      </p:to>
                                    </p:set>
                                    <p:anim calcmode="lin" valueType="num">
                                      <p:cBhvr>
                                        <p:cTn id="11" dur="500" fill="hold"/>
                                        <p:tgtEl>
                                          <p:spTgt spid="68611"/>
                                        </p:tgtEl>
                                        <p:attrNameLst>
                                          <p:attrName>ppt_w</p:attrName>
                                        </p:attrNameLst>
                                      </p:cBhvr>
                                      <p:tavLst>
                                        <p:tav tm="0">
                                          <p:val>
                                            <p:fltVal val="0"/>
                                          </p:val>
                                        </p:tav>
                                        <p:tav tm="100000">
                                          <p:val>
                                            <p:strVal val="#ppt_w"/>
                                          </p:val>
                                        </p:tav>
                                      </p:tavLst>
                                    </p:anim>
                                    <p:anim calcmode="lin" valueType="num">
                                      <p:cBhvr>
                                        <p:cTn id="12" dur="500" fill="hold"/>
                                        <p:tgtEl>
                                          <p:spTgt spid="686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0"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91D6711F-D512-C5DD-2749-0E2073E0C673}"/>
              </a:ext>
            </a:extLst>
          </p:cNvPr>
          <p:cNvSpPr>
            <a:spLocks noGrp="1" noChangeArrowheads="1"/>
          </p:cNvSpPr>
          <p:nvPr>
            <p:ph type="title"/>
          </p:nvPr>
        </p:nvSpPr>
        <p:spPr>
          <a:xfrm>
            <a:off x="1150938" y="404813"/>
            <a:ext cx="7793037" cy="792162"/>
          </a:xfrm>
        </p:spPr>
        <p:txBody>
          <a:bodyPr/>
          <a:lstStyle/>
          <a:p>
            <a:pPr algn="ctr" eaLnBrk="1" hangingPunct="1">
              <a:defRPr/>
            </a:pP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NMI</a:t>
            </a:r>
            <a:endPar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69635" name="Rectangle 3">
            <a:extLst>
              <a:ext uri="{FF2B5EF4-FFF2-40B4-BE49-F238E27FC236}">
                <a16:creationId xmlns:a16="http://schemas.microsoft.com/office/drawing/2014/main" id="{8D63088F-99B3-2D93-DA4E-15F9642A5E3F}"/>
              </a:ext>
            </a:extLst>
          </p:cNvPr>
          <p:cNvSpPr>
            <a:spLocks noGrp="1" noChangeArrowheads="1"/>
          </p:cNvSpPr>
          <p:nvPr>
            <p:ph idx="1"/>
          </p:nvPr>
        </p:nvSpPr>
        <p:spPr>
          <a:xfrm>
            <a:off x="395288" y="1700213"/>
            <a:ext cx="8075612" cy="2011362"/>
          </a:xfrm>
        </p:spPr>
        <p:txBody>
          <a:bodyPr/>
          <a:lstStyle/>
          <a:p>
            <a:pPr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非屏蔽中断请求信号，输入，</a:t>
            </a:r>
            <a:r>
              <a:rPr lang="zh-CN" altLang="en-US">
                <a:solidFill>
                  <a:schemeClr val="hlink"/>
                </a:solidFill>
                <a:latin typeface="Times New Roman" panose="02020603050405020304" pitchFamily="18" charset="0"/>
                <a:ea typeface="楷体_GB2312" pitchFamily="1" charset="-122"/>
              </a:rPr>
              <a:t>上升沿有效</a:t>
            </a:r>
            <a:r>
              <a:rPr lang="zh-CN" altLang="en-US">
                <a:latin typeface="Times New Roman" panose="02020603050405020304" pitchFamily="18" charset="0"/>
                <a:ea typeface="楷体_GB2312" pitchFamily="1" charset="-122"/>
              </a:rPr>
              <a:t>。</a:t>
            </a:r>
          </a:p>
          <a:p>
            <a:pPr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此请求</a:t>
            </a:r>
            <a:r>
              <a:rPr lang="zh-CN" altLang="en-US">
                <a:solidFill>
                  <a:schemeClr val="hlink"/>
                </a:solidFill>
                <a:latin typeface="Times New Roman" panose="02020603050405020304" pitchFamily="18" charset="0"/>
                <a:ea typeface="楷体_GB2312" pitchFamily="1" charset="-122"/>
              </a:rPr>
              <a:t>不受</a:t>
            </a:r>
            <a:r>
              <a:rPr lang="en-US" altLang="zh-CN">
                <a:solidFill>
                  <a:schemeClr val="hlink"/>
                </a:solidFill>
                <a:latin typeface="Times New Roman" panose="02020603050405020304" pitchFamily="18" charset="0"/>
                <a:ea typeface="楷体_GB2312" pitchFamily="1" charset="-122"/>
              </a:rPr>
              <a:t>IF</a:t>
            </a:r>
            <a:r>
              <a:rPr lang="zh-CN" altLang="en-US">
                <a:solidFill>
                  <a:schemeClr val="hlink"/>
                </a:solidFill>
                <a:latin typeface="Times New Roman" panose="02020603050405020304" pitchFamily="18" charset="0"/>
                <a:ea typeface="楷体_GB2312" pitchFamily="1" charset="-122"/>
              </a:rPr>
              <a:t>的影响</a:t>
            </a:r>
            <a:r>
              <a:rPr lang="zh-CN" altLang="en-US">
                <a:latin typeface="Times New Roman" panose="02020603050405020304" pitchFamily="18" charset="0"/>
                <a:ea typeface="楷体_GB2312" pitchFamily="1" charset="-122"/>
              </a:rPr>
              <a:t>。只要此信号一出现，</a:t>
            </a:r>
            <a:r>
              <a:rPr lang="en-US" altLang="zh-CN">
                <a:latin typeface="Times New Roman" panose="02020603050405020304" pitchFamily="18" charset="0"/>
                <a:ea typeface="楷体_GB2312" pitchFamily="1" charset="-122"/>
              </a:rPr>
              <a:t>CPU</a:t>
            </a:r>
            <a:r>
              <a:rPr lang="zh-CN" altLang="en-US">
                <a:latin typeface="Times New Roman" panose="02020603050405020304" pitchFamily="18" charset="0"/>
                <a:ea typeface="楷体_GB2312" pitchFamily="1" charset="-122"/>
              </a:rPr>
              <a:t>就在现行指令结束后响应中断。</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nodeType="clickEffect">
                                  <p:stCondLst>
                                    <p:cond delay="0"/>
                                  </p:stCondLst>
                                  <p:childTnLst>
                                    <p:set>
                                      <p:cBhvr>
                                        <p:cTn id="6" dur="1" fill="hold">
                                          <p:stCondLst>
                                            <p:cond delay="0"/>
                                          </p:stCondLst>
                                        </p:cTn>
                                        <p:tgtEl>
                                          <p:spTgt spid="69635">
                                            <p:txEl>
                                              <p:pRg st="1" end="1"/>
                                            </p:txEl>
                                          </p:spTgt>
                                        </p:tgtEl>
                                        <p:attrNameLst>
                                          <p:attrName>style.visibility</p:attrName>
                                        </p:attrNameLst>
                                      </p:cBhvr>
                                      <p:to>
                                        <p:strVal val="visible"/>
                                      </p:to>
                                    </p:set>
                                    <p:animEffect transition="in" filter="barn(inHorizontal)">
                                      <p:cBhvr>
                                        <p:cTn id="7" dur="500"/>
                                        <p:tgtEl>
                                          <p:spTgt spid="696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AE0300EC-D4AD-0EE7-44C1-960A0D6EAA92}"/>
              </a:ext>
            </a:extLst>
          </p:cNvPr>
          <p:cNvSpPr>
            <a:spLocks noGrp="1" noChangeArrowheads="1"/>
          </p:cNvSpPr>
          <p:nvPr>
            <p:ph type="title"/>
          </p:nvPr>
        </p:nvSpPr>
        <p:spPr>
          <a:xfrm>
            <a:off x="1150938" y="476250"/>
            <a:ext cx="7793037" cy="720725"/>
          </a:xfrm>
        </p:spPr>
        <p:txBody>
          <a:bodyPr/>
          <a:lstStyle/>
          <a:p>
            <a:pPr algn="ctr" eaLnBrk="1" hangingPunct="1">
              <a:defRPr/>
            </a:pP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INTR</a:t>
            </a:r>
            <a:endPar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70659" name="Rectangle 3">
            <a:extLst>
              <a:ext uri="{FF2B5EF4-FFF2-40B4-BE49-F238E27FC236}">
                <a16:creationId xmlns:a16="http://schemas.microsoft.com/office/drawing/2014/main" id="{F69C54AF-B334-EBE9-CCC8-6A255E40E679}"/>
              </a:ext>
            </a:extLst>
          </p:cNvPr>
          <p:cNvSpPr>
            <a:spLocks noGrp="1" noChangeArrowheads="1"/>
          </p:cNvSpPr>
          <p:nvPr>
            <p:ph idx="1"/>
          </p:nvPr>
        </p:nvSpPr>
        <p:spPr>
          <a:xfrm>
            <a:off x="395288" y="1557338"/>
            <a:ext cx="8280400" cy="4114800"/>
          </a:xfrm>
        </p:spPr>
        <p:txBody>
          <a:bodyPr/>
          <a:lstStyle/>
          <a:p>
            <a:pPr eaLnBrk="1" hangingPunct="1">
              <a:spcBef>
                <a:spcPct val="50000"/>
              </a:spcBef>
              <a:buFont typeface="Wingdings" panose="05000000000000000000" pitchFamily="2" charset="2"/>
              <a:buChar char="Ø"/>
            </a:pPr>
            <a:r>
              <a:rPr lang="zh-CN" altLang="en-US" sz="2800">
                <a:latin typeface="Times New Roman" panose="02020603050405020304" pitchFamily="18" charset="0"/>
                <a:ea typeface="楷体_GB2312" pitchFamily="1" charset="-122"/>
              </a:rPr>
              <a:t>可屏蔽中断请求信号，输入，</a:t>
            </a:r>
            <a:r>
              <a:rPr lang="zh-CN" altLang="en-US" sz="2800">
                <a:solidFill>
                  <a:schemeClr val="hlink"/>
                </a:solidFill>
                <a:latin typeface="Times New Roman" panose="02020603050405020304" pitchFamily="18" charset="0"/>
                <a:ea typeface="楷体_GB2312" pitchFamily="1" charset="-122"/>
              </a:rPr>
              <a:t>高电平有效</a:t>
            </a:r>
            <a:r>
              <a:rPr lang="zh-CN" altLang="en-US" sz="2800">
                <a:latin typeface="Times New Roman" panose="02020603050405020304" pitchFamily="18" charset="0"/>
                <a:ea typeface="楷体_GB2312" pitchFamily="1" charset="-122"/>
              </a:rPr>
              <a:t>。</a:t>
            </a:r>
          </a:p>
          <a:p>
            <a:pPr eaLnBrk="1" hangingPunct="1">
              <a:spcBef>
                <a:spcPct val="50000"/>
              </a:spcBef>
              <a:buFont typeface="Wingdings" panose="05000000000000000000" pitchFamily="2" charset="2"/>
              <a:buChar char="Ø"/>
            </a:pPr>
            <a:r>
              <a:rPr lang="zh-CN" altLang="en-US" sz="2800">
                <a:latin typeface="Times New Roman" panose="02020603050405020304" pitchFamily="18" charset="0"/>
                <a:ea typeface="楷体_GB2312" pitchFamily="1" charset="-122"/>
              </a:rPr>
              <a:t>当</a:t>
            </a:r>
            <a:r>
              <a:rPr lang="en-US" altLang="zh-CN" sz="2800">
                <a:latin typeface="Times New Roman" panose="02020603050405020304" pitchFamily="18" charset="0"/>
                <a:ea typeface="楷体_GB2312" pitchFamily="1" charset="-122"/>
              </a:rPr>
              <a:t>INTR=1</a:t>
            </a:r>
            <a:r>
              <a:rPr lang="zh-CN" altLang="en-US" sz="2800">
                <a:latin typeface="Times New Roman" panose="02020603050405020304" pitchFamily="18" charset="0"/>
                <a:ea typeface="楷体_GB2312" pitchFamily="1" charset="-122"/>
              </a:rPr>
              <a:t>时，表示外设提出了中断请求，8086/8088在每个指令周期的</a:t>
            </a:r>
            <a:r>
              <a:rPr lang="zh-CN" altLang="en-US" sz="2800">
                <a:solidFill>
                  <a:schemeClr val="hlink"/>
                </a:solidFill>
                <a:latin typeface="Times New Roman" panose="02020603050405020304" pitchFamily="18" charset="0"/>
                <a:ea typeface="楷体_GB2312" pitchFamily="1" charset="-122"/>
              </a:rPr>
              <a:t>最后一个</a:t>
            </a:r>
            <a:r>
              <a:rPr lang="en-US" altLang="zh-CN" sz="2800">
                <a:solidFill>
                  <a:schemeClr val="hlink"/>
                </a:solidFill>
                <a:latin typeface="Times New Roman" panose="02020603050405020304" pitchFamily="18" charset="0"/>
                <a:ea typeface="楷体_GB2312" pitchFamily="1" charset="-122"/>
              </a:rPr>
              <a:t>T</a:t>
            </a:r>
            <a:r>
              <a:rPr lang="zh-CN" altLang="en-US" sz="2800">
                <a:solidFill>
                  <a:schemeClr val="hlink"/>
                </a:solidFill>
                <a:latin typeface="Times New Roman" panose="02020603050405020304" pitchFamily="18" charset="0"/>
                <a:ea typeface="楷体_GB2312" pitchFamily="1" charset="-122"/>
              </a:rPr>
              <a:t>状态</a:t>
            </a:r>
            <a:r>
              <a:rPr lang="zh-CN" altLang="en-US" sz="2800">
                <a:latin typeface="Times New Roman" panose="02020603050405020304" pitchFamily="18" charset="0"/>
                <a:ea typeface="楷体_GB2312" pitchFamily="1" charset="-122"/>
              </a:rPr>
              <a:t>去采样此信号。</a:t>
            </a:r>
          </a:p>
          <a:p>
            <a:pPr eaLnBrk="1" hangingPunct="1">
              <a:spcBef>
                <a:spcPct val="50000"/>
              </a:spcBef>
              <a:buFont typeface="Wingdings" panose="05000000000000000000" pitchFamily="2" charset="2"/>
              <a:buChar char="Ø"/>
            </a:pPr>
            <a:r>
              <a:rPr lang="zh-CN" altLang="en-US" sz="2800">
                <a:latin typeface="Times New Roman" panose="02020603050405020304" pitchFamily="18" charset="0"/>
                <a:ea typeface="楷体_GB2312" pitchFamily="1" charset="-122"/>
              </a:rPr>
              <a:t>若</a:t>
            </a:r>
            <a:r>
              <a:rPr lang="en-US" altLang="zh-CN" sz="2800">
                <a:latin typeface="Times New Roman" panose="02020603050405020304" pitchFamily="18" charset="0"/>
                <a:ea typeface="楷体_GB2312" pitchFamily="1" charset="-122"/>
              </a:rPr>
              <a:t>IF=1</a:t>
            </a:r>
            <a:r>
              <a:rPr lang="zh-CN" altLang="en-US" sz="2800">
                <a:latin typeface="Times New Roman" panose="02020603050405020304" pitchFamily="18" charset="0"/>
                <a:ea typeface="楷体_GB2312" pitchFamily="1" charset="-122"/>
              </a:rPr>
              <a:t>，则</a:t>
            </a:r>
            <a:r>
              <a:rPr lang="en-US" altLang="zh-CN" sz="2800">
                <a:latin typeface="Times New Roman" panose="02020603050405020304" pitchFamily="18" charset="0"/>
                <a:ea typeface="楷体_GB2312" pitchFamily="1" charset="-122"/>
              </a:rPr>
              <a:t>CPU</a:t>
            </a:r>
            <a:r>
              <a:rPr lang="zh-CN" altLang="en-US" sz="2800">
                <a:latin typeface="Times New Roman" panose="02020603050405020304" pitchFamily="18" charset="0"/>
                <a:ea typeface="楷体_GB2312" pitchFamily="1" charset="-122"/>
              </a:rPr>
              <a:t>响应中断，转去执行中断服务程序。</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8" presetClass="entr" presetSubtype="0" accel="50000" fill="hold" nodeType="clickEffect">
                                  <p:stCondLst>
                                    <p:cond delay="0"/>
                                  </p:stCondLst>
                                  <p:childTnLst>
                                    <p:set>
                                      <p:cBhvr>
                                        <p:cTn id="6" dur="1" fill="hold">
                                          <p:stCondLst>
                                            <p:cond delay="0"/>
                                          </p:stCondLst>
                                        </p:cTn>
                                        <p:tgtEl>
                                          <p:spTgt spid="70659">
                                            <p:txEl>
                                              <p:pRg st="1" end="1"/>
                                            </p:txEl>
                                          </p:spTgt>
                                        </p:tgtEl>
                                        <p:attrNameLst>
                                          <p:attrName>style.visibility</p:attrName>
                                        </p:attrNameLst>
                                      </p:cBhvr>
                                      <p:to>
                                        <p:strVal val="visible"/>
                                      </p:to>
                                    </p:set>
                                    <p:anim calcmode="lin" valueType="num">
                                      <p:cBhvr>
                                        <p:cTn id="7" dur="1000" fill="hold"/>
                                        <p:tgtEl>
                                          <p:spTgt spid="70659">
                                            <p:txEl>
                                              <p:pRg st="1" end="1"/>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70659">
                                            <p:txEl>
                                              <p:pRg st="1" end="1"/>
                                            </p:txEl>
                                          </p:spTgt>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70659">
                                            <p:txEl>
                                              <p:pRg st="1" end="1"/>
                                            </p:txEl>
                                          </p:spTgt>
                                        </p:tgtEl>
                                        <p:attrNameLst>
                                          <p:attrName>ppt_y</p:attrName>
                                        </p:attrNameLst>
                                      </p:cBhvr>
                                      <p:tavLst>
                                        <p:tav tm="0">
                                          <p:val>
                                            <p:strVal val="#ppt_y"/>
                                          </p:val>
                                        </p:tav>
                                        <p:tav tm="100000">
                                          <p:val>
                                            <p:strVal val="#ppt_y"/>
                                          </p:val>
                                        </p:tav>
                                      </p:tavLst>
                                    </p:anim>
                                    <p:animEffect transition="in" filter="fade">
                                      <p:cBhvr>
                                        <p:cTn id="10" dur="1000"/>
                                        <p:tgtEl>
                                          <p:spTgt spid="7065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8" presetClass="entr" presetSubtype="0" accel="50000" fill="hold" nodeType="clickEffect">
                                  <p:stCondLst>
                                    <p:cond delay="0"/>
                                  </p:stCondLst>
                                  <p:childTnLst>
                                    <p:set>
                                      <p:cBhvr>
                                        <p:cTn id="14" dur="1" fill="hold">
                                          <p:stCondLst>
                                            <p:cond delay="0"/>
                                          </p:stCondLst>
                                        </p:cTn>
                                        <p:tgtEl>
                                          <p:spTgt spid="70659">
                                            <p:txEl>
                                              <p:pRg st="2" end="2"/>
                                            </p:txEl>
                                          </p:spTgt>
                                        </p:tgtEl>
                                        <p:attrNameLst>
                                          <p:attrName>style.visibility</p:attrName>
                                        </p:attrNameLst>
                                      </p:cBhvr>
                                      <p:to>
                                        <p:strVal val="visible"/>
                                      </p:to>
                                    </p:set>
                                    <p:anim calcmode="lin" valueType="num">
                                      <p:cBhvr>
                                        <p:cTn id="15" dur="1000" fill="hold"/>
                                        <p:tgtEl>
                                          <p:spTgt spid="70659">
                                            <p:txEl>
                                              <p:pRg st="2" end="2"/>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6" dur="1000" fill="hold"/>
                                        <p:tgtEl>
                                          <p:spTgt spid="70659">
                                            <p:txEl>
                                              <p:pRg st="2" end="2"/>
                                            </p:txEl>
                                          </p:spTgt>
                                        </p:tgtEl>
                                        <p:attrNameLst>
                                          <p:attrName>ppt_x</p:attrName>
                                        </p:attrNameLst>
                                      </p:cBhvr>
                                      <p:tavLst>
                                        <p:tav tm="0">
                                          <p:val>
                                            <p:fltVal val="-1"/>
                                          </p:val>
                                        </p:tav>
                                        <p:tav tm="50000">
                                          <p:val>
                                            <p:fltVal val="0.95"/>
                                          </p:val>
                                        </p:tav>
                                        <p:tav tm="100000">
                                          <p:val>
                                            <p:strVal val="#ppt_x"/>
                                          </p:val>
                                        </p:tav>
                                      </p:tavLst>
                                    </p:anim>
                                    <p:anim calcmode="lin" valueType="num">
                                      <p:cBhvr>
                                        <p:cTn id="17" dur="1000" fill="hold"/>
                                        <p:tgtEl>
                                          <p:spTgt spid="70659">
                                            <p:txEl>
                                              <p:pRg st="2" end="2"/>
                                            </p:txEl>
                                          </p:spTgt>
                                        </p:tgtEl>
                                        <p:attrNameLst>
                                          <p:attrName>ppt_y</p:attrName>
                                        </p:attrNameLst>
                                      </p:cBhvr>
                                      <p:tavLst>
                                        <p:tav tm="0">
                                          <p:val>
                                            <p:strVal val="#ppt_y"/>
                                          </p:val>
                                        </p:tav>
                                        <p:tav tm="100000">
                                          <p:val>
                                            <p:strVal val="#ppt_y"/>
                                          </p:val>
                                        </p:tav>
                                      </p:tavLst>
                                    </p:anim>
                                    <p:animEffect transition="in" filter="fade">
                                      <p:cBhvr>
                                        <p:cTn id="18" dur="1000"/>
                                        <p:tgtEl>
                                          <p:spTgt spid="706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7C8EBF57-8BFA-B077-2506-D92204894D06}"/>
              </a:ext>
            </a:extLst>
          </p:cNvPr>
          <p:cNvSpPr>
            <a:spLocks noGrp="1" noChangeArrowheads="1"/>
          </p:cNvSpPr>
          <p:nvPr>
            <p:ph type="body" sz="half" idx="1"/>
          </p:nvPr>
        </p:nvSpPr>
        <p:spPr>
          <a:xfrm>
            <a:off x="395288" y="1557338"/>
            <a:ext cx="8280400" cy="4114800"/>
          </a:xfrm>
        </p:spPr>
        <p:txBody>
          <a:bodyPr/>
          <a:lstStyle/>
          <a:p>
            <a:pPr eaLnBrk="1" hangingPunct="1">
              <a:buFont typeface="Wingdings" panose="05000000000000000000" pitchFamily="2" charset="2"/>
              <a:buChar char="Ø"/>
            </a:pPr>
            <a:r>
              <a:rPr lang="zh-CN" altLang="en-US" sz="2800">
                <a:latin typeface="Times New Roman" panose="02020603050405020304" pitchFamily="18" charset="0"/>
                <a:ea typeface="楷体_GB2312" pitchFamily="1" charset="-122"/>
              </a:rPr>
              <a:t>中断响应信号，输出，低电平有效。</a:t>
            </a:r>
          </a:p>
          <a:p>
            <a:pPr eaLnBrk="1" hangingPunct="1">
              <a:buFont typeface="Wingdings" panose="05000000000000000000" pitchFamily="2" charset="2"/>
              <a:buChar char="Ø"/>
            </a:pPr>
            <a:r>
              <a:rPr lang="zh-CN" altLang="en-US" sz="2800">
                <a:latin typeface="Times New Roman" panose="02020603050405020304" pitchFamily="18" charset="0"/>
                <a:ea typeface="楷体_GB2312" pitchFamily="1" charset="-122"/>
              </a:rPr>
              <a:t>用于对外设的中断请求作出响应。是两个连续的</a:t>
            </a:r>
            <a:r>
              <a:rPr lang="zh-CN" altLang="en-US" sz="2800">
                <a:solidFill>
                  <a:schemeClr val="hlink"/>
                </a:solidFill>
                <a:latin typeface="Times New Roman" panose="02020603050405020304" pitchFamily="18" charset="0"/>
                <a:ea typeface="楷体_GB2312" pitchFamily="1" charset="-122"/>
              </a:rPr>
              <a:t>负脉冲</a:t>
            </a:r>
            <a:r>
              <a:rPr lang="zh-CN" altLang="en-US" sz="2800">
                <a:latin typeface="Times New Roman" panose="02020603050405020304" pitchFamily="18" charset="0"/>
                <a:ea typeface="楷体_GB2312" pitchFamily="1" charset="-122"/>
              </a:rPr>
              <a:t>。</a:t>
            </a:r>
          </a:p>
          <a:p>
            <a:pPr eaLnBrk="1" hangingPunct="1"/>
            <a:r>
              <a:rPr lang="zh-CN" altLang="en-US" sz="2800">
                <a:latin typeface="Times New Roman" panose="02020603050405020304" pitchFamily="18" charset="0"/>
                <a:ea typeface="楷体_GB2312" pitchFamily="1" charset="-122"/>
              </a:rPr>
              <a:t>第</a:t>
            </a:r>
            <a:r>
              <a:rPr lang="en-US" altLang="zh-CN" sz="2800">
                <a:latin typeface="Times New Roman" panose="02020603050405020304" pitchFamily="18" charset="0"/>
                <a:ea typeface="楷体_GB2312" pitchFamily="1" charset="-122"/>
              </a:rPr>
              <a:t>1</a:t>
            </a:r>
            <a:r>
              <a:rPr lang="zh-CN" altLang="en-US" sz="2800">
                <a:latin typeface="Times New Roman" panose="02020603050405020304" pitchFamily="18" charset="0"/>
                <a:ea typeface="楷体_GB2312" pitchFamily="1" charset="-122"/>
              </a:rPr>
              <a:t>个脉冲是通知外设接口，它的中断请求已获允许；</a:t>
            </a:r>
          </a:p>
          <a:p>
            <a:pPr eaLnBrk="1" hangingPunct="1"/>
            <a:r>
              <a:rPr lang="zh-CN" altLang="en-US" sz="2800">
                <a:latin typeface="Times New Roman" panose="02020603050405020304" pitchFamily="18" charset="0"/>
                <a:ea typeface="楷体_GB2312" pitchFamily="1" charset="-122"/>
              </a:rPr>
              <a:t>第</a:t>
            </a:r>
            <a:r>
              <a:rPr lang="en-US" altLang="zh-CN" sz="2800">
                <a:latin typeface="Times New Roman" panose="02020603050405020304" pitchFamily="18" charset="0"/>
                <a:ea typeface="楷体_GB2312" pitchFamily="1" charset="-122"/>
              </a:rPr>
              <a:t>2</a:t>
            </a:r>
            <a:r>
              <a:rPr lang="zh-CN" altLang="en-US" sz="2800">
                <a:latin typeface="Times New Roman" panose="02020603050405020304" pitchFamily="18" charset="0"/>
                <a:ea typeface="楷体_GB2312" pitchFamily="1" charset="-122"/>
              </a:rPr>
              <a:t>个负脉冲要求外设接口往数据总线上发中断类型码，当外设接口收到第</a:t>
            </a:r>
            <a:r>
              <a:rPr lang="en-US" altLang="zh-CN" sz="2800">
                <a:latin typeface="Times New Roman" panose="02020603050405020304" pitchFamily="18" charset="0"/>
                <a:ea typeface="楷体_GB2312" pitchFamily="1" charset="-122"/>
              </a:rPr>
              <a:t>2</a:t>
            </a:r>
            <a:r>
              <a:rPr lang="zh-CN" altLang="en-US" sz="2800">
                <a:latin typeface="Times New Roman" panose="02020603050405020304" pitchFamily="18" charset="0"/>
                <a:ea typeface="楷体_GB2312" pitchFamily="1" charset="-122"/>
              </a:rPr>
              <a:t>个负脉冲后，往数据总线上放</a:t>
            </a:r>
            <a:r>
              <a:rPr lang="zh-CN" altLang="en-US" sz="2800" b="1">
                <a:solidFill>
                  <a:schemeClr val="folHlink"/>
                </a:solidFill>
                <a:latin typeface="Times New Roman" panose="02020603050405020304" pitchFamily="18" charset="0"/>
                <a:ea typeface="楷体_GB2312" pitchFamily="1" charset="-122"/>
              </a:rPr>
              <a:t>中断类型码</a:t>
            </a:r>
            <a:r>
              <a:rPr lang="zh-CN" altLang="en-US" sz="2800">
                <a:latin typeface="Times New Roman" panose="02020603050405020304" pitchFamily="18" charset="0"/>
                <a:ea typeface="楷体_GB2312" pitchFamily="1" charset="-122"/>
              </a:rPr>
              <a:t>。</a:t>
            </a:r>
          </a:p>
        </p:txBody>
      </p:sp>
      <p:graphicFrame>
        <p:nvGraphicFramePr>
          <p:cNvPr id="83970" name="Object 3">
            <a:extLst>
              <a:ext uri="{FF2B5EF4-FFF2-40B4-BE49-F238E27FC236}">
                <a16:creationId xmlns:a16="http://schemas.microsoft.com/office/drawing/2014/main" id="{0A8ECCAC-E67C-7C36-4E6A-65ED3216BCF5}"/>
              </a:ext>
            </a:extLst>
          </p:cNvPr>
          <p:cNvGraphicFramePr>
            <a:graphicFrameLocks noChangeAspect="1"/>
          </p:cNvGraphicFramePr>
          <p:nvPr/>
        </p:nvGraphicFramePr>
        <p:xfrm>
          <a:off x="4427538" y="692150"/>
          <a:ext cx="1008062" cy="539750"/>
        </p:xfrm>
        <a:graphic>
          <a:graphicData uri="http://schemas.openxmlformats.org/presentationml/2006/ole">
            <mc:AlternateContent xmlns:mc="http://schemas.openxmlformats.org/markup-compatibility/2006">
              <mc:Choice xmlns:v="urn:schemas-microsoft-com:vml" Requires="v">
                <p:oleObj r:id="rId2" imgW="356995" imgH="191247" progId="Equation.3">
                  <p:embed/>
                </p:oleObj>
              </mc:Choice>
              <mc:Fallback>
                <p:oleObj r:id="rId2" imgW="356995" imgH="191247"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538" y="692150"/>
                        <a:ext cx="100806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nodeType="clickEffect">
                                  <p:stCondLst>
                                    <p:cond delay="0"/>
                                  </p:stCondLst>
                                  <p:childTnLst>
                                    <p:set>
                                      <p:cBhvr>
                                        <p:cTn id="6" dur="1" fill="hold">
                                          <p:stCondLst>
                                            <p:cond delay="0"/>
                                          </p:stCondLst>
                                        </p:cTn>
                                        <p:tgtEl>
                                          <p:spTgt spid="71682">
                                            <p:txEl>
                                              <p:charRg st="17" end="45"/>
                                            </p:txEl>
                                          </p:spTgt>
                                        </p:tgtEl>
                                        <p:attrNameLst>
                                          <p:attrName>style.visibility</p:attrName>
                                        </p:attrNameLst>
                                      </p:cBhvr>
                                      <p:to>
                                        <p:strVal val="visible"/>
                                      </p:to>
                                    </p:set>
                                    <p:animEffect transition="in" filter="barn(inHorizontal)">
                                      <p:cBhvr>
                                        <p:cTn id="7" dur="500"/>
                                        <p:tgtEl>
                                          <p:spTgt spid="71682">
                                            <p:txEl>
                                              <p:charRg st="17" end="4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nodeType="clickEffect">
                                  <p:stCondLst>
                                    <p:cond delay="0"/>
                                  </p:stCondLst>
                                  <p:childTnLst>
                                    <p:set>
                                      <p:cBhvr>
                                        <p:cTn id="11" dur="1" fill="hold">
                                          <p:stCondLst>
                                            <p:cond delay="0"/>
                                          </p:stCondLst>
                                        </p:cTn>
                                        <p:tgtEl>
                                          <p:spTgt spid="71682">
                                            <p:txEl>
                                              <p:charRg st="45" end="70"/>
                                            </p:txEl>
                                          </p:spTgt>
                                        </p:tgtEl>
                                        <p:attrNameLst>
                                          <p:attrName>style.visibility</p:attrName>
                                        </p:attrNameLst>
                                      </p:cBhvr>
                                      <p:to>
                                        <p:strVal val="visible"/>
                                      </p:to>
                                    </p:set>
                                    <p:animEffect transition="in" filter="barn(inHorizontal)">
                                      <p:cBhvr>
                                        <p:cTn id="12" dur="500"/>
                                        <p:tgtEl>
                                          <p:spTgt spid="71682">
                                            <p:txEl>
                                              <p:charRg st="45" end="7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6" fill="hold" nodeType="clickEffect">
                                  <p:stCondLst>
                                    <p:cond delay="0"/>
                                  </p:stCondLst>
                                  <p:childTnLst>
                                    <p:set>
                                      <p:cBhvr>
                                        <p:cTn id="16" dur="1" fill="hold">
                                          <p:stCondLst>
                                            <p:cond delay="0"/>
                                          </p:stCondLst>
                                        </p:cTn>
                                        <p:tgtEl>
                                          <p:spTgt spid="71682">
                                            <p:txEl>
                                              <p:charRg st="70" end="121"/>
                                            </p:txEl>
                                          </p:spTgt>
                                        </p:tgtEl>
                                        <p:attrNameLst>
                                          <p:attrName>style.visibility</p:attrName>
                                        </p:attrNameLst>
                                      </p:cBhvr>
                                      <p:to>
                                        <p:strVal val="visible"/>
                                      </p:to>
                                    </p:set>
                                    <p:animEffect transition="in" filter="barn(inHorizontal)">
                                      <p:cBhvr>
                                        <p:cTn id="17" dur="500"/>
                                        <p:tgtEl>
                                          <p:spTgt spid="71682">
                                            <p:txEl>
                                              <p:charRg st="70" end="1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74138F3A-A8E5-F37F-C116-D2BDBC59B55B}"/>
              </a:ext>
            </a:extLst>
          </p:cNvPr>
          <p:cNvSpPr>
            <a:spLocks noGrp="1" noChangeArrowheads="1"/>
          </p:cNvSpPr>
          <p:nvPr>
            <p:ph type="title"/>
          </p:nvPr>
        </p:nvSpPr>
        <p:spPr>
          <a:xfrm>
            <a:off x="1150938" y="333375"/>
            <a:ext cx="7793037" cy="865188"/>
          </a:xfrm>
        </p:spPr>
        <p:txBody>
          <a:bodyPr/>
          <a:lstStyle/>
          <a:p>
            <a:pPr algn="ctr" eaLnBrk="1" hangingPunct="1">
              <a:defRPr/>
            </a:pP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HOLD</a:t>
            </a:r>
            <a:r>
              <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 </a:t>
            </a: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HLDA</a:t>
            </a:r>
            <a:endPar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72707" name="Rectangle 3">
            <a:extLst>
              <a:ext uri="{FF2B5EF4-FFF2-40B4-BE49-F238E27FC236}">
                <a16:creationId xmlns:a16="http://schemas.microsoft.com/office/drawing/2014/main" id="{D46749BB-09FD-2B2A-876E-9D1727D6A978}"/>
              </a:ext>
            </a:extLst>
          </p:cNvPr>
          <p:cNvSpPr>
            <a:spLocks noGrp="1" noChangeArrowheads="1"/>
          </p:cNvSpPr>
          <p:nvPr>
            <p:ph idx="1"/>
          </p:nvPr>
        </p:nvSpPr>
        <p:spPr>
          <a:xfrm>
            <a:off x="323850" y="1557338"/>
            <a:ext cx="8497888" cy="4840287"/>
          </a:xfrm>
        </p:spPr>
        <p:txBody>
          <a:bodyPr/>
          <a:lstStyle/>
          <a:p>
            <a:pPr eaLnBrk="1" hangingPunct="1">
              <a:lnSpc>
                <a:spcPct val="90000"/>
              </a:lnSpc>
              <a:buFont typeface="Wingdings" panose="05000000000000000000" pitchFamily="2" charset="2"/>
              <a:buChar char="Ø"/>
            </a:pPr>
            <a:r>
              <a:rPr lang="en-US" altLang="zh-CN" sz="2800">
                <a:latin typeface="Times New Roman" panose="02020603050405020304" pitchFamily="18" charset="0"/>
                <a:ea typeface="楷体_GB2312" pitchFamily="1" charset="-122"/>
              </a:rPr>
              <a:t>HOLD</a:t>
            </a:r>
            <a:r>
              <a:rPr lang="zh-CN" altLang="en-US" sz="2800">
                <a:latin typeface="Times New Roman" panose="02020603050405020304" pitchFamily="18" charset="0"/>
                <a:ea typeface="楷体_GB2312" pitchFamily="1" charset="-122"/>
              </a:rPr>
              <a:t>：总线保持请求信号，输入，高电平有效 </a:t>
            </a:r>
          </a:p>
          <a:p>
            <a:pPr eaLnBrk="1" hangingPunct="1">
              <a:lnSpc>
                <a:spcPct val="90000"/>
              </a:lnSpc>
              <a:buFont typeface="Wingdings" panose="05000000000000000000" pitchFamily="2" charset="2"/>
              <a:buNone/>
            </a:pPr>
            <a:r>
              <a:rPr lang="zh-CN" altLang="en-US" sz="2800">
                <a:latin typeface="Times New Roman" panose="02020603050405020304" pitchFamily="18" charset="0"/>
                <a:ea typeface="楷体_GB2312" pitchFamily="1" charset="-122"/>
              </a:rPr>
              <a:t>    </a:t>
            </a:r>
            <a:r>
              <a:rPr lang="en-US" altLang="zh-CN" sz="2800">
                <a:latin typeface="Times New Roman" panose="02020603050405020304" pitchFamily="18" charset="0"/>
                <a:ea typeface="楷体_GB2312" pitchFamily="1" charset="-122"/>
              </a:rPr>
              <a:t>HLDA</a:t>
            </a:r>
            <a:r>
              <a:rPr lang="zh-CN" altLang="en-US" sz="2800">
                <a:latin typeface="Times New Roman" panose="02020603050405020304" pitchFamily="18" charset="0"/>
                <a:ea typeface="楷体_GB2312" pitchFamily="1" charset="-122"/>
              </a:rPr>
              <a:t>：总线保持响应信号，输出，高电平有效</a:t>
            </a:r>
          </a:p>
          <a:p>
            <a:pPr eaLnBrk="1" hangingPunct="1">
              <a:lnSpc>
                <a:spcPct val="90000"/>
              </a:lnSpc>
              <a:buFont typeface="Wingdings" panose="05000000000000000000" pitchFamily="2" charset="2"/>
              <a:buChar char="Ø"/>
            </a:pPr>
            <a:r>
              <a:rPr lang="en-US" altLang="zh-CN" sz="2800">
                <a:latin typeface="Times New Roman" panose="02020603050405020304" pitchFamily="18" charset="0"/>
                <a:ea typeface="楷体_GB2312" pitchFamily="1" charset="-122"/>
              </a:rPr>
              <a:t>HOLD</a:t>
            </a:r>
            <a:r>
              <a:rPr lang="zh-CN" altLang="en-US" sz="2800">
                <a:latin typeface="Times New Roman" panose="02020603050405020304" pitchFamily="18" charset="0"/>
                <a:ea typeface="楷体_GB2312" pitchFamily="1" charset="-122"/>
              </a:rPr>
              <a:t>信号是系统中的其它总线主控部件向</a:t>
            </a:r>
            <a:r>
              <a:rPr lang="en-US" altLang="zh-CN" sz="2800">
                <a:latin typeface="Times New Roman" panose="02020603050405020304" pitchFamily="18" charset="0"/>
                <a:ea typeface="楷体_GB2312" pitchFamily="1" charset="-122"/>
              </a:rPr>
              <a:t>CPU</a:t>
            </a:r>
            <a:r>
              <a:rPr lang="zh-CN" altLang="en-US" sz="2800">
                <a:latin typeface="Times New Roman" panose="02020603050405020304" pitchFamily="18" charset="0"/>
                <a:ea typeface="楷体_GB2312" pitchFamily="1" charset="-122"/>
              </a:rPr>
              <a:t>发出的</a:t>
            </a:r>
            <a:r>
              <a:rPr lang="zh-CN" altLang="en-US" sz="2800" b="1">
                <a:solidFill>
                  <a:schemeClr val="folHlink"/>
                </a:solidFill>
                <a:latin typeface="Times New Roman" panose="02020603050405020304" pitchFamily="18" charset="0"/>
                <a:ea typeface="楷体_GB2312" pitchFamily="1" charset="-122"/>
              </a:rPr>
              <a:t>请求占用总线</a:t>
            </a:r>
            <a:r>
              <a:rPr lang="zh-CN" altLang="en-US" sz="2800">
                <a:latin typeface="Times New Roman" panose="02020603050405020304" pitchFamily="18" charset="0"/>
                <a:ea typeface="楷体_GB2312" pitchFamily="1" charset="-122"/>
              </a:rPr>
              <a:t>的控制信号。当</a:t>
            </a:r>
            <a:r>
              <a:rPr lang="en-US" altLang="zh-CN" sz="2800">
                <a:latin typeface="Times New Roman" panose="02020603050405020304" pitchFamily="18" charset="0"/>
                <a:ea typeface="楷体_GB2312" pitchFamily="1" charset="-122"/>
              </a:rPr>
              <a:t>CPU</a:t>
            </a:r>
            <a:r>
              <a:rPr lang="zh-CN" altLang="en-US" sz="2800">
                <a:latin typeface="Times New Roman" panose="02020603050405020304" pitchFamily="18" charset="0"/>
                <a:ea typeface="楷体_GB2312" pitchFamily="1" charset="-122"/>
              </a:rPr>
              <a:t>从</a:t>
            </a:r>
            <a:r>
              <a:rPr lang="en-US" altLang="zh-CN" sz="2800">
                <a:latin typeface="Times New Roman" panose="02020603050405020304" pitchFamily="18" charset="0"/>
                <a:ea typeface="楷体_GB2312" pitchFamily="1" charset="-122"/>
              </a:rPr>
              <a:t>HOLD</a:t>
            </a:r>
            <a:r>
              <a:rPr lang="zh-CN" altLang="en-US" sz="2800">
                <a:latin typeface="Times New Roman" panose="02020603050405020304" pitchFamily="18" charset="0"/>
                <a:ea typeface="楷体_GB2312" pitchFamily="1" charset="-122"/>
              </a:rPr>
              <a:t>线上收到一个高电平请求信号时，如果</a:t>
            </a:r>
            <a:r>
              <a:rPr lang="en-US" altLang="zh-CN" sz="2800">
                <a:latin typeface="Times New Roman" panose="02020603050405020304" pitchFamily="18" charset="0"/>
                <a:ea typeface="楷体_GB2312" pitchFamily="1" charset="-122"/>
              </a:rPr>
              <a:t>CPU</a:t>
            </a:r>
            <a:r>
              <a:rPr lang="zh-CN" altLang="en-US" sz="2800">
                <a:latin typeface="Times New Roman" panose="02020603050405020304" pitchFamily="18" charset="0"/>
                <a:ea typeface="楷体_GB2312" pitchFamily="1" charset="-122"/>
              </a:rPr>
              <a:t>允许让出总线，就在当前总线周期完成时，于</a:t>
            </a:r>
            <a:r>
              <a:rPr lang="en-US" altLang="zh-CN" sz="2800">
                <a:latin typeface="Times New Roman" panose="02020603050405020304" pitchFamily="18" charset="0"/>
                <a:ea typeface="楷体_GB2312" pitchFamily="1" charset="-122"/>
              </a:rPr>
              <a:t>T</a:t>
            </a:r>
            <a:r>
              <a:rPr lang="en-US" altLang="zh-CN" sz="2800" baseline="-25000">
                <a:latin typeface="Times New Roman" panose="02020603050405020304" pitchFamily="18" charset="0"/>
                <a:ea typeface="楷体_GB2312" pitchFamily="1" charset="-122"/>
              </a:rPr>
              <a:t>4</a:t>
            </a:r>
            <a:r>
              <a:rPr lang="zh-CN" altLang="en-US" sz="2800">
                <a:latin typeface="Times New Roman" panose="02020603050405020304" pitchFamily="18" charset="0"/>
                <a:ea typeface="楷体_GB2312" pitchFamily="1" charset="-122"/>
              </a:rPr>
              <a:t>状态从</a:t>
            </a:r>
            <a:r>
              <a:rPr lang="en-US" altLang="zh-CN" sz="2800">
                <a:latin typeface="Times New Roman" panose="02020603050405020304" pitchFamily="18" charset="0"/>
                <a:ea typeface="楷体_GB2312" pitchFamily="1" charset="-122"/>
              </a:rPr>
              <a:t>HLDA</a:t>
            </a:r>
            <a:r>
              <a:rPr lang="zh-CN" altLang="en-US" sz="2800">
                <a:latin typeface="Times New Roman" panose="02020603050405020304" pitchFamily="18" charset="0"/>
                <a:ea typeface="楷体_GB2312" pitchFamily="1" charset="-122"/>
              </a:rPr>
              <a:t>线上发出一个</a:t>
            </a:r>
            <a:r>
              <a:rPr lang="zh-CN" altLang="en-US" sz="2800" b="1">
                <a:solidFill>
                  <a:schemeClr val="folHlink"/>
                </a:solidFill>
                <a:latin typeface="Times New Roman" panose="02020603050405020304" pitchFamily="18" charset="0"/>
                <a:ea typeface="楷体_GB2312" pitchFamily="1" charset="-122"/>
              </a:rPr>
              <a:t>应答信号</a:t>
            </a:r>
            <a:r>
              <a:rPr lang="zh-CN" altLang="en-US" sz="2800">
                <a:latin typeface="Times New Roman" panose="02020603050405020304" pitchFamily="18" charset="0"/>
                <a:ea typeface="楷体_GB2312" pitchFamily="1" charset="-122"/>
              </a:rPr>
              <a:t>，对</a:t>
            </a:r>
            <a:r>
              <a:rPr lang="en-US" altLang="zh-CN" sz="2800">
                <a:latin typeface="Times New Roman" panose="02020603050405020304" pitchFamily="18" charset="0"/>
                <a:ea typeface="楷体_GB2312" pitchFamily="1" charset="-122"/>
              </a:rPr>
              <a:t>HOLD</a:t>
            </a:r>
            <a:r>
              <a:rPr lang="zh-CN" altLang="en-US" sz="2800">
                <a:latin typeface="Times New Roman" panose="02020603050405020304" pitchFamily="18" charset="0"/>
                <a:ea typeface="楷体_GB2312" pitchFamily="1" charset="-122"/>
              </a:rPr>
              <a:t>请求作出响应。同时，</a:t>
            </a:r>
            <a:r>
              <a:rPr lang="en-US" altLang="zh-CN" sz="2800">
                <a:latin typeface="Times New Roman" panose="02020603050405020304" pitchFamily="18" charset="0"/>
                <a:ea typeface="楷体_GB2312" pitchFamily="1" charset="-122"/>
              </a:rPr>
              <a:t>CPU</a:t>
            </a:r>
            <a:r>
              <a:rPr lang="zh-CN" altLang="en-US" sz="2800">
                <a:latin typeface="Times New Roman" panose="02020603050405020304" pitchFamily="18" charset="0"/>
                <a:ea typeface="楷体_GB2312" pitchFamily="1" charset="-122"/>
              </a:rPr>
              <a:t>使地址</a:t>
            </a:r>
            <a:r>
              <a:rPr lang="en-US" altLang="zh-CN" sz="2800">
                <a:latin typeface="Times New Roman" panose="02020603050405020304" pitchFamily="18" charset="0"/>
                <a:ea typeface="楷体_GB2312" pitchFamily="1" charset="-122"/>
              </a:rPr>
              <a:t>/</a:t>
            </a:r>
            <a:r>
              <a:rPr lang="zh-CN" altLang="en-US" sz="2800">
                <a:latin typeface="Times New Roman" panose="02020603050405020304" pitchFamily="18" charset="0"/>
                <a:ea typeface="楷体_GB2312" pitchFamily="1" charset="-122"/>
              </a:rPr>
              <a:t>数据总线和控制总线处于浮空状态，从而让出了总线。</a:t>
            </a:r>
          </a:p>
          <a:p>
            <a:pPr eaLnBrk="1" hangingPunct="1">
              <a:lnSpc>
                <a:spcPct val="90000"/>
              </a:lnSpc>
              <a:buFont typeface="Wingdings" panose="05000000000000000000" pitchFamily="2" charset="2"/>
              <a:buChar char="Ø"/>
            </a:pPr>
            <a:r>
              <a:rPr lang="zh-CN" altLang="en-US" sz="2800">
                <a:latin typeface="Times New Roman" panose="02020603050405020304" pitchFamily="18" charset="0"/>
                <a:ea typeface="楷体_GB2312" pitchFamily="1" charset="-122"/>
              </a:rPr>
              <a:t>当请求部件完成对总线占用后，</a:t>
            </a:r>
            <a:r>
              <a:rPr lang="en-US" altLang="zh-CN" sz="2800">
                <a:latin typeface="Times New Roman" panose="02020603050405020304" pitchFamily="18" charset="0"/>
                <a:ea typeface="楷体_GB2312" pitchFamily="1" charset="-122"/>
              </a:rPr>
              <a:t>CPU</a:t>
            </a:r>
            <a:r>
              <a:rPr lang="zh-CN" altLang="en-US" sz="2800">
                <a:latin typeface="Times New Roman" panose="02020603050405020304" pitchFamily="18" charset="0"/>
                <a:ea typeface="楷体_GB2312" pitchFamily="1" charset="-122"/>
              </a:rPr>
              <a:t>就立即使</a:t>
            </a:r>
            <a:r>
              <a:rPr lang="en-US" altLang="zh-CN" sz="2800">
                <a:latin typeface="Times New Roman" panose="02020603050405020304" pitchFamily="18" charset="0"/>
                <a:ea typeface="楷体_GB2312" pitchFamily="1" charset="-122"/>
              </a:rPr>
              <a:t>HLDA</a:t>
            </a:r>
            <a:r>
              <a:rPr lang="zh-CN" altLang="en-US" sz="2800">
                <a:latin typeface="Times New Roman" panose="02020603050405020304" pitchFamily="18" charset="0"/>
                <a:ea typeface="楷体_GB2312" pitchFamily="1" charset="-122"/>
              </a:rPr>
              <a:t>变低，同时恢复对总线的控制。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2707">
                                            <p:txEl>
                                              <p:pRg st="2" end="2"/>
                                            </p:txEl>
                                          </p:spTgt>
                                        </p:tgtEl>
                                        <p:attrNameLst>
                                          <p:attrName>style.visibility</p:attrName>
                                        </p:attrNameLst>
                                      </p:cBhvr>
                                      <p:to>
                                        <p:strVal val="visible"/>
                                      </p:to>
                                    </p:set>
                                    <p:anim calcmode="lin" valueType="num">
                                      <p:cBhvr additive="base">
                                        <p:cTn id="7" dur="500" fill="hold"/>
                                        <p:tgtEl>
                                          <p:spTgt spid="7270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27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2707">
                                            <p:txEl>
                                              <p:pRg st="3" end="3"/>
                                            </p:txEl>
                                          </p:spTgt>
                                        </p:tgtEl>
                                        <p:attrNameLst>
                                          <p:attrName>style.visibility</p:attrName>
                                        </p:attrNameLst>
                                      </p:cBhvr>
                                      <p:to>
                                        <p:strVal val="visible"/>
                                      </p:to>
                                    </p:set>
                                    <p:anim calcmode="lin" valueType="num">
                                      <p:cBhvr additive="base">
                                        <p:cTn id="13" dur="500" fill="hold"/>
                                        <p:tgtEl>
                                          <p:spTgt spid="72707">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270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7631001C-8574-9409-4805-0A3F1F278E05}"/>
              </a:ext>
            </a:extLst>
          </p:cNvPr>
          <p:cNvSpPr>
            <a:spLocks noGrp="1" noChangeArrowheads="1"/>
          </p:cNvSpPr>
          <p:nvPr>
            <p:ph type="body" sz="half" idx="1"/>
          </p:nvPr>
        </p:nvSpPr>
        <p:spPr>
          <a:xfrm>
            <a:off x="395288" y="1557338"/>
            <a:ext cx="8353425" cy="4114800"/>
          </a:xfrm>
        </p:spPr>
        <p:txBody>
          <a:bodyPr/>
          <a:lstStyle/>
          <a:p>
            <a:pPr eaLnBrk="1" hangingPunct="1">
              <a:spcBef>
                <a:spcPct val="50000"/>
              </a:spcBef>
              <a:buFont typeface="Wingdings" panose="05000000000000000000" pitchFamily="2" charset="2"/>
              <a:buChar char="Ø"/>
            </a:pPr>
            <a:r>
              <a:rPr lang="zh-CN" altLang="en-US" sz="2800">
                <a:latin typeface="Times New Roman" panose="02020603050405020304" pitchFamily="18" charset="0"/>
                <a:ea typeface="楷体_GB2312" pitchFamily="1" charset="-122"/>
              </a:rPr>
              <a:t>数据收发控制信号，输出，三态。</a:t>
            </a:r>
          </a:p>
          <a:p>
            <a:pPr eaLnBrk="1" hangingPunct="1">
              <a:spcBef>
                <a:spcPct val="50000"/>
              </a:spcBef>
              <a:buFont typeface="Wingdings" panose="05000000000000000000" pitchFamily="2" charset="2"/>
              <a:buChar char="Ø"/>
            </a:pPr>
            <a:r>
              <a:rPr lang="zh-CN" altLang="en-US" sz="2800">
                <a:latin typeface="Times New Roman" panose="02020603050405020304" pitchFamily="18" charset="0"/>
                <a:ea typeface="楷体_GB2312" pitchFamily="1" charset="-122"/>
              </a:rPr>
              <a:t>用来控制数据总线驱动器</a:t>
            </a:r>
            <a:r>
              <a:rPr lang="en-US" altLang="zh-CN" sz="2800">
                <a:latin typeface="Times New Roman" panose="02020603050405020304" pitchFamily="18" charset="0"/>
                <a:ea typeface="楷体_GB2312" pitchFamily="1" charset="-122"/>
              </a:rPr>
              <a:t>8286</a:t>
            </a:r>
            <a:r>
              <a:rPr lang="zh-CN" altLang="en-US" sz="2800">
                <a:latin typeface="Times New Roman" panose="02020603050405020304" pitchFamily="18" charset="0"/>
                <a:ea typeface="楷体_GB2312" pitchFamily="1" charset="-122"/>
              </a:rPr>
              <a:t>的数据传送方向。</a:t>
            </a:r>
            <a:br>
              <a:rPr lang="zh-CN" altLang="en-US" sz="2800">
                <a:latin typeface="Times New Roman" panose="02020603050405020304" pitchFamily="18" charset="0"/>
                <a:ea typeface="楷体_GB2312" pitchFamily="1" charset="-122"/>
              </a:rPr>
            </a:br>
            <a:r>
              <a:rPr lang="en-US" altLang="zh-CN" sz="2800">
                <a:latin typeface="Times New Roman" panose="02020603050405020304" pitchFamily="18" charset="0"/>
                <a:ea typeface="楷体_GB2312" pitchFamily="1" charset="-122"/>
              </a:rPr>
              <a:t>=1</a:t>
            </a:r>
            <a:r>
              <a:rPr lang="zh-CN" altLang="en-US" sz="2800">
                <a:latin typeface="Times New Roman" panose="02020603050405020304" pitchFamily="18" charset="0"/>
                <a:ea typeface="楷体_GB2312" pitchFamily="1" charset="-122"/>
              </a:rPr>
              <a:t>：发送数据</a:t>
            </a:r>
            <a:br>
              <a:rPr lang="zh-CN" altLang="en-US" sz="2800">
                <a:latin typeface="Times New Roman" panose="02020603050405020304" pitchFamily="18" charset="0"/>
                <a:ea typeface="楷体_GB2312" pitchFamily="1" charset="-122"/>
              </a:rPr>
            </a:br>
            <a:r>
              <a:rPr lang="en-US" altLang="zh-CN" sz="2800">
                <a:latin typeface="Times New Roman" panose="02020603050405020304" pitchFamily="18" charset="0"/>
                <a:ea typeface="楷体_GB2312" pitchFamily="1" charset="-122"/>
              </a:rPr>
              <a:t>=0</a:t>
            </a:r>
            <a:r>
              <a:rPr lang="zh-CN" altLang="en-US" sz="2800">
                <a:latin typeface="Times New Roman" panose="02020603050405020304" pitchFamily="18" charset="0"/>
                <a:ea typeface="楷体_GB2312" pitchFamily="1" charset="-122"/>
              </a:rPr>
              <a:t>：接收数据</a:t>
            </a:r>
          </a:p>
        </p:txBody>
      </p:sp>
      <p:graphicFrame>
        <p:nvGraphicFramePr>
          <p:cNvPr id="86018" name="Object 3">
            <a:extLst>
              <a:ext uri="{FF2B5EF4-FFF2-40B4-BE49-F238E27FC236}">
                <a16:creationId xmlns:a16="http://schemas.microsoft.com/office/drawing/2014/main" id="{24B21BA9-C631-9909-1516-2E6B01D5D1F1}"/>
              </a:ext>
            </a:extLst>
          </p:cNvPr>
          <p:cNvGraphicFramePr>
            <a:graphicFrameLocks noChangeAspect="1"/>
          </p:cNvGraphicFramePr>
          <p:nvPr>
            <p:ph sz="half" idx="2"/>
          </p:nvPr>
        </p:nvGraphicFramePr>
        <p:xfrm>
          <a:off x="4286250" y="692150"/>
          <a:ext cx="1003300" cy="539750"/>
        </p:xfrm>
        <a:graphic>
          <a:graphicData uri="http://schemas.openxmlformats.org/presentationml/2006/ole">
            <mc:AlternateContent xmlns:mc="http://schemas.openxmlformats.org/markup-compatibility/2006">
              <mc:Choice xmlns:v="urn:schemas-microsoft-com:vml" Requires="v">
                <p:oleObj r:id="rId2" imgW="356995" imgH="191247" progId="Equation.3">
                  <p:embed/>
                </p:oleObj>
              </mc:Choice>
              <mc:Fallback>
                <p:oleObj r:id="rId2" imgW="356995" imgH="191247"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0" y="692150"/>
                        <a:ext cx="1003300" cy="539750"/>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86019" name="Picture 4">
            <a:extLst>
              <a:ext uri="{FF2B5EF4-FFF2-40B4-BE49-F238E27FC236}">
                <a16:creationId xmlns:a16="http://schemas.microsoft.com/office/drawing/2014/main" id="{8160AB5A-748A-6843-AD1E-56A3664224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138" y="2695575"/>
            <a:ext cx="5138737" cy="404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3730">
                                            <p:txEl>
                                              <p:pRg st="1" end="1"/>
                                            </p:txEl>
                                          </p:spTgt>
                                        </p:tgtEl>
                                        <p:attrNameLst>
                                          <p:attrName>style.visibility</p:attrName>
                                        </p:attrNameLst>
                                      </p:cBhvr>
                                      <p:to>
                                        <p:strVal val="visible"/>
                                      </p:to>
                                    </p:set>
                                    <p:anim calcmode="lin" valueType="num">
                                      <p:cBhvr additive="base">
                                        <p:cTn id="7" dur="500" fill="hold"/>
                                        <p:tgtEl>
                                          <p:spTgt spid="7373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373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A15C99BE-B421-4134-C53B-1B70EE46C394}"/>
              </a:ext>
            </a:extLst>
          </p:cNvPr>
          <p:cNvSpPr>
            <a:spLocks noGrp="1" noChangeArrowheads="1"/>
          </p:cNvSpPr>
          <p:nvPr>
            <p:ph type="body" sz="half" idx="1"/>
          </p:nvPr>
        </p:nvSpPr>
        <p:spPr>
          <a:xfrm>
            <a:off x="395288" y="1557338"/>
            <a:ext cx="8137525" cy="4114800"/>
          </a:xfrm>
        </p:spPr>
        <p:txBody>
          <a:bodyPr/>
          <a:lstStyle/>
          <a:p>
            <a:pPr eaLnBrk="1" hangingPunct="1">
              <a:spcBef>
                <a:spcPct val="50000"/>
              </a:spcBef>
              <a:buFont typeface="Wingdings" panose="05000000000000000000" pitchFamily="2" charset="2"/>
              <a:buChar char="Ø"/>
            </a:pPr>
            <a:r>
              <a:rPr lang="zh-CN" altLang="en-US" sz="2800">
                <a:latin typeface="Times New Roman" panose="02020603050405020304" pitchFamily="18" charset="0"/>
                <a:ea typeface="楷体_GB2312" pitchFamily="1" charset="-122"/>
              </a:rPr>
              <a:t>数据允许信号，输出，低电平有效，三态。</a:t>
            </a:r>
          </a:p>
          <a:p>
            <a:pPr eaLnBrk="1" hangingPunct="1">
              <a:spcBef>
                <a:spcPct val="50000"/>
              </a:spcBef>
              <a:buFont typeface="Wingdings" panose="05000000000000000000" pitchFamily="2" charset="2"/>
              <a:buChar char="Ø"/>
            </a:pPr>
            <a:r>
              <a:rPr lang="zh-CN" altLang="en-US" sz="2800">
                <a:latin typeface="Times New Roman" panose="02020603050405020304" pitchFamily="18" charset="0"/>
                <a:ea typeface="楷体_GB2312" pitchFamily="1" charset="-122"/>
              </a:rPr>
              <a:t>提供给数据总线收发器8286，表示</a:t>
            </a:r>
            <a:r>
              <a:rPr lang="en-US" altLang="zh-CN" sz="2800">
                <a:latin typeface="Times New Roman" panose="02020603050405020304" pitchFamily="18" charset="0"/>
                <a:ea typeface="楷体_GB2312" pitchFamily="1" charset="-122"/>
              </a:rPr>
              <a:t>CPU</a:t>
            </a:r>
            <a:r>
              <a:rPr lang="zh-CN" altLang="en-US" sz="2800">
                <a:latin typeface="Times New Roman" panose="02020603050405020304" pitchFamily="18" charset="0"/>
                <a:ea typeface="楷体_GB2312" pitchFamily="1" charset="-122"/>
              </a:rPr>
              <a:t>准备发送或接收一个数据。</a:t>
            </a:r>
          </a:p>
          <a:p>
            <a:pPr eaLnBrk="1" hangingPunct="1">
              <a:spcBef>
                <a:spcPct val="50000"/>
              </a:spcBef>
              <a:buFont typeface="Wingdings" panose="05000000000000000000" pitchFamily="2" charset="2"/>
              <a:buChar char="Ø"/>
            </a:pPr>
            <a:r>
              <a:rPr lang="zh-CN" altLang="en-US" sz="2800" b="1">
                <a:solidFill>
                  <a:schemeClr val="folHlink"/>
                </a:solidFill>
                <a:latin typeface="Times New Roman" panose="02020603050405020304" pitchFamily="18" charset="0"/>
                <a:ea typeface="楷体_GB2312" pitchFamily="1" charset="-122"/>
              </a:rPr>
              <a:t>是</a:t>
            </a:r>
            <a:r>
              <a:rPr lang="en-US" altLang="zh-CN" sz="2800" b="1">
                <a:solidFill>
                  <a:schemeClr val="folHlink"/>
                </a:solidFill>
                <a:latin typeface="Times New Roman" panose="02020603050405020304" pitchFamily="18" charset="0"/>
                <a:ea typeface="楷体_GB2312" pitchFamily="1" charset="-122"/>
              </a:rPr>
              <a:t>8086</a:t>
            </a:r>
            <a:r>
              <a:rPr lang="zh-CN" altLang="en-US" sz="2800" b="1">
                <a:solidFill>
                  <a:schemeClr val="folHlink"/>
                </a:solidFill>
                <a:latin typeface="Times New Roman" panose="02020603050405020304" pitchFamily="18" charset="0"/>
                <a:ea typeface="楷体_GB2312" pitchFamily="1" charset="-122"/>
              </a:rPr>
              <a:t>提供给</a:t>
            </a:r>
            <a:r>
              <a:rPr lang="en-US" altLang="zh-CN" sz="2800" b="1">
                <a:solidFill>
                  <a:schemeClr val="folHlink"/>
                </a:solidFill>
                <a:latin typeface="Times New Roman" panose="02020603050405020304" pitchFamily="18" charset="0"/>
                <a:ea typeface="楷体_GB2312" pitchFamily="1" charset="-122"/>
              </a:rPr>
              <a:t>8286/8287</a:t>
            </a:r>
            <a:r>
              <a:rPr lang="zh-CN" altLang="en-US" sz="2800" b="1">
                <a:solidFill>
                  <a:schemeClr val="folHlink"/>
                </a:solidFill>
                <a:latin typeface="Times New Roman" panose="02020603050405020304" pitchFamily="18" charset="0"/>
                <a:ea typeface="楷体_GB2312" pitchFamily="1" charset="-122"/>
              </a:rPr>
              <a:t>（数据收发器）的选通信号，接至数据收发器的      端</a:t>
            </a:r>
            <a:r>
              <a:rPr lang="zh-CN" altLang="en-US" sz="2800">
                <a:latin typeface="Times New Roman" panose="02020603050405020304" pitchFamily="18" charset="0"/>
                <a:ea typeface="楷体_GB2312" pitchFamily="1" charset="-122"/>
              </a:rPr>
              <a:t>。</a:t>
            </a:r>
          </a:p>
        </p:txBody>
      </p:sp>
      <p:graphicFrame>
        <p:nvGraphicFramePr>
          <p:cNvPr id="87042" name="Object 3">
            <a:extLst>
              <a:ext uri="{FF2B5EF4-FFF2-40B4-BE49-F238E27FC236}">
                <a16:creationId xmlns:a16="http://schemas.microsoft.com/office/drawing/2014/main" id="{81E04BA5-7C6F-61B9-7172-D9DD1B689F90}"/>
              </a:ext>
            </a:extLst>
          </p:cNvPr>
          <p:cNvGraphicFramePr>
            <a:graphicFrameLocks noChangeAspect="1"/>
          </p:cNvGraphicFramePr>
          <p:nvPr>
            <p:ph sz="half" idx="2"/>
          </p:nvPr>
        </p:nvGraphicFramePr>
        <p:xfrm>
          <a:off x="4286250" y="750888"/>
          <a:ext cx="860425" cy="517525"/>
        </p:xfrm>
        <a:graphic>
          <a:graphicData uri="http://schemas.openxmlformats.org/presentationml/2006/ole">
            <mc:AlternateContent xmlns:mc="http://schemas.openxmlformats.org/markup-compatibility/2006">
              <mc:Choice xmlns:v="urn:schemas-microsoft-com:vml" Requires="v">
                <p:oleObj r:id="rId2" imgW="318745" imgH="191247" progId="Equation.3">
                  <p:embed/>
                </p:oleObj>
              </mc:Choice>
              <mc:Fallback>
                <p:oleObj r:id="rId2" imgW="318745" imgH="191247"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0" y="750888"/>
                        <a:ext cx="860425" cy="517525"/>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19" name="Object 4">
            <a:extLst>
              <a:ext uri="{FF2B5EF4-FFF2-40B4-BE49-F238E27FC236}">
                <a16:creationId xmlns:a16="http://schemas.microsoft.com/office/drawing/2014/main" id="{067FDB99-85ED-05A5-BD0D-D30F24A354AB}"/>
              </a:ext>
            </a:extLst>
          </p:cNvPr>
          <p:cNvGraphicFramePr>
            <a:graphicFrameLocks noChangeAspect="1"/>
          </p:cNvGraphicFramePr>
          <p:nvPr/>
        </p:nvGraphicFramePr>
        <p:xfrm>
          <a:off x="4424363" y="3716338"/>
          <a:ext cx="508000" cy="433387"/>
        </p:xfrm>
        <a:graphic>
          <a:graphicData uri="http://schemas.openxmlformats.org/presentationml/2006/ole">
            <mc:AlternateContent xmlns:mc="http://schemas.openxmlformats.org/markup-compatibility/2006">
              <mc:Choice xmlns:v="urn:schemas-microsoft-com:vml" Requires="v">
                <p:oleObj r:id="rId4" imgW="253780" imgH="215713" progId="Equation.DSMT4">
                  <p:embed/>
                </p:oleObj>
              </mc:Choice>
              <mc:Fallback>
                <p:oleObj r:id="rId4" imgW="253780" imgH="215713"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4363" y="3716338"/>
                        <a:ext cx="5080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4754">
                                            <p:txEl>
                                              <p:pRg st="0" end="0"/>
                                            </p:txEl>
                                          </p:spTgt>
                                        </p:tgtEl>
                                        <p:attrNameLst>
                                          <p:attrName>style.visibility</p:attrName>
                                        </p:attrNameLst>
                                      </p:cBhvr>
                                      <p:to>
                                        <p:strVal val="visible"/>
                                      </p:to>
                                    </p:set>
                                    <p:anim calcmode="lin" valueType="num">
                                      <p:cBhvr additive="base">
                                        <p:cTn id="7" dur="500" fill="hold"/>
                                        <p:tgtEl>
                                          <p:spTgt spid="7475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475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4754">
                                            <p:txEl>
                                              <p:pRg st="1" end="1"/>
                                            </p:txEl>
                                          </p:spTgt>
                                        </p:tgtEl>
                                        <p:attrNameLst>
                                          <p:attrName>style.visibility</p:attrName>
                                        </p:attrNameLst>
                                      </p:cBhvr>
                                      <p:to>
                                        <p:strVal val="visible"/>
                                      </p:to>
                                    </p:set>
                                    <p:anim calcmode="lin" valueType="num">
                                      <p:cBhvr additive="base">
                                        <p:cTn id="13" dur="500" fill="hold"/>
                                        <p:tgtEl>
                                          <p:spTgt spid="7475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475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4754">
                                            <p:txEl>
                                              <p:pRg st="2" end="2"/>
                                            </p:txEl>
                                          </p:spTgt>
                                        </p:tgtEl>
                                        <p:attrNameLst>
                                          <p:attrName>style.visibility</p:attrName>
                                        </p:attrNameLst>
                                      </p:cBhvr>
                                      <p:to>
                                        <p:strVal val="visible"/>
                                      </p:to>
                                    </p:set>
                                    <p:anim calcmode="lin" valueType="num">
                                      <p:cBhvr additive="base">
                                        <p:cTn id="19" dur="500" fill="hold"/>
                                        <p:tgtEl>
                                          <p:spTgt spid="7475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4754">
                                            <p:txEl>
                                              <p:pRg st="2" end="2"/>
                                            </p:txEl>
                                          </p:spTgt>
                                        </p:tgtEl>
                                        <p:attrNameLst>
                                          <p:attrName>ppt_y</p:attrName>
                                        </p:attrNameLst>
                                      </p:cBhvr>
                                      <p:tavLst>
                                        <p:tav tm="0">
                                          <p:val>
                                            <p:strVal val="1+#ppt_h/2"/>
                                          </p:val>
                                        </p:tav>
                                        <p:tav tm="100000">
                                          <p:val>
                                            <p:strVal val="#ppt_y"/>
                                          </p:val>
                                        </p:tav>
                                      </p:tavLst>
                                    </p:anim>
                                  </p:childTnLst>
                                </p:cTn>
                              </p:par>
                              <p:par>
                                <p:cTn id="21" presetID="3" presetClass="entr" presetSubtype="10" fill="hold" nodeType="withEffect">
                                  <p:stCondLst>
                                    <p:cond delay="0"/>
                                  </p:stCondLst>
                                  <p:childTnLst>
                                    <p:set>
                                      <p:cBhvr>
                                        <p:cTn id="22" dur="1" fill="hold">
                                          <p:stCondLst>
                                            <p:cond delay="0"/>
                                          </p:stCondLst>
                                        </p:cTn>
                                        <p:tgtEl>
                                          <p:spTgt spid="9219"/>
                                        </p:tgtEl>
                                        <p:attrNameLst>
                                          <p:attrName>style.visibility</p:attrName>
                                        </p:attrNameLst>
                                      </p:cBhvr>
                                      <p:to>
                                        <p:strVal val="visible"/>
                                      </p:to>
                                    </p:set>
                                    <p:animEffect transition="in" filter="blinds(horizontal)">
                                      <p:cBhvr>
                                        <p:cTn id="23" dur="500"/>
                                        <p:tgtEl>
                                          <p:spTgt spid="9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CDC395F2-E211-CE23-D9A1-3A9657EB6527}"/>
              </a:ext>
            </a:extLst>
          </p:cNvPr>
          <p:cNvSpPr>
            <a:spLocks noGrp="1" noChangeArrowheads="1"/>
          </p:cNvSpPr>
          <p:nvPr>
            <p:ph type="body" sz="half" idx="1"/>
          </p:nvPr>
        </p:nvSpPr>
        <p:spPr>
          <a:xfrm>
            <a:off x="395288" y="1557338"/>
            <a:ext cx="8280400" cy="4114800"/>
          </a:xfrm>
        </p:spPr>
        <p:txBody>
          <a:bodyPr/>
          <a:lstStyle/>
          <a:p>
            <a:pPr eaLnBrk="1" hangingPunct="1">
              <a:spcBef>
                <a:spcPct val="50000"/>
              </a:spcBef>
              <a:buFont typeface="Wingdings" panose="05000000000000000000" pitchFamily="2" charset="2"/>
              <a:buChar char="Ø"/>
            </a:pPr>
            <a:r>
              <a:rPr lang="zh-CN" altLang="en-US" sz="2400">
                <a:latin typeface="Times New Roman" panose="02020603050405020304" pitchFamily="18" charset="0"/>
                <a:ea typeface="楷体_GB2312" pitchFamily="1" charset="-122"/>
              </a:rPr>
              <a:t>等待测试信号，输入，低电平有效。</a:t>
            </a:r>
          </a:p>
          <a:p>
            <a:pPr eaLnBrk="1" hangingPunct="1">
              <a:spcBef>
                <a:spcPct val="50000"/>
              </a:spcBef>
              <a:buFont typeface="Wingdings" panose="05000000000000000000" pitchFamily="2" charset="2"/>
              <a:buChar char="Ø"/>
            </a:pPr>
            <a:r>
              <a:rPr lang="zh-CN" altLang="en-US" sz="2400">
                <a:solidFill>
                  <a:schemeClr val="hlink"/>
                </a:solidFill>
                <a:latin typeface="Times New Roman" panose="02020603050405020304" pitchFamily="18" charset="0"/>
                <a:ea typeface="楷体_GB2312" pitchFamily="1" charset="-122"/>
              </a:rPr>
              <a:t>用于多处理器系统中且只有在执行</a:t>
            </a:r>
            <a:r>
              <a:rPr lang="en-US" altLang="zh-CN" sz="2400">
                <a:solidFill>
                  <a:schemeClr val="hlink"/>
                </a:solidFill>
                <a:latin typeface="Times New Roman" panose="02020603050405020304" pitchFamily="18" charset="0"/>
                <a:ea typeface="楷体_GB2312" pitchFamily="1" charset="-122"/>
              </a:rPr>
              <a:t>WAIT</a:t>
            </a:r>
            <a:r>
              <a:rPr lang="zh-CN" altLang="en-US" sz="2400">
                <a:solidFill>
                  <a:schemeClr val="hlink"/>
                </a:solidFill>
                <a:latin typeface="Times New Roman" panose="02020603050405020304" pitchFamily="18" charset="0"/>
                <a:ea typeface="楷体_GB2312" pitchFamily="1" charset="-122"/>
              </a:rPr>
              <a:t>指令时才使用</a:t>
            </a:r>
            <a:r>
              <a:rPr lang="zh-CN" altLang="en-US" sz="2400">
                <a:latin typeface="Times New Roman" panose="02020603050405020304" pitchFamily="18" charset="0"/>
                <a:ea typeface="楷体_GB2312" pitchFamily="1" charset="-122"/>
              </a:rPr>
              <a:t>。</a:t>
            </a:r>
          </a:p>
          <a:p>
            <a:pPr eaLnBrk="1" hangingPunct="1">
              <a:spcBef>
                <a:spcPct val="50000"/>
              </a:spcBef>
              <a:buFont typeface="Wingdings" panose="05000000000000000000" pitchFamily="2" charset="2"/>
              <a:buChar char="Ø"/>
            </a:pPr>
            <a:r>
              <a:rPr lang="zh-CN" altLang="en-US" sz="2400">
                <a:latin typeface="Times New Roman" panose="02020603050405020304" pitchFamily="18" charset="0"/>
                <a:ea typeface="楷体_GB2312" pitchFamily="1" charset="-122"/>
              </a:rPr>
              <a:t>当</a:t>
            </a:r>
            <a:r>
              <a:rPr lang="en-US" altLang="zh-CN" sz="2400">
                <a:latin typeface="Times New Roman" panose="02020603050405020304" pitchFamily="18" charset="0"/>
                <a:ea typeface="楷体_GB2312" pitchFamily="1" charset="-122"/>
              </a:rPr>
              <a:t>CPU</a:t>
            </a:r>
            <a:r>
              <a:rPr lang="zh-CN" altLang="en-US" sz="2400">
                <a:latin typeface="Times New Roman" panose="02020603050405020304" pitchFamily="18" charset="0"/>
                <a:ea typeface="楷体_GB2312" pitchFamily="1" charset="-122"/>
              </a:rPr>
              <a:t>执行</a:t>
            </a:r>
            <a:r>
              <a:rPr lang="en-US" altLang="zh-CN" sz="2400">
                <a:latin typeface="Times New Roman" panose="02020603050405020304" pitchFamily="18" charset="0"/>
                <a:ea typeface="楷体_GB2312" pitchFamily="1" charset="-122"/>
              </a:rPr>
              <a:t>WAIT</a:t>
            </a:r>
            <a:r>
              <a:rPr lang="zh-CN" altLang="en-US" sz="2400">
                <a:latin typeface="Times New Roman" panose="02020603050405020304" pitchFamily="18" charset="0"/>
                <a:ea typeface="楷体_GB2312" pitchFamily="1" charset="-122"/>
              </a:rPr>
              <a:t>指令时，每隔5个时钟周期对该引脚进行一次测试：若          ＝</a:t>
            </a:r>
            <a:r>
              <a:rPr lang="en-US" altLang="zh-CN" sz="2400">
                <a:latin typeface="Times New Roman" panose="02020603050405020304" pitchFamily="18" charset="0"/>
                <a:ea typeface="楷体_GB2312" pitchFamily="1" charset="-122"/>
              </a:rPr>
              <a:t>1</a:t>
            </a:r>
            <a:r>
              <a:rPr lang="zh-CN" altLang="en-US" sz="2400">
                <a:latin typeface="Times New Roman" panose="02020603050405020304" pitchFamily="18" charset="0"/>
                <a:ea typeface="楷体_GB2312" pitchFamily="1" charset="-122"/>
              </a:rPr>
              <a:t>时，</a:t>
            </a:r>
            <a:r>
              <a:rPr lang="en-US" altLang="zh-CN" sz="2400">
                <a:latin typeface="Times New Roman" panose="02020603050405020304" pitchFamily="18" charset="0"/>
                <a:ea typeface="楷体_GB2312" pitchFamily="1" charset="-122"/>
              </a:rPr>
              <a:t>CPU</a:t>
            </a:r>
            <a:r>
              <a:rPr lang="zh-CN" altLang="en-US" sz="2400">
                <a:latin typeface="Times New Roman" panose="02020603050405020304" pitchFamily="18" charset="0"/>
                <a:ea typeface="楷体_GB2312" pitchFamily="1" charset="-122"/>
              </a:rPr>
              <a:t>将停止取下条指令而进入等待状态，重复执行</a:t>
            </a:r>
            <a:r>
              <a:rPr lang="en-US" altLang="zh-CN" sz="2400">
                <a:latin typeface="Times New Roman" panose="02020603050405020304" pitchFamily="18" charset="0"/>
                <a:ea typeface="楷体_GB2312" pitchFamily="1" charset="-122"/>
              </a:rPr>
              <a:t>WAIT</a:t>
            </a:r>
            <a:r>
              <a:rPr lang="zh-CN" altLang="en-US" sz="2400">
                <a:latin typeface="Times New Roman" panose="02020603050405020304" pitchFamily="18" charset="0"/>
                <a:ea typeface="楷体_GB2312" pitchFamily="1" charset="-122"/>
              </a:rPr>
              <a:t>指令，直至该信号为</a:t>
            </a:r>
            <a:r>
              <a:rPr lang="en-US" altLang="zh-CN" sz="2400">
                <a:latin typeface="Times New Roman" panose="02020603050405020304" pitchFamily="18" charset="0"/>
                <a:ea typeface="楷体_GB2312" pitchFamily="1" charset="-122"/>
              </a:rPr>
              <a:t>0</a:t>
            </a:r>
            <a:r>
              <a:rPr lang="zh-CN" altLang="en-US" sz="2400">
                <a:latin typeface="Times New Roman" panose="02020603050405020304" pitchFamily="18" charset="0"/>
                <a:ea typeface="楷体_GB2312" pitchFamily="1" charset="-122"/>
              </a:rPr>
              <a:t>，</a:t>
            </a:r>
            <a:r>
              <a:rPr lang="en-US" altLang="zh-CN" sz="2400">
                <a:latin typeface="Times New Roman" panose="02020603050405020304" pitchFamily="18" charset="0"/>
                <a:ea typeface="楷体_GB2312" pitchFamily="1" charset="-122"/>
              </a:rPr>
              <a:t>CPU</a:t>
            </a:r>
            <a:r>
              <a:rPr lang="zh-CN" altLang="en-US" sz="2400">
                <a:latin typeface="Times New Roman" panose="02020603050405020304" pitchFamily="18" charset="0"/>
                <a:ea typeface="楷体_GB2312" pitchFamily="1" charset="-122"/>
              </a:rPr>
              <a:t>才继续往下执行被暂停的指令。</a:t>
            </a:r>
          </a:p>
          <a:p>
            <a:pPr eaLnBrk="1" hangingPunct="1">
              <a:spcBef>
                <a:spcPct val="50000"/>
              </a:spcBef>
              <a:buFont typeface="Wingdings" panose="05000000000000000000" pitchFamily="2" charset="2"/>
              <a:buChar char="Ø"/>
            </a:pPr>
            <a:r>
              <a:rPr lang="zh-CN" altLang="en-US" sz="2400">
                <a:latin typeface="Times New Roman" panose="02020603050405020304" pitchFamily="18" charset="0"/>
                <a:ea typeface="楷体_GB2312" pitchFamily="1" charset="-122"/>
              </a:rPr>
              <a:t>等待期间允许外部中断。</a:t>
            </a:r>
          </a:p>
          <a:p>
            <a:pPr eaLnBrk="1" hangingPunct="1">
              <a:spcBef>
                <a:spcPct val="50000"/>
              </a:spcBef>
              <a:buFont typeface="Wingdings" panose="05000000000000000000" pitchFamily="2" charset="2"/>
              <a:buChar char="Ø"/>
            </a:pPr>
            <a:r>
              <a:rPr lang="en-US" altLang="zh-CN" sz="2400">
                <a:latin typeface="Times New Roman" panose="02020603050405020304" pitchFamily="18" charset="0"/>
                <a:ea typeface="楷体_GB2312" pitchFamily="1" charset="-122"/>
              </a:rPr>
              <a:t>WAIT</a:t>
            </a:r>
            <a:r>
              <a:rPr lang="zh-CN" altLang="en-US" sz="2400">
                <a:latin typeface="Times New Roman" panose="02020603050405020304" pitchFamily="18" charset="0"/>
                <a:ea typeface="楷体_GB2312" pitchFamily="1" charset="-122"/>
              </a:rPr>
              <a:t>指令可使</a:t>
            </a:r>
            <a:r>
              <a:rPr lang="en-US" altLang="zh-CN" sz="2400">
                <a:latin typeface="Times New Roman" panose="02020603050405020304" pitchFamily="18" charset="0"/>
                <a:ea typeface="楷体_GB2312" pitchFamily="1" charset="-122"/>
              </a:rPr>
              <a:t>CPU</a:t>
            </a:r>
            <a:r>
              <a:rPr lang="zh-CN" altLang="en-US" sz="2400">
                <a:latin typeface="Times New Roman" panose="02020603050405020304" pitchFamily="18" charset="0"/>
                <a:ea typeface="楷体_GB2312" pitchFamily="1" charset="-122"/>
              </a:rPr>
              <a:t>与外部硬件同步，       相当于外部硬件的同步信号。</a:t>
            </a:r>
            <a:r>
              <a:rPr lang="zh-CN" altLang="en-US" sz="2400" b="1">
                <a:latin typeface="Times New Roman" panose="02020603050405020304" pitchFamily="18" charset="0"/>
                <a:ea typeface="楷体_GB2312" pitchFamily="1" charset="-122"/>
              </a:rPr>
              <a:t> </a:t>
            </a:r>
          </a:p>
        </p:txBody>
      </p:sp>
      <p:graphicFrame>
        <p:nvGraphicFramePr>
          <p:cNvPr id="88066" name="Object 3">
            <a:extLst>
              <a:ext uri="{FF2B5EF4-FFF2-40B4-BE49-F238E27FC236}">
                <a16:creationId xmlns:a16="http://schemas.microsoft.com/office/drawing/2014/main" id="{07796865-0EC0-A61C-4101-8C663A0C76CC}"/>
              </a:ext>
            </a:extLst>
          </p:cNvPr>
          <p:cNvGraphicFramePr>
            <a:graphicFrameLocks noChangeAspect="1"/>
          </p:cNvGraphicFramePr>
          <p:nvPr/>
        </p:nvGraphicFramePr>
        <p:xfrm>
          <a:off x="4427538" y="620713"/>
          <a:ext cx="1068387" cy="573087"/>
        </p:xfrm>
        <a:graphic>
          <a:graphicData uri="http://schemas.openxmlformats.org/presentationml/2006/ole">
            <mc:AlternateContent xmlns:mc="http://schemas.openxmlformats.org/markup-compatibility/2006">
              <mc:Choice xmlns:v="urn:schemas-microsoft-com:vml" Requires="v">
                <p:oleObj r:id="rId2" imgW="356995" imgH="191247" progId="Equation.3">
                  <p:embed/>
                </p:oleObj>
              </mc:Choice>
              <mc:Fallback>
                <p:oleObj r:id="rId2" imgW="356995" imgH="191247"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538" y="620713"/>
                        <a:ext cx="1068387"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5780" name="Object 4">
            <a:extLst>
              <a:ext uri="{FF2B5EF4-FFF2-40B4-BE49-F238E27FC236}">
                <a16:creationId xmlns:a16="http://schemas.microsoft.com/office/drawing/2014/main" id="{2777FC56-B804-8389-AF48-536161A6BC16}"/>
              </a:ext>
            </a:extLst>
          </p:cNvPr>
          <p:cNvGraphicFramePr>
            <a:graphicFrameLocks noChangeAspect="1"/>
          </p:cNvGraphicFramePr>
          <p:nvPr/>
        </p:nvGraphicFramePr>
        <p:xfrm>
          <a:off x="5724525" y="4875213"/>
          <a:ext cx="792163" cy="425450"/>
        </p:xfrm>
        <a:graphic>
          <a:graphicData uri="http://schemas.openxmlformats.org/presentationml/2006/ole">
            <mc:AlternateContent xmlns:mc="http://schemas.openxmlformats.org/markup-compatibility/2006">
              <mc:Choice xmlns:v="urn:schemas-microsoft-com:vml" Requires="v">
                <p:oleObj r:id="rId2" imgW="356995" imgH="191247" progId="Equation.3">
                  <p:embed/>
                </p:oleObj>
              </mc:Choice>
              <mc:Fallback>
                <p:oleObj r:id="rId2" imgW="356995" imgH="191247"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4525" y="4875213"/>
                        <a:ext cx="792163"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5781" name="Object 5">
            <a:extLst>
              <a:ext uri="{FF2B5EF4-FFF2-40B4-BE49-F238E27FC236}">
                <a16:creationId xmlns:a16="http://schemas.microsoft.com/office/drawing/2014/main" id="{2F20FE4D-927A-593A-673C-B983A02A0929}"/>
              </a:ext>
            </a:extLst>
          </p:cNvPr>
          <p:cNvGraphicFramePr>
            <a:graphicFrameLocks noChangeAspect="1"/>
          </p:cNvGraphicFramePr>
          <p:nvPr/>
        </p:nvGraphicFramePr>
        <p:xfrm>
          <a:off x="2700338" y="3074988"/>
          <a:ext cx="792162" cy="425450"/>
        </p:xfrm>
        <a:graphic>
          <a:graphicData uri="http://schemas.openxmlformats.org/presentationml/2006/ole">
            <mc:AlternateContent xmlns:mc="http://schemas.openxmlformats.org/markup-compatibility/2006">
              <mc:Choice xmlns:v="urn:schemas-microsoft-com:vml" Requires="v">
                <p:oleObj r:id="rId4" imgW="356995" imgH="191247" progId="Equation.3">
                  <p:embed/>
                </p:oleObj>
              </mc:Choice>
              <mc:Fallback>
                <p:oleObj r:id="rId4" imgW="356995" imgH="191247"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338" y="3074988"/>
                        <a:ext cx="79216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778">
                                            <p:txEl>
                                              <p:pRg st="1" end="1"/>
                                            </p:txEl>
                                          </p:spTgt>
                                        </p:tgtEl>
                                        <p:attrNameLst>
                                          <p:attrName>style.visibility</p:attrName>
                                        </p:attrNameLst>
                                      </p:cBhvr>
                                      <p:to>
                                        <p:strVal val="visible"/>
                                      </p:to>
                                    </p:set>
                                    <p:anim calcmode="lin" valueType="num">
                                      <p:cBhvr additive="base">
                                        <p:cTn id="7" dur="500" fill="hold"/>
                                        <p:tgtEl>
                                          <p:spTgt spid="7577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577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5778">
                                            <p:txEl>
                                              <p:pRg st="2" end="2"/>
                                            </p:txEl>
                                          </p:spTgt>
                                        </p:tgtEl>
                                        <p:attrNameLst>
                                          <p:attrName>style.visibility</p:attrName>
                                        </p:attrNameLst>
                                      </p:cBhvr>
                                      <p:to>
                                        <p:strVal val="visible"/>
                                      </p:to>
                                    </p:set>
                                    <p:anim calcmode="lin" valueType="num">
                                      <p:cBhvr additive="base">
                                        <p:cTn id="13" dur="500" fill="hold"/>
                                        <p:tgtEl>
                                          <p:spTgt spid="7577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5778">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5781"/>
                                        </p:tgtEl>
                                        <p:attrNameLst>
                                          <p:attrName>style.visibility</p:attrName>
                                        </p:attrNameLst>
                                      </p:cBhvr>
                                      <p:to>
                                        <p:strVal val="visible"/>
                                      </p:to>
                                    </p:set>
                                    <p:anim calcmode="lin" valueType="num">
                                      <p:cBhvr additive="base">
                                        <p:cTn id="17" dur="500" fill="hold"/>
                                        <p:tgtEl>
                                          <p:spTgt spid="75781"/>
                                        </p:tgtEl>
                                        <p:attrNameLst>
                                          <p:attrName>ppt_x</p:attrName>
                                        </p:attrNameLst>
                                      </p:cBhvr>
                                      <p:tavLst>
                                        <p:tav tm="0">
                                          <p:val>
                                            <p:strVal val="#ppt_x"/>
                                          </p:val>
                                        </p:tav>
                                        <p:tav tm="100000">
                                          <p:val>
                                            <p:strVal val="#ppt_x"/>
                                          </p:val>
                                        </p:tav>
                                      </p:tavLst>
                                    </p:anim>
                                    <p:anim calcmode="lin" valueType="num">
                                      <p:cBhvr additive="base">
                                        <p:cTn id="18" dur="500" fill="hold"/>
                                        <p:tgtEl>
                                          <p:spTgt spid="75781"/>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5778">
                                            <p:txEl>
                                              <p:pRg st="3" end="3"/>
                                            </p:txEl>
                                          </p:spTgt>
                                        </p:tgtEl>
                                        <p:attrNameLst>
                                          <p:attrName>style.visibility</p:attrName>
                                        </p:attrNameLst>
                                      </p:cBhvr>
                                      <p:to>
                                        <p:strVal val="visible"/>
                                      </p:to>
                                    </p:set>
                                    <p:anim calcmode="lin" valueType="num">
                                      <p:cBhvr additive="base">
                                        <p:cTn id="23" dur="500" fill="hold"/>
                                        <p:tgtEl>
                                          <p:spTgt spid="75778">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577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5778">
                                            <p:txEl>
                                              <p:pRg st="4" end="4"/>
                                            </p:txEl>
                                          </p:spTgt>
                                        </p:tgtEl>
                                        <p:attrNameLst>
                                          <p:attrName>style.visibility</p:attrName>
                                        </p:attrNameLst>
                                      </p:cBhvr>
                                      <p:to>
                                        <p:strVal val="visible"/>
                                      </p:to>
                                    </p:set>
                                    <p:anim calcmode="lin" valueType="num">
                                      <p:cBhvr additive="base">
                                        <p:cTn id="29" dur="500" fill="hold"/>
                                        <p:tgtEl>
                                          <p:spTgt spid="75778">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5778">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75780"/>
                                        </p:tgtEl>
                                        <p:attrNameLst>
                                          <p:attrName>style.visibility</p:attrName>
                                        </p:attrNameLst>
                                      </p:cBhvr>
                                      <p:to>
                                        <p:strVal val="visible"/>
                                      </p:to>
                                    </p:set>
                                    <p:anim calcmode="lin" valueType="num">
                                      <p:cBhvr additive="base">
                                        <p:cTn id="33" dur="500" fill="hold"/>
                                        <p:tgtEl>
                                          <p:spTgt spid="75780"/>
                                        </p:tgtEl>
                                        <p:attrNameLst>
                                          <p:attrName>ppt_x</p:attrName>
                                        </p:attrNameLst>
                                      </p:cBhvr>
                                      <p:tavLst>
                                        <p:tav tm="0">
                                          <p:val>
                                            <p:strVal val="#ppt_x"/>
                                          </p:val>
                                        </p:tav>
                                        <p:tav tm="100000">
                                          <p:val>
                                            <p:strVal val="#ppt_x"/>
                                          </p:val>
                                        </p:tav>
                                      </p:tavLst>
                                    </p:anim>
                                    <p:anim calcmode="lin" valueType="num">
                                      <p:cBhvr additive="base">
                                        <p:cTn id="34" dur="500" fill="hold"/>
                                        <p:tgtEl>
                                          <p:spTgt spid="757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33974548-C6E6-3DDC-9F11-86B24D4810F6}"/>
              </a:ext>
            </a:extLst>
          </p:cNvPr>
          <p:cNvSpPr>
            <a:spLocks noGrp="1" noChangeArrowheads="1"/>
          </p:cNvSpPr>
          <p:nvPr>
            <p:ph type="title"/>
          </p:nvPr>
        </p:nvSpPr>
        <p:spPr>
          <a:xfrm>
            <a:off x="1150938" y="333375"/>
            <a:ext cx="7793037" cy="865188"/>
          </a:xfrm>
        </p:spPr>
        <p:txBody>
          <a:bodyPr/>
          <a:lstStyle/>
          <a:p>
            <a:pPr algn="ctr" eaLnBrk="1" hangingPunct="1">
              <a:defRPr/>
            </a:pP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CLK</a:t>
            </a:r>
            <a:endPar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89090" name="Rectangle 3">
            <a:extLst>
              <a:ext uri="{FF2B5EF4-FFF2-40B4-BE49-F238E27FC236}">
                <a16:creationId xmlns:a16="http://schemas.microsoft.com/office/drawing/2014/main" id="{4BC35FF3-31B9-6911-46BF-83DB921F17F7}"/>
              </a:ext>
            </a:extLst>
          </p:cNvPr>
          <p:cNvSpPr>
            <a:spLocks noGrp="1" noChangeArrowheads="1"/>
          </p:cNvSpPr>
          <p:nvPr>
            <p:ph idx="1"/>
          </p:nvPr>
        </p:nvSpPr>
        <p:spPr>
          <a:xfrm>
            <a:off x="468313" y="1628775"/>
            <a:ext cx="8210550" cy="4114800"/>
          </a:xfrm>
        </p:spPr>
        <p:txBody>
          <a:bodyPr/>
          <a:lstStyle/>
          <a:p>
            <a:pPr eaLnBrk="1" hangingPunct="1">
              <a:spcBef>
                <a:spcPct val="50000"/>
              </a:spcBef>
              <a:buFont typeface="Wingdings" panose="05000000000000000000" pitchFamily="2" charset="2"/>
              <a:buChar char="Ø"/>
            </a:pPr>
            <a:r>
              <a:rPr lang="zh-CN" altLang="en-US">
                <a:latin typeface="Times New Roman" panose="02020603050405020304" pitchFamily="18" charset="0"/>
                <a:ea typeface="楷体_GB2312" pitchFamily="1" charset="-122"/>
              </a:rPr>
              <a:t>系统时钟，输入</a:t>
            </a:r>
          </a:p>
          <a:p>
            <a:pPr eaLnBrk="1" hangingPunct="1">
              <a:spcBef>
                <a:spcPct val="50000"/>
              </a:spcBef>
              <a:buFont typeface="Wingdings" panose="05000000000000000000" pitchFamily="2" charset="2"/>
              <a:buChar char="Ø"/>
            </a:pPr>
            <a:r>
              <a:rPr lang="zh-CN" altLang="en-US">
                <a:latin typeface="Times New Roman" panose="02020603050405020304" pitchFamily="18" charset="0"/>
                <a:ea typeface="楷体_GB2312" pitchFamily="1" charset="-122"/>
              </a:rPr>
              <a:t>通常与8284</a:t>
            </a:r>
            <a:r>
              <a:rPr lang="en-US" altLang="zh-CN">
                <a:latin typeface="Times New Roman" panose="02020603050405020304" pitchFamily="18" charset="0"/>
                <a:ea typeface="楷体_GB2312" pitchFamily="1" charset="-122"/>
              </a:rPr>
              <a:t>A</a:t>
            </a:r>
            <a:r>
              <a:rPr lang="zh-CN" altLang="en-US">
                <a:latin typeface="Times New Roman" panose="02020603050405020304" pitchFamily="18" charset="0"/>
                <a:ea typeface="楷体_GB2312" pitchFamily="1" charset="-122"/>
              </a:rPr>
              <a:t>时钟发生器的时钟输出端</a:t>
            </a:r>
            <a:r>
              <a:rPr lang="en-US" altLang="zh-CN">
                <a:latin typeface="Times New Roman" panose="02020603050405020304" pitchFamily="18" charset="0"/>
                <a:ea typeface="楷体_GB2312" pitchFamily="1" charset="-122"/>
              </a:rPr>
              <a:t>CLK</a:t>
            </a:r>
            <a:r>
              <a:rPr lang="zh-CN" altLang="en-US">
                <a:latin typeface="Times New Roman" panose="02020603050405020304" pitchFamily="18" charset="0"/>
                <a:ea typeface="楷体_GB2312" pitchFamily="1" charset="-122"/>
              </a:rPr>
              <a:t>相连。该时钟信号的低</a:t>
            </a:r>
            <a:r>
              <a:rPr lang="en-US" altLang="zh-CN">
                <a:latin typeface="Times New Roman" panose="02020603050405020304" pitchFamily="18" charset="0"/>
                <a:ea typeface="楷体_GB2312" pitchFamily="1" charset="-122"/>
              </a:rPr>
              <a:t>/</a:t>
            </a:r>
            <a:r>
              <a:rPr lang="zh-CN" altLang="en-US">
                <a:latin typeface="Times New Roman" panose="02020603050405020304" pitchFamily="18" charset="0"/>
                <a:ea typeface="楷体_GB2312" pitchFamily="1" charset="-122"/>
              </a:rPr>
              <a:t>高之比常采用</a:t>
            </a:r>
            <a:r>
              <a:rPr lang="en-US" altLang="zh-CN">
                <a:latin typeface="Times New Roman" panose="02020603050405020304" pitchFamily="18" charset="0"/>
                <a:ea typeface="楷体_GB2312" pitchFamily="1" charset="-122"/>
              </a:rPr>
              <a:t>2</a:t>
            </a:r>
            <a:r>
              <a:rPr lang="zh-CN" altLang="en-US">
                <a:latin typeface="Times New Roman" panose="02020603050405020304" pitchFamily="18" charset="0"/>
                <a:ea typeface="楷体_GB2312" pitchFamily="1" charset="-122"/>
              </a:rPr>
              <a:t>：</a:t>
            </a:r>
            <a:r>
              <a:rPr lang="en-US" altLang="zh-CN">
                <a:latin typeface="Times New Roman" panose="02020603050405020304" pitchFamily="18" charset="0"/>
                <a:ea typeface="楷体_GB2312" pitchFamily="1" charset="-122"/>
              </a:rPr>
              <a:t>1</a:t>
            </a:r>
            <a:r>
              <a:rPr lang="zh-CN" altLang="en-US">
                <a:latin typeface="Times New Roman" panose="02020603050405020304" pitchFamily="18" charset="0"/>
                <a:ea typeface="楷体_GB2312" pitchFamily="1" charset="-122"/>
              </a:rPr>
              <a:t>。</a:t>
            </a:r>
          </a:p>
          <a:p>
            <a:pPr eaLnBrk="1" hangingPunct="1">
              <a:spcBef>
                <a:spcPct val="50000"/>
              </a:spcBef>
              <a:buFont typeface="Wingdings" panose="05000000000000000000" pitchFamily="2" charset="2"/>
              <a:buChar char="Ø"/>
            </a:pPr>
            <a:r>
              <a:rPr lang="en-US" altLang="zh-CN">
                <a:latin typeface="Times New Roman" panose="02020603050405020304" pitchFamily="18" charset="0"/>
                <a:ea typeface="楷体_GB2312" pitchFamily="1" charset="-122"/>
              </a:rPr>
              <a:t>8086 CPU</a:t>
            </a:r>
            <a:r>
              <a:rPr lang="zh-CN" altLang="en-US">
                <a:latin typeface="Times New Roman" panose="02020603050405020304" pitchFamily="18" charset="0"/>
                <a:ea typeface="楷体_GB2312" pitchFamily="1" charset="-122"/>
              </a:rPr>
              <a:t>的标准时钟频率为</a:t>
            </a:r>
            <a:r>
              <a:rPr lang="en-US" altLang="zh-CN">
                <a:latin typeface="Times New Roman" panose="02020603050405020304" pitchFamily="18" charset="0"/>
                <a:ea typeface="楷体_GB2312" pitchFamily="1" charset="-122"/>
              </a:rPr>
              <a:t>5 MHz</a:t>
            </a:r>
            <a:r>
              <a:rPr lang="zh-CN" altLang="en-US">
                <a:latin typeface="Times New Roman" panose="02020603050405020304" pitchFamily="18" charset="0"/>
                <a:ea typeface="楷体_GB2312" pitchFamily="1" charset="-122"/>
              </a:rPr>
              <a:t>。</a:t>
            </a:r>
            <a:endParaRPr lang="zh-CN" altLang="en-US" b="1">
              <a:latin typeface="Times New Roman" panose="02020603050405020304" pitchFamily="18" charset="0"/>
              <a:ea typeface="楷体_GB2312" pitchFamily="1" charset="-122"/>
            </a:endParaRPr>
          </a:p>
        </p:txBody>
      </p:sp>
    </p:spTree>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9A35D614-F03C-FD13-9265-2F803F3F6B78}"/>
              </a:ext>
            </a:extLst>
          </p:cNvPr>
          <p:cNvSpPr>
            <a:spLocks noGrp="1" noChangeArrowheads="1"/>
          </p:cNvSpPr>
          <p:nvPr>
            <p:ph type="title"/>
          </p:nvPr>
        </p:nvSpPr>
        <p:spPr>
          <a:xfrm>
            <a:off x="1150938" y="404813"/>
            <a:ext cx="7793037" cy="792162"/>
          </a:xfrm>
        </p:spPr>
        <p:txBody>
          <a:bodyPr/>
          <a:lstStyle/>
          <a:p>
            <a:pPr algn="ctr" eaLnBrk="1" hangingPunct="1">
              <a:defRPr/>
            </a:pP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V</a:t>
            </a:r>
            <a:r>
              <a:rPr lang="en-US" sz="3600" b="1" baseline="-25000">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CC</a:t>
            </a:r>
            <a:r>
              <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a:t>
            </a: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GND</a:t>
            </a:r>
            <a:endPar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90114" name="Rectangle 3">
            <a:extLst>
              <a:ext uri="{FF2B5EF4-FFF2-40B4-BE49-F238E27FC236}">
                <a16:creationId xmlns:a16="http://schemas.microsoft.com/office/drawing/2014/main" id="{FCA71DC9-6836-2F4A-85D1-D0EB3FA685C8}"/>
              </a:ext>
            </a:extLst>
          </p:cNvPr>
          <p:cNvSpPr>
            <a:spLocks noGrp="1" noChangeArrowheads="1"/>
          </p:cNvSpPr>
          <p:nvPr>
            <p:ph idx="1"/>
          </p:nvPr>
        </p:nvSpPr>
        <p:spPr>
          <a:xfrm>
            <a:off x="468313" y="1628775"/>
            <a:ext cx="7772400" cy="4114800"/>
          </a:xfrm>
        </p:spPr>
        <p:txBody>
          <a:bodyPr/>
          <a:lstStyle/>
          <a:p>
            <a:pPr eaLnBrk="1" hangingPunct="1">
              <a:spcBef>
                <a:spcPct val="50000"/>
              </a:spcBef>
              <a:buFont typeface="Wingdings" panose="05000000000000000000" pitchFamily="2" charset="2"/>
              <a:buChar char="Ø"/>
            </a:pPr>
            <a:r>
              <a:rPr lang="zh-CN" altLang="en-US">
                <a:latin typeface="Times New Roman" panose="02020603050405020304" pitchFamily="18" charset="0"/>
                <a:ea typeface="楷体_GB2312" pitchFamily="1" charset="-122"/>
              </a:rPr>
              <a:t>电源线</a:t>
            </a:r>
            <a:r>
              <a:rPr lang="en-US" altLang="zh-CN">
                <a:latin typeface="Times New Roman" panose="02020603050405020304" pitchFamily="18" charset="0"/>
                <a:ea typeface="楷体_GB2312" pitchFamily="1" charset="-122"/>
              </a:rPr>
              <a:t>V</a:t>
            </a:r>
            <a:r>
              <a:rPr lang="en-US" altLang="zh-CN" baseline="-25000">
                <a:latin typeface="Times New Roman" panose="02020603050405020304" pitchFamily="18" charset="0"/>
                <a:ea typeface="楷体_GB2312" pitchFamily="1" charset="-122"/>
              </a:rPr>
              <a:t>CC</a:t>
            </a:r>
            <a:r>
              <a:rPr lang="zh-CN" altLang="en-US">
                <a:latin typeface="Times New Roman" panose="02020603050405020304" pitchFamily="18" charset="0"/>
                <a:ea typeface="楷体_GB2312" pitchFamily="1" charset="-122"/>
              </a:rPr>
              <a:t>接入的电压为+5</a:t>
            </a:r>
            <a:r>
              <a:rPr lang="en-US" altLang="zh-CN">
                <a:latin typeface="Times New Roman" panose="02020603050405020304" pitchFamily="18" charset="0"/>
                <a:ea typeface="楷体_GB2312" pitchFamily="1" charset="-122"/>
              </a:rPr>
              <a:t>V±10</a:t>
            </a:r>
            <a:r>
              <a:rPr lang="zh-CN" altLang="en-US">
                <a:latin typeface="Times New Roman" panose="02020603050405020304" pitchFamily="18" charset="0"/>
                <a:ea typeface="楷体_GB2312" pitchFamily="1" charset="-122"/>
              </a:rPr>
              <a:t>％。</a:t>
            </a:r>
          </a:p>
          <a:p>
            <a:pPr eaLnBrk="1" hangingPunct="1">
              <a:spcBef>
                <a:spcPct val="50000"/>
              </a:spcBef>
              <a:buFont typeface="Wingdings" panose="05000000000000000000" pitchFamily="2" charset="2"/>
              <a:buChar char="Ø"/>
            </a:pPr>
            <a:r>
              <a:rPr lang="zh-CN" altLang="en-US">
                <a:latin typeface="Times New Roman" panose="02020603050405020304" pitchFamily="18" charset="0"/>
                <a:ea typeface="楷体_GB2312" pitchFamily="1" charset="-122"/>
              </a:rPr>
              <a:t>两条地线</a:t>
            </a:r>
            <a:r>
              <a:rPr lang="en-US" altLang="zh-CN">
                <a:latin typeface="Times New Roman" panose="02020603050405020304" pitchFamily="18" charset="0"/>
                <a:ea typeface="楷体_GB2312" pitchFamily="1" charset="-122"/>
              </a:rPr>
              <a:t>GND</a:t>
            </a:r>
            <a:r>
              <a:rPr lang="zh-CN" altLang="en-US">
                <a:latin typeface="Times New Roman" panose="02020603050405020304" pitchFamily="18" charset="0"/>
                <a:ea typeface="楷体_GB2312" pitchFamily="1" charset="-122"/>
              </a:rPr>
              <a:t>均应接地。</a:t>
            </a:r>
          </a:p>
        </p:txBody>
      </p:sp>
      <p:pic>
        <p:nvPicPr>
          <p:cNvPr id="90115" name="Picture 4">
            <a:extLst>
              <a:ext uri="{FF2B5EF4-FFF2-40B4-BE49-F238E27FC236}">
                <a16:creationId xmlns:a16="http://schemas.microsoft.com/office/drawing/2014/main" id="{D6E6697A-E94C-8F75-F69C-C3602D2D79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2933700"/>
            <a:ext cx="6049962" cy="386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7B23E99C-7D40-D535-FFC3-F02AB600CE1F}"/>
              </a:ext>
            </a:extLst>
          </p:cNvPr>
          <p:cNvSpPr>
            <a:spLocks noGrp="1" noChangeArrowheads="1"/>
          </p:cNvSpPr>
          <p:nvPr>
            <p:ph type="title"/>
          </p:nvPr>
        </p:nvSpPr>
        <p:spPr/>
        <p:txBody>
          <a:bodyPr/>
          <a:lstStyle/>
          <a:p>
            <a:pPr algn="ctr" eaLnBrk="1" hangingPunct="1">
              <a:defRPr/>
            </a:pP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2.8086</a:t>
            </a:r>
            <a:r>
              <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最大模式下引脚的功能定义</a:t>
            </a:r>
          </a:p>
        </p:txBody>
      </p:sp>
      <p:sp>
        <p:nvSpPr>
          <p:cNvPr id="78851" name="Rectangle 3">
            <a:extLst>
              <a:ext uri="{FF2B5EF4-FFF2-40B4-BE49-F238E27FC236}">
                <a16:creationId xmlns:a16="http://schemas.microsoft.com/office/drawing/2014/main" id="{4F5405D6-EB89-206F-83A1-D2586B200BDF}"/>
              </a:ext>
            </a:extLst>
          </p:cNvPr>
          <p:cNvSpPr>
            <a:spLocks noGrp="1" noChangeArrowheads="1"/>
          </p:cNvSpPr>
          <p:nvPr>
            <p:ph type="body" sz="half" idx="1"/>
          </p:nvPr>
        </p:nvSpPr>
        <p:spPr>
          <a:xfrm>
            <a:off x="395288" y="1557338"/>
            <a:ext cx="8280400" cy="4114800"/>
          </a:xfrm>
        </p:spPr>
        <p:txBody>
          <a:bodyPr/>
          <a:lstStyle/>
          <a:p>
            <a:pPr eaLnBrk="1" hangingPunct="1">
              <a:buFont typeface="Wingdings" panose="05000000000000000000" pitchFamily="2" charset="2"/>
              <a:buChar char="Ø"/>
            </a:pPr>
            <a:r>
              <a:rPr lang="zh-CN" altLang="en-US" sz="2800">
                <a:latin typeface="Times New Roman" panose="02020603050405020304" pitchFamily="18" charset="0"/>
                <a:ea typeface="楷体_GB2312" pitchFamily="1" charset="-122"/>
              </a:rPr>
              <a:t>当          为</a:t>
            </a:r>
            <a:r>
              <a:rPr lang="zh-CN" altLang="en-US" sz="2800" b="1">
                <a:solidFill>
                  <a:schemeClr val="folHlink"/>
                </a:solidFill>
                <a:latin typeface="Times New Roman" panose="02020603050405020304" pitchFamily="18" charset="0"/>
                <a:ea typeface="楷体_GB2312" pitchFamily="1" charset="-122"/>
              </a:rPr>
              <a:t>低电平</a:t>
            </a:r>
            <a:r>
              <a:rPr lang="zh-CN" altLang="en-US" sz="2800">
                <a:latin typeface="Times New Roman" panose="02020603050405020304" pitchFamily="18" charset="0"/>
                <a:ea typeface="楷体_GB2312" pitchFamily="1" charset="-122"/>
              </a:rPr>
              <a:t>时，</a:t>
            </a:r>
            <a:r>
              <a:rPr lang="en-US" altLang="zh-CN" sz="2800">
                <a:latin typeface="Times New Roman" panose="02020603050405020304" pitchFamily="18" charset="0"/>
                <a:ea typeface="楷体_GB2312" pitchFamily="1" charset="-122"/>
              </a:rPr>
              <a:t>8086 CPU</a:t>
            </a:r>
            <a:r>
              <a:rPr lang="zh-CN" altLang="en-US" sz="2800">
                <a:latin typeface="Times New Roman" panose="02020603050405020304" pitchFamily="18" charset="0"/>
                <a:ea typeface="楷体_GB2312" pitchFamily="1" charset="-122"/>
              </a:rPr>
              <a:t>工作在最大模式。</a:t>
            </a:r>
          </a:p>
          <a:p>
            <a:pPr eaLnBrk="1" hangingPunct="1">
              <a:buFont typeface="Wingdings" panose="05000000000000000000" pitchFamily="2" charset="2"/>
              <a:buChar char="Ø"/>
            </a:pPr>
            <a:r>
              <a:rPr lang="zh-CN" altLang="en-US" sz="2800">
                <a:latin typeface="Times New Roman" panose="02020603050405020304" pitchFamily="18" charset="0"/>
                <a:ea typeface="楷体_GB2312" pitchFamily="1" charset="-122"/>
              </a:rPr>
              <a:t>在最大模式下，许多总线控制信号不是由</a:t>
            </a:r>
            <a:r>
              <a:rPr lang="en-US" altLang="zh-CN" sz="2800">
                <a:latin typeface="Times New Roman" panose="02020603050405020304" pitchFamily="18" charset="0"/>
                <a:ea typeface="楷体_GB2312" pitchFamily="1" charset="-122"/>
              </a:rPr>
              <a:t>8086</a:t>
            </a:r>
            <a:r>
              <a:rPr lang="zh-CN" altLang="en-US" sz="2800">
                <a:latin typeface="Times New Roman" panose="02020603050405020304" pitchFamily="18" charset="0"/>
                <a:ea typeface="楷体_GB2312" pitchFamily="1" charset="-122"/>
              </a:rPr>
              <a:t>直接产生，而是通过</a:t>
            </a:r>
            <a:r>
              <a:rPr lang="zh-CN" altLang="en-US" sz="2800" b="1">
                <a:solidFill>
                  <a:schemeClr val="folHlink"/>
                </a:solidFill>
                <a:latin typeface="Times New Roman" panose="02020603050405020304" pitchFamily="18" charset="0"/>
                <a:ea typeface="楷体_GB2312" pitchFamily="1" charset="-122"/>
              </a:rPr>
              <a:t>总线控制器</a:t>
            </a:r>
            <a:r>
              <a:rPr lang="en-US" altLang="zh-CN" sz="2800" b="1">
                <a:solidFill>
                  <a:schemeClr val="folHlink"/>
                </a:solidFill>
                <a:latin typeface="Times New Roman" panose="02020603050405020304" pitchFamily="18" charset="0"/>
                <a:ea typeface="楷体_GB2312" pitchFamily="1" charset="-122"/>
              </a:rPr>
              <a:t>8288</a:t>
            </a:r>
            <a:r>
              <a:rPr lang="zh-CN" altLang="en-US" sz="2800">
                <a:latin typeface="Times New Roman" panose="02020603050405020304" pitchFamily="18" charset="0"/>
                <a:ea typeface="楷体_GB2312" pitchFamily="1" charset="-122"/>
              </a:rPr>
              <a:t>产生的。</a:t>
            </a:r>
          </a:p>
          <a:p>
            <a:pPr eaLnBrk="1" hangingPunct="1">
              <a:buFont typeface="Wingdings" panose="05000000000000000000" pitchFamily="2" charset="2"/>
              <a:buChar char="Ø"/>
            </a:pPr>
            <a:r>
              <a:rPr lang="zh-CN" altLang="en-US" sz="2800">
                <a:latin typeface="Times New Roman" panose="02020603050405020304" pitchFamily="18" charset="0"/>
                <a:ea typeface="楷体_GB2312" pitchFamily="1" charset="-122"/>
              </a:rPr>
              <a:t>因此，</a:t>
            </a:r>
            <a:r>
              <a:rPr lang="en-US" altLang="zh-CN" sz="2800">
                <a:latin typeface="Times New Roman" panose="02020603050405020304" pitchFamily="18" charset="0"/>
                <a:ea typeface="楷体_GB2312" pitchFamily="1" charset="-122"/>
              </a:rPr>
              <a:t>8086</a:t>
            </a:r>
            <a:r>
              <a:rPr lang="zh-CN" altLang="en-US" sz="2800">
                <a:latin typeface="Times New Roman" panose="02020603050405020304" pitchFamily="18" charset="0"/>
                <a:ea typeface="楷体_GB2312" pitchFamily="1" charset="-122"/>
              </a:rPr>
              <a:t>在最小模式下提供的总线控制信号的引脚</a:t>
            </a:r>
            <a:r>
              <a:rPr lang="en-US" altLang="zh-CN" sz="2800">
                <a:latin typeface="Times New Roman" panose="02020603050405020304" pitchFamily="18" charset="0"/>
                <a:ea typeface="楷体_GB2312" pitchFamily="1" charset="-122"/>
              </a:rPr>
              <a:t>(24</a:t>
            </a:r>
            <a:r>
              <a:rPr lang="zh-CN" altLang="en-US" sz="2800">
                <a:latin typeface="Times New Roman" panose="02020603050405020304" pitchFamily="18" charset="0"/>
                <a:ea typeface="楷体_GB2312" pitchFamily="1" charset="-122"/>
              </a:rPr>
              <a:t>～</a:t>
            </a:r>
            <a:r>
              <a:rPr lang="en-US" altLang="zh-CN" sz="2800">
                <a:latin typeface="Times New Roman" panose="02020603050405020304" pitchFamily="18" charset="0"/>
                <a:ea typeface="楷体_GB2312" pitchFamily="1" charset="-122"/>
              </a:rPr>
              <a:t>31</a:t>
            </a:r>
            <a:r>
              <a:rPr lang="zh-CN" altLang="en-US" sz="2800">
                <a:latin typeface="Times New Roman" panose="02020603050405020304" pitchFamily="18" charset="0"/>
                <a:ea typeface="楷体_GB2312" pitchFamily="1" charset="-122"/>
              </a:rPr>
              <a:t>脚</a:t>
            </a:r>
            <a:r>
              <a:rPr lang="en-US" altLang="zh-CN" sz="2800">
                <a:latin typeface="Times New Roman" panose="02020603050405020304" pitchFamily="18" charset="0"/>
                <a:ea typeface="楷体_GB2312" pitchFamily="1" charset="-122"/>
              </a:rPr>
              <a:t>)</a:t>
            </a:r>
            <a:r>
              <a:rPr lang="zh-CN" altLang="en-US" sz="2800">
                <a:latin typeface="Times New Roman" panose="02020603050405020304" pitchFamily="18" charset="0"/>
                <a:ea typeface="楷体_GB2312" pitchFamily="1" charset="-122"/>
              </a:rPr>
              <a:t>就需重新定义，改作支持最大模式之用。</a:t>
            </a:r>
          </a:p>
        </p:txBody>
      </p:sp>
      <p:graphicFrame>
        <p:nvGraphicFramePr>
          <p:cNvPr id="91139" name="Object 4">
            <a:extLst>
              <a:ext uri="{FF2B5EF4-FFF2-40B4-BE49-F238E27FC236}">
                <a16:creationId xmlns:a16="http://schemas.microsoft.com/office/drawing/2014/main" id="{B66A6A02-8B77-099A-D628-C466926CA05D}"/>
              </a:ext>
            </a:extLst>
          </p:cNvPr>
          <p:cNvGraphicFramePr>
            <a:graphicFrameLocks noChangeAspect="1"/>
          </p:cNvGraphicFramePr>
          <p:nvPr>
            <p:ph sz="half" idx="2"/>
          </p:nvPr>
        </p:nvGraphicFramePr>
        <p:xfrm>
          <a:off x="1116013" y="1611313"/>
          <a:ext cx="1008062" cy="376237"/>
        </p:xfrm>
        <a:graphic>
          <a:graphicData uri="http://schemas.openxmlformats.org/presentationml/2006/ole">
            <mc:AlternateContent xmlns:mc="http://schemas.openxmlformats.org/markup-compatibility/2006">
              <mc:Choice xmlns:v="urn:schemas-microsoft-com:vml" Requires="v">
                <p:oleObj r:id="rId2" imgW="509105" imgH="190914" progId="Equation.3">
                  <p:embed/>
                </p:oleObj>
              </mc:Choice>
              <mc:Fallback>
                <p:oleObj r:id="rId2" imgW="509105" imgH="190914"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1611313"/>
                        <a:ext cx="1008062" cy="376237"/>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91140" name="Picture 4">
            <a:extLst>
              <a:ext uri="{FF2B5EF4-FFF2-40B4-BE49-F238E27FC236}">
                <a16:creationId xmlns:a16="http://schemas.microsoft.com/office/drawing/2014/main" id="{86713E23-7636-BC14-15FF-4A629D6CDC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00" y="3933825"/>
            <a:ext cx="5256213"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8851">
                                            <p:txEl>
                                              <p:pRg st="1" end="1"/>
                                            </p:txEl>
                                          </p:spTgt>
                                        </p:tgtEl>
                                        <p:attrNameLst>
                                          <p:attrName>style.visibility</p:attrName>
                                        </p:attrNameLst>
                                      </p:cBhvr>
                                      <p:to>
                                        <p:strVal val="visible"/>
                                      </p:to>
                                    </p:set>
                                    <p:anim calcmode="lin" valueType="num">
                                      <p:cBhvr additive="base">
                                        <p:cTn id="7" dur="500" fill="hold"/>
                                        <p:tgtEl>
                                          <p:spTgt spid="7885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88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8851">
                                            <p:txEl>
                                              <p:pRg st="2" end="2"/>
                                            </p:txEl>
                                          </p:spTgt>
                                        </p:tgtEl>
                                        <p:attrNameLst>
                                          <p:attrName>style.visibility</p:attrName>
                                        </p:attrNameLst>
                                      </p:cBhvr>
                                      <p:to>
                                        <p:strVal val="visible"/>
                                      </p:to>
                                    </p:set>
                                    <p:anim calcmode="lin" valueType="num">
                                      <p:cBhvr additive="base">
                                        <p:cTn id="13" dur="500" fill="hold"/>
                                        <p:tgtEl>
                                          <p:spTgt spid="7885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885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9B3B8BF0-2537-E99A-9420-8F3139650D58}"/>
              </a:ext>
            </a:extLst>
          </p:cNvPr>
          <p:cNvSpPr>
            <a:spLocks noGrp="1" noChangeArrowheads="1"/>
          </p:cNvSpPr>
          <p:nvPr>
            <p:ph type="body" sz="half" idx="1"/>
          </p:nvPr>
        </p:nvSpPr>
        <p:spPr>
          <a:xfrm>
            <a:off x="395288" y="1557338"/>
            <a:ext cx="7993062" cy="1655762"/>
          </a:xfrm>
        </p:spPr>
        <p:txBody>
          <a:bodyPr/>
          <a:lstStyle/>
          <a:p>
            <a:pPr algn="just" eaLnBrk="1" hangingPunct="1">
              <a:spcBef>
                <a:spcPct val="50000"/>
              </a:spcBef>
              <a:buFont typeface="Wingdings" panose="05000000000000000000" pitchFamily="2" charset="2"/>
              <a:buChar char="Ø"/>
            </a:pPr>
            <a:r>
              <a:rPr lang="zh-CN" altLang="en-US" sz="2400">
                <a:latin typeface="Times New Roman" panose="02020603050405020304" pitchFamily="18" charset="0"/>
                <a:ea typeface="楷体_GB2312" pitchFamily="1" charset="-122"/>
              </a:rPr>
              <a:t>总线周期状态信号，输出，三态。</a:t>
            </a:r>
          </a:p>
          <a:p>
            <a:pPr algn="just" eaLnBrk="1" hangingPunct="1">
              <a:spcBef>
                <a:spcPct val="50000"/>
              </a:spcBef>
              <a:buFont typeface="Wingdings" panose="05000000000000000000" pitchFamily="2" charset="2"/>
              <a:buChar char="Ø"/>
            </a:pPr>
            <a:r>
              <a:rPr lang="en-US" altLang="zh-CN" sz="2400">
                <a:latin typeface="Times New Roman" panose="02020603050405020304" pitchFamily="18" charset="0"/>
                <a:ea typeface="楷体_GB2312" pitchFamily="1" charset="-122"/>
              </a:rPr>
              <a:t>8288</a:t>
            </a:r>
            <a:r>
              <a:rPr lang="zh-CN" altLang="en-US" sz="2400">
                <a:latin typeface="Times New Roman" panose="02020603050405020304" pitchFamily="18" charset="0"/>
                <a:ea typeface="楷体_GB2312" pitchFamily="1" charset="-122"/>
              </a:rPr>
              <a:t>总线控制器依据这三个状态信号产生访问存储器和</a:t>
            </a:r>
            <a:r>
              <a:rPr lang="en-US" altLang="zh-CN" sz="2400">
                <a:latin typeface="Times New Roman" panose="02020603050405020304" pitchFamily="18" charset="0"/>
                <a:ea typeface="楷体_GB2312" pitchFamily="1" charset="-122"/>
              </a:rPr>
              <a:t>I/O</a:t>
            </a:r>
            <a:r>
              <a:rPr lang="zh-CN" altLang="en-US" sz="2400">
                <a:latin typeface="Times New Roman" panose="02020603050405020304" pitchFamily="18" charset="0"/>
                <a:ea typeface="楷体_GB2312" pitchFamily="1" charset="-122"/>
              </a:rPr>
              <a:t>端口的控制命令。</a:t>
            </a:r>
          </a:p>
        </p:txBody>
      </p:sp>
      <p:graphicFrame>
        <p:nvGraphicFramePr>
          <p:cNvPr id="92162" name="Object 4">
            <a:extLst>
              <a:ext uri="{FF2B5EF4-FFF2-40B4-BE49-F238E27FC236}">
                <a16:creationId xmlns:a16="http://schemas.microsoft.com/office/drawing/2014/main" id="{2FEAD675-9F1E-06EA-B4F8-053687CBA264}"/>
              </a:ext>
            </a:extLst>
          </p:cNvPr>
          <p:cNvGraphicFramePr>
            <a:graphicFrameLocks noChangeAspect="1"/>
          </p:cNvGraphicFramePr>
          <p:nvPr>
            <p:ph sz="half" idx="2"/>
          </p:nvPr>
        </p:nvGraphicFramePr>
        <p:xfrm>
          <a:off x="3856038" y="620713"/>
          <a:ext cx="1433512" cy="584200"/>
        </p:xfrm>
        <a:graphic>
          <a:graphicData uri="http://schemas.openxmlformats.org/presentationml/2006/ole">
            <mc:AlternateContent xmlns:mc="http://schemas.openxmlformats.org/markup-compatibility/2006">
              <mc:Choice xmlns:v="urn:schemas-microsoft-com:vml" Requires="v">
                <p:oleObj r:id="rId2" imgW="471743" imgH="191247" progId="Equation.3">
                  <p:embed/>
                </p:oleObj>
              </mc:Choice>
              <mc:Fallback>
                <p:oleObj r:id="rId2" imgW="471743" imgH="191247"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6038" y="620713"/>
                        <a:ext cx="1433512" cy="584200"/>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92163" name="Picture 3">
            <a:extLst>
              <a:ext uri="{FF2B5EF4-FFF2-40B4-BE49-F238E27FC236}">
                <a16:creationId xmlns:a16="http://schemas.microsoft.com/office/drawing/2014/main" id="{073750D7-8281-AE25-7F7E-44706ECE66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2997200"/>
            <a:ext cx="7343775"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41B48CB8-68D6-D022-317E-1C8F767BD7DD}"/>
              </a:ext>
            </a:extLst>
          </p:cNvPr>
          <p:cNvSpPr>
            <a:spLocks noGrp="1" noChangeArrowheads="1"/>
          </p:cNvSpPr>
          <p:nvPr>
            <p:ph type="title"/>
          </p:nvPr>
        </p:nvSpPr>
        <p:spPr>
          <a:xfrm>
            <a:off x="1150938" y="476250"/>
            <a:ext cx="7793037" cy="720725"/>
          </a:xfrm>
        </p:spPr>
        <p:txBody>
          <a:bodyPr/>
          <a:lstStyle/>
          <a:p>
            <a:pPr algn="ctr" eaLnBrk="1" hangingPunct="1">
              <a:defRPr/>
            </a:pP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QS</a:t>
            </a:r>
            <a:r>
              <a:rPr lang="en-US" sz="4000" b="1" baseline="-25000">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1</a:t>
            </a: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、QS</a:t>
            </a:r>
            <a:r>
              <a:rPr lang="en-US" sz="4000" b="1" baseline="-25000">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0</a:t>
            </a:r>
            <a:endParaRPr lang="zh-CN" altLang="en-US" sz="4000" b="1" baseline="-25000">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93186" name="Rectangle 3">
            <a:extLst>
              <a:ext uri="{FF2B5EF4-FFF2-40B4-BE49-F238E27FC236}">
                <a16:creationId xmlns:a16="http://schemas.microsoft.com/office/drawing/2014/main" id="{2E945860-65F0-9AAC-CACD-2649E866A0A5}"/>
              </a:ext>
            </a:extLst>
          </p:cNvPr>
          <p:cNvSpPr>
            <a:spLocks noGrp="1" noChangeArrowheads="1"/>
          </p:cNvSpPr>
          <p:nvPr>
            <p:ph type="body" sz="half" idx="1"/>
          </p:nvPr>
        </p:nvSpPr>
        <p:spPr>
          <a:xfrm>
            <a:off x="539750" y="1557338"/>
            <a:ext cx="8064500" cy="2563812"/>
          </a:xfrm>
        </p:spPr>
        <p:txBody>
          <a:bodyPr/>
          <a:lstStyle/>
          <a:p>
            <a:pPr eaLnBrk="1" hangingPunct="1">
              <a:spcBef>
                <a:spcPct val="50000"/>
              </a:spcBef>
              <a:buFont typeface="Wingdings" panose="05000000000000000000" pitchFamily="2" charset="2"/>
              <a:buChar char="Ø"/>
            </a:pPr>
            <a:r>
              <a:rPr lang="zh-CN" altLang="en-US" sz="2800">
                <a:latin typeface="Times New Roman" panose="02020603050405020304" pitchFamily="18" charset="0"/>
                <a:ea typeface="楷体_GB2312" pitchFamily="1" charset="-122"/>
              </a:rPr>
              <a:t>指令队列状态信号，输出。</a:t>
            </a:r>
          </a:p>
          <a:p>
            <a:pPr eaLnBrk="1" hangingPunct="1">
              <a:spcBef>
                <a:spcPct val="50000"/>
              </a:spcBef>
              <a:buFont typeface="Wingdings" panose="05000000000000000000" pitchFamily="2" charset="2"/>
              <a:buChar char="Ø"/>
            </a:pPr>
            <a:r>
              <a:rPr lang="zh-CN" altLang="en-US" sz="2800">
                <a:latin typeface="Times New Roman" panose="02020603050405020304" pitchFamily="18" charset="0"/>
                <a:ea typeface="楷体_GB2312" pitchFamily="1" charset="-122"/>
              </a:rPr>
              <a:t>这两个信号组合起来提供了本总线周期的前一个时钟周期中指令队列的状态，以便于外部器件（如</a:t>
            </a:r>
            <a:r>
              <a:rPr lang="en-US" altLang="zh-CN" sz="2800">
                <a:latin typeface="Times New Roman" panose="02020603050405020304" pitchFamily="18" charset="0"/>
                <a:ea typeface="楷体_GB2312" pitchFamily="1" charset="-122"/>
              </a:rPr>
              <a:t>8087</a:t>
            </a:r>
            <a:r>
              <a:rPr lang="zh-CN" altLang="en-US" sz="2800">
                <a:latin typeface="Times New Roman" panose="02020603050405020304" pitchFamily="18" charset="0"/>
                <a:ea typeface="楷体_GB2312" pitchFamily="1" charset="-122"/>
              </a:rPr>
              <a:t>协处理器）对</a:t>
            </a:r>
            <a:r>
              <a:rPr lang="en-US" altLang="zh-CN" sz="2800">
                <a:latin typeface="Times New Roman" panose="02020603050405020304" pitchFamily="18" charset="0"/>
                <a:ea typeface="楷体_GB2312" pitchFamily="1" charset="-122"/>
              </a:rPr>
              <a:t>8086/8088</a:t>
            </a:r>
            <a:r>
              <a:rPr lang="zh-CN" altLang="en-US" sz="2800">
                <a:latin typeface="Times New Roman" panose="02020603050405020304" pitchFamily="18" charset="0"/>
                <a:ea typeface="楷体_GB2312" pitchFamily="1" charset="-122"/>
              </a:rPr>
              <a:t>内部指令队列的动作进行跟踪。</a:t>
            </a:r>
          </a:p>
        </p:txBody>
      </p:sp>
      <p:pic>
        <p:nvPicPr>
          <p:cNvPr id="93187" name="Picture 4">
            <a:extLst>
              <a:ext uri="{FF2B5EF4-FFF2-40B4-BE49-F238E27FC236}">
                <a16:creationId xmlns:a16="http://schemas.microsoft.com/office/drawing/2014/main" id="{1F8A42EC-6A32-2420-C8DE-0FB7B9E798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4005263"/>
            <a:ext cx="7416800" cy="217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9555304F-BFCC-D113-FDE8-9DB8DB7CC163}"/>
              </a:ext>
            </a:extLst>
          </p:cNvPr>
          <p:cNvSpPr>
            <a:spLocks noGrp="1" noChangeArrowheads="1"/>
          </p:cNvSpPr>
          <p:nvPr>
            <p:ph type="body" sz="half" idx="1"/>
          </p:nvPr>
        </p:nvSpPr>
        <p:spPr>
          <a:xfrm>
            <a:off x="395288" y="1557338"/>
            <a:ext cx="8064500" cy="4114800"/>
          </a:xfrm>
        </p:spPr>
        <p:txBody>
          <a:bodyPr/>
          <a:lstStyle/>
          <a:p>
            <a:pPr eaLnBrk="1" hangingPunct="1">
              <a:buFont typeface="Wingdings" panose="05000000000000000000" pitchFamily="2" charset="2"/>
              <a:buChar char="Ø"/>
            </a:pPr>
            <a:r>
              <a:rPr lang="zh-CN" altLang="en-US" sz="2800">
                <a:latin typeface="Times New Roman" panose="02020603050405020304" pitchFamily="18" charset="0"/>
                <a:ea typeface="楷体_GB2312" pitchFamily="1" charset="-122"/>
              </a:rPr>
              <a:t>总线请求信号输入/总线请求允许信号输出，双向，低电平有效，三态 。</a:t>
            </a:r>
          </a:p>
          <a:p>
            <a:pPr eaLnBrk="1" hangingPunct="1">
              <a:buFont typeface="Wingdings" panose="05000000000000000000" pitchFamily="2" charset="2"/>
              <a:buChar char="Ø"/>
            </a:pPr>
            <a:r>
              <a:rPr lang="zh-CN" altLang="en-US" sz="2800">
                <a:latin typeface="Times New Roman" panose="02020603050405020304" pitchFamily="18" charset="0"/>
                <a:ea typeface="楷体_GB2312" pitchFamily="1" charset="-122"/>
              </a:rPr>
              <a:t>供协处理器等发出使用总线的请求信号和接收</a:t>
            </a:r>
            <a:r>
              <a:rPr lang="en-US" altLang="zh-CN" sz="2800">
                <a:latin typeface="Times New Roman" panose="02020603050405020304" pitchFamily="18" charset="0"/>
                <a:ea typeface="楷体_GB2312" pitchFamily="1" charset="-122"/>
              </a:rPr>
              <a:t>CPU</a:t>
            </a:r>
            <a:r>
              <a:rPr lang="zh-CN" altLang="en-US" sz="2800">
                <a:latin typeface="Times New Roman" panose="02020603050405020304" pitchFamily="18" charset="0"/>
                <a:ea typeface="楷体_GB2312" pitchFamily="1" charset="-122"/>
              </a:rPr>
              <a:t>对总线请求的回答信号。</a:t>
            </a:r>
          </a:p>
          <a:p>
            <a:pPr eaLnBrk="1" hangingPunct="1">
              <a:buFont typeface="Wingdings" panose="05000000000000000000" pitchFamily="2" charset="2"/>
              <a:buChar char="Ø"/>
            </a:pPr>
            <a:r>
              <a:rPr lang="zh-CN" altLang="en-US" sz="2800" b="1">
                <a:solidFill>
                  <a:schemeClr val="folHlink"/>
                </a:solidFill>
                <a:latin typeface="Times New Roman" panose="02020603050405020304" pitchFamily="18" charset="0"/>
                <a:ea typeface="楷体_GB2312" pitchFamily="1" charset="-122"/>
              </a:rPr>
              <a:t>后者比前者的优先级高</a:t>
            </a:r>
            <a:r>
              <a:rPr lang="zh-CN" altLang="en-US" sz="2800">
                <a:latin typeface="Times New Roman" panose="02020603050405020304" pitchFamily="18" charset="0"/>
                <a:ea typeface="楷体_GB2312" pitchFamily="1" charset="-122"/>
              </a:rPr>
              <a:t>。 </a:t>
            </a:r>
          </a:p>
        </p:txBody>
      </p:sp>
      <p:graphicFrame>
        <p:nvGraphicFramePr>
          <p:cNvPr id="94210" name="Object 3">
            <a:extLst>
              <a:ext uri="{FF2B5EF4-FFF2-40B4-BE49-F238E27FC236}">
                <a16:creationId xmlns:a16="http://schemas.microsoft.com/office/drawing/2014/main" id="{A30C47E6-4327-7BE1-81B0-B713EE891CA0}"/>
              </a:ext>
            </a:extLst>
          </p:cNvPr>
          <p:cNvGraphicFramePr>
            <a:graphicFrameLocks noChangeAspect="1"/>
          </p:cNvGraphicFramePr>
          <p:nvPr>
            <p:ph sz="half" idx="2"/>
          </p:nvPr>
        </p:nvGraphicFramePr>
        <p:xfrm>
          <a:off x="3589338" y="620713"/>
          <a:ext cx="2611437" cy="555625"/>
        </p:xfrm>
        <a:graphic>
          <a:graphicData uri="http://schemas.openxmlformats.org/presentationml/2006/ole">
            <mc:AlternateContent xmlns:mc="http://schemas.openxmlformats.org/markup-compatibility/2006">
              <mc:Choice xmlns:v="urn:schemas-microsoft-com:vml" Requires="v">
                <p:oleObj r:id="rId2" imgW="953742" imgH="203465" progId="Equation.3">
                  <p:embed/>
                </p:oleObj>
              </mc:Choice>
              <mc:Fallback>
                <p:oleObj r:id="rId2" imgW="953742" imgH="203465"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9338" y="620713"/>
                        <a:ext cx="2611437" cy="555625"/>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94211" name="Picture 4">
            <a:extLst>
              <a:ext uri="{FF2B5EF4-FFF2-40B4-BE49-F238E27FC236}">
                <a16:creationId xmlns:a16="http://schemas.microsoft.com/office/drawing/2014/main" id="{9F756EFC-BE2D-C795-9BF0-57B88C7725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338" y="3933825"/>
            <a:ext cx="6049962" cy="273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1922">
                                            <p:txEl>
                                              <p:pRg st="0" end="0"/>
                                            </p:txEl>
                                          </p:spTgt>
                                        </p:tgtEl>
                                        <p:attrNameLst>
                                          <p:attrName>style.visibility</p:attrName>
                                        </p:attrNameLst>
                                      </p:cBhvr>
                                      <p:to>
                                        <p:strVal val="visible"/>
                                      </p:to>
                                    </p:set>
                                    <p:animEffect transition="in" filter="slide(fromBottom)">
                                      <p:cBhvr>
                                        <p:cTn id="7" dur="500"/>
                                        <p:tgtEl>
                                          <p:spTgt spid="8192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81922">
                                            <p:txEl>
                                              <p:pRg st="1" end="1"/>
                                            </p:txEl>
                                          </p:spTgt>
                                        </p:tgtEl>
                                        <p:attrNameLst>
                                          <p:attrName>style.visibility</p:attrName>
                                        </p:attrNameLst>
                                      </p:cBhvr>
                                      <p:to>
                                        <p:strVal val="visible"/>
                                      </p:to>
                                    </p:set>
                                    <p:animEffect transition="in" filter="slide(fromBottom)">
                                      <p:cBhvr>
                                        <p:cTn id="12" dur="500"/>
                                        <p:tgtEl>
                                          <p:spTgt spid="8192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81922">
                                            <p:txEl>
                                              <p:pRg st="2" end="2"/>
                                            </p:txEl>
                                          </p:spTgt>
                                        </p:tgtEl>
                                        <p:attrNameLst>
                                          <p:attrName>style.visibility</p:attrName>
                                        </p:attrNameLst>
                                      </p:cBhvr>
                                      <p:to>
                                        <p:strVal val="visible"/>
                                      </p:to>
                                    </p:set>
                                    <p:animEffect transition="in" filter="slide(fromBottom)">
                                      <p:cBhvr>
                                        <p:cTn id="17" dur="500"/>
                                        <p:tgtEl>
                                          <p:spTgt spid="8192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build="p"/>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FA683BD1-BAE5-F806-A7F4-F509129B32C7}"/>
              </a:ext>
            </a:extLst>
          </p:cNvPr>
          <p:cNvSpPr>
            <a:spLocks noGrp="1" noChangeArrowheads="1"/>
          </p:cNvSpPr>
          <p:nvPr>
            <p:ph type="body" sz="half" idx="1"/>
          </p:nvPr>
        </p:nvSpPr>
        <p:spPr>
          <a:xfrm>
            <a:off x="395288" y="1557338"/>
            <a:ext cx="8353425" cy="4114800"/>
          </a:xfrm>
        </p:spPr>
        <p:txBody>
          <a:bodyPr/>
          <a:lstStyle/>
          <a:p>
            <a:pPr eaLnBrk="1" hangingPunct="1">
              <a:lnSpc>
                <a:spcPct val="90000"/>
              </a:lnSpc>
              <a:spcBef>
                <a:spcPct val="50000"/>
              </a:spcBef>
              <a:buFont typeface="Wingdings" panose="05000000000000000000" pitchFamily="2" charset="2"/>
              <a:buChar char="Ø"/>
            </a:pPr>
            <a:r>
              <a:rPr lang="zh-CN" altLang="en-US" sz="2400">
                <a:latin typeface="Times New Roman" panose="02020603050405020304" pitchFamily="18" charset="0"/>
                <a:ea typeface="楷体_GB2312" pitchFamily="1" charset="-122"/>
              </a:rPr>
              <a:t>总线封锁信号，输出，低电平有效，三态。</a:t>
            </a:r>
          </a:p>
          <a:p>
            <a:pPr eaLnBrk="1" hangingPunct="1">
              <a:lnSpc>
                <a:spcPct val="90000"/>
              </a:lnSpc>
              <a:spcBef>
                <a:spcPct val="50000"/>
              </a:spcBef>
              <a:buFont typeface="Wingdings" panose="05000000000000000000" pitchFamily="2" charset="2"/>
              <a:buChar char="Ø"/>
            </a:pPr>
            <a:r>
              <a:rPr lang="zh-CN" altLang="en-US" sz="2400">
                <a:latin typeface="Times New Roman" panose="02020603050405020304" pitchFamily="18" charset="0"/>
                <a:ea typeface="楷体_GB2312" pitchFamily="1" charset="-122"/>
              </a:rPr>
              <a:t>当         为低电平时，表示</a:t>
            </a:r>
            <a:r>
              <a:rPr lang="en-US" altLang="zh-CN" sz="2400">
                <a:latin typeface="Times New Roman" panose="02020603050405020304" pitchFamily="18" charset="0"/>
                <a:ea typeface="楷体_GB2312" pitchFamily="1" charset="-122"/>
              </a:rPr>
              <a:t>CPU</a:t>
            </a:r>
            <a:r>
              <a:rPr lang="zh-CN" altLang="en-US" sz="2400">
                <a:latin typeface="Times New Roman" panose="02020603050405020304" pitchFamily="18" charset="0"/>
                <a:ea typeface="楷体_GB2312" pitchFamily="1" charset="-122"/>
              </a:rPr>
              <a:t>独占总线使用权。</a:t>
            </a:r>
          </a:p>
          <a:p>
            <a:pPr eaLnBrk="1" hangingPunct="1">
              <a:lnSpc>
                <a:spcPct val="90000"/>
              </a:lnSpc>
              <a:spcBef>
                <a:spcPct val="50000"/>
              </a:spcBef>
              <a:buFont typeface="Wingdings" panose="05000000000000000000" pitchFamily="2" charset="2"/>
              <a:buChar char="Ø"/>
            </a:pPr>
            <a:r>
              <a:rPr lang="zh-CN" altLang="en-US" sz="2400">
                <a:latin typeface="Times New Roman" panose="02020603050405020304" pitchFamily="18" charset="0"/>
                <a:ea typeface="楷体_GB2312" pitchFamily="1" charset="-122"/>
              </a:rPr>
              <a:t>         信号由指令前缀</a:t>
            </a:r>
            <a:r>
              <a:rPr lang="en-US" altLang="zh-CN" sz="2400">
                <a:latin typeface="Times New Roman" panose="02020603050405020304" pitchFamily="18" charset="0"/>
                <a:ea typeface="楷体_GB2312" pitchFamily="1" charset="-122"/>
              </a:rPr>
              <a:t>LOCK</a:t>
            </a:r>
            <a:r>
              <a:rPr lang="zh-CN" altLang="en-US" sz="2400">
                <a:latin typeface="Times New Roman" panose="02020603050405020304" pitchFamily="18" charset="0"/>
                <a:ea typeface="楷体_GB2312" pitchFamily="1" charset="-122"/>
              </a:rPr>
              <a:t>产生，而在</a:t>
            </a:r>
            <a:r>
              <a:rPr lang="en-US" altLang="zh-CN" sz="2400">
                <a:latin typeface="Times New Roman" panose="02020603050405020304" pitchFamily="18" charset="0"/>
                <a:ea typeface="楷体_GB2312" pitchFamily="1" charset="-122"/>
              </a:rPr>
              <a:t>LOCK</a:t>
            </a:r>
            <a:r>
              <a:rPr lang="zh-CN" altLang="en-US" sz="2400">
                <a:latin typeface="Times New Roman" panose="02020603050405020304" pitchFamily="18" charset="0"/>
                <a:ea typeface="楷体_GB2312" pitchFamily="1" charset="-122"/>
              </a:rPr>
              <a:t>后面的一条指令执行完后，便撤销了          信号。</a:t>
            </a:r>
          </a:p>
          <a:p>
            <a:pPr eaLnBrk="1" hangingPunct="1">
              <a:lnSpc>
                <a:spcPct val="90000"/>
              </a:lnSpc>
              <a:spcBef>
                <a:spcPct val="50000"/>
              </a:spcBef>
              <a:buFont typeface="Wingdings" panose="05000000000000000000" pitchFamily="2" charset="2"/>
              <a:buChar char="Ø"/>
            </a:pPr>
            <a:r>
              <a:rPr lang="zh-CN" altLang="en-US" sz="2400">
                <a:latin typeface="Times New Roman" panose="02020603050405020304" pitchFamily="18" charset="0"/>
                <a:ea typeface="楷体_GB2312" pitchFamily="1" charset="-122"/>
              </a:rPr>
              <a:t>此信号是为避免多个处理器使用共有资源时产生冲突而设置的。 </a:t>
            </a:r>
          </a:p>
        </p:txBody>
      </p:sp>
      <p:graphicFrame>
        <p:nvGraphicFramePr>
          <p:cNvPr id="95234" name="Object 3">
            <a:extLst>
              <a:ext uri="{FF2B5EF4-FFF2-40B4-BE49-F238E27FC236}">
                <a16:creationId xmlns:a16="http://schemas.microsoft.com/office/drawing/2014/main" id="{A594C19E-5A0C-312D-65BE-60E28CD15AF2}"/>
              </a:ext>
            </a:extLst>
          </p:cNvPr>
          <p:cNvGraphicFramePr>
            <a:graphicFrameLocks noChangeAspect="1"/>
          </p:cNvGraphicFramePr>
          <p:nvPr/>
        </p:nvGraphicFramePr>
        <p:xfrm>
          <a:off x="4284663" y="692150"/>
          <a:ext cx="1150937" cy="558800"/>
        </p:xfrm>
        <a:graphic>
          <a:graphicData uri="http://schemas.openxmlformats.org/presentationml/2006/ole">
            <mc:AlternateContent xmlns:mc="http://schemas.openxmlformats.org/markup-compatibility/2006">
              <mc:Choice xmlns:v="urn:schemas-microsoft-com:vml" Requires="v">
                <p:oleObj r:id="rId2" imgW="395244" imgH="191247" progId="Equation.3">
                  <p:embed/>
                </p:oleObj>
              </mc:Choice>
              <mc:Fallback>
                <p:oleObj r:id="rId2" imgW="395244" imgH="191247"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4663" y="692150"/>
                        <a:ext cx="115093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948" name="Object 4">
            <a:extLst>
              <a:ext uri="{FF2B5EF4-FFF2-40B4-BE49-F238E27FC236}">
                <a16:creationId xmlns:a16="http://schemas.microsoft.com/office/drawing/2014/main" id="{8959062B-3FC9-F1AD-2777-F8CAC3CB7BBD}"/>
              </a:ext>
            </a:extLst>
          </p:cNvPr>
          <p:cNvGraphicFramePr>
            <a:graphicFrameLocks noChangeAspect="1"/>
          </p:cNvGraphicFramePr>
          <p:nvPr/>
        </p:nvGraphicFramePr>
        <p:xfrm>
          <a:off x="1116013" y="2060575"/>
          <a:ext cx="804862" cy="390525"/>
        </p:xfrm>
        <a:graphic>
          <a:graphicData uri="http://schemas.openxmlformats.org/presentationml/2006/ole">
            <mc:AlternateContent xmlns:mc="http://schemas.openxmlformats.org/markup-compatibility/2006">
              <mc:Choice xmlns:v="urn:schemas-microsoft-com:vml" Requires="v">
                <p:oleObj r:id="rId2" imgW="395244" imgH="191247" progId="Equation.3">
                  <p:embed/>
                </p:oleObj>
              </mc:Choice>
              <mc:Fallback>
                <p:oleObj r:id="rId2" imgW="395244" imgH="191247"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2060575"/>
                        <a:ext cx="8048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949" name="Object 5">
            <a:extLst>
              <a:ext uri="{FF2B5EF4-FFF2-40B4-BE49-F238E27FC236}">
                <a16:creationId xmlns:a16="http://schemas.microsoft.com/office/drawing/2014/main" id="{1BD26D67-22D4-16EA-2E36-61F92CC1F29F}"/>
              </a:ext>
            </a:extLst>
          </p:cNvPr>
          <p:cNvGraphicFramePr>
            <a:graphicFrameLocks noChangeAspect="1"/>
          </p:cNvGraphicFramePr>
          <p:nvPr/>
        </p:nvGraphicFramePr>
        <p:xfrm>
          <a:off x="755650" y="2565400"/>
          <a:ext cx="804863" cy="390525"/>
        </p:xfrm>
        <a:graphic>
          <a:graphicData uri="http://schemas.openxmlformats.org/presentationml/2006/ole">
            <mc:AlternateContent xmlns:mc="http://schemas.openxmlformats.org/markup-compatibility/2006">
              <mc:Choice xmlns:v="urn:schemas-microsoft-com:vml" Requires="v">
                <p:oleObj r:id="rId2" imgW="395244" imgH="191247" progId="Equation.3">
                  <p:embed/>
                </p:oleObj>
              </mc:Choice>
              <mc:Fallback>
                <p:oleObj r:id="rId2" imgW="395244" imgH="191247"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2565400"/>
                        <a:ext cx="8048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950" name="Object 6">
            <a:extLst>
              <a:ext uri="{FF2B5EF4-FFF2-40B4-BE49-F238E27FC236}">
                <a16:creationId xmlns:a16="http://schemas.microsoft.com/office/drawing/2014/main" id="{065BAF98-C4E8-8B3F-D8AD-5637A1068495}"/>
              </a:ext>
            </a:extLst>
          </p:cNvPr>
          <p:cNvGraphicFramePr>
            <a:graphicFrameLocks noChangeAspect="1"/>
          </p:cNvGraphicFramePr>
          <p:nvPr/>
        </p:nvGraphicFramePr>
        <p:xfrm>
          <a:off x="4211638" y="2924175"/>
          <a:ext cx="804862" cy="390525"/>
        </p:xfrm>
        <a:graphic>
          <a:graphicData uri="http://schemas.openxmlformats.org/presentationml/2006/ole">
            <mc:AlternateContent xmlns:mc="http://schemas.openxmlformats.org/markup-compatibility/2006">
              <mc:Choice xmlns:v="urn:schemas-microsoft-com:vml" Requires="v">
                <p:oleObj r:id="rId2" imgW="395244" imgH="191247" progId="Equation.3">
                  <p:embed/>
                </p:oleObj>
              </mc:Choice>
              <mc:Fallback>
                <p:oleObj r:id="rId2" imgW="395244" imgH="191247"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638" y="2924175"/>
                        <a:ext cx="8048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2946">
                                            <p:txEl>
                                              <p:pRg st="1" end="1"/>
                                            </p:txEl>
                                          </p:spTgt>
                                        </p:tgtEl>
                                        <p:attrNameLst>
                                          <p:attrName>style.visibility</p:attrName>
                                        </p:attrNameLst>
                                      </p:cBhvr>
                                      <p:to>
                                        <p:strVal val="visible"/>
                                      </p:to>
                                    </p:set>
                                    <p:anim calcmode="lin" valueType="num">
                                      <p:cBhvr additive="base">
                                        <p:cTn id="7" dur="500" fill="hold"/>
                                        <p:tgtEl>
                                          <p:spTgt spid="8294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294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2948"/>
                                        </p:tgtEl>
                                        <p:attrNameLst>
                                          <p:attrName>style.visibility</p:attrName>
                                        </p:attrNameLst>
                                      </p:cBhvr>
                                      <p:to>
                                        <p:strVal val="visible"/>
                                      </p:to>
                                    </p:set>
                                    <p:anim calcmode="lin" valueType="num">
                                      <p:cBhvr additive="base">
                                        <p:cTn id="11" dur="500" fill="hold"/>
                                        <p:tgtEl>
                                          <p:spTgt spid="82948"/>
                                        </p:tgtEl>
                                        <p:attrNameLst>
                                          <p:attrName>ppt_x</p:attrName>
                                        </p:attrNameLst>
                                      </p:cBhvr>
                                      <p:tavLst>
                                        <p:tav tm="0">
                                          <p:val>
                                            <p:strVal val="#ppt_x"/>
                                          </p:val>
                                        </p:tav>
                                        <p:tav tm="100000">
                                          <p:val>
                                            <p:strVal val="#ppt_x"/>
                                          </p:val>
                                        </p:tav>
                                      </p:tavLst>
                                    </p:anim>
                                    <p:anim calcmode="lin" valueType="num">
                                      <p:cBhvr additive="base">
                                        <p:cTn id="12" dur="500" fill="hold"/>
                                        <p:tgtEl>
                                          <p:spTgt spid="82948"/>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82946">
                                            <p:txEl>
                                              <p:pRg st="2" end="2"/>
                                            </p:txEl>
                                          </p:spTgt>
                                        </p:tgtEl>
                                        <p:attrNameLst>
                                          <p:attrName>style.visibility</p:attrName>
                                        </p:attrNameLst>
                                      </p:cBhvr>
                                      <p:to>
                                        <p:strVal val="visible"/>
                                      </p:to>
                                    </p:set>
                                    <p:anim calcmode="lin" valueType="num">
                                      <p:cBhvr additive="base">
                                        <p:cTn id="17" dur="500" fill="hold"/>
                                        <p:tgtEl>
                                          <p:spTgt spid="8294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2946">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2949"/>
                                        </p:tgtEl>
                                        <p:attrNameLst>
                                          <p:attrName>style.visibility</p:attrName>
                                        </p:attrNameLst>
                                      </p:cBhvr>
                                      <p:to>
                                        <p:strVal val="visible"/>
                                      </p:to>
                                    </p:set>
                                    <p:anim calcmode="lin" valueType="num">
                                      <p:cBhvr additive="base">
                                        <p:cTn id="21" dur="500" fill="hold"/>
                                        <p:tgtEl>
                                          <p:spTgt spid="82949"/>
                                        </p:tgtEl>
                                        <p:attrNameLst>
                                          <p:attrName>ppt_x</p:attrName>
                                        </p:attrNameLst>
                                      </p:cBhvr>
                                      <p:tavLst>
                                        <p:tav tm="0">
                                          <p:val>
                                            <p:strVal val="#ppt_x"/>
                                          </p:val>
                                        </p:tav>
                                        <p:tav tm="100000">
                                          <p:val>
                                            <p:strVal val="#ppt_x"/>
                                          </p:val>
                                        </p:tav>
                                      </p:tavLst>
                                    </p:anim>
                                    <p:anim calcmode="lin" valueType="num">
                                      <p:cBhvr additive="base">
                                        <p:cTn id="22" dur="500" fill="hold"/>
                                        <p:tgtEl>
                                          <p:spTgt spid="82949"/>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2950"/>
                                        </p:tgtEl>
                                        <p:attrNameLst>
                                          <p:attrName>style.visibility</p:attrName>
                                        </p:attrNameLst>
                                      </p:cBhvr>
                                      <p:to>
                                        <p:strVal val="visible"/>
                                      </p:to>
                                    </p:set>
                                    <p:anim calcmode="lin" valueType="num">
                                      <p:cBhvr additive="base">
                                        <p:cTn id="25" dur="500" fill="hold"/>
                                        <p:tgtEl>
                                          <p:spTgt spid="82950"/>
                                        </p:tgtEl>
                                        <p:attrNameLst>
                                          <p:attrName>ppt_x</p:attrName>
                                        </p:attrNameLst>
                                      </p:cBhvr>
                                      <p:tavLst>
                                        <p:tav tm="0">
                                          <p:val>
                                            <p:strVal val="#ppt_x"/>
                                          </p:val>
                                        </p:tav>
                                        <p:tav tm="100000">
                                          <p:val>
                                            <p:strVal val="#ppt_x"/>
                                          </p:val>
                                        </p:tav>
                                      </p:tavLst>
                                    </p:anim>
                                    <p:anim calcmode="lin" valueType="num">
                                      <p:cBhvr additive="base">
                                        <p:cTn id="26" dur="500" fill="hold"/>
                                        <p:tgtEl>
                                          <p:spTgt spid="82950"/>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82946">
                                            <p:txEl>
                                              <p:pRg st="3" end="3"/>
                                            </p:txEl>
                                          </p:spTgt>
                                        </p:tgtEl>
                                        <p:attrNameLst>
                                          <p:attrName>style.visibility</p:attrName>
                                        </p:attrNameLst>
                                      </p:cBhvr>
                                      <p:to>
                                        <p:strVal val="visible"/>
                                      </p:to>
                                    </p:set>
                                    <p:anim calcmode="lin" valueType="num">
                                      <p:cBhvr additive="base">
                                        <p:cTn id="31" dur="500" fill="hold"/>
                                        <p:tgtEl>
                                          <p:spTgt spid="82946">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294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5E393BBE-C5EE-AD23-59F1-C070EF205EF0}"/>
              </a:ext>
            </a:extLst>
          </p:cNvPr>
          <p:cNvSpPr>
            <a:spLocks noGrp="1" noChangeArrowheads="1"/>
          </p:cNvSpPr>
          <p:nvPr>
            <p:ph type="title"/>
          </p:nvPr>
        </p:nvSpPr>
        <p:spPr/>
        <p:txBody>
          <a:bodyPr/>
          <a:lstStyle/>
          <a:p>
            <a:pPr algn="ctr" eaLnBrk="1" hangingPunct="1">
              <a:defRPr/>
            </a:pP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3.8088</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的引脚特性</a:t>
            </a:r>
            <a:endPar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83971" name="Rectangle 3">
            <a:extLst>
              <a:ext uri="{FF2B5EF4-FFF2-40B4-BE49-F238E27FC236}">
                <a16:creationId xmlns:a16="http://schemas.microsoft.com/office/drawing/2014/main" id="{4563815F-FD98-1928-35B3-5FC3608482B6}"/>
              </a:ext>
            </a:extLst>
          </p:cNvPr>
          <p:cNvSpPr>
            <a:spLocks noGrp="1" noChangeArrowheads="1"/>
          </p:cNvSpPr>
          <p:nvPr>
            <p:ph type="body" sz="half" idx="1"/>
          </p:nvPr>
        </p:nvSpPr>
        <p:spPr>
          <a:xfrm>
            <a:off x="395288" y="1557338"/>
            <a:ext cx="8353425" cy="4114800"/>
          </a:xfrm>
        </p:spPr>
        <p:txBody>
          <a:bodyPr/>
          <a:lstStyle/>
          <a:p>
            <a:pPr eaLnBrk="1" hangingPunct="1">
              <a:buFont typeface="Wingdings" panose="05000000000000000000" pitchFamily="2" charset="2"/>
              <a:buNone/>
            </a:pPr>
            <a:r>
              <a:rPr lang="en-US" altLang="zh-CN" sz="2400" b="1">
                <a:solidFill>
                  <a:schemeClr val="folHlink"/>
                </a:solidFill>
                <a:latin typeface="Times New Roman" panose="02020603050405020304" pitchFamily="18" charset="0"/>
                <a:ea typeface="楷体_GB2312" pitchFamily="1" charset="-122"/>
              </a:rPr>
              <a:t>8088</a:t>
            </a:r>
            <a:r>
              <a:rPr lang="zh-CN" altLang="en-US" sz="2400" b="1">
                <a:solidFill>
                  <a:schemeClr val="folHlink"/>
                </a:solidFill>
                <a:latin typeface="Times New Roman" panose="02020603050405020304" pitchFamily="18" charset="0"/>
                <a:ea typeface="楷体_GB2312" pitchFamily="1" charset="-122"/>
              </a:rPr>
              <a:t>和</a:t>
            </a:r>
            <a:r>
              <a:rPr lang="en-US" altLang="zh-CN" sz="2400" b="1">
                <a:solidFill>
                  <a:schemeClr val="folHlink"/>
                </a:solidFill>
                <a:latin typeface="Times New Roman" panose="02020603050405020304" pitchFamily="18" charset="0"/>
                <a:ea typeface="楷体_GB2312" pitchFamily="1" charset="-122"/>
              </a:rPr>
              <a:t>8086</a:t>
            </a:r>
            <a:r>
              <a:rPr lang="zh-CN" altLang="en-US" sz="2400" b="1">
                <a:solidFill>
                  <a:schemeClr val="folHlink"/>
                </a:solidFill>
                <a:latin typeface="Times New Roman" panose="02020603050405020304" pitchFamily="18" charset="0"/>
                <a:ea typeface="楷体_GB2312" pitchFamily="1" charset="-122"/>
              </a:rPr>
              <a:t>之间引脚上的不同主要表现在</a:t>
            </a:r>
            <a:r>
              <a:rPr lang="zh-CN" altLang="en-US" sz="2400">
                <a:latin typeface="Times New Roman" panose="02020603050405020304" pitchFamily="18" charset="0"/>
                <a:ea typeface="楷体_GB2312" pitchFamily="1" charset="-122"/>
              </a:rPr>
              <a:t>： </a:t>
            </a:r>
          </a:p>
          <a:p>
            <a:pPr eaLnBrk="1" hangingPunct="1">
              <a:buFont typeface="Wingdings" panose="05000000000000000000" pitchFamily="2" charset="2"/>
              <a:buChar char="Ø"/>
            </a:pPr>
            <a:r>
              <a:rPr lang="en-US" altLang="zh-CN" sz="2400">
                <a:latin typeface="Times New Roman" panose="02020603050405020304" pitchFamily="18" charset="0"/>
                <a:ea typeface="楷体_GB2312" pitchFamily="1" charset="-122"/>
              </a:rPr>
              <a:t>(1)</a:t>
            </a:r>
            <a:r>
              <a:rPr lang="zh-CN" altLang="en-US" sz="2400">
                <a:latin typeface="Times New Roman" panose="02020603050405020304" pitchFamily="18" charset="0"/>
                <a:ea typeface="楷体_GB2312" pitchFamily="1" charset="-122"/>
              </a:rPr>
              <a:t>由于</a:t>
            </a:r>
            <a:r>
              <a:rPr lang="en-US" altLang="zh-CN" sz="2400">
                <a:latin typeface="Times New Roman" panose="02020603050405020304" pitchFamily="18" charset="0"/>
                <a:ea typeface="楷体_GB2312" pitchFamily="1" charset="-122"/>
              </a:rPr>
              <a:t>8088 CPU</a:t>
            </a:r>
            <a:r>
              <a:rPr lang="zh-CN" altLang="en-US" sz="2400">
                <a:latin typeface="Times New Roman" panose="02020603050405020304" pitchFamily="18" charset="0"/>
                <a:ea typeface="楷体_GB2312" pitchFamily="1" charset="-122"/>
              </a:rPr>
              <a:t>外部一次只传送</a:t>
            </a:r>
            <a:r>
              <a:rPr lang="en-US" altLang="zh-CN" sz="2400">
                <a:latin typeface="Times New Roman" panose="02020603050405020304" pitchFamily="18" charset="0"/>
                <a:ea typeface="楷体_GB2312" pitchFamily="1" charset="-122"/>
              </a:rPr>
              <a:t>8</a:t>
            </a:r>
            <a:r>
              <a:rPr lang="zh-CN" altLang="en-US" sz="2400">
                <a:latin typeface="Times New Roman" panose="02020603050405020304" pitchFamily="18" charset="0"/>
                <a:ea typeface="楷体_GB2312" pitchFamily="1" charset="-122"/>
              </a:rPr>
              <a:t>位数据，因此其引脚</a:t>
            </a:r>
            <a:r>
              <a:rPr lang="en-US" altLang="zh-CN" sz="2400">
                <a:latin typeface="Times New Roman" panose="02020603050405020304" pitchFamily="18" charset="0"/>
                <a:ea typeface="楷体_GB2312" pitchFamily="1" charset="-122"/>
              </a:rPr>
              <a:t>A</a:t>
            </a:r>
            <a:r>
              <a:rPr lang="en-US" altLang="zh-CN" sz="2400" baseline="-25000">
                <a:latin typeface="Times New Roman" panose="02020603050405020304" pitchFamily="18" charset="0"/>
                <a:ea typeface="楷体_GB2312" pitchFamily="1" charset="-122"/>
              </a:rPr>
              <a:t>15</a:t>
            </a:r>
            <a:r>
              <a:rPr lang="zh-CN" altLang="en-US" sz="2400">
                <a:latin typeface="Times New Roman" panose="02020603050405020304" pitchFamily="18" charset="0"/>
                <a:ea typeface="楷体_GB2312" pitchFamily="1" charset="-122"/>
              </a:rPr>
              <a:t>～</a:t>
            </a:r>
            <a:r>
              <a:rPr lang="en-US" altLang="zh-CN" sz="2400">
                <a:latin typeface="Times New Roman" panose="02020603050405020304" pitchFamily="18" charset="0"/>
                <a:ea typeface="楷体_GB2312" pitchFamily="1" charset="-122"/>
              </a:rPr>
              <a:t>A</a:t>
            </a:r>
            <a:r>
              <a:rPr lang="en-US" altLang="zh-CN" sz="2400" baseline="-25000">
                <a:latin typeface="Times New Roman" panose="02020603050405020304" pitchFamily="18" charset="0"/>
                <a:ea typeface="楷体_GB2312" pitchFamily="1" charset="-122"/>
              </a:rPr>
              <a:t>8</a:t>
            </a:r>
            <a:r>
              <a:rPr lang="zh-CN" altLang="en-US" sz="2400">
                <a:latin typeface="Times New Roman" panose="02020603050405020304" pitchFamily="18" charset="0"/>
                <a:ea typeface="楷体_GB2312" pitchFamily="1" charset="-122"/>
              </a:rPr>
              <a:t>仅用于输出地址信号，而</a:t>
            </a:r>
            <a:r>
              <a:rPr lang="en-US" altLang="zh-CN" sz="2400">
                <a:latin typeface="Times New Roman" panose="02020603050405020304" pitchFamily="18" charset="0"/>
                <a:ea typeface="楷体_GB2312" pitchFamily="1" charset="-122"/>
              </a:rPr>
              <a:t>8086</a:t>
            </a:r>
            <a:r>
              <a:rPr lang="zh-CN" altLang="en-US" sz="2400">
                <a:latin typeface="Times New Roman" panose="02020603050405020304" pitchFamily="18" charset="0"/>
                <a:ea typeface="楷体_GB2312" pitchFamily="1" charset="-122"/>
              </a:rPr>
              <a:t>则将此</a:t>
            </a:r>
            <a:r>
              <a:rPr lang="en-US" altLang="zh-CN" sz="2400">
                <a:latin typeface="Times New Roman" panose="02020603050405020304" pitchFamily="18" charset="0"/>
                <a:ea typeface="楷体_GB2312" pitchFamily="1" charset="-122"/>
              </a:rPr>
              <a:t>8</a:t>
            </a:r>
            <a:r>
              <a:rPr lang="zh-CN" altLang="en-US" sz="2400">
                <a:latin typeface="Times New Roman" panose="02020603050405020304" pitchFamily="18" charset="0"/>
                <a:ea typeface="楷体_GB2312" pitchFamily="1" charset="-122"/>
              </a:rPr>
              <a:t>条线变为双向分时复用的</a:t>
            </a:r>
            <a:r>
              <a:rPr lang="en-US" altLang="zh-CN" sz="2400">
                <a:latin typeface="Times New Roman" panose="02020603050405020304" pitchFamily="18" charset="0"/>
                <a:ea typeface="楷体_GB2312" pitchFamily="1" charset="-122"/>
              </a:rPr>
              <a:t>AD</a:t>
            </a:r>
            <a:r>
              <a:rPr lang="en-US" altLang="zh-CN" sz="2400" baseline="-25000">
                <a:latin typeface="Times New Roman" panose="02020603050405020304" pitchFamily="18" charset="0"/>
                <a:ea typeface="楷体_GB2312" pitchFamily="1" charset="-122"/>
              </a:rPr>
              <a:t>15</a:t>
            </a:r>
            <a:r>
              <a:rPr lang="zh-CN" altLang="en-US" sz="2400">
                <a:latin typeface="Times New Roman" panose="02020603050405020304" pitchFamily="18" charset="0"/>
                <a:ea typeface="楷体_GB2312" pitchFamily="1" charset="-122"/>
              </a:rPr>
              <a:t>～</a:t>
            </a:r>
            <a:r>
              <a:rPr lang="en-US" altLang="zh-CN" sz="2400">
                <a:latin typeface="Times New Roman" panose="02020603050405020304" pitchFamily="18" charset="0"/>
                <a:ea typeface="楷体_GB2312" pitchFamily="1" charset="-122"/>
              </a:rPr>
              <a:t>AD</a:t>
            </a:r>
            <a:r>
              <a:rPr lang="en-US" altLang="zh-CN" sz="2400" baseline="-25000">
                <a:latin typeface="Times New Roman" panose="02020603050405020304" pitchFamily="18" charset="0"/>
                <a:ea typeface="楷体_GB2312" pitchFamily="1" charset="-122"/>
              </a:rPr>
              <a:t>8</a:t>
            </a:r>
            <a:r>
              <a:rPr lang="zh-CN" altLang="en-US" sz="2400">
                <a:latin typeface="Times New Roman" panose="02020603050405020304" pitchFamily="18" charset="0"/>
                <a:ea typeface="楷体_GB2312" pitchFamily="1" charset="-122"/>
              </a:rPr>
              <a:t>。</a:t>
            </a:r>
          </a:p>
          <a:p>
            <a:pPr eaLnBrk="1" hangingPunct="1">
              <a:buFont typeface="Wingdings" panose="05000000000000000000" pitchFamily="2" charset="2"/>
              <a:buChar char="Ø"/>
            </a:pPr>
            <a:r>
              <a:rPr lang="en-US" altLang="zh-CN" sz="2400">
                <a:latin typeface="Times New Roman" panose="02020603050405020304" pitchFamily="18" charset="0"/>
                <a:ea typeface="楷体_GB2312" pitchFamily="1" charset="-122"/>
              </a:rPr>
              <a:t>(2)8086 CPU</a:t>
            </a:r>
            <a:r>
              <a:rPr lang="zh-CN" altLang="en-US" sz="2400">
                <a:latin typeface="Times New Roman" panose="02020603050405020304" pitchFamily="18" charset="0"/>
                <a:ea typeface="楷体_GB2312" pitchFamily="1" charset="-122"/>
              </a:rPr>
              <a:t>上的           信号在</a:t>
            </a:r>
            <a:r>
              <a:rPr lang="en-US" altLang="zh-CN" sz="2400">
                <a:latin typeface="Times New Roman" panose="02020603050405020304" pitchFamily="18" charset="0"/>
                <a:ea typeface="楷体_GB2312" pitchFamily="1" charset="-122"/>
              </a:rPr>
              <a:t>8088</a:t>
            </a:r>
            <a:r>
              <a:rPr lang="zh-CN" altLang="en-US" sz="2400">
                <a:latin typeface="Times New Roman" panose="02020603050405020304" pitchFamily="18" charset="0"/>
                <a:ea typeface="楷体_GB2312" pitchFamily="1" charset="-122"/>
              </a:rPr>
              <a:t>上变为      </a:t>
            </a:r>
            <a:r>
              <a:rPr lang="en-US" altLang="zh-CN" sz="2400">
                <a:latin typeface="Times New Roman" panose="02020603050405020304" pitchFamily="18" charset="0"/>
                <a:ea typeface="楷体_GB2312" pitchFamily="1" charset="-122"/>
              </a:rPr>
              <a:t>(HIGH)</a:t>
            </a:r>
            <a:r>
              <a:rPr lang="zh-CN" altLang="en-US" sz="2400">
                <a:latin typeface="Times New Roman" panose="02020603050405020304" pitchFamily="18" charset="0"/>
                <a:ea typeface="楷体_GB2312" pitchFamily="1" charset="-122"/>
              </a:rPr>
              <a:t>信号。这是一条状态输出线，它与        和         信号一起，决定了</a:t>
            </a:r>
            <a:r>
              <a:rPr lang="en-US" altLang="zh-CN" sz="2400">
                <a:latin typeface="Times New Roman" panose="02020603050405020304" pitchFamily="18" charset="0"/>
                <a:ea typeface="楷体_GB2312" pitchFamily="1" charset="-122"/>
              </a:rPr>
              <a:t>8088 CPU</a:t>
            </a:r>
            <a:r>
              <a:rPr lang="zh-CN" altLang="en-US" sz="2400">
                <a:latin typeface="Times New Roman" panose="02020603050405020304" pitchFamily="18" charset="0"/>
                <a:ea typeface="楷体_GB2312" pitchFamily="1" charset="-122"/>
              </a:rPr>
              <a:t>在最小模式下现行总线周期的状态。</a:t>
            </a:r>
            <a:r>
              <a:rPr lang="en-US" altLang="zh-CN" sz="2400">
                <a:latin typeface="Times New Roman" panose="02020603050405020304" pitchFamily="18" charset="0"/>
                <a:ea typeface="楷体_GB2312" pitchFamily="1" charset="-122"/>
              </a:rPr>
              <a:t>HIGH</a:t>
            </a:r>
            <a:r>
              <a:rPr lang="zh-CN" altLang="en-US" sz="2400">
                <a:latin typeface="Times New Roman" panose="02020603050405020304" pitchFamily="18" charset="0"/>
                <a:ea typeface="楷体_GB2312" pitchFamily="1" charset="-122"/>
              </a:rPr>
              <a:t>在最大模式时始终为高电平输出。</a:t>
            </a:r>
          </a:p>
          <a:p>
            <a:pPr eaLnBrk="1" hangingPunct="1">
              <a:buFont typeface="Wingdings" panose="05000000000000000000" pitchFamily="2" charset="2"/>
              <a:buChar char="Ø"/>
            </a:pPr>
            <a:r>
              <a:rPr lang="en-US" altLang="zh-CN" sz="2400">
                <a:latin typeface="Times New Roman" panose="02020603050405020304" pitchFamily="18" charset="0"/>
                <a:ea typeface="楷体_GB2312" pitchFamily="1" charset="-122"/>
              </a:rPr>
              <a:t>(3)8088</a:t>
            </a:r>
            <a:r>
              <a:rPr lang="zh-CN" altLang="en-US" sz="2400">
                <a:latin typeface="Times New Roman" panose="02020603050405020304" pitchFamily="18" charset="0"/>
                <a:ea typeface="楷体_GB2312" pitchFamily="1" charset="-122"/>
              </a:rPr>
              <a:t>的存储器</a:t>
            </a:r>
            <a:r>
              <a:rPr lang="en-US" altLang="zh-CN" sz="2400">
                <a:latin typeface="Times New Roman" panose="02020603050405020304" pitchFamily="18" charset="0"/>
                <a:ea typeface="楷体_GB2312" pitchFamily="1" charset="-122"/>
              </a:rPr>
              <a:t>/</a:t>
            </a:r>
            <a:r>
              <a:rPr lang="zh-CN" altLang="en-US" sz="2400">
                <a:latin typeface="Times New Roman" panose="02020603050405020304" pitchFamily="18" charset="0"/>
                <a:ea typeface="楷体_GB2312" pitchFamily="1" charset="-122"/>
              </a:rPr>
              <a:t>外设控制引脚是           。 </a:t>
            </a:r>
          </a:p>
          <a:p>
            <a:pPr eaLnBrk="1" hangingPunct="1"/>
            <a:endParaRPr lang="zh-CN" altLang="en-US" sz="2400"/>
          </a:p>
        </p:txBody>
      </p:sp>
      <p:graphicFrame>
        <p:nvGraphicFramePr>
          <p:cNvPr id="83972" name="Object 4">
            <a:extLst>
              <a:ext uri="{FF2B5EF4-FFF2-40B4-BE49-F238E27FC236}">
                <a16:creationId xmlns:a16="http://schemas.microsoft.com/office/drawing/2014/main" id="{6B330CB5-FB64-530F-3884-FC1ADA3595DC}"/>
              </a:ext>
            </a:extLst>
          </p:cNvPr>
          <p:cNvGraphicFramePr>
            <a:graphicFrameLocks noChangeAspect="1"/>
          </p:cNvGraphicFramePr>
          <p:nvPr>
            <p:ph sz="quarter" idx="2"/>
          </p:nvPr>
        </p:nvGraphicFramePr>
        <p:xfrm>
          <a:off x="3059113" y="3213100"/>
          <a:ext cx="865187" cy="406400"/>
        </p:xfrm>
        <a:graphic>
          <a:graphicData uri="http://schemas.openxmlformats.org/presentationml/2006/ole">
            <mc:AlternateContent xmlns:mc="http://schemas.openxmlformats.org/markup-compatibility/2006">
              <mc:Choice xmlns:v="urn:schemas-microsoft-com:vml" Requires="v">
                <p:oleObj r:id="rId2" imgW="458593" imgH="216558" progId="Equation.3">
                  <p:embed/>
                </p:oleObj>
              </mc:Choice>
              <mc:Fallback>
                <p:oleObj r:id="rId2" imgW="458593" imgH="216558"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113" y="3213100"/>
                        <a:ext cx="865187" cy="406400"/>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3973" name="Object 5">
            <a:extLst>
              <a:ext uri="{FF2B5EF4-FFF2-40B4-BE49-F238E27FC236}">
                <a16:creationId xmlns:a16="http://schemas.microsoft.com/office/drawing/2014/main" id="{EB3AE7E4-0F0C-6412-3850-861798326B9A}"/>
              </a:ext>
            </a:extLst>
          </p:cNvPr>
          <p:cNvGraphicFramePr>
            <a:graphicFrameLocks noChangeAspect="1"/>
          </p:cNvGraphicFramePr>
          <p:nvPr>
            <p:ph sz="quarter" idx="3"/>
          </p:nvPr>
        </p:nvGraphicFramePr>
        <p:xfrm>
          <a:off x="4500563" y="3573463"/>
          <a:ext cx="646112" cy="360362"/>
        </p:xfrm>
        <a:graphic>
          <a:graphicData uri="http://schemas.openxmlformats.org/presentationml/2006/ole">
            <mc:AlternateContent xmlns:mc="http://schemas.openxmlformats.org/markup-compatibility/2006">
              <mc:Choice xmlns:v="urn:schemas-microsoft-com:vml" Requires="v">
                <p:oleObj r:id="rId4" imgW="344395" imgH="191330" progId="Equation.3">
                  <p:embed/>
                </p:oleObj>
              </mc:Choice>
              <mc:Fallback>
                <p:oleObj r:id="rId4" imgW="344395" imgH="19133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0563" y="3573463"/>
                        <a:ext cx="646112" cy="360362"/>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3974" name="Object 6">
            <a:extLst>
              <a:ext uri="{FF2B5EF4-FFF2-40B4-BE49-F238E27FC236}">
                <a16:creationId xmlns:a16="http://schemas.microsoft.com/office/drawing/2014/main" id="{0B8AF7AC-5C0B-BB3C-3AF5-993AE5346CD6}"/>
              </a:ext>
            </a:extLst>
          </p:cNvPr>
          <p:cNvGraphicFramePr>
            <a:graphicFrameLocks noChangeAspect="1"/>
          </p:cNvGraphicFramePr>
          <p:nvPr/>
        </p:nvGraphicFramePr>
        <p:xfrm>
          <a:off x="5437188" y="3573463"/>
          <a:ext cx="647700" cy="346075"/>
        </p:xfrm>
        <a:graphic>
          <a:graphicData uri="http://schemas.openxmlformats.org/presentationml/2006/ole">
            <mc:AlternateContent xmlns:mc="http://schemas.openxmlformats.org/markup-compatibility/2006">
              <mc:Choice xmlns:v="urn:schemas-microsoft-com:vml" Requires="v">
                <p:oleObj r:id="rId6" imgW="356995" imgH="191247" progId="Equation.3">
                  <p:embed/>
                </p:oleObj>
              </mc:Choice>
              <mc:Fallback>
                <p:oleObj r:id="rId6" imgW="356995" imgH="191247"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37188" y="3573463"/>
                        <a:ext cx="6477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3975" name="Object 7">
            <a:extLst>
              <a:ext uri="{FF2B5EF4-FFF2-40B4-BE49-F238E27FC236}">
                <a16:creationId xmlns:a16="http://schemas.microsoft.com/office/drawing/2014/main" id="{9CC0AB05-3D53-2932-14C4-6CE7281EFBE8}"/>
              </a:ext>
            </a:extLst>
          </p:cNvPr>
          <p:cNvGraphicFramePr>
            <a:graphicFrameLocks noChangeAspect="1"/>
          </p:cNvGraphicFramePr>
          <p:nvPr/>
        </p:nvGraphicFramePr>
        <p:xfrm>
          <a:off x="5219700" y="4652963"/>
          <a:ext cx="792163" cy="457200"/>
        </p:xfrm>
        <a:graphic>
          <a:graphicData uri="http://schemas.openxmlformats.org/presentationml/2006/ole">
            <mc:AlternateContent xmlns:mc="http://schemas.openxmlformats.org/markup-compatibility/2006">
              <mc:Choice xmlns:v="urn:schemas-microsoft-com:vml" Requires="v">
                <p:oleObj r:id="rId8" imgW="331639" imgH="191330" progId="Equation.3">
                  <p:embed/>
                </p:oleObj>
              </mc:Choice>
              <mc:Fallback>
                <p:oleObj r:id="rId8" imgW="331639" imgH="19133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19700" y="4652963"/>
                        <a:ext cx="792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3976" name="Object 8">
            <a:extLst>
              <a:ext uri="{FF2B5EF4-FFF2-40B4-BE49-F238E27FC236}">
                <a16:creationId xmlns:a16="http://schemas.microsoft.com/office/drawing/2014/main" id="{5920FF70-05F5-94A7-7060-144E663E6424}"/>
              </a:ext>
            </a:extLst>
          </p:cNvPr>
          <p:cNvGraphicFramePr>
            <a:graphicFrameLocks noChangeAspect="1"/>
          </p:cNvGraphicFramePr>
          <p:nvPr/>
        </p:nvGraphicFramePr>
        <p:xfrm>
          <a:off x="6372225" y="3213100"/>
          <a:ext cx="433388" cy="360363"/>
        </p:xfrm>
        <a:graphic>
          <a:graphicData uri="http://schemas.openxmlformats.org/presentationml/2006/ole">
            <mc:AlternateContent xmlns:mc="http://schemas.openxmlformats.org/markup-compatibility/2006">
              <mc:Choice xmlns:v="urn:schemas-microsoft-com:vml" Requires="v">
                <p:oleObj r:id="rId10" imgW="229998" imgH="191665" progId="Equation.3">
                  <p:embed/>
                </p:oleObj>
              </mc:Choice>
              <mc:Fallback>
                <p:oleObj r:id="rId10" imgW="229998" imgH="191665"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72225" y="3213100"/>
                        <a:ext cx="43338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96264" name="Picture 4">
            <a:extLst>
              <a:ext uri="{FF2B5EF4-FFF2-40B4-BE49-F238E27FC236}">
                <a16:creationId xmlns:a16="http://schemas.microsoft.com/office/drawing/2014/main" id="{110DFB49-EE9B-F83B-4311-8A329CECB45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40425" y="4292600"/>
            <a:ext cx="2808288" cy="256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3971">
                                            <p:txEl>
                                              <p:pRg st="1" end="1"/>
                                            </p:txEl>
                                          </p:spTgt>
                                        </p:tgtEl>
                                        <p:attrNameLst>
                                          <p:attrName>style.visibility</p:attrName>
                                        </p:attrNameLst>
                                      </p:cBhvr>
                                      <p:to>
                                        <p:strVal val="visible"/>
                                      </p:to>
                                    </p:set>
                                    <p:anim calcmode="lin" valueType="num">
                                      <p:cBhvr additive="base">
                                        <p:cTn id="7" dur="500" fill="hold"/>
                                        <p:tgtEl>
                                          <p:spTgt spid="8397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39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3971">
                                            <p:txEl>
                                              <p:pRg st="2" end="2"/>
                                            </p:txEl>
                                          </p:spTgt>
                                        </p:tgtEl>
                                        <p:attrNameLst>
                                          <p:attrName>style.visibility</p:attrName>
                                        </p:attrNameLst>
                                      </p:cBhvr>
                                      <p:to>
                                        <p:strVal val="visible"/>
                                      </p:to>
                                    </p:set>
                                    <p:anim calcmode="lin" valueType="num">
                                      <p:cBhvr additive="base">
                                        <p:cTn id="13" dur="500" fill="hold"/>
                                        <p:tgtEl>
                                          <p:spTgt spid="8397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3971">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3972"/>
                                        </p:tgtEl>
                                        <p:attrNameLst>
                                          <p:attrName>style.visibility</p:attrName>
                                        </p:attrNameLst>
                                      </p:cBhvr>
                                      <p:to>
                                        <p:strVal val="visible"/>
                                      </p:to>
                                    </p:set>
                                    <p:anim calcmode="lin" valueType="num">
                                      <p:cBhvr additive="base">
                                        <p:cTn id="17" dur="500" fill="hold"/>
                                        <p:tgtEl>
                                          <p:spTgt spid="83972"/>
                                        </p:tgtEl>
                                        <p:attrNameLst>
                                          <p:attrName>ppt_x</p:attrName>
                                        </p:attrNameLst>
                                      </p:cBhvr>
                                      <p:tavLst>
                                        <p:tav tm="0">
                                          <p:val>
                                            <p:strVal val="#ppt_x"/>
                                          </p:val>
                                        </p:tav>
                                        <p:tav tm="100000">
                                          <p:val>
                                            <p:strVal val="#ppt_x"/>
                                          </p:val>
                                        </p:tav>
                                      </p:tavLst>
                                    </p:anim>
                                    <p:anim calcmode="lin" valueType="num">
                                      <p:cBhvr additive="base">
                                        <p:cTn id="18" dur="500" fill="hold"/>
                                        <p:tgtEl>
                                          <p:spTgt spid="83972"/>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3973"/>
                                        </p:tgtEl>
                                        <p:attrNameLst>
                                          <p:attrName>style.visibility</p:attrName>
                                        </p:attrNameLst>
                                      </p:cBhvr>
                                      <p:to>
                                        <p:strVal val="visible"/>
                                      </p:to>
                                    </p:set>
                                    <p:anim calcmode="lin" valueType="num">
                                      <p:cBhvr additive="base">
                                        <p:cTn id="21" dur="500" fill="hold"/>
                                        <p:tgtEl>
                                          <p:spTgt spid="83973"/>
                                        </p:tgtEl>
                                        <p:attrNameLst>
                                          <p:attrName>ppt_x</p:attrName>
                                        </p:attrNameLst>
                                      </p:cBhvr>
                                      <p:tavLst>
                                        <p:tav tm="0">
                                          <p:val>
                                            <p:strVal val="#ppt_x"/>
                                          </p:val>
                                        </p:tav>
                                        <p:tav tm="100000">
                                          <p:val>
                                            <p:strVal val="#ppt_x"/>
                                          </p:val>
                                        </p:tav>
                                      </p:tavLst>
                                    </p:anim>
                                    <p:anim calcmode="lin" valueType="num">
                                      <p:cBhvr additive="base">
                                        <p:cTn id="22" dur="500" fill="hold"/>
                                        <p:tgtEl>
                                          <p:spTgt spid="83973"/>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3974"/>
                                        </p:tgtEl>
                                        <p:attrNameLst>
                                          <p:attrName>style.visibility</p:attrName>
                                        </p:attrNameLst>
                                      </p:cBhvr>
                                      <p:to>
                                        <p:strVal val="visible"/>
                                      </p:to>
                                    </p:set>
                                    <p:anim calcmode="lin" valueType="num">
                                      <p:cBhvr additive="base">
                                        <p:cTn id="25" dur="500" fill="hold"/>
                                        <p:tgtEl>
                                          <p:spTgt spid="83974"/>
                                        </p:tgtEl>
                                        <p:attrNameLst>
                                          <p:attrName>ppt_x</p:attrName>
                                        </p:attrNameLst>
                                      </p:cBhvr>
                                      <p:tavLst>
                                        <p:tav tm="0">
                                          <p:val>
                                            <p:strVal val="#ppt_x"/>
                                          </p:val>
                                        </p:tav>
                                        <p:tav tm="100000">
                                          <p:val>
                                            <p:strVal val="#ppt_x"/>
                                          </p:val>
                                        </p:tav>
                                      </p:tavLst>
                                    </p:anim>
                                    <p:anim calcmode="lin" valueType="num">
                                      <p:cBhvr additive="base">
                                        <p:cTn id="26" dur="500" fill="hold"/>
                                        <p:tgtEl>
                                          <p:spTgt spid="83974"/>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83976"/>
                                        </p:tgtEl>
                                        <p:attrNameLst>
                                          <p:attrName>style.visibility</p:attrName>
                                        </p:attrNameLst>
                                      </p:cBhvr>
                                      <p:to>
                                        <p:strVal val="visible"/>
                                      </p:to>
                                    </p:set>
                                    <p:anim calcmode="lin" valueType="num">
                                      <p:cBhvr additive="base">
                                        <p:cTn id="29" dur="500" fill="hold"/>
                                        <p:tgtEl>
                                          <p:spTgt spid="83976"/>
                                        </p:tgtEl>
                                        <p:attrNameLst>
                                          <p:attrName>ppt_x</p:attrName>
                                        </p:attrNameLst>
                                      </p:cBhvr>
                                      <p:tavLst>
                                        <p:tav tm="0">
                                          <p:val>
                                            <p:strVal val="#ppt_x"/>
                                          </p:val>
                                        </p:tav>
                                        <p:tav tm="100000">
                                          <p:val>
                                            <p:strVal val="#ppt_x"/>
                                          </p:val>
                                        </p:tav>
                                      </p:tavLst>
                                    </p:anim>
                                    <p:anim calcmode="lin" valueType="num">
                                      <p:cBhvr additive="base">
                                        <p:cTn id="30" dur="500" fill="hold"/>
                                        <p:tgtEl>
                                          <p:spTgt spid="83976"/>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83971">
                                            <p:txEl>
                                              <p:pRg st="3" end="3"/>
                                            </p:txEl>
                                          </p:spTgt>
                                        </p:tgtEl>
                                        <p:attrNameLst>
                                          <p:attrName>style.visibility</p:attrName>
                                        </p:attrNameLst>
                                      </p:cBhvr>
                                      <p:to>
                                        <p:strVal val="visible"/>
                                      </p:to>
                                    </p:set>
                                    <p:anim calcmode="lin" valueType="num">
                                      <p:cBhvr additive="base">
                                        <p:cTn id="35" dur="500" fill="hold"/>
                                        <p:tgtEl>
                                          <p:spTgt spid="83971">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83971">
                                            <p:txEl>
                                              <p:pRg st="3" end="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83975"/>
                                        </p:tgtEl>
                                        <p:attrNameLst>
                                          <p:attrName>style.visibility</p:attrName>
                                        </p:attrNameLst>
                                      </p:cBhvr>
                                      <p:to>
                                        <p:strVal val="visible"/>
                                      </p:to>
                                    </p:set>
                                    <p:anim calcmode="lin" valueType="num">
                                      <p:cBhvr additive="base">
                                        <p:cTn id="39" dur="500" fill="hold"/>
                                        <p:tgtEl>
                                          <p:spTgt spid="83975"/>
                                        </p:tgtEl>
                                        <p:attrNameLst>
                                          <p:attrName>ppt_x</p:attrName>
                                        </p:attrNameLst>
                                      </p:cBhvr>
                                      <p:tavLst>
                                        <p:tav tm="0">
                                          <p:val>
                                            <p:strVal val="#ppt_x"/>
                                          </p:val>
                                        </p:tav>
                                        <p:tav tm="100000">
                                          <p:val>
                                            <p:strVal val="#ppt_x"/>
                                          </p:val>
                                        </p:tav>
                                      </p:tavLst>
                                    </p:anim>
                                    <p:anim calcmode="lin" valueType="num">
                                      <p:cBhvr additive="base">
                                        <p:cTn id="40" dur="500" fill="hold"/>
                                        <p:tgtEl>
                                          <p:spTgt spid="839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标题 1">
            <a:extLst>
              <a:ext uri="{FF2B5EF4-FFF2-40B4-BE49-F238E27FC236}">
                <a16:creationId xmlns:a16="http://schemas.microsoft.com/office/drawing/2014/main" id="{96514439-89EC-3439-059E-DEA6296E63DF}"/>
              </a:ext>
            </a:extLst>
          </p:cNvPr>
          <p:cNvSpPr>
            <a:spLocks noGrp="1" noChangeArrowheads="1"/>
          </p:cNvSpPr>
          <p:nvPr>
            <p:ph type="title"/>
          </p:nvPr>
        </p:nvSpPr>
        <p:spPr>
          <a:xfrm>
            <a:off x="971550" y="188913"/>
            <a:ext cx="7793038" cy="1054100"/>
          </a:xfrm>
        </p:spPr>
        <p:txBody>
          <a:bodyPr/>
          <a:lstStyle/>
          <a:p>
            <a:r>
              <a:rPr lang="en-US" altLang="zh-CN" sz="3200">
                <a:latin typeface="Times New Roman" panose="02020603050405020304" pitchFamily="18" charset="0"/>
                <a:ea typeface="楷体_GB2312" pitchFamily="1" charset="-122"/>
              </a:rPr>
              <a:t>8088 CPU</a:t>
            </a:r>
            <a:r>
              <a:rPr lang="zh-CN" altLang="en-US" sz="3200">
                <a:latin typeface="Times New Roman" panose="02020603050405020304" pitchFamily="18" charset="0"/>
                <a:ea typeface="楷体_GB2312" pitchFamily="1" charset="-122"/>
              </a:rPr>
              <a:t>在最小模式下总线周期状态</a:t>
            </a:r>
            <a:endParaRPr lang="zh-CN" altLang="en-US" sz="3200"/>
          </a:p>
        </p:txBody>
      </p:sp>
      <p:pic>
        <p:nvPicPr>
          <p:cNvPr id="97282" name="Picture 2">
            <a:extLst>
              <a:ext uri="{FF2B5EF4-FFF2-40B4-BE49-F238E27FC236}">
                <a16:creationId xmlns:a16="http://schemas.microsoft.com/office/drawing/2014/main" id="{BD1213B7-587B-71E6-0A0C-C9CAAD9CD3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628775"/>
            <a:ext cx="5857875" cy="443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7ECD416A-7EF9-C3EE-E9F1-754EAA326D46}"/>
              </a:ext>
            </a:extLst>
          </p:cNvPr>
          <p:cNvSpPr>
            <a:spLocks noGrp="1" noChangeArrowheads="1"/>
          </p:cNvSpPr>
          <p:nvPr>
            <p:ph type="title"/>
          </p:nvPr>
        </p:nvSpPr>
        <p:spPr/>
        <p:txBody>
          <a:bodyPr/>
          <a:lstStyle/>
          <a:p>
            <a:pPr eaLnBrk="1" hangingPunct="1">
              <a:defRPr/>
            </a:pPr>
            <a:r>
              <a:rPr lang="en-US" altLang="zh-CN"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2.1.4 8086/8088</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系统的工作模式 </a:t>
            </a:r>
          </a:p>
        </p:txBody>
      </p:sp>
      <p:sp>
        <p:nvSpPr>
          <p:cNvPr id="98306" name="Rectangle 3">
            <a:extLst>
              <a:ext uri="{FF2B5EF4-FFF2-40B4-BE49-F238E27FC236}">
                <a16:creationId xmlns:a16="http://schemas.microsoft.com/office/drawing/2014/main" id="{1B87FEF1-21EC-81AC-438D-35B2C5EEB0B3}"/>
              </a:ext>
            </a:extLst>
          </p:cNvPr>
          <p:cNvSpPr>
            <a:spLocks noGrp="1" noChangeArrowheads="1"/>
          </p:cNvSpPr>
          <p:nvPr>
            <p:ph idx="1"/>
          </p:nvPr>
        </p:nvSpPr>
        <p:spPr/>
        <p:txBody>
          <a:bodyPr/>
          <a:lstStyle/>
          <a:p>
            <a:pPr eaLnBrk="1" hangingPunct="1">
              <a:buFont typeface="Wingdings" panose="05000000000000000000" pitchFamily="2" charset="2"/>
              <a:buNone/>
            </a:pPr>
            <a:r>
              <a:rPr lang="zh-CN" altLang="en-US" sz="3600">
                <a:ea typeface="楷体_GB2312" pitchFamily="1" charset="-122"/>
              </a:rPr>
              <a:t>包括：</a:t>
            </a:r>
          </a:p>
          <a:p>
            <a:pPr lvl="1" eaLnBrk="1" hangingPunct="1"/>
            <a:r>
              <a:rPr lang="zh-CN" altLang="en-US" sz="3600">
                <a:ea typeface="楷体_GB2312" pitchFamily="1" charset="-122"/>
              </a:rPr>
              <a:t>最小模式组成</a:t>
            </a:r>
          </a:p>
          <a:p>
            <a:pPr lvl="1" eaLnBrk="1" hangingPunct="1"/>
            <a:r>
              <a:rPr lang="zh-CN" altLang="en-US" sz="3600">
                <a:ea typeface="楷体_GB2312" pitchFamily="1" charset="-122"/>
              </a:rPr>
              <a:t>最大模式组成</a:t>
            </a:r>
          </a:p>
        </p:txBody>
      </p:sp>
    </p:spTree>
  </p:cSld>
  <p:clrMapOvr>
    <a:masterClrMapping/>
  </p:clrMapOvr>
  <p:transition>
    <p:rand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D74B33C4-EA84-04A7-A5D7-A66AE8CD2DA5}"/>
              </a:ext>
            </a:extLst>
          </p:cNvPr>
          <p:cNvSpPr>
            <a:spLocks noGrp="1" noChangeArrowheads="1"/>
          </p:cNvSpPr>
          <p:nvPr>
            <p:ph type="title"/>
          </p:nvPr>
        </p:nvSpPr>
        <p:spPr>
          <a:xfrm>
            <a:off x="1150938" y="333375"/>
            <a:ext cx="7793037" cy="865188"/>
          </a:xfrm>
        </p:spPr>
        <p:txBody>
          <a:bodyPr/>
          <a:lstStyle/>
          <a:p>
            <a:pPr algn="ctr" eaLnBrk="1" hangingPunct="1">
              <a:defRPr/>
            </a:pP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1.</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最小模式组成</a:t>
            </a:r>
            <a:r>
              <a:rPr lang="zh-CN" altLang="en-US" b="1">
                <a:solidFill>
                  <a:schemeClr val="tx1"/>
                </a:solidFill>
                <a:latin typeface="Times New Roman" panose="02020603050405020304" pitchFamily="18" charset="0"/>
              </a:rPr>
              <a:t> </a:t>
            </a:r>
          </a:p>
        </p:txBody>
      </p:sp>
      <p:sp>
        <p:nvSpPr>
          <p:cNvPr id="86019" name="Rectangle 3">
            <a:extLst>
              <a:ext uri="{FF2B5EF4-FFF2-40B4-BE49-F238E27FC236}">
                <a16:creationId xmlns:a16="http://schemas.microsoft.com/office/drawing/2014/main" id="{B359606E-E547-0BF7-B367-4B9FBB6C731A}"/>
              </a:ext>
            </a:extLst>
          </p:cNvPr>
          <p:cNvSpPr>
            <a:spLocks noGrp="1" noChangeArrowheads="1"/>
          </p:cNvSpPr>
          <p:nvPr>
            <p:ph idx="1"/>
          </p:nvPr>
        </p:nvSpPr>
        <p:spPr>
          <a:xfrm>
            <a:off x="468313" y="1628775"/>
            <a:ext cx="7772400" cy="4114800"/>
          </a:xfrm>
        </p:spPr>
        <p:txBody>
          <a:bodyPr/>
          <a:lstStyle/>
          <a:p>
            <a:pPr marL="0" indent="0"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当           ＝</a:t>
            </a:r>
            <a:r>
              <a:rPr lang="en-US" altLang="zh-CN">
                <a:latin typeface="Times New Roman" panose="02020603050405020304" pitchFamily="18" charset="0"/>
                <a:ea typeface="楷体_GB2312" pitchFamily="1" charset="-122"/>
              </a:rPr>
              <a:t>1</a:t>
            </a:r>
            <a:r>
              <a:rPr lang="zh-CN" altLang="en-US">
                <a:latin typeface="Times New Roman" panose="02020603050405020304" pitchFamily="18" charset="0"/>
                <a:ea typeface="楷体_GB2312" pitchFamily="1" charset="-122"/>
              </a:rPr>
              <a:t>时，</a:t>
            </a:r>
            <a:r>
              <a:rPr lang="en-US" altLang="zh-CN">
                <a:latin typeface="Times New Roman" panose="02020603050405020304" pitchFamily="18" charset="0"/>
                <a:ea typeface="楷体_GB2312" pitchFamily="1" charset="-122"/>
              </a:rPr>
              <a:t>8086 CPU</a:t>
            </a:r>
            <a:r>
              <a:rPr lang="zh-CN" altLang="en-US">
                <a:latin typeface="Times New Roman" panose="02020603050405020304" pitchFamily="18" charset="0"/>
                <a:ea typeface="楷体_GB2312" pitchFamily="1" charset="-122"/>
              </a:rPr>
              <a:t>工作在最小模式之下，即</a:t>
            </a:r>
            <a:r>
              <a:rPr lang="zh-CN" altLang="en-US">
                <a:solidFill>
                  <a:schemeClr val="hlink"/>
                </a:solidFill>
                <a:latin typeface="Times New Roman" panose="02020603050405020304" pitchFamily="18" charset="0"/>
                <a:ea typeface="楷体_GB2312" pitchFamily="1" charset="-122"/>
              </a:rPr>
              <a:t>单处理器系统</a:t>
            </a:r>
            <a:r>
              <a:rPr lang="zh-CN" altLang="en-US">
                <a:latin typeface="Times New Roman" panose="02020603050405020304" pitchFamily="18" charset="0"/>
                <a:ea typeface="楷体_GB2312" pitchFamily="1" charset="-122"/>
              </a:rPr>
              <a:t>方式。</a:t>
            </a:r>
          </a:p>
          <a:p>
            <a:pPr marL="0" indent="0" eaLnBrk="1" hangingPunct="1">
              <a:buFont typeface="Wingdings" panose="05000000000000000000" pitchFamily="2" charset="2"/>
              <a:buChar char="Ø"/>
            </a:pPr>
            <a:r>
              <a:rPr lang="zh-CN" altLang="en-US">
                <a:latin typeface="Times New Roman" panose="02020603050405020304" pitchFamily="18" charset="0"/>
                <a:ea typeface="楷体_GB2312" pitchFamily="1" charset="-122"/>
              </a:rPr>
              <a:t>此时，构成的微型机中只包括一个</a:t>
            </a:r>
            <a:r>
              <a:rPr lang="en-US" altLang="zh-CN">
                <a:latin typeface="Times New Roman" panose="02020603050405020304" pitchFamily="18" charset="0"/>
                <a:ea typeface="楷体_GB2312" pitchFamily="1" charset="-122"/>
              </a:rPr>
              <a:t>8086</a:t>
            </a:r>
            <a:r>
              <a:rPr lang="zh-CN" altLang="en-US">
                <a:latin typeface="Times New Roman" panose="02020603050405020304" pitchFamily="18" charset="0"/>
                <a:ea typeface="楷体_GB2312" pitchFamily="1" charset="-122"/>
              </a:rPr>
              <a:t>或</a:t>
            </a:r>
            <a:r>
              <a:rPr lang="en-US" altLang="zh-CN">
                <a:latin typeface="Times New Roman" panose="02020603050405020304" pitchFamily="18" charset="0"/>
                <a:ea typeface="楷体_GB2312" pitchFamily="1" charset="-122"/>
              </a:rPr>
              <a:t>8088 CPU</a:t>
            </a:r>
            <a:r>
              <a:rPr lang="zh-CN" altLang="en-US">
                <a:latin typeface="Times New Roman" panose="02020603050405020304" pitchFamily="18" charset="0"/>
                <a:ea typeface="楷体_GB2312" pitchFamily="1" charset="-122"/>
              </a:rPr>
              <a:t>，且系统总线的所有控制信号都由</a:t>
            </a:r>
            <a:r>
              <a:rPr lang="en-US" altLang="zh-CN">
                <a:latin typeface="Times New Roman" panose="02020603050405020304" pitchFamily="18" charset="0"/>
                <a:ea typeface="楷体_GB2312" pitchFamily="1" charset="-122"/>
              </a:rPr>
              <a:t>CPU</a:t>
            </a:r>
            <a:r>
              <a:rPr lang="zh-CN" altLang="en-US">
                <a:latin typeface="Times New Roman" panose="02020603050405020304" pitchFamily="18" charset="0"/>
                <a:ea typeface="楷体_GB2312" pitchFamily="1" charset="-122"/>
              </a:rPr>
              <a:t>直接给出，系统中的总线控制逻辑电路被减到最少，</a:t>
            </a:r>
            <a:r>
              <a:rPr lang="zh-CN" altLang="en-US" b="1">
                <a:solidFill>
                  <a:schemeClr val="folHlink"/>
                </a:solidFill>
                <a:latin typeface="Times New Roman" panose="02020603050405020304" pitchFamily="18" charset="0"/>
                <a:ea typeface="楷体_GB2312" pitchFamily="1" charset="-122"/>
              </a:rPr>
              <a:t>适合于较小规模的应用</a:t>
            </a:r>
            <a:r>
              <a:rPr lang="zh-CN" altLang="en-US">
                <a:latin typeface="Times New Roman" panose="02020603050405020304" pitchFamily="18" charset="0"/>
                <a:ea typeface="楷体_GB2312" pitchFamily="1" charset="-122"/>
              </a:rPr>
              <a:t>。 </a:t>
            </a:r>
          </a:p>
        </p:txBody>
      </p:sp>
      <p:graphicFrame>
        <p:nvGraphicFramePr>
          <p:cNvPr id="86020" name="Object 4">
            <a:extLst>
              <a:ext uri="{FF2B5EF4-FFF2-40B4-BE49-F238E27FC236}">
                <a16:creationId xmlns:a16="http://schemas.microsoft.com/office/drawing/2014/main" id="{35638B07-97CD-2F7C-77D7-4AD486B10F46}"/>
              </a:ext>
            </a:extLst>
          </p:cNvPr>
          <p:cNvGraphicFramePr>
            <a:graphicFrameLocks noChangeAspect="1"/>
          </p:cNvGraphicFramePr>
          <p:nvPr/>
        </p:nvGraphicFramePr>
        <p:xfrm>
          <a:off x="1116013" y="1674813"/>
          <a:ext cx="1223962" cy="458787"/>
        </p:xfrm>
        <a:graphic>
          <a:graphicData uri="http://schemas.openxmlformats.org/presentationml/2006/ole">
            <mc:AlternateContent xmlns:mc="http://schemas.openxmlformats.org/markup-compatibility/2006">
              <mc:Choice xmlns:v="urn:schemas-microsoft-com:vml" Requires="v">
                <p:oleObj r:id="rId2" imgW="509105" imgH="190914" progId="Equation.3">
                  <p:embed/>
                </p:oleObj>
              </mc:Choice>
              <mc:Fallback>
                <p:oleObj r:id="rId2" imgW="509105" imgH="190914"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1674813"/>
                        <a:ext cx="122396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86020"/>
                                        </p:tgtEl>
                                        <p:attrNameLst>
                                          <p:attrName>style.visibility</p:attrName>
                                        </p:attrNameLst>
                                      </p:cBhvr>
                                      <p:to>
                                        <p:strVal val="visible"/>
                                      </p:to>
                                    </p:set>
                                    <p:anim calcmode="lin" valueType="num">
                                      <p:cBhvr>
                                        <p:cTn id="7" dur="500" fill="hold"/>
                                        <p:tgtEl>
                                          <p:spTgt spid="86020"/>
                                        </p:tgtEl>
                                        <p:attrNameLst>
                                          <p:attrName>ppt_w</p:attrName>
                                        </p:attrNameLst>
                                      </p:cBhvr>
                                      <p:tavLst>
                                        <p:tav tm="0">
                                          <p:val>
                                            <p:fltVal val="0"/>
                                          </p:val>
                                        </p:tav>
                                        <p:tav tm="100000">
                                          <p:val>
                                            <p:strVal val="#ppt_w"/>
                                          </p:val>
                                        </p:tav>
                                      </p:tavLst>
                                    </p:anim>
                                    <p:anim calcmode="lin" valueType="num">
                                      <p:cBhvr>
                                        <p:cTn id="8" dur="500" fill="hold"/>
                                        <p:tgtEl>
                                          <p:spTgt spid="86020"/>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86019">
                                            <p:txEl>
                                              <p:pRg st="0" end="0"/>
                                            </p:txEl>
                                          </p:spTgt>
                                        </p:tgtEl>
                                        <p:attrNameLst>
                                          <p:attrName>style.visibility</p:attrName>
                                        </p:attrNameLst>
                                      </p:cBhvr>
                                      <p:to>
                                        <p:strVal val="visible"/>
                                      </p:to>
                                    </p:set>
                                    <p:anim calcmode="lin" valueType="num">
                                      <p:cBhvr>
                                        <p:cTn id="11" dur="500" fill="hold"/>
                                        <p:tgtEl>
                                          <p:spTgt spid="86019">
                                            <p:txEl>
                                              <p:pRg st="0" end="0"/>
                                            </p:txEl>
                                          </p:spTgt>
                                        </p:tgtEl>
                                        <p:attrNameLst>
                                          <p:attrName>ppt_w</p:attrName>
                                        </p:attrNameLst>
                                      </p:cBhvr>
                                      <p:tavLst>
                                        <p:tav tm="0">
                                          <p:val>
                                            <p:fltVal val="0"/>
                                          </p:val>
                                        </p:tav>
                                        <p:tav tm="100000">
                                          <p:val>
                                            <p:strVal val="#ppt_w"/>
                                          </p:val>
                                        </p:tav>
                                      </p:tavLst>
                                    </p:anim>
                                    <p:anim calcmode="lin" valueType="num">
                                      <p:cBhvr>
                                        <p:cTn id="12" dur="500" fill="hold"/>
                                        <p:tgtEl>
                                          <p:spTgt spid="86019">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86019">
                                            <p:txEl>
                                              <p:pRg st="1" end="1"/>
                                            </p:txEl>
                                          </p:spTgt>
                                        </p:tgtEl>
                                        <p:attrNameLst>
                                          <p:attrName>style.visibility</p:attrName>
                                        </p:attrNameLst>
                                      </p:cBhvr>
                                      <p:to>
                                        <p:strVal val="visible"/>
                                      </p:to>
                                    </p:set>
                                    <p:anim calcmode="lin" valueType="num">
                                      <p:cBhvr>
                                        <p:cTn id="17" dur="500" fill="hold"/>
                                        <p:tgtEl>
                                          <p:spTgt spid="86019">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86019">
                                            <p:txEl>
                                              <p:pRg st="1" end="1"/>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4A99CD4B-6281-97FE-82B4-EF9EA3082070}"/>
              </a:ext>
            </a:extLst>
          </p:cNvPr>
          <p:cNvSpPr>
            <a:spLocks noGrp="1" noChangeArrowheads="1"/>
          </p:cNvSpPr>
          <p:nvPr>
            <p:ph type="title"/>
          </p:nvPr>
        </p:nvSpPr>
        <p:spPr/>
        <p:txBody>
          <a:bodyPr/>
          <a:lstStyle/>
          <a:p>
            <a:pPr algn="ctr" eaLnBrk="1" hangingPunct="1">
              <a:defRPr/>
            </a:pPr>
            <a:r>
              <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图</a:t>
            </a: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a:t>
            </a:r>
            <a:r>
              <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10</a:t>
            </a: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 8086</a:t>
            </a:r>
            <a:r>
              <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最小模式下的典型配置</a:t>
            </a:r>
            <a:r>
              <a:rPr lang="zh-CN" altLang="en-US" sz="3600" b="1">
                <a:solidFill>
                  <a:schemeClr val="tx1"/>
                </a:solidFill>
                <a:latin typeface="Times New Roman" panose="02020603050405020304" pitchFamily="18" charset="0"/>
              </a:rPr>
              <a:t> </a:t>
            </a:r>
          </a:p>
        </p:txBody>
      </p:sp>
      <p:pic>
        <p:nvPicPr>
          <p:cNvPr id="100354" name="Picture 3">
            <a:extLst>
              <a:ext uri="{FF2B5EF4-FFF2-40B4-BE49-F238E27FC236}">
                <a16:creationId xmlns:a16="http://schemas.microsoft.com/office/drawing/2014/main" id="{2406F803-B5C2-DFBA-95DD-E7B27D5C27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3000" y="1628775"/>
            <a:ext cx="4740275" cy="479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7A03D3AD-11B1-F867-051E-432FAA2BAB47}"/>
              </a:ext>
            </a:extLst>
          </p:cNvPr>
          <p:cNvSpPr>
            <a:spLocks noGrp="1" noChangeArrowheads="1"/>
          </p:cNvSpPr>
          <p:nvPr>
            <p:ph type="title"/>
          </p:nvPr>
        </p:nvSpPr>
        <p:spPr/>
        <p:txBody>
          <a:bodyPr/>
          <a:lstStyle/>
          <a:p>
            <a:pPr algn="ctr" eaLnBrk="1" hangingPunct="1">
              <a:defRPr/>
            </a:pP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1)</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时钟发生器</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8284A</a:t>
            </a:r>
            <a:endPar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88067" name="Rectangle 3">
            <a:extLst>
              <a:ext uri="{FF2B5EF4-FFF2-40B4-BE49-F238E27FC236}">
                <a16:creationId xmlns:a16="http://schemas.microsoft.com/office/drawing/2014/main" id="{F0710454-B691-FF17-5889-1F27596BD382}"/>
              </a:ext>
            </a:extLst>
          </p:cNvPr>
          <p:cNvSpPr>
            <a:spLocks noGrp="1" noChangeArrowheads="1"/>
          </p:cNvSpPr>
          <p:nvPr>
            <p:ph idx="1"/>
          </p:nvPr>
        </p:nvSpPr>
        <p:spPr>
          <a:xfrm>
            <a:off x="395288" y="1557338"/>
            <a:ext cx="8137525" cy="4321175"/>
          </a:xfrm>
        </p:spPr>
        <p:txBody>
          <a:bodyPr/>
          <a:lstStyle/>
          <a:p>
            <a:pPr eaLnBrk="1" hangingPunct="1">
              <a:buFont typeface="Wingdings" panose="05000000000000000000" pitchFamily="2" charset="2"/>
              <a:buChar char="Ø"/>
            </a:pPr>
            <a:r>
              <a:rPr lang="en-US" altLang="zh-CN">
                <a:latin typeface="Times New Roman" panose="02020603050405020304" pitchFamily="18" charset="0"/>
                <a:ea typeface="楷体_GB2312" pitchFamily="1" charset="-122"/>
              </a:rPr>
              <a:t>8086/8088CPU</a:t>
            </a:r>
            <a:r>
              <a:rPr lang="zh-CN" altLang="en-US">
                <a:latin typeface="Times New Roman" panose="02020603050405020304" pitchFamily="18" charset="0"/>
                <a:ea typeface="楷体_GB2312" pitchFamily="1" charset="-122"/>
              </a:rPr>
              <a:t>所需的时钟信号由外部的时钟发生器提供。</a:t>
            </a:r>
          </a:p>
          <a:p>
            <a:pPr eaLnBrk="1" hangingPunct="1">
              <a:buFont typeface="Wingdings" panose="05000000000000000000" pitchFamily="2" charset="2"/>
              <a:buChar char="Ø"/>
            </a:pPr>
            <a:r>
              <a:rPr lang="en-US" altLang="zh-CN">
                <a:latin typeface="Times New Roman" panose="02020603050405020304" pitchFamily="18" charset="0"/>
                <a:ea typeface="楷体_GB2312" pitchFamily="1" charset="-122"/>
              </a:rPr>
              <a:t>8284A</a:t>
            </a:r>
            <a:r>
              <a:rPr lang="zh-CN" altLang="en-US">
                <a:latin typeface="Times New Roman" panose="02020603050405020304" pitchFamily="18" charset="0"/>
                <a:ea typeface="楷体_GB2312" pitchFamily="1" charset="-122"/>
              </a:rPr>
              <a:t>是</a:t>
            </a:r>
            <a:r>
              <a:rPr lang="en-US" altLang="zh-CN">
                <a:latin typeface="Times New Roman" panose="02020603050405020304" pitchFamily="18" charset="0"/>
                <a:ea typeface="楷体_GB2312" pitchFamily="1" charset="-122"/>
              </a:rPr>
              <a:t>Intel</a:t>
            </a:r>
            <a:r>
              <a:rPr lang="zh-CN" altLang="en-US">
                <a:latin typeface="Times New Roman" panose="02020603050405020304" pitchFamily="18" charset="0"/>
                <a:ea typeface="楷体_GB2312" pitchFamily="1" charset="-122"/>
              </a:rPr>
              <a:t>公司专为</a:t>
            </a:r>
            <a:r>
              <a:rPr lang="en-US" altLang="zh-CN">
                <a:latin typeface="Times New Roman" panose="02020603050405020304" pitchFamily="18" charset="0"/>
                <a:ea typeface="楷体_GB2312" pitchFamily="1" charset="-122"/>
              </a:rPr>
              <a:t>8086</a:t>
            </a:r>
            <a:r>
              <a:rPr lang="zh-CN" altLang="en-US">
                <a:latin typeface="Times New Roman" panose="02020603050405020304" pitchFamily="18" charset="0"/>
                <a:ea typeface="楷体_GB2312" pitchFamily="1" charset="-122"/>
              </a:rPr>
              <a:t>设计的时钟信号发生器，能产生</a:t>
            </a:r>
            <a:r>
              <a:rPr lang="en-US" altLang="zh-CN">
                <a:latin typeface="Times New Roman" panose="02020603050405020304" pitchFamily="18" charset="0"/>
                <a:ea typeface="楷体_GB2312" pitchFamily="1" charset="-122"/>
              </a:rPr>
              <a:t>8086</a:t>
            </a:r>
            <a:r>
              <a:rPr lang="zh-CN" altLang="en-US">
                <a:latin typeface="Times New Roman" panose="02020603050405020304" pitchFamily="18" charset="0"/>
                <a:ea typeface="楷体_GB2312" pitchFamily="1" charset="-122"/>
              </a:rPr>
              <a:t>所需的</a:t>
            </a:r>
            <a:r>
              <a:rPr lang="en-US" altLang="zh-CN">
                <a:latin typeface="Times New Roman" panose="02020603050405020304" pitchFamily="18" charset="0"/>
                <a:ea typeface="楷体_GB2312" pitchFamily="1" charset="-122"/>
              </a:rPr>
              <a:t>5MHz</a:t>
            </a:r>
            <a:r>
              <a:rPr lang="zh-CN" altLang="en-US">
                <a:latin typeface="Times New Roman" panose="02020603050405020304" pitchFamily="18" charset="0"/>
                <a:ea typeface="楷体_GB2312" pitchFamily="1" charset="-122"/>
              </a:rPr>
              <a:t>系统时钟信号，即系统主频。</a:t>
            </a:r>
          </a:p>
          <a:p>
            <a:pPr eaLnBrk="1" hangingPunct="1">
              <a:buFont typeface="Wingdings" panose="05000000000000000000" pitchFamily="2" charset="2"/>
              <a:buChar char="Ø"/>
            </a:pPr>
            <a:r>
              <a:rPr lang="en-US" altLang="zh-CN">
                <a:latin typeface="Times New Roman" panose="02020603050405020304" pitchFamily="18" charset="0"/>
                <a:ea typeface="楷体_GB2312" pitchFamily="1" charset="-122"/>
              </a:rPr>
              <a:t>8284A</a:t>
            </a:r>
            <a:r>
              <a:rPr lang="zh-CN" altLang="en-US">
                <a:latin typeface="Times New Roman" panose="02020603050405020304" pitchFamily="18" charset="0"/>
                <a:ea typeface="楷体_GB2312" pitchFamily="1" charset="-122"/>
              </a:rPr>
              <a:t>除提供恒定的时钟信号外，还对外界输入的准备就绪信号</a:t>
            </a:r>
            <a:r>
              <a:rPr lang="en-US" altLang="zh-CN">
                <a:latin typeface="Times New Roman" panose="02020603050405020304" pitchFamily="18" charset="0"/>
                <a:ea typeface="楷体_GB2312" pitchFamily="1" charset="-122"/>
              </a:rPr>
              <a:t>RDY</a:t>
            </a:r>
            <a:r>
              <a:rPr lang="zh-CN" altLang="en-US">
                <a:latin typeface="Times New Roman" panose="02020603050405020304" pitchFamily="18" charset="0"/>
                <a:ea typeface="楷体_GB2312" pitchFamily="1" charset="-122"/>
              </a:rPr>
              <a:t>和复位信号进行同步操作。</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anim calcmode="lin" valueType="num">
                                      <p:cBhvr additive="base">
                                        <p:cTn id="7" dur="500" fill="hold"/>
                                        <p:tgtEl>
                                          <p:spTgt spid="880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80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8067">
                                            <p:txEl>
                                              <p:pRg st="1" end="1"/>
                                            </p:txEl>
                                          </p:spTgt>
                                        </p:tgtEl>
                                        <p:attrNameLst>
                                          <p:attrName>style.visibility</p:attrName>
                                        </p:attrNameLst>
                                      </p:cBhvr>
                                      <p:to>
                                        <p:strVal val="visible"/>
                                      </p:to>
                                    </p:set>
                                    <p:anim calcmode="lin" valueType="num">
                                      <p:cBhvr additive="base">
                                        <p:cTn id="13" dur="500" fill="hold"/>
                                        <p:tgtEl>
                                          <p:spTgt spid="880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80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8067">
                                            <p:txEl>
                                              <p:pRg st="2" end="2"/>
                                            </p:txEl>
                                          </p:spTgt>
                                        </p:tgtEl>
                                        <p:attrNameLst>
                                          <p:attrName>style.visibility</p:attrName>
                                        </p:attrNameLst>
                                      </p:cBhvr>
                                      <p:to>
                                        <p:strVal val="visible"/>
                                      </p:to>
                                    </p:set>
                                    <p:anim calcmode="lin" valueType="num">
                                      <p:cBhvr additive="base">
                                        <p:cTn id="19" dur="500" fill="hold"/>
                                        <p:tgtEl>
                                          <p:spTgt spid="880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806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F1A76968-065A-1A4A-29A9-1BD2BD72B614}"/>
              </a:ext>
            </a:extLst>
          </p:cNvPr>
          <p:cNvSpPr>
            <a:spLocks noGrp="1" noChangeArrowheads="1"/>
          </p:cNvSpPr>
          <p:nvPr>
            <p:ph type="title"/>
          </p:nvPr>
        </p:nvSpPr>
        <p:spPr/>
        <p:txBody>
          <a:bodyPr/>
          <a:lstStyle/>
          <a:p>
            <a:pPr algn="ctr" eaLnBrk="1" hangingPunct="1">
              <a:defRPr/>
            </a:pP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图</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2.1</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1</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 8284A</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与</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8086</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的连接图</a:t>
            </a:r>
          </a:p>
        </p:txBody>
      </p:sp>
      <p:pic>
        <p:nvPicPr>
          <p:cNvPr id="102402" name="Picture 3">
            <a:extLst>
              <a:ext uri="{FF2B5EF4-FFF2-40B4-BE49-F238E27FC236}">
                <a16:creationId xmlns:a16="http://schemas.microsoft.com/office/drawing/2014/main" id="{94C44260-22BB-209B-F3F8-DC0A420989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75" y="1557338"/>
            <a:ext cx="3673475" cy="494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F39D5BA6-8557-3414-AD9D-832AD1C05C98}"/>
              </a:ext>
            </a:extLst>
          </p:cNvPr>
          <p:cNvSpPr>
            <a:spLocks noGrp="1" noChangeArrowheads="1"/>
          </p:cNvSpPr>
          <p:nvPr>
            <p:ph type="title"/>
          </p:nvPr>
        </p:nvSpPr>
        <p:spPr/>
        <p:txBody>
          <a:bodyPr/>
          <a:lstStyle/>
          <a:p>
            <a:pPr algn="ctr" eaLnBrk="1" hangingPunct="1">
              <a:defRPr/>
            </a:pP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地址锁存器</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8282</a:t>
            </a:r>
            <a:endPar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90115" name="Rectangle 3">
            <a:extLst>
              <a:ext uri="{FF2B5EF4-FFF2-40B4-BE49-F238E27FC236}">
                <a16:creationId xmlns:a16="http://schemas.microsoft.com/office/drawing/2014/main" id="{E2F17562-61B1-A344-1D35-9C76F364A1F7}"/>
              </a:ext>
            </a:extLst>
          </p:cNvPr>
          <p:cNvSpPr>
            <a:spLocks noGrp="1" noChangeArrowheads="1"/>
          </p:cNvSpPr>
          <p:nvPr>
            <p:ph type="body" sz="half" idx="1"/>
          </p:nvPr>
        </p:nvSpPr>
        <p:spPr>
          <a:xfrm>
            <a:off x="395288" y="1557338"/>
            <a:ext cx="8497887" cy="4895850"/>
          </a:xfrm>
        </p:spPr>
        <p:txBody>
          <a:bodyPr/>
          <a:lstStyle/>
          <a:p>
            <a:pPr eaLnBrk="1" hangingPunct="1">
              <a:buFont typeface="Wingdings" panose="05000000000000000000" pitchFamily="2" charset="2"/>
              <a:buChar char="Ø"/>
            </a:pPr>
            <a:r>
              <a:rPr lang="zh-CN" altLang="en-US" sz="2400">
                <a:latin typeface="Times New Roman" panose="02020603050405020304" pitchFamily="18" charset="0"/>
                <a:ea typeface="楷体_GB2312" pitchFamily="1" charset="-122"/>
              </a:rPr>
              <a:t>由于</a:t>
            </a:r>
            <a:r>
              <a:rPr lang="en-US" altLang="zh-CN" sz="2400">
                <a:latin typeface="Times New Roman" panose="02020603050405020304" pitchFamily="18" charset="0"/>
                <a:ea typeface="楷体_GB2312" pitchFamily="1" charset="-122"/>
              </a:rPr>
              <a:t>8086/8088</a:t>
            </a:r>
            <a:r>
              <a:rPr lang="zh-CN" altLang="en-US" sz="2400">
                <a:latin typeface="Times New Roman" panose="02020603050405020304" pitchFamily="18" charset="0"/>
                <a:ea typeface="楷体_GB2312" pitchFamily="1" charset="-122"/>
              </a:rPr>
              <a:t>的部分地址线和数据线采用</a:t>
            </a:r>
            <a:r>
              <a:rPr lang="zh-CN" altLang="en-US" sz="2400">
                <a:solidFill>
                  <a:schemeClr val="hlink"/>
                </a:solidFill>
                <a:latin typeface="Times New Roman" panose="02020603050405020304" pitchFamily="18" charset="0"/>
                <a:ea typeface="楷体_GB2312" pitchFamily="1" charset="-122"/>
              </a:rPr>
              <a:t>分时复用</a:t>
            </a:r>
            <a:r>
              <a:rPr lang="zh-CN" altLang="en-US" sz="2400">
                <a:latin typeface="Times New Roman" panose="02020603050405020304" pitchFamily="18" charset="0"/>
                <a:ea typeface="楷体_GB2312" pitchFamily="1" charset="-122"/>
              </a:rPr>
              <a:t>的技术，在一个总线周期内总线</a:t>
            </a:r>
            <a:r>
              <a:rPr lang="zh-CN" altLang="en-US" sz="2400" b="1">
                <a:solidFill>
                  <a:schemeClr val="folHlink"/>
                </a:solidFill>
                <a:latin typeface="Times New Roman" panose="02020603050405020304" pitchFamily="18" charset="0"/>
                <a:ea typeface="楷体_GB2312" pitchFamily="1" charset="-122"/>
              </a:rPr>
              <a:t>首先传送地址，然后传送数据</a:t>
            </a:r>
            <a:r>
              <a:rPr lang="zh-CN" altLang="en-US" sz="2400">
                <a:latin typeface="Times New Roman" panose="02020603050405020304" pitchFamily="18" charset="0"/>
                <a:ea typeface="楷体_GB2312" pitchFamily="1" charset="-122"/>
              </a:rPr>
              <a:t>。</a:t>
            </a:r>
          </a:p>
          <a:p>
            <a:pPr eaLnBrk="1" hangingPunct="1">
              <a:buFont typeface="Wingdings" panose="05000000000000000000" pitchFamily="2" charset="2"/>
              <a:buChar char="Ø"/>
            </a:pPr>
            <a:r>
              <a:rPr lang="zh-CN" altLang="en-US" sz="2400">
                <a:latin typeface="Times New Roman" panose="02020603050405020304" pitchFamily="18" charset="0"/>
                <a:ea typeface="楷体_GB2312" pitchFamily="1" charset="-122"/>
              </a:rPr>
              <a:t>在每个总线周期的</a:t>
            </a:r>
            <a:r>
              <a:rPr lang="en-US" altLang="zh-CN" sz="2400">
                <a:latin typeface="Times New Roman" panose="02020603050405020304" pitchFamily="18" charset="0"/>
                <a:ea typeface="楷体_GB2312" pitchFamily="1" charset="-122"/>
              </a:rPr>
              <a:t>T</a:t>
            </a:r>
            <a:r>
              <a:rPr lang="en-US" altLang="zh-CN" sz="2400" baseline="-25000">
                <a:latin typeface="Times New Roman" panose="02020603050405020304" pitchFamily="18" charset="0"/>
                <a:ea typeface="楷体_GB2312" pitchFamily="1" charset="-122"/>
              </a:rPr>
              <a:t>1</a:t>
            </a:r>
            <a:r>
              <a:rPr lang="zh-CN" altLang="en-US" sz="2400">
                <a:latin typeface="Times New Roman" panose="02020603050405020304" pitchFamily="18" charset="0"/>
                <a:ea typeface="楷体_GB2312" pitchFamily="1" charset="-122"/>
              </a:rPr>
              <a:t>状态利用地址锁存允许信号</a:t>
            </a:r>
            <a:r>
              <a:rPr lang="en-US" altLang="zh-CN" sz="2400">
                <a:latin typeface="Times New Roman" panose="02020603050405020304" pitchFamily="18" charset="0"/>
                <a:ea typeface="楷体_GB2312" pitchFamily="1" charset="-122"/>
              </a:rPr>
              <a:t>ALE</a:t>
            </a:r>
            <a:r>
              <a:rPr lang="zh-CN" altLang="en-US" sz="2400">
                <a:latin typeface="Times New Roman" panose="02020603050405020304" pitchFamily="18" charset="0"/>
                <a:ea typeface="楷体_GB2312" pitchFamily="1" charset="-122"/>
              </a:rPr>
              <a:t>的后沿，将地址信息锁存到地址锁存器内，</a:t>
            </a:r>
            <a:r>
              <a:rPr lang="zh-CN" altLang="en-US" sz="2400" b="1">
                <a:solidFill>
                  <a:schemeClr val="folHlink"/>
                </a:solidFill>
                <a:latin typeface="Times New Roman" panose="02020603050405020304" pitchFamily="18" charset="0"/>
                <a:ea typeface="楷体_GB2312" pitchFamily="1" charset="-122"/>
              </a:rPr>
              <a:t>经锁存后的地址信号可以在整个总线周期保持不变，从而为外部提供稳定的地址信息</a:t>
            </a:r>
            <a:r>
              <a:rPr lang="zh-CN" altLang="en-US" sz="2400">
                <a:latin typeface="Times New Roman" panose="02020603050405020304" pitchFamily="18" charset="0"/>
                <a:ea typeface="楷体_GB2312" pitchFamily="1" charset="-122"/>
              </a:rPr>
              <a:t>。</a:t>
            </a:r>
          </a:p>
          <a:p>
            <a:pPr eaLnBrk="1" hangingPunct="1">
              <a:buFont typeface="Wingdings" panose="05000000000000000000" pitchFamily="2" charset="2"/>
              <a:buChar char="Ø"/>
            </a:pPr>
            <a:r>
              <a:rPr lang="en-US" altLang="zh-CN" sz="2400">
                <a:latin typeface="Times New Roman" panose="02020603050405020304" pitchFamily="18" charset="0"/>
                <a:ea typeface="楷体_GB2312" pitchFamily="1" charset="-122"/>
              </a:rPr>
              <a:t>Intel 8282</a:t>
            </a:r>
            <a:r>
              <a:rPr lang="zh-CN" altLang="en-US" sz="2400">
                <a:latin typeface="Times New Roman" panose="02020603050405020304" pitchFamily="18" charset="0"/>
                <a:ea typeface="楷体_GB2312" pitchFamily="1" charset="-122"/>
              </a:rPr>
              <a:t>是具有三态缓冲的单向</a:t>
            </a:r>
            <a:r>
              <a:rPr lang="en-US" altLang="zh-CN" sz="2400">
                <a:latin typeface="Times New Roman" panose="02020603050405020304" pitchFamily="18" charset="0"/>
                <a:ea typeface="楷体_GB2312" pitchFamily="1" charset="-122"/>
              </a:rPr>
              <a:t>8</a:t>
            </a:r>
            <a:r>
              <a:rPr lang="zh-CN" altLang="en-US" sz="2400">
                <a:latin typeface="Times New Roman" panose="02020603050405020304" pitchFamily="18" charset="0"/>
                <a:ea typeface="楷体_GB2312" pitchFamily="1" charset="-122"/>
              </a:rPr>
              <a:t>位锁存器。使用时，将</a:t>
            </a:r>
            <a:r>
              <a:rPr lang="en-US" altLang="zh-CN" sz="2400">
                <a:latin typeface="Times New Roman" panose="02020603050405020304" pitchFamily="18" charset="0"/>
                <a:ea typeface="楷体_GB2312" pitchFamily="1" charset="-122"/>
              </a:rPr>
              <a:t>8282</a:t>
            </a:r>
            <a:r>
              <a:rPr lang="zh-CN" altLang="en-US" sz="2400">
                <a:latin typeface="Times New Roman" panose="02020603050405020304" pitchFamily="18" charset="0"/>
                <a:ea typeface="楷体_GB2312" pitchFamily="1" charset="-122"/>
              </a:rPr>
              <a:t>的选通信号输入端</a:t>
            </a:r>
            <a:r>
              <a:rPr lang="en-US" altLang="zh-CN" sz="2400">
                <a:latin typeface="Times New Roman" panose="02020603050405020304" pitchFamily="18" charset="0"/>
                <a:ea typeface="楷体_GB2312" pitchFamily="1" charset="-122"/>
              </a:rPr>
              <a:t>STB</a:t>
            </a:r>
            <a:r>
              <a:rPr lang="zh-CN" altLang="en-US" sz="2400">
                <a:latin typeface="Times New Roman" panose="02020603050405020304" pitchFamily="18" charset="0"/>
                <a:ea typeface="楷体_GB2312" pitchFamily="1" charset="-122"/>
              </a:rPr>
              <a:t>与</a:t>
            </a:r>
            <a:r>
              <a:rPr lang="en-US" altLang="zh-CN" sz="2400">
                <a:latin typeface="Times New Roman" panose="02020603050405020304" pitchFamily="18" charset="0"/>
                <a:ea typeface="楷体_GB2312" pitchFamily="1" charset="-122"/>
              </a:rPr>
              <a:t>ALE</a:t>
            </a:r>
            <a:r>
              <a:rPr lang="zh-CN" altLang="en-US" sz="2400">
                <a:latin typeface="Times New Roman" panose="02020603050405020304" pitchFamily="18" charset="0"/>
                <a:ea typeface="楷体_GB2312" pitchFamily="1" charset="-122"/>
              </a:rPr>
              <a:t>相连。</a:t>
            </a:r>
          </a:p>
          <a:p>
            <a:pPr eaLnBrk="1" hangingPunct="1">
              <a:buFont typeface="Wingdings" panose="05000000000000000000" pitchFamily="2" charset="2"/>
              <a:buChar char="Ø"/>
            </a:pPr>
            <a:r>
              <a:rPr lang="zh-CN" altLang="en-US" sz="2400">
                <a:latin typeface="Times New Roman" panose="02020603050405020304" pitchFamily="18" charset="0"/>
                <a:ea typeface="楷体_GB2312" pitchFamily="1" charset="-122"/>
              </a:rPr>
              <a:t>当</a:t>
            </a:r>
            <a:r>
              <a:rPr lang="en-US" altLang="zh-CN" sz="2400">
                <a:latin typeface="Times New Roman" panose="02020603050405020304" pitchFamily="18" charset="0"/>
                <a:ea typeface="楷体_GB2312" pitchFamily="1" charset="-122"/>
              </a:rPr>
              <a:t>ALE</a:t>
            </a:r>
            <a:r>
              <a:rPr lang="zh-CN" altLang="en-US" sz="2400">
                <a:latin typeface="Times New Roman" panose="02020603050405020304" pitchFamily="18" charset="0"/>
                <a:ea typeface="楷体_GB2312" pitchFamily="1" charset="-122"/>
              </a:rPr>
              <a:t>有效时，</a:t>
            </a:r>
            <a:r>
              <a:rPr lang="en-US" altLang="zh-CN" sz="2400">
                <a:latin typeface="Times New Roman" panose="02020603050405020304" pitchFamily="18" charset="0"/>
                <a:ea typeface="楷体_GB2312" pitchFamily="1" charset="-122"/>
              </a:rPr>
              <a:t>8086</a:t>
            </a:r>
            <a:r>
              <a:rPr lang="zh-CN" altLang="en-US" sz="2400">
                <a:latin typeface="Times New Roman" panose="02020603050405020304" pitchFamily="18" charset="0"/>
                <a:ea typeface="楷体_GB2312" pitchFamily="1" charset="-122"/>
              </a:rPr>
              <a:t>的地址信号被锁存并以同相方式传至输出端，供存储器芯片和</a:t>
            </a:r>
            <a:r>
              <a:rPr lang="en-US" altLang="zh-CN" sz="2400">
                <a:latin typeface="Times New Roman" panose="02020603050405020304" pitchFamily="18" charset="0"/>
                <a:ea typeface="楷体_GB2312" pitchFamily="1" charset="-122"/>
              </a:rPr>
              <a:t>I/O</a:t>
            </a:r>
            <a:r>
              <a:rPr lang="zh-CN" altLang="en-US" sz="2400">
                <a:latin typeface="Times New Roman" panose="02020603050405020304" pitchFamily="18" charset="0"/>
                <a:ea typeface="楷体_GB2312" pitchFamily="1" charset="-122"/>
              </a:rPr>
              <a:t>接口芯片使用。</a:t>
            </a:r>
          </a:p>
          <a:p>
            <a:pPr eaLnBrk="1" hangingPunct="1">
              <a:buFont typeface="Wingdings" panose="05000000000000000000" pitchFamily="2" charset="2"/>
              <a:buChar char="Ø"/>
            </a:pPr>
            <a:r>
              <a:rPr lang="en-US" altLang="zh-CN" sz="2400">
                <a:latin typeface="Times New Roman" panose="02020603050405020304" pitchFamily="18" charset="0"/>
                <a:ea typeface="楷体_GB2312" pitchFamily="1" charset="-122"/>
              </a:rPr>
              <a:t>8086</a:t>
            </a:r>
            <a:r>
              <a:rPr lang="zh-CN" altLang="en-US" sz="2400">
                <a:latin typeface="Times New Roman" panose="02020603050405020304" pitchFamily="18" charset="0"/>
                <a:ea typeface="楷体_GB2312" pitchFamily="1" charset="-122"/>
              </a:rPr>
              <a:t>除了</a:t>
            </a:r>
            <a:r>
              <a:rPr lang="en-US" altLang="zh-CN" sz="2400">
                <a:latin typeface="Times New Roman" panose="02020603050405020304" pitchFamily="18" charset="0"/>
                <a:ea typeface="楷体_GB2312" pitchFamily="1" charset="-122"/>
              </a:rPr>
              <a:t>20</a:t>
            </a:r>
            <a:r>
              <a:rPr lang="zh-CN" altLang="en-US" sz="2400">
                <a:latin typeface="Times New Roman" panose="02020603050405020304" pitchFamily="18" charset="0"/>
                <a:ea typeface="楷体_GB2312" pitchFamily="1" charset="-122"/>
              </a:rPr>
              <a:t>位地址外，        也要锁存，所以</a:t>
            </a:r>
            <a:r>
              <a:rPr lang="zh-CN" altLang="en-US" sz="2400" b="1">
                <a:solidFill>
                  <a:schemeClr val="folHlink"/>
                </a:solidFill>
                <a:latin typeface="Times New Roman" panose="02020603050405020304" pitchFamily="18" charset="0"/>
                <a:ea typeface="楷体_GB2312" pitchFamily="1" charset="-122"/>
              </a:rPr>
              <a:t>需要</a:t>
            </a:r>
            <a:r>
              <a:rPr lang="en-US" altLang="zh-CN" sz="2400" b="1">
                <a:solidFill>
                  <a:schemeClr val="folHlink"/>
                </a:solidFill>
                <a:latin typeface="Times New Roman" panose="02020603050405020304" pitchFamily="18" charset="0"/>
                <a:ea typeface="楷体_GB2312" pitchFamily="1" charset="-122"/>
              </a:rPr>
              <a:t>3</a:t>
            </a:r>
            <a:r>
              <a:rPr lang="zh-CN" altLang="en-US" sz="2400" b="1">
                <a:solidFill>
                  <a:schemeClr val="folHlink"/>
                </a:solidFill>
                <a:latin typeface="Times New Roman" panose="02020603050405020304" pitchFamily="18" charset="0"/>
                <a:ea typeface="楷体_GB2312" pitchFamily="1" charset="-122"/>
              </a:rPr>
              <a:t>片</a:t>
            </a:r>
            <a:r>
              <a:rPr lang="en-US" altLang="zh-CN" sz="2400" b="1">
                <a:solidFill>
                  <a:schemeClr val="folHlink"/>
                </a:solidFill>
                <a:latin typeface="Times New Roman" panose="02020603050405020304" pitchFamily="18" charset="0"/>
                <a:ea typeface="楷体_GB2312" pitchFamily="1" charset="-122"/>
              </a:rPr>
              <a:t>8282</a:t>
            </a:r>
            <a:r>
              <a:rPr lang="zh-CN" altLang="en-US" sz="2400">
                <a:latin typeface="Times New Roman" panose="02020603050405020304" pitchFamily="18" charset="0"/>
                <a:ea typeface="楷体_GB2312" pitchFamily="1" charset="-122"/>
              </a:rPr>
              <a:t>作为锁存器。</a:t>
            </a:r>
          </a:p>
        </p:txBody>
      </p:sp>
      <p:graphicFrame>
        <p:nvGraphicFramePr>
          <p:cNvPr id="90116" name="Object 4">
            <a:extLst>
              <a:ext uri="{FF2B5EF4-FFF2-40B4-BE49-F238E27FC236}">
                <a16:creationId xmlns:a16="http://schemas.microsoft.com/office/drawing/2014/main" id="{742A7082-E4B3-E20C-ED63-EDCF81F90524}"/>
              </a:ext>
            </a:extLst>
          </p:cNvPr>
          <p:cNvGraphicFramePr>
            <a:graphicFrameLocks noChangeAspect="1"/>
          </p:cNvGraphicFramePr>
          <p:nvPr>
            <p:ph sz="quarter" idx="2"/>
          </p:nvPr>
        </p:nvGraphicFramePr>
        <p:xfrm>
          <a:off x="3779838" y="5157788"/>
          <a:ext cx="649287" cy="376237"/>
        </p:xfrm>
        <a:graphic>
          <a:graphicData uri="http://schemas.openxmlformats.org/presentationml/2006/ole">
            <mc:AlternateContent xmlns:mc="http://schemas.openxmlformats.org/markup-compatibility/2006">
              <mc:Choice xmlns:v="urn:schemas-microsoft-com:vml" Requires="v">
                <p:oleObj r:id="rId2" imgW="305729" imgH="178342" progId="Equation.3">
                  <p:embed/>
                </p:oleObj>
              </mc:Choice>
              <mc:Fallback>
                <p:oleObj r:id="rId2" imgW="305729" imgH="178342"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838" y="5157788"/>
                        <a:ext cx="649287" cy="376237"/>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0115">
                                            <p:txEl>
                                              <p:pRg st="0" end="0"/>
                                            </p:txEl>
                                          </p:spTgt>
                                        </p:tgtEl>
                                        <p:attrNameLst>
                                          <p:attrName>style.visibility</p:attrName>
                                        </p:attrNameLst>
                                      </p:cBhvr>
                                      <p:to>
                                        <p:strVal val="visible"/>
                                      </p:to>
                                    </p:set>
                                    <p:animEffect transition="in" filter="slide(fromBottom)">
                                      <p:cBhvr>
                                        <p:cTn id="7" dur="500"/>
                                        <p:tgtEl>
                                          <p:spTgt spid="901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90115">
                                            <p:txEl>
                                              <p:pRg st="1" end="1"/>
                                            </p:txEl>
                                          </p:spTgt>
                                        </p:tgtEl>
                                        <p:attrNameLst>
                                          <p:attrName>style.visibility</p:attrName>
                                        </p:attrNameLst>
                                      </p:cBhvr>
                                      <p:to>
                                        <p:strVal val="visible"/>
                                      </p:to>
                                    </p:set>
                                    <p:animEffect transition="in" filter="slide(fromBottom)">
                                      <p:cBhvr>
                                        <p:cTn id="12" dur="500"/>
                                        <p:tgtEl>
                                          <p:spTgt spid="901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90115">
                                            <p:txEl>
                                              <p:pRg st="2" end="2"/>
                                            </p:txEl>
                                          </p:spTgt>
                                        </p:tgtEl>
                                        <p:attrNameLst>
                                          <p:attrName>style.visibility</p:attrName>
                                        </p:attrNameLst>
                                      </p:cBhvr>
                                      <p:to>
                                        <p:strVal val="visible"/>
                                      </p:to>
                                    </p:set>
                                    <p:animEffect transition="in" filter="slide(fromBottom)">
                                      <p:cBhvr>
                                        <p:cTn id="17" dur="500"/>
                                        <p:tgtEl>
                                          <p:spTgt spid="901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90115">
                                            <p:txEl>
                                              <p:pRg st="3" end="3"/>
                                            </p:txEl>
                                          </p:spTgt>
                                        </p:tgtEl>
                                        <p:attrNameLst>
                                          <p:attrName>style.visibility</p:attrName>
                                        </p:attrNameLst>
                                      </p:cBhvr>
                                      <p:to>
                                        <p:strVal val="visible"/>
                                      </p:to>
                                    </p:set>
                                    <p:animEffect transition="in" filter="slide(fromBottom)">
                                      <p:cBhvr>
                                        <p:cTn id="22" dur="500"/>
                                        <p:tgtEl>
                                          <p:spTgt spid="901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90115">
                                            <p:txEl>
                                              <p:pRg st="4" end="4"/>
                                            </p:txEl>
                                          </p:spTgt>
                                        </p:tgtEl>
                                        <p:attrNameLst>
                                          <p:attrName>style.visibility</p:attrName>
                                        </p:attrNameLst>
                                      </p:cBhvr>
                                      <p:to>
                                        <p:strVal val="visible"/>
                                      </p:to>
                                    </p:set>
                                    <p:animEffect transition="in" filter="slide(fromBottom)">
                                      <p:cBhvr>
                                        <p:cTn id="27" dur="500"/>
                                        <p:tgtEl>
                                          <p:spTgt spid="90115">
                                            <p:txEl>
                                              <p:pRg st="4" end="4"/>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90116"/>
                                        </p:tgtEl>
                                        <p:attrNameLst>
                                          <p:attrName>style.visibility</p:attrName>
                                        </p:attrNameLst>
                                      </p:cBhvr>
                                      <p:to>
                                        <p:strVal val="visible"/>
                                      </p:to>
                                    </p:set>
                                    <p:animEffect transition="in" filter="dissolve">
                                      <p:cBhvr>
                                        <p:cTn id="30" dur="500"/>
                                        <p:tgtEl>
                                          <p:spTgt spid="90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6932A6B6-C27F-9099-67CA-7608C8D8777A}"/>
              </a:ext>
            </a:extLst>
          </p:cNvPr>
          <p:cNvSpPr>
            <a:spLocks noGrp="1" noChangeArrowheads="1"/>
          </p:cNvSpPr>
          <p:nvPr>
            <p:ph type="title"/>
          </p:nvPr>
        </p:nvSpPr>
        <p:spPr/>
        <p:txBody>
          <a:bodyPr/>
          <a:lstStyle/>
          <a:p>
            <a:pPr algn="ctr" eaLnBrk="1" hangingPunct="1">
              <a:defRPr/>
            </a:pP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图</a:t>
            </a: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2.1</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a:t>
            </a: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 8282</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锁存器与</a:t>
            </a: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8086</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的连接</a:t>
            </a:r>
          </a:p>
        </p:txBody>
      </p:sp>
      <p:pic>
        <p:nvPicPr>
          <p:cNvPr id="104450" name="Picture 3">
            <a:extLst>
              <a:ext uri="{FF2B5EF4-FFF2-40B4-BE49-F238E27FC236}">
                <a16:creationId xmlns:a16="http://schemas.microsoft.com/office/drawing/2014/main" id="{1C46AD90-B393-254A-5DE4-4BECA3EF53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4438" y="1341438"/>
            <a:ext cx="4751387" cy="538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B8DC04CF-3AA1-56CD-E63E-50DEBB5C2A4D}"/>
              </a:ext>
            </a:extLst>
          </p:cNvPr>
          <p:cNvSpPr>
            <a:spLocks noGrp="1" noChangeArrowheads="1"/>
          </p:cNvSpPr>
          <p:nvPr>
            <p:ph type="title"/>
          </p:nvPr>
        </p:nvSpPr>
        <p:spPr/>
        <p:txBody>
          <a:bodyPr/>
          <a:lstStyle/>
          <a:p>
            <a:pPr algn="ctr" eaLnBrk="1" hangingPunct="1">
              <a:defRPr/>
            </a:pP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3)</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数据收发器</a:t>
            </a: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8286</a:t>
            </a:r>
            <a:endPar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endParaRPr>
          </a:p>
        </p:txBody>
      </p:sp>
      <p:sp>
        <p:nvSpPr>
          <p:cNvPr id="92163" name="Rectangle 3">
            <a:extLst>
              <a:ext uri="{FF2B5EF4-FFF2-40B4-BE49-F238E27FC236}">
                <a16:creationId xmlns:a16="http://schemas.microsoft.com/office/drawing/2014/main" id="{AF526469-C261-6AF3-CD02-B0A2C00517AB}"/>
              </a:ext>
            </a:extLst>
          </p:cNvPr>
          <p:cNvSpPr>
            <a:spLocks noGrp="1" noChangeArrowheads="1"/>
          </p:cNvSpPr>
          <p:nvPr>
            <p:ph idx="1"/>
          </p:nvPr>
        </p:nvSpPr>
        <p:spPr>
          <a:xfrm>
            <a:off x="468313" y="1557338"/>
            <a:ext cx="8135937" cy="4797425"/>
          </a:xfrm>
        </p:spPr>
        <p:txBody>
          <a:bodyPr/>
          <a:lstStyle/>
          <a:p>
            <a:pPr eaLnBrk="1" hangingPunct="1">
              <a:lnSpc>
                <a:spcPct val="90000"/>
              </a:lnSpc>
              <a:buFont typeface="Wingdings" panose="05000000000000000000" pitchFamily="2" charset="2"/>
              <a:buChar char="Ø"/>
            </a:pPr>
            <a:r>
              <a:rPr lang="zh-CN" altLang="en-US" sz="2400">
                <a:latin typeface="Times New Roman" panose="02020603050405020304" pitchFamily="18" charset="0"/>
                <a:ea typeface="楷体_GB2312" pitchFamily="1" charset="-122"/>
              </a:rPr>
              <a:t>当系统中所连接的存储器及</a:t>
            </a:r>
            <a:r>
              <a:rPr lang="en-US" altLang="zh-CN" sz="2400">
                <a:latin typeface="Times New Roman" panose="02020603050405020304" pitchFamily="18" charset="0"/>
                <a:ea typeface="楷体_GB2312" pitchFamily="1" charset="-122"/>
              </a:rPr>
              <a:t>I/O</a:t>
            </a:r>
            <a:r>
              <a:rPr lang="zh-CN" altLang="en-US" sz="2400">
                <a:latin typeface="Times New Roman" panose="02020603050405020304" pitchFamily="18" charset="0"/>
                <a:ea typeface="楷体_GB2312" pitchFamily="1" charset="-122"/>
              </a:rPr>
              <a:t>设备较多时，为了使系统能稳定工作，可以采用发送器和接收器来增加驱动能力。发送器和接收器简称为</a:t>
            </a:r>
            <a:r>
              <a:rPr lang="zh-CN" altLang="en-US" sz="2400">
                <a:solidFill>
                  <a:schemeClr val="hlink"/>
                </a:solidFill>
                <a:latin typeface="Times New Roman" panose="02020603050405020304" pitchFamily="18" charset="0"/>
                <a:ea typeface="楷体_GB2312" pitchFamily="1" charset="-122"/>
              </a:rPr>
              <a:t>收发器，也常称为总线驱动器</a:t>
            </a:r>
            <a:r>
              <a:rPr lang="zh-CN" altLang="en-US" sz="2400">
                <a:latin typeface="Times New Roman" panose="02020603050405020304" pitchFamily="18" charset="0"/>
                <a:ea typeface="楷体_GB2312" pitchFamily="1" charset="-122"/>
              </a:rPr>
              <a:t>。</a:t>
            </a:r>
          </a:p>
          <a:p>
            <a:pPr eaLnBrk="1" hangingPunct="1">
              <a:lnSpc>
                <a:spcPct val="90000"/>
              </a:lnSpc>
              <a:buFont typeface="Wingdings" panose="05000000000000000000" pitchFamily="2" charset="2"/>
              <a:buChar char="Ø"/>
            </a:pPr>
            <a:r>
              <a:rPr lang="en-US" altLang="zh-CN" sz="2400">
                <a:latin typeface="Times New Roman" panose="02020603050405020304" pitchFamily="18" charset="0"/>
                <a:ea typeface="楷体_GB2312" pitchFamily="1" charset="-122"/>
              </a:rPr>
              <a:t>Intel 8286</a:t>
            </a:r>
            <a:r>
              <a:rPr lang="zh-CN" altLang="en-US" sz="2400">
                <a:latin typeface="Times New Roman" panose="02020603050405020304" pitchFamily="18" charset="0"/>
                <a:ea typeface="楷体_GB2312" pitchFamily="1" charset="-122"/>
              </a:rPr>
              <a:t>是</a:t>
            </a:r>
            <a:r>
              <a:rPr lang="en-US" altLang="zh-CN" sz="2400">
                <a:latin typeface="Times New Roman" panose="02020603050405020304" pitchFamily="18" charset="0"/>
                <a:ea typeface="楷体_GB2312" pitchFamily="1" charset="-122"/>
              </a:rPr>
              <a:t>8</a:t>
            </a:r>
            <a:r>
              <a:rPr lang="zh-CN" altLang="en-US" sz="2400">
                <a:latin typeface="Times New Roman" panose="02020603050405020304" pitchFamily="18" charset="0"/>
                <a:ea typeface="楷体_GB2312" pitchFamily="1" charset="-122"/>
              </a:rPr>
              <a:t>位双向三态缓冲器。</a:t>
            </a:r>
            <a:r>
              <a:rPr lang="en-US" altLang="zh-CN" sz="2400">
                <a:latin typeface="Times New Roman" panose="02020603050405020304" pitchFamily="18" charset="0"/>
                <a:ea typeface="楷体_GB2312" pitchFamily="1" charset="-122"/>
              </a:rPr>
              <a:t>8286</a:t>
            </a:r>
            <a:r>
              <a:rPr lang="zh-CN" altLang="en-US" sz="2400">
                <a:latin typeface="Times New Roman" panose="02020603050405020304" pitchFamily="18" charset="0"/>
                <a:ea typeface="楷体_GB2312" pitchFamily="1" charset="-122"/>
              </a:rPr>
              <a:t>的数据线有两组，</a:t>
            </a:r>
            <a:r>
              <a:rPr lang="en-US" altLang="zh-CN" sz="2400">
                <a:latin typeface="Times New Roman" panose="02020603050405020304" pitchFamily="18" charset="0"/>
                <a:ea typeface="楷体_GB2312" pitchFamily="1" charset="-122"/>
              </a:rPr>
              <a:t>A</a:t>
            </a:r>
            <a:r>
              <a:rPr lang="en-US" altLang="zh-CN" sz="2400" baseline="-25000">
                <a:latin typeface="Times New Roman" panose="02020603050405020304" pitchFamily="18" charset="0"/>
                <a:ea typeface="楷体_GB2312" pitchFamily="1" charset="-122"/>
              </a:rPr>
              <a:t>7</a:t>
            </a:r>
            <a:r>
              <a:rPr lang="zh-CN" altLang="en-US" sz="2400">
                <a:latin typeface="Times New Roman" panose="02020603050405020304" pitchFamily="18" charset="0"/>
                <a:ea typeface="楷体_GB2312" pitchFamily="1" charset="-122"/>
              </a:rPr>
              <a:t>～</a:t>
            </a:r>
            <a:r>
              <a:rPr lang="en-US" altLang="zh-CN" sz="2400">
                <a:latin typeface="Times New Roman" panose="02020603050405020304" pitchFamily="18" charset="0"/>
                <a:ea typeface="楷体_GB2312" pitchFamily="1" charset="-122"/>
              </a:rPr>
              <a:t>A</a:t>
            </a:r>
            <a:r>
              <a:rPr lang="en-US" altLang="zh-CN" sz="2400" baseline="-25000">
                <a:latin typeface="Times New Roman" panose="02020603050405020304" pitchFamily="18" charset="0"/>
                <a:ea typeface="楷体_GB2312" pitchFamily="1" charset="-122"/>
              </a:rPr>
              <a:t>0</a:t>
            </a:r>
            <a:r>
              <a:rPr lang="zh-CN" altLang="en-US" sz="2400">
                <a:latin typeface="Times New Roman" panose="02020603050405020304" pitchFamily="18" charset="0"/>
                <a:ea typeface="楷体_GB2312" pitchFamily="1" charset="-122"/>
              </a:rPr>
              <a:t>、</a:t>
            </a:r>
            <a:r>
              <a:rPr lang="en-US" altLang="zh-CN" sz="2400">
                <a:latin typeface="Times New Roman" panose="02020603050405020304" pitchFamily="18" charset="0"/>
                <a:ea typeface="楷体_GB2312" pitchFamily="1" charset="-122"/>
              </a:rPr>
              <a:t>B</a:t>
            </a:r>
            <a:r>
              <a:rPr lang="en-US" altLang="zh-CN" sz="2400" baseline="-25000">
                <a:latin typeface="Times New Roman" panose="02020603050405020304" pitchFamily="18" charset="0"/>
                <a:ea typeface="楷体_GB2312" pitchFamily="1" charset="-122"/>
              </a:rPr>
              <a:t>7</a:t>
            </a:r>
            <a:r>
              <a:rPr lang="zh-CN" altLang="en-US" sz="2400">
                <a:latin typeface="Times New Roman" panose="02020603050405020304" pitchFamily="18" charset="0"/>
                <a:ea typeface="楷体_GB2312" pitchFamily="1" charset="-122"/>
              </a:rPr>
              <a:t>～</a:t>
            </a:r>
            <a:r>
              <a:rPr lang="en-US" altLang="zh-CN" sz="2400">
                <a:latin typeface="Times New Roman" panose="02020603050405020304" pitchFamily="18" charset="0"/>
                <a:ea typeface="楷体_GB2312" pitchFamily="1" charset="-122"/>
              </a:rPr>
              <a:t>B</a:t>
            </a:r>
            <a:r>
              <a:rPr lang="en-US" altLang="zh-CN" sz="2400" baseline="-25000">
                <a:latin typeface="Times New Roman" panose="02020603050405020304" pitchFamily="18" charset="0"/>
                <a:ea typeface="楷体_GB2312" pitchFamily="1" charset="-122"/>
              </a:rPr>
              <a:t>0</a:t>
            </a:r>
            <a:r>
              <a:rPr lang="zh-CN" altLang="en-US" sz="2400">
                <a:latin typeface="Times New Roman" panose="02020603050405020304" pitchFamily="18" charset="0"/>
                <a:ea typeface="楷体_GB2312" pitchFamily="1" charset="-122"/>
              </a:rPr>
              <a:t>，引脚</a:t>
            </a:r>
            <a:r>
              <a:rPr lang="en-US" altLang="zh-CN" sz="2400">
                <a:latin typeface="Times New Roman" panose="02020603050405020304" pitchFamily="18" charset="0"/>
                <a:ea typeface="楷体_GB2312" pitchFamily="1" charset="-122"/>
              </a:rPr>
              <a:t>T</a:t>
            </a:r>
            <a:r>
              <a:rPr lang="zh-CN" altLang="en-US" sz="2400">
                <a:latin typeface="Times New Roman" panose="02020603050405020304" pitchFamily="18" charset="0"/>
                <a:ea typeface="楷体_GB2312" pitchFamily="1" charset="-122"/>
              </a:rPr>
              <a:t>用来控制数据传输的方向，当</a:t>
            </a:r>
            <a:r>
              <a:rPr lang="en-US" altLang="zh-CN" sz="2400">
                <a:latin typeface="Times New Roman" panose="02020603050405020304" pitchFamily="18" charset="0"/>
                <a:ea typeface="楷体_GB2312" pitchFamily="1" charset="-122"/>
              </a:rPr>
              <a:t>T=1</a:t>
            </a:r>
            <a:r>
              <a:rPr lang="zh-CN" altLang="en-US" sz="2400">
                <a:latin typeface="Times New Roman" panose="02020603050405020304" pitchFamily="18" charset="0"/>
                <a:ea typeface="楷体_GB2312" pitchFamily="1" charset="-122"/>
              </a:rPr>
              <a:t>时，方向为</a:t>
            </a:r>
            <a:r>
              <a:rPr lang="en-US" altLang="zh-CN" sz="2400">
                <a:latin typeface="Times New Roman" panose="02020603050405020304" pitchFamily="18" charset="0"/>
                <a:ea typeface="楷体_GB2312" pitchFamily="1" charset="-122"/>
              </a:rPr>
              <a:t>A→B</a:t>
            </a:r>
            <a:r>
              <a:rPr lang="zh-CN" altLang="en-US" sz="2400">
                <a:latin typeface="Times New Roman" panose="02020603050405020304" pitchFamily="18" charset="0"/>
                <a:ea typeface="楷体_GB2312" pitchFamily="1" charset="-122"/>
              </a:rPr>
              <a:t>；当</a:t>
            </a:r>
            <a:r>
              <a:rPr lang="en-US" altLang="zh-CN" sz="2400">
                <a:latin typeface="Times New Roman" panose="02020603050405020304" pitchFamily="18" charset="0"/>
                <a:ea typeface="楷体_GB2312" pitchFamily="1" charset="-122"/>
              </a:rPr>
              <a:t>T=0</a:t>
            </a:r>
            <a:r>
              <a:rPr lang="zh-CN" altLang="en-US" sz="2400">
                <a:latin typeface="Times New Roman" panose="02020603050405020304" pitchFamily="18" charset="0"/>
                <a:ea typeface="楷体_GB2312" pitchFamily="1" charset="-122"/>
              </a:rPr>
              <a:t>时，方向为</a:t>
            </a:r>
            <a:r>
              <a:rPr lang="en-US" altLang="zh-CN" sz="2400">
                <a:latin typeface="Times New Roman" panose="02020603050405020304" pitchFamily="18" charset="0"/>
                <a:ea typeface="楷体_GB2312" pitchFamily="1" charset="-122"/>
              </a:rPr>
              <a:t>B→A</a:t>
            </a:r>
            <a:r>
              <a:rPr lang="zh-CN" altLang="en-US" sz="2400">
                <a:latin typeface="Times New Roman" panose="02020603050405020304" pitchFamily="18" charset="0"/>
                <a:ea typeface="楷体_GB2312" pitchFamily="1" charset="-122"/>
              </a:rPr>
              <a:t>。    是输出允许信号，当它为</a:t>
            </a:r>
            <a:r>
              <a:rPr lang="en-US" altLang="zh-CN" sz="2400">
                <a:latin typeface="Times New Roman" panose="02020603050405020304" pitchFamily="18" charset="0"/>
                <a:ea typeface="楷体_GB2312" pitchFamily="1" charset="-122"/>
              </a:rPr>
              <a:t>0</a:t>
            </a:r>
            <a:r>
              <a:rPr lang="zh-CN" altLang="en-US" sz="2400">
                <a:latin typeface="Times New Roman" panose="02020603050405020304" pitchFamily="18" charset="0"/>
                <a:ea typeface="楷体_GB2312" pitchFamily="1" charset="-122"/>
              </a:rPr>
              <a:t>时，允许数据传送。</a:t>
            </a:r>
          </a:p>
          <a:p>
            <a:pPr eaLnBrk="1" hangingPunct="1">
              <a:lnSpc>
                <a:spcPct val="90000"/>
              </a:lnSpc>
              <a:buFont typeface="Wingdings" panose="05000000000000000000" pitchFamily="2" charset="2"/>
              <a:buChar char="Ø"/>
            </a:pPr>
            <a:r>
              <a:rPr lang="en-US" altLang="zh-CN" sz="2400">
                <a:latin typeface="Times New Roman" panose="02020603050405020304" pitchFamily="18" charset="0"/>
                <a:ea typeface="楷体_GB2312" pitchFamily="1" charset="-122"/>
              </a:rPr>
              <a:t>8086</a:t>
            </a:r>
            <a:r>
              <a:rPr lang="zh-CN" altLang="en-US" sz="2400">
                <a:latin typeface="Times New Roman" panose="02020603050405020304" pitchFamily="18" charset="0"/>
                <a:ea typeface="楷体_GB2312" pitchFamily="1" charset="-122"/>
              </a:rPr>
              <a:t>的数据总线是</a:t>
            </a:r>
            <a:r>
              <a:rPr lang="en-US" altLang="zh-CN" sz="2400">
                <a:latin typeface="Times New Roman" panose="02020603050405020304" pitchFamily="18" charset="0"/>
                <a:ea typeface="楷体_GB2312" pitchFamily="1" charset="-122"/>
              </a:rPr>
              <a:t>16</a:t>
            </a:r>
            <a:r>
              <a:rPr lang="zh-CN" altLang="en-US" sz="2400">
                <a:latin typeface="Times New Roman" panose="02020603050405020304" pitchFamily="18" charset="0"/>
                <a:ea typeface="楷体_GB2312" pitchFamily="1" charset="-122"/>
              </a:rPr>
              <a:t>位，如果要选用</a:t>
            </a:r>
            <a:r>
              <a:rPr lang="en-US" altLang="zh-CN" sz="2400">
                <a:latin typeface="Times New Roman" panose="02020603050405020304" pitchFamily="18" charset="0"/>
                <a:ea typeface="楷体_GB2312" pitchFamily="1" charset="-122"/>
              </a:rPr>
              <a:t>8286</a:t>
            </a:r>
            <a:r>
              <a:rPr lang="zh-CN" altLang="en-US" sz="2400">
                <a:latin typeface="Times New Roman" panose="02020603050405020304" pitchFamily="18" charset="0"/>
                <a:ea typeface="楷体_GB2312" pitchFamily="1" charset="-122"/>
              </a:rPr>
              <a:t>做总线驱动器，则需要</a:t>
            </a:r>
            <a:r>
              <a:rPr lang="en-US" altLang="zh-CN" sz="2400">
                <a:latin typeface="Times New Roman" panose="02020603050405020304" pitchFamily="18" charset="0"/>
                <a:ea typeface="楷体_GB2312" pitchFamily="1" charset="-122"/>
              </a:rPr>
              <a:t>2</a:t>
            </a:r>
            <a:r>
              <a:rPr lang="zh-CN" altLang="en-US" sz="2400">
                <a:latin typeface="Times New Roman" panose="02020603050405020304" pitchFamily="18" charset="0"/>
                <a:ea typeface="楷体_GB2312" pitchFamily="1" charset="-122"/>
              </a:rPr>
              <a:t>片。</a:t>
            </a:r>
          </a:p>
          <a:p>
            <a:pPr eaLnBrk="1" hangingPunct="1">
              <a:lnSpc>
                <a:spcPct val="90000"/>
              </a:lnSpc>
              <a:buFont typeface="Wingdings" panose="05000000000000000000" pitchFamily="2" charset="2"/>
              <a:buChar char="Ø"/>
            </a:pPr>
            <a:r>
              <a:rPr lang="zh-CN" altLang="en-US" sz="2400">
                <a:latin typeface="Times New Roman" panose="02020603050405020304" pitchFamily="18" charset="0"/>
                <a:ea typeface="楷体_GB2312" pitchFamily="1" charset="-122"/>
              </a:rPr>
              <a:t>如果是较小规模的最小模式系统，不需要总线驱动器，那么就用</a:t>
            </a:r>
            <a:r>
              <a:rPr lang="en-US" altLang="zh-CN" sz="2400">
                <a:latin typeface="Times New Roman" panose="02020603050405020304" pitchFamily="18" charset="0"/>
                <a:ea typeface="楷体_GB2312" pitchFamily="1" charset="-122"/>
              </a:rPr>
              <a:t>CPU</a:t>
            </a:r>
            <a:r>
              <a:rPr lang="zh-CN" altLang="en-US" sz="2400">
                <a:latin typeface="Times New Roman" panose="02020603050405020304" pitchFamily="18" charset="0"/>
                <a:ea typeface="楷体_GB2312" pitchFamily="1" charset="-122"/>
              </a:rPr>
              <a:t>的          、         、       组合起来决定系统中数据传输的方式。</a:t>
            </a:r>
          </a:p>
        </p:txBody>
      </p:sp>
      <p:graphicFrame>
        <p:nvGraphicFramePr>
          <p:cNvPr id="92164" name="Object 4">
            <a:extLst>
              <a:ext uri="{FF2B5EF4-FFF2-40B4-BE49-F238E27FC236}">
                <a16:creationId xmlns:a16="http://schemas.microsoft.com/office/drawing/2014/main" id="{F16D9498-8D37-757B-3387-ADCB0CC9826B}"/>
              </a:ext>
            </a:extLst>
          </p:cNvPr>
          <p:cNvGraphicFramePr>
            <a:graphicFrameLocks noChangeAspect="1"/>
          </p:cNvGraphicFramePr>
          <p:nvPr/>
        </p:nvGraphicFramePr>
        <p:xfrm>
          <a:off x="7164388" y="3240088"/>
          <a:ext cx="458787" cy="404812"/>
        </p:xfrm>
        <a:graphic>
          <a:graphicData uri="http://schemas.openxmlformats.org/presentationml/2006/ole">
            <mc:AlternateContent xmlns:mc="http://schemas.openxmlformats.org/markup-compatibility/2006">
              <mc:Choice xmlns:v="urn:schemas-microsoft-com:vml" Requires="v">
                <p:oleObj r:id="rId2" imgW="217125" imgH="191581" progId="Equation.3">
                  <p:embed/>
                </p:oleObj>
              </mc:Choice>
              <mc:Fallback>
                <p:oleObj r:id="rId2" imgW="217125" imgH="191581"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4388" y="3240088"/>
                        <a:ext cx="458787"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165" name="Object 5">
            <a:extLst>
              <a:ext uri="{FF2B5EF4-FFF2-40B4-BE49-F238E27FC236}">
                <a16:creationId xmlns:a16="http://schemas.microsoft.com/office/drawing/2014/main" id="{CFA41616-ECBA-5F07-DC95-CED9E9DB7154}"/>
              </a:ext>
            </a:extLst>
          </p:cNvPr>
          <p:cNvGraphicFramePr>
            <a:graphicFrameLocks noChangeAspect="1"/>
          </p:cNvGraphicFramePr>
          <p:nvPr/>
        </p:nvGraphicFramePr>
        <p:xfrm>
          <a:off x="2987675" y="5084763"/>
          <a:ext cx="792163" cy="438150"/>
        </p:xfrm>
        <a:graphic>
          <a:graphicData uri="http://schemas.openxmlformats.org/presentationml/2006/ole">
            <mc:AlternateContent xmlns:mc="http://schemas.openxmlformats.org/markup-compatibility/2006">
              <mc:Choice xmlns:v="urn:schemas-microsoft-com:vml" Requires="v">
                <p:oleObj r:id="rId4" imgW="344395" imgH="191330" progId="Equation.3">
                  <p:embed/>
                </p:oleObj>
              </mc:Choice>
              <mc:Fallback>
                <p:oleObj r:id="rId4" imgW="344395" imgH="19133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7675" y="5084763"/>
                        <a:ext cx="792163"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166" name="Object 6">
            <a:extLst>
              <a:ext uri="{FF2B5EF4-FFF2-40B4-BE49-F238E27FC236}">
                <a16:creationId xmlns:a16="http://schemas.microsoft.com/office/drawing/2014/main" id="{C4D07772-1FFD-D523-7405-0B255168D184}"/>
              </a:ext>
            </a:extLst>
          </p:cNvPr>
          <p:cNvGraphicFramePr>
            <a:graphicFrameLocks noChangeAspect="1"/>
          </p:cNvGraphicFramePr>
          <p:nvPr/>
        </p:nvGraphicFramePr>
        <p:xfrm>
          <a:off x="4140200" y="5084763"/>
          <a:ext cx="503238" cy="392112"/>
        </p:xfrm>
        <a:graphic>
          <a:graphicData uri="http://schemas.openxmlformats.org/presentationml/2006/ole">
            <mc:AlternateContent xmlns:mc="http://schemas.openxmlformats.org/markup-compatibility/2006">
              <mc:Choice xmlns:v="urn:schemas-microsoft-com:vml" Requires="v">
                <p:oleObj r:id="rId6" imgW="229797" imgH="178731" progId="Equation.3">
                  <p:embed/>
                </p:oleObj>
              </mc:Choice>
              <mc:Fallback>
                <p:oleObj r:id="rId6" imgW="229797" imgH="178731"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40200" y="5084763"/>
                        <a:ext cx="50323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167" name="Object 7">
            <a:extLst>
              <a:ext uri="{FF2B5EF4-FFF2-40B4-BE49-F238E27FC236}">
                <a16:creationId xmlns:a16="http://schemas.microsoft.com/office/drawing/2014/main" id="{3F16796F-B750-953B-C60D-FD46D964522A}"/>
              </a:ext>
            </a:extLst>
          </p:cNvPr>
          <p:cNvGraphicFramePr>
            <a:graphicFrameLocks noChangeAspect="1"/>
          </p:cNvGraphicFramePr>
          <p:nvPr/>
        </p:nvGraphicFramePr>
        <p:xfrm>
          <a:off x="5003800" y="5084763"/>
          <a:ext cx="576263" cy="411162"/>
        </p:xfrm>
        <a:graphic>
          <a:graphicData uri="http://schemas.openxmlformats.org/presentationml/2006/ole">
            <mc:AlternateContent xmlns:mc="http://schemas.openxmlformats.org/markup-compatibility/2006">
              <mc:Choice xmlns:v="urn:schemas-microsoft-com:vml" Requires="v">
                <p:oleObj r:id="rId8" imgW="268096" imgH="191497" progId="Equation.3">
                  <p:embed/>
                </p:oleObj>
              </mc:Choice>
              <mc:Fallback>
                <p:oleObj r:id="rId8" imgW="268096" imgH="191497"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03800" y="5084763"/>
                        <a:ext cx="576263"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163">
                                            <p:txEl>
                                              <p:pRg st="0" end="0"/>
                                            </p:txEl>
                                          </p:spTgt>
                                        </p:tgtEl>
                                        <p:attrNameLst>
                                          <p:attrName>style.visibility</p:attrName>
                                        </p:attrNameLst>
                                      </p:cBhvr>
                                      <p:to>
                                        <p:strVal val="visible"/>
                                      </p:to>
                                    </p:set>
                                    <p:anim calcmode="lin" valueType="num">
                                      <p:cBhvr additive="base">
                                        <p:cTn id="7" dur="500" fill="hold"/>
                                        <p:tgtEl>
                                          <p:spTgt spid="921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2163">
                                            <p:txEl>
                                              <p:pRg st="1" end="1"/>
                                            </p:txEl>
                                          </p:spTgt>
                                        </p:tgtEl>
                                        <p:attrNameLst>
                                          <p:attrName>style.visibility</p:attrName>
                                        </p:attrNameLst>
                                      </p:cBhvr>
                                      <p:to>
                                        <p:strVal val="visible"/>
                                      </p:to>
                                    </p:set>
                                    <p:anim calcmode="lin" valueType="num">
                                      <p:cBhvr additive="base">
                                        <p:cTn id="13" dur="500" fill="hold"/>
                                        <p:tgtEl>
                                          <p:spTgt spid="921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163">
                                            <p:txEl>
                                              <p:pRg st="1" end="1"/>
                                            </p:txEl>
                                          </p:spTgt>
                                        </p:tgtEl>
                                        <p:attrNameLst>
                                          <p:attrName>ppt_y</p:attrName>
                                        </p:attrNameLst>
                                      </p:cBhvr>
                                      <p:tavLst>
                                        <p:tav tm="0">
                                          <p:val>
                                            <p:strVal val="1+#ppt_h/2"/>
                                          </p:val>
                                        </p:tav>
                                        <p:tav tm="100000">
                                          <p:val>
                                            <p:strVal val="#ppt_y"/>
                                          </p:val>
                                        </p:tav>
                                      </p:tavLst>
                                    </p:anim>
                                  </p:childTnLst>
                                </p:cTn>
                              </p:par>
                              <p:par>
                                <p:cTn id="15" presetID="9" presetClass="entr" presetSubtype="0" fill="hold" nodeType="withEffect">
                                  <p:stCondLst>
                                    <p:cond delay="0"/>
                                  </p:stCondLst>
                                  <p:childTnLst>
                                    <p:set>
                                      <p:cBhvr>
                                        <p:cTn id="16" dur="1" fill="hold">
                                          <p:stCondLst>
                                            <p:cond delay="0"/>
                                          </p:stCondLst>
                                        </p:cTn>
                                        <p:tgtEl>
                                          <p:spTgt spid="92164"/>
                                        </p:tgtEl>
                                        <p:attrNameLst>
                                          <p:attrName>style.visibility</p:attrName>
                                        </p:attrNameLst>
                                      </p:cBhvr>
                                      <p:to>
                                        <p:strVal val="visible"/>
                                      </p:to>
                                    </p:set>
                                    <p:animEffect transition="in" filter="dissolve">
                                      <p:cBhvr>
                                        <p:cTn id="17" dur="500"/>
                                        <p:tgtEl>
                                          <p:spTgt spid="921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92163">
                                            <p:txEl>
                                              <p:pRg st="2" end="2"/>
                                            </p:txEl>
                                          </p:spTgt>
                                        </p:tgtEl>
                                        <p:attrNameLst>
                                          <p:attrName>style.visibility</p:attrName>
                                        </p:attrNameLst>
                                      </p:cBhvr>
                                      <p:to>
                                        <p:strVal val="visible"/>
                                      </p:to>
                                    </p:set>
                                    <p:anim calcmode="lin" valueType="num">
                                      <p:cBhvr additive="base">
                                        <p:cTn id="22" dur="500" fill="hold"/>
                                        <p:tgtEl>
                                          <p:spTgt spid="9216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921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92163">
                                            <p:txEl>
                                              <p:pRg st="3" end="3"/>
                                            </p:txEl>
                                          </p:spTgt>
                                        </p:tgtEl>
                                        <p:attrNameLst>
                                          <p:attrName>style.visibility</p:attrName>
                                        </p:attrNameLst>
                                      </p:cBhvr>
                                      <p:to>
                                        <p:strVal val="visible"/>
                                      </p:to>
                                    </p:set>
                                    <p:anim calcmode="lin" valueType="num">
                                      <p:cBhvr additive="base">
                                        <p:cTn id="28" dur="500" fill="hold"/>
                                        <p:tgtEl>
                                          <p:spTgt spid="92163">
                                            <p:txEl>
                                              <p:pRg st="3" end="3"/>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92163">
                                            <p:txEl>
                                              <p:pRg st="3" end="3"/>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92165"/>
                                        </p:tgtEl>
                                        <p:attrNameLst>
                                          <p:attrName>style.visibility</p:attrName>
                                        </p:attrNameLst>
                                      </p:cBhvr>
                                      <p:to>
                                        <p:strVal val="visible"/>
                                      </p:to>
                                    </p:set>
                                    <p:anim calcmode="lin" valueType="num">
                                      <p:cBhvr additive="base">
                                        <p:cTn id="32" dur="500" fill="hold"/>
                                        <p:tgtEl>
                                          <p:spTgt spid="92165"/>
                                        </p:tgtEl>
                                        <p:attrNameLst>
                                          <p:attrName>ppt_x</p:attrName>
                                        </p:attrNameLst>
                                      </p:cBhvr>
                                      <p:tavLst>
                                        <p:tav tm="0">
                                          <p:val>
                                            <p:strVal val="#ppt_x"/>
                                          </p:val>
                                        </p:tav>
                                        <p:tav tm="100000">
                                          <p:val>
                                            <p:strVal val="#ppt_x"/>
                                          </p:val>
                                        </p:tav>
                                      </p:tavLst>
                                    </p:anim>
                                    <p:anim calcmode="lin" valueType="num">
                                      <p:cBhvr additive="base">
                                        <p:cTn id="33" dur="500" fill="hold"/>
                                        <p:tgtEl>
                                          <p:spTgt spid="92165"/>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92166"/>
                                        </p:tgtEl>
                                        <p:attrNameLst>
                                          <p:attrName>style.visibility</p:attrName>
                                        </p:attrNameLst>
                                      </p:cBhvr>
                                      <p:to>
                                        <p:strVal val="visible"/>
                                      </p:to>
                                    </p:set>
                                    <p:anim calcmode="lin" valueType="num">
                                      <p:cBhvr additive="base">
                                        <p:cTn id="36" dur="500" fill="hold"/>
                                        <p:tgtEl>
                                          <p:spTgt spid="92166"/>
                                        </p:tgtEl>
                                        <p:attrNameLst>
                                          <p:attrName>ppt_x</p:attrName>
                                        </p:attrNameLst>
                                      </p:cBhvr>
                                      <p:tavLst>
                                        <p:tav tm="0">
                                          <p:val>
                                            <p:strVal val="#ppt_x"/>
                                          </p:val>
                                        </p:tav>
                                        <p:tav tm="100000">
                                          <p:val>
                                            <p:strVal val="#ppt_x"/>
                                          </p:val>
                                        </p:tav>
                                      </p:tavLst>
                                    </p:anim>
                                    <p:anim calcmode="lin" valueType="num">
                                      <p:cBhvr additive="base">
                                        <p:cTn id="37" dur="500" fill="hold"/>
                                        <p:tgtEl>
                                          <p:spTgt spid="92166"/>
                                        </p:tgtEl>
                                        <p:attrNameLst>
                                          <p:attrName>ppt_y</p:attrName>
                                        </p:attrNameLst>
                                      </p:cBhvr>
                                      <p:tavLst>
                                        <p:tav tm="0">
                                          <p:val>
                                            <p:strVal val="1+#ppt_h/2"/>
                                          </p:val>
                                        </p:tav>
                                        <p:tav tm="100000">
                                          <p:val>
                                            <p:strVal val="#ppt_y"/>
                                          </p:val>
                                        </p:tav>
                                      </p:tavLst>
                                    </p:anim>
                                  </p:childTnLst>
                                </p:cTn>
                              </p:par>
                              <p:par>
                                <p:cTn id="38" presetID="12" presetClass="entr" presetSubtype="4" fill="hold" nodeType="withEffect">
                                  <p:stCondLst>
                                    <p:cond delay="0"/>
                                  </p:stCondLst>
                                  <p:childTnLst>
                                    <p:set>
                                      <p:cBhvr>
                                        <p:cTn id="39" dur="1" fill="hold">
                                          <p:stCondLst>
                                            <p:cond delay="0"/>
                                          </p:stCondLst>
                                        </p:cTn>
                                        <p:tgtEl>
                                          <p:spTgt spid="92167"/>
                                        </p:tgtEl>
                                        <p:attrNameLst>
                                          <p:attrName>style.visibility</p:attrName>
                                        </p:attrNameLst>
                                      </p:cBhvr>
                                      <p:to>
                                        <p:strVal val="visible"/>
                                      </p:to>
                                    </p:set>
                                    <p:animEffect transition="in" filter="slide(fromBottom)">
                                      <p:cBhvr>
                                        <p:cTn id="40" dur="500"/>
                                        <p:tgtEl>
                                          <p:spTgt spid="92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DDCB647E-3EAC-B9C7-369E-66FFDB140157}"/>
              </a:ext>
            </a:extLst>
          </p:cNvPr>
          <p:cNvSpPr>
            <a:spLocks noGrp="1" noChangeArrowheads="1"/>
          </p:cNvSpPr>
          <p:nvPr>
            <p:ph type="title"/>
          </p:nvPr>
        </p:nvSpPr>
        <p:spPr/>
        <p:txBody>
          <a:bodyPr/>
          <a:lstStyle/>
          <a:p>
            <a:pPr algn="ctr" eaLnBrk="1" hangingPunct="1">
              <a:defRPr/>
            </a:pPr>
            <a:r>
              <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图</a:t>
            </a: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2.1</a:t>
            </a:r>
            <a:r>
              <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3</a:t>
            </a: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 8286</a:t>
            </a:r>
            <a:r>
              <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收发器和</a:t>
            </a:r>
            <a:r>
              <a:rPr 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8088</a:t>
            </a:r>
            <a:r>
              <a:rPr lang="zh-CN" altLang="en-US" sz="36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的连接</a:t>
            </a:r>
          </a:p>
        </p:txBody>
      </p:sp>
      <p:pic>
        <p:nvPicPr>
          <p:cNvPr id="106498" name="Picture 3">
            <a:extLst>
              <a:ext uri="{FF2B5EF4-FFF2-40B4-BE49-F238E27FC236}">
                <a16:creationId xmlns:a16="http://schemas.microsoft.com/office/drawing/2014/main" id="{C88D0760-931D-32B1-6D53-BE882608D8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538" y="1557338"/>
            <a:ext cx="4319587" cy="504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D54E5277-9DFE-BD5D-86A6-3BA389D846F5}"/>
              </a:ext>
            </a:extLst>
          </p:cNvPr>
          <p:cNvSpPr>
            <a:spLocks noGrp="1" noChangeArrowheads="1"/>
          </p:cNvSpPr>
          <p:nvPr>
            <p:ph type="title"/>
          </p:nvPr>
        </p:nvSpPr>
        <p:spPr>
          <a:xfrm>
            <a:off x="1150938" y="333375"/>
            <a:ext cx="7793037" cy="865188"/>
          </a:xfrm>
        </p:spPr>
        <p:txBody>
          <a:bodyPr/>
          <a:lstStyle/>
          <a:p>
            <a:pPr algn="ctr" eaLnBrk="1" hangingPunct="1">
              <a:defRPr/>
            </a:pP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最大模式组成</a:t>
            </a:r>
            <a:r>
              <a:rPr lang="zh-CN" altLang="en-US" b="1">
                <a:solidFill>
                  <a:schemeClr val="tx1"/>
                </a:solidFill>
                <a:latin typeface="Times New Roman" panose="02020603050405020304" pitchFamily="18" charset="0"/>
              </a:rPr>
              <a:t> </a:t>
            </a:r>
          </a:p>
        </p:txBody>
      </p:sp>
      <p:sp>
        <p:nvSpPr>
          <p:cNvPr id="94211" name="Rectangle 3">
            <a:extLst>
              <a:ext uri="{FF2B5EF4-FFF2-40B4-BE49-F238E27FC236}">
                <a16:creationId xmlns:a16="http://schemas.microsoft.com/office/drawing/2014/main" id="{B4B2B89A-237D-8193-4B9C-0A1AC23B1387}"/>
              </a:ext>
            </a:extLst>
          </p:cNvPr>
          <p:cNvSpPr>
            <a:spLocks noGrp="1" noChangeArrowheads="1"/>
          </p:cNvSpPr>
          <p:nvPr>
            <p:ph idx="1"/>
          </p:nvPr>
        </p:nvSpPr>
        <p:spPr>
          <a:xfrm>
            <a:off x="468313" y="1557338"/>
            <a:ext cx="8207375" cy="4114800"/>
          </a:xfrm>
        </p:spPr>
        <p:txBody>
          <a:bodyPr/>
          <a:lstStyle/>
          <a:p>
            <a:pPr marL="0" indent="0" eaLnBrk="1" hangingPunct="1">
              <a:buFont typeface="Wingdings" panose="05000000000000000000" pitchFamily="2" charset="2"/>
              <a:buChar char="Ø"/>
            </a:pPr>
            <a:r>
              <a:rPr lang="zh-CN" altLang="en-US" sz="2800">
                <a:latin typeface="Times New Roman" panose="02020603050405020304" pitchFamily="18" charset="0"/>
                <a:ea typeface="楷体_GB2312" pitchFamily="1" charset="-122"/>
              </a:rPr>
              <a:t>当          ＝</a:t>
            </a:r>
            <a:r>
              <a:rPr lang="en-US" altLang="zh-CN" sz="2800">
                <a:latin typeface="Times New Roman" panose="02020603050405020304" pitchFamily="18" charset="0"/>
                <a:ea typeface="楷体_GB2312" pitchFamily="1" charset="-122"/>
              </a:rPr>
              <a:t>0</a:t>
            </a:r>
            <a:r>
              <a:rPr lang="zh-CN" altLang="en-US" sz="2800">
                <a:latin typeface="Times New Roman" panose="02020603050405020304" pitchFamily="18" charset="0"/>
                <a:ea typeface="楷体_GB2312" pitchFamily="1" charset="-122"/>
              </a:rPr>
              <a:t>时，</a:t>
            </a:r>
            <a:r>
              <a:rPr lang="en-US" altLang="zh-CN" sz="2800">
                <a:latin typeface="Times New Roman" panose="02020603050405020304" pitchFamily="18" charset="0"/>
                <a:ea typeface="楷体_GB2312" pitchFamily="1" charset="-122"/>
              </a:rPr>
              <a:t>8086 CPU</a:t>
            </a:r>
            <a:r>
              <a:rPr lang="zh-CN" altLang="en-US" sz="2800">
                <a:latin typeface="Times New Roman" panose="02020603050405020304" pitchFamily="18" charset="0"/>
                <a:ea typeface="楷体_GB2312" pitchFamily="1" charset="-122"/>
              </a:rPr>
              <a:t>工作在最大模式。</a:t>
            </a:r>
          </a:p>
          <a:p>
            <a:pPr marL="0" indent="0" eaLnBrk="1" hangingPunct="1">
              <a:buFont typeface="Wingdings" panose="05000000000000000000" pitchFamily="2" charset="2"/>
              <a:buChar char="Ø"/>
            </a:pPr>
            <a:r>
              <a:rPr lang="zh-CN" altLang="en-US" sz="2800">
                <a:latin typeface="Times New Roman" panose="02020603050405020304" pitchFamily="18" charset="0"/>
                <a:ea typeface="楷体_GB2312" pitchFamily="1" charset="-122"/>
              </a:rPr>
              <a:t>在最大模式下，构成的微型计算机中除了有</a:t>
            </a:r>
            <a:r>
              <a:rPr lang="en-US" altLang="zh-CN" sz="2800">
                <a:latin typeface="Times New Roman" panose="02020603050405020304" pitchFamily="18" charset="0"/>
                <a:ea typeface="楷体_GB2312" pitchFamily="1" charset="-122"/>
              </a:rPr>
              <a:t>8086 CPU</a:t>
            </a:r>
            <a:r>
              <a:rPr lang="zh-CN" altLang="en-US" sz="2800">
                <a:latin typeface="Times New Roman" panose="02020603050405020304" pitchFamily="18" charset="0"/>
                <a:ea typeface="楷体_GB2312" pitchFamily="1" charset="-122"/>
              </a:rPr>
              <a:t>之外，还可以接另外的</a:t>
            </a:r>
            <a:r>
              <a:rPr lang="en-US" altLang="zh-CN" sz="2800">
                <a:latin typeface="Times New Roman" panose="02020603050405020304" pitchFamily="18" charset="0"/>
                <a:ea typeface="楷体_GB2312" pitchFamily="1" charset="-122"/>
              </a:rPr>
              <a:t>CPU</a:t>
            </a:r>
            <a:r>
              <a:rPr lang="zh-CN" altLang="en-US" sz="2800">
                <a:latin typeface="Times New Roman" panose="02020603050405020304" pitchFamily="18" charset="0"/>
                <a:ea typeface="楷体_GB2312" pitchFamily="1" charset="-122"/>
              </a:rPr>
              <a:t>，如</a:t>
            </a:r>
            <a:r>
              <a:rPr lang="en-US" altLang="zh-CN" sz="2800">
                <a:latin typeface="Times New Roman" panose="02020603050405020304" pitchFamily="18" charset="0"/>
                <a:ea typeface="楷体_GB2312" pitchFamily="1" charset="-122"/>
              </a:rPr>
              <a:t>8087</a:t>
            </a:r>
            <a:r>
              <a:rPr lang="zh-CN" altLang="en-US" sz="2800">
                <a:latin typeface="Times New Roman" panose="02020603050405020304" pitchFamily="18" charset="0"/>
                <a:ea typeface="楷体_GB2312" pitchFamily="1" charset="-122"/>
              </a:rPr>
              <a:t>、</a:t>
            </a:r>
            <a:r>
              <a:rPr lang="en-US" altLang="zh-CN" sz="2800">
                <a:latin typeface="Times New Roman" panose="02020603050405020304" pitchFamily="18" charset="0"/>
                <a:ea typeface="楷体_GB2312" pitchFamily="1" charset="-122"/>
              </a:rPr>
              <a:t>8089</a:t>
            </a:r>
            <a:r>
              <a:rPr lang="zh-CN" altLang="en-US" sz="2800">
                <a:latin typeface="Times New Roman" panose="02020603050405020304" pitchFamily="18" charset="0"/>
                <a:ea typeface="楷体_GB2312" pitchFamily="1" charset="-122"/>
              </a:rPr>
              <a:t>等，以构成</a:t>
            </a:r>
            <a:r>
              <a:rPr lang="zh-CN" altLang="en-US" sz="2800">
                <a:solidFill>
                  <a:schemeClr val="hlink"/>
                </a:solidFill>
                <a:latin typeface="Times New Roman" panose="02020603050405020304" pitchFamily="18" charset="0"/>
                <a:ea typeface="楷体_GB2312" pitchFamily="1" charset="-122"/>
              </a:rPr>
              <a:t>多处理器系统</a:t>
            </a:r>
            <a:r>
              <a:rPr lang="zh-CN" altLang="en-US" sz="2800">
                <a:latin typeface="Times New Roman" panose="02020603050405020304" pitchFamily="18" charset="0"/>
                <a:ea typeface="楷体_GB2312" pitchFamily="1" charset="-122"/>
              </a:rPr>
              <a:t>。</a:t>
            </a:r>
          </a:p>
          <a:p>
            <a:pPr marL="0" indent="0" eaLnBrk="1" hangingPunct="1">
              <a:buFont typeface="Wingdings" panose="05000000000000000000" pitchFamily="2" charset="2"/>
              <a:buChar char="Ø"/>
            </a:pPr>
            <a:r>
              <a:rPr lang="zh-CN" altLang="en-US" sz="2800">
                <a:latin typeface="Times New Roman" panose="02020603050405020304" pitchFamily="18" charset="0"/>
                <a:ea typeface="楷体_GB2312" pitchFamily="1" charset="-122"/>
              </a:rPr>
              <a:t>在最大模式系统中，系统的许多控制信号不再由</a:t>
            </a:r>
            <a:r>
              <a:rPr lang="en-US" altLang="zh-CN" sz="2800">
                <a:latin typeface="Times New Roman" panose="02020603050405020304" pitchFamily="18" charset="0"/>
                <a:ea typeface="楷体_GB2312" pitchFamily="1" charset="-122"/>
              </a:rPr>
              <a:t>8086</a:t>
            </a:r>
            <a:r>
              <a:rPr lang="zh-CN" altLang="en-US" sz="2800">
                <a:latin typeface="Times New Roman" panose="02020603050405020304" pitchFamily="18" charset="0"/>
                <a:ea typeface="楷体_GB2312" pitchFamily="1" charset="-122"/>
              </a:rPr>
              <a:t>直接发出，而是由</a:t>
            </a:r>
            <a:r>
              <a:rPr lang="zh-CN" altLang="en-US" sz="2800">
                <a:solidFill>
                  <a:schemeClr val="hlink"/>
                </a:solidFill>
                <a:latin typeface="Times New Roman" panose="02020603050405020304" pitchFamily="18" charset="0"/>
                <a:ea typeface="楷体_GB2312" pitchFamily="1" charset="-122"/>
              </a:rPr>
              <a:t>总线控制器</a:t>
            </a:r>
            <a:r>
              <a:rPr lang="en-US" altLang="zh-CN" sz="2800">
                <a:solidFill>
                  <a:schemeClr val="hlink"/>
                </a:solidFill>
                <a:latin typeface="Times New Roman" panose="02020603050405020304" pitchFamily="18" charset="0"/>
                <a:ea typeface="楷体_GB2312" pitchFamily="1" charset="-122"/>
              </a:rPr>
              <a:t>8288</a:t>
            </a:r>
            <a:r>
              <a:rPr lang="zh-CN" altLang="en-US" sz="2800">
                <a:latin typeface="Times New Roman" panose="02020603050405020304" pitchFamily="18" charset="0"/>
                <a:ea typeface="楷体_GB2312" pitchFamily="1" charset="-122"/>
              </a:rPr>
              <a:t>对</a:t>
            </a:r>
            <a:r>
              <a:rPr lang="en-US" altLang="zh-CN" sz="2800">
                <a:latin typeface="Times New Roman" panose="02020603050405020304" pitchFamily="18" charset="0"/>
                <a:ea typeface="楷体_GB2312" pitchFamily="1" charset="-122"/>
              </a:rPr>
              <a:t>8086</a:t>
            </a:r>
            <a:r>
              <a:rPr lang="zh-CN" altLang="en-US" sz="2800">
                <a:latin typeface="Times New Roman" panose="02020603050405020304" pitchFamily="18" charset="0"/>
                <a:ea typeface="楷体_GB2312" pitchFamily="1" charset="-122"/>
              </a:rPr>
              <a:t>发出的控制信号进行变换和组合，从而得到各种系统控制信号。</a:t>
            </a:r>
          </a:p>
        </p:txBody>
      </p:sp>
      <p:graphicFrame>
        <p:nvGraphicFramePr>
          <p:cNvPr id="94212" name="Object 4">
            <a:extLst>
              <a:ext uri="{FF2B5EF4-FFF2-40B4-BE49-F238E27FC236}">
                <a16:creationId xmlns:a16="http://schemas.microsoft.com/office/drawing/2014/main" id="{4F65890C-F617-63AC-5E6C-A01C5C7C12AE}"/>
              </a:ext>
            </a:extLst>
          </p:cNvPr>
          <p:cNvGraphicFramePr>
            <a:graphicFrameLocks noChangeAspect="1"/>
          </p:cNvGraphicFramePr>
          <p:nvPr/>
        </p:nvGraphicFramePr>
        <p:xfrm>
          <a:off x="1042988" y="1628775"/>
          <a:ext cx="1008062" cy="377825"/>
        </p:xfrm>
        <a:graphic>
          <a:graphicData uri="http://schemas.openxmlformats.org/presentationml/2006/ole">
            <mc:AlternateContent xmlns:mc="http://schemas.openxmlformats.org/markup-compatibility/2006">
              <mc:Choice xmlns:v="urn:schemas-microsoft-com:vml" Requires="v">
                <p:oleObj r:id="rId2" imgW="509105" imgH="190914" progId="Equation.3">
                  <p:embed/>
                </p:oleObj>
              </mc:Choice>
              <mc:Fallback>
                <p:oleObj r:id="rId2" imgW="509105" imgH="190914"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1628775"/>
                        <a:ext cx="1008062"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anim calcmode="lin" valueType="num">
                                      <p:cBhvr additive="base">
                                        <p:cTn id="7" dur="500" fill="hold"/>
                                        <p:tgtEl>
                                          <p:spTgt spid="942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421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4212"/>
                                        </p:tgtEl>
                                        <p:attrNameLst>
                                          <p:attrName>style.visibility</p:attrName>
                                        </p:attrNameLst>
                                      </p:cBhvr>
                                      <p:to>
                                        <p:strVal val="visible"/>
                                      </p:to>
                                    </p:set>
                                    <p:anim calcmode="lin" valueType="num">
                                      <p:cBhvr additive="base">
                                        <p:cTn id="11" dur="500" fill="hold"/>
                                        <p:tgtEl>
                                          <p:spTgt spid="94212"/>
                                        </p:tgtEl>
                                        <p:attrNameLst>
                                          <p:attrName>ppt_x</p:attrName>
                                        </p:attrNameLst>
                                      </p:cBhvr>
                                      <p:tavLst>
                                        <p:tav tm="0">
                                          <p:val>
                                            <p:strVal val="#ppt_x"/>
                                          </p:val>
                                        </p:tav>
                                        <p:tav tm="100000">
                                          <p:val>
                                            <p:strVal val="#ppt_x"/>
                                          </p:val>
                                        </p:tav>
                                      </p:tavLst>
                                    </p:anim>
                                    <p:anim calcmode="lin" valueType="num">
                                      <p:cBhvr additive="base">
                                        <p:cTn id="12" dur="500" fill="hold"/>
                                        <p:tgtEl>
                                          <p:spTgt spid="94212"/>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4211">
                                            <p:txEl>
                                              <p:pRg st="1" end="1"/>
                                            </p:txEl>
                                          </p:spTgt>
                                        </p:tgtEl>
                                        <p:attrNameLst>
                                          <p:attrName>style.visibility</p:attrName>
                                        </p:attrNameLst>
                                      </p:cBhvr>
                                      <p:to>
                                        <p:strVal val="visible"/>
                                      </p:to>
                                    </p:set>
                                    <p:anim calcmode="lin" valueType="num">
                                      <p:cBhvr additive="base">
                                        <p:cTn id="17" dur="500" fill="hold"/>
                                        <p:tgtEl>
                                          <p:spTgt spid="94211">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42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94211">
                                            <p:txEl>
                                              <p:pRg st="2" end="2"/>
                                            </p:txEl>
                                          </p:spTgt>
                                        </p:tgtEl>
                                        <p:attrNameLst>
                                          <p:attrName>style.visibility</p:attrName>
                                        </p:attrNameLst>
                                      </p:cBhvr>
                                      <p:to>
                                        <p:strVal val="visible"/>
                                      </p:to>
                                    </p:set>
                                    <p:anim calcmode="lin" valueType="num">
                                      <p:cBhvr additive="base">
                                        <p:cTn id="23" dur="500" fill="hold"/>
                                        <p:tgtEl>
                                          <p:spTgt spid="94211">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421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58EAEDED-829E-8767-5B2A-E8BB56B08247}"/>
              </a:ext>
            </a:extLst>
          </p:cNvPr>
          <p:cNvSpPr>
            <a:spLocks noGrp="1" noChangeArrowheads="1"/>
          </p:cNvSpPr>
          <p:nvPr>
            <p:ph type="title"/>
          </p:nvPr>
        </p:nvSpPr>
        <p:spPr>
          <a:xfrm>
            <a:off x="1150938" y="333375"/>
            <a:ext cx="7793037" cy="865188"/>
          </a:xfrm>
        </p:spPr>
        <p:txBody>
          <a:bodyPr/>
          <a:lstStyle/>
          <a:p>
            <a:pPr algn="ctr" eaLnBrk="1" hangingPunct="1">
              <a:defRPr/>
            </a:pPr>
            <a:r>
              <a:rPr 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1)8086</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最大模式典型配置</a:t>
            </a:r>
            <a:r>
              <a:rPr lang="zh-CN" altLang="en-US" b="1">
                <a:solidFill>
                  <a:schemeClr val="tx1"/>
                </a:solidFill>
                <a:latin typeface="Times New Roman" panose="02020603050405020304" pitchFamily="18" charset="0"/>
              </a:rPr>
              <a:t> </a:t>
            </a:r>
          </a:p>
        </p:txBody>
      </p:sp>
      <p:pic>
        <p:nvPicPr>
          <p:cNvPr id="108546" name="Picture 3">
            <a:extLst>
              <a:ext uri="{FF2B5EF4-FFF2-40B4-BE49-F238E27FC236}">
                <a16:creationId xmlns:a16="http://schemas.microsoft.com/office/drawing/2014/main" id="{6CF59D18-7F70-4FA7-EACF-5CCF5250EA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538" y="1484313"/>
            <a:ext cx="4319587" cy="506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360A67FE-5937-C708-3ADF-C33BDA321BE2}"/>
              </a:ext>
            </a:extLst>
          </p:cNvPr>
          <p:cNvSpPr>
            <a:spLocks noGrp="1" noChangeArrowheads="1"/>
          </p:cNvSpPr>
          <p:nvPr>
            <p:ph type="title"/>
          </p:nvPr>
        </p:nvSpPr>
        <p:spPr/>
        <p:txBody>
          <a:bodyPr/>
          <a:lstStyle/>
          <a:p>
            <a:pPr algn="ctr" eaLnBrk="1" hangingPunct="1">
              <a:defRPr/>
            </a:pP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2)8288</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总线控制器主要引脚信号</a:t>
            </a:r>
          </a:p>
        </p:txBody>
      </p:sp>
      <p:pic>
        <p:nvPicPr>
          <p:cNvPr id="109570" name="Picture 3">
            <a:extLst>
              <a:ext uri="{FF2B5EF4-FFF2-40B4-BE49-F238E27FC236}">
                <a16:creationId xmlns:a16="http://schemas.microsoft.com/office/drawing/2014/main" id="{2F190AF8-566B-CA5F-E72B-4CAB1D2100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0475" y="1773238"/>
            <a:ext cx="69977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5D0038B8-B1CA-FEAF-FC6B-AD5419D97C4A}"/>
              </a:ext>
            </a:extLst>
          </p:cNvPr>
          <p:cNvSpPr>
            <a:spLocks noGrp="1" noChangeArrowheads="1"/>
          </p:cNvSpPr>
          <p:nvPr>
            <p:ph type="title"/>
          </p:nvPr>
        </p:nvSpPr>
        <p:spPr/>
        <p:txBody>
          <a:bodyPr/>
          <a:lstStyle/>
          <a:p>
            <a:pPr algn="ctr" eaLnBrk="1" hangingPunct="1">
              <a:defRPr/>
            </a:pPr>
            <a:r>
              <a:rPr lang="en-US" altLang="zh-CN"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2.1.6 8086/8088</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sym typeface="Arial" panose="020B0604020202020204" pitchFamily="34" charset="0"/>
              </a:rPr>
              <a:t>的操作和时序</a:t>
            </a:r>
          </a:p>
        </p:txBody>
      </p:sp>
      <p:sp>
        <p:nvSpPr>
          <p:cNvPr id="110594" name="Rectangle 3">
            <a:extLst>
              <a:ext uri="{FF2B5EF4-FFF2-40B4-BE49-F238E27FC236}">
                <a16:creationId xmlns:a16="http://schemas.microsoft.com/office/drawing/2014/main" id="{FAE6BE2A-49EB-32AE-B13B-3BDEBF62442B}"/>
              </a:ext>
            </a:extLst>
          </p:cNvPr>
          <p:cNvSpPr>
            <a:spLocks noGrp="1" noChangeArrowheads="1"/>
          </p:cNvSpPr>
          <p:nvPr>
            <p:ph idx="1"/>
          </p:nvPr>
        </p:nvSpPr>
        <p:spPr/>
        <p:txBody>
          <a:bodyPr/>
          <a:lstStyle/>
          <a:p>
            <a:pPr eaLnBrk="1" hangingPunct="1">
              <a:buFont typeface="Wingdings" panose="05000000000000000000" pitchFamily="2" charset="2"/>
              <a:buNone/>
            </a:pPr>
            <a:r>
              <a:rPr lang="zh-CN" altLang="en-US" sz="3600">
                <a:latin typeface="楷体_GB2312" pitchFamily="1" charset="-122"/>
                <a:ea typeface="楷体_GB2312" pitchFamily="1" charset="-122"/>
              </a:rPr>
              <a:t>本小节内容：</a:t>
            </a:r>
          </a:p>
          <a:p>
            <a:pPr lvl="1" eaLnBrk="1" hangingPunct="1"/>
            <a:r>
              <a:rPr lang="zh-CN" altLang="en-US" sz="3600">
                <a:latin typeface="楷体_GB2312" pitchFamily="1" charset="-122"/>
                <a:ea typeface="楷体_GB2312" pitchFamily="1" charset="-122"/>
              </a:rPr>
              <a:t>系统的复位和启动操作</a:t>
            </a:r>
          </a:p>
          <a:p>
            <a:pPr lvl="1" eaLnBrk="1" hangingPunct="1"/>
            <a:r>
              <a:rPr lang="zh-CN" altLang="en-US" sz="3600">
                <a:latin typeface="楷体_GB2312" pitchFamily="1" charset="-122"/>
                <a:ea typeface="楷体_GB2312" pitchFamily="1" charset="-122"/>
              </a:rPr>
              <a:t>总线读/写操作 </a:t>
            </a:r>
          </a:p>
        </p:txBody>
      </p:sp>
    </p:spTree>
  </p:cSld>
  <p:clrMapOvr>
    <a:masterClrMapping/>
  </p:clrMapOvr>
  <p:transition>
    <p:rand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0AFF29CA-4E37-31AE-20E7-D565A0A4CEE6}"/>
              </a:ext>
            </a:extLst>
          </p:cNvPr>
          <p:cNvSpPr>
            <a:spLocks noGrp="1" noChangeArrowheads="1"/>
          </p:cNvSpPr>
          <p:nvPr>
            <p:ph type="title"/>
          </p:nvPr>
        </p:nvSpPr>
        <p:spPr/>
        <p:txBody>
          <a:bodyPr/>
          <a:lstStyle/>
          <a:p>
            <a:pPr algn="ctr" eaLnBrk="1" hangingPunct="1">
              <a:defRPr/>
            </a:pP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1</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.系统的复位和启动操作</a:t>
            </a:r>
          </a:p>
        </p:txBody>
      </p:sp>
      <p:sp>
        <p:nvSpPr>
          <p:cNvPr id="98307" name="Rectangle 3">
            <a:extLst>
              <a:ext uri="{FF2B5EF4-FFF2-40B4-BE49-F238E27FC236}">
                <a16:creationId xmlns:a16="http://schemas.microsoft.com/office/drawing/2014/main" id="{269962CE-0C8C-F668-38BD-F48C67D33871}"/>
              </a:ext>
            </a:extLst>
          </p:cNvPr>
          <p:cNvSpPr>
            <a:spLocks noGrp="1" noChangeArrowheads="1"/>
          </p:cNvSpPr>
          <p:nvPr>
            <p:ph idx="1"/>
          </p:nvPr>
        </p:nvSpPr>
        <p:spPr>
          <a:xfrm>
            <a:off x="468313" y="1628775"/>
            <a:ext cx="7921625" cy="3960813"/>
          </a:xfrm>
        </p:spPr>
        <p:txBody>
          <a:bodyPr/>
          <a:lstStyle/>
          <a:p>
            <a:pPr eaLnBrk="1" hangingPunct="1">
              <a:buFont typeface="Wingdings" panose="05000000000000000000" pitchFamily="2" charset="2"/>
              <a:buChar char="Ø"/>
            </a:pPr>
            <a:r>
              <a:rPr lang="en-US" altLang="zh-CN" sz="2800">
                <a:latin typeface="Times New Roman" panose="02020603050405020304" pitchFamily="18" charset="0"/>
                <a:ea typeface="楷体_GB2312" pitchFamily="1" charset="-122"/>
              </a:rPr>
              <a:t>RESET</a:t>
            </a:r>
            <a:r>
              <a:rPr lang="zh-CN" altLang="en-US" sz="2800">
                <a:latin typeface="Times New Roman" panose="02020603050405020304" pitchFamily="18" charset="0"/>
                <a:ea typeface="楷体_GB2312" pitchFamily="1" charset="-122"/>
              </a:rPr>
              <a:t>引脚至少维持</a:t>
            </a:r>
            <a:r>
              <a:rPr lang="zh-CN" altLang="en-US" sz="2800">
                <a:solidFill>
                  <a:schemeClr val="hlink"/>
                </a:solidFill>
                <a:latin typeface="Times New Roman" panose="02020603050405020304" pitchFamily="18" charset="0"/>
                <a:ea typeface="楷体_GB2312" pitchFamily="1" charset="-122"/>
              </a:rPr>
              <a:t>4个时钟周期的高电平信号</a:t>
            </a:r>
            <a:r>
              <a:rPr lang="zh-CN" altLang="en-US" sz="2800">
                <a:latin typeface="Times New Roman" panose="02020603050405020304" pitchFamily="18" charset="0"/>
                <a:ea typeface="楷体_GB2312" pitchFamily="1" charset="-122"/>
              </a:rPr>
              <a:t>时，8086/8088复位。如果是初次加电引起的复位，则要求维持不小于50</a:t>
            </a:r>
            <a:r>
              <a:rPr lang="en-US" altLang="zh-CN" sz="2800">
                <a:latin typeface="Times New Roman" panose="02020603050405020304" pitchFamily="18" charset="0"/>
                <a:ea typeface="楷体_GB2312" pitchFamily="1" charset="-122"/>
              </a:rPr>
              <a:t>μs</a:t>
            </a:r>
            <a:r>
              <a:rPr lang="zh-CN" altLang="en-US" sz="2800">
                <a:latin typeface="Times New Roman" panose="02020603050405020304" pitchFamily="18" charset="0"/>
                <a:ea typeface="楷体_GB2312" pitchFamily="1" charset="-122"/>
              </a:rPr>
              <a:t>的高电平。</a:t>
            </a:r>
          </a:p>
          <a:p>
            <a:pPr eaLnBrk="1" hangingPunct="1">
              <a:buFont typeface="Wingdings" panose="05000000000000000000" pitchFamily="2" charset="2"/>
              <a:buChar char="Ø"/>
            </a:pPr>
            <a:r>
              <a:rPr lang="zh-CN" altLang="en-US" sz="2800">
                <a:latin typeface="Times New Roman" panose="02020603050405020304" pitchFamily="18" charset="0"/>
                <a:ea typeface="楷体_GB2312" pitchFamily="1" charset="-122"/>
              </a:rPr>
              <a:t>8086/8088复位后将从内存的</a:t>
            </a:r>
            <a:r>
              <a:rPr lang="en-US" altLang="zh-CN" sz="2800">
                <a:solidFill>
                  <a:schemeClr val="hlink"/>
                </a:solidFill>
                <a:latin typeface="Times New Roman" panose="02020603050405020304" pitchFamily="18" charset="0"/>
                <a:ea typeface="楷体_GB2312" pitchFamily="1" charset="-122"/>
              </a:rPr>
              <a:t>FFFF0H</a:t>
            </a:r>
            <a:r>
              <a:rPr lang="zh-CN" altLang="en-US" sz="2800">
                <a:latin typeface="Times New Roman" panose="02020603050405020304" pitchFamily="18" charset="0"/>
                <a:ea typeface="楷体_GB2312" pitchFamily="1" charset="-122"/>
              </a:rPr>
              <a:t>处开始执行指令。因此，一般在该处放一条无条件转移指令，转移到系统程序的入口处。这样系统一旦被启动，便自动进入系统程序。</a:t>
            </a:r>
            <a:endParaRPr lang="zh-CN" altLang="en-US" sz="28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8307">
                                            <p:txEl>
                                              <p:pRg st="0" end="0"/>
                                            </p:txEl>
                                          </p:spTgt>
                                        </p:tgtEl>
                                        <p:attrNameLst>
                                          <p:attrName>style.visibility</p:attrName>
                                        </p:attrNameLst>
                                      </p:cBhvr>
                                      <p:to>
                                        <p:strVal val="visible"/>
                                      </p:to>
                                    </p:set>
                                    <p:anim calcmode="lin" valueType="num">
                                      <p:cBhvr additive="base">
                                        <p:cTn id="7" dur="500" fill="hold"/>
                                        <p:tgtEl>
                                          <p:spTgt spid="983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3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8307">
                                            <p:txEl>
                                              <p:pRg st="1" end="1"/>
                                            </p:txEl>
                                          </p:spTgt>
                                        </p:tgtEl>
                                        <p:attrNameLst>
                                          <p:attrName>style.visibility</p:attrName>
                                        </p:attrNameLst>
                                      </p:cBhvr>
                                      <p:to>
                                        <p:strVal val="visible"/>
                                      </p:to>
                                    </p:set>
                                    <p:anim calcmode="lin" valueType="num">
                                      <p:cBhvr additive="base">
                                        <p:cTn id="13" dur="500" fill="hold"/>
                                        <p:tgtEl>
                                          <p:spTgt spid="983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30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90A40FFF-4757-0A53-43B9-D6220AEC72FC}"/>
              </a:ext>
            </a:extLst>
          </p:cNvPr>
          <p:cNvSpPr>
            <a:spLocks noGrp="1" noChangeArrowheads="1"/>
          </p:cNvSpPr>
          <p:nvPr>
            <p:ph type="title"/>
          </p:nvPr>
        </p:nvSpPr>
        <p:spPr/>
        <p:txBody>
          <a:bodyPr/>
          <a:lstStyle/>
          <a:p>
            <a:pPr algn="ctr" eaLnBrk="1" hangingPunct="1">
              <a:defRPr/>
            </a:pP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图</a:t>
            </a: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2.16 8086</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的复位操作时序</a:t>
            </a:r>
          </a:p>
        </p:txBody>
      </p:sp>
      <p:pic>
        <p:nvPicPr>
          <p:cNvPr id="112642" name="Picture 3">
            <a:extLst>
              <a:ext uri="{FF2B5EF4-FFF2-40B4-BE49-F238E27FC236}">
                <a16:creationId xmlns:a16="http://schemas.microsoft.com/office/drawing/2014/main" id="{6199C838-ADB1-259D-8800-93F9F3DCE9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557338"/>
            <a:ext cx="7056438" cy="441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94F3A13E-180E-197B-CE48-3902BF43449D}"/>
              </a:ext>
            </a:extLst>
          </p:cNvPr>
          <p:cNvSpPr>
            <a:spLocks noGrp="1" noChangeArrowheads="1"/>
          </p:cNvSpPr>
          <p:nvPr>
            <p:ph type="title"/>
          </p:nvPr>
        </p:nvSpPr>
        <p:spPr>
          <a:xfrm>
            <a:off x="1150938" y="333375"/>
            <a:ext cx="7793037" cy="865188"/>
          </a:xfrm>
        </p:spPr>
        <p:txBody>
          <a:bodyPr/>
          <a:lstStyle/>
          <a:p>
            <a:pPr algn="ctr" eaLnBrk="1" hangingPunct="1">
              <a:defRPr/>
            </a:pP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.总线读</a:t>
            </a: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写操作</a:t>
            </a:r>
          </a:p>
        </p:txBody>
      </p:sp>
      <p:sp>
        <p:nvSpPr>
          <p:cNvPr id="100355" name="Rectangle 3">
            <a:extLst>
              <a:ext uri="{FF2B5EF4-FFF2-40B4-BE49-F238E27FC236}">
                <a16:creationId xmlns:a16="http://schemas.microsoft.com/office/drawing/2014/main" id="{C276F2AC-5E83-3DBE-5B03-97B3359D2436}"/>
              </a:ext>
            </a:extLst>
          </p:cNvPr>
          <p:cNvSpPr>
            <a:spLocks noGrp="1" noChangeArrowheads="1"/>
          </p:cNvSpPr>
          <p:nvPr>
            <p:ph idx="1"/>
          </p:nvPr>
        </p:nvSpPr>
        <p:spPr>
          <a:xfrm>
            <a:off x="539750" y="1557338"/>
            <a:ext cx="8283575" cy="1800225"/>
          </a:xfrm>
        </p:spPr>
        <p:txBody>
          <a:bodyPr/>
          <a:lstStyle/>
          <a:p>
            <a:pPr eaLnBrk="1" hangingPunct="1">
              <a:buFont typeface="Wingdings" panose="05000000000000000000" pitchFamily="2" charset="2"/>
              <a:buNone/>
            </a:pPr>
            <a:r>
              <a:rPr lang="zh-CN" altLang="en-US" sz="2800">
                <a:latin typeface="Times New Roman" panose="02020603050405020304" pitchFamily="18" charset="0"/>
                <a:ea typeface="楷体_GB2312" pitchFamily="1" charset="-122"/>
              </a:rPr>
              <a:t>可以分为：</a:t>
            </a:r>
          </a:p>
          <a:p>
            <a:pPr eaLnBrk="1" hangingPunct="1"/>
            <a:r>
              <a:rPr lang="zh-CN" altLang="en-US" sz="2800">
                <a:latin typeface="Times New Roman" panose="02020603050405020304" pitchFamily="18" charset="0"/>
                <a:ea typeface="楷体_GB2312" pitchFamily="1" charset="-122"/>
              </a:rPr>
              <a:t>总线读操作</a:t>
            </a:r>
            <a:r>
              <a:rPr lang="en-US" altLang="zh-CN" sz="2800">
                <a:latin typeface="Times New Roman" panose="02020603050405020304" pitchFamily="18" charset="0"/>
                <a:ea typeface="楷体_GB2312" pitchFamily="1" charset="-122"/>
              </a:rPr>
              <a:t>(CPU</a:t>
            </a:r>
            <a:r>
              <a:rPr lang="zh-CN" altLang="en-US" sz="2800">
                <a:latin typeface="Times New Roman" panose="02020603050405020304" pitchFamily="18" charset="0"/>
                <a:ea typeface="楷体_GB2312" pitchFamily="1" charset="-122"/>
              </a:rPr>
              <a:t>从存储器或</a:t>
            </a:r>
            <a:r>
              <a:rPr lang="en-US" altLang="zh-CN" sz="2800">
                <a:latin typeface="Times New Roman" panose="02020603050405020304" pitchFamily="18" charset="0"/>
                <a:ea typeface="楷体_GB2312" pitchFamily="1" charset="-122"/>
              </a:rPr>
              <a:t>I/O</a:t>
            </a:r>
            <a:r>
              <a:rPr lang="zh-CN" altLang="en-US" sz="2800">
                <a:latin typeface="Times New Roman" panose="02020603050405020304" pitchFamily="18" charset="0"/>
                <a:ea typeface="楷体_GB2312" pitchFamily="1" charset="-122"/>
              </a:rPr>
              <a:t>端口读取数据</a:t>
            </a:r>
            <a:r>
              <a:rPr lang="en-US" altLang="zh-CN" sz="2800">
                <a:latin typeface="Times New Roman" panose="02020603050405020304" pitchFamily="18" charset="0"/>
                <a:ea typeface="楷体_GB2312" pitchFamily="1" charset="-122"/>
              </a:rPr>
              <a:t>)</a:t>
            </a:r>
          </a:p>
          <a:p>
            <a:pPr eaLnBrk="1" hangingPunct="1"/>
            <a:r>
              <a:rPr lang="zh-CN" altLang="en-US" sz="2800">
                <a:latin typeface="Times New Roman" panose="02020603050405020304" pitchFamily="18" charset="0"/>
                <a:ea typeface="楷体_GB2312" pitchFamily="1" charset="-122"/>
              </a:rPr>
              <a:t>总线写操作</a:t>
            </a:r>
            <a:r>
              <a:rPr lang="en-US" altLang="zh-CN" sz="2800">
                <a:latin typeface="Times New Roman" panose="02020603050405020304" pitchFamily="18" charset="0"/>
                <a:ea typeface="楷体_GB2312" pitchFamily="1" charset="-122"/>
              </a:rPr>
              <a:t>(CPU</a:t>
            </a:r>
            <a:r>
              <a:rPr lang="zh-CN" altLang="en-US" sz="2800">
                <a:latin typeface="Times New Roman" panose="02020603050405020304" pitchFamily="18" charset="0"/>
                <a:ea typeface="楷体_GB2312" pitchFamily="1" charset="-122"/>
              </a:rPr>
              <a:t>将数据写入存储器或</a:t>
            </a:r>
            <a:r>
              <a:rPr lang="en-US" altLang="zh-CN" sz="2800">
                <a:latin typeface="Times New Roman" panose="02020603050405020304" pitchFamily="18" charset="0"/>
                <a:ea typeface="楷体_GB2312" pitchFamily="1" charset="-122"/>
              </a:rPr>
              <a:t>I/O</a:t>
            </a:r>
            <a:r>
              <a:rPr lang="zh-CN" altLang="en-US" sz="2800">
                <a:latin typeface="Times New Roman" panose="02020603050405020304" pitchFamily="18" charset="0"/>
                <a:ea typeface="楷体_GB2312" pitchFamily="1" charset="-122"/>
              </a:rPr>
              <a:t>端口</a:t>
            </a:r>
            <a:r>
              <a:rPr lang="en-US" altLang="zh-CN" sz="2800">
                <a:latin typeface="Times New Roman" panose="02020603050405020304" pitchFamily="18" charset="0"/>
                <a:ea typeface="楷体_GB2312" pitchFamily="1" charset="-122"/>
              </a:rPr>
              <a:t>)</a:t>
            </a:r>
            <a:endParaRPr lang="zh-CN" altLang="en-US" sz="2800">
              <a:latin typeface="Times New Roman" panose="02020603050405020304" pitchFamily="18" charset="0"/>
              <a:ea typeface="楷体_GB2312" pitchFamily="1"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anim calcmode="lin" valueType="num">
                                      <p:cBhvr additive="base">
                                        <p:cTn id="7" dur="500" fill="hold"/>
                                        <p:tgtEl>
                                          <p:spTgt spid="1003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03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0355">
                                            <p:txEl>
                                              <p:pRg st="1" end="1"/>
                                            </p:txEl>
                                          </p:spTgt>
                                        </p:tgtEl>
                                        <p:attrNameLst>
                                          <p:attrName>style.visibility</p:attrName>
                                        </p:attrNameLst>
                                      </p:cBhvr>
                                      <p:to>
                                        <p:strVal val="visible"/>
                                      </p:to>
                                    </p:set>
                                    <p:anim calcmode="lin" valueType="num">
                                      <p:cBhvr additive="base">
                                        <p:cTn id="13" dur="500" fill="hold"/>
                                        <p:tgtEl>
                                          <p:spTgt spid="10035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03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0355">
                                            <p:txEl>
                                              <p:pRg st="2" end="2"/>
                                            </p:txEl>
                                          </p:spTgt>
                                        </p:tgtEl>
                                        <p:attrNameLst>
                                          <p:attrName>style.visibility</p:attrName>
                                        </p:attrNameLst>
                                      </p:cBhvr>
                                      <p:to>
                                        <p:strVal val="visible"/>
                                      </p:to>
                                    </p:set>
                                    <p:anim calcmode="lin" valueType="num">
                                      <p:cBhvr additive="base">
                                        <p:cTn id="19" dur="500" fill="hold"/>
                                        <p:tgtEl>
                                          <p:spTgt spid="10035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035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2E5AFF73-5015-865C-FDAB-09CD46E07C4D}"/>
              </a:ext>
            </a:extLst>
          </p:cNvPr>
          <p:cNvSpPr>
            <a:spLocks noGrp="1" noChangeArrowheads="1"/>
          </p:cNvSpPr>
          <p:nvPr>
            <p:ph type="title"/>
          </p:nvPr>
        </p:nvSpPr>
        <p:spPr/>
        <p:txBody>
          <a:bodyPr/>
          <a:lstStyle/>
          <a:p>
            <a:pPr algn="ctr" eaLnBrk="1" hangingPunct="1">
              <a:defRPr/>
            </a:pPr>
            <a:r>
              <a:rPr lang="en-US" altLang="zh-CN"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(1)</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最小模式下总线读周期</a:t>
            </a:r>
          </a:p>
        </p:txBody>
      </p:sp>
      <p:pic>
        <p:nvPicPr>
          <p:cNvPr id="114690" name="Picture 671" descr="无标题">
            <a:extLst>
              <a:ext uri="{FF2B5EF4-FFF2-40B4-BE49-F238E27FC236}">
                <a16:creationId xmlns:a16="http://schemas.microsoft.com/office/drawing/2014/main" id="{80C33525-D827-AE85-7AD3-5959EE9A99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5300" y="1270000"/>
            <a:ext cx="6048375" cy="477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691" name="Text Box 4">
            <a:extLst>
              <a:ext uri="{FF2B5EF4-FFF2-40B4-BE49-F238E27FC236}">
                <a16:creationId xmlns:a16="http://schemas.microsoft.com/office/drawing/2014/main" id="{0F5BF44D-D15F-DFB3-39E9-F33DE75D0C00}"/>
              </a:ext>
            </a:extLst>
          </p:cNvPr>
          <p:cNvSpPr txBox="1">
            <a:spLocks noChangeArrowheads="1"/>
          </p:cNvSpPr>
          <p:nvPr/>
        </p:nvSpPr>
        <p:spPr bwMode="auto">
          <a:xfrm>
            <a:off x="2844800" y="6165850"/>
            <a:ext cx="47196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400" b="1" baseline="0">
                <a:latin typeface="黑体" panose="02010609060101010101" pitchFamily="49" charset="-122"/>
                <a:ea typeface="黑体" panose="02010609060101010101" pitchFamily="49" charset="-122"/>
                <a:sym typeface="黑体" panose="02010609060101010101" pitchFamily="49" charset="-122"/>
              </a:rPr>
              <a:t>图</a:t>
            </a:r>
            <a:r>
              <a:rPr lang="en-US" altLang="zh-CN" sz="1400" b="1" baseline="0">
                <a:latin typeface="黑体" panose="02010609060101010101" pitchFamily="49" charset="-122"/>
                <a:ea typeface="黑体" panose="02010609060101010101" pitchFamily="49" charset="-122"/>
                <a:sym typeface="黑体" panose="02010609060101010101" pitchFamily="49" charset="-122"/>
              </a:rPr>
              <a:t>2.17    8086/8088 CPU</a:t>
            </a:r>
            <a:r>
              <a:rPr lang="zh-CN" altLang="en-US" sz="1400" b="1" baseline="0">
                <a:latin typeface="黑体" panose="02010609060101010101" pitchFamily="49" charset="-122"/>
                <a:ea typeface="黑体" panose="02010609060101010101" pitchFamily="49" charset="-122"/>
                <a:sym typeface="黑体" panose="02010609060101010101" pitchFamily="49" charset="-122"/>
              </a:rPr>
              <a:t>最小模式下总线读周期时序</a:t>
            </a:r>
            <a:endParaRPr lang="zh-CN" altLang="en-US" sz="1400" b="1">
              <a:latin typeface="黑体" panose="02010609060101010101" pitchFamily="49" charset="-122"/>
              <a:ea typeface="黑体" panose="02010609060101010101" pitchFamily="49" charset="-122"/>
              <a:sym typeface="黑体" panose="02010609060101010101" pitchFamily="49" charset="-122"/>
            </a:endParaRPr>
          </a:p>
        </p:txBody>
      </p:sp>
    </p:spTree>
  </p:cSld>
  <p:clrMapOvr>
    <a:masterClrMapping/>
  </p:clrMapOvr>
  <p:transition>
    <p:random/>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5AA8A76C-E611-85B6-59B9-0388B7D3FD48}"/>
              </a:ext>
            </a:extLst>
          </p:cNvPr>
          <p:cNvSpPr>
            <a:spLocks noGrp="1" noChangeArrowheads="1"/>
          </p:cNvSpPr>
          <p:nvPr>
            <p:ph type="title"/>
          </p:nvPr>
        </p:nvSpPr>
        <p:spPr/>
        <p:txBody>
          <a:bodyPr/>
          <a:lstStyle/>
          <a:p>
            <a:pPr algn="ctr" eaLnBrk="1" hangingPunct="1">
              <a:defRPr/>
            </a:pPr>
            <a:r>
              <a:rPr lang="en-US" altLang="zh-CN"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(2)</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最小模式下总线写周期</a:t>
            </a:r>
          </a:p>
        </p:txBody>
      </p:sp>
      <p:pic>
        <p:nvPicPr>
          <p:cNvPr id="115714" name="Picture 672" descr="无标题">
            <a:extLst>
              <a:ext uri="{FF2B5EF4-FFF2-40B4-BE49-F238E27FC236}">
                <a16:creationId xmlns:a16="http://schemas.microsoft.com/office/drawing/2014/main" id="{9FE19D41-9D8C-98F6-4377-8CA0355232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0475" y="1412875"/>
            <a:ext cx="6337300" cy="484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15" name="Text Box 4">
            <a:extLst>
              <a:ext uri="{FF2B5EF4-FFF2-40B4-BE49-F238E27FC236}">
                <a16:creationId xmlns:a16="http://schemas.microsoft.com/office/drawing/2014/main" id="{DDA010CF-5372-9ABD-5C11-44C953762EA2}"/>
              </a:ext>
            </a:extLst>
          </p:cNvPr>
          <p:cNvSpPr txBox="1">
            <a:spLocks noChangeArrowheads="1"/>
          </p:cNvSpPr>
          <p:nvPr/>
        </p:nvSpPr>
        <p:spPr bwMode="auto">
          <a:xfrm>
            <a:off x="2339975" y="6381750"/>
            <a:ext cx="5080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400" b="1" baseline="0">
                <a:latin typeface="黑体" panose="02010609060101010101" pitchFamily="49" charset="-122"/>
                <a:ea typeface="黑体" panose="02010609060101010101" pitchFamily="49" charset="-122"/>
                <a:sym typeface="黑体" panose="02010609060101010101" pitchFamily="49" charset="-122"/>
              </a:rPr>
              <a:t>图</a:t>
            </a:r>
            <a:r>
              <a:rPr lang="en-US" altLang="zh-CN" sz="1400" b="1" baseline="0">
                <a:latin typeface="黑体" panose="02010609060101010101" pitchFamily="49" charset="-122"/>
                <a:ea typeface="黑体" panose="02010609060101010101" pitchFamily="49" charset="-122"/>
                <a:sym typeface="黑体" panose="02010609060101010101" pitchFamily="49" charset="-122"/>
              </a:rPr>
              <a:t>2.18    8086/8088 CPU</a:t>
            </a:r>
            <a:r>
              <a:rPr lang="zh-CN" altLang="en-US" sz="1400" b="1" baseline="0">
                <a:latin typeface="黑体" panose="02010609060101010101" pitchFamily="49" charset="-122"/>
                <a:ea typeface="黑体" panose="02010609060101010101" pitchFamily="49" charset="-122"/>
                <a:sym typeface="黑体" panose="02010609060101010101" pitchFamily="49" charset="-122"/>
              </a:rPr>
              <a:t>最小模式下总线写周期时序</a:t>
            </a:r>
            <a:endParaRPr lang="zh-CN" altLang="en-US" sz="1400"/>
          </a:p>
        </p:txBody>
      </p:sp>
    </p:spTree>
  </p:cSld>
  <p:clrMapOvr>
    <a:masterClrMapping/>
  </p:clrMapOvr>
  <p:transition>
    <p:random/>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5E40E413-7D6D-EAF4-D6D2-3C8CD2A0B101}"/>
              </a:ext>
            </a:extLst>
          </p:cNvPr>
          <p:cNvSpPr>
            <a:spLocks noGrp="1" noChangeArrowheads="1"/>
          </p:cNvSpPr>
          <p:nvPr>
            <p:ph type="title"/>
          </p:nvPr>
        </p:nvSpPr>
        <p:spPr/>
        <p:txBody>
          <a:bodyPr/>
          <a:lstStyle/>
          <a:p>
            <a:pPr algn="ctr" eaLnBrk="1" hangingPunct="1">
              <a:defRPr/>
            </a:pPr>
            <a:r>
              <a:rPr lang="en-US" altLang="zh-CN"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(3)</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最大模式下的总线读操作</a:t>
            </a:r>
          </a:p>
        </p:txBody>
      </p:sp>
      <p:pic>
        <p:nvPicPr>
          <p:cNvPr id="116738" name="Picture 3">
            <a:extLst>
              <a:ext uri="{FF2B5EF4-FFF2-40B4-BE49-F238E27FC236}">
                <a16:creationId xmlns:a16="http://schemas.microsoft.com/office/drawing/2014/main" id="{65DCF492-D691-0232-50D6-DE3C1D2D06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1484313"/>
            <a:ext cx="5473700" cy="525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497C27BE-288A-3066-5527-34B4A18CE3B5}"/>
              </a:ext>
            </a:extLst>
          </p:cNvPr>
          <p:cNvSpPr>
            <a:spLocks noGrp="1" noChangeArrowheads="1"/>
          </p:cNvSpPr>
          <p:nvPr>
            <p:ph type="title"/>
          </p:nvPr>
        </p:nvSpPr>
        <p:spPr/>
        <p:txBody>
          <a:bodyPr/>
          <a:lstStyle/>
          <a:p>
            <a:pPr algn="ctr" eaLnBrk="1" hangingPunct="1">
              <a:defRPr/>
            </a:pPr>
            <a:r>
              <a:rPr lang="en-US" altLang="zh-CN"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(4)</a:t>
            </a:r>
            <a:r>
              <a:rPr lang="zh-CN" altLang="en-US"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最大模式下的总线写操作</a:t>
            </a:r>
          </a:p>
        </p:txBody>
      </p:sp>
      <p:pic>
        <p:nvPicPr>
          <p:cNvPr id="117762" name="Picture 3">
            <a:extLst>
              <a:ext uri="{FF2B5EF4-FFF2-40B4-BE49-F238E27FC236}">
                <a16:creationId xmlns:a16="http://schemas.microsoft.com/office/drawing/2014/main" id="{80817154-763B-9C59-4B3A-2224CCB7BE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1412875"/>
            <a:ext cx="5116513" cy="525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7F8F2DC6-BDDA-475F-4D44-89A5D35625A9}"/>
              </a:ext>
            </a:extLst>
          </p:cNvPr>
          <p:cNvSpPr>
            <a:spLocks noGrp="1" noChangeArrowheads="1"/>
          </p:cNvSpPr>
          <p:nvPr>
            <p:ph type="title"/>
          </p:nvPr>
        </p:nvSpPr>
        <p:spPr>
          <a:xfrm>
            <a:off x="1150938" y="476250"/>
            <a:ext cx="7793037" cy="792163"/>
          </a:xfrm>
        </p:spPr>
        <p:txBody>
          <a:bodyPr/>
          <a:lstStyle/>
          <a:p>
            <a:pPr algn="ctr" eaLnBrk="1" hangingPunct="1">
              <a:defRPr/>
            </a:pPr>
            <a:r>
              <a:rPr 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3</a:t>
            </a:r>
            <a:r>
              <a:rPr lang="zh-CN" altLang="en-US" sz="4000" b="1">
                <a:solidFill>
                  <a:schemeClr val="tx1"/>
                </a:solidFill>
                <a:effectLst>
                  <a:outerShdw blurRad="38100" dist="38100" dir="2700000" algn="tl">
                    <a:srgbClr val="C0C0C0"/>
                  </a:outerShdw>
                </a:effectLst>
                <a:latin typeface="Times New Roman" panose="02020603050405020304" pitchFamily="18" charset="0"/>
                <a:ea typeface="楷体_GB2312" pitchFamily="1" charset="-122"/>
              </a:rPr>
              <a:t>.中断响应操作</a:t>
            </a:r>
            <a:r>
              <a:rPr lang="zh-CN" altLang="en-US" b="1">
                <a:solidFill>
                  <a:schemeClr val="tx1"/>
                </a:solidFill>
                <a:latin typeface="Times New Roman" panose="02020603050405020304" pitchFamily="18" charset="0"/>
              </a:rPr>
              <a:t> </a:t>
            </a:r>
          </a:p>
        </p:txBody>
      </p:sp>
      <p:sp>
        <p:nvSpPr>
          <p:cNvPr id="118786" name="Rectangle 3">
            <a:extLst>
              <a:ext uri="{FF2B5EF4-FFF2-40B4-BE49-F238E27FC236}">
                <a16:creationId xmlns:a16="http://schemas.microsoft.com/office/drawing/2014/main" id="{B93B6223-EB86-0876-F0A2-733946EEE4EF}"/>
              </a:ext>
            </a:extLst>
          </p:cNvPr>
          <p:cNvSpPr>
            <a:spLocks noGrp="1" noChangeArrowheads="1"/>
          </p:cNvSpPr>
          <p:nvPr>
            <p:ph idx="1"/>
          </p:nvPr>
        </p:nvSpPr>
        <p:spPr>
          <a:xfrm>
            <a:off x="684213" y="1557338"/>
            <a:ext cx="7772400" cy="1584325"/>
          </a:xfrm>
        </p:spPr>
        <p:txBody>
          <a:bodyPr/>
          <a:lstStyle/>
          <a:p>
            <a:pPr marL="0" indent="0" eaLnBrk="1" hangingPunct="1">
              <a:buFont typeface="Wingdings" panose="05000000000000000000" pitchFamily="2" charset="2"/>
              <a:buNone/>
            </a:pPr>
            <a:r>
              <a:rPr lang="zh-CN" altLang="en-US" sz="2800">
                <a:latin typeface="Times New Roman" panose="02020603050405020304" pitchFamily="18" charset="0"/>
                <a:ea typeface="楷体_GB2312" pitchFamily="1" charset="-122"/>
              </a:rPr>
              <a:t>当</a:t>
            </a:r>
            <a:r>
              <a:rPr lang="en-US" altLang="zh-CN" sz="2800">
                <a:latin typeface="Times New Roman" panose="02020603050405020304" pitchFamily="18" charset="0"/>
                <a:ea typeface="楷体_GB2312" pitchFamily="1" charset="-122"/>
              </a:rPr>
              <a:t>8086/8088CPU</a:t>
            </a:r>
            <a:r>
              <a:rPr lang="zh-CN" altLang="en-US" sz="2800">
                <a:latin typeface="Times New Roman" panose="02020603050405020304" pitchFamily="18" charset="0"/>
                <a:ea typeface="楷体_GB2312" pitchFamily="1" charset="-122"/>
              </a:rPr>
              <a:t>收到外界从</a:t>
            </a:r>
            <a:r>
              <a:rPr lang="en-US" altLang="zh-CN" sz="2800">
                <a:latin typeface="Times New Roman" panose="02020603050405020304" pitchFamily="18" charset="0"/>
                <a:ea typeface="楷体_GB2312" pitchFamily="1" charset="-122"/>
              </a:rPr>
              <a:t>INTR</a:t>
            </a:r>
            <a:r>
              <a:rPr lang="zh-CN" altLang="en-US" sz="2800">
                <a:latin typeface="Times New Roman" panose="02020603050405020304" pitchFamily="18" charset="0"/>
                <a:ea typeface="楷体_GB2312" pitchFamily="1" charset="-122"/>
              </a:rPr>
              <a:t>引脚上送来的中断请求信号，并且满足</a:t>
            </a:r>
            <a:r>
              <a:rPr lang="en-US" altLang="zh-CN" sz="2800">
                <a:latin typeface="Times New Roman" panose="02020603050405020304" pitchFamily="18" charset="0"/>
                <a:ea typeface="楷体_GB2312" pitchFamily="1" charset="-122"/>
              </a:rPr>
              <a:t>IF=1</a:t>
            </a:r>
            <a:r>
              <a:rPr lang="zh-CN" altLang="en-US" sz="2800">
                <a:latin typeface="Times New Roman" panose="02020603050405020304" pitchFamily="18" charset="0"/>
                <a:ea typeface="楷体_GB2312" pitchFamily="1" charset="-122"/>
              </a:rPr>
              <a:t>时，</a:t>
            </a:r>
            <a:r>
              <a:rPr lang="en-US" altLang="zh-CN" sz="2800">
                <a:latin typeface="Times New Roman" panose="02020603050405020304" pitchFamily="18" charset="0"/>
                <a:ea typeface="楷体_GB2312" pitchFamily="1" charset="-122"/>
              </a:rPr>
              <a:t>CPU</a:t>
            </a:r>
            <a:r>
              <a:rPr lang="zh-CN" altLang="en-US" sz="2800">
                <a:latin typeface="Times New Roman" panose="02020603050405020304" pitchFamily="18" charset="0"/>
                <a:ea typeface="楷体_GB2312" pitchFamily="1" charset="-122"/>
              </a:rPr>
              <a:t>在执行完当前指令后，便执行一个中断响应时序。 </a:t>
            </a:r>
          </a:p>
        </p:txBody>
      </p:sp>
      <p:pic>
        <p:nvPicPr>
          <p:cNvPr id="118787" name="Picture 4">
            <a:extLst>
              <a:ext uri="{FF2B5EF4-FFF2-40B4-BE49-F238E27FC236}">
                <a16:creationId xmlns:a16="http://schemas.microsoft.com/office/drawing/2014/main" id="{B19343A2-A443-35AC-EE58-B04494087A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2997200"/>
            <a:ext cx="5475288"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WVlZjkwNGE4NzkwNjI4MTBlMjBkZjViODNlMjBiNWYifQ=="/>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20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20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Phoenix</Template>
  <TotalTime>0</TotalTime>
  <Pages>0</Pages>
  <Words>5297</Words>
  <Characters>0</Characters>
  <Application>Microsoft Office PowerPoint</Application>
  <DocSecurity>0</DocSecurity>
  <PresentationFormat>全屏显示(4:3)</PresentationFormat>
  <Lines>0</Lines>
  <Paragraphs>348</Paragraphs>
  <Slides>102</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102</vt:i4>
      </vt:variant>
    </vt:vector>
  </HeadingPairs>
  <TitlesOfParts>
    <vt:vector size="117" baseType="lpstr">
      <vt:lpstr>Arial</vt:lpstr>
      <vt:lpstr>宋体</vt:lpstr>
      <vt:lpstr>Wingdings</vt:lpstr>
      <vt:lpstr>Times New Roman</vt:lpstr>
      <vt:lpstr>Tahoma</vt:lpstr>
      <vt:lpstr>Calibri</vt:lpstr>
      <vt:lpstr>楷体_GB2312</vt:lpstr>
      <vt:lpstr>新宋体</vt:lpstr>
      <vt:lpstr>黑体</vt:lpstr>
      <vt:lpstr>微软雅黑</vt:lpstr>
      <vt:lpstr>Arial Unicode MS</vt:lpstr>
      <vt:lpstr>Blends</vt:lpstr>
      <vt:lpstr>PBrush</vt:lpstr>
      <vt:lpstr>Equation.3</vt:lpstr>
      <vt:lpstr>Equation.DSMT4</vt:lpstr>
      <vt:lpstr>第2章 16位和32位微处理器</vt:lpstr>
      <vt:lpstr>2.1  16位微处理器8086/8088 </vt:lpstr>
      <vt:lpstr>2.1.0 简介</vt:lpstr>
      <vt:lpstr>2.1.1  8086/8088 CPU的内部结构 </vt:lpstr>
      <vt:lpstr>1.总线接口部件BIU</vt:lpstr>
      <vt:lpstr>1)段寄存器</vt:lpstr>
      <vt:lpstr>2)地址加法器</vt:lpstr>
      <vt:lpstr>3)指令预取队列(指令队列缓冲器)</vt:lpstr>
      <vt:lpstr>4)总线控制逻辑</vt:lpstr>
      <vt:lpstr>2.执行部件EU </vt:lpstr>
      <vt:lpstr>1)算术逻辑部件ALU</vt:lpstr>
      <vt:lpstr>2)标志寄存器FR</vt:lpstr>
      <vt:lpstr>3)通用寄存器组</vt:lpstr>
      <vt:lpstr>4)数据暂存寄存器</vt:lpstr>
      <vt:lpstr>5)EU控制电路</vt:lpstr>
      <vt:lpstr>3.BIU和EU的流水线管理 </vt:lpstr>
      <vt:lpstr>3.BIU和EU的流水线管理(续)</vt:lpstr>
      <vt:lpstr>2.1.2  8086/8088 CPU的寄存器结构</vt:lpstr>
      <vt:lpstr>1.通用寄存器 </vt:lpstr>
      <vt:lpstr>1)数据寄存器</vt:lpstr>
      <vt:lpstr>2)地址指针寄存器和变址寄存器</vt:lpstr>
      <vt:lpstr>表2.1 寄存器的隐含使用</vt:lpstr>
      <vt:lpstr>2.指令指针寄存器</vt:lpstr>
      <vt:lpstr>3.标志寄存器(16位)</vt:lpstr>
      <vt:lpstr>1)状态标志位(6位)</vt:lpstr>
      <vt:lpstr>进位标志CF(Carry Flag)</vt:lpstr>
      <vt:lpstr>奇偶标志PF(Parity Flag)</vt:lpstr>
      <vt:lpstr>辅助进位标志AF(Auxiliary carrry Flag)</vt:lpstr>
      <vt:lpstr>零标志ZF(Zero Flag)</vt:lpstr>
      <vt:lpstr>符号标志SF(Sign Flag)</vt:lpstr>
      <vt:lpstr>溢出标志OF(Overflow Flag)</vt:lpstr>
      <vt:lpstr>2)控制标志位(3位)</vt:lpstr>
      <vt:lpstr>中断允许标志IF(Interrupt Enable Flag)</vt:lpstr>
      <vt:lpstr>方向标志DF(Direction Flag)</vt:lpstr>
      <vt:lpstr>跟踪(陷阱)标志TF(Trap Flag)</vt:lpstr>
      <vt:lpstr>4.段寄存器</vt:lpstr>
      <vt:lpstr>1)存储器分段的概念</vt:lpstr>
      <vt:lpstr>图2.4  逻辑分段的示意图</vt:lpstr>
      <vt:lpstr>2)逻辑地址和物理地址</vt:lpstr>
      <vt:lpstr>物理地址的形成</vt:lpstr>
      <vt:lpstr>例题</vt:lpstr>
      <vt:lpstr>注意</vt:lpstr>
      <vt:lpstr>3)堆栈</vt:lpstr>
      <vt:lpstr>PowerPoint 演示文稿</vt:lpstr>
      <vt:lpstr>4)段寄存器的使用</vt:lpstr>
      <vt:lpstr>图2.7 段寄存器的使用情况</vt:lpstr>
      <vt:lpstr>表2.2  段寄存器使用时的一些基本约定</vt:lpstr>
      <vt:lpstr>2.1.3 时钟周期、总线周期的概念</vt:lpstr>
      <vt:lpstr>1.时钟周期</vt:lpstr>
      <vt:lpstr>2.总线周期与指令周期</vt:lpstr>
      <vt:lpstr>2.总线周期与指令周期(续)</vt:lpstr>
      <vt:lpstr>图2.8  典型的8086总线周期序列</vt:lpstr>
      <vt:lpstr>2.1.4  8086/8088 CPU的引脚信号和功能 </vt:lpstr>
      <vt:lpstr>图2.9 8086/8088CPU的引脚信号</vt:lpstr>
      <vt:lpstr> 1.8086最小模式下引脚的功能定义 </vt:lpstr>
      <vt:lpstr>AD15～AD0</vt:lpstr>
      <vt:lpstr>A19/S6～A16/S3</vt:lpstr>
      <vt:lpstr>表2.3  S4和S3的组合</vt:lpstr>
      <vt:lpstr>PowerPoint 演示文稿</vt:lpstr>
      <vt:lpstr>ALE</vt:lpstr>
      <vt:lpstr>RESET</vt:lpstr>
      <vt:lpstr>READY</vt:lpstr>
      <vt:lpstr>PowerPoint 演示文稿</vt:lpstr>
      <vt:lpstr>PowerPoint 演示文稿</vt:lpstr>
      <vt:lpstr>PowerPoint 演示文稿</vt:lpstr>
      <vt:lpstr>NMI</vt:lpstr>
      <vt:lpstr>INTR</vt:lpstr>
      <vt:lpstr>PowerPoint 演示文稿</vt:lpstr>
      <vt:lpstr>HOLD、 HLDA</vt:lpstr>
      <vt:lpstr>PowerPoint 演示文稿</vt:lpstr>
      <vt:lpstr>PowerPoint 演示文稿</vt:lpstr>
      <vt:lpstr>PowerPoint 演示文稿</vt:lpstr>
      <vt:lpstr>CLK</vt:lpstr>
      <vt:lpstr>VCC、GND</vt:lpstr>
      <vt:lpstr>2.8086最大模式下引脚的功能定义</vt:lpstr>
      <vt:lpstr>PowerPoint 演示文稿</vt:lpstr>
      <vt:lpstr>QS1、QS0</vt:lpstr>
      <vt:lpstr>PowerPoint 演示文稿</vt:lpstr>
      <vt:lpstr>PowerPoint 演示文稿</vt:lpstr>
      <vt:lpstr>3.8088的引脚特性</vt:lpstr>
      <vt:lpstr>8088 CPU在最小模式下总线周期状态</vt:lpstr>
      <vt:lpstr>2.1.4 8086/8088系统的工作模式 </vt:lpstr>
      <vt:lpstr>1.最小模式组成 </vt:lpstr>
      <vt:lpstr>图2.10 8086最小模式下的典型配置 </vt:lpstr>
      <vt:lpstr>1)时钟发生器8284A</vt:lpstr>
      <vt:lpstr>图2.11 8284A与8086的连接图</vt:lpstr>
      <vt:lpstr>2)地址锁存器8282</vt:lpstr>
      <vt:lpstr>图2.12 8282锁存器与8086的连接</vt:lpstr>
      <vt:lpstr>3)数据收发器8286</vt:lpstr>
      <vt:lpstr>图2.13 8286收发器和8088的连接</vt:lpstr>
      <vt:lpstr>2.最大模式组成 </vt:lpstr>
      <vt:lpstr>1)8086最大模式典型配置 </vt:lpstr>
      <vt:lpstr>2)8288总线控制器主要引脚信号</vt:lpstr>
      <vt:lpstr>2.1.6 8086/8088的操作和时序</vt:lpstr>
      <vt:lpstr>1.系统的复位和启动操作</vt:lpstr>
      <vt:lpstr>图2.16 8086的复位操作时序</vt:lpstr>
      <vt:lpstr>2.总线读/写操作</vt:lpstr>
      <vt:lpstr>(1)最小模式下总线读周期</vt:lpstr>
      <vt:lpstr>(2)最小模式下总线写周期</vt:lpstr>
      <vt:lpstr>(3)最大模式下的总线读操作</vt:lpstr>
      <vt:lpstr>(4)最大模式下的总线写操作</vt:lpstr>
      <vt:lpstr>3.中断响应操作 </vt:lpstr>
    </vt:vector>
  </TitlesOfParts>
  <Company>扬州大学信息工程学院</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16位和32位微处理器</dc:title>
  <dc:creator>于海东</dc:creator>
  <cp:lastModifiedBy>yiyang yu</cp:lastModifiedBy>
  <cp:revision>1151</cp:revision>
  <dcterms:created xsi:type="dcterms:W3CDTF">2015-08-24T02:00:26Z</dcterms:created>
  <dcterms:modified xsi:type="dcterms:W3CDTF">2026-06-14T04:29:44Z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B769D773C7824D7ABA15D63B27ED7AF8_12</vt:lpwstr>
  </property>
</Properties>
</file>