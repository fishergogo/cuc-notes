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465" r:id="rId3"/>
    <p:sldId id="446" r:id="rId4"/>
    <p:sldId id="447" r:id="rId5"/>
    <p:sldId id="464" r:id="rId6"/>
    <p:sldId id="448" r:id="rId7"/>
    <p:sldId id="449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1" r:id="rId19"/>
    <p:sldId id="462" r:id="rId20"/>
    <p:sldId id="463" r:id="rId21"/>
    <p:sldId id="482" r:id="rId22"/>
    <p:sldId id="466" r:id="rId23"/>
    <p:sldId id="467" r:id="rId24"/>
    <p:sldId id="468" r:id="rId25"/>
    <p:sldId id="469" r:id="rId26"/>
    <p:sldId id="470" r:id="rId27"/>
    <p:sldId id="471" r:id="rId28"/>
    <p:sldId id="472" r:id="rId29"/>
    <p:sldId id="473" r:id="rId30"/>
    <p:sldId id="474" r:id="rId31"/>
    <p:sldId id="486" r:id="rId32"/>
    <p:sldId id="487" r:id="rId33"/>
    <p:sldId id="488" r:id="rId34"/>
    <p:sldId id="484" r:id="rId35"/>
    <p:sldId id="475" r:id="rId36"/>
    <p:sldId id="476" r:id="rId37"/>
    <p:sldId id="477" r:id="rId38"/>
    <p:sldId id="478" r:id="rId39"/>
    <p:sldId id="479" r:id="rId40"/>
    <p:sldId id="480" r:id="rId41"/>
    <p:sldId id="481" r:id="rId42"/>
    <p:sldId id="485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-102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9A3BD-9D4B-4A17-89AD-AB8D99722C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4F641-F5F8-49D6-AB8D-CF80F2600D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5" name="Group 8"/>
          <p:cNvGrpSpPr/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单击此处编辑母版标题样式</a:t>
            </a:r>
            <a:endParaRPr lang="en-US" altLang="zh-CN" noProof="0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单击此处编辑母版副标题样式</a:t>
            </a:r>
            <a:endParaRPr lang="en-US" altLang="zh-CN" noProof="0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87ED82-D1A3-45FE-80F8-86D8D28D03CD}" type="datetime1">
              <a:rPr lang="zh-CN" altLang="en-US"/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4872D5-BB51-432C-B3A3-4E481E81D3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4411662"/>
          </a:xfrm>
        </p:spPr>
        <p:txBody>
          <a:bodyPr/>
          <a:lstStyle>
            <a:lvl1pPr>
              <a:buFont typeface="Wingdings" panose="05000000000000000000" pitchFamily="2" charset="2"/>
              <a:buChar char="u"/>
              <a:defRPr sz="28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0820B-D0F1-47EF-A8DA-9994F9F83B6C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CC5FF-F08F-495A-851B-EA259259A7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17693-7908-4A91-B471-8FEF6DA281B2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74614-4E03-4DCB-98CE-097C97818E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2CC61-C6FC-4A0D-9DB9-9F02363F5AE9}" type="datetime1">
              <a:rPr lang="zh-CN" altLang="en-US"/>
            </a:fld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CEBCD-7FCF-484B-9305-64C83D94B2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741FA-DDBC-4EA0-94D5-FBD8154C3488}" type="datetime1">
              <a:rPr lang="zh-CN" altLang="en-US"/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4A460-7B25-4553-A69A-B2BB29F6AC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63E86-D2F7-47EE-8733-36D525731CFA}" type="datetime1">
              <a:rPr lang="zh-CN" altLang="en-US"/>
            </a:fld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A3EF1-332A-4F12-8EA6-9ED17615C7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77AC4-9B6B-4955-98AD-6DB523334E40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67FF3-FD84-43F7-9698-CD5E53E22E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B7E4C-ECAE-4348-B44D-B6E27617DF07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F11EB-CA78-49BC-B922-1C8209DB6A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FF42-8979-4AE7-AB32-AB2B478435C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A54F1-1552-454D-8C86-18F7606D26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E9331-9EC7-4BC1-9F19-95838F0AB25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095CD-4004-401E-BA56-829390CFAA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7F5F-45AA-4834-B66F-E424254E1B5E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6D292-B2CC-4663-B63B-6660727BF5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 dirty="0" err="1"/>
              <a:t>单击此处编辑母版标题样式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101541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smtClean="0"/>
            </a:lvl1pPr>
          </a:lstStyle>
          <a:p>
            <a:pPr>
              <a:defRPr/>
            </a:pPr>
            <a:fld id="{054E35A8-292F-4AEC-B83B-BB31DB8FE108}" type="datetime1">
              <a:rPr lang="zh-CN" altLang="en-US"/>
            </a:fld>
            <a:endParaRPr lang="en-US" altLang="zh-CN"/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1A8543FF-F682-49C5-9892-9CF2B52A8733}" type="slidenum">
              <a:rPr lang="en-US" altLang="zh-CN"/>
            </a:fld>
            <a:endParaRPr lang="en-US" altLang="zh-CN"/>
          </a:p>
        </p:txBody>
      </p:sp>
      <p:grpSp>
        <p:nvGrpSpPr>
          <p:cNvPr id="1032" name="Group 8"/>
          <p:cNvGrpSpPr/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3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r>
              <a:rPr lang="en-US" altLang="zh-CN" dirty="0"/>
              <a:t>8253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r>
              <a:rPr lang="en-US" altLang="zh-CN" dirty="0"/>
              <a:t>8253</a:t>
            </a:r>
            <a:r>
              <a:rPr lang="zh-CN" altLang="en-US" dirty="0"/>
              <a:t>的控制字及初始化编程</a:t>
            </a:r>
            <a:endParaRPr lang="en-US" altLang="zh-CN" dirty="0"/>
          </a:p>
          <a:p>
            <a:r>
              <a:rPr lang="en-US" altLang="zh-CN" dirty="0"/>
              <a:t>8253</a:t>
            </a:r>
            <a:r>
              <a:rPr lang="zh-CN" altLang="en-US" dirty="0"/>
              <a:t>的内部结构和引脚功能</a:t>
            </a:r>
            <a:endParaRPr lang="en-US" altLang="zh-CN" dirty="0"/>
          </a:p>
          <a:p>
            <a:r>
              <a:rPr lang="en-US" altLang="zh-CN" dirty="0"/>
              <a:t>8253</a:t>
            </a:r>
            <a:r>
              <a:rPr lang="zh-CN" altLang="en-US" dirty="0"/>
              <a:t>的工作方式</a:t>
            </a:r>
            <a:endParaRPr lang="en-US" altLang="zh-CN" dirty="0"/>
          </a:p>
          <a:p>
            <a:r>
              <a:rPr lang="en-US" altLang="zh-CN" dirty="0"/>
              <a:t>8253</a:t>
            </a:r>
            <a:r>
              <a:rPr lang="zh-CN" altLang="en-US" dirty="0"/>
              <a:t>的应用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</a:t>
            </a:r>
            <a:r>
              <a:rPr lang="en-US" altLang="zh-CN" dirty="0" smtClean="0"/>
              <a:t>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定时与计数用途：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在测量控制系统中一般用于：</a:t>
            </a:r>
            <a:endParaRPr lang="zh-CN" altLang="en-US" dirty="0"/>
          </a:p>
          <a:p>
            <a:r>
              <a:rPr lang="zh-CN" altLang="en-US" dirty="0"/>
              <a:t>按照一定的采样周期对处理对象进行采样或定时检测；</a:t>
            </a:r>
            <a:endParaRPr lang="zh-CN" altLang="en-US" dirty="0"/>
          </a:p>
          <a:p>
            <a:r>
              <a:rPr lang="zh-CN" altLang="en-US" dirty="0"/>
              <a:t>产生中断请求信号实现中断处理。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在计算机系统中一般用于：</a:t>
            </a:r>
            <a:endParaRPr lang="zh-CN" altLang="en-US" dirty="0"/>
          </a:p>
          <a:p>
            <a:r>
              <a:rPr lang="zh-CN" altLang="en-US" dirty="0"/>
              <a:t>动态存储器</a:t>
            </a:r>
            <a:r>
              <a:rPr lang="en-US" altLang="zh-CN" dirty="0"/>
              <a:t>(RAM)</a:t>
            </a:r>
            <a:r>
              <a:rPr lang="zh-CN" altLang="en-US" dirty="0" smtClean="0"/>
              <a:t>的定时刷新；</a:t>
            </a:r>
            <a:endParaRPr lang="zh-CN" altLang="en-US" dirty="0"/>
          </a:p>
          <a:p>
            <a:r>
              <a:rPr lang="zh-CN" altLang="en-US" dirty="0"/>
              <a:t>系统日历时钟的计时；</a:t>
            </a:r>
            <a:endParaRPr lang="zh-CN" altLang="en-US" dirty="0"/>
          </a:p>
          <a:p>
            <a:r>
              <a:rPr lang="zh-CN" altLang="en-US" dirty="0"/>
              <a:t>主板喇叭的声源脉冲。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624840"/>
            <a:ext cx="10058400" cy="55060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定时实现方法：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软件定时：让计算机执行一个延迟程序段。</a:t>
            </a:r>
            <a:endParaRPr lang="en-US" altLang="zh-CN" dirty="0"/>
          </a:p>
          <a:p>
            <a:pPr lvl="1"/>
            <a:r>
              <a:rPr lang="zh-CN" altLang="en-US" dirty="0"/>
              <a:t>优点：节省硬件</a:t>
            </a:r>
            <a:endParaRPr lang="en-US" altLang="zh-CN" dirty="0"/>
          </a:p>
          <a:p>
            <a:pPr lvl="1"/>
            <a:r>
              <a:rPr lang="zh-CN" altLang="en-US" dirty="0"/>
              <a:t>缺点：延迟程序会导致</a:t>
            </a:r>
            <a:r>
              <a:rPr lang="en-US" altLang="zh-CN" dirty="0"/>
              <a:t>CPU</a:t>
            </a:r>
            <a:r>
              <a:rPr lang="zh-CN" altLang="en-US" dirty="0"/>
              <a:t>一直被占用，降低了</a:t>
            </a:r>
            <a:r>
              <a:rPr lang="en-US" altLang="zh-CN" dirty="0"/>
              <a:t>CPU</a:t>
            </a:r>
            <a:r>
              <a:rPr lang="zh-CN" altLang="en-US" dirty="0"/>
              <a:t>的效率</a:t>
            </a:r>
            <a:endParaRPr lang="en-US" altLang="zh-CN" dirty="0"/>
          </a:p>
          <a:p>
            <a:r>
              <a:rPr lang="zh-CN" altLang="en-US" dirty="0"/>
              <a:t>不可编程的硬件定时：采用小规模集成电路器件如</a:t>
            </a:r>
            <a:r>
              <a:rPr lang="en-US" altLang="zh-CN" dirty="0"/>
              <a:t>555</a:t>
            </a:r>
            <a:r>
              <a:rPr lang="zh-CN" altLang="en-US" dirty="0"/>
              <a:t>时基电路，通过外接电阻和电容构成。</a:t>
            </a:r>
            <a:endParaRPr lang="en-US" altLang="zh-CN" dirty="0"/>
          </a:p>
          <a:p>
            <a:pPr lvl="1"/>
            <a:r>
              <a:rPr lang="zh-CN" altLang="en-US" dirty="0"/>
              <a:t>优点：定时电路简单</a:t>
            </a:r>
            <a:endParaRPr lang="en-US" altLang="zh-CN" dirty="0"/>
          </a:p>
          <a:p>
            <a:pPr lvl="1"/>
            <a:r>
              <a:rPr lang="zh-CN" altLang="en-US" dirty="0"/>
              <a:t>缺点：定时值及定时范围不能由程序来控制和改变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624840"/>
            <a:ext cx="10058400" cy="55060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定时实现方法：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可编程定时</a:t>
            </a:r>
            <a:r>
              <a:rPr lang="en-US" altLang="zh-CN" dirty="0"/>
              <a:t>/</a:t>
            </a:r>
            <a:r>
              <a:rPr lang="zh-CN" altLang="en-US" dirty="0"/>
              <a:t>计数器电路：定时值及定时范围可以很容易地由软件来确定和改变，功能较强，使用灵活。</a:t>
            </a:r>
            <a:endParaRPr lang="en-US" altLang="zh-CN" dirty="0"/>
          </a:p>
          <a:p>
            <a:pPr lvl="1"/>
            <a:r>
              <a:rPr lang="zh-CN" altLang="en-US" dirty="0"/>
              <a:t>优点：计数时不占用</a:t>
            </a:r>
            <a:r>
              <a:rPr lang="en-US" altLang="zh-CN" dirty="0"/>
              <a:t>CPU</a:t>
            </a:r>
            <a:r>
              <a:rPr lang="zh-CN" altLang="en-US" dirty="0"/>
              <a:t>的时间，并且如果利用定时器产生中断信号，就可以建立多作业的环境，可以大大提高</a:t>
            </a:r>
            <a:r>
              <a:rPr lang="en-US" altLang="zh-CN" dirty="0"/>
              <a:t>CPU</a:t>
            </a:r>
            <a:r>
              <a:rPr lang="zh-CN" altLang="en-US" dirty="0"/>
              <a:t>的利用率。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CF43AE-F8FD-49EE-9553-888B016E31A5}" type="datetime1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F4C0CD6-327D-499A-9754-0F1E4D84582B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zh-CN" altLang="en-US" dirty="0" smtClean="0"/>
              <a:t>可编程计数器</a:t>
            </a:r>
            <a:r>
              <a:rPr lang="en-US" altLang="zh-CN" dirty="0" smtClean="0"/>
              <a:t>/</a:t>
            </a:r>
            <a:r>
              <a:rPr lang="zh-CN" altLang="en-US" dirty="0" smtClean="0"/>
              <a:t>定时器</a:t>
            </a:r>
            <a:r>
              <a:rPr lang="en-US" altLang="zh-CN" dirty="0" smtClean="0"/>
              <a:t>8253 </a:t>
            </a:r>
            <a:br>
              <a:rPr lang="en-US" altLang="zh-CN" dirty="0" smtClean="0"/>
            </a:br>
            <a:r>
              <a:rPr lang="en-US" altLang="zh-CN" dirty="0" smtClean="0"/>
              <a:t>9.2.1 </a:t>
            </a:r>
            <a:r>
              <a:rPr lang="en-US" altLang="zh-CN" dirty="0" smtClean="0"/>
              <a:t>8253</a:t>
            </a:r>
            <a:r>
              <a:rPr lang="zh-CN" altLang="en-US" dirty="0"/>
              <a:t>的内部结构和引脚功能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8253</a:t>
            </a:r>
            <a:r>
              <a:rPr lang="zh-CN" altLang="en-US" dirty="0"/>
              <a:t>的内部结构</a:t>
            </a:r>
            <a:r>
              <a:rPr lang="en-US" altLang="zh-CN" dirty="0"/>
              <a:t>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8253</a:t>
            </a:r>
            <a:r>
              <a:rPr lang="zh-CN" altLang="en-US" dirty="0"/>
              <a:t>的主要功能：</a:t>
            </a:r>
            <a:endParaRPr lang="zh-CN" altLang="en-US" dirty="0"/>
          </a:p>
          <a:p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个独立的、功能相同的</a:t>
            </a:r>
            <a:r>
              <a:rPr lang="en-US" altLang="zh-CN" dirty="0"/>
              <a:t>16</a:t>
            </a:r>
            <a:r>
              <a:rPr lang="zh-CN" altLang="en-US" dirty="0"/>
              <a:t>位减法计数器</a:t>
            </a:r>
            <a:endParaRPr lang="zh-CN" altLang="en-US" dirty="0"/>
          </a:p>
          <a:p>
            <a:r>
              <a:rPr lang="zh-CN" altLang="en-US" dirty="0"/>
              <a:t>每个计数器都可以按照二进制或</a:t>
            </a:r>
            <a:r>
              <a:rPr lang="en-US" altLang="zh-CN" dirty="0"/>
              <a:t>BCD</a:t>
            </a:r>
            <a:r>
              <a:rPr lang="zh-CN" altLang="en-US" dirty="0"/>
              <a:t>码进行计数</a:t>
            </a:r>
            <a:endParaRPr lang="zh-CN" altLang="en-US" dirty="0"/>
          </a:p>
          <a:p>
            <a:r>
              <a:rPr lang="zh-CN" altLang="en-US" dirty="0"/>
              <a:t>每个计数器的计数速率可高达</a:t>
            </a:r>
            <a:r>
              <a:rPr lang="en-US" altLang="zh-CN" dirty="0"/>
              <a:t>2.6MHz</a:t>
            </a:r>
            <a:endParaRPr lang="en-US" altLang="zh-CN" dirty="0"/>
          </a:p>
          <a:p>
            <a:r>
              <a:rPr lang="zh-CN" altLang="en-US" dirty="0"/>
              <a:t>每个计数器有</a:t>
            </a:r>
            <a:r>
              <a:rPr lang="en-US" altLang="zh-CN" dirty="0"/>
              <a:t>6</a:t>
            </a:r>
            <a:r>
              <a:rPr lang="zh-CN" altLang="en-US" dirty="0"/>
              <a:t>种工作方式，可由程序设置和改变</a:t>
            </a:r>
            <a:endParaRPr lang="zh-CN" altLang="en-US" dirty="0"/>
          </a:p>
          <a:p>
            <a:r>
              <a:rPr lang="zh-CN" altLang="en-US" dirty="0"/>
              <a:t>所有的输入输出引脚电平都与</a:t>
            </a:r>
            <a:r>
              <a:rPr lang="en-US" altLang="zh-CN" dirty="0"/>
              <a:t>TTL</a:t>
            </a:r>
            <a:r>
              <a:rPr lang="zh-CN" altLang="en-US" dirty="0"/>
              <a:t>电平兼容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583171" y="589404"/>
            <a:ext cx="8807737" cy="5823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数据总线缓冲器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数据总线缓冲器是</a:t>
            </a:r>
            <a:r>
              <a:rPr lang="en-US" altLang="zh-CN" dirty="0"/>
              <a:t>8253</a:t>
            </a:r>
            <a:r>
              <a:rPr lang="zh-CN" altLang="en-US" dirty="0"/>
              <a:t>与</a:t>
            </a:r>
            <a:r>
              <a:rPr lang="en-US" altLang="zh-CN" dirty="0"/>
              <a:t>CPU</a:t>
            </a:r>
            <a:r>
              <a:rPr lang="zh-CN" altLang="en-US" dirty="0"/>
              <a:t>数据总线连接的</a:t>
            </a:r>
            <a:r>
              <a:rPr lang="en-US" altLang="zh-CN" dirty="0"/>
              <a:t>8</a:t>
            </a:r>
            <a:r>
              <a:rPr lang="zh-CN" altLang="en-US" dirty="0"/>
              <a:t>位双向三态缓冲器，有三方面的功能：</a:t>
            </a:r>
            <a:endParaRPr lang="en-US" altLang="zh-CN" dirty="0"/>
          </a:p>
          <a:p>
            <a:pPr lvl="1"/>
            <a:r>
              <a:rPr lang="zh-CN" altLang="en-US" dirty="0"/>
              <a:t>往计数器设置计数初值</a:t>
            </a:r>
            <a:endParaRPr lang="zh-CN" altLang="en-US" dirty="0"/>
          </a:p>
          <a:p>
            <a:pPr lvl="1"/>
            <a:r>
              <a:rPr lang="zh-CN" altLang="en-US" dirty="0"/>
              <a:t>从计数器读取计数值</a:t>
            </a:r>
            <a:endParaRPr lang="zh-CN" altLang="en-US" dirty="0"/>
          </a:p>
          <a:p>
            <a:pPr lvl="1"/>
            <a:r>
              <a:rPr lang="zh-CN" altLang="en-US" dirty="0"/>
              <a:t>往控制寄存器设置控制字</a:t>
            </a:r>
            <a:endParaRPr lang="zh-CN" altLang="en-US" dirty="0"/>
          </a:p>
          <a:p>
            <a:pPr lvl="1"/>
            <a:r>
              <a:rPr lang="zh-CN" altLang="en-US" dirty="0"/>
              <a:t>数据总线缓冲器与</a:t>
            </a:r>
            <a:r>
              <a:rPr lang="en-US" altLang="zh-CN" dirty="0"/>
              <a:t>8253</a:t>
            </a:r>
            <a:r>
              <a:rPr lang="zh-CN" altLang="en-US" dirty="0"/>
              <a:t>内部总线相连，并且通过</a:t>
            </a:r>
            <a:r>
              <a:rPr lang="en-US" altLang="zh-CN" dirty="0"/>
              <a:t>D7</a:t>
            </a:r>
            <a:r>
              <a:rPr lang="zh-CN" altLang="en-US" dirty="0"/>
              <a:t>～</a:t>
            </a:r>
            <a:r>
              <a:rPr lang="en-US" altLang="zh-CN" dirty="0"/>
              <a:t>D0</a:t>
            </a:r>
            <a:r>
              <a:rPr lang="zh-CN" altLang="en-US" dirty="0"/>
              <a:t>数据线引脚与</a:t>
            </a:r>
            <a:r>
              <a:rPr lang="en-US" altLang="zh-CN" dirty="0"/>
              <a:t>CPU</a:t>
            </a:r>
            <a:r>
              <a:rPr lang="zh-CN" altLang="en-US" dirty="0"/>
              <a:t>连接，完成数据传送、写入控制字初始化用。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写控制逻辑电路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接收</a:t>
            </a:r>
            <a:r>
              <a:rPr lang="en-US" altLang="zh-CN" dirty="0"/>
              <a:t>CPU</a:t>
            </a:r>
            <a:r>
              <a:rPr lang="zh-CN" altLang="en-US" dirty="0"/>
              <a:t>送来的读</a:t>
            </a:r>
            <a:r>
              <a:rPr lang="en-US" altLang="zh-CN" dirty="0"/>
              <a:t>/</a:t>
            </a:r>
            <a:r>
              <a:rPr lang="zh-CN" altLang="en-US" dirty="0"/>
              <a:t>写信号</a:t>
            </a:r>
            <a:r>
              <a:rPr lang="en-US" altLang="zh-CN" dirty="0"/>
              <a:t>(RD/WR)</a:t>
            </a:r>
            <a:r>
              <a:rPr lang="zh-CN" altLang="en-US" dirty="0"/>
              <a:t>，片选信号</a:t>
            </a:r>
            <a:r>
              <a:rPr lang="en-US" altLang="zh-CN" dirty="0"/>
              <a:t>(CS)</a:t>
            </a:r>
            <a:r>
              <a:rPr lang="zh-CN" altLang="en-US" dirty="0"/>
              <a:t>，端口选择信号</a:t>
            </a:r>
            <a:r>
              <a:rPr lang="en-US" altLang="zh-CN" dirty="0"/>
              <a:t>(A1A0)</a:t>
            </a:r>
            <a:r>
              <a:rPr lang="zh-CN" altLang="en-US" dirty="0"/>
              <a:t>，以决定</a:t>
            </a:r>
            <a:r>
              <a:rPr lang="en-US" altLang="zh-CN" dirty="0"/>
              <a:t>3</a:t>
            </a:r>
            <a:r>
              <a:rPr lang="zh-CN" altLang="en-US" dirty="0"/>
              <a:t>个计数器、控制寄存器中哪一个进行工作，以及数据传送的方向。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A1   A0</a:t>
            </a:r>
            <a:r>
              <a:rPr lang="zh-CN" altLang="en-US" dirty="0"/>
              <a:t>：端口选择引脚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 0     0</a:t>
            </a:r>
            <a:r>
              <a:rPr lang="zh-CN" altLang="en-US" dirty="0"/>
              <a:t>：通道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号计数器）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 0     1</a:t>
            </a:r>
            <a:r>
              <a:rPr lang="zh-CN" altLang="en-US" dirty="0"/>
              <a:t>：通道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号计数器）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 1     0</a:t>
            </a:r>
            <a:r>
              <a:rPr lang="zh-CN" altLang="en-US" dirty="0"/>
              <a:t>：通道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 smtClean="0"/>
              <a:t>号计数器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1     1</a:t>
            </a:r>
            <a:r>
              <a:rPr lang="zh-CN" altLang="en-US" dirty="0"/>
              <a:t>：控制字寄存器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9580"/>
            <a:ext cx="10219690" cy="4411345"/>
          </a:xfrm>
        </p:spPr>
        <p:txBody>
          <a:bodyPr/>
          <a:lstStyle/>
          <a:p>
            <a:r>
              <a:rPr lang="zh-CN" altLang="en-US" dirty="0"/>
              <a:t>控制寄存器</a:t>
            </a:r>
            <a:endParaRPr lang="en-US" altLang="zh-CN" dirty="0"/>
          </a:p>
          <a:p>
            <a:pPr lvl="1"/>
            <a:r>
              <a:rPr lang="en-US" altLang="zh-CN" dirty="0"/>
              <a:t>8253</a:t>
            </a:r>
            <a:r>
              <a:rPr lang="zh-CN" altLang="en-US" dirty="0"/>
              <a:t>的三个计数器都有各自的控制</a:t>
            </a:r>
            <a:r>
              <a:rPr lang="zh-CN" altLang="en-US" dirty="0"/>
              <a:t>字寄存器，用来接收</a:t>
            </a:r>
            <a:r>
              <a:rPr lang="en-US" altLang="zh-CN" dirty="0"/>
              <a:t>CPU</a:t>
            </a:r>
            <a:r>
              <a:rPr lang="zh-CN" altLang="en-US" dirty="0"/>
              <a:t>送来的控制字，这个控制字用来选择计数器及相应的工作方式等。</a:t>
            </a:r>
            <a:endParaRPr lang="en-US" altLang="zh-CN" dirty="0"/>
          </a:p>
          <a:p>
            <a:pPr lvl="1"/>
            <a:r>
              <a:rPr lang="zh-CN" altLang="en-US" dirty="0"/>
              <a:t>控制寄存器只能写入不能读出，</a:t>
            </a:r>
            <a:r>
              <a:rPr lang="zh-CN" altLang="en-US">
                <a:sym typeface="+mn-ea"/>
              </a:rPr>
              <a:t>且共用一个控制端口地址。 </a:t>
            </a:r>
            <a:endParaRPr lang="zh-CN" altLang="en-US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5886202" cy="4411662"/>
          </a:xfrm>
        </p:spPr>
        <p:txBody>
          <a:bodyPr/>
          <a:lstStyle/>
          <a:p>
            <a:r>
              <a:rPr lang="zh-CN" altLang="en-US" dirty="0"/>
              <a:t>定时</a:t>
            </a:r>
            <a:r>
              <a:rPr lang="en-US" altLang="zh-CN" dirty="0"/>
              <a:t>/</a:t>
            </a:r>
            <a:r>
              <a:rPr lang="zh-CN" altLang="en-US" dirty="0"/>
              <a:t>计数器</a:t>
            </a:r>
            <a:r>
              <a:rPr lang="en-US" altLang="zh-CN" dirty="0"/>
              <a:t>0-2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8253</a:t>
            </a:r>
            <a:r>
              <a:rPr lang="zh-CN" altLang="en-US" dirty="0"/>
              <a:t>内部有三个</a:t>
            </a:r>
            <a:r>
              <a:rPr lang="en-US" altLang="zh-CN" dirty="0"/>
              <a:t>16</a:t>
            </a:r>
            <a:r>
              <a:rPr lang="zh-CN" altLang="en-US" dirty="0"/>
              <a:t>位独立通道的计数器</a:t>
            </a:r>
            <a:r>
              <a:rPr lang="en-US" altLang="zh-CN" dirty="0"/>
              <a:t>,</a:t>
            </a:r>
            <a:r>
              <a:rPr lang="zh-CN" altLang="en-US" dirty="0"/>
              <a:t>每个计数器互相之间工作完全独立。</a:t>
            </a:r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r>
              <a:rPr lang="en-US" altLang="zh-CN" dirty="0"/>
              <a:t>: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每个计数器内部有：</a:t>
            </a:r>
            <a:endParaRPr lang="zh-CN" altLang="en-US" dirty="0"/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16</a:t>
            </a:r>
            <a:r>
              <a:rPr lang="zh-CN" altLang="en-US" dirty="0"/>
              <a:t>位计数初值寄存器</a:t>
            </a:r>
            <a:r>
              <a:rPr lang="en-US" altLang="zh-CN" dirty="0"/>
              <a:t>CR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16</a:t>
            </a:r>
            <a:r>
              <a:rPr lang="zh-CN" altLang="en-US" dirty="0"/>
              <a:t>位减</a:t>
            </a:r>
            <a:r>
              <a:rPr lang="en-US" altLang="zh-CN" dirty="0"/>
              <a:t>1</a:t>
            </a:r>
            <a:r>
              <a:rPr lang="zh-CN" altLang="en-US" dirty="0"/>
              <a:t>计数执行部件</a:t>
            </a:r>
            <a:r>
              <a:rPr lang="en-US" altLang="zh-CN" dirty="0"/>
              <a:t>CE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16</a:t>
            </a:r>
            <a:r>
              <a:rPr lang="zh-CN" altLang="en-US" dirty="0"/>
              <a:t>位输出锁存器</a:t>
            </a:r>
            <a:r>
              <a:rPr lang="en-US" altLang="zh-CN" dirty="0"/>
              <a:t>OL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803" y="1741864"/>
            <a:ext cx="4303400" cy="4182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定时</a:t>
            </a:r>
            <a:r>
              <a:rPr lang="en-US" altLang="zh-CN" dirty="0"/>
              <a:t>/</a:t>
            </a:r>
            <a:r>
              <a:rPr lang="zh-CN" altLang="en-US" dirty="0"/>
              <a:t>计数器</a:t>
            </a:r>
            <a:r>
              <a:rPr lang="en-US" altLang="zh-CN" dirty="0"/>
              <a:t>0-2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每个计数器通过</a:t>
            </a:r>
            <a:r>
              <a:rPr lang="en-US" altLang="zh-CN" dirty="0"/>
              <a:t>3</a:t>
            </a:r>
            <a:r>
              <a:rPr lang="zh-CN" altLang="en-US" dirty="0"/>
              <a:t>个引脚和外部联系：</a:t>
            </a:r>
            <a:endParaRPr lang="en-US" altLang="zh-CN" dirty="0"/>
          </a:p>
          <a:p>
            <a:pPr lvl="1"/>
            <a:r>
              <a:rPr lang="zh-CN" altLang="en-US" dirty="0"/>
              <a:t>时钟输入端</a:t>
            </a:r>
            <a:r>
              <a:rPr lang="en-US" altLang="zh-CN" dirty="0"/>
              <a:t>CLK</a:t>
            </a:r>
            <a:r>
              <a:rPr lang="zh-CN" altLang="en-US" dirty="0"/>
              <a:t>，</a:t>
            </a:r>
            <a:r>
              <a:rPr lang="en-US" altLang="zh-CN" dirty="0"/>
              <a:t>8253</a:t>
            </a:r>
            <a:r>
              <a:rPr lang="zh-CN" altLang="en-US" dirty="0"/>
              <a:t>工作时，每输入一个</a:t>
            </a:r>
            <a:r>
              <a:rPr lang="en-US" altLang="zh-CN" dirty="0"/>
              <a:t>CLK</a:t>
            </a:r>
            <a:r>
              <a:rPr lang="zh-CN" altLang="en-US" dirty="0"/>
              <a:t>脉冲，计数值减</a:t>
            </a:r>
            <a:r>
              <a:rPr lang="en-US" altLang="zh-CN" dirty="0"/>
              <a:t>1;</a:t>
            </a:r>
            <a:endParaRPr lang="en-US" altLang="zh-CN" dirty="0"/>
          </a:p>
          <a:p>
            <a:pPr lvl="1"/>
            <a:r>
              <a:rPr lang="zh-CN" altLang="en-US" dirty="0"/>
              <a:t>门控信号输入端</a:t>
            </a:r>
            <a:r>
              <a:rPr lang="en-US" altLang="zh-CN" dirty="0"/>
              <a:t>GATE</a:t>
            </a:r>
            <a:r>
              <a:rPr lang="zh-CN" altLang="en-US" dirty="0"/>
              <a:t>，用来禁止、暂停、停止、允许、启动计数的控制。在不同的</a:t>
            </a:r>
            <a:r>
              <a:rPr lang="en-US" altLang="zh-CN" dirty="0"/>
              <a:t>6</a:t>
            </a:r>
            <a:r>
              <a:rPr lang="zh-CN" altLang="en-US" dirty="0"/>
              <a:t>种工作方式中，</a:t>
            </a:r>
            <a:r>
              <a:rPr lang="en-US" altLang="zh-CN" dirty="0"/>
              <a:t>GATE</a:t>
            </a:r>
            <a:r>
              <a:rPr lang="zh-CN" altLang="en-US" dirty="0"/>
              <a:t>控制作用也不同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计数结束信号输出端</a:t>
            </a:r>
            <a:r>
              <a:rPr lang="en-US" altLang="zh-CN" dirty="0"/>
              <a:t>OUT</a:t>
            </a:r>
            <a:r>
              <a:rPr lang="zh-CN" altLang="en-US" dirty="0"/>
              <a:t>，当计数值减为</a:t>
            </a:r>
            <a:r>
              <a:rPr lang="en-US" altLang="zh-CN" dirty="0"/>
              <a:t>0</a:t>
            </a:r>
            <a:r>
              <a:rPr lang="zh-CN" altLang="en-US" dirty="0"/>
              <a:t>时，在</a:t>
            </a:r>
            <a:r>
              <a:rPr lang="en-US" altLang="zh-CN" dirty="0"/>
              <a:t>OUT</a:t>
            </a:r>
            <a:r>
              <a:rPr lang="zh-CN" altLang="en-US" dirty="0"/>
              <a:t>端输出信号，该信号的波形取决于工作方式。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组成与引脚特性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55928" y="2400327"/>
            <a:ext cx="4623303" cy="2578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引脚与</a:t>
            </a:r>
            <a:r>
              <a:rPr lang="en-US" altLang="zh-CN" dirty="0"/>
              <a:t>CPU</a:t>
            </a:r>
            <a:r>
              <a:rPr lang="zh-CN" altLang="en-US" dirty="0"/>
              <a:t>的连接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8" name="对象 7"/>
          <p:cNvGraphicFramePr/>
          <p:nvPr/>
        </p:nvGraphicFramePr>
        <p:xfrm>
          <a:off x="2788285" y="1717675"/>
          <a:ext cx="6615430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6610350" imgH="3419475" progId="Paint.Picture">
                  <p:embed/>
                </p:oleObj>
              </mc:Choice>
              <mc:Fallback>
                <p:oleObj name="" r:id="rId1" imgW="6610350" imgH="341947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8285" y="1717675"/>
                        <a:ext cx="6615430" cy="342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9.2.2 8253</a:t>
            </a:r>
            <a:r>
              <a:rPr lang="zh-CN" altLang="en-US" dirty="0"/>
              <a:t>的控制字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4698669" cy="4411662"/>
          </a:xfrm>
        </p:spPr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的控制字：</a:t>
            </a:r>
            <a:endParaRPr lang="zh-CN" altLang="en-US" dirty="0"/>
          </a:p>
          <a:p>
            <a:pPr lvl="1"/>
            <a:r>
              <a:rPr lang="zh-CN" altLang="en-US" dirty="0"/>
              <a:t>在使用</a:t>
            </a:r>
            <a:r>
              <a:rPr lang="en-US" altLang="zh-CN" dirty="0"/>
              <a:t>8253</a:t>
            </a:r>
            <a:r>
              <a:rPr lang="zh-CN" altLang="en-US" dirty="0"/>
              <a:t>前，必须对它进行初始化编程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8253</a:t>
            </a:r>
            <a:r>
              <a:rPr lang="zh-CN" altLang="en-US" dirty="0"/>
              <a:t>的工作方式、计数方式、操作方式的确定和计数器的选择都是由控制字来确定的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不同计数器的控制字必须分别设置，但它的端口地址共用一个。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899" y="1592588"/>
            <a:ext cx="4857398" cy="3969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173194" cy="2163968"/>
          </a:xfrm>
        </p:spPr>
        <p:txBody>
          <a:bodyPr/>
          <a:lstStyle/>
          <a:p>
            <a:r>
              <a:rPr lang="zh-CN" altLang="en-US" dirty="0"/>
              <a:t>由程序首先写控制字给控制寄存器，再写计数初值给相应计数器，初值在</a:t>
            </a:r>
            <a:r>
              <a:rPr lang="en-US" altLang="zh-CN" dirty="0"/>
              <a:t>CR</a:t>
            </a:r>
            <a:r>
              <a:rPr lang="zh-CN" altLang="en-US" dirty="0"/>
              <a:t>中保存，并送</a:t>
            </a:r>
            <a:r>
              <a:rPr lang="en-US" altLang="zh-CN" dirty="0"/>
              <a:t>CE</a:t>
            </a:r>
            <a:r>
              <a:rPr lang="zh-CN" altLang="en-US" dirty="0"/>
              <a:t>中，在</a:t>
            </a:r>
            <a:r>
              <a:rPr lang="en-US" altLang="zh-CN" dirty="0"/>
              <a:t>GATE</a:t>
            </a:r>
            <a:r>
              <a:rPr lang="zh-CN" altLang="en-US" dirty="0"/>
              <a:t>门控信号允许或触发下，</a:t>
            </a:r>
            <a:r>
              <a:rPr lang="en-US" altLang="zh-CN" dirty="0"/>
              <a:t>CE</a:t>
            </a:r>
            <a:r>
              <a:rPr lang="zh-CN" altLang="en-US" dirty="0"/>
              <a:t>便开始对</a:t>
            </a:r>
            <a:r>
              <a:rPr lang="en-US" altLang="zh-CN" dirty="0"/>
              <a:t>CLK</a:t>
            </a:r>
            <a:r>
              <a:rPr lang="zh-CN" altLang="en-US" dirty="0"/>
              <a:t>脉冲进行</a:t>
            </a:r>
            <a:r>
              <a:rPr lang="zh-CN" altLang="en-US" dirty="0" smtClean="0"/>
              <a:t>减</a:t>
            </a:r>
            <a:r>
              <a:rPr lang="en-US" altLang="zh-CN" dirty="0"/>
              <a:t>1</a:t>
            </a:r>
            <a:r>
              <a:rPr lang="zh-CN" altLang="en-US" dirty="0" smtClean="0"/>
              <a:t>计数</a:t>
            </a:r>
            <a:r>
              <a:rPr lang="zh-CN" altLang="en-US" dirty="0"/>
              <a:t>，直到计数值被减到</a:t>
            </a:r>
            <a:r>
              <a:rPr lang="en-US" altLang="zh-CN" dirty="0"/>
              <a:t>0</a:t>
            </a:r>
            <a:r>
              <a:rPr lang="zh-CN" altLang="en-US" dirty="0"/>
              <a:t>时，计数结束或本周期结束，输出</a:t>
            </a:r>
            <a:r>
              <a:rPr lang="en-US" altLang="zh-CN" dirty="0"/>
              <a:t>OUT</a:t>
            </a:r>
            <a:r>
              <a:rPr lang="zh-CN" altLang="en-US" dirty="0"/>
              <a:t>端产生相应波形。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828304" y="3976194"/>
            <a:ext cx="52676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输出信号的波形由事先规定的工作方式决定并受控于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信号。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88551" y="3697573"/>
            <a:ext cx="4486275" cy="25508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在减</a:t>
            </a:r>
            <a:r>
              <a:rPr lang="en-US" altLang="zh-CN" dirty="0"/>
              <a:t>1</a:t>
            </a:r>
            <a:r>
              <a:rPr lang="zh-CN" altLang="en-US" dirty="0"/>
              <a:t>计数过程中，</a:t>
            </a:r>
            <a:r>
              <a:rPr lang="en-US" altLang="zh-CN" dirty="0"/>
              <a:t>CE</a:t>
            </a:r>
            <a:r>
              <a:rPr lang="zh-CN" altLang="en-US" dirty="0"/>
              <a:t>中当前的计数值同时送给</a:t>
            </a:r>
            <a:r>
              <a:rPr lang="en-US" altLang="zh-CN" dirty="0"/>
              <a:t>OL</a:t>
            </a:r>
            <a:r>
              <a:rPr lang="zh-CN" altLang="en-US" dirty="0"/>
              <a:t>。若想要知道计数过程中的当前计数值，则必须写锁存控制字将当前值锁存，然后从</a:t>
            </a:r>
            <a:r>
              <a:rPr lang="en-US" altLang="zh-CN" dirty="0"/>
              <a:t>OL</a:t>
            </a:r>
            <a:r>
              <a:rPr lang="zh-CN" altLang="en-US" dirty="0"/>
              <a:t>中读出。</a:t>
            </a:r>
            <a:endParaRPr lang="zh-CN" altLang="en-US" dirty="0"/>
          </a:p>
          <a:p>
            <a:r>
              <a:rPr lang="zh-CN" altLang="en-US" dirty="0"/>
              <a:t>注意：当前的计数值不能直接从</a:t>
            </a:r>
            <a:r>
              <a:rPr lang="en-US" altLang="zh-CN" dirty="0"/>
              <a:t>CE</a:t>
            </a:r>
            <a:r>
              <a:rPr lang="zh-CN" altLang="en-US" dirty="0"/>
              <a:t>中读出。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的初始化编程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初始化方法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初始化编程的步骤为：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(1)</a:t>
            </a:r>
            <a:r>
              <a:rPr lang="zh-CN" altLang="en-US" dirty="0"/>
              <a:t>规定计数器的工作方式；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(2)</a:t>
            </a:r>
            <a:r>
              <a:rPr lang="zh-CN" altLang="en-US" dirty="0"/>
              <a:t>确定计数初值；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计数初值计算：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n=</a:t>
            </a:r>
            <a:r>
              <a:rPr lang="zh-CN" altLang="en-US" dirty="0"/>
              <a:t>时钟频率</a:t>
            </a:r>
            <a:r>
              <a:rPr lang="en-US" altLang="zh-CN" dirty="0"/>
              <a:t>fc/</a:t>
            </a:r>
            <a:r>
              <a:rPr lang="zh-CN" altLang="en-US" dirty="0"/>
              <a:t>输出频率</a:t>
            </a:r>
            <a:r>
              <a:rPr lang="en-US" altLang="zh-CN" dirty="0" err="1"/>
              <a:t>fout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或者，定时时间</a:t>
            </a:r>
            <a:r>
              <a:rPr lang="en-US" altLang="zh-CN" dirty="0"/>
              <a:t>Tout/</a:t>
            </a:r>
            <a:r>
              <a:rPr lang="zh-CN" altLang="en-US" dirty="0"/>
              <a:t>时钟脉冲周期时间</a:t>
            </a:r>
            <a:r>
              <a:rPr lang="en-US" altLang="zh-CN" dirty="0"/>
              <a:t>Tc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(3)</a:t>
            </a:r>
            <a:r>
              <a:rPr lang="zh-CN" altLang="en-US" dirty="0"/>
              <a:t>确定控制字</a:t>
            </a:r>
            <a:r>
              <a:rPr lang="en-US" altLang="zh-CN" dirty="0"/>
              <a:t>,</a:t>
            </a:r>
            <a:r>
              <a:rPr lang="zh-CN" altLang="en-US" dirty="0"/>
              <a:t>写控制字；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的初始化编程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初始化方法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(4)</a:t>
            </a:r>
            <a:r>
              <a:rPr lang="zh-CN" altLang="en-US" dirty="0"/>
              <a:t>写计数初值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若规定只写低</a:t>
            </a:r>
            <a:r>
              <a:rPr lang="en-US" altLang="zh-CN" dirty="0"/>
              <a:t>8</a:t>
            </a:r>
            <a:r>
              <a:rPr lang="zh-CN" altLang="en-US" dirty="0"/>
              <a:t>位，则写入的为计数初值的低</a:t>
            </a:r>
            <a:r>
              <a:rPr lang="en-US" altLang="zh-CN" dirty="0"/>
              <a:t>8</a:t>
            </a:r>
            <a:r>
              <a:rPr lang="zh-CN" altLang="en-US" dirty="0"/>
              <a:t>位，高</a:t>
            </a:r>
            <a:r>
              <a:rPr lang="en-US" altLang="zh-CN" dirty="0"/>
              <a:t>8</a:t>
            </a:r>
            <a:r>
              <a:rPr lang="zh-CN" altLang="en-US" dirty="0"/>
              <a:t>位自动置</a:t>
            </a:r>
            <a:r>
              <a:rPr lang="en-US" altLang="zh-CN" dirty="0"/>
              <a:t>0;</a:t>
            </a:r>
            <a:endParaRPr lang="en-US" altLang="zh-CN" dirty="0"/>
          </a:p>
          <a:p>
            <a:pPr lvl="1"/>
            <a:r>
              <a:rPr lang="zh-CN" altLang="en-US" dirty="0"/>
              <a:t>若规定只写高</a:t>
            </a:r>
            <a:r>
              <a:rPr lang="en-US" altLang="zh-CN" dirty="0"/>
              <a:t>8</a:t>
            </a:r>
            <a:r>
              <a:rPr lang="zh-CN" altLang="en-US" dirty="0"/>
              <a:t>位，则写入的为计数初值的高</a:t>
            </a:r>
            <a:r>
              <a:rPr lang="en-US" altLang="zh-CN" dirty="0"/>
              <a:t>8</a:t>
            </a:r>
            <a:r>
              <a:rPr lang="zh-CN" altLang="en-US" dirty="0"/>
              <a:t>位，低</a:t>
            </a:r>
            <a:r>
              <a:rPr lang="en-US" altLang="zh-CN" dirty="0"/>
              <a:t>8</a:t>
            </a:r>
            <a:r>
              <a:rPr lang="zh-CN" altLang="en-US" dirty="0"/>
              <a:t>位自动置</a:t>
            </a:r>
            <a:r>
              <a:rPr lang="en-US" altLang="zh-CN" dirty="0"/>
              <a:t>0;</a:t>
            </a:r>
            <a:endParaRPr lang="en-US" altLang="zh-CN" dirty="0"/>
          </a:p>
          <a:p>
            <a:pPr lvl="1"/>
            <a:r>
              <a:rPr lang="zh-CN" altLang="en-US" dirty="0"/>
              <a:t>若是</a:t>
            </a:r>
            <a:r>
              <a:rPr lang="en-US" altLang="zh-CN" dirty="0"/>
              <a:t>16</a:t>
            </a:r>
            <a:r>
              <a:rPr lang="zh-CN" altLang="en-US" dirty="0"/>
              <a:t>位计数初值，则分两次写入，先写入低</a:t>
            </a:r>
            <a:r>
              <a:rPr lang="en-US" altLang="zh-CN" dirty="0"/>
              <a:t>8</a:t>
            </a:r>
            <a:r>
              <a:rPr lang="zh-CN" altLang="en-US" dirty="0"/>
              <a:t>位，再写入高</a:t>
            </a:r>
            <a:r>
              <a:rPr lang="en-US" altLang="zh-CN" dirty="0"/>
              <a:t>8</a:t>
            </a:r>
            <a:r>
              <a:rPr lang="zh-CN" altLang="en-US" dirty="0"/>
              <a:t>位。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的初始化编程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9263"/>
            <a:ext cx="10256321" cy="1071438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若要使计数器</a:t>
            </a:r>
            <a:r>
              <a:rPr lang="en-US" altLang="zh-CN" dirty="0"/>
              <a:t>0</a:t>
            </a:r>
            <a:r>
              <a:rPr lang="zh-CN" altLang="en-US" dirty="0"/>
              <a:t>工作在方式</a:t>
            </a:r>
            <a:r>
              <a:rPr lang="en-US" altLang="zh-CN" dirty="0"/>
              <a:t>1</a:t>
            </a:r>
            <a:r>
              <a:rPr lang="zh-CN" altLang="en-US" dirty="0"/>
              <a:t>，按</a:t>
            </a:r>
            <a:r>
              <a:rPr lang="en-US" altLang="zh-CN" dirty="0"/>
              <a:t>BCD</a:t>
            </a:r>
            <a:r>
              <a:rPr lang="zh-CN" altLang="en-US" dirty="0"/>
              <a:t>码计数，计数初值</a:t>
            </a:r>
            <a:endParaRPr lang="zh-CN" altLang="en-US" dirty="0"/>
          </a:p>
          <a:p>
            <a:r>
              <a:rPr lang="zh-CN" altLang="en-US" dirty="0"/>
              <a:t>为</a:t>
            </a:r>
            <a:r>
              <a:rPr lang="en-US" altLang="zh-CN" dirty="0"/>
              <a:t>5080</a:t>
            </a:r>
            <a:r>
              <a:rPr lang="zh-CN" altLang="en-US" dirty="0"/>
              <a:t>，若端口地址分别为</a:t>
            </a:r>
            <a:r>
              <a:rPr lang="en-US" altLang="zh-CN" dirty="0"/>
              <a:t>0F8H~0FBH</a:t>
            </a:r>
            <a:r>
              <a:rPr lang="zh-CN" altLang="en-US" dirty="0"/>
              <a:t>，则初始化程序为：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953985" y="3240657"/>
            <a:ext cx="60979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MOV AL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33H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；控制字为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00110011B </a:t>
            </a:r>
            <a:endParaRPr lang="en-US" altLang="zh-C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OUT 0FBH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；向计数器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写控制字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MOV AL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80H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；十进制数值后加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 </a:t>
            </a:r>
            <a:endParaRPr lang="en-US" altLang="zh-C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OUT 0F8H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；向计数器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写计数初值的低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MOV AL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50H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；十进制数值后加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 </a:t>
            </a:r>
            <a:endParaRPr lang="en-US" altLang="zh-C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OUT 0F8H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 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；向计数器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写计数初值的高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0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461" y="2790701"/>
            <a:ext cx="3930197" cy="3259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9.2.3  8253</a:t>
            </a:r>
            <a:r>
              <a:rPr lang="zh-CN"/>
              <a:t>的工作方式</a:t>
            </a:r>
            <a:endParaRPr 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752600"/>
            <a:ext cx="11286067" cy="4833938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sz="2800" b="1">
                <a:solidFill>
                  <a:schemeClr val="hlink"/>
                </a:solidFill>
              </a:rPr>
              <a:t>基本规则</a:t>
            </a:r>
            <a:r>
              <a:rPr lang="zh-CN" sz="2800"/>
              <a:t>：</a:t>
            </a:r>
            <a:endParaRPr lang="zh-CN" sz="2800"/>
          </a:p>
          <a:p>
            <a:pPr lvl="1">
              <a:lnSpc>
                <a:spcPct val="80000"/>
              </a:lnSpc>
            </a:pPr>
            <a:r>
              <a:rPr lang="zh-CN" sz="2800"/>
              <a:t>控制字写入计数器时，所有的控制逻辑电路立即复位，输出端</a:t>
            </a:r>
            <a:r>
              <a:rPr lang="zh-CN" altLang="zh-CN" sz="2800"/>
              <a:t>OUT</a:t>
            </a:r>
            <a:r>
              <a:rPr lang="zh-CN" sz="2800"/>
              <a:t>进入初始状态</a:t>
            </a:r>
            <a:r>
              <a:rPr lang="zh-CN" altLang="zh-CN" sz="2800"/>
              <a:t>(</a:t>
            </a:r>
            <a:r>
              <a:rPr lang="zh-CN" sz="2800"/>
              <a:t>高电平或者低电平</a:t>
            </a:r>
            <a:r>
              <a:rPr lang="zh-CN" altLang="zh-CN" sz="2800"/>
              <a:t>)</a:t>
            </a:r>
            <a:r>
              <a:rPr lang="zh-CN" sz="2800"/>
              <a:t>。</a:t>
            </a:r>
            <a:endParaRPr lang="zh-CN" sz="2800"/>
          </a:p>
          <a:p>
            <a:pPr lvl="1">
              <a:lnSpc>
                <a:spcPct val="80000"/>
              </a:lnSpc>
            </a:pPr>
            <a:r>
              <a:rPr lang="zh-CN" sz="2800"/>
              <a:t>初始值写入以后，要经过时钟的</a:t>
            </a:r>
            <a:r>
              <a:rPr lang="zh-CN" sz="2800">
                <a:solidFill>
                  <a:srgbClr val="FF0000"/>
                </a:solidFill>
              </a:rPr>
              <a:t>一个上升沿和一个下降沿</a:t>
            </a:r>
            <a:r>
              <a:rPr lang="zh-CN" sz="2800"/>
              <a:t>，计数执行部件才开始进行计数。</a:t>
            </a:r>
            <a:endParaRPr lang="zh-CN" sz="2800"/>
          </a:p>
          <a:p>
            <a:pPr lvl="1">
              <a:lnSpc>
                <a:spcPct val="80000"/>
              </a:lnSpc>
            </a:pPr>
            <a:r>
              <a:rPr lang="zh-CN" sz="2800"/>
              <a:t>通常，在时钟脉冲</a:t>
            </a:r>
            <a:r>
              <a:rPr lang="zh-CN" altLang="zh-CN" sz="2800"/>
              <a:t>CLK</a:t>
            </a:r>
            <a:r>
              <a:rPr lang="zh-CN" sz="2800"/>
              <a:t>的</a:t>
            </a:r>
            <a:r>
              <a:rPr lang="zh-CN" sz="2800">
                <a:solidFill>
                  <a:srgbClr val="FF0000"/>
                </a:solidFill>
              </a:rPr>
              <a:t>上升沿</a:t>
            </a:r>
            <a:r>
              <a:rPr lang="zh-CN" sz="2800"/>
              <a:t>，门控信号</a:t>
            </a:r>
            <a:r>
              <a:rPr lang="zh-CN" altLang="zh-CN" sz="2800"/>
              <a:t>GATE</a:t>
            </a:r>
            <a:r>
              <a:rPr lang="zh-CN" sz="2800"/>
              <a:t>被采样。</a:t>
            </a:r>
            <a:endParaRPr lang="zh-CN" sz="2800"/>
          </a:p>
          <a:p>
            <a:pPr lvl="1">
              <a:lnSpc>
                <a:spcPct val="80000"/>
              </a:lnSpc>
            </a:pPr>
            <a:r>
              <a:rPr lang="zh-CN" sz="2800"/>
              <a:t>在时钟脉冲的</a:t>
            </a:r>
            <a:r>
              <a:rPr lang="zh-CN" sz="2800">
                <a:solidFill>
                  <a:srgbClr val="FF0000"/>
                </a:solidFill>
              </a:rPr>
              <a:t>下降沿</a:t>
            </a:r>
            <a:r>
              <a:rPr lang="zh-CN" sz="2800"/>
              <a:t>，计数器作减</a:t>
            </a:r>
            <a:r>
              <a:rPr lang="zh-CN" altLang="zh-CN" sz="2800"/>
              <a:t>1</a:t>
            </a:r>
            <a:r>
              <a:rPr lang="zh-CN" sz="2800"/>
              <a:t>计数。</a:t>
            </a:r>
            <a:endParaRPr lang="zh-CN" sz="2800"/>
          </a:p>
          <a:p>
            <a:pPr lvl="1">
              <a:lnSpc>
                <a:spcPct val="80000"/>
              </a:lnSpc>
            </a:pPr>
            <a:r>
              <a:rPr lang="zh-CN" altLang="zh-CN" sz="2800"/>
              <a:t>0</a:t>
            </a:r>
            <a:r>
              <a:rPr lang="zh-CN" sz="2800"/>
              <a:t>是计数器所能容纳的最大初始值，当选用二进制时，</a:t>
            </a:r>
            <a:r>
              <a:rPr lang="zh-CN" altLang="zh-CN" sz="2800"/>
              <a:t>0</a:t>
            </a:r>
            <a:r>
              <a:rPr lang="zh-CN" sz="2800"/>
              <a:t>相当于</a:t>
            </a:r>
            <a:r>
              <a:rPr lang="zh-CN" altLang="zh-CN" sz="2800"/>
              <a:t>2</a:t>
            </a:r>
            <a:r>
              <a:rPr lang="zh-CN" altLang="zh-CN" sz="2800" baseline="30000"/>
              <a:t>16</a:t>
            </a:r>
            <a:r>
              <a:rPr lang="zh-CN" sz="2800"/>
              <a:t>；用</a:t>
            </a:r>
            <a:r>
              <a:rPr lang="zh-CN" altLang="zh-CN" sz="2800"/>
              <a:t>BCD</a:t>
            </a:r>
            <a:r>
              <a:rPr lang="zh-CN" sz="2800"/>
              <a:t>码时，</a:t>
            </a:r>
            <a:r>
              <a:rPr lang="zh-CN" altLang="zh-CN" sz="2800"/>
              <a:t>0</a:t>
            </a:r>
            <a:r>
              <a:rPr lang="zh-CN" sz="2800"/>
              <a:t>相当于</a:t>
            </a:r>
            <a:r>
              <a:rPr lang="zh-CN" altLang="zh-CN" sz="2800"/>
              <a:t>l0</a:t>
            </a:r>
            <a:r>
              <a:rPr lang="zh-CN" altLang="zh-CN" sz="2800" baseline="30000"/>
              <a:t>4</a:t>
            </a:r>
            <a:r>
              <a:rPr lang="zh-CN" sz="2800"/>
              <a:t>。</a:t>
            </a:r>
            <a:endParaRPr lang="zh-CN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002723"/>
          </a:xfrm>
        </p:spPr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的工作方式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595" y="1124961"/>
            <a:ext cx="10058400" cy="4913889"/>
          </a:xfrm>
        </p:spPr>
        <p:txBody>
          <a:bodyPr/>
          <a:lstStyle/>
          <a:p>
            <a:r>
              <a:rPr lang="en-US" altLang="zh-CN" sz="2400" dirty="0"/>
              <a:t>8253</a:t>
            </a:r>
            <a:r>
              <a:rPr lang="zh-CN" altLang="en-US" sz="2400" dirty="0"/>
              <a:t>共有六种工作方式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lvl="1"/>
            <a:r>
              <a:rPr lang="zh-CN" altLang="en-US" sz="2400" dirty="0"/>
              <a:t>工作方式</a:t>
            </a:r>
            <a:r>
              <a:rPr lang="en-US" altLang="zh-CN" sz="2400" dirty="0"/>
              <a:t>0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zh-CN" altLang="en-US" sz="2400" dirty="0"/>
              <a:t>计数结束产生中断</a:t>
            </a:r>
            <a:endParaRPr lang="en-US" altLang="zh-CN" sz="2400" dirty="0"/>
          </a:p>
          <a:p>
            <a:pPr marL="344170" lvl="1" indent="0">
              <a:buNone/>
            </a:pPr>
            <a:endParaRPr lang="en-US" altLang="zh-CN" sz="2400" dirty="0"/>
          </a:p>
          <a:p>
            <a:pPr marL="344170" lvl="1" indent="0">
              <a:buNone/>
            </a:pPr>
            <a:endParaRPr lang="zh-CN" altLang="en-US" sz="2400" dirty="0"/>
          </a:p>
          <a:p>
            <a:pPr marL="34417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）写入控制字</a:t>
            </a:r>
            <a:r>
              <a:rPr lang="en-US" altLang="zh-CN" sz="2400" dirty="0"/>
              <a:t>(CW)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变为低电平；</a:t>
            </a:r>
            <a:endParaRPr lang="en-US" altLang="zh-CN" sz="2400" dirty="0"/>
          </a:p>
          <a:p>
            <a:pPr marL="34417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）写入初值</a:t>
            </a:r>
            <a:r>
              <a:rPr lang="en-US" altLang="zh-CN" sz="2400" dirty="0"/>
              <a:t>(n=6)</a:t>
            </a:r>
            <a:r>
              <a:rPr lang="zh-CN" altLang="en-US" sz="2400" dirty="0"/>
              <a:t>后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</a:t>
            </a:r>
            <a:r>
              <a:rPr lang="en-US" altLang="zh-CN" sz="2400" dirty="0"/>
              <a:t>CR</a:t>
            </a:r>
            <a:r>
              <a:rPr lang="zh-CN" altLang="en-US" sz="2400" dirty="0"/>
              <a:t>寄存器，再经一个</a:t>
            </a:r>
            <a:r>
              <a:rPr lang="en-US" altLang="zh-CN" sz="2400" dirty="0"/>
              <a:t>CLK</a:t>
            </a:r>
            <a:r>
              <a:rPr lang="zh-CN" altLang="en-US" sz="2400" dirty="0"/>
              <a:t>信号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初值进入计数执行部件；</a:t>
            </a:r>
            <a:endParaRPr lang="en-US" altLang="zh-CN" sz="2400" dirty="0"/>
          </a:p>
          <a:p>
            <a:pPr marL="34417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GATE=1</a:t>
            </a:r>
            <a:r>
              <a:rPr lang="zh-CN" altLang="en-US" sz="2400" dirty="0"/>
              <a:t>允许对</a:t>
            </a:r>
            <a:r>
              <a:rPr lang="en-US" altLang="zh-CN" sz="2400" dirty="0"/>
              <a:t>CLK</a:t>
            </a:r>
            <a:r>
              <a:rPr lang="zh-CN" altLang="en-US" sz="2400" dirty="0"/>
              <a:t>计数</a:t>
            </a:r>
            <a:r>
              <a:rPr lang="en-US" altLang="zh-CN" sz="2400" dirty="0"/>
              <a:t>,GATE=0</a:t>
            </a:r>
            <a:r>
              <a:rPr lang="zh-CN" altLang="en-US" sz="2400" dirty="0"/>
              <a:t>计数停止；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）计数值到</a:t>
            </a:r>
            <a:r>
              <a:rPr lang="en-US" altLang="zh-CN" sz="2400" dirty="0"/>
              <a:t>0</a:t>
            </a:r>
            <a:r>
              <a:rPr lang="zh-CN" altLang="en-US" sz="2400" dirty="0"/>
              <a:t>时计数结束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34417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）计数结束后</a:t>
            </a:r>
            <a:r>
              <a:rPr lang="en-US" altLang="zh-CN" sz="2400" dirty="0"/>
              <a:t>,</a:t>
            </a:r>
            <a:r>
              <a:rPr lang="zh-CN" altLang="en-US" sz="2400" dirty="0"/>
              <a:t>重新送入计数值，可以进行下一轮计数。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zh-CN" altLang="en-US" sz="2400" dirty="0"/>
              <a:t>注：方式</a:t>
            </a:r>
            <a:r>
              <a:rPr lang="en-US" altLang="zh-CN" sz="2400" dirty="0"/>
              <a:t>0</a:t>
            </a:r>
            <a:r>
              <a:rPr lang="zh-CN" altLang="en-US" sz="2400" dirty="0"/>
              <a:t>，一次定时或计数</a:t>
            </a:r>
            <a:r>
              <a:rPr lang="en-US" altLang="zh-CN" sz="2400" dirty="0"/>
              <a:t>,</a:t>
            </a:r>
            <a:r>
              <a:rPr lang="zh-CN" altLang="en-US" sz="2400" dirty="0"/>
              <a:t>重写初值</a:t>
            </a:r>
            <a:r>
              <a:rPr lang="en-US" altLang="zh-CN" sz="2400" dirty="0"/>
              <a:t>,</a:t>
            </a:r>
            <a:r>
              <a:rPr lang="zh-CN" altLang="en-US" sz="2400" dirty="0"/>
              <a:t>启动新一轮的计数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图片 26627" descr="tu9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912" y="1041604"/>
            <a:ext cx="5520088" cy="2172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683" y="1421411"/>
            <a:ext cx="3368634" cy="709035"/>
          </a:xfrm>
        </p:spPr>
        <p:txBody>
          <a:bodyPr/>
          <a:lstStyle/>
          <a:p>
            <a:r>
              <a:rPr lang="zh-CN" altLang="en-US" dirty="0"/>
              <a:t>工作方式</a:t>
            </a:r>
            <a:r>
              <a:rPr lang="en-US" altLang="zh-CN" dirty="0"/>
              <a:t>1</a:t>
            </a:r>
            <a:r>
              <a:rPr lang="zh-CN" altLang="en-US" dirty="0"/>
              <a:t>：单脉冲触发器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905669"/>
            <a:ext cx="10058400" cy="27686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）写入控制字</a:t>
            </a:r>
            <a:r>
              <a:rPr lang="en-US" altLang="zh-CN" sz="2400" dirty="0"/>
              <a:t>(CW)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）写入初值</a:t>
            </a:r>
            <a:r>
              <a:rPr lang="en-US" altLang="zh-CN" sz="2400" dirty="0"/>
              <a:t>(n=3)</a:t>
            </a:r>
            <a:r>
              <a:rPr lang="zh-CN" altLang="en-US" sz="2400" dirty="0"/>
              <a:t>后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初值进入初值寄存器</a:t>
            </a:r>
            <a:r>
              <a:rPr lang="en-US" altLang="zh-CN" sz="2400" dirty="0"/>
              <a:t>CR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GATE</a:t>
            </a:r>
            <a:r>
              <a:rPr lang="zh-CN" altLang="en-US" sz="2400" dirty="0"/>
              <a:t>上升沿使边沿触发器受到触发</a:t>
            </a:r>
            <a:r>
              <a:rPr lang="en-US" altLang="zh-CN" sz="2400" dirty="0"/>
              <a:t>,</a:t>
            </a:r>
            <a:r>
              <a:rPr lang="zh-CN" altLang="en-US" sz="2400" dirty="0"/>
              <a:t>再经一个</a:t>
            </a:r>
            <a:r>
              <a:rPr lang="en-US" altLang="zh-CN" sz="2400" dirty="0"/>
              <a:t>CLK</a:t>
            </a:r>
            <a:r>
              <a:rPr lang="zh-CN" altLang="en-US" sz="2400" dirty="0"/>
              <a:t>信号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初值进入计数执行部件</a:t>
            </a:r>
            <a:r>
              <a:rPr lang="en-US" altLang="zh-CN" sz="2400" dirty="0"/>
              <a:t>CE,OUT</a:t>
            </a:r>
            <a:r>
              <a:rPr lang="zh-CN" altLang="en-US" sz="2400" dirty="0"/>
              <a:t>信号变低，同时开始对</a:t>
            </a:r>
            <a:r>
              <a:rPr lang="en-US" altLang="zh-CN" sz="2400" dirty="0"/>
              <a:t>CLK</a:t>
            </a:r>
            <a:r>
              <a:rPr lang="zh-CN" altLang="en-US" sz="2400" dirty="0"/>
              <a:t>计数；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）计数值到</a:t>
            </a:r>
            <a:r>
              <a:rPr lang="en-US" altLang="zh-CN" sz="2400" dirty="0"/>
              <a:t>0</a:t>
            </a:r>
            <a:r>
              <a:rPr lang="zh-CN" altLang="en-US" sz="2400" dirty="0"/>
              <a:t>时计数结束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）计数结束后</a:t>
            </a:r>
            <a:r>
              <a:rPr lang="en-US" altLang="zh-CN" sz="2400" dirty="0"/>
              <a:t>,</a:t>
            </a:r>
            <a:r>
              <a:rPr lang="zh-CN" altLang="en-US" sz="2400" dirty="0"/>
              <a:t>如果</a:t>
            </a:r>
            <a:r>
              <a:rPr lang="en-US" altLang="zh-CN" sz="2400" dirty="0"/>
              <a:t>GATE</a:t>
            </a:r>
            <a:r>
              <a:rPr lang="zh-CN" altLang="en-US" sz="2400" dirty="0"/>
              <a:t>边沿再触发</a:t>
            </a:r>
            <a:r>
              <a:rPr lang="en-US" altLang="zh-CN" sz="2400" dirty="0"/>
              <a:t>,OUT</a:t>
            </a:r>
            <a:r>
              <a:rPr lang="zh-CN" altLang="en-US" sz="2400" dirty="0"/>
              <a:t>信号重新为低</a:t>
            </a:r>
            <a:r>
              <a:rPr lang="en-US" altLang="zh-CN" sz="2400" dirty="0"/>
              <a:t>,</a:t>
            </a:r>
            <a:r>
              <a:rPr lang="zh-CN" altLang="en-US" sz="2400" dirty="0"/>
              <a:t>才重新启动新一轮计数。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2" name="图片 28675" descr="tu9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317" y="314151"/>
            <a:ext cx="6779573" cy="2591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40" y="1097443"/>
            <a:ext cx="2751117" cy="604837"/>
          </a:xfrm>
        </p:spPr>
        <p:txBody>
          <a:bodyPr/>
          <a:lstStyle/>
          <a:p>
            <a:r>
              <a:rPr lang="zh-CN" altLang="en-US" dirty="0"/>
              <a:t>工作方式</a:t>
            </a:r>
            <a:r>
              <a:rPr lang="en-US" altLang="zh-CN" dirty="0"/>
              <a:t>2</a:t>
            </a:r>
            <a:r>
              <a:rPr lang="zh-CN" altLang="en-US" dirty="0"/>
              <a:t>：分频器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838202"/>
            <a:ext cx="10058400" cy="31977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）写入控制字</a:t>
            </a:r>
            <a:r>
              <a:rPr lang="en-US" altLang="zh-CN" sz="2400" dirty="0"/>
              <a:t>(CW)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）写入初值</a:t>
            </a:r>
            <a:r>
              <a:rPr lang="en-US" altLang="zh-CN" sz="2400" dirty="0"/>
              <a:t>(n=3)</a:t>
            </a:r>
            <a:r>
              <a:rPr lang="zh-CN" altLang="en-US" sz="2400" dirty="0"/>
              <a:t>后</a:t>
            </a:r>
            <a:r>
              <a:rPr lang="en-US" altLang="zh-CN" sz="2400" dirty="0"/>
              <a:t>,</a:t>
            </a:r>
            <a:r>
              <a:rPr lang="zh-CN" altLang="en-US" sz="2400" dirty="0"/>
              <a:t>再经一个</a:t>
            </a:r>
            <a:r>
              <a:rPr lang="en-US" altLang="zh-CN" sz="2400" dirty="0"/>
              <a:t>CLK</a:t>
            </a:r>
            <a:r>
              <a:rPr lang="zh-CN" altLang="en-US" sz="2400" dirty="0"/>
              <a:t>信号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初值进入计数执行部件</a:t>
            </a:r>
            <a:r>
              <a:rPr lang="en-US" altLang="zh-CN" sz="2400" dirty="0"/>
              <a:t>,</a:t>
            </a:r>
            <a:r>
              <a:rPr lang="zh-CN" altLang="en-US" sz="2400" dirty="0"/>
              <a:t>开始计数；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GATE=1</a:t>
            </a:r>
            <a:r>
              <a:rPr lang="zh-CN" altLang="en-US" sz="2400" dirty="0"/>
              <a:t>允许对</a:t>
            </a:r>
            <a:r>
              <a:rPr lang="en-US" altLang="zh-CN" sz="2400" dirty="0"/>
              <a:t>CLK</a:t>
            </a:r>
            <a:r>
              <a:rPr lang="zh-CN" altLang="en-US" sz="2400" dirty="0"/>
              <a:t>计数</a:t>
            </a:r>
            <a:r>
              <a:rPr lang="en-US" altLang="zh-CN" sz="2400" dirty="0"/>
              <a:t>,GATE=0</a:t>
            </a:r>
            <a:r>
              <a:rPr lang="zh-CN" altLang="en-US" sz="2400" dirty="0"/>
              <a:t>计数停止；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）计数值计数到</a:t>
            </a:r>
            <a:r>
              <a:rPr lang="en-US" altLang="zh-CN" sz="2400" dirty="0"/>
              <a:t>1</a:t>
            </a:r>
            <a:r>
              <a:rPr lang="zh-CN" altLang="en-US" sz="2400" dirty="0"/>
              <a:t>时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变为低电平</a:t>
            </a:r>
            <a:r>
              <a:rPr lang="en-US" altLang="zh-CN" sz="2400" dirty="0"/>
              <a:t>,</a:t>
            </a:r>
            <a:r>
              <a:rPr lang="zh-CN" altLang="en-US" sz="2400" dirty="0"/>
              <a:t>经一个</a:t>
            </a:r>
            <a:r>
              <a:rPr lang="en-US" altLang="zh-CN" sz="2400" dirty="0"/>
              <a:t>CLK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变高</a:t>
            </a:r>
            <a:r>
              <a:rPr lang="en-US" altLang="zh-CN" sz="2400" dirty="0"/>
              <a:t>,</a:t>
            </a:r>
            <a:r>
              <a:rPr lang="zh-CN" altLang="en-US" sz="2400" dirty="0"/>
              <a:t>计数执行部件自动从初值寄存器获得原初值</a:t>
            </a:r>
            <a:r>
              <a:rPr lang="en-US" altLang="zh-CN" sz="2400" dirty="0"/>
              <a:t>,</a:t>
            </a:r>
            <a:r>
              <a:rPr lang="zh-CN" altLang="en-US" sz="2400" dirty="0"/>
              <a:t>并自动重新开始新一轮计数</a:t>
            </a:r>
            <a:r>
              <a:rPr lang="en-US" altLang="zh-CN" sz="2400" dirty="0"/>
              <a:t>,</a:t>
            </a:r>
            <a:r>
              <a:rPr lang="zh-CN" altLang="en-US" sz="2400" dirty="0"/>
              <a:t>如此反复进行</a:t>
            </a:r>
            <a:r>
              <a:rPr lang="en-US" altLang="zh-CN" sz="2400" dirty="0"/>
              <a:t>,</a:t>
            </a:r>
            <a:r>
              <a:rPr lang="zh-CN" altLang="en-US" sz="2400" dirty="0"/>
              <a:t>直到重新对</a:t>
            </a:r>
            <a:r>
              <a:rPr lang="en-US" altLang="zh-CN" sz="2400" dirty="0"/>
              <a:t>8253</a:t>
            </a:r>
            <a:r>
              <a:rPr lang="zh-CN" altLang="en-US" sz="2400" dirty="0"/>
              <a:t>初始化或</a:t>
            </a:r>
            <a:r>
              <a:rPr lang="en-US" altLang="zh-CN" sz="2400" dirty="0"/>
              <a:t>GATE</a:t>
            </a:r>
            <a:r>
              <a:rPr lang="zh-CN" altLang="en-US" sz="2400" dirty="0"/>
              <a:t>变低。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注：工作方式</a:t>
            </a:r>
            <a:r>
              <a:rPr lang="en-US" altLang="zh-CN" sz="2400" dirty="0"/>
              <a:t>2</a:t>
            </a:r>
            <a:r>
              <a:rPr lang="zh-CN" altLang="en-US" sz="2400" dirty="0"/>
              <a:t>，具有计数初值重装能力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30723" descr="tu9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248" y="251404"/>
            <a:ext cx="7150962" cy="268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912" y="634423"/>
            <a:ext cx="3024249" cy="1295400"/>
          </a:xfrm>
        </p:spPr>
        <p:txBody>
          <a:bodyPr/>
          <a:lstStyle/>
          <a:p>
            <a:r>
              <a:rPr lang="zh-CN" altLang="en-US" dirty="0"/>
              <a:t>工作方式</a:t>
            </a:r>
            <a:r>
              <a:rPr lang="en-US" altLang="zh-CN" dirty="0"/>
              <a:t>3</a:t>
            </a:r>
            <a:r>
              <a:rPr lang="zh-CN" altLang="en-US" dirty="0"/>
              <a:t>：方波发生器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23" y="2854325"/>
            <a:ext cx="10058400" cy="2701925"/>
          </a:xfrm>
        </p:spPr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写入控制字</a:t>
            </a:r>
            <a:r>
              <a:rPr lang="en-US" altLang="zh-CN" dirty="0"/>
              <a:t>(CW)</a:t>
            </a:r>
            <a:r>
              <a:rPr lang="zh-CN" altLang="en-US" dirty="0"/>
              <a:t>后</a:t>
            </a:r>
            <a:r>
              <a:rPr lang="en-US" altLang="zh-CN" dirty="0"/>
              <a:t>,OUT</a:t>
            </a:r>
            <a:r>
              <a:rPr lang="zh-CN" altLang="en-US" dirty="0"/>
              <a:t>变为高电平；</a:t>
            </a:r>
            <a:endParaRPr lang="en-US" altLang="zh-CN" dirty="0"/>
          </a:p>
          <a:p>
            <a:r>
              <a:rPr lang="en-US" altLang="zh-CN" dirty="0"/>
              <a:t>(2)</a:t>
            </a:r>
            <a:r>
              <a:rPr lang="zh-CN" altLang="en-US" dirty="0"/>
              <a:t>写入初值</a:t>
            </a:r>
            <a:r>
              <a:rPr lang="en-US" altLang="zh-CN" dirty="0"/>
              <a:t>n</a:t>
            </a:r>
            <a:r>
              <a:rPr lang="zh-CN" altLang="en-US" dirty="0"/>
              <a:t>后</a:t>
            </a:r>
            <a:r>
              <a:rPr lang="en-US" altLang="zh-CN" dirty="0"/>
              <a:t>,</a:t>
            </a:r>
            <a:r>
              <a:rPr lang="zh-CN" altLang="en-US" dirty="0"/>
              <a:t>经过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CLK</a:t>
            </a:r>
            <a:r>
              <a:rPr lang="zh-CN" altLang="en-US" dirty="0"/>
              <a:t>信号</a:t>
            </a:r>
            <a:r>
              <a:rPr lang="en-US" altLang="zh-CN" dirty="0"/>
              <a:t>,</a:t>
            </a:r>
            <a:r>
              <a:rPr lang="zh-CN" altLang="en-US" dirty="0"/>
              <a:t>初值进入执行部件</a:t>
            </a:r>
            <a:r>
              <a:rPr lang="en-US" altLang="zh-CN" dirty="0"/>
              <a:t>,</a:t>
            </a:r>
            <a:r>
              <a:rPr lang="zh-CN" altLang="en-US" dirty="0"/>
              <a:t>开始计数；</a:t>
            </a:r>
            <a:endParaRPr lang="zh-CN" altLang="en-US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为偶数时，每经过一个</a:t>
            </a:r>
            <a:r>
              <a:rPr lang="en-US" altLang="zh-CN" dirty="0"/>
              <a:t>CLK</a:t>
            </a:r>
            <a:r>
              <a:rPr lang="zh-CN" altLang="en-US" dirty="0"/>
              <a:t>信号，</a:t>
            </a:r>
            <a:r>
              <a:rPr lang="en-US" altLang="zh-CN" dirty="0"/>
              <a:t>n</a:t>
            </a:r>
            <a:r>
              <a:rPr lang="zh-CN" altLang="en-US" dirty="0"/>
              <a:t>减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r>
              <a:rPr lang="en-US" altLang="zh-CN" dirty="0"/>
              <a:t>n</a:t>
            </a:r>
            <a:r>
              <a:rPr lang="zh-CN" altLang="en-US" dirty="0"/>
              <a:t>减到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OUT</a:t>
            </a:r>
            <a:r>
              <a:rPr lang="zh-CN" altLang="en-US" dirty="0"/>
              <a:t>反转，重新装入计数值，进行</a:t>
            </a:r>
            <a:r>
              <a:rPr lang="en-US" altLang="zh-CN" dirty="0"/>
              <a:t>OUT</a:t>
            </a:r>
            <a:r>
              <a:rPr lang="zh-CN" altLang="en-US" dirty="0"/>
              <a:t>负半周计数。</a:t>
            </a:r>
            <a:endParaRPr lang="zh-CN" altLang="en-US" dirty="0"/>
          </a:p>
          <a:p>
            <a:pPr lvl="1"/>
            <a:r>
              <a:rPr lang="en-US" altLang="zh-CN" dirty="0"/>
              <a:t>OUT</a:t>
            </a:r>
            <a:r>
              <a:rPr lang="zh-CN" altLang="en-US" dirty="0"/>
              <a:t>正半周与负半周时间相等，为</a:t>
            </a:r>
            <a:r>
              <a:rPr lang="en-US" altLang="zh-CN" dirty="0"/>
              <a:t>TCLK*n/2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161" y="152400"/>
            <a:ext cx="6327009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890649"/>
            <a:ext cx="9911937" cy="5240276"/>
          </a:xfrm>
        </p:spPr>
        <p:txBody>
          <a:bodyPr/>
          <a:lstStyle/>
          <a:p>
            <a:pPr lvl="1"/>
            <a:r>
              <a:rPr lang="zh-CN" altLang="en-US" dirty="0"/>
              <a:t>当</a:t>
            </a:r>
            <a:r>
              <a:rPr lang="en-US" altLang="zh-CN" dirty="0"/>
              <a:t>n</a:t>
            </a:r>
            <a:r>
              <a:rPr lang="zh-CN" altLang="en-US" dirty="0"/>
              <a:t>为奇数时，</a:t>
            </a:r>
            <a:r>
              <a:rPr lang="en-US" altLang="zh-CN" dirty="0"/>
              <a:t>OUT</a:t>
            </a:r>
            <a:r>
              <a:rPr lang="zh-CN" altLang="en-US" dirty="0"/>
              <a:t>正半周，第一个</a:t>
            </a:r>
            <a:r>
              <a:rPr lang="en-US" altLang="zh-CN" dirty="0"/>
              <a:t>CLK</a:t>
            </a:r>
            <a:r>
              <a:rPr lang="zh-CN" altLang="en-US" dirty="0"/>
              <a:t>到来时，</a:t>
            </a:r>
            <a:r>
              <a:rPr lang="en-US" altLang="zh-CN" dirty="0"/>
              <a:t>n-1</a:t>
            </a:r>
            <a:r>
              <a:rPr lang="zh-CN" altLang="en-US" dirty="0"/>
              <a:t>；随着随后的</a:t>
            </a:r>
            <a:r>
              <a:rPr lang="en-US" altLang="zh-CN" dirty="0"/>
              <a:t>CLK</a:t>
            </a:r>
            <a:r>
              <a:rPr lang="zh-CN" altLang="en-US" dirty="0"/>
              <a:t>到来，</a:t>
            </a:r>
            <a:r>
              <a:rPr lang="en-US" altLang="zh-CN" dirty="0"/>
              <a:t>n-2</a:t>
            </a:r>
            <a:r>
              <a:rPr lang="zh-CN" altLang="en-US" dirty="0"/>
              <a:t>直至计数到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OUT</a:t>
            </a:r>
            <a:r>
              <a:rPr lang="zh-CN" altLang="en-US" dirty="0"/>
              <a:t>反转为低电平；计数值重装后，第一个</a:t>
            </a:r>
            <a:r>
              <a:rPr lang="en-US" altLang="zh-CN" dirty="0"/>
              <a:t>CLK</a:t>
            </a:r>
            <a:r>
              <a:rPr lang="zh-CN" altLang="en-US" dirty="0"/>
              <a:t>到</a:t>
            </a:r>
            <a:r>
              <a:rPr lang="en-US" altLang="zh-CN" dirty="0"/>
              <a:t>n-3</a:t>
            </a:r>
            <a:r>
              <a:rPr lang="zh-CN" altLang="en-US" dirty="0"/>
              <a:t>，随着随后的</a:t>
            </a:r>
            <a:r>
              <a:rPr lang="en-US" altLang="zh-CN" dirty="0"/>
              <a:t>CLK</a:t>
            </a:r>
            <a:r>
              <a:rPr lang="zh-CN" altLang="en-US" dirty="0"/>
              <a:t>到来，</a:t>
            </a:r>
            <a:r>
              <a:rPr lang="en-US" altLang="zh-CN" dirty="0"/>
              <a:t>n-2</a:t>
            </a:r>
            <a:r>
              <a:rPr lang="zh-CN" altLang="en-US" dirty="0"/>
              <a:t>直至计数到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OUT</a:t>
            </a:r>
            <a:r>
              <a:rPr lang="zh-CN" altLang="en-US" dirty="0"/>
              <a:t>反转为高电平；自动重装计数值后新开始新一轮计数</a:t>
            </a:r>
            <a:r>
              <a:rPr lang="en-US" altLang="zh-CN" dirty="0"/>
              <a:t>,</a:t>
            </a:r>
            <a:r>
              <a:rPr lang="zh-CN" altLang="en-US" dirty="0"/>
              <a:t>如此重复进行。</a:t>
            </a:r>
            <a:endParaRPr lang="zh-CN" altLang="en-US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为奇数时，</a:t>
            </a:r>
            <a:r>
              <a:rPr lang="en-US" altLang="zh-CN" dirty="0"/>
              <a:t>OUT</a:t>
            </a:r>
            <a:r>
              <a:rPr lang="zh-CN" altLang="en-US" dirty="0"/>
              <a:t>的正半周时间为</a:t>
            </a:r>
            <a:r>
              <a:rPr lang="en-US" altLang="zh-CN" dirty="0"/>
              <a:t>TCLK*(n+1</a:t>
            </a:r>
            <a:r>
              <a:rPr lang="zh-CN" altLang="en-US" dirty="0"/>
              <a:t>）</a:t>
            </a:r>
            <a:r>
              <a:rPr lang="en-US" altLang="zh-CN" dirty="0"/>
              <a:t>/2</a:t>
            </a:r>
            <a:r>
              <a:rPr lang="zh-CN" altLang="en-US" dirty="0"/>
              <a:t>，</a:t>
            </a:r>
            <a:r>
              <a:rPr lang="en-US" altLang="zh-CN" dirty="0"/>
              <a:t>OUT</a:t>
            </a:r>
            <a:r>
              <a:rPr lang="zh-CN" altLang="en-US" dirty="0"/>
              <a:t>的后半周时间为</a:t>
            </a:r>
            <a:r>
              <a:rPr lang="en-US" altLang="zh-CN" dirty="0"/>
              <a:t>TCLK*(n-1</a:t>
            </a:r>
            <a:r>
              <a:rPr lang="zh-CN" altLang="en-US" dirty="0"/>
              <a:t>）</a:t>
            </a:r>
            <a:r>
              <a:rPr lang="en-US" altLang="zh-CN" dirty="0"/>
              <a:t>/2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GATE=1</a:t>
            </a:r>
            <a:r>
              <a:rPr lang="zh-CN" altLang="en-US" dirty="0"/>
              <a:t>允许对</a:t>
            </a:r>
            <a:r>
              <a:rPr lang="en-US" altLang="zh-CN" dirty="0"/>
              <a:t>CLK</a:t>
            </a:r>
            <a:r>
              <a:rPr lang="zh-CN" altLang="en-US" dirty="0"/>
              <a:t>计数</a:t>
            </a:r>
            <a:r>
              <a:rPr lang="en-US" altLang="zh-CN" dirty="0"/>
              <a:t>,GATE=0</a:t>
            </a:r>
            <a:r>
              <a:rPr lang="zh-CN" altLang="en-US" dirty="0"/>
              <a:t>计数停止。</a:t>
            </a:r>
            <a:endParaRPr lang="zh-CN" altLang="en-US" dirty="0"/>
          </a:p>
          <a:p>
            <a:r>
              <a:rPr lang="zh-CN" altLang="en-US" dirty="0"/>
              <a:t>注：工作方式</a:t>
            </a:r>
            <a:r>
              <a:rPr lang="en-US" altLang="zh-CN" dirty="0"/>
              <a:t>3</a:t>
            </a:r>
            <a:r>
              <a:rPr lang="zh-CN" altLang="en-US" dirty="0"/>
              <a:t>，具有计数初值重装能力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3331030"/>
            <a:ext cx="10058400" cy="2568328"/>
          </a:xfrm>
        </p:spPr>
        <p:txBody>
          <a:bodyPr/>
          <a:lstStyle/>
          <a:p>
            <a:pPr lvl="1"/>
            <a:r>
              <a:rPr lang="zh-CN" altLang="en-US" dirty="0"/>
              <a:t>以计数初值</a:t>
            </a:r>
            <a:r>
              <a:rPr lang="en-US" altLang="zh-CN" dirty="0"/>
              <a:t>N=7</a:t>
            </a:r>
            <a:r>
              <a:rPr lang="zh-CN" altLang="en-US" dirty="0"/>
              <a:t>为例</a:t>
            </a:r>
            <a:r>
              <a:rPr lang="en-US" altLang="zh-CN" dirty="0"/>
              <a:t>,</a:t>
            </a:r>
            <a:r>
              <a:rPr lang="zh-CN" altLang="en-US" dirty="0"/>
              <a:t>开始计数时</a:t>
            </a:r>
            <a:r>
              <a:rPr lang="en-US" altLang="zh-CN" dirty="0"/>
              <a:t>,OUT</a:t>
            </a:r>
            <a:r>
              <a:rPr lang="zh-CN" altLang="en-US" dirty="0"/>
              <a:t>初始为高电平</a:t>
            </a:r>
            <a:r>
              <a:rPr lang="en-US" altLang="zh-CN" dirty="0"/>
              <a:t>,</a:t>
            </a:r>
            <a:r>
              <a:rPr lang="zh-CN" altLang="en-US" dirty="0"/>
              <a:t>当第一个计数脉冲到来时</a:t>
            </a:r>
            <a:r>
              <a:rPr lang="en-US" altLang="zh-CN" dirty="0"/>
              <a:t>,N=7-1=6,</a:t>
            </a:r>
            <a:r>
              <a:rPr lang="zh-CN" altLang="en-US" dirty="0"/>
              <a:t>第二个计数脉冲到来时</a:t>
            </a:r>
            <a:r>
              <a:rPr lang="en-US" altLang="zh-CN" dirty="0"/>
              <a:t>,N=6-2=4,</a:t>
            </a:r>
            <a:r>
              <a:rPr lang="zh-CN" altLang="en-US" dirty="0"/>
              <a:t>随着后续的计数脉冲到来</a:t>
            </a:r>
            <a:r>
              <a:rPr lang="en-US" altLang="zh-CN" dirty="0"/>
              <a:t>,N=4-2=2,N=2-2=0,</a:t>
            </a:r>
            <a:r>
              <a:rPr lang="zh-CN" altLang="en-US" dirty="0"/>
              <a:t>此时，</a:t>
            </a:r>
            <a:r>
              <a:rPr lang="en-US" altLang="zh-CN" dirty="0"/>
              <a:t>OUT</a:t>
            </a:r>
            <a:r>
              <a:rPr lang="zh-CN" altLang="en-US" dirty="0"/>
              <a:t>输出低电平</a:t>
            </a:r>
            <a:r>
              <a:rPr lang="en-US" altLang="zh-CN" dirty="0"/>
              <a:t>;</a:t>
            </a:r>
            <a:r>
              <a:rPr lang="zh-CN" altLang="en-US" dirty="0"/>
              <a:t>随后计数初值</a:t>
            </a:r>
            <a:r>
              <a:rPr lang="en-US" altLang="zh-CN" dirty="0"/>
              <a:t>N=7</a:t>
            </a:r>
            <a:r>
              <a:rPr lang="zh-CN" altLang="en-US" dirty="0"/>
              <a:t>自动重新装入计数器</a:t>
            </a:r>
            <a:r>
              <a:rPr lang="en-US" altLang="zh-CN" dirty="0"/>
              <a:t>,</a:t>
            </a:r>
            <a:r>
              <a:rPr lang="zh-CN" altLang="en-US" dirty="0"/>
              <a:t>当计数脉冲到来后</a:t>
            </a:r>
            <a:r>
              <a:rPr lang="en-US" altLang="zh-CN" dirty="0"/>
              <a:t>,N=7-3=4</a:t>
            </a:r>
            <a:r>
              <a:rPr lang="zh-CN" altLang="en-US" dirty="0"/>
              <a:t>，</a:t>
            </a:r>
            <a:r>
              <a:rPr lang="en-US" altLang="zh-CN" dirty="0"/>
              <a:t>N=4-2=2</a:t>
            </a:r>
            <a:r>
              <a:rPr lang="zh-CN" altLang="en-US" dirty="0"/>
              <a:t>，</a:t>
            </a:r>
            <a:r>
              <a:rPr lang="en-US" altLang="zh-CN" dirty="0"/>
              <a:t>N=2-2=0</a:t>
            </a:r>
            <a:r>
              <a:rPr lang="zh-CN" altLang="en-US" dirty="0"/>
              <a:t>，此时，</a:t>
            </a:r>
            <a:r>
              <a:rPr lang="en-US" altLang="zh-CN" dirty="0"/>
              <a:t>OUT</a:t>
            </a:r>
            <a:r>
              <a:rPr lang="zh-CN" altLang="en-US" dirty="0"/>
              <a:t>输出高电平，然后计数初值</a:t>
            </a:r>
            <a:r>
              <a:rPr lang="en-US" altLang="zh-CN" dirty="0"/>
              <a:t>N=7</a:t>
            </a:r>
            <a:r>
              <a:rPr lang="zh-CN" altLang="en-US" dirty="0"/>
              <a:t>自动重新装入计数器</a:t>
            </a:r>
            <a:r>
              <a:rPr lang="en-US" altLang="zh-CN" dirty="0"/>
              <a:t>,</a:t>
            </a:r>
            <a:r>
              <a:rPr lang="zh-CN" altLang="en-US" dirty="0"/>
              <a:t>以此往复进行计数。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244" y="549573"/>
            <a:ext cx="6701132" cy="2745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600" y="1093878"/>
            <a:ext cx="2113091" cy="763772"/>
          </a:xfrm>
        </p:spPr>
        <p:txBody>
          <a:bodyPr/>
          <a:lstStyle/>
          <a:p>
            <a:r>
              <a:rPr lang="zh-CN" altLang="en-US" sz="2400" dirty="0"/>
              <a:t>工作方式</a:t>
            </a:r>
            <a:r>
              <a:rPr lang="en-US" altLang="zh-CN" sz="2400" dirty="0"/>
              <a:t>4</a:t>
            </a:r>
            <a:r>
              <a:rPr lang="zh-CN" altLang="en-US" sz="2400" dirty="0"/>
              <a:t>：软件触发的选通信号发生器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2850077"/>
            <a:ext cx="10058400" cy="328084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）写入控制字</a:t>
            </a:r>
            <a:r>
              <a:rPr lang="en-US" altLang="zh-CN" sz="2400" dirty="0"/>
              <a:t>(CW)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）写入初值</a:t>
            </a:r>
            <a:r>
              <a:rPr lang="en-US" altLang="zh-CN" sz="2400" dirty="0"/>
              <a:t>(n=2)</a:t>
            </a:r>
            <a:r>
              <a:rPr lang="zh-CN" altLang="en-US" sz="2400" dirty="0"/>
              <a:t>后</a:t>
            </a:r>
            <a:r>
              <a:rPr lang="en-US" altLang="zh-CN" sz="2400" dirty="0"/>
              <a:t>,GATE=1</a:t>
            </a:r>
            <a:r>
              <a:rPr lang="zh-CN" altLang="en-US" sz="2400" dirty="0"/>
              <a:t>，再经过一个</a:t>
            </a:r>
            <a:r>
              <a:rPr lang="en-US" altLang="zh-CN" sz="2400" dirty="0"/>
              <a:t>CLK</a:t>
            </a:r>
            <a:r>
              <a:rPr lang="zh-CN" altLang="en-US" sz="2400" dirty="0"/>
              <a:t>信号</a:t>
            </a:r>
            <a:r>
              <a:rPr lang="en-US" altLang="zh-CN" sz="2400" dirty="0"/>
              <a:t>,</a:t>
            </a:r>
            <a:r>
              <a:rPr lang="zh-CN" altLang="en-US" sz="2400" dirty="0"/>
              <a:t>初值进入计数执行部件</a:t>
            </a:r>
            <a:r>
              <a:rPr lang="en-US" altLang="zh-CN" sz="2400" dirty="0"/>
              <a:t>,</a:t>
            </a:r>
            <a:r>
              <a:rPr lang="zh-CN" altLang="en-US" sz="2400" dirty="0"/>
              <a:t>开始计数；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GATE=1</a:t>
            </a:r>
            <a:r>
              <a:rPr lang="zh-CN" altLang="en-US" sz="2400" dirty="0"/>
              <a:t>允许对</a:t>
            </a:r>
            <a:r>
              <a:rPr lang="en-US" altLang="zh-CN" sz="2400" dirty="0"/>
              <a:t>CLK</a:t>
            </a:r>
            <a:r>
              <a:rPr lang="zh-CN" altLang="en-US" sz="2400" dirty="0"/>
              <a:t>计数</a:t>
            </a:r>
            <a:r>
              <a:rPr lang="en-US" altLang="zh-CN" sz="2400" dirty="0"/>
              <a:t>,GATE=0</a:t>
            </a:r>
            <a:r>
              <a:rPr lang="zh-CN" altLang="en-US" sz="2400" dirty="0"/>
              <a:t>计数停止；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(4)</a:t>
            </a:r>
            <a:r>
              <a:rPr lang="zh-CN" altLang="en-US" sz="2400" dirty="0"/>
              <a:t>写入初值后</a:t>
            </a:r>
            <a:r>
              <a:rPr lang="en-US" altLang="zh-CN" sz="2400" dirty="0"/>
              <a:t>,</a:t>
            </a:r>
            <a:r>
              <a:rPr lang="zh-CN" altLang="en-US" sz="2400" dirty="0"/>
              <a:t>计数到</a:t>
            </a:r>
            <a:r>
              <a:rPr lang="en-US" altLang="zh-CN" sz="2400" dirty="0"/>
              <a:t>0,OUT</a:t>
            </a:r>
            <a:r>
              <a:rPr lang="zh-CN" altLang="en-US" sz="2400" dirty="0"/>
              <a:t>变低；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(5)OUT</a:t>
            </a:r>
            <a:r>
              <a:rPr lang="zh-CN" altLang="en-US" sz="2400" dirty="0"/>
              <a:t>为低的时间仅为</a:t>
            </a:r>
            <a:r>
              <a:rPr lang="en-US" altLang="zh-CN" sz="2400" dirty="0"/>
              <a:t>1</a:t>
            </a:r>
            <a:r>
              <a:rPr lang="zh-CN" altLang="en-US" sz="2400" dirty="0"/>
              <a:t>个</a:t>
            </a:r>
            <a:r>
              <a:rPr lang="en-US" altLang="zh-CN" sz="2400" dirty="0"/>
              <a:t>CLK,</a:t>
            </a:r>
            <a:r>
              <a:rPr lang="zh-CN" altLang="en-US" sz="2400" dirty="0"/>
              <a:t>然后自动变高</a:t>
            </a:r>
            <a:r>
              <a:rPr lang="en-US" altLang="zh-CN" sz="2400" dirty="0"/>
              <a:t>,</a:t>
            </a:r>
            <a:r>
              <a:rPr lang="zh-CN" altLang="en-US" sz="2400" dirty="0"/>
              <a:t>并停止计数；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(6)</a:t>
            </a:r>
            <a:r>
              <a:rPr lang="zh-CN" altLang="en-US" sz="2400" dirty="0"/>
              <a:t>计数停止</a:t>
            </a:r>
            <a:r>
              <a:rPr lang="en-US" altLang="zh-CN" sz="2400" dirty="0"/>
              <a:t>,OUT</a:t>
            </a:r>
            <a:r>
              <a:rPr lang="zh-CN" altLang="en-US" sz="2400" dirty="0"/>
              <a:t>一直为高</a:t>
            </a:r>
            <a:r>
              <a:rPr lang="en-US" altLang="zh-CN" sz="2400" dirty="0"/>
              <a:t>,</a:t>
            </a:r>
            <a:r>
              <a:rPr lang="zh-CN" altLang="en-US" sz="2400" dirty="0"/>
              <a:t>除非重新初始化或送初值。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34819" descr="tu9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049" y="275413"/>
            <a:ext cx="6861901" cy="257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650" y="727076"/>
            <a:ext cx="2051792" cy="871373"/>
          </a:xfrm>
        </p:spPr>
        <p:txBody>
          <a:bodyPr/>
          <a:lstStyle/>
          <a:p>
            <a:r>
              <a:rPr lang="zh-CN" altLang="en-US" sz="2400" dirty="0"/>
              <a:t>工作方式</a:t>
            </a:r>
            <a:r>
              <a:rPr lang="en-US" altLang="zh-CN" sz="2400" dirty="0"/>
              <a:t>5</a:t>
            </a:r>
            <a:r>
              <a:rPr lang="zh-CN" altLang="en-US" sz="2400" dirty="0"/>
              <a:t>：硬件触发的选通信号发生器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3028207"/>
            <a:ext cx="10058400" cy="310271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）写入控制字</a:t>
            </a:r>
            <a:r>
              <a:rPr lang="en-US" altLang="zh-CN" sz="2400" dirty="0"/>
              <a:t>(CW)</a:t>
            </a:r>
            <a:r>
              <a:rPr lang="zh-CN" altLang="en-US" sz="2400" dirty="0"/>
              <a:t>后</a:t>
            </a:r>
            <a:r>
              <a:rPr lang="en-US" altLang="zh-CN" sz="2400" dirty="0"/>
              <a:t>,OUT</a:t>
            </a:r>
            <a:r>
              <a:rPr lang="zh-CN" altLang="en-US" sz="2400" dirty="0"/>
              <a:t>变为高电平；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）写入初值</a:t>
            </a:r>
            <a:r>
              <a:rPr lang="en-US" altLang="zh-CN" sz="2400" dirty="0"/>
              <a:t>(n=3),</a:t>
            </a:r>
            <a:r>
              <a:rPr lang="zh-CN" altLang="en-US" sz="2400" dirty="0"/>
              <a:t>初值进入初值寄存器；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GATE</a:t>
            </a:r>
            <a:r>
              <a:rPr lang="zh-CN" altLang="en-US" sz="2400" dirty="0"/>
              <a:t>上升沿使计数执行部件在一个</a:t>
            </a:r>
            <a:r>
              <a:rPr lang="en-US" altLang="zh-CN" sz="2400" dirty="0"/>
              <a:t>CLK</a:t>
            </a:r>
            <a:r>
              <a:rPr lang="zh-CN" altLang="en-US" sz="2400" dirty="0"/>
              <a:t>后获得初值</a:t>
            </a:r>
            <a:r>
              <a:rPr lang="en-US" altLang="zh-CN" sz="2400" dirty="0"/>
              <a:t>,</a:t>
            </a:r>
            <a:r>
              <a:rPr lang="zh-CN" altLang="en-US" sz="2400" dirty="0"/>
              <a:t>并启动计数；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）计数结束时</a:t>
            </a:r>
            <a:r>
              <a:rPr lang="en-US" altLang="zh-CN" sz="2400" dirty="0"/>
              <a:t>,OUT</a:t>
            </a:r>
            <a:r>
              <a:rPr lang="zh-CN" altLang="en-US" sz="2400" dirty="0"/>
              <a:t>输出一个</a:t>
            </a:r>
            <a:r>
              <a:rPr lang="en-US" altLang="zh-CN" sz="2400" dirty="0"/>
              <a:t>CLK</a:t>
            </a:r>
            <a:r>
              <a:rPr lang="zh-CN" altLang="en-US" sz="2400" dirty="0"/>
              <a:t>宽度的负脉冲</a:t>
            </a:r>
            <a:r>
              <a:rPr lang="en-US" altLang="zh-CN" sz="2400" dirty="0"/>
              <a:t>,</a:t>
            </a:r>
            <a:r>
              <a:rPr lang="zh-CN" altLang="en-US" sz="2400" dirty="0"/>
              <a:t>该负脉冲可作选通信号；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）计数结束后，计数停止；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）新的</a:t>
            </a:r>
            <a:r>
              <a:rPr lang="en-US" altLang="zh-CN" sz="2400" dirty="0"/>
              <a:t>GATE</a:t>
            </a:r>
            <a:r>
              <a:rPr lang="zh-CN" altLang="en-US" sz="2400" dirty="0"/>
              <a:t>上升沿</a:t>
            </a:r>
            <a:r>
              <a:rPr lang="en-US" altLang="zh-CN" sz="2400" dirty="0"/>
              <a:t>,</a:t>
            </a:r>
            <a:r>
              <a:rPr lang="zh-CN" altLang="en-US" sz="2400" dirty="0"/>
              <a:t>启动新一次计数。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36867" descr="tu10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442" y="227534"/>
            <a:ext cx="7427637" cy="274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595" y="152400"/>
            <a:ext cx="10398825" cy="4411662"/>
          </a:xfrm>
        </p:spPr>
        <p:txBody>
          <a:bodyPr/>
          <a:lstStyle/>
          <a:p>
            <a:r>
              <a:rPr lang="en-US" altLang="zh-CN" sz="2400" dirty="0"/>
              <a:t>8253</a:t>
            </a:r>
            <a:r>
              <a:rPr lang="zh-CN" altLang="en-US" sz="2400" dirty="0"/>
              <a:t>六种工作方式小结</a:t>
            </a:r>
            <a:endParaRPr lang="en-US" altLang="zh-CN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0——</a:t>
            </a:r>
            <a:r>
              <a:rPr lang="zh-CN" altLang="en-US" sz="2400" dirty="0"/>
              <a:t>计数结束产生中断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en-US" altLang="zh-CN" sz="2400" dirty="0"/>
              <a:t>GATE</a:t>
            </a:r>
            <a:r>
              <a:rPr lang="zh-CN" altLang="en-US" sz="2400" dirty="0"/>
              <a:t>高电平触发；一次定时或计数</a:t>
            </a:r>
            <a:r>
              <a:rPr lang="en-US" altLang="zh-CN" sz="2400" dirty="0"/>
              <a:t>,</a:t>
            </a:r>
            <a:r>
              <a:rPr lang="zh-CN" altLang="en-US" sz="2400" dirty="0"/>
              <a:t>重写初值</a:t>
            </a:r>
            <a:r>
              <a:rPr lang="en-US" altLang="zh-CN" sz="2400" dirty="0"/>
              <a:t>,</a:t>
            </a:r>
            <a:r>
              <a:rPr lang="zh-CN" altLang="en-US" sz="2400" dirty="0"/>
              <a:t>启动新一轮的计数</a:t>
            </a:r>
            <a:endParaRPr lang="zh-CN" altLang="en-US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1——</a:t>
            </a:r>
            <a:r>
              <a:rPr lang="zh-CN" altLang="en-US" sz="2400" dirty="0"/>
              <a:t>可编程的单脉冲</a:t>
            </a:r>
            <a:r>
              <a:rPr lang="en-US" altLang="zh-CN" sz="2400" dirty="0"/>
              <a:t>(</a:t>
            </a:r>
            <a:r>
              <a:rPr lang="zh-CN" altLang="en-US" sz="2400" dirty="0"/>
              <a:t>单稳</a:t>
            </a:r>
            <a:r>
              <a:rPr lang="en-US" altLang="zh-CN" sz="2400" dirty="0"/>
              <a:t>)</a:t>
            </a:r>
            <a:r>
              <a:rPr lang="zh-CN" altLang="en-US" sz="2400" dirty="0"/>
              <a:t>触发器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en-US" altLang="zh-CN" sz="2400" dirty="0"/>
              <a:t>GATE</a:t>
            </a:r>
            <a:r>
              <a:rPr lang="zh-CN" altLang="en-US" sz="2400" dirty="0"/>
              <a:t>边沿触发；一次定时或计数</a:t>
            </a:r>
            <a:r>
              <a:rPr lang="en-US" altLang="zh-CN" sz="2400" dirty="0"/>
              <a:t>,GATE</a:t>
            </a:r>
            <a:r>
              <a:rPr lang="zh-CN" altLang="en-US" sz="2400" dirty="0"/>
              <a:t>再触发，可以启动新一轮计数</a:t>
            </a:r>
            <a:endParaRPr lang="zh-CN" altLang="en-US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2——</a:t>
            </a:r>
            <a:r>
              <a:rPr lang="zh-CN" altLang="en-US" sz="2400" dirty="0"/>
              <a:t>分频器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zh-CN" altLang="en-US" sz="2400" dirty="0"/>
              <a:t>高</a:t>
            </a:r>
            <a:r>
              <a:rPr lang="en-US" altLang="zh-CN" sz="2400" dirty="0"/>
              <a:t>GATE</a:t>
            </a:r>
            <a:r>
              <a:rPr lang="zh-CN" altLang="en-US" sz="2400" dirty="0"/>
              <a:t>既可用电平触发也可用上升沿触发，具有计数初值重装能力</a:t>
            </a:r>
            <a:endParaRPr lang="zh-CN" altLang="en-US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3——</a:t>
            </a:r>
            <a:r>
              <a:rPr lang="zh-CN" altLang="en-US" sz="2400" dirty="0"/>
              <a:t>方波发生器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en-US" altLang="zh-CN" sz="2400" dirty="0"/>
              <a:t>GATE</a:t>
            </a:r>
            <a:r>
              <a:rPr lang="zh-CN" altLang="en-US" sz="2400" dirty="0"/>
              <a:t>既可用电平触发也可用上升沿触发，具有计数初值重装能力</a:t>
            </a:r>
            <a:endParaRPr lang="zh-CN" altLang="en-US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4——</a:t>
            </a:r>
            <a:r>
              <a:rPr lang="zh-CN" altLang="en-US" sz="2400" dirty="0"/>
              <a:t>软件触发的选通信号发生器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en-US" altLang="zh-CN" sz="2400" dirty="0"/>
              <a:t>GATE</a:t>
            </a:r>
            <a:r>
              <a:rPr lang="zh-CN" altLang="en-US" sz="2400" dirty="0"/>
              <a:t>为高电平触发；一次定时</a:t>
            </a:r>
            <a:r>
              <a:rPr lang="en-US" altLang="zh-CN" sz="2400" dirty="0"/>
              <a:t>,</a:t>
            </a:r>
            <a:r>
              <a:rPr lang="zh-CN" altLang="en-US" sz="2400" dirty="0"/>
              <a:t>重写初值</a:t>
            </a:r>
            <a:r>
              <a:rPr lang="en-US" altLang="zh-CN" sz="2400" dirty="0"/>
              <a:t>,</a:t>
            </a:r>
            <a:r>
              <a:rPr lang="zh-CN" altLang="en-US" sz="2400" dirty="0"/>
              <a:t>启动新一轮的计数</a:t>
            </a:r>
            <a:endParaRPr lang="zh-CN" altLang="en-US" sz="2400" dirty="0"/>
          </a:p>
          <a:p>
            <a:pPr lvl="1"/>
            <a:r>
              <a:rPr lang="zh-CN" altLang="en-US" sz="2400" dirty="0"/>
              <a:t>方式</a:t>
            </a:r>
            <a:r>
              <a:rPr lang="en-US" altLang="zh-CN" sz="2400" dirty="0"/>
              <a:t>5——</a:t>
            </a:r>
            <a:r>
              <a:rPr lang="zh-CN" altLang="en-US" sz="2400" dirty="0"/>
              <a:t>硬件触发的选通信号发生器</a:t>
            </a:r>
            <a:endParaRPr lang="zh-CN" altLang="en-US" sz="2400" dirty="0"/>
          </a:p>
          <a:p>
            <a:pPr marL="344170" lvl="1" indent="0">
              <a:buNone/>
            </a:pPr>
            <a:r>
              <a:rPr lang="en-US" altLang="zh-CN" sz="2400" dirty="0"/>
              <a:t>GATE</a:t>
            </a:r>
            <a:r>
              <a:rPr lang="zh-CN" altLang="en-US" sz="2400" dirty="0"/>
              <a:t>边沿触发；一次定时</a:t>
            </a:r>
            <a:r>
              <a:rPr lang="en-US" altLang="zh-CN" sz="2400" dirty="0"/>
              <a:t>, GATE</a:t>
            </a:r>
            <a:r>
              <a:rPr lang="zh-CN" altLang="en-US" sz="2400" dirty="0"/>
              <a:t>再触发，可以新一轮计数</a:t>
            </a:r>
            <a:endParaRPr lang="zh-CN" altLang="en-US" sz="2400" dirty="0"/>
          </a:p>
          <a:p>
            <a:pPr marL="344170" lvl="1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3891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8253</a:t>
            </a:r>
            <a:r>
              <a:rPr lang="zh-CN" altLang="en-US"/>
              <a:t>工作小结</a:t>
            </a:r>
            <a:endParaRPr lang="zh-CN" altLang="en-US"/>
          </a:p>
        </p:txBody>
      </p:sp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751840" y="1417320"/>
            <a:ext cx="10528300" cy="5287010"/>
          </a:xfrm>
        </p:spPr>
        <p:txBody>
          <a:bodyPr/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/>
              <a:t>8253</a:t>
            </a:r>
            <a:r>
              <a:rPr lang="zh-CN" altLang="en-US" sz="2400"/>
              <a:t>有</a:t>
            </a:r>
            <a:r>
              <a:rPr lang="en-US" altLang="zh-CN" sz="2400"/>
              <a:t>6</a:t>
            </a:r>
            <a:r>
              <a:rPr lang="zh-CN" altLang="en-US" sz="2400"/>
              <a:t>种不同的工作方式，它们的特点不同，因而应用的场合也就不同。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8253</a:t>
            </a:r>
            <a:r>
              <a:rPr lang="zh-CN" altLang="en-US" sz="2400"/>
              <a:t>没有复位</a:t>
            </a:r>
            <a:r>
              <a:rPr lang="en-US" altLang="zh-CN" sz="2400"/>
              <a:t>RESET</a:t>
            </a:r>
            <a:r>
              <a:rPr lang="zh-CN" altLang="en-US" sz="2400"/>
              <a:t>输入，开机加电后，其工作方式和</a:t>
            </a:r>
            <a:r>
              <a:rPr lang="en-US" altLang="zh-CN" sz="2400"/>
              <a:t>OUT</a:t>
            </a:r>
            <a:r>
              <a:rPr lang="zh-CN" altLang="en-US" sz="2400"/>
              <a:t>端输出都是不确定的，必须对其进行初始化编程，初始化编程包括写控制字和写计数初值。先写控制字，使</a:t>
            </a:r>
            <a:r>
              <a:rPr lang="en-US" altLang="zh-CN" sz="2400"/>
              <a:t>OUT</a:t>
            </a:r>
            <a:r>
              <a:rPr lang="zh-CN" altLang="en-US" sz="2400"/>
              <a:t>端输出初始状态电平，其中只有方式</a:t>
            </a:r>
            <a:r>
              <a:rPr lang="en-US" altLang="zh-CN" sz="2400"/>
              <a:t>0</a:t>
            </a:r>
            <a:r>
              <a:rPr lang="zh-CN" altLang="en-US" sz="2400"/>
              <a:t>的初始状态为</a:t>
            </a:r>
            <a:r>
              <a:rPr lang="en-US" altLang="zh-CN" sz="2400"/>
              <a:t>OUT</a:t>
            </a:r>
            <a:r>
              <a:rPr lang="zh-CN" altLang="en-US" sz="2400"/>
              <a:t>端输出低电平，其它方式的初始状态都是</a:t>
            </a:r>
            <a:r>
              <a:rPr lang="en-US" altLang="zh-CN" sz="2400"/>
              <a:t>OUT</a:t>
            </a:r>
            <a:r>
              <a:rPr lang="zh-CN" altLang="en-US" sz="2400"/>
              <a:t>端输出高电平。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OUT</a:t>
            </a:r>
            <a:r>
              <a:rPr lang="zh-CN" altLang="en-US" sz="2400"/>
              <a:t>端输出波形都是在</a:t>
            </a:r>
            <a:r>
              <a:rPr lang="en-US" altLang="zh-CN" sz="2400"/>
              <a:t>CLK</a:t>
            </a:r>
            <a:r>
              <a:rPr lang="zh-CN" altLang="en-US" sz="2400"/>
              <a:t>脉冲下降沿时产生电平的变化。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/>
              <a:t>门控信号的触发方式有二种；高电平触发，上升沿触发。方式</a:t>
            </a:r>
            <a:r>
              <a:rPr lang="en-US" altLang="zh-CN" sz="2400"/>
              <a:t>0</a:t>
            </a:r>
            <a:r>
              <a:rPr lang="zh-CN" altLang="en-US" sz="2400"/>
              <a:t>、</a:t>
            </a:r>
            <a:r>
              <a:rPr lang="en-US" altLang="zh-CN" sz="2400"/>
              <a:t>4</a:t>
            </a:r>
            <a:r>
              <a:rPr lang="zh-CN" altLang="en-US" sz="2400"/>
              <a:t>中</a:t>
            </a:r>
            <a:r>
              <a:rPr lang="en-US" altLang="zh-CN" sz="2400"/>
              <a:t>GATE</a:t>
            </a:r>
            <a:r>
              <a:rPr lang="zh-CN" altLang="en-US" sz="2400"/>
              <a:t>为高电平触发；方式</a:t>
            </a:r>
            <a:r>
              <a:rPr lang="en-US" altLang="zh-CN" sz="2400"/>
              <a:t>1</a:t>
            </a:r>
            <a:r>
              <a:rPr lang="zh-CN" altLang="en-US" sz="2400"/>
              <a:t>、</a:t>
            </a:r>
            <a:r>
              <a:rPr lang="en-US" altLang="zh-CN" sz="2400"/>
              <a:t>5</a:t>
            </a:r>
            <a:r>
              <a:rPr lang="zh-CN" altLang="en-US" sz="2400"/>
              <a:t>中</a:t>
            </a:r>
            <a:r>
              <a:rPr lang="en-US" altLang="zh-CN" sz="2400"/>
              <a:t>GATE</a:t>
            </a:r>
            <a:r>
              <a:rPr lang="zh-CN" altLang="en-US" sz="2400"/>
              <a:t>为上升沿触发；方式</a:t>
            </a:r>
            <a:r>
              <a:rPr lang="en-US" altLang="zh-CN" sz="2400"/>
              <a:t>2</a:t>
            </a:r>
            <a:r>
              <a:rPr lang="zh-CN" altLang="en-US" sz="2400"/>
              <a:t>、</a:t>
            </a:r>
            <a:r>
              <a:rPr lang="en-US" altLang="zh-CN" sz="2400"/>
              <a:t>3</a:t>
            </a:r>
            <a:r>
              <a:rPr lang="zh-CN" altLang="en-US" sz="2400"/>
              <a:t>中</a:t>
            </a:r>
            <a:r>
              <a:rPr lang="en-US" altLang="zh-CN" sz="2400"/>
              <a:t>GATE</a:t>
            </a:r>
            <a:r>
              <a:rPr lang="zh-CN" altLang="en-US" sz="2400"/>
              <a:t>既可用高电平触发也可用上升沿触发。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/>
              <a:t>方式</a:t>
            </a:r>
            <a:r>
              <a:rPr lang="en-US" altLang="zh-CN" sz="2400"/>
              <a:t>0</a:t>
            </a:r>
            <a:r>
              <a:rPr lang="zh-CN" altLang="en-US" sz="2400"/>
              <a:t>与方式</a:t>
            </a:r>
            <a:r>
              <a:rPr lang="en-US" altLang="zh-CN" sz="2400"/>
              <a:t>1</a:t>
            </a:r>
            <a:r>
              <a:rPr lang="zh-CN" altLang="en-US" sz="2400"/>
              <a:t>的</a:t>
            </a:r>
            <a:r>
              <a:rPr lang="en-US" altLang="zh-CN" sz="2400"/>
              <a:t>OUT</a:t>
            </a:r>
            <a:r>
              <a:rPr lang="zh-CN" altLang="en-US" sz="2400"/>
              <a:t>端输出波形类似，在计数过程中都保持低电平，计数结束立即变为高电平，这种正阶跃信号输出常可用作中断请求信号。但它们的</a:t>
            </a:r>
            <a:r>
              <a:rPr lang="en-US" altLang="zh-CN" sz="2400"/>
              <a:t>OUT</a:t>
            </a:r>
            <a:r>
              <a:rPr lang="zh-CN" altLang="en-US" sz="2400"/>
              <a:t>端初始状态不一样，方式</a:t>
            </a:r>
            <a:r>
              <a:rPr lang="en-US" altLang="zh-CN" sz="2400"/>
              <a:t>0</a:t>
            </a:r>
            <a:r>
              <a:rPr lang="zh-CN" altLang="en-US" sz="2400"/>
              <a:t>的</a:t>
            </a:r>
            <a:r>
              <a:rPr lang="en-US" altLang="zh-CN" sz="2400"/>
              <a:t>OUT</a:t>
            </a:r>
            <a:r>
              <a:rPr lang="zh-CN" altLang="en-US" sz="2400"/>
              <a:t>端输出正阶跃信号，方式</a:t>
            </a:r>
            <a:r>
              <a:rPr lang="en-US" altLang="zh-CN" sz="2400"/>
              <a:t>1</a:t>
            </a:r>
            <a:r>
              <a:rPr lang="zh-CN" altLang="en-US" sz="2400"/>
              <a:t>的</a:t>
            </a:r>
            <a:r>
              <a:rPr lang="en-US" altLang="zh-CN" sz="2400"/>
              <a:t>OUT</a:t>
            </a:r>
            <a:r>
              <a:rPr lang="zh-CN" altLang="en-US" sz="2400"/>
              <a:t>端输出负单稳态脉冲波。</a:t>
            </a:r>
            <a:endParaRPr lang="zh-CN" altLang="en-US" sz="24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36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charRg st="36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charRg st="36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172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charRg st="172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charRg st="172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201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5">
                                            <p:txEl>
                                              <p:charRg st="201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5">
                                            <p:txEl>
                                              <p:charRg st="201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288" end="4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5">
                                            <p:txEl>
                                              <p:charRg st="288" end="4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5">
                                            <p:txEl>
                                              <p:charRg st="288" end="4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39937"/>
          <p:cNvSpPr>
            <a:spLocks noGrp="1"/>
          </p:cNvSpPr>
          <p:nvPr>
            <p:ph type="title"/>
          </p:nvPr>
        </p:nvSpPr>
        <p:spPr>
          <a:xfrm>
            <a:off x="609600" y="122555"/>
            <a:ext cx="10058400" cy="626745"/>
          </a:xfrm>
        </p:spPr>
        <p:txBody>
          <a:bodyPr anchor="b" anchorCtr="0"/>
          <a:p>
            <a:r>
              <a:rPr lang="en-US" altLang="zh-CN"/>
              <a:t>8253</a:t>
            </a:r>
            <a:r>
              <a:rPr lang="zh-CN" altLang="en-US"/>
              <a:t>工作小结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9939" name="文本占位符 39938"/>
          <p:cNvSpPr>
            <a:spLocks noGrp="1"/>
          </p:cNvSpPr>
          <p:nvPr>
            <p:ph type="body" idx="1"/>
          </p:nvPr>
        </p:nvSpPr>
        <p:spPr>
          <a:xfrm>
            <a:off x="497205" y="987425"/>
            <a:ext cx="10170795" cy="5870575"/>
          </a:xfrm>
        </p:spPr>
        <p:txBody>
          <a:bodyPr/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/>
              <a:t>方式</a:t>
            </a:r>
            <a:r>
              <a:rPr lang="en-US" altLang="zh-CN" sz="2400"/>
              <a:t>2</a:t>
            </a:r>
            <a:r>
              <a:rPr lang="zh-CN" altLang="en-US" sz="2400"/>
              <a:t>与方式</a:t>
            </a:r>
            <a:r>
              <a:rPr lang="en-US" altLang="zh-CN" sz="2400"/>
              <a:t>3</a:t>
            </a:r>
            <a:r>
              <a:rPr lang="zh-CN" altLang="en-US" sz="2400"/>
              <a:t>有一共同的特点，都具有减到</a:t>
            </a:r>
            <a:r>
              <a:rPr lang="en-US" altLang="zh-CN" sz="2400"/>
              <a:t>0</a:t>
            </a:r>
            <a:r>
              <a:rPr lang="zh-CN" altLang="en-US" sz="2400"/>
              <a:t>后计数初值自动再重装功能，所以</a:t>
            </a:r>
            <a:r>
              <a:rPr lang="en-US" altLang="zh-CN" sz="2400"/>
              <a:t>OUT</a:t>
            </a:r>
            <a:r>
              <a:rPr lang="zh-CN" altLang="en-US" sz="2400"/>
              <a:t>端都能输出连续的波形。它们主要的区别在于占空比不同，方式</a:t>
            </a:r>
            <a:r>
              <a:rPr lang="en-US" altLang="zh-CN" sz="2400"/>
              <a:t>2</a:t>
            </a:r>
            <a:r>
              <a:rPr lang="zh-CN" altLang="en-US" sz="2400"/>
              <a:t>输出连续的负脉冲波，其中负脉冲宽仅为一个</a:t>
            </a:r>
            <a:r>
              <a:rPr lang="en-US" altLang="zh-CN" sz="2400"/>
              <a:t>CLK</a:t>
            </a:r>
            <a:r>
              <a:rPr lang="zh-CN" altLang="en-US" sz="2400"/>
              <a:t>脉冲，而周期为</a:t>
            </a:r>
            <a:r>
              <a:rPr lang="en-US" altLang="zh-CN" sz="2400"/>
              <a:t>n</a:t>
            </a:r>
            <a:r>
              <a:rPr lang="zh-CN" altLang="en-US" sz="2400"/>
              <a:t>个</a:t>
            </a:r>
            <a:r>
              <a:rPr lang="en-US" altLang="zh-CN" sz="2400"/>
              <a:t>CLK</a:t>
            </a:r>
            <a:r>
              <a:rPr lang="zh-CN" altLang="en-US" sz="2400"/>
              <a:t>脉冲；方式</a:t>
            </a:r>
            <a:r>
              <a:rPr lang="en-US" altLang="zh-CN" sz="2400"/>
              <a:t>3</a:t>
            </a:r>
            <a:r>
              <a:rPr lang="zh-CN" altLang="en-US" sz="2400"/>
              <a:t>输出连续方波或矩形波，占空比为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r>
              <a:rPr lang="en-US" altLang="zh-CN" sz="2400"/>
              <a:t>1</a:t>
            </a:r>
            <a:r>
              <a:rPr lang="zh-CN" altLang="en-US" sz="2400"/>
              <a:t>或近似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r>
              <a:rPr lang="en-US" altLang="zh-CN" sz="2400"/>
              <a:t>1</a:t>
            </a:r>
            <a:r>
              <a:rPr lang="zh-CN" altLang="en-US" sz="2400"/>
              <a:t>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/>
              <a:t>方式</a:t>
            </a:r>
            <a:r>
              <a:rPr lang="en-US" altLang="zh-CN" sz="2400"/>
              <a:t>4</a:t>
            </a:r>
            <a:r>
              <a:rPr lang="zh-CN" altLang="en-US" sz="2400"/>
              <a:t>与方式</a:t>
            </a:r>
            <a:r>
              <a:rPr lang="en-US" altLang="zh-CN" sz="2400"/>
              <a:t>5</a:t>
            </a:r>
            <a:r>
              <a:rPr lang="zh-CN" altLang="en-US" sz="2400"/>
              <a:t>的输出波形相同，它们主要区别是计数启动的触发信号不同，方式</a:t>
            </a:r>
            <a:r>
              <a:rPr lang="en-US" altLang="zh-CN" sz="2400"/>
              <a:t>4</a:t>
            </a:r>
            <a:r>
              <a:rPr lang="zh-CN" altLang="en-US" sz="2400"/>
              <a:t>由写计数初值指令的上升沿启动计数，方式</a:t>
            </a:r>
            <a:r>
              <a:rPr lang="en-US" altLang="zh-CN" sz="2400"/>
              <a:t>5</a:t>
            </a:r>
            <a:r>
              <a:rPr lang="zh-CN" altLang="en-US" sz="2400"/>
              <a:t>由</a:t>
            </a:r>
            <a:r>
              <a:rPr lang="en-US" altLang="zh-CN" sz="2400"/>
              <a:t>GATE</a:t>
            </a:r>
            <a:r>
              <a:rPr lang="zh-CN" altLang="en-US" sz="2400"/>
              <a:t>上升沿启动计数。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6</a:t>
            </a:r>
            <a:r>
              <a:rPr lang="zh-CN" altLang="en-US" sz="2400"/>
              <a:t>种工作方式都受</a:t>
            </a:r>
            <a:r>
              <a:rPr lang="en-US" altLang="zh-CN" sz="2400"/>
              <a:t>GATE</a:t>
            </a:r>
            <a:r>
              <a:rPr lang="zh-CN" altLang="en-US" sz="2400"/>
              <a:t>门控信号的控制。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endParaRPr lang="zh-CN" altLang="en-US" sz="24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0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charRg st="0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charRg st="0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35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charRg st="135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charRg st="135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06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939">
                                            <p:txEl>
                                              <p:charRg st="206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939">
                                            <p:txEl>
                                              <p:charRg st="206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555"/>
            <a:ext cx="10058400" cy="626745"/>
          </a:xfrm>
        </p:spPr>
        <p:txBody>
          <a:bodyPr/>
          <a:p>
            <a:r>
              <a:rPr lang="en-US" altLang="zh-CN">
                <a:sym typeface="+mn-ea"/>
              </a:rPr>
              <a:t>8253</a:t>
            </a:r>
            <a:r>
              <a:rPr lang="zh-CN" altLang="en-US">
                <a:sym typeface="+mn-ea"/>
              </a:rPr>
              <a:t>工作小结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续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072833"/>
            <a:ext cx="10058400" cy="4411662"/>
          </a:xfrm>
        </p:spPr>
        <p:txBody>
          <a:bodyPr/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2400">
                <a:sym typeface="+mn-ea"/>
              </a:rPr>
              <a:t>在使用计数器前，必须先写入计数初值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。在某些工作方式下初值只能用一次，如下次要用，必须重新写入初值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；而在另外</a:t>
            </a:r>
            <a:r>
              <a:rPr lang="zh-CN" altLang="en-US" sz="2400">
                <a:sym typeface="+mn-ea"/>
              </a:rPr>
              <a:t>一些方式下，能自动重新装入初值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实现循环计数。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一次有效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一次有效，但可触发重装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能自动重装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能自动重装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4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一次有效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>
                <a:sym typeface="+mn-ea"/>
              </a:rPr>
              <a:t>       方式</a:t>
            </a:r>
            <a:r>
              <a:rPr lang="en-US" altLang="zh-CN" sz="2400">
                <a:sym typeface="+mn-ea"/>
              </a:rPr>
              <a:t>5</a:t>
            </a:r>
            <a:r>
              <a:rPr lang="zh-CN" altLang="en-US" sz="2400">
                <a:sym typeface="+mn-ea"/>
              </a:rPr>
              <a:t>：写入的初值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一次有效，但可触发重装</a:t>
            </a:r>
            <a:endParaRPr lang="zh-CN" altLang="en-US" sz="2400"/>
          </a:p>
          <a:p>
            <a:pPr latin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>
                <a:sym typeface="+mn-ea"/>
              </a:rPr>
              <a:t>6</a:t>
            </a:r>
            <a:r>
              <a:rPr lang="zh-CN" altLang="en-US" sz="2400">
                <a:sym typeface="+mn-ea"/>
              </a:rPr>
              <a:t>种工作方式在计数过程中都可写入新计数初值，但是在不同方式时对当前计数及</a:t>
            </a:r>
            <a:r>
              <a:rPr lang="en-US" altLang="zh-CN" sz="2400">
                <a:sym typeface="+mn-ea"/>
              </a:rPr>
              <a:t>OUT</a:t>
            </a:r>
            <a:r>
              <a:rPr lang="zh-CN" altLang="en-US" sz="2400">
                <a:sym typeface="+mn-ea"/>
              </a:rPr>
              <a:t>输出的影响各不相同。 </a:t>
            </a:r>
            <a:endParaRPr lang="zh-CN" altLang="en-US" sz="24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9.3 8253</a:t>
            </a:r>
            <a:r>
              <a:rPr lang="zh-CN" altLang="en-US" dirty="0">
                <a:sym typeface="+mn-ea"/>
              </a:rPr>
              <a:t>的应用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例</a:t>
            </a:r>
            <a:r>
              <a:rPr lang="en-US" altLang="zh-CN"/>
              <a:t>9.2  </a:t>
            </a:r>
            <a:r>
              <a:rPr lang="zh-CN" altLang="en-US"/>
              <a:t>在例</a:t>
            </a:r>
            <a:r>
              <a:rPr lang="en-US" altLang="zh-CN"/>
              <a:t>9.1</a:t>
            </a:r>
            <a:r>
              <a:rPr lang="zh-CN" altLang="en-US"/>
              <a:t>的计数过程中，若要读取计数器</a:t>
            </a:r>
            <a:r>
              <a:rPr lang="en-US" altLang="zh-CN"/>
              <a:t>0</a:t>
            </a:r>
            <a:r>
              <a:rPr lang="zh-CN" altLang="en-US"/>
              <a:t>的当前</a:t>
            </a:r>
            <a:r>
              <a:rPr lang="en-US" altLang="zh-CN"/>
              <a:t>16</a:t>
            </a:r>
            <a:r>
              <a:rPr lang="zh-CN" altLang="en-US"/>
              <a:t>位计数值，并且读取的数值存入</a:t>
            </a:r>
            <a:r>
              <a:rPr lang="en-US" altLang="zh-CN"/>
              <a:t>CX</a:t>
            </a:r>
            <a:r>
              <a:rPr lang="zh-CN" altLang="en-US"/>
              <a:t>寄存器中。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MOV AL,03H;</a:t>
            </a:r>
            <a:r>
              <a:rPr lang="zh-CN" altLang="en-US"/>
              <a:t>锁存控制字为</a:t>
            </a:r>
            <a:r>
              <a:rPr lang="en-US" altLang="zh-CN"/>
              <a:t>00000011B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OUT 0FBH,AL;</a:t>
            </a:r>
            <a:r>
              <a:rPr lang="zh-CN" altLang="en-US"/>
              <a:t>向计数器</a:t>
            </a:r>
            <a:r>
              <a:rPr lang="en-US" altLang="zh-CN"/>
              <a:t>0</a:t>
            </a:r>
            <a:r>
              <a:rPr lang="zh-CN" altLang="en-US"/>
              <a:t>写控制字，实现锁存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IN AL,0F8H;</a:t>
            </a:r>
            <a:r>
              <a:rPr lang="zh-CN" altLang="en-US"/>
              <a:t>读取计数器</a:t>
            </a:r>
            <a:r>
              <a:rPr lang="en-US" altLang="zh-CN"/>
              <a:t>0</a:t>
            </a:r>
            <a:r>
              <a:rPr lang="zh-CN" altLang="en-US"/>
              <a:t>的锁存器低</a:t>
            </a:r>
            <a:r>
              <a:rPr lang="en-US" altLang="zh-CN"/>
              <a:t>8</a:t>
            </a:r>
            <a:r>
              <a:rPr lang="zh-CN" altLang="en-US"/>
              <a:t>位计数值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MOV CL,AL;</a:t>
            </a:r>
            <a:r>
              <a:rPr lang="zh-CN" altLang="en-US"/>
              <a:t>保存至</a:t>
            </a:r>
            <a:r>
              <a:rPr lang="en-US" altLang="zh-CN"/>
              <a:t>CL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 AL,0F8H;</a:t>
            </a:r>
            <a:r>
              <a:rPr lang="zh-CN" altLang="en-US"/>
              <a:t>再读一次计数器</a:t>
            </a:r>
            <a:r>
              <a:rPr lang="en-US" altLang="zh-CN"/>
              <a:t>0</a:t>
            </a:r>
            <a:r>
              <a:rPr lang="zh-CN" altLang="en-US"/>
              <a:t>的锁存器，读取高</a:t>
            </a:r>
            <a:r>
              <a:rPr lang="en-US" altLang="zh-CN"/>
              <a:t>8</a:t>
            </a:r>
            <a:r>
              <a:rPr lang="zh-CN" altLang="en-US"/>
              <a:t>位计数值</a:t>
            </a:r>
            <a:r>
              <a:rPr lang="en-US" altLang="zh-CN"/>
              <a:t>MOV CH,AL;</a:t>
            </a:r>
            <a:r>
              <a:rPr lang="zh-CN" altLang="en-US"/>
              <a:t>保存至</a:t>
            </a:r>
            <a:r>
              <a:rPr lang="en-US" altLang="zh-CN"/>
              <a:t>CH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675" y="2203450"/>
            <a:ext cx="3930015" cy="25673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9.3 8253</a:t>
            </a:r>
            <a:r>
              <a:rPr lang="zh-CN" altLang="en-US" dirty="0"/>
              <a:t>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9.3</a:t>
            </a:r>
            <a:r>
              <a:rPr lang="zh-CN" altLang="en-US" dirty="0"/>
              <a:t>：在某应用系统中，要求每隔</a:t>
            </a:r>
            <a:r>
              <a:rPr lang="en-US" altLang="zh-CN" dirty="0"/>
              <a:t>100ms</a:t>
            </a:r>
            <a:r>
              <a:rPr lang="zh-CN" altLang="en-US" dirty="0"/>
              <a:t>采集一次数据。系统提供一个频率为</a:t>
            </a:r>
            <a:r>
              <a:rPr lang="en-US" altLang="zh-CN" dirty="0"/>
              <a:t>10kHz</a:t>
            </a:r>
            <a:r>
              <a:rPr lang="zh-CN" altLang="en-US" dirty="0"/>
              <a:t>的时钟信号。要求采用</a:t>
            </a:r>
            <a:r>
              <a:rPr lang="en-US" altLang="zh-CN" dirty="0"/>
              <a:t>8253</a:t>
            </a:r>
            <a:r>
              <a:rPr lang="zh-CN" altLang="en-US" dirty="0"/>
              <a:t>定时器</a:t>
            </a:r>
            <a:r>
              <a:rPr lang="en-US" altLang="zh-CN" dirty="0"/>
              <a:t>0</a:t>
            </a:r>
            <a:r>
              <a:rPr lang="zh-CN" altLang="en-US" dirty="0"/>
              <a:t>来实现，设</a:t>
            </a:r>
            <a:r>
              <a:rPr lang="en-US" altLang="zh-CN" dirty="0"/>
              <a:t>8253</a:t>
            </a:r>
            <a:r>
              <a:rPr lang="zh-CN" altLang="en-US" dirty="0"/>
              <a:t>的端口地址为</a:t>
            </a:r>
            <a:r>
              <a:rPr lang="en-US" altLang="zh-CN" dirty="0"/>
              <a:t>210H~213H</a:t>
            </a:r>
            <a:r>
              <a:rPr lang="zh-CN" altLang="en-US" dirty="0"/>
              <a:t>，采用</a:t>
            </a:r>
            <a:r>
              <a:rPr lang="en-US" altLang="zh-CN" dirty="0"/>
              <a:t>BCD</a:t>
            </a:r>
            <a:r>
              <a:rPr lang="zh-CN" altLang="en-US" dirty="0"/>
              <a:t>码计数。</a:t>
            </a:r>
            <a:endParaRPr lang="zh-CN" altLang="en-US" dirty="0"/>
          </a:p>
          <a:p>
            <a:r>
              <a:rPr lang="zh-CN" altLang="en-US" dirty="0"/>
              <a:t>分析：应用系统要求每隔一定时间采集一次数据，很明显，采用中断方式比较合适。但是，方式</a:t>
            </a:r>
            <a:r>
              <a:rPr lang="en-US" altLang="zh-CN" dirty="0"/>
              <a:t>0</a:t>
            </a:r>
            <a:r>
              <a:rPr lang="zh-CN" altLang="en-US" dirty="0"/>
              <a:t>是一次性定时</a:t>
            </a:r>
            <a:r>
              <a:rPr lang="en-US" altLang="zh-CN" dirty="0"/>
              <a:t>/</a:t>
            </a:r>
            <a:r>
              <a:rPr lang="zh-CN" altLang="en-US" dirty="0"/>
              <a:t>计数结束产生中断，因此，采用工作方式</a:t>
            </a:r>
            <a:r>
              <a:rPr lang="en-US" altLang="zh-CN" dirty="0"/>
              <a:t>0</a:t>
            </a:r>
            <a:r>
              <a:rPr lang="zh-CN" altLang="en-US" dirty="0"/>
              <a:t>不适合，采用方式</a:t>
            </a:r>
            <a:r>
              <a:rPr lang="en-US" altLang="zh-CN" dirty="0"/>
              <a:t>2</a:t>
            </a:r>
            <a:r>
              <a:rPr lang="zh-CN" altLang="en-US" dirty="0"/>
              <a:t>分频器比较合适。将</a:t>
            </a:r>
            <a:r>
              <a:rPr lang="en-US" altLang="zh-CN" dirty="0"/>
              <a:t>8253</a:t>
            </a:r>
            <a:r>
              <a:rPr lang="zh-CN" altLang="en-US" dirty="0"/>
              <a:t>芯片的</a:t>
            </a:r>
            <a:r>
              <a:rPr lang="en-US" altLang="zh-CN" dirty="0"/>
              <a:t>CLK0</a:t>
            </a:r>
            <a:r>
              <a:rPr lang="zh-CN" altLang="en-US" dirty="0"/>
              <a:t>接到系统的</a:t>
            </a:r>
            <a:r>
              <a:rPr lang="en-US" altLang="zh-CN" dirty="0"/>
              <a:t>10kHz</a:t>
            </a:r>
            <a:r>
              <a:rPr lang="zh-CN" altLang="en-US" dirty="0"/>
              <a:t>时钟上，</a:t>
            </a:r>
            <a:r>
              <a:rPr lang="en-US" altLang="zh-CN" dirty="0"/>
              <a:t>OUT0</a:t>
            </a:r>
            <a:r>
              <a:rPr lang="zh-CN" altLang="en-US" dirty="0"/>
              <a:t>输出作为中断请求输出信号，具体实现方法如图所示。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4608" y="3063833"/>
            <a:ext cx="10058400" cy="4411662"/>
          </a:xfrm>
        </p:spPr>
        <p:txBody>
          <a:bodyPr/>
          <a:lstStyle/>
          <a:p>
            <a:pPr lvl="1"/>
            <a:r>
              <a:rPr lang="zh-CN" altLang="en-US" dirty="0"/>
              <a:t>定时器</a:t>
            </a:r>
            <a:r>
              <a:rPr lang="en-US" altLang="zh-CN" dirty="0"/>
              <a:t>0</a:t>
            </a:r>
            <a:r>
              <a:rPr lang="zh-CN" altLang="en-US" dirty="0"/>
              <a:t>工作在方式</a:t>
            </a:r>
            <a:r>
              <a:rPr lang="en-US" altLang="zh-CN" dirty="0"/>
              <a:t>2</a:t>
            </a:r>
            <a:endParaRPr lang="en-US" altLang="zh-CN" dirty="0"/>
          </a:p>
          <a:p>
            <a:pPr lvl="1"/>
            <a:r>
              <a:rPr lang="zh-CN" altLang="en-US" dirty="0"/>
              <a:t>确定计数初值</a:t>
            </a:r>
            <a:endParaRPr lang="zh-CN" altLang="en-US" dirty="0"/>
          </a:p>
          <a:p>
            <a:pPr marL="344170" lvl="1" indent="0">
              <a:buNone/>
            </a:pPr>
            <a:r>
              <a:rPr lang="zh-CN" altLang="en-US" dirty="0"/>
              <a:t>    已知时钟频率为</a:t>
            </a:r>
            <a:r>
              <a:rPr lang="en-US" altLang="zh-CN" dirty="0"/>
              <a:t>10kHz</a:t>
            </a:r>
            <a:r>
              <a:rPr lang="zh-CN" altLang="en-US" dirty="0"/>
              <a:t>，则时钟周期为</a:t>
            </a:r>
            <a:r>
              <a:rPr lang="en-US" altLang="zh-CN" dirty="0"/>
              <a:t>0.1ms</a:t>
            </a:r>
            <a:r>
              <a:rPr lang="zh-CN" altLang="en-US" dirty="0"/>
              <a:t>，计数初值</a:t>
            </a:r>
            <a:r>
              <a:rPr lang="en-US" altLang="zh-CN" dirty="0"/>
              <a:t>n=100ms/0.1ms=1000</a:t>
            </a:r>
            <a:endParaRPr lang="en-US" altLang="zh-CN" dirty="0"/>
          </a:p>
          <a:p>
            <a:pPr lvl="1"/>
            <a:r>
              <a:rPr lang="zh-CN" altLang="en-US" dirty="0"/>
              <a:t>确定定时器</a:t>
            </a:r>
            <a:r>
              <a:rPr lang="en-US" altLang="zh-CN" dirty="0"/>
              <a:t>0</a:t>
            </a:r>
            <a:r>
              <a:rPr lang="zh-CN" altLang="en-US" dirty="0"/>
              <a:t>控制字</a:t>
            </a:r>
            <a:endParaRPr lang="zh-CN" altLang="en-US" dirty="0"/>
          </a:p>
          <a:p>
            <a:pPr marL="344170" lvl="1" indent="0">
              <a:buNone/>
            </a:pPr>
            <a:r>
              <a:rPr lang="zh-CN" altLang="en-US" dirty="0"/>
              <a:t>使用定时器</a:t>
            </a:r>
            <a:r>
              <a:rPr lang="en-US" altLang="zh-CN" dirty="0"/>
              <a:t>0</a:t>
            </a:r>
            <a:r>
              <a:rPr lang="zh-CN" altLang="en-US" dirty="0"/>
              <a:t>，方式</a:t>
            </a:r>
            <a:r>
              <a:rPr lang="en-US" altLang="zh-CN" dirty="0"/>
              <a:t>2</a:t>
            </a:r>
            <a:r>
              <a:rPr lang="zh-CN" altLang="en-US" dirty="0"/>
              <a:t>，初值只写高八位，控制字为</a:t>
            </a:r>
            <a:r>
              <a:rPr lang="en-US" altLang="zh-CN" dirty="0" smtClean="0"/>
              <a:t>00100101B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25H)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2" name="对象 1"/>
          <p:cNvGraphicFramePr/>
          <p:nvPr/>
        </p:nvGraphicFramePr>
        <p:xfrm>
          <a:off x="1722120" y="203200"/>
          <a:ext cx="7778750" cy="2783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7772400" imgH="2781300" progId="Paint.Picture">
                  <p:embed/>
                </p:oleObj>
              </mc:Choice>
              <mc:Fallback>
                <p:oleObj name="" r:id="rId1" imgW="7772400" imgH="27813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2120" y="203200"/>
                        <a:ext cx="7778750" cy="2783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2728" y="840489"/>
            <a:ext cx="10058400" cy="4411662"/>
          </a:xfrm>
        </p:spPr>
        <p:txBody>
          <a:bodyPr/>
          <a:lstStyle/>
          <a:p>
            <a:r>
              <a:rPr lang="zh-CN" altLang="en-US" dirty="0"/>
              <a:t>实现程序如下：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MOV DX</a:t>
            </a:r>
            <a:r>
              <a:rPr lang="zh-CN" altLang="pt-BR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213H </a:t>
            </a:r>
            <a:r>
              <a:rPr lang="zh-CN" altLang="pt-BR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；控制端口地址</a:t>
            </a:r>
            <a:endParaRPr lang="zh-CN" altLang="pt-BR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MOV AL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25H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；计数器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控制字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OUT DX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；写入方式控制字到控制字寄存器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MOV DX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210H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；定时器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端口地址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MOV AL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10H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；计数初值低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位为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，可以只写高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OUT DX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；写入计数初值高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位到计数器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5222" y="401783"/>
            <a:ext cx="10125694" cy="4411662"/>
          </a:xfrm>
        </p:spPr>
        <p:txBody>
          <a:bodyPr/>
          <a:lstStyle/>
          <a:p>
            <a:pPr algn="l"/>
            <a:endParaRPr lang="zh-CN" altLang="en-US" sz="14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9.4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：利用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8253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定时器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输出端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OUT1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输出信号控制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LED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灯循环点亮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秒钟后再让它熄灭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秒钟（周期为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秒），已知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8253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的各端口地址为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81H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83H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85H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87H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，提供的时钟信号频率为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2MHz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。要求设计接口电路并编程实现。</a:t>
            </a:r>
            <a:endParaRPr lang="zh-CN" altLang="en-US" sz="2400" b="0" i="0" u="none" strike="noStrike" baseline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分析：对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8253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定时器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编程，使其输出周期为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秒的方波信号，就能使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LED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交替亮灭。</a:t>
            </a:r>
            <a:endParaRPr lang="zh-CN" altLang="en-US" sz="2400" b="0" i="0" u="none" strike="noStrike" baseline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时间常数计算：</a:t>
            </a:r>
            <a:endParaRPr lang="zh-CN" altLang="en-US" sz="2400" b="0" i="0" u="none" strike="noStrike" baseline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   已知输出周期为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秒，则输出频率为：（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1/20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Hz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0" i="0" u="none" strike="noStrike" baseline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   已知时钟频率为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2MHz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，则时间常数为：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2*10</a:t>
            </a:r>
            <a:r>
              <a:rPr lang="en-US" altLang="zh-CN" sz="2400" b="0" i="0" u="none" strike="noStrike" baseline="30000" dirty="0">
                <a:latin typeface="Times New Roman" panose="02020603050405020304" pitchFamily="18" charset="0"/>
                <a:ea typeface="楷体" panose="02010609060101010101" pitchFamily="49" charset="-122"/>
              </a:rPr>
              <a:t>6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/(1/20)=4*10</a:t>
            </a:r>
            <a:r>
              <a:rPr lang="en-US" altLang="zh-CN" sz="2400" b="0" i="0" u="none" strike="noStrike" baseline="30000" dirty="0">
                <a:latin typeface="Times New Roman" panose="02020603050405020304" pitchFamily="18" charset="0"/>
                <a:ea typeface="楷体" panose="02010609060101010101" pitchFamily="49" charset="-122"/>
              </a:rPr>
              <a:t>7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0" i="0" u="none" strike="noStrike" baseline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   很显然，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8253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400" b="0" i="0" u="none" strike="noStrike" baseline="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16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400" b="0" i="0" u="none" strike="noStrike" baseline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计数器，按照二进制计数最大时间常数初值为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65536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（初值为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），不能满足要求。必须采取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400" b="0" i="0" u="none" strike="noStrike" baseline="0" dirty="0">
                <a:latin typeface="楷体" panose="02010609060101010101" pitchFamily="49" charset="-122"/>
                <a:ea typeface="楷体" panose="02010609060101010101" pitchFamily="49" charset="-122"/>
              </a:rPr>
              <a:t>只定时器级联方式才能满足要求。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级联设计：就是让一只定时</a:t>
            </a:r>
            <a:r>
              <a:rPr lang="en-US" altLang="zh-CN" dirty="0"/>
              <a:t>/</a:t>
            </a:r>
            <a:r>
              <a:rPr lang="zh-CN" altLang="en-US" dirty="0"/>
              <a:t>计数器输出分频信号，作为另一只定时</a:t>
            </a:r>
            <a:r>
              <a:rPr lang="en-US" altLang="zh-CN" dirty="0"/>
              <a:t>/</a:t>
            </a:r>
            <a:r>
              <a:rPr lang="zh-CN" altLang="en-US" dirty="0"/>
              <a:t>计数器的时钟输入信号。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本例中，我们让计数器</a:t>
            </a:r>
            <a:r>
              <a:rPr lang="en-US" altLang="zh-CN" dirty="0"/>
              <a:t>0</a:t>
            </a:r>
            <a:r>
              <a:rPr lang="zh-CN" altLang="en-US" dirty="0"/>
              <a:t>和计数器</a:t>
            </a:r>
            <a:r>
              <a:rPr lang="en-US" altLang="zh-CN" dirty="0"/>
              <a:t>1</a:t>
            </a:r>
            <a:r>
              <a:rPr lang="zh-CN" altLang="en-US" dirty="0"/>
              <a:t>都工作在方式</a:t>
            </a:r>
            <a:r>
              <a:rPr lang="en-US" altLang="zh-CN" dirty="0"/>
              <a:t>3</a:t>
            </a:r>
            <a:r>
              <a:rPr lang="zh-CN" altLang="en-US" dirty="0"/>
              <a:t>，让计数器</a:t>
            </a:r>
            <a:r>
              <a:rPr lang="en-US" altLang="zh-CN" dirty="0"/>
              <a:t>0</a:t>
            </a:r>
            <a:r>
              <a:rPr lang="zh-CN" altLang="en-US" dirty="0"/>
              <a:t>的</a:t>
            </a:r>
            <a:r>
              <a:rPr lang="en-US" altLang="zh-CN" dirty="0"/>
              <a:t>OUT</a:t>
            </a:r>
            <a:r>
              <a:rPr lang="zh-CN" altLang="en-US" dirty="0"/>
              <a:t>输出脉冲信号作为计数器</a:t>
            </a:r>
            <a:r>
              <a:rPr lang="en-US" altLang="zh-CN" dirty="0"/>
              <a:t>1</a:t>
            </a:r>
            <a:r>
              <a:rPr lang="zh-CN" altLang="en-US" dirty="0"/>
              <a:t>的时钟输入信号，即计数器</a:t>
            </a:r>
            <a:r>
              <a:rPr lang="en-US" altLang="zh-CN" dirty="0"/>
              <a:t>0</a:t>
            </a:r>
            <a:r>
              <a:rPr lang="zh-CN" altLang="en-US" dirty="0"/>
              <a:t>的</a:t>
            </a:r>
            <a:r>
              <a:rPr lang="en-US" altLang="zh-CN" dirty="0"/>
              <a:t>OUT</a:t>
            </a:r>
            <a:r>
              <a:rPr lang="zh-CN" altLang="en-US" dirty="0"/>
              <a:t>端输出接计数器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r>
              <a:rPr lang="en-US" altLang="zh-CN" dirty="0"/>
              <a:t>CLK</a:t>
            </a:r>
            <a:r>
              <a:rPr lang="zh-CN" altLang="en-US" dirty="0"/>
              <a:t>输入端。其级联接口结构如下图所示。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4441371"/>
            <a:ext cx="10058400" cy="168955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级联后时间常数计算： 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sz="28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*n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= 2*10</a:t>
            </a:r>
            <a:r>
              <a:rPr lang="en-US" altLang="zh-CN" sz="1800" b="0" i="0" u="none" strike="noStrike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6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/(1/20)=4*10</a:t>
            </a:r>
            <a:r>
              <a:rPr lang="en-US" altLang="zh-CN" sz="1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7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分别取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5000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8000.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2" name="对象 1"/>
          <p:cNvGraphicFramePr/>
          <p:nvPr/>
        </p:nvGraphicFramePr>
        <p:xfrm>
          <a:off x="1648460" y="274955"/>
          <a:ext cx="6634480" cy="379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629400" imgH="3790950" progId="Paint.Picture">
                  <p:embed/>
                </p:oleObj>
              </mc:Choice>
              <mc:Fallback>
                <p:oleObj name="" r:id="rId1" imgW="6629400" imgH="37909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8460" y="274955"/>
                        <a:ext cx="6634480" cy="3793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52400"/>
            <a:ext cx="10469879" cy="2334577"/>
          </a:xfrm>
        </p:spPr>
        <p:txBody>
          <a:bodyPr/>
          <a:lstStyle/>
          <a:p>
            <a:pPr algn="l"/>
            <a:endParaRPr lang="zh-CN" altLang="en-US" sz="1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计数器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工作在方式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BCD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计数，初值只写高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位，其控制字为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00100111B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Wingdings" panose="05000000000000000000" pitchFamily="2" charset="2"/>
                <a:ea typeface="楷体" panose="02010609060101010101" pitchFamily="49" charset="-122"/>
              </a:rPr>
              <a:t>计数器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工作在方式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BCD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计数，初值只写高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位，其控制字为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01100111B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454400" y="2112085"/>
            <a:ext cx="6096000" cy="474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初始化程序为：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MOV 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00100111B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；计数器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控制字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OUT 87H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MOV 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50H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；只写计数器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初值高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位，低八位自动置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OUT 81H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MOV 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01100111B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；计数器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控制字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OUT 87H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MOV 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80H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；只写计数器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初值高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位，低八位自动置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0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OUT 83H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9.3 8253</a:t>
            </a:r>
            <a:r>
              <a:rPr lang="zh-CN" altLang="en-US" dirty="0">
                <a:sym typeface="+mn-ea"/>
              </a:rPr>
              <a:t>的应用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9580"/>
            <a:ext cx="10196195" cy="4986020"/>
          </a:xfrm>
        </p:spPr>
        <p:txBody>
          <a:bodyPr/>
          <a:p>
            <a:r>
              <a:rPr lang="zh-CN" altLang="en-US" sz="2400"/>
              <a:t>例</a:t>
            </a:r>
            <a:r>
              <a:rPr lang="en-US" altLang="zh-CN" sz="2400"/>
              <a:t>9.5</a:t>
            </a:r>
            <a:r>
              <a:rPr lang="zh-CN" altLang="en-US" sz="2400"/>
              <a:t>：</a:t>
            </a:r>
            <a:r>
              <a:rPr lang="en-US" altLang="zh-CN" sz="2400"/>
              <a:t>8253</a:t>
            </a:r>
            <a:r>
              <a:rPr lang="zh-CN" altLang="en-US" sz="2400"/>
              <a:t>的计数通道</a:t>
            </a:r>
            <a:r>
              <a:rPr lang="en-US" altLang="zh-CN" sz="2400"/>
              <a:t>0</a:t>
            </a:r>
            <a:r>
              <a:rPr lang="zh-CN" altLang="en-US" sz="2400"/>
              <a:t>的连接如图所示，</a:t>
            </a:r>
            <a:r>
              <a:rPr lang="en-US" altLang="zh-CN" sz="2400"/>
              <a:t>8253</a:t>
            </a:r>
            <a:r>
              <a:rPr lang="zh-CN" altLang="en-US" sz="2400"/>
              <a:t>端口地址为</a:t>
            </a:r>
            <a:r>
              <a:rPr lang="en-US" altLang="zh-CN" sz="2400"/>
              <a:t>8A0H</a:t>
            </a:r>
            <a:r>
              <a:rPr lang="zh-CN" altLang="en-US" sz="2400"/>
              <a:t>～</a:t>
            </a:r>
            <a:r>
              <a:rPr lang="en-US" altLang="zh-CN" sz="2400"/>
              <a:t>8A6H,</a:t>
            </a:r>
            <a:r>
              <a:rPr lang="zh-CN" altLang="en-US" sz="2400"/>
              <a:t>使用</a:t>
            </a:r>
            <a:r>
              <a:rPr lang="en-US" altLang="zh-CN" sz="2400"/>
              <a:t>OUT0</a:t>
            </a:r>
            <a:r>
              <a:rPr lang="zh-CN" altLang="en-US" sz="2400"/>
              <a:t>循环点亮</a:t>
            </a:r>
            <a:r>
              <a:rPr lang="en-US" altLang="zh-CN" sz="2400"/>
              <a:t>LED</a:t>
            </a:r>
            <a:r>
              <a:rPr lang="zh-CN" altLang="en-US" sz="2400"/>
              <a:t>灯，</a:t>
            </a:r>
            <a:r>
              <a:rPr lang="en-US" altLang="zh-CN" sz="2400"/>
              <a:t>LED</a:t>
            </a:r>
            <a:r>
              <a:rPr lang="zh-CN" altLang="en-US" sz="2400"/>
              <a:t>亮灭周期之比为</a:t>
            </a:r>
            <a:r>
              <a:rPr lang="en-US" altLang="zh-CN" sz="2400"/>
              <a:t>1:9</a:t>
            </a:r>
            <a:r>
              <a:rPr lang="zh-CN" altLang="en-US" sz="2400"/>
              <a:t>。试编程实现该功能。</a:t>
            </a:r>
            <a:endParaRPr lang="zh-CN" altLang="en-US" sz="24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1310" y="2924810"/>
            <a:ext cx="3933825" cy="15265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2335" y="2844165"/>
            <a:ext cx="7145020" cy="3861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/>
              <a:t>解：要实现比例为</a:t>
            </a:r>
            <a:r>
              <a:rPr lang="en-US" altLang="zh-CN" sz="2400"/>
              <a:t>1:9</a:t>
            </a:r>
            <a:r>
              <a:rPr lang="zh-CN" altLang="en-US" sz="2400"/>
              <a:t>的周期性亮灭，需在</a:t>
            </a:r>
            <a:r>
              <a:rPr lang="en-US" altLang="zh-CN" sz="2400"/>
              <a:t>8253</a:t>
            </a:r>
            <a:r>
              <a:rPr lang="zh-CN" altLang="en-US" sz="2400"/>
              <a:t>的</a:t>
            </a:r>
            <a:r>
              <a:rPr lang="en-US" altLang="zh-CN" sz="2400"/>
              <a:t>OUT0</a:t>
            </a:r>
            <a:r>
              <a:rPr lang="zh-CN" altLang="en-US" sz="2400"/>
              <a:t>产生占空比为</a:t>
            </a:r>
            <a:r>
              <a:rPr lang="en-US" altLang="zh-CN" sz="2400"/>
              <a:t>0.1</a:t>
            </a:r>
            <a:r>
              <a:rPr lang="zh-CN" altLang="en-US" sz="2400"/>
              <a:t>的周期性矩形波，因此使用方式</a:t>
            </a:r>
            <a:r>
              <a:rPr lang="en-US" altLang="zh-CN" sz="2400"/>
              <a:t>2</a:t>
            </a:r>
            <a:r>
              <a:rPr lang="zh-CN" altLang="en-US" sz="2400"/>
              <a:t>来实现该功能。计数初值为</a:t>
            </a:r>
            <a:r>
              <a:rPr lang="en-US" altLang="zh-CN" sz="2400"/>
              <a:t>9+1=10</a:t>
            </a:r>
            <a:r>
              <a:rPr lang="zh-CN" altLang="en-US" sz="2400"/>
              <a:t>。</a:t>
            </a:r>
            <a:endParaRPr lang="zh-CN" altLang="en-US" sz="2400"/>
          </a:p>
          <a:p>
            <a:r>
              <a:rPr lang="zh-CN" altLang="en-US" sz="2400"/>
              <a:t>程序段如下。</a:t>
            </a:r>
            <a:endParaRPr lang="zh-CN" altLang="en-US" sz="2400"/>
          </a:p>
          <a:p>
            <a:r>
              <a:rPr lang="en-US" altLang="zh-CN" sz="2400"/>
              <a:t>   MOV AL,15H</a:t>
            </a:r>
            <a:r>
              <a:rPr lang="zh-CN" altLang="en-US" sz="2400"/>
              <a:t>；</a:t>
            </a:r>
            <a:r>
              <a:rPr lang="en-US" altLang="zh-CN" sz="2400"/>
              <a:t>00010101B</a:t>
            </a:r>
            <a:endParaRPr lang="en-US" altLang="zh-CN" sz="2400"/>
          </a:p>
          <a:p>
            <a:r>
              <a:rPr lang="en-US" altLang="zh-CN" sz="2400"/>
              <a:t>   MOV DX,8A6H</a:t>
            </a:r>
            <a:endParaRPr lang="en-US" altLang="zh-CN" sz="2400"/>
          </a:p>
          <a:p>
            <a:r>
              <a:rPr lang="en-US" altLang="zh-CN" sz="2400"/>
              <a:t>   OUT DX, AL</a:t>
            </a:r>
            <a:r>
              <a:rPr lang="en-US" altLang="zh-CN" sz="2400">
                <a:sym typeface="+mn-ea"/>
              </a:rPr>
              <a:t>;</a:t>
            </a:r>
            <a:r>
              <a:rPr lang="zh-CN" altLang="en-US" sz="2400">
                <a:sym typeface="+mn-ea"/>
              </a:rPr>
              <a:t>通道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初始化</a:t>
            </a:r>
            <a:endParaRPr lang="en-US" altLang="zh-CN" sz="2400"/>
          </a:p>
          <a:p>
            <a:r>
              <a:rPr lang="en-US" altLang="zh-CN" sz="2400"/>
              <a:t>   MOV AL,10H</a:t>
            </a:r>
            <a:endParaRPr lang="en-US" altLang="zh-CN" sz="2400"/>
          </a:p>
          <a:p>
            <a:r>
              <a:rPr lang="en-US" altLang="zh-CN" sz="2400"/>
              <a:t>   MOV DX,8A0H</a:t>
            </a:r>
            <a:endParaRPr lang="en-US" altLang="zh-CN" sz="2400"/>
          </a:p>
          <a:p>
            <a:r>
              <a:rPr lang="en-US" altLang="zh-CN" sz="2400"/>
              <a:t>   OUT DX,AL</a:t>
            </a:r>
            <a:r>
              <a:rPr lang="en-US" altLang="zh-CN" sz="2400">
                <a:sym typeface="+mn-ea"/>
              </a:rPr>
              <a:t>;</a:t>
            </a:r>
            <a:r>
              <a:rPr lang="zh-CN" altLang="en-US" sz="2400">
                <a:sym typeface="+mn-ea"/>
              </a:rPr>
              <a:t>写低</a:t>
            </a:r>
            <a:r>
              <a:rPr lang="en-US" altLang="zh-CN" sz="2400">
                <a:sym typeface="+mn-ea"/>
              </a:rPr>
              <a:t>8</a:t>
            </a:r>
            <a:r>
              <a:rPr lang="zh-CN" altLang="en-US" sz="2400">
                <a:sym typeface="+mn-ea"/>
              </a:rPr>
              <a:t>位</a:t>
            </a:r>
            <a:endParaRPr lang="zh-CN" altLang="en-US" sz="2400"/>
          </a:p>
          <a:p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6994</Words>
  <Application>WPS 演示</Application>
  <PresentationFormat>自定义</PresentationFormat>
  <Paragraphs>475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Arial</vt:lpstr>
      <vt:lpstr>宋体</vt:lpstr>
      <vt:lpstr>Wingdings</vt:lpstr>
      <vt:lpstr>Arial</vt:lpstr>
      <vt:lpstr>微软雅黑</vt:lpstr>
      <vt:lpstr>Arial Unicode MS</vt:lpstr>
      <vt:lpstr>等线</vt:lpstr>
      <vt:lpstr>Times New Roman</vt:lpstr>
      <vt:lpstr>楷体</vt:lpstr>
      <vt:lpstr>Network</vt:lpstr>
      <vt:lpstr>Paint.Picture</vt:lpstr>
      <vt:lpstr>Paint.Picture</vt:lpstr>
      <vt:lpstr>Paint.Picture</vt:lpstr>
      <vt:lpstr>可编程计数器/定时器8253</vt:lpstr>
      <vt:lpstr>9.1 概述</vt:lpstr>
      <vt:lpstr>PowerPoint 演示文稿</vt:lpstr>
      <vt:lpstr>PowerPoint 演示文稿</vt:lpstr>
      <vt:lpstr>9.2 可编程计数器/定时器8253  9.2.1 8253的内部结构和引脚功能</vt:lpstr>
      <vt:lpstr>PowerPoint 演示文稿</vt:lpstr>
      <vt:lpstr>8253组成与引脚特性:</vt:lpstr>
      <vt:lpstr>8253组成与引脚特性</vt:lpstr>
      <vt:lpstr>8253组成与引脚特性</vt:lpstr>
      <vt:lpstr>8253组成与引脚特性:</vt:lpstr>
      <vt:lpstr>8253组成与引脚特</vt:lpstr>
      <vt:lpstr>8253组成与引脚特性:</vt:lpstr>
      <vt:lpstr>8253引脚与CPU的连接</vt:lpstr>
      <vt:lpstr>9.2.2 8253的控制字</vt:lpstr>
      <vt:lpstr>8253的工作原理</vt:lpstr>
      <vt:lpstr>8253的工作原理</vt:lpstr>
      <vt:lpstr>8253的初始化编程</vt:lpstr>
      <vt:lpstr>8253的初始化编程</vt:lpstr>
      <vt:lpstr>8253的初始化编程</vt:lpstr>
      <vt:lpstr>9.2.3  8253的工作方式</vt:lpstr>
      <vt:lpstr>8253的工作方式</vt:lpstr>
      <vt:lpstr>工作方式1：单脉冲触发器</vt:lpstr>
      <vt:lpstr>工作方式2：分频器</vt:lpstr>
      <vt:lpstr>工作方式3：方波发生器</vt:lpstr>
      <vt:lpstr>PowerPoint 演示文稿</vt:lpstr>
      <vt:lpstr>PowerPoint 演示文稿</vt:lpstr>
      <vt:lpstr>工作方式4：软件触发的选通信号发生器</vt:lpstr>
      <vt:lpstr>工作方式5：硬件触发的选通信号发生器</vt:lpstr>
      <vt:lpstr>PowerPoint 演示文稿</vt:lpstr>
      <vt:lpstr>8253工作小结</vt:lpstr>
      <vt:lpstr>8253工作小结(续)</vt:lpstr>
      <vt:lpstr>8253工作小结(续)</vt:lpstr>
      <vt:lpstr>9.3 8253的应用</vt:lpstr>
      <vt:lpstr>9.3 8253的应用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9.3 8253的应用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</dc:creator>
  <cp:lastModifiedBy>杨领军</cp:lastModifiedBy>
  <cp:revision>78</cp:revision>
  <dcterms:created xsi:type="dcterms:W3CDTF">2021-02-04T09:02:00Z</dcterms:created>
  <dcterms:modified xsi:type="dcterms:W3CDTF">2026-06-01T09:26:48Z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B8BD3EA0F6BF4821BB97AACDD92D9504_12</vt:lpwstr>
  </property>
  <property fmtid="{D5CDD505-2E9C-101B-9397-08002B2CF9AE}" pid="3" name="KSOProductBuildVer">
    <vt:lpwstr>2052-12.1.0.26895</vt:lpwstr>
  </property>
</Properties>
</file>