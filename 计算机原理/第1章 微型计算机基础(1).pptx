
<file path=[Content_Types].xml><?xml version="1.0" encoding="utf-8"?>
<Types xmlns="http://schemas.openxmlformats.org/package/2006/content-types">
  <Default Extension="jpeg" ContentType="image/jpeg"/>
  <Default Extension="JPG" ContentType="image/.jpg"/>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4" r:id="rId4"/>
    <p:sldMasterId id="2147483686" r:id="rId5"/>
    <p:sldMasterId id="2147483698" r:id="rId6"/>
  </p:sldMasterIdLst>
  <p:notesMasterIdLst>
    <p:notesMasterId r:id="rId79"/>
  </p:notesMasterIdLst>
  <p:sldIdLst>
    <p:sldId id="1214" r:id="rId7"/>
    <p:sldId id="1216" r:id="rId8"/>
    <p:sldId id="1217" r:id="rId9"/>
    <p:sldId id="1242" r:id="rId10"/>
    <p:sldId id="647" r:id="rId11"/>
    <p:sldId id="534" r:id="rId12"/>
    <p:sldId id="535" r:id="rId13"/>
    <p:sldId id="536" r:id="rId14"/>
    <p:sldId id="648" r:id="rId15"/>
    <p:sldId id="538" r:id="rId16"/>
    <p:sldId id="539" r:id="rId17"/>
    <p:sldId id="540" r:id="rId18"/>
    <p:sldId id="541" r:id="rId19"/>
    <p:sldId id="649" r:id="rId20"/>
    <p:sldId id="543" r:id="rId21"/>
    <p:sldId id="544" r:id="rId22"/>
    <p:sldId id="545" r:id="rId23"/>
    <p:sldId id="546" r:id="rId24"/>
    <p:sldId id="547" r:id="rId25"/>
    <p:sldId id="650" r:id="rId26"/>
    <p:sldId id="549" r:id="rId27"/>
    <p:sldId id="550" r:id="rId28"/>
    <p:sldId id="551" r:id="rId29"/>
    <p:sldId id="552" r:id="rId30"/>
    <p:sldId id="600" r:id="rId31"/>
    <p:sldId id="554" r:id="rId32"/>
    <p:sldId id="555" r:id="rId33"/>
    <p:sldId id="556" r:id="rId34"/>
    <p:sldId id="557" r:id="rId35"/>
    <p:sldId id="558" r:id="rId36"/>
    <p:sldId id="559" r:id="rId37"/>
    <p:sldId id="560" r:id="rId38"/>
    <p:sldId id="561" r:id="rId39"/>
    <p:sldId id="562" r:id="rId40"/>
    <p:sldId id="651" r:id="rId41"/>
    <p:sldId id="564" r:id="rId42"/>
    <p:sldId id="565" r:id="rId43"/>
    <p:sldId id="566" r:id="rId44"/>
    <p:sldId id="567" r:id="rId45"/>
    <p:sldId id="568" r:id="rId46"/>
    <p:sldId id="569" r:id="rId47"/>
    <p:sldId id="652" r:id="rId48"/>
    <p:sldId id="571" r:id="rId49"/>
    <p:sldId id="572" r:id="rId50"/>
    <p:sldId id="573" r:id="rId51"/>
    <p:sldId id="574" r:id="rId52"/>
    <p:sldId id="575" r:id="rId53"/>
    <p:sldId id="653" r:id="rId54"/>
    <p:sldId id="577" r:id="rId55"/>
    <p:sldId id="578" r:id="rId56"/>
    <p:sldId id="579" r:id="rId57"/>
    <p:sldId id="580" r:id="rId58"/>
    <p:sldId id="581" r:id="rId59"/>
    <p:sldId id="582" r:id="rId60"/>
    <p:sldId id="1240" r:id="rId61"/>
    <p:sldId id="1241" r:id="rId62"/>
    <p:sldId id="584" r:id="rId63"/>
    <p:sldId id="585" r:id="rId64"/>
    <p:sldId id="586" r:id="rId65"/>
    <p:sldId id="587" r:id="rId66"/>
    <p:sldId id="588" r:id="rId67"/>
    <p:sldId id="654" r:id="rId68"/>
    <p:sldId id="590" r:id="rId69"/>
    <p:sldId id="592" r:id="rId70"/>
    <p:sldId id="593" r:id="rId71"/>
    <p:sldId id="594" r:id="rId72"/>
    <p:sldId id="655" r:id="rId73"/>
    <p:sldId id="596" r:id="rId74"/>
    <p:sldId id="597" r:id="rId75"/>
    <p:sldId id="598" r:id="rId76"/>
    <p:sldId id="599" r:id="rId77"/>
    <p:sldId id="601" r:id="rId78"/>
  </p:sldIdLst>
  <p:sldSz cx="9144000" cy="6858000" type="screen4x3"/>
  <p:notesSz cx="6858000" cy="9144000"/>
  <p:custDataLst>
    <p:tags r:id="rId83"/>
  </p:custDataLst>
  <p:defaultTextStyle>
    <a:defPPr>
      <a:defRPr lang="zh-CN"/>
    </a:defPPr>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2FDB2607-1784-4EEB-B798-7EB5836EED8A}">
        <p14:showMediaCtrls xmlns:p14="http://schemas.microsoft.com/office/powerpoint/2010/main" val="1"/>
      </p:ext>
    </p:extLst>
  </p:showPr>
  <p:clrMru>
    <a:srgbClr val="4053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104" d="100"/>
          <a:sy n="104" d="100"/>
        </p:scale>
        <p:origin x="-1188" y="-78"/>
      </p:cViewPr>
      <p:guideLst>
        <p:guide orient="horz" pos="2160"/>
        <p:guide pos="287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3" Type="http://schemas.openxmlformats.org/officeDocument/2006/relationships/tags" Target="tags/tag1.xml"/><Relationship Id="rId82" Type="http://schemas.openxmlformats.org/officeDocument/2006/relationships/tableStyles" Target="tableStyles.xml"/><Relationship Id="rId81" Type="http://schemas.openxmlformats.org/officeDocument/2006/relationships/viewProps" Target="viewProps.xml"/><Relationship Id="rId80" Type="http://schemas.openxmlformats.org/officeDocument/2006/relationships/presProps" Target="presProps.xml"/><Relationship Id="rId8" Type="http://schemas.openxmlformats.org/officeDocument/2006/relationships/slide" Target="slides/slide2.xml"/><Relationship Id="rId79" Type="http://schemas.openxmlformats.org/officeDocument/2006/relationships/notesMaster" Target="notesMasters/notesMaster1.xml"/><Relationship Id="rId78" Type="http://schemas.openxmlformats.org/officeDocument/2006/relationships/slide" Target="slides/slide72.xml"/><Relationship Id="rId77" Type="http://schemas.openxmlformats.org/officeDocument/2006/relationships/slide" Target="slides/slide71.xml"/><Relationship Id="rId76" Type="http://schemas.openxmlformats.org/officeDocument/2006/relationships/slide" Target="slides/slide70.xml"/><Relationship Id="rId75" Type="http://schemas.openxmlformats.org/officeDocument/2006/relationships/slide" Target="slides/slide69.xml"/><Relationship Id="rId74" Type="http://schemas.openxmlformats.org/officeDocument/2006/relationships/slide" Target="slides/slide68.xml"/><Relationship Id="rId73" Type="http://schemas.openxmlformats.org/officeDocument/2006/relationships/slide" Target="slides/slide67.xml"/><Relationship Id="rId72" Type="http://schemas.openxmlformats.org/officeDocument/2006/relationships/slide" Target="slides/slide66.xml"/><Relationship Id="rId71" Type="http://schemas.openxmlformats.org/officeDocument/2006/relationships/slide" Target="slides/slide65.xml"/><Relationship Id="rId70" Type="http://schemas.openxmlformats.org/officeDocument/2006/relationships/slide" Target="slides/slide64.xml"/><Relationship Id="rId7" Type="http://schemas.openxmlformats.org/officeDocument/2006/relationships/slide" Target="slides/slide1.xml"/><Relationship Id="rId69" Type="http://schemas.openxmlformats.org/officeDocument/2006/relationships/slide" Target="slides/slide63.xml"/><Relationship Id="rId68" Type="http://schemas.openxmlformats.org/officeDocument/2006/relationships/slide" Target="slides/slide62.xml"/><Relationship Id="rId67" Type="http://schemas.openxmlformats.org/officeDocument/2006/relationships/slide" Target="slides/slide61.xml"/><Relationship Id="rId66" Type="http://schemas.openxmlformats.org/officeDocument/2006/relationships/slide" Target="slides/slide60.xml"/><Relationship Id="rId65" Type="http://schemas.openxmlformats.org/officeDocument/2006/relationships/slide" Target="slides/slide59.xml"/><Relationship Id="rId64" Type="http://schemas.openxmlformats.org/officeDocument/2006/relationships/slide" Target="slides/slide58.xml"/><Relationship Id="rId63" Type="http://schemas.openxmlformats.org/officeDocument/2006/relationships/slide" Target="slides/slide57.xml"/><Relationship Id="rId62" Type="http://schemas.openxmlformats.org/officeDocument/2006/relationships/slide" Target="slides/slide56.xml"/><Relationship Id="rId61" Type="http://schemas.openxmlformats.org/officeDocument/2006/relationships/slide" Target="slides/slide55.xml"/><Relationship Id="rId60" Type="http://schemas.openxmlformats.org/officeDocument/2006/relationships/slide" Target="slides/slide54.xml"/><Relationship Id="rId6" Type="http://schemas.openxmlformats.org/officeDocument/2006/relationships/slideMaster" Target="slideMasters/slideMaster5.xml"/><Relationship Id="rId59" Type="http://schemas.openxmlformats.org/officeDocument/2006/relationships/slide" Target="slides/slide53.xml"/><Relationship Id="rId58" Type="http://schemas.openxmlformats.org/officeDocument/2006/relationships/slide" Target="slides/slide52.xml"/><Relationship Id="rId57" Type="http://schemas.openxmlformats.org/officeDocument/2006/relationships/slide" Target="slides/slide51.xml"/><Relationship Id="rId56" Type="http://schemas.openxmlformats.org/officeDocument/2006/relationships/slide" Target="slides/slide50.xml"/><Relationship Id="rId55" Type="http://schemas.openxmlformats.org/officeDocument/2006/relationships/slide" Target="slides/slide49.xml"/><Relationship Id="rId54" Type="http://schemas.openxmlformats.org/officeDocument/2006/relationships/slide" Target="slides/slide48.xml"/><Relationship Id="rId53" Type="http://schemas.openxmlformats.org/officeDocument/2006/relationships/slide" Target="slides/slide47.xml"/><Relationship Id="rId52" Type="http://schemas.openxmlformats.org/officeDocument/2006/relationships/slide" Target="slides/slide46.xml"/><Relationship Id="rId51" Type="http://schemas.openxmlformats.org/officeDocument/2006/relationships/slide" Target="slides/slide45.xml"/><Relationship Id="rId50" Type="http://schemas.openxmlformats.org/officeDocument/2006/relationships/slide" Target="slides/slide44.xml"/><Relationship Id="rId5" Type="http://schemas.openxmlformats.org/officeDocument/2006/relationships/slideMaster" Target="slideMasters/slideMaster4.xml"/><Relationship Id="rId49" Type="http://schemas.openxmlformats.org/officeDocument/2006/relationships/slide" Target="slides/slide43.xml"/><Relationship Id="rId48" Type="http://schemas.openxmlformats.org/officeDocument/2006/relationships/slide" Target="slides/slide42.xml"/><Relationship Id="rId47" Type="http://schemas.openxmlformats.org/officeDocument/2006/relationships/slide" Target="slides/slide41.xml"/><Relationship Id="rId46" Type="http://schemas.openxmlformats.org/officeDocument/2006/relationships/slide" Target="slides/slide40.xml"/><Relationship Id="rId45" Type="http://schemas.openxmlformats.org/officeDocument/2006/relationships/slide" Target="slides/slide39.xml"/><Relationship Id="rId44" Type="http://schemas.openxmlformats.org/officeDocument/2006/relationships/slide" Target="slides/slide38.xml"/><Relationship Id="rId43" Type="http://schemas.openxmlformats.org/officeDocument/2006/relationships/slide" Target="slides/slide37.xml"/><Relationship Id="rId42" Type="http://schemas.openxmlformats.org/officeDocument/2006/relationships/slide" Target="slides/slide36.xml"/><Relationship Id="rId41" Type="http://schemas.openxmlformats.org/officeDocument/2006/relationships/slide" Target="slides/slide35.xml"/><Relationship Id="rId40" Type="http://schemas.openxmlformats.org/officeDocument/2006/relationships/slide" Target="slides/slide34.xml"/><Relationship Id="rId4" Type="http://schemas.openxmlformats.org/officeDocument/2006/relationships/slideMaster" Target="slideMasters/slideMaster3.xml"/><Relationship Id="rId39" Type="http://schemas.openxmlformats.org/officeDocument/2006/relationships/slide" Target="slides/slide33.xml"/><Relationship Id="rId38" Type="http://schemas.openxmlformats.org/officeDocument/2006/relationships/slide" Target="slides/slide32.xml"/><Relationship Id="rId37" Type="http://schemas.openxmlformats.org/officeDocument/2006/relationships/slide" Target="slides/slide31.xml"/><Relationship Id="rId36" Type="http://schemas.openxmlformats.org/officeDocument/2006/relationships/slide" Target="slides/slide30.xml"/><Relationship Id="rId35" Type="http://schemas.openxmlformats.org/officeDocument/2006/relationships/slide" Target="slides/slide29.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5122" name="Rectangle 2"/>
          <p:cNvSpPr>
            <a:spLocks noGrp="1" noChangeArrowheads="1"/>
          </p:cNvSpPr>
          <p:nvPr>
            <p:ph type="hdr" sz="quarter"/>
          </p:nvPr>
        </p:nvSpPr>
        <p:spPr bwMode="auto">
          <a:xfrm>
            <a:off x="0" y="0"/>
            <a:ext cx="3276600" cy="533400"/>
          </a:xfrm>
          <a:prstGeom prst="rect">
            <a:avLst/>
          </a:prstGeom>
          <a:noFill/>
          <a:ln w="9525">
            <a:noFill/>
            <a:miter lim="800000"/>
          </a:ln>
          <a:effectLst/>
        </p:spPr>
        <p:txBody>
          <a:bodyPr vert="horz" wrap="square" lIns="91440" tIns="45720" rIns="91440" bIns="45720" numCol="1" anchor="t" anchorCtr="0" compatLnSpc="1"/>
          <a:lstStyle>
            <a:lvl1pPr algn="l" eaLnBrk="1" hangingPunct="1">
              <a:spcBef>
                <a:spcPct val="20000"/>
              </a:spcBef>
              <a:buFont typeface="Arial" panose="020B0604020202020204" pitchFamily="34" charset="0"/>
              <a:buChar char="•"/>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3" name="Rectangle 3"/>
          <p:cNvSpPr>
            <a:spLocks noGrp="1" noChangeArrowheads="1"/>
          </p:cNvSpPr>
          <p:nvPr>
            <p:ph type="dt" idx="1"/>
          </p:nvPr>
        </p:nvSpPr>
        <p:spPr bwMode="auto">
          <a:xfrm>
            <a:off x="4283075" y="0"/>
            <a:ext cx="3276600" cy="533400"/>
          </a:xfrm>
          <a:prstGeom prst="rect">
            <a:avLst/>
          </a:prstGeom>
          <a:noFill/>
          <a:ln w="9525">
            <a:noFill/>
            <a:miter lim="800000"/>
          </a:ln>
          <a:effectLst/>
        </p:spPr>
        <p:txBody>
          <a:bodyPr vert="horz" wrap="square" lIns="91440" tIns="45720" rIns="91440" bIns="45720" numCol="1" anchor="t" anchorCtr="0" compatLnSpc="1"/>
          <a:lstStyle>
            <a:lvl1pPr algn="r" eaLnBrk="1" hangingPunct="1">
              <a:spcBef>
                <a:spcPct val="20000"/>
              </a:spcBef>
              <a:buFont typeface="Arial" panose="020B0604020202020204" pitchFamily="34" charset="0"/>
              <a:buChar char="•"/>
              <a:defRPr sz="1200">
                <a:latin typeface="Times New Roman" panose="02020603050405020304" pitchFamily="18" charset="0"/>
              </a:defRPr>
            </a:lvl1pPr>
          </a:lstStyle>
          <a:p>
            <a:pPr marL="0" marR="0" lvl="0" indent="0" algn="r"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1316" name="Rectangle 4"/>
          <p:cNvSpPr>
            <a:spLocks noGrp="1"/>
          </p:cNvSpPr>
          <p:nvPr>
            <p:ph type="sldImg" idx="2"/>
          </p:nvPr>
        </p:nvSpPr>
        <p:spPr>
          <a:xfrm>
            <a:off x="1260475" y="801688"/>
            <a:ext cx="5038725" cy="4010025"/>
          </a:xfrm>
          <a:prstGeom prst="rect">
            <a:avLst/>
          </a:prstGeom>
          <a:noFill/>
          <a:ln w="9525">
            <a:noFill/>
          </a:ln>
        </p:spPr>
      </p:sp>
      <p:sp>
        <p:nvSpPr>
          <p:cNvPr id="5125" name="Rectangle 5"/>
          <p:cNvSpPr>
            <a:spLocks noGrp="1" noChangeArrowheads="1"/>
          </p:cNvSpPr>
          <p:nvPr>
            <p:ph type="body" sz="quarter" idx="3"/>
          </p:nvPr>
        </p:nvSpPr>
        <p:spPr bwMode="auto">
          <a:xfrm>
            <a:off x="1008063" y="5078413"/>
            <a:ext cx="5543550" cy="4811713"/>
          </a:xfrm>
          <a:prstGeom prst="rect">
            <a:avLst/>
          </a:prstGeom>
          <a:noFill/>
          <a:ln w="9525">
            <a:noFill/>
            <a:miter lim="800000"/>
          </a:ln>
          <a:effec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0" 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6" name="Rectangle 6"/>
          <p:cNvSpPr>
            <a:spLocks noGrp="1" noChangeArrowheads="1"/>
          </p:cNvSpPr>
          <p:nvPr>
            <p:ph type="ftr" sz="quarter" idx="4"/>
          </p:nvPr>
        </p:nvSpPr>
        <p:spPr bwMode="auto">
          <a:xfrm>
            <a:off x="0" y="10156825"/>
            <a:ext cx="3276600" cy="534988"/>
          </a:xfrm>
          <a:prstGeom prst="rect">
            <a:avLst/>
          </a:prstGeom>
          <a:noFill/>
          <a:ln w="9525">
            <a:noFill/>
            <a:miter lim="800000"/>
          </a:ln>
          <a:effectLst/>
        </p:spPr>
        <p:txBody>
          <a:bodyPr vert="horz" wrap="square" lIns="91440" tIns="45720" rIns="91440" bIns="45720" numCol="1" anchor="b" anchorCtr="0" compatLnSpc="1"/>
          <a:lstStyle>
            <a:lvl1pPr algn="l" eaLnBrk="1" hangingPunct="1">
              <a:spcBef>
                <a:spcPct val="20000"/>
              </a:spcBef>
              <a:buFont typeface="Arial" panose="020B0604020202020204" pitchFamily="34" charset="0"/>
              <a:buChar char="•"/>
              <a:defRPr sz="1200">
                <a:latin typeface="Times New Roman" panose="02020603050405020304" pitchFamily="18" charset="0"/>
              </a:defRPr>
            </a:lvl1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endParaRPr kumimoji="0" lang="zh-CN"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7" name="Rectangle 7"/>
          <p:cNvSpPr>
            <a:spLocks noGrp="1" noChangeArrowheads="1"/>
          </p:cNvSpPr>
          <p:nvPr>
            <p:ph type="sldNum" sz="quarter" idx="5"/>
          </p:nvPr>
        </p:nvSpPr>
        <p:spPr bwMode="auto">
          <a:xfrm>
            <a:off x="4283075" y="10156825"/>
            <a:ext cx="3276600" cy="534988"/>
          </a:xfrm>
          <a:prstGeom prst="rect">
            <a:avLst/>
          </a:prstGeom>
          <a:noFill/>
          <a:ln w="9525">
            <a:noFill/>
            <a:miter lim="800000"/>
          </a:ln>
          <a:effectLst/>
        </p:spPr>
        <p:txBody>
          <a:bodyPr vert="horz" wrap="square" lIns="91440" tIns="45720" rIns="91440" bIns="45720" numCol="1" anchor="b" anchorCtr="0" compatLnSpc="1"/>
          <a:p>
            <a:pPr lvl="0" algn="r" eaLnBrk="1" hangingPunct="1">
              <a:spcBef>
                <a:spcPct val="20000"/>
              </a:spcBef>
              <a:buFont typeface="Arial" panose="020B0604020202020204" pitchFamily="34" charset="0"/>
              <a:buChar char="•"/>
            </a:pPr>
            <a:fld id="{9A0DB2DC-4C9A-4742-B13C-FB6460FD3503}" type="slidenum">
              <a:rPr lang="zh-CN" altLang="zh-CN" sz="1200" dirty="0">
                <a:latin typeface="Times New Roman" panose="02020603050405020304" pitchFamily="18" charset="0"/>
              </a:rPr>
            </a:fld>
            <a:endParaRPr lang="zh-CN" altLang="zh-CN" sz="1200"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6146" name="Group 2"/>
          <p:cNvGrpSpPr/>
          <p:nvPr/>
        </p:nvGrpSpPr>
        <p:grpSpPr>
          <a:xfrm>
            <a:off x="0" y="2438400"/>
            <a:ext cx="9009063" cy="1052513"/>
            <a:chOff x="0" y="0"/>
            <a:chExt cx="5675" cy="663"/>
          </a:xfrm>
        </p:grpSpPr>
        <p:grpSp>
          <p:nvGrpSpPr>
            <p:cNvPr id="6152" name="Group 3"/>
            <p:cNvGrpSpPr/>
            <p:nvPr/>
          </p:nvGrpSpPr>
          <p:grpSpPr>
            <a:xfrm>
              <a:off x="183" y="68"/>
              <a:ext cx="449" cy="299"/>
              <a:chOff x="0" y="0"/>
              <a:chExt cx="624" cy="432"/>
            </a:xfrm>
          </p:grpSpPr>
          <p:sp>
            <p:nvSpPr>
              <p:cNvPr id="22" name="Rectangle 4"/>
              <p:cNvSpPr>
                <a:spLocks noChangeArrowheads="1"/>
              </p:cNvSpPr>
              <p:nvPr/>
            </p:nvSpPr>
            <p:spPr bwMode="auto">
              <a:xfrm>
                <a:off x="0" y="0"/>
                <a:ext cx="384" cy="432"/>
              </a:xfrm>
              <a:prstGeom prst="rect">
                <a:avLst/>
              </a:prstGeom>
              <a:solidFill>
                <a:schemeClr val="folHlink"/>
              </a:soli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grpSp>
          <p:nvGrpSpPr>
            <p:cNvPr id="6153" name="Group 6"/>
            <p:cNvGrpSpPr/>
            <p:nvPr/>
          </p:nvGrpSpPr>
          <p:grpSpPr>
            <a:xfrm>
              <a:off x="261" y="334"/>
              <a:ext cx="466" cy="299"/>
              <a:chOff x="0" y="0"/>
              <a:chExt cx="672" cy="432"/>
            </a:xfrm>
          </p:grpSpPr>
          <p:sp>
            <p:nvSpPr>
              <p:cNvPr id="20" name="Rectangle 7"/>
              <p:cNvSpPr>
                <a:spLocks noChangeArrowheads="1"/>
              </p:cNvSpPr>
              <p:nvPr/>
            </p:nvSpPr>
            <p:spPr bwMode="auto">
              <a:xfrm>
                <a:off x="0" y="0"/>
                <a:ext cx="384" cy="432"/>
              </a:xfrm>
              <a:prstGeom prst="rect">
                <a:avLst/>
              </a:prstGeom>
              <a:solidFill>
                <a:schemeClr val="accent2"/>
              </a:soli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21" name="Rectangle 8"/>
              <p:cNvSpPr>
                <a:spLocks noChangeArrowheads="1"/>
              </p:cNvSpPr>
              <p:nvPr/>
            </p:nvSpPr>
            <p:spPr bwMode="auto">
              <a:xfrm>
                <a:off x="336" y="0"/>
                <a:ext cx="336" cy="432"/>
              </a:xfrm>
              <a:prstGeom prst="rect">
                <a:avLst/>
              </a:prstGeom>
              <a:gradFill rotWithShape="0">
                <a:gsLst>
                  <a:gs pos="0">
                    <a:schemeClr val="accent2"/>
                  </a:gs>
                  <a:gs pos="100000">
                    <a:schemeClr val="bg1"/>
                  </a:gs>
                </a:gsLst>
                <a:lin ang="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1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8" name="Rectangle 10"/>
            <p:cNvSpPr>
              <a:spLocks noChangeArrowheads="1"/>
            </p:cNvSpPr>
            <p:nvPr/>
          </p:nvSpPr>
          <p:spPr bwMode="auto">
            <a:xfrm>
              <a:off x="400" y="0"/>
              <a:ext cx="20" cy="663"/>
            </a:xfrm>
            <a:prstGeom prst="rect">
              <a:avLst/>
            </a:prstGeom>
            <a:solidFill>
              <a:schemeClr val="bg2"/>
            </a:soli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grpSp>
      <p:sp>
        <p:nvSpPr>
          <p:cNvPr id="2060" name="Rectangle 12"/>
          <p:cNvSpPr>
            <a:spLocks noGrp="1" noChangeArrowheads="1"/>
          </p:cNvSpPr>
          <p:nvPr>
            <p:ph type="ctrTitle"/>
          </p:nvPr>
        </p:nvSpPr>
        <p:spPr>
          <a:xfrm>
            <a:off x="990600" y="1828800"/>
            <a:ext cx="7772400" cy="1143000"/>
          </a:xfrm>
        </p:spPr>
        <p:txBody>
          <a:bodyPr/>
          <a:lstStyle>
            <a:lvl1pPr>
              <a:defRPr/>
            </a:lvl1pPr>
          </a:lstStyle>
          <a:p>
            <a:r>
              <a:rPr lang="zh-CN"/>
              <a:t>单击此处编辑母版标题样式</a:t>
            </a:r>
            <a:endParaRPr lang="zh-CN"/>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t>单击此处编辑母版副标题样式</a:t>
            </a:r>
            <a:endParaRPr lang="zh-CN"/>
          </a:p>
        </p:txBody>
      </p:sp>
      <p:sp>
        <p:nvSpPr>
          <p:cNvPr id="24"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CD0826-69BD-471F-B41B-AEFDDA122F90}" type="datetime1">
              <a:rPr kumimoji="0" lang="zh-CN" altLang="en-US"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bg2"/>
              </a:solidFill>
              <a:effectLst/>
              <a:uLnTx/>
              <a:uFillTx/>
              <a:latin typeface="Tahoma" panose="020B0604030504040204" pitchFamily="34" charset="0"/>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solidFill>
                  <a:schemeClr val="bg2"/>
                </a:solidFill>
              </a:rPr>
            </a:fld>
            <a:endParaRPr lang="zh-CN" altLang="zh-CN" dirty="0">
              <a:solidFill>
                <a:schemeClr val="bg2"/>
              </a:solidFill>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B9A295B-CDCD-4E6D-A322-EBD007BC9B13}"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14"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474CCF0-CE51-4E0F-BAD1-61B0CE0C4442}"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39750" y="1773238"/>
            <a:ext cx="4064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56150" y="1773238"/>
            <a:ext cx="4064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5CBB385-ED89-4F91-96E8-71117715B24F}"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FC7642C-E55C-4B78-A6E8-CD07A23D70E9}"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1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4"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DCAAB1D-64A6-45DC-86AA-A736B11F360F}"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4"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5A089F9-0921-4BA6-8BF1-EC460833CDB0}"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D52A7F3-93C6-4867-9763-B09EDCB6300F}"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FBE0FF-0A0B-4C17-8E8F-88D93A1F3027}"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94B7FF5-4FDD-434B-BFA2-ED2F7F3775A3}"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16725" y="333375"/>
            <a:ext cx="2092325" cy="55546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39750" y="333375"/>
            <a:ext cx="6124575" cy="55546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6EFFDBA-574F-4DED-827E-0DA5754CDE6A}"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16013" y="333375"/>
            <a:ext cx="7793037"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539750" y="1773238"/>
            <a:ext cx="8280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Ø"/>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14" name="Rectangle 11"/>
          <p:cNvSpPr>
            <a:spLocks noGrp="1" noChangeArrowheads="1"/>
          </p:cNvSpPr>
          <p:nvPr>
            <p:ph type="dt" sz="half" idx="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9C1D038-2BDA-4BD0-9D45-4C3031C30F53}"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16013" y="333375"/>
            <a:ext cx="7793037"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39750" y="1773238"/>
            <a:ext cx="4064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56150" y="1773238"/>
            <a:ext cx="4064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914400" y="6324600"/>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EFE4246-67D1-4481-99AF-EA66C2B4C735}"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352800" y="6324600"/>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6781800" y="63246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duotone>
              <a:schemeClr val="bg2"/>
              <a:srgbClr val="FFF1C1"/>
            </a:duotone>
            <a:lum bright="-10000" contrast="-40000"/>
          </a:blip>
          <a:stretch>
            <a:fillRect/>
          </a:stretch>
        </p:blipFill>
        <p:spPr>
          <a:xfrm>
            <a:off x="1" y="5214950"/>
            <a:ext cx="1472173" cy="1643050"/>
          </a:xfrm>
          <a:prstGeom prst="rect">
            <a:avLst/>
          </a:prstGeom>
          <a:noFill/>
          <a:ln>
            <a:noFill/>
          </a:ln>
        </p:spPr>
      </p:pic>
      <p:sp>
        <p:nvSpPr>
          <p:cNvPr id="2" name="标题 1"/>
          <p:cNvSpPr>
            <a:spLocks noGrp="1"/>
          </p:cNvSpPr>
          <p:nvPr>
            <p:ph type="ctrTitle"/>
          </p:nvPr>
        </p:nvSpPr>
        <p:spPr>
          <a:xfrm>
            <a:off x="685800" y="1214422"/>
            <a:ext cx="7772400" cy="1470025"/>
          </a:xfrm>
        </p:spPr>
        <p:txBody>
          <a:bodyPr/>
          <a:lstStyle>
            <a:lvl1pPr algn="ctr">
              <a:defRPr sz="4800"/>
            </a:lvl1pPr>
          </a:lstStyle>
          <a:p>
            <a:r>
              <a:rPr lang="zh-CN" altLang="en-US"/>
              <a:t>单击此处编辑母版标题样式</a:t>
            </a:r>
            <a:endParaRPr lang="en-US"/>
          </a:p>
        </p:txBody>
      </p:sp>
      <p:sp>
        <p:nvSpPr>
          <p:cNvPr id="3" name="副标题 2"/>
          <p:cNvSpPr>
            <a:spLocks noGrp="1"/>
          </p:cNvSpPr>
          <p:nvPr>
            <p:ph type="subTitle" idx="1"/>
          </p:nvPr>
        </p:nvSpPr>
        <p:spPr>
          <a:xfrm>
            <a:off x="1521733" y="2759581"/>
            <a:ext cx="6100534" cy="1740989"/>
          </a:xfrm>
        </p:spPr>
        <p:txBody>
          <a:bodyPr/>
          <a:lstStyle>
            <a:lvl1pPr marL="0" indent="0" algn="ctr">
              <a:buNone/>
              <a:defRPr lang="zh-CN" altLang="en-US" dirty="0">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8"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transition>
    <p:random/>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lgn="l">
              <a:defRPr/>
            </a:lvl1p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duotone>
              <a:schemeClr val="bg2"/>
              <a:srgbClr val="FFF1C1"/>
            </a:duotone>
            <a:lum bright="-10000" contrast="-30000"/>
          </a:blip>
          <a:stretch>
            <a:fillRect/>
          </a:stretch>
        </p:blipFill>
        <p:spPr>
          <a:xfrm>
            <a:off x="7480636" y="0"/>
            <a:ext cx="1663364" cy="2357430"/>
          </a:xfrm>
          <a:prstGeom prst="rect">
            <a:avLst/>
          </a:prstGeom>
          <a:noFill/>
          <a:ln>
            <a:noFill/>
          </a:ln>
        </p:spPr>
      </p:pic>
      <p:sp>
        <p:nvSpPr>
          <p:cNvPr id="2" name="标题 1"/>
          <p:cNvSpPr>
            <a:spLocks noGrp="1"/>
          </p:cNvSpPr>
          <p:nvPr>
            <p:ph type="title"/>
          </p:nvPr>
        </p:nvSpPr>
        <p:spPr>
          <a:xfrm>
            <a:off x="722313" y="4143369"/>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643182"/>
            <a:ext cx="7772400" cy="1500187"/>
          </a:xfrm>
        </p:spPr>
        <p:txBody>
          <a:bodyPr anchor="b"/>
          <a:lstStyle>
            <a:lvl1pPr marL="0" indent="0">
              <a:buNone/>
              <a:defRPr lang="zh-CN" altLang="en-US" sz="2800" smtClean="0">
                <a:effectLst/>
              </a:defRPr>
            </a:lvl1pPr>
            <a:lvl2pPr marL="457200" indent="0">
              <a:buNone/>
              <a:defRPr lang="zh-CN" altLang="en-US" sz="2400" smtClean="0">
                <a:effectLst/>
              </a:defRPr>
            </a:lvl2pPr>
            <a:lvl3pPr marL="914400" indent="0">
              <a:buNone/>
              <a:defRPr lang="zh-CN" altLang="en-US" sz="2000" smtClean="0">
                <a:effectLst/>
              </a:defRPr>
            </a:lvl3pPr>
            <a:lvl4pPr marL="1371600" indent="0">
              <a:buNone/>
              <a:defRPr lang="zh-CN" altLang="en-US" sz="1600" smtClean="0">
                <a:effectLst/>
              </a:defRPr>
            </a:lvl4pPr>
            <a:lvl5pPr marL="1828800" indent="0">
              <a:buNone/>
              <a:defRPr lang="zh-CN" altLang="en-US" sz="1400" dirty="0" smtClean="0">
                <a:effectLst/>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8"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transition>
    <p:random/>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552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4"/>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408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6"/>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7"/>
          <p:cNvSpPr>
            <a:spLocks noGrp="1"/>
          </p:cNvSpPr>
          <p:nvPr>
            <p:ph type="ftr" sz="quarter" idx="1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p>
            <a:r>
              <a:rPr lang="zh-CN" altLang="en-US"/>
              <a:t>单击此处编辑母版标题样式</a:t>
            </a:r>
            <a:endParaRPr lang="en-US"/>
          </a:p>
        </p:txBody>
      </p:sp>
      <p:sp>
        <p:nvSpPr>
          <p:cNvPr id="9" name="日期占位符 2"/>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3"/>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9" name="日期占位符 1"/>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2"/>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732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a:xfrm>
            <a:off x="461175" y="5357826"/>
            <a:ext cx="8226225" cy="768028"/>
          </a:xfrm>
        </p:spPr>
        <p:txBody>
          <a:bodyPr/>
          <a:lstStyle>
            <a:lvl1pPr algn="ctr">
              <a:defRPr lang="zh-CN" altLang="en-US" sz="3600" b="0" kern="1200" spc="50" dirty="0">
                <a:ln w="12700">
                  <a:noFill/>
                  <a:prstDash val="solid"/>
                </a:ln>
                <a:solidFill>
                  <a:schemeClr val="accent4"/>
                </a:solidFill>
                <a:effectLst>
                  <a:outerShdw blurRad="38100" dist="20320" dir="2700000" algn="tl" rotWithShape="0">
                    <a:srgbClr val="000000">
                      <a:alpha val="70000"/>
                    </a:srgbClr>
                  </a:outerShdw>
                </a:effectLst>
                <a:latin typeface="+mj-lt"/>
                <a:ea typeface="+mj-ea"/>
                <a:cs typeface="+mj-cs"/>
              </a:defRPr>
            </a:lvl1pPr>
          </a:lstStyle>
          <a:p>
            <a:r>
              <a:rPr lang="zh-CN" altLang="en-US"/>
              <a:t>单击此处编辑母版标题样式</a:t>
            </a:r>
            <a:endParaRPr lang="en-US"/>
          </a:p>
        </p:txBody>
      </p:sp>
      <p:sp>
        <p:nvSpPr>
          <p:cNvPr id="3" name="内容占位符 2"/>
          <p:cNvSpPr>
            <a:spLocks noGrp="1"/>
          </p:cNvSpPr>
          <p:nvPr>
            <p:ph idx="1"/>
          </p:nvPr>
        </p:nvSpPr>
        <p:spPr>
          <a:xfrm>
            <a:off x="460382" y="428604"/>
            <a:ext cx="5111750" cy="48577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文本占位符 3"/>
          <p:cNvSpPr>
            <a:spLocks noGrp="1"/>
          </p:cNvSpPr>
          <p:nvPr>
            <p:ph type="body" sz="half" idx="2"/>
          </p:nvPr>
        </p:nvSpPr>
        <p:spPr>
          <a:xfrm>
            <a:off x="5679086" y="1357298"/>
            <a:ext cx="3008313" cy="392909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4"/>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a:xfrm>
            <a:off x="695298" y="214290"/>
            <a:ext cx="7448602" cy="781052"/>
          </a:xfrm>
        </p:spPr>
        <p:txBody>
          <a:bodyPr/>
          <a:lstStyle>
            <a:lvl1pPr algn="ctr" rtl="0">
              <a:spcBef>
                <a:spcPct val="0"/>
              </a:spcBef>
              <a:buNone/>
              <a:defRPr sz="3600" b="0" kern="1200" spc="50">
                <a:ln w="12700">
                  <a:noFill/>
                  <a:prstDash val="solid"/>
                </a:ln>
                <a:solidFill>
                  <a:schemeClr val="accent4"/>
                </a:solidFill>
                <a:effectLst>
                  <a:outerShdw blurRad="38100" dist="20320" dir="2700000" algn="tl" rotWithShape="0">
                    <a:srgbClr val="000000">
                      <a:alpha val="70000"/>
                    </a:srgbClr>
                  </a:outerShdw>
                </a:effectLst>
                <a:latin typeface="+mj-lt"/>
                <a:ea typeface="+mj-ea"/>
                <a:cs typeface="+mj-cs"/>
              </a:defRPr>
            </a:lvl1pPr>
          </a:lstStyle>
          <a:p>
            <a:r>
              <a:rPr lang="zh-CN" altLang="en-US"/>
              <a:t>单击此处编辑母版标题样式</a:t>
            </a:r>
            <a:endParaRPr lang="en-US"/>
          </a:p>
        </p:txBody>
      </p:sp>
      <p:sp>
        <p:nvSpPr>
          <p:cNvPr id="3" name="图片占位符 2"/>
          <p:cNvSpPr>
            <a:spLocks noGrp="1"/>
          </p:cNvSpPr>
          <p:nvPr>
            <p:ph type="pic" idx="1"/>
          </p:nvPr>
        </p:nvSpPr>
        <p:spPr>
          <a:xfrm>
            <a:off x="681015" y="1000108"/>
            <a:ext cx="7452360" cy="5214974"/>
          </a:xfrm>
          <a:prstGeom prst="snip2DiagRect">
            <a:avLst>
              <a:gd name="adj1" fmla="val 0"/>
              <a:gd name="adj2" fmla="val 17946"/>
            </a:avLst>
          </a:prstGeom>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60000"/>
              <a:buFont typeface="Wingdings 2" panose="05020102010507070707" pitchFamily="18" charset="2"/>
              <a:buNone/>
              <a:defRPr/>
            </a:pPr>
            <a:r>
              <a:rPr kumimoji="0" lang="zh-CN" altLang="en-US" sz="3200" b="0" i="0" u="none" strike="noStrike" kern="1200" cap="none" spc="0" normalizeH="0" baseline="0" noProof="0">
                <a:ln>
                  <a:noFill/>
                </a:ln>
                <a:solidFill>
                  <a:schemeClr val="dk1"/>
                </a:solidFill>
                <a:effectLst/>
                <a:uLnTx/>
                <a:uFillTx/>
                <a:latin typeface="+mn-lt"/>
                <a:ea typeface="+mn-ea"/>
                <a:cs typeface="+mn-cs"/>
              </a:rPr>
              <a:t>单击图标添加图片</a:t>
            </a:r>
            <a:endParaRPr kumimoji="0" lang="en-US" sz="3200" b="0" i="0" u="none" strike="noStrike" kern="1200" cap="none" spc="0" normalizeH="0" baseline="0" noProof="0">
              <a:ln>
                <a:noFill/>
              </a:ln>
              <a:solidFill>
                <a:schemeClr val="dk1"/>
              </a:solidFill>
              <a:effectLst/>
              <a:uLnTx/>
              <a:uFillTx/>
              <a:latin typeface="+mn-lt"/>
              <a:ea typeface="+mn-ea"/>
              <a:cs typeface="+mn-cs"/>
            </a:endParaRPr>
          </a:p>
        </p:txBody>
      </p:sp>
      <p:sp>
        <p:nvSpPr>
          <p:cNvPr id="4" name="文本占位符 3"/>
          <p:cNvSpPr>
            <a:spLocks noGrp="1"/>
          </p:cNvSpPr>
          <p:nvPr>
            <p:ph type="body" sz="half" idx="2"/>
          </p:nvPr>
        </p:nvSpPr>
        <p:spPr>
          <a:xfrm>
            <a:off x="4953000" y="6243633"/>
            <a:ext cx="3180375" cy="614367"/>
          </a:xfrm>
        </p:spPr>
        <p:txBody>
          <a:bodyPr/>
          <a:lstStyle>
            <a:lvl1pPr marL="0" indent="0" algn="r">
              <a:buNone/>
              <a:defRPr sz="1400"/>
            </a:lvl1pPr>
            <a:lvl2pPr marL="457200" indent="0" algn="r">
              <a:buNone/>
              <a:defRPr sz="1200"/>
            </a:lvl2pPr>
            <a:lvl3pPr marL="914400" indent="0" algn="r">
              <a:buNone/>
              <a:defRPr sz="1000"/>
            </a:lvl3pPr>
            <a:lvl4pPr marL="1371600" indent="0" algn="r">
              <a:buNone/>
              <a:defRPr sz="900"/>
            </a:lvl4pPr>
            <a:lvl5pPr marL="1828800" indent="0" algn="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日期占位符 4"/>
          <p:cNvSpPr>
            <a:spLocks noGrp="1"/>
          </p:cNvSpPr>
          <p:nvPr>
            <p:ph type="dt" sz="half" idx="12"/>
          </p:nvPr>
        </p:nvSpPr>
        <p:spPr>
          <a:xfrm>
            <a:off x="609600" y="6492875"/>
            <a:ext cx="16764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2286000" y="6492875"/>
            <a:ext cx="2643188"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82625" y="5346700"/>
            <a:ext cx="871538" cy="871538"/>
          </a:xfrm>
          <a:prstGeom prst="rtTriangle">
            <a:avLst/>
          </a:prstGeom>
          <a:noFill/>
        </p:spPr>
        <p:style>
          <a:lnRef idx="2">
            <a:schemeClr val="accent1"/>
          </a:lnRef>
          <a:fillRef idx="1">
            <a:schemeClr val="lt1"/>
          </a:fillRef>
          <a:effectRef idx="0">
            <a:schemeClr val="accent1"/>
          </a:effectRef>
          <a:fontRef idx="minor">
            <a:schemeClr val="dk1"/>
          </a:fontRef>
        </p:style>
        <p:txBody>
          <a:bodyPr vert="horz" wrap="square" lIns="45720" tIns="45720" rIns="45720" bIns="45720" numCol="1" anchor="ctr" anchorCtr="0" compatLnSpc="1"/>
          <a:p>
            <a:pPr algn="r" eaLnBrk="1" hangingPunct="1">
              <a:buNone/>
            </a:pPr>
            <a:fld id="{9A0DB2DC-4C9A-4742-B13C-FB6460FD3503}" type="slidenum">
              <a:rPr lang="zh-CN" altLang="en-US" dirty="0">
                <a:latin typeface="Goudy Old Style" panose="02020502050305020303" pitchFamily="18" charset="0"/>
              </a:rPr>
            </a:fld>
            <a:endParaRPr lang="zh-CN" altLang="en-US" dirty="0">
              <a:latin typeface="Goudy Old Style" panose="02020502050305020303" pitchFamily="18" charset="0"/>
            </a:endParaRPr>
          </a:p>
        </p:txBody>
      </p:sp>
    </p:spTree>
  </p:cSld>
  <p:clrMapOvr>
    <a:masterClrMapping/>
  </p:clrMapOvr>
  <p:transition>
    <p:random/>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lgn="r">
              <a:defRPr/>
            </a:lvl1pPr>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500176"/>
            <a:ext cx="8229600" cy="471490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竖排标题 1"/>
          <p:cNvSpPr>
            <a:spLocks noGrp="1"/>
          </p:cNvSpPr>
          <p:nvPr>
            <p:ph type="title" orient="vert"/>
          </p:nvPr>
        </p:nvSpPr>
        <p:spPr>
          <a:xfrm>
            <a:off x="7286644" y="274638"/>
            <a:ext cx="1400156" cy="5940444"/>
          </a:xfrm>
        </p:spPr>
        <p:txBody>
          <a:bodyPr vert="eaVert"/>
          <a:lstStyle>
            <a:lvl1pPr algn="ctr">
              <a:defRPr>
                <a:effectLst>
                  <a:outerShdw dist="50800" dir="18900000" algn="tl" rotWithShape="0">
                    <a:srgbClr val="000000">
                      <a:alpha val="75000"/>
                    </a:srgbClr>
                  </a:outerShdw>
                </a:effectLst>
              </a:defRPr>
            </a:lvl1pPr>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758006" cy="59404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duotone>
              <a:schemeClr val="bg2"/>
              <a:srgbClr val="FFF1C1"/>
            </a:duotone>
            <a:lum bright="-10000" contrast="-40000"/>
          </a:blip>
          <a:stretch>
            <a:fillRect/>
          </a:stretch>
        </p:blipFill>
        <p:spPr>
          <a:xfrm>
            <a:off x="1" y="5214950"/>
            <a:ext cx="1472173" cy="1643050"/>
          </a:xfrm>
          <a:prstGeom prst="rect">
            <a:avLst/>
          </a:prstGeom>
          <a:noFill/>
          <a:ln>
            <a:noFill/>
          </a:ln>
        </p:spPr>
      </p:pic>
      <p:sp>
        <p:nvSpPr>
          <p:cNvPr id="2" name="标题 1"/>
          <p:cNvSpPr>
            <a:spLocks noGrp="1"/>
          </p:cNvSpPr>
          <p:nvPr>
            <p:ph type="ctrTitle"/>
          </p:nvPr>
        </p:nvSpPr>
        <p:spPr>
          <a:xfrm>
            <a:off x="685800" y="1214422"/>
            <a:ext cx="7772400" cy="1470025"/>
          </a:xfrm>
        </p:spPr>
        <p:txBody>
          <a:bodyPr/>
          <a:lstStyle>
            <a:lvl1pPr algn="ctr">
              <a:defRPr sz="4800"/>
            </a:lvl1pPr>
          </a:lstStyle>
          <a:p>
            <a:r>
              <a:rPr lang="zh-CN" altLang="en-US"/>
              <a:t>单击此处编辑母版标题样式</a:t>
            </a:r>
            <a:endParaRPr lang="en-US"/>
          </a:p>
        </p:txBody>
      </p:sp>
      <p:sp>
        <p:nvSpPr>
          <p:cNvPr id="3" name="副标题 2"/>
          <p:cNvSpPr>
            <a:spLocks noGrp="1"/>
          </p:cNvSpPr>
          <p:nvPr>
            <p:ph type="subTitle" idx="1"/>
          </p:nvPr>
        </p:nvSpPr>
        <p:spPr>
          <a:xfrm>
            <a:off x="1521733" y="2759581"/>
            <a:ext cx="6100534" cy="1740989"/>
          </a:xfrm>
        </p:spPr>
        <p:txBody>
          <a:bodyPr/>
          <a:lstStyle>
            <a:lvl1pPr marL="0" indent="0" algn="ctr">
              <a:buNone/>
              <a:defRPr lang="zh-CN" altLang="en-US" dirty="0">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8"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transition>
    <p:random/>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lgn="l">
              <a:defRPr/>
            </a:lvl1p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duotone>
              <a:schemeClr val="bg2"/>
              <a:srgbClr val="FFF1C1"/>
            </a:duotone>
            <a:lum bright="-10000" contrast="-30000"/>
          </a:blip>
          <a:stretch>
            <a:fillRect/>
          </a:stretch>
        </p:blipFill>
        <p:spPr>
          <a:xfrm>
            <a:off x="7480636" y="0"/>
            <a:ext cx="1663364" cy="2357430"/>
          </a:xfrm>
          <a:prstGeom prst="rect">
            <a:avLst/>
          </a:prstGeom>
          <a:noFill/>
          <a:ln>
            <a:noFill/>
          </a:ln>
        </p:spPr>
      </p:pic>
      <p:sp>
        <p:nvSpPr>
          <p:cNvPr id="2" name="标题 1"/>
          <p:cNvSpPr>
            <a:spLocks noGrp="1"/>
          </p:cNvSpPr>
          <p:nvPr>
            <p:ph type="title"/>
          </p:nvPr>
        </p:nvSpPr>
        <p:spPr>
          <a:xfrm>
            <a:off x="722313" y="4143369"/>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643182"/>
            <a:ext cx="7772400" cy="1500187"/>
          </a:xfrm>
        </p:spPr>
        <p:txBody>
          <a:bodyPr anchor="b"/>
          <a:lstStyle>
            <a:lvl1pPr marL="0" indent="0">
              <a:buNone/>
              <a:defRPr lang="zh-CN" altLang="en-US" sz="2800" smtClean="0">
                <a:effectLst/>
              </a:defRPr>
            </a:lvl1pPr>
            <a:lvl2pPr marL="457200" indent="0">
              <a:buNone/>
              <a:defRPr lang="zh-CN" altLang="en-US" sz="2400" smtClean="0">
                <a:effectLst/>
              </a:defRPr>
            </a:lvl2pPr>
            <a:lvl3pPr marL="914400" indent="0">
              <a:buNone/>
              <a:defRPr lang="zh-CN" altLang="en-US" sz="2000" smtClean="0">
                <a:effectLst/>
              </a:defRPr>
            </a:lvl3pPr>
            <a:lvl4pPr marL="1371600" indent="0">
              <a:buNone/>
              <a:defRPr lang="zh-CN" altLang="en-US" sz="1600" smtClean="0">
                <a:effectLst/>
              </a:defRPr>
            </a:lvl4pPr>
            <a:lvl5pPr marL="1828800" indent="0">
              <a:buNone/>
              <a:defRPr lang="zh-CN" altLang="en-US" sz="1400" dirty="0" smtClean="0">
                <a:effectLst/>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8"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transition>
    <p:random/>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552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4"/>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408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6"/>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7"/>
          <p:cNvSpPr>
            <a:spLocks noGrp="1"/>
          </p:cNvSpPr>
          <p:nvPr>
            <p:ph type="ftr" sz="quarter" idx="1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p>
            <a:r>
              <a:rPr lang="zh-CN" altLang="en-US"/>
              <a:t>单击此处编辑母版标题样式</a:t>
            </a:r>
            <a:endParaRPr lang="en-US"/>
          </a:p>
        </p:txBody>
      </p:sp>
      <p:sp>
        <p:nvSpPr>
          <p:cNvPr id="9" name="日期占位符 2"/>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3"/>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9" name="日期占位符 1"/>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2"/>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732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a:xfrm>
            <a:off x="461175" y="5357826"/>
            <a:ext cx="8226225" cy="768028"/>
          </a:xfrm>
        </p:spPr>
        <p:txBody>
          <a:bodyPr/>
          <a:lstStyle>
            <a:lvl1pPr algn="ctr">
              <a:defRPr lang="zh-CN" altLang="en-US" sz="3600" b="0" kern="1200" spc="50" dirty="0">
                <a:ln w="12700">
                  <a:noFill/>
                  <a:prstDash val="solid"/>
                </a:ln>
                <a:solidFill>
                  <a:schemeClr val="accent4"/>
                </a:solidFill>
                <a:effectLst>
                  <a:outerShdw blurRad="38100" dist="20320" dir="2700000" algn="tl" rotWithShape="0">
                    <a:srgbClr val="000000">
                      <a:alpha val="70000"/>
                    </a:srgbClr>
                  </a:outerShdw>
                </a:effectLst>
                <a:latin typeface="+mj-lt"/>
                <a:ea typeface="+mj-ea"/>
                <a:cs typeface="+mj-cs"/>
              </a:defRPr>
            </a:lvl1pPr>
          </a:lstStyle>
          <a:p>
            <a:r>
              <a:rPr lang="zh-CN" altLang="en-US"/>
              <a:t>单击此处编辑母版标题样式</a:t>
            </a:r>
            <a:endParaRPr lang="en-US"/>
          </a:p>
        </p:txBody>
      </p:sp>
      <p:sp>
        <p:nvSpPr>
          <p:cNvPr id="3" name="内容占位符 2"/>
          <p:cNvSpPr>
            <a:spLocks noGrp="1"/>
          </p:cNvSpPr>
          <p:nvPr>
            <p:ph idx="1"/>
          </p:nvPr>
        </p:nvSpPr>
        <p:spPr>
          <a:xfrm>
            <a:off x="460382" y="428604"/>
            <a:ext cx="5111750" cy="48577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文本占位符 3"/>
          <p:cNvSpPr>
            <a:spLocks noGrp="1"/>
          </p:cNvSpPr>
          <p:nvPr>
            <p:ph type="body" sz="half" idx="2"/>
          </p:nvPr>
        </p:nvSpPr>
        <p:spPr>
          <a:xfrm>
            <a:off x="5679086" y="1357298"/>
            <a:ext cx="3008313" cy="392909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4"/>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a:xfrm>
            <a:off x="695298" y="214290"/>
            <a:ext cx="7448602" cy="781052"/>
          </a:xfrm>
        </p:spPr>
        <p:txBody>
          <a:bodyPr/>
          <a:lstStyle>
            <a:lvl1pPr algn="ctr" rtl="0">
              <a:spcBef>
                <a:spcPct val="0"/>
              </a:spcBef>
              <a:buNone/>
              <a:defRPr sz="3600" b="0" kern="1200" spc="50">
                <a:ln w="12700">
                  <a:noFill/>
                  <a:prstDash val="solid"/>
                </a:ln>
                <a:solidFill>
                  <a:schemeClr val="accent4"/>
                </a:solidFill>
                <a:effectLst>
                  <a:outerShdw blurRad="38100" dist="20320" dir="2700000" algn="tl" rotWithShape="0">
                    <a:srgbClr val="000000">
                      <a:alpha val="70000"/>
                    </a:srgbClr>
                  </a:outerShdw>
                </a:effectLst>
                <a:latin typeface="+mj-lt"/>
                <a:ea typeface="+mj-ea"/>
                <a:cs typeface="+mj-cs"/>
              </a:defRPr>
            </a:lvl1pPr>
          </a:lstStyle>
          <a:p>
            <a:r>
              <a:rPr lang="zh-CN" altLang="en-US"/>
              <a:t>单击此处编辑母版标题样式</a:t>
            </a:r>
            <a:endParaRPr lang="en-US"/>
          </a:p>
        </p:txBody>
      </p:sp>
      <p:sp>
        <p:nvSpPr>
          <p:cNvPr id="3" name="图片占位符 2"/>
          <p:cNvSpPr>
            <a:spLocks noGrp="1"/>
          </p:cNvSpPr>
          <p:nvPr>
            <p:ph type="pic" idx="1"/>
          </p:nvPr>
        </p:nvSpPr>
        <p:spPr>
          <a:xfrm>
            <a:off x="681015" y="1000108"/>
            <a:ext cx="7452360" cy="5214974"/>
          </a:xfrm>
          <a:prstGeom prst="snip2DiagRect">
            <a:avLst>
              <a:gd name="adj1" fmla="val 0"/>
              <a:gd name="adj2" fmla="val 17946"/>
            </a:avLst>
          </a:prstGeom>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60000"/>
              <a:buFont typeface="Wingdings 2" panose="05020102010507070707" pitchFamily="18" charset="2"/>
              <a:buNone/>
              <a:defRPr/>
            </a:pPr>
            <a:r>
              <a:rPr kumimoji="0" lang="zh-CN" altLang="en-US" sz="3200" b="0" i="0" u="none" strike="noStrike" kern="1200" cap="none" spc="0" normalizeH="0" baseline="0" noProof="0">
                <a:ln>
                  <a:noFill/>
                </a:ln>
                <a:solidFill>
                  <a:schemeClr val="dk1"/>
                </a:solidFill>
                <a:effectLst/>
                <a:uLnTx/>
                <a:uFillTx/>
                <a:latin typeface="+mn-lt"/>
                <a:ea typeface="+mn-ea"/>
                <a:cs typeface="+mn-cs"/>
              </a:rPr>
              <a:t>单击图标添加图片</a:t>
            </a:r>
            <a:endParaRPr kumimoji="0" lang="en-US" sz="3200" b="0" i="0" u="none" strike="noStrike" kern="1200" cap="none" spc="0" normalizeH="0" baseline="0" noProof="0">
              <a:ln>
                <a:noFill/>
              </a:ln>
              <a:solidFill>
                <a:schemeClr val="dk1"/>
              </a:solidFill>
              <a:effectLst/>
              <a:uLnTx/>
              <a:uFillTx/>
              <a:latin typeface="+mn-lt"/>
              <a:ea typeface="+mn-ea"/>
              <a:cs typeface="+mn-cs"/>
            </a:endParaRPr>
          </a:p>
        </p:txBody>
      </p:sp>
      <p:sp>
        <p:nvSpPr>
          <p:cNvPr id="4" name="文本占位符 3"/>
          <p:cNvSpPr>
            <a:spLocks noGrp="1"/>
          </p:cNvSpPr>
          <p:nvPr>
            <p:ph type="body" sz="half" idx="2"/>
          </p:nvPr>
        </p:nvSpPr>
        <p:spPr>
          <a:xfrm>
            <a:off x="4953000" y="6243633"/>
            <a:ext cx="3180375" cy="614367"/>
          </a:xfrm>
        </p:spPr>
        <p:txBody>
          <a:bodyPr/>
          <a:lstStyle>
            <a:lvl1pPr marL="0" indent="0" algn="r">
              <a:buNone/>
              <a:defRPr sz="1400"/>
            </a:lvl1pPr>
            <a:lvl2pPr marL="457200" indent="0" algn="r">
              <a:buNone/>
              <a:defRPr sz="1200"/>
            </a:lvl2pPr>
            <a:lvl3pPr marL="914400" indent="0" algn="r">
              <a:buNone/>
              <a:defRPr sz="1000"/>
            </a:lvl3pPr>
            <a:lvl4pPr marL="1371600" indent="0" algn="r">
              <a:buNone/>
              <a:defRPr sz="900"/>
            </a:lvl4pPr>
            <a:lvl5pPr marL="1828800" indent="0" algn="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日期占位符 4"/>
          <p:cNvSpPr>
            <a:spLocks noGrp="1"/>
          </p:cNvSpPr>
          <p:nvPr>
            <p:ph type="dt" sz="half" idx="12"/>
          </p:nvPr>
        </p:nvSpPr>
        <p:spPr>
          <a:xfrm>
            <a:off x="609600" y="6492875"/>
            <a:ext cx="16764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2286000" y="6492875"/>
            <a:ext cx="2643188"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82625" y="5346700"/>
            <a:ext cx="871538" cy="871538"/>
          </a:xfrm>
          <a:prstGeom prst="rtTriangle">
            <a:avLst/>
          </a:prstGeom>
          <a:noFill/>
        </p:spPr>
        <p:style>
          <a:lnRef idx="2">
            <a:schemeClr val="accent1"/>
          </a:lnRef>
          <a:fillRef idx="1">
            <a:schemeClr val="lt1"/>
          </a:fillRef>
          <a:effectRef idx="0">
            <a:schemeClr val="accent1"/>
          </a:effectRef>
          <a:fontRef idx="minor">
            <a:schemeClr val="dk1"/>
          </a:fontRef>
        </p:style>
        <p:txBody>
          <a:bodyPr vert="horz" wrap="square" lIns="45720" tIns="45720" rIns="45720" bIns="45720" numCol="1" anchor="ctr" anchorCtr="0" compatLnSpc="1"/>
          <a:p>
            <a:pPr algn="r" eaLnBrk="1" hangingPunct="1">
              <a:buNone/>
            </a:pPr>
            <a:fld id="{9A0DB2DC-4C9A-4742-B13C-FB6460FD3503}" type="slidenum">
              <a:rPr lang="zh-CN" altLang="en-US" dirty="0">
                <a:latin typeface="Goudy Old Style" panose="02020502050305020303" pitchFamily="18" charset="0"/>
              </a:rPr>
            </a:fld>
            <a:endParaRPr lang="zh-CN" altLang="en-US" dirty="0">
              <a:latin typeface="Goudy Old Style" panose="02020502050305020303" pitchFamily="18" charset="0"/>
            </a:endParaRPr>
          </a:p>
        </p:txBody>
      </p:sp>
    </p:spTree>
  </p:cSld>
  <p:clrMapOvr>
    <a:masterClrMapping/>
  </p:clrMapOvr>
  <p:transition>
    <p:random/>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lgn="r">
              <a:defRPr/>
            </a:lvl1pPr>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500176"/>
            <a:ext cx="8229600" cy="471490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竖排标题 1"/>
          <p:cNvSpPr>
            <a:spLocks noGrp="1"/>
          </p:cNvSpPr>
          <p:nvPr>
            <p:ph type="title" orient="vert"/>
          </p:nvPr>
        </p:nvSpPr>
        <p:spPr>
          <a:xfrm>
            <a:off x="7286644" y="274638"/>
            <a:ext cx="1400156" cy="5940444"/>
          </a:xfrm>
        </p:spPr>
        <p:txBody>
          <a:bodyPr vert="eaVert"/>
          <a:lstStyle>
            <a:lvl1pPr algn="ctr">
              <a:defRPr>
                <a:effectLst>
                  <a:outerShdw dist="50800" dir="18900000" algn="tl" rotWithShape="0">
                    <a:srgbClr val="000000">
                      <a:alpha val="75000"/>
                    </a:srgbClr>
                  </a:outerShdw>
                </a:effectLst>
              </a:defRPr>
            </a:lvl1pPr>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758006" cy="59404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duotone>
              <a:schemeClr val="bg2"/>
              <a:srgbClr val="FFF1C1"/>
            </a:duotone>
            <a:lum bright="-10000" contrast="-40000"/>
          </a:blip>
          <a:stretch>
            <a:fillRect/>
          </a:stretch>
        </p:blipFill>
        <p:spPr>
          <a:xfrm>
            <a:off x="1" y="5214950"/>
            <a:ext cx="1472173" cy="1643050"/>
          </a:xfrm>
          <a:prstGeom prst="rect">
            <a:avLst/>
          </a:prstGeom>
          <a:noFill/>
          <a:ln>
            <a:noFill/>
          </a:ln>
        </p:spPr>
      </p:pic>
      <p:sp>
        <p:nvSpPr>
          <p:cNvPr id="2" name="标题 1"/>
          <p:cNvSpPr>
            <a:spLocks noGrp="1"/>
          </p:cNvSpPr>
          <p:nvPr>
            <p:ph type="ctrTitle"/>
          </p:nvPr>
        </p:nvSpPr>
        <p:spPr>
          <a:xfrm>
            <a:off x="685800" y="1214422"/>
            <a:ext cx="7772400" cy="1470025"/>
          </a:xfrm>
        </p:spPr>
        <p:txBody>
          <a:bodyPr/>
          <a:lstStyle>
            <a:lvl1pPr algn="ctr">
              <a:defRPr sz="4800"/>
            </a:lvl1pPr>
          </a:lstStyle>
          <a:p>
            <a:r>
              <a:rPr lang="zh-CN" altLang="en-US"/>
              <a:t>单击此处编辑母版标题样式</a:t>
            </a:r>
            <a:endParaRPr lang="en-US"/>
          </a:p>
        </p:txBody>
      </p:sp>
      <p:sp>
        <p:nvSpPr>
          <p:cNvPr id="3" name="副标题 2"/>
          <p:cNvSpPr>
            <a:spLocks noGrp="1"/>
          </p:cNvSpPr>
          <p:nvPr>
            <p:ph type="subTitle" idx="1"/>
          </p:nvPr>
        </p:nvSpPr>
        <p:spPr>
          <a:xfrm>
            <a:off x="1521733" y="2759581"/>
            <a:ext cx="6100534" cy="1740989"/>
          </a:xfrm>
        </p:spPr>
        <p:txBody>
          <a:bodyPr/>
          <a:lstStyle>
            <a:lvl1pPr marL="0" indent="0" algn="ctr">
              <a:buNone/>
              <a:defRPr lang="zh-CN" altLang="en-US" dirty="0">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a:p>
        </p:txBody>
      </p:sp>
      <p:sp>
        <p:nvSpPr>
          <p:cNvPr id="8"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transition>
    <p:random/>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lgn="l">
              <a:defRPr/>
            </a:lvl1p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0">
          <a:blip r:embed="rId2"/>
          <a:stretch>
            <a:fillRect/>
          </a:stretch>
        </a:blip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a:blip r:embed="rId3" cstate="print">
            <a:duotone>
              <a:schemeClr val="bg2"/>
              <a:srgbClr val="FFF1C1"/>
            </a:duotone>
            <a:lum bright="-10000" contrast="-30000"/>
          </a:blip>
          <a:stretch>
            <a:fillRect/>
          </a:stretch>
        </p:blipFill>
        <p:spPr>
          <a:xfrm>
            <a:off x="7480636" y="0"/>
            <a:ext cx="1663364" cy="2357430"/>
          </a:xfrm>
          <a:prstGeom prst="rect">
            <a:avLst/>
          </a:prstGeom>
          <a:noFill/>
          <a:ln>
            <a:noFill/>
          </a:ln>
        </p:spPr>
      </p:pic>
      <p:sp>
        <p:nvSpPr>
          <p:cNvPr id="2" name="标题 1"/>
          <p:cNvSpPr>
            <a:spLocks noGrp="1"/>
          </p:cNvSpPr>
          <p:nvPr>
            <p:ph type="title"/>
          </p:nvPr>
        </p:nvSpPr>
        <p:spPr>
          <a:xfrm>
            <a:off x="722313" y="4143369"/>
            <a:ext cx="7772400" cy="1362075"/>
          </a:xfrm>
        </p:spPr>
        <p:txBody>
          <a:bodyPr anchor="t"/>
          <a:lstStyle>
            <a:lvl1pPr algn="l">
              <a:defRPr sz="4000" b="1" cap="all"/>
            </a:lvl1pPr>
          </a:lstStyle>
          <a:p>
            <a:r>
              <a:rPr lang="zh-CN" altLang="en-US"/>
              <a:t>单击此处编辑母版标题样式</a:t>
            </a:r>
            <a:endParaRPr lang="en-US"/>
          </a:p>
        </p:txBody>
      </p:sp>
      <p:sp>
        <p:nvSpPr>
          <p:cNvPr id="3" name="文本占位符 2"/>
          <p:cNvSpPr>
            <a:spLocks noGrp="1"/>
          </p:cNvSpPr>
          <p:nvPr>
            <p:ph type="body" idx="1"/>
          </p:nvPr>
        </p:nvSpPr>
        <p:spPr>
          <a:xfrm>
            <a:off x="722313" y="2643182"/>
            <a:ext cx="7772400" cy="1500187"/>
          </a:xfrm>
        </p:spPr>
        <p:txBody>
          <a:bodyPr anchor="b"/>
          <a:lstStyle>
            <a:lvl1pPr marL="0" indent="0">
              <a:buNone/>
              <a:defRPr lang="zh-CN" altLang="en-US" sz="2800" smtClean="0">
                <a:effectLst/>
              </a:defRPr>
            </a:lvl1pPr>
            <a:lvl2pPr marL="457200" indent="0">
              <a:buNone/>
              <a:defRPr lang="zh-CN" altLang="en-US" sz="2400" smtClean="0">
                <a:effectLst/>
              </a:defRPr>
            </a:lvl2pPr>
            <a:lvl3pPr marL="914400" indent="0">
              <a:buNone/>
              <a:defRPr lang="zh-CN" altLang="en-US" sz="2000" smtClean="0">
                <a:effectLst/>
              </a:defRPr>
            </a:lvl3pPr>
            <a:lvl4pPr marL="1371600" indent="0">
              <a:buNone/>
              <a:defRPr lang="zh-CN" altLang="en-US" sz="1600" smtClean="0">
                <a:effectLst/>
              </a:defRPr>
            </a:lvl4pPr>
            <a:lvl5pPr marL="1828800" indent="0">
              <a:buNone/>
              <a:defRPr lang="zh-CN" altLang="en-US" sz="1400" dirty="0" smtClean="0">
                <a:effectLst/>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8"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9"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overrideClrMapping bg1="dk1" tx1="lt1" bg2="dk2" tx2="lt2" accent1="accent1" accent2="accent2" accent3="accent3" accent4="accent4" accent5="accent5" accent6="accent6" hlink="hlink" folHlink="folHlink"/>
  </p:clrMapOvr>
  <p:transition>
    <p:random/>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552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4"/>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408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6"/>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7"/>
          <p:cNvSpPr>
            <a:spLocks noGrp="1"/>
          </p:cNvSpPr>
          <p:nvPr>
            <p:ph type="ftr" sz="quarter" idx="1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p>
            <a:r>
              <a:rPr lang="zh-CN" altLang="en-US"/>
              <a:t>单击此处编辑母版标题样式</a:t>
            </a:r>
            <a:endParaRPr lang="en-US"/>
          </a:p>
        </p:txBody>
      </p:sp>
      <p:sp>
        <p:nvSpPr>
          <p:cNvPr id="9" name="日期占位符 2"/>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3"/>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9" name="日期占位符 1"/>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2"/>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732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a:xfrm>
            <a:off x="461175" y="5357826"/>
            <a:ext cx="8226225" cy="768028"/>
          </a:xfrm>
        </p:spPr>
        <p:txBody>
          <a:bodyPr/>
          <a:lstStyle>
            <a:lvl1pPr algn="ctr">
              <a:defRPr lang="zh-CN" altLang="en-US" sz="3600" b="0" kern="1200" spc="50" dirty="0">
                <a:ln w="12700">
                  <a:noFill/>
                  <a:prstDash val="solid"/>
                </a:ln>
                <a:solidFill>
                  <a:schemeClr val="accent4"/>
                </a:solidFill>
                <a:effectLst>
                  <a:outerShdw blurRad="38100" dist="20320" dir="2700000" algn="tl" rotWithShape="0">
                    <a:srgbClr val="000000">
                      <a:alpha val="70000"/>
                    </a:srgbClr>
                  </a:outerShdw>
                </a:effectLst>
                <a:latin typeface="+mj-lt"/>
                <a:ea typeface="+mj-ea"/>
                <a:cs typeface="+mj-cs"/>
              </a:defRPr>
            </a:lvl1pPr>
          </a:lstStyle>
          <a:p>
            <a:r>
              <a:rPr lang="zh-CN" altLang="en-US"/>
              <a:t>单击此处编辑母版标题样式</a:t>
            </a:r>
            <a:endParaRPr lang="en-US"/>
          </a:p>
        </p:txBody>
      </p:sp>
      <p:sp>
        <p:nvSpPr>
          <p:cNvPr id="3" name="内容占位符 2"/>
          <p:cNvSpPr>
            <a:spLocks noGrp="1"/>
          </p:cNvSpPr>
          <p:nvPr>
            <p:ph idx="1"/>
          </p:nvPr>
        </p:nvSpPr>
        <p:spPr>
          <a:xfrm>
            <a:off x="460382" y="428604"/>
            <a:ext cx="5111750" cy="48577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文本占位符 3"/>
          <p:cNvSpPr>
            <a:spLocks noGrp="1"/>
          </p:cNvSpPr>
          <p:nvPr>
            <p:ph type="body" sz="half" idx="2"/>
          </p:nvPr>
        </p:nvSpPr>
        <p:spPr>
          <a:xfrm>
            <a:off x="5679086" y="1357298"/>
            <a:ext cx="3008313" cy="392909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4"/>
          <p:cNvSpPr>
            <a:spLocks noGrp="1"/>
          </p:cNvSpPr>
          <p:nvPr>
            <p:ph type="dt" sz="half" idx="1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a:xfrm>
            <a:off x="695298" y="214290"/>
            <a:ext cx="7448602" cy="781052"/>
          </a:xfrm>
        </p:spPr>
        <p:txBody>
          <a:bodyPr/>
          <a:lstStyle>
            <a:lvl1pPr algn="ctr" rtl="0">
              <a:spcBef>
                <a:spcPct val="0"/>
              </a:spcBef>
              <a:buNone/>
              <a:defRPr sz="3600" b="0" kern="1200" spc="50">
                <a:ln w="12700">
                  <a:noFill/>
                  <a:prstDash val="solid"/>
                </a:ln>
                <a:solidFill>
                  <a:schemeClr val="accent4"/>
                </a:solidFill>
                <a:effectLst>
                  <a:outerShdw blurRad="38100" dist="20320" dir="2700000" algn="tl" rotWithShape="0">
                    <a:srgbClr val="000000">
                      <a:alpha val="70000"/>
                    </a:srgbClr>
                  </a:outerShdw>
                </a:effectLst>
                <a:latin typeface="+mj-lt"/>
                <a:ea typeface="+mj-ea"/>
                <a:cs typeface="+mj-cs"/>
              </a:defRPr>
            </a:lvl1pPr>
          </a:lstStyle>
          <a:p>
            <a:r>
              <a:rPr lang="zh-CN" altLang="en-US"/>
              <a:t>单击此处编辑母版标题样式</a:t>
            </a:r>
            <a:endParaRPr lang="en-US"/>
          </a:p>
        </p:txBody>
      </p:sp>
      <p:sp>
        <p:nvSpPr>
          <p:cNvPr id="3" name="图片占位符 2"/>
          <p:cNvSpPr>
            <a:spLocks noGrp="1"/>
          </p:cNvSpPr>
          <p:nvPr>
            <p:ph type="pic" idx="1"/>
          </p:nvPr>
        </p:nvSpPr>
        <p:spPr>
          <a:xfrm>
            <a:off x="681015" y="1000108"/>
            <a:ext cx="7452360" cy="5214974"/>
          </a:xfrm>
          <a:prstGeom prst="snip2DiagRect">
            <a:avLst>
              <a:gd name="adj1" fmla="val 0"/>
              <a:gd name="adj2" fmla="val 17946"/>
            </a:avLst>
          </a:prstGeom>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tx2"/>
              </a:buClr>
              <a:buSzPct val="60000"/>
              <a:buFont typeface="Wingdings 2" panose="05020102010507070707" pitchFamily="18" charset="2"/>
              <a:buNone/>
              <a:defRPr/>
            </a:pPr>
            <a:r>
              <a:rPr kumimoji="0" lang="zh-CN" altLang="en-US" sz="3200" b="0" i="0" u="none" strike="noStrike" kern="1200" cap="none" spc="0" normalizeH="0" baseline="0" noProof="0">
                <a:ln>
                  <a:noFill/>
                </a:ln>
                <a:solidFill>
                  <a:schemeClr val="dk1"/>
                </a:solidFill>
                <a:effectLst/>
                <a:uLnTx/>
                <a:uFillTx/>
                <a:latin typeface="+mn-lt"/>
                <a:ea typeface="+mn-ea"/>
                <a:cs typeface="+mn-cs"/>
              </a:rPr>
              <a:t>单击图标添加图片</a:t>
            </a:r>
            <a:endParaRPr kumimoji="0" lang="en-US" sz="3200" b="0" i="0" u="none" strike="noStrike" kern="1200" cap="none" spc="0" normalizeH="0" baseline="0" noProof="0">
              <a:ln>
                <a:noFill/>
              </a:ln>
              <a:solidFill>
                <a:schemeClr val="dk1"/>
              </a:solidFill>
              <a:effectLst/>
              <a:uLnTx/>
              <a:uFillTx/>
              <a:latin typeface="+mn-lt"/>
              <a:ea typeface="+mn-ea"/>
              <a:cs typeface="+mn-cs"/>
            </a:endParaRPr>
          </a:p>
        </p:txBody>
      </p:sp>
      <p:sp>
        <p:nvSpPr>
          <p:cNvPr id="4" name="文本占位符 3"/>
          <p:cNvSpPr>
            <a:spLocks noGrp="1"/>
          </p:cNvSpPr>
          <p:nvPr>
            <p:ph type="body" sz="half" idx="2"/>
          </p:nvPr>
        </p:nvSpPr>
        <p:spPr>
          <a:xfrm>
            <a:off x="4953000" y="6243633"/>
            <a:ext cx="3180375" cy="614367"/>
          </a:xfrm>
        </p:spPr>
        <p:txBody>
          <a:bodyPr/>
          <a:lstStyle>
            <a:lvl1pPr marL="0" indent="0" algn="r">
              <a:buNone/>
              <a:defRPr sz="1400"/>
            </a:lvl1pPr>
            <a:lvl2pPr marL="457200" indent="0" algn="r">
              <a:buNone/>
              <a:defRPr sz="1200"/>
            </a:lvl2pPr>
            <a:lvl3pPr marL="914400" indent="0" algn="r">
              <a:buNone/>
              <a:defRPr sz="1000"/>
            </a:lvl3pPr>
            <a:lvl4pPr marL="1371600" indent="0" algn="r">
              <a:buNone/>
              <a:defRPr sz="900"/>
            </a:lvl4pPr>
            <a:lvl5pPr marL="1828800" indent="0" algn="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9" name="日期占位符 4"/>
          <p:cNvSpPr>
            <a:spLocks noGrp="1"/>
          </p:cNvSpPr>
          <p:nvPr>
            <p:ph type="dt" sz="half" idx="12"/>
          </p:nvPr>
        </p:nvSpPr>
        <p:spPr>
          <a:xfrm>
            <a:off x="609600" y="6492875"/>
            <a:ext cx="16764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5"/>
          <p:cNvSpPr>
            <a:spLocks noGrp="1"/>
          </p:cNvSpPr>
          <p:nvPr>
            <p:ph type="ftr" sz="quarter" idx="3"/>
          </p:nvPr>
        </p:nvSpPr>
        <p:spPr>
          <a:xfrm>
            <a:off x="2286000" y="6492875"/>
            <a:ext cx="2643188"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a:xfrm>
            <a:off x="682625" y="5346700"/>
            <a:ext cx="871538" cy="871538"/>
          </a:xfrm>
          <a:prstGeom prst="rtTriangle">
            <a:avLst/>
          </a:prstGeom>
          <a:noFill/>
        </p:spPr>
        <p:style>
          <a:lnRef idx="2">
            <a:schemeClr val="accent1"/>
          </a:lnRef>
          <a:fillRef idx="1">
            <a:schemeClr val="lt1"/>
          </a:fillRef>
          <a:effectRef idx="0">
            <a:schemeClr val="accent1"/>
          </a:effectRef>
          <a:fontRef idx="minor">
            <a:schemeClr val="dk1"/>
          </a:fontRef>
        </p:style>
        <p:txBody>
          <a:bodyPr vert="horz" wrap="square" lIns="45720" tIns="45720" rIns="45720" bIns="45720" numCol="1" anchor="ctr" anchorCtr="0" compatLnSpc="1"/>
          <a:p>
            <a:pPr algn="r" eaLnBrk="1" hangingPunct="1">
              <a:buNone/>
            </a:pPr>
            <a:fld id="{9A0DB2DC-4C9A-4742-B13C-FB6460FD3503}" type="slidenum">
              <a:rPr lang="zh-CN" altLang="en-US" dirty="0">
                <a:latin typeface="Goudy Old Style" panose="02020502050305020303" pitchFamily="18" charset="0"/>
              </a:rPr>
            </a:fld>
            <a:endParaRPr lang="zh-CN" altLang="en-US" dirty="0">
              <a:latin typeface="Goudy Old Style" panose="02020502050305020303" pitchFamily="18" charset="0"/>
            </a:endParaRPr>
          </a:p>
        </p:txBody>
      </p:sp>
    </p:spTree>
  </p:cSld>
  <p:clrMapOvr>
    <a:masterClrMapping/>
  </p:clrMapOvr>
  <p:transition>
    <p:random/>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标题 1"/>
          <p:cNvSpPr>
            <a:spLocks noGrp="1"/>
          </p:cNvSpPr>
          <p:nvPr>
            <p:ph type="title"/>
          </p:nvPr>
        </p:nvSpPr>
        <p:spPr/>
        <p:txBody>
          <a:bodyPr/>
          <a:lstStyle>
            <a:lvl1pPr algn="r">
              <a:defRPr/>
            </a:lvl1pPr>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1500176"/>
            <a:ext cx="8229600" cy="471490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rgbClr val="004646"/>
        </a:solidFill>
        <a:effectLst/>
      </p:bgPr>
    </p:bg>
    <p:spTree>
      <p:nvGrpSpPr>
        <p:cNvPr id="1" name=""/>
        <p:cNvGrpSpPr/>
        <p:nvPr/>
      </p:nvGrpSpPr>
      <p:grpSpPr>
        <a:xfrm>
          <a:off x="0" y="0"/>
          <a:ext cx="0" cy="0"/>
          <a:chOff x="0" y="0"/>
          <a:chExt cx="0" cy="0"/>
        </a:xfrm>
      </p:grpSpPr>
      <p:sp>
        <p:nvSpPr>
          <p:cNvPr id="7" name="矩形 6"/>
          <p:cNvSpPr/>
          <p:nvPr/>
        </p:nvSpPr>
        <p:spPr>
          <a:xfrm>
            <a:off x="0" y="0"/>
            <a:ext cx="669600" cy="6858000"/>
          </a:xfrm>
          <a:prstGeom prst="rect">
            <a:avLst/>
          </a:prstGeom>
          <a:blipFill>
            <a:blip r:embed="rId2" cstate="print">
              <a:alphaModFix amt="40000"/>
            </a:blip>
            <a:tile tx="0" ty="0" sx="50000" sy="50000" flip="x" algn="tl"/>
          </a:blip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pic>
        <p:nvPicPr>
          <p:cNvPr id="8" name="图片 7"/>
          <p:cNvPicPr>
            <a:picLocks noChangeAspect="1"/>
          </p:cNvPicPr>
          <p:nvPr/>
        </p:nvPicPr>
        <p:blipFill>
          <a:blip r:embed="rId3" cstate="print">
            <a:duotone>
              <a:schemeClr val="bg2"/>
              <a:srgbClr val="FFF1C1"/>
            </a:duotone>
          </a:blip>
          <a:stretch>
            <a:fillRect/>
          </a:stretch>
        </p:blipFill>
        <p:spPr>
          <a:xfrm>
            <a:off x="8135907" y="0"/>
            <a:ext cx="1008093" cy="1428736"/>
          </a:xfrm>
          <a:prstGeom prst="rect">
            <a:avLst/>
          </a:prstGeom>
          <a:noFill/>
          <a:ln>
            <a:noFill/>
          </a:ln>
        </p:spPr>
      </p:pic>
      <p:sp>
        <p:nvSpPr>
          <p:cNvPr id="2" name="竖排标题 1"/>
          <p:cNvSpPr>
            <a:spLocks noGrp="1"/>
          </p:cNvSpPr>
          <p:nvPr>
            <p:ph type="title" orient="vert"/>
          </p:nvPr>
        </p:nvSpPr>
        <p:spPr>
          <a:xfrm>
            <a:off x="7286644" y="274638"/>
            <a:ext cx="1400156" cy="5940444"/>
          </a:xfrm>
        </p:spPr>
        <p:txBody>
          <a:bodyPr vert="eaVert"/>
          <a:lstStyle>
            <a:lvl1pPr algn="ctr">
              <a:defRPr>
                <a:effectLst>
                  <a:outerShdw dist="50800" dir="18900000" algn="tl" rotWithShape="0">
                    <a:srgbClr val="000000">
                      <a:alpha val="75000"/>
                    </a:srgbClr>
                  </a:outerShdw>
                </a:effectLst>
              </a:defRPr>
            </a:lvl1pPr>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274638"/>
            <a:ext cx="6758006" cy="594044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9"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 name="页脚占位符 4"/>
          <p:cNvSpPr>
            <a:spLocks noGrp="1"/>
          </p:cNvSpPr>
          <p:nvPr>
            <p:ph type="ftr" sz="quarter" idx="3"/>
          </p:nvPr>
        </p:nvSpPr>
        <p:spPr>
          <a:xfrm>
            <a:off x="3124200" y="6356350"/>
            <a:ext cx="2895600" cy="365125"/>
          </a:xfrm>
          <a:prstGeom prst="rect">
            <a:avLst/>
          </a:prstGeom>
        </p:spPr>
        <p:txBody>
          <a:bodyPr vert="horz" rtlCol="0" anchor="ctr"/>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53250" name="Group 2"/>
          <p:cNvGrpSpPr/>
          <p:nvPr/>
        </p:nvGrpSpPr>
        <p:grpSpPr>
          <a:xfrm>
            <a:off x="0" y="2438400"/>
            <a:ext cx="9009063" cy="1052513"/>
            <a:chOff x="0" y="0"/>
            <a:chExt cx="5675" cy="663"/>
          </a:xfrm>
        </p:grpSpPr>
        <p:grpSp>
          <p:nvGrpSpPr>
            <p:cNvPr id="53256" name="Group 3"/>
            <p:cNvGrpSpPr/>
            <p:nvPr/>
          </p:nvGrpSpPr>
          <p:grpSpPr>
            <a:xfrm>
              <a:off x="183" y="68"/>
              <a:ext cx="448" cy="299"/>
              <a:chOff x="0" y="0"/>
              <a:chExt cx="624" cy="432"/>
            </a:xfrm>
          </p:grpSpPr>
          <p:sp>
            <p:nvSpPr>
              <p:cNvPr id="22" name="Rectangle 4"/>
              <p:cNvSpPr>
                <a:spLocks noChangeArrowheads="1"/>
              </p:cNvSpPr>
              <p:nvPr/>
            </p:nvSpPr>
            <p:spPr bwMode="auto">
              <a:xfrm>
                <a:off x="0" y="0"/>
                <a:ext cx="384" cy="432"/>
              </a:xfrm>
              <a:prstGeom prst="rect">
                <a:avLst/>
              </a:prstGeom>
              <a:solidFill>
                <a:schemeClr val="folHlink"/>
              </a:soli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3" name="Rectangle 5"/>
              <p:cNvSpPr>
                <a:spLocks noChangeArrowheads="1"/>
              </p:cNvSpPr>
              <p:nvPr/>
            </p:nvSpPr>
            <p:spPr bwMode="auto">
              <a:xfrm>
                <a:off x="336" y="0"/>
                <a:ext cx="288" cy="432"/>
              </a:xfrm>
              <a:prstGeom prst="rect">
                <a:avLst/>
              </a:prstGeom>
              <a:gradFill rotWithShape="0">
                <a:gsLst>
                  <a:gs pos="0">
                    <a:schemeClr val="folHlink"/>
                  </a:gs>
                  <a:gs pos="100000">
                    <a:schemeClr val="bg1"/>
                  </a:gs>
                </a:gsLst>
                <a:lin ang="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grpSp>
          <p:nvGrpSpPr>
            <p:cNvPr id="53257" name="Group 6"/>
            <p:cNvGrpSpPr/>
            <p:nvPr/>
          </p:nvGrpSpPr>
          <p:grpSpPr>
            <a:xfrm>
              <a:off x="261" y="334"/>
              <a:ext cx="465" cy="299"/>
              <a:chOff x="0" y="0"/>
              <a:chExt cx="672" cy="432"/>
            </a:xfrm>
          </p:grpSpPr>
          <p:sp>
            <p:nvSpPr>
              <p:cNvPr id="20" name="Rectangle 7"/>
              <p:cNvSpPr>
                <a:spLocks noChangeArrowheads="1"/>
              </p:cNvSpPr>
              <p:nvPr/>
            </p:nvSpPr>
            <p:spPr bwMode="auto">
              <a:xfrm>
                <a:off x="0" y="0"/>
                <a:ext cx="384" cy="432"/>
              </a:xfrm>
              <a:prstGeom prst="rect">
                <a:avLst/>
              </a:prstGeom>
              <a:solidFill>
                <a:schemeClr val="accent2"/>
              </a:soli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1" name="Rectangle 8"/>
              <p:cNvSpPr>
                <a:spLocks noChangeArrowheads="1"/>
              </p:cNvSpPr>
              <p:nvPr/>
            </p:nvSpPr>
            <p:spPr bwMode="auto">
              <a:xfrm>
                <a:off x="337" y="0"/>
                <a:ext cx="335" cy="432"/>
              </a:xfrm>
              <a:prstGeom prst="rect">
                <a:avLst/>
              </a:prstGeom>
              <a:gradFill rotWithShape="0">
                <a:gsLst>
                  <a:gs pos="0">
                    <a:schemeClr val="accent2"/>
                  </a:gs>
                  <a:gs pos="100000">
                    <a:schemeClr val="bg1"/>
                  </a:gs>
                </a:gsLst>
                <a:lin ang="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17" name="Rectangle 9"/>
            <p:cNvSpPr>
              <a:spLocks noChangeArrowheads="1"/>
            </p:cNvSpPr>
            <p:nvPr/>
          </p:nvSpPr>
          <p:spPr bwMode="auto">
            <a:xfrm>
              <a:off x="0" y="288"/>
              <a:ext cx="353" cy="266"/>
            </a:xfrm>
            <a:prstGeom prst="rect">
              <a:avLst/>
            </a:prstGeom>
            <a:gradFill rotWithShape="0">
              <a:gsLst>
                <a:gs pos="0">
                  <a:schemeClr val="bg1"/>
                </a:gs>
                <a:gs pos="100000">
                  <a:schemeClr val="hlink"/>
                </a:gs>
              </a:gsLst>
              <a:lin ang="1890000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 name="Rectangle 10"/>
            <p:cNvSpPr>
              <a:spLocks noChangeArrowheads="1"/>
            </p:cNvSpPr>
            <p:nvPr/>
          </p:nvSpPr>
          <p:spPr bwMode="auto">
            <a:xfrm>
              <a:off x="400" y="0"/>
              <a:ext cx="20" cy="663"/>
            </a:xfrm>
            <a:prstGeom prst="rect">
              <a:avLst/>
            </a:prstGeom>
            <a:solidFill>
              <a:schemeClr val="bg2"/>
            </a:soli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9" name="Rectangle 11"/>
            <p:cNvSpPr>
              <a:spLocks noChangeArrowheads="1"/>
            </p:cNvSpPr>
            <p:nvPr/>
          </p:nvSpPr>
          <p:spPr bwMode="auto">
            <a:xfrm flipV="1">
              <a:off x="199" y="518"/>
              <a:ext cx="5476" cy="35"/>
            </a:xfrm>
            <a:prstGeom prst="rect">
              <a:avLst/>
            </a:prstGeom>
            <a:gradFill rotWithShape="0">
              <a:gsLst>
                <a:gs pos="0">
                  <a:schemeClr val="bg2"/>
                </a:gs>
                <a:gs pos="100000">
                  <a:schemeClr val="bg1"/>
                </a:gs>
              </a:gsLst>
              <a:lin ang="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2500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060" name="Rectangle 12"/>
          <p:cNvSpPr>
            <a:spLocks noGrp="1" noChangeArrowheads="1"/>
          </p:cNvSpPr>
          <p:nvPr>
            <p:ph type="ctrTitle"/>
          </p:nvPr>
        </p:nvSpPr>
        <p:spPr>
          <a:xfrm>
            <a:off x="990600" y="1676400"/>
            <a:ext cx="7772400" cy="1462088"/>
          </a:xfrm>
        </p:spPr>
        <p:txBody>
          <a:bodyPr/>
          <a:lstStyle>
            <a:lvl1pPr>
              <a:defRPr/>
            </a:lvl1pPr>
          </a:lstStyle>
          <a:p>
            <a:r>
              <a:rPr lang="zh-CN" altLang="en-US"/>
              <a:t>单击此处编辑母版标题样式</a:t>
            </a:r>
            <a:endParaRPr lang="zh-CN" altLang="en-US"/>
          </a:p>
        </p:txBody>
      </p:sp>
      <p:sp>
        <p:nvSpPr>
          <p:cNvPr id="206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a:t>单击此处编辑母版副标题样式</a:t>
            </a:r>
            <a:endParaRPr lang="zh-CN" altLang="en-US"/>
          </a:p>
        </p:txBody>
      </p:sp>
      <p:sp>
        <p:nvSpPr>
          <p:cNvPr id="24" name="Rectangle 14"/>
          <p:cNvSpPr>
            <a:spLocks noGrp="1" noChangeArrowheads="1"/>
          </p:cNvSpPr>
          <p:nvPr>
            <p:ph type="dt" sz="half" idx="2"/>
          </p:nvPr>
        </p:nvSpPr>
        <p:spPr bwMode="auto">
          <a:xfrm>
            <a:off x="990600" y="6248400"/>
            <a:ext cx="19050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mn-lt"/>
              <a:ea typeface="宋体" panose="02010600030101010101" pitchFamily="2" charset="-122"/>
              <a:cs typeface="+mn-cs"/>
            </a:endParaRPr>
          </a:p>
        </p:txBody>
      </p:sp>
      <p:sp>
        <p:nvSpPr>
          <p:cNvPr id="25" name="Rectangle 15"/>
          <p:cNvSpPr>
            <a:spLocks noGrp="1" noChangeArrowheads="1"/>
          </p:cNvSpPr>
          <p:nvPr>
            <p:ph type="ftr" sz="quarter" idx="3"/>
          </p:nvPr>
        </p:nvSpPr>
        <p:spPr bwMode="auto">
          <a:xfrm>
            <a:off x="3429000" y="6248400"/>
            <a:ext cx="2895600" cy="457200"/>
          </a:xfrm>
          <a:prstGeom prst="rect">
            <a:avLst/>
          </a:prstGeom>
          <a:ln>
            <a:miter lim="800000"/>
          </a:ln>
        </p:spPr>
        <p:txBody>
          <a:bodyPr vert="horz" wrap="square" lIns="91440" tIns="45720" rIns="91440" bIns="45720" numCol="1" anchor="b" anchorCtr="0" compatLnSpc="1"/>
          <a:lstStyle>
            <a:lvl1pPr>
              <a:defRPr>
                <a:solidFill>
                  <a:schemeClr val="bg2"/>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bg2"/>
              </a:solidFill>
              <a:effectLst/>
              <a:uLnTx/>
              <a:uFillTx/>
              <a:latin typeface="+mn-lt"/>
              <a:ea typeface="宋体" panose="02010600030101010101" pitchFamily="2" charset="-122"/>
              <a:cs typeface="+mn-cs"/>
            </a:endParaRPr>
          </a:p>
        </p:txBody>
      </p:sp>
      <p:sp>
        <p:nvSpPr>
          <p:cNvPr id="26" name="Rectangle 16"/>
          <p:cNvSpPr>
            <a:spLocks noGrp="1" noChangeArrowheads="1"/>
          </p:cNvSpPr>
          <p:nvPr>
            <p:ph type="sldNum" sz="quarter" idx="4"/>
          </p:nvPr>
        </p:nvSpPr>
        <p:spPr bwMode="auto">
          <a:xfrm>
            <a:off x="6858000" y="6248400"/>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solidFill>
                  <a:schemeClr val="bg2"/>
                </a:solidFill>
              </a:rPr>
            </a:fld>
            <a:endParaRPr lang="zh-CN" altLang="en-US" dirty="0">
              <a:solidFill>
                <a:schemeClr val="bg2"/>
              </a:solidFill>
            </a:endParaRPr>
          </a:p>
        </p:txBody>
      </p:sp>
    </p:spTree>
  </p:cSld>
  <p:clrMapOvr>
    <a:masterClrMapping/>
  </p:clrMapOvr>
  <p:transition>
    <p:random/>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395288" y="1557338"/>
            <a:ext cx="417195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19638" y="1557338"/>
            <a:ext cx="417353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1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07200" y="214313"/>
            <a:ext cx="2136775" cy="54578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395288" y="214313"/>
            <a:ext cx="6259512" cy="54578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0541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95288" y="1557338"/>
            <a:ext cx="417195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719638" y="1557338"/>
            <a:ext cx="4173537"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719638" y="3690938"/>
            <a:ext cx="4173537"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1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0541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395288" y="1557338"/>
            <a:ext cx="417195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719638" y="1557338"/>
            <a:ext cx="4173537"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4" name="Rectangle 11"/>
          <p:cNvSpPr>
            <a:spLocks noGrp="1" noChangeArrowheads="1"/>
          </p:cNvSpPr>
          <p:nvPr>
            <p:ph type="dt" sz="half" idx="1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en-US" dirty="0"/>
            </a:fld>
            <a:endParaRPr lang="zh-CN" altLang="en-US" dirty="0"/>
          </a:p>
        </p:txBody>
      </p:sp>
    </p:spTree>
  </p:cSld>
  <p:clrMapOvr>
    <a:masterClrMapping/>
  </p:clrMapOvr>
  <p:transition>
    <p:random/>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16013" y="333375"/>
            <a:ext cx="7793037" cy="11430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539750" y="1773238"/>
            <a:ext cx="8280400" cy="4114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Char char="n"/>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14" name="Rectangle 11"/>
          <p:cNvSpPr>
            <a:spLocks noGrp="1" noChangeArrowheads="1"/>
          </p:cNvSpPr>
          <p:nvPr>
            <p:ph type="dt" sz="half" idx="2"/>
          </p:nvPr>
        </p:nvSpPr>
        <p:spPr bwMode="auto">
          <a:xfrm>
            <a:off x="1162050" y="6243638"/>
            <a:ext cx="19050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4619140-0B3E-497E-A56F-EE3A4332C1F1}" type="datetime1">
              <a:rPr kumimoji="0" lang="zh-CN" alt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5" name="Rectangle 12"/>
          <p:cNvSpPr>
            <a:spLocks noGrp="1" noChangeArrowheads="1"/>
          </p:cNvSpPr>
          <p:nvPr>
            <p:ph type="ftr" sz="quarter" idx="3"/>
          </p:nvPr>
        </p:nvSpPr>
        <p:spPr bwMode="auto">
          <a:xfrm>
            <a:off x="3657600" y="6243638"/>
            <a:ext cx="2895600" cy="457200"/>
          </a:xfrm>
          <a:prstGeom prst="rect">
            <a:avLst/>
          </a:prstGeom>
          <a:ln>
            <a:miter lim="800000"/>
          </a:ln>
        </p:spPr>
        <p:txBody>
          <a:bodyPr vert="horz" wrap="square" lIns="91440" tIns="45720" rIns="91440" bIns="45720"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6" name="Rectangle 13"/>
          <p:cNvSpPr>
            <a:spLocks noGrp="1" noChangeArrowheads="1"/>
          </p:cNvSpPr>
          <p:nvPr>
            <p:ph type="sldNum" sz="quarter" idx="4"/>
          </p:nvPr>
        </p:nvSpPr>
        <p:spPr bwMode="auto">
          <a:xfrm>
            <a:off x="7042150" y="6243638"/>
            <a:ext cx="1905000" cy="457200"/>
          </a:xfrm>
          <a:prstGeom prst="rect">
            <a:avLst/>
          </a:prstGeom>
          <a:ln>
            <a:miter lim="800000"/>
          </a:ln>
        </p:spPr>
        <p:txBody>
          <a:bodyPr vert="horz" wrap="square" lIns="91440" tIns="45720" rIns="91440" bIns="45720" numCol="1" anchor="b" anchorCtr="0" compatLnSpc="1"/>
          <a:p>
            <a:pPr algn="r" eaLnBrk="1" hangingPunct="1">
              <a:buNone/>
            </a:pPr>
            <a:fld id="{9A0DB2DC-4C9A-4742-B13C-FB6460FD3503}" type="slidenum">
              <a:rPr lang="zh-CN" altLang="zh-CN" dirty="0"/>
            </a:fld>
            <a:endParaRPr lang="zh-CN" altLang="zh-CN" dirty="0"/>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2" Type="http://schemas.openxmlformats.org/officeDocument/2006/relationships/theme" Target="../theme/theme2.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2" Type="http://schemas.openxmlformats.org/officeDocument/2006/relationships/theme" Target="../theme/theme3.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2" Type="http://schemas.openxmlformats.org/officeDocument/2006/relationships/theme" Target="../theme/theme4.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5" Type="http://schemas.openxmlformats.org/officeDocument/2006/relationships/theme" Target="../theme/theme5.xml"/><Relationship Id="rId14" Type="http://schemas.openxmlformats.org/officeDocument/2006/relationships/slideLayout" Target="../slideLayouts/slideLayout60.xml"/><Relationship Id="rId13" Type="http://schemas.openxmlformats.org/officeDocument/2006/relationships/slideLayout" Target="../slideLayouts/slideLayout59.xml"/><Relationship Id="rId12" Type="http://schemas.openxmlformats.org/officeDocument/2006/relationships/slideLayout" Target="../slideLayouts/slideLayout58.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417513" y="836613"/>
            <a:ext cx="438150" cy="474663"/>
          </a:xfrm>
          <a:prstGeom prst="rect">
            <a:avLst/>
          </a:prstGeom>
          <a:solidFill>
            <a:schemeClr val="accent2"/>
          </a:soli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auto">
          <a:xfrm>
            <a:off x="800100" y="954088"/>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auto">
          <a:xfrm>
            <a:off x="541338" y="1268413"/>
            <a:ext cx="422275" cy="474663"/>
          </a:xfrm>
          <a:prstGeom prst="rect">
            <a:avLst/>
          </a:prstGeom>
          <a:solidFill>
            <a:schemeClr val="folHlink"/>
          </a:soli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auto">
          <a:xfrm>
            <a:off x="900113" y="1268413"/>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auto">
          <a:xfrm>
            <a:off x="127000" y="1196975"/>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auto">
          <a:xfrm>
            <a:off x="762000" y="692150"/>
            <a:ext cx="31750" cy="1052513"/>
          </a:xfrm>
          <a:prstGeom prst="rect">
            <a:avLst/>
          </a:prstGeom>
          <a:solidFill>
            <a:schemeClr val="bg2"/>
          </a:soli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auto">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1pPr>
            <a:lvl2pPr marL="742950" indent="-28575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2pPr>
            <a:lvl3pPr marL="11430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3pPr>
            <a:lvl4pPr marL="16002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4pPr>
            <a:lvl5pPr marL="2057400" indent="-228600" algn="ctr">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400">
                <a:solidFill>
                  <a:schemeClr val="tx1"/>
                </a:solidFill>
                <a:latin typeface="Tahoma" panose="020B060403050404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3" name="Rectangle 9"/>
          <p:cNvSpPr>
            <a:spLocks noGrp="1"/>
          </p:cNvSpPr>
          <p:nvPr>
            <p:ph type="title"/>
          </p:nvPr>
        </p:nvSpPr>
        <p:spPr>
          <a:xfrm>
            <a:off x="1116013" y="333375"/>
            <a:ext cx="7793037" cy="1143000"/>
          </a:xfrm>
          <a:prstGeom prst="rect">
            <a:avLst/>
          </a:prstGeom>
          <a:noFill/>
          <a:ln w="9525">
            <a:noFill/>
          </a:ln>
        </p:spPr>
        <p:txBody>
          <a:bodyPr anchor="b" anchorCtr="0"/>
          <a:p>
            <a:pPr lvl="0"/>
            <a:r>
              <a:rPr lang="zh-CN" altLang="zh-CN" dirty="0"/>
              <a:t>单击此处编辑母版标题样式</a:t>
            </a:r>
            <a:endParaRPr lang="zh-CN" altLang="zh-CN" dirty="0"/>
          </a:p>
        </p:txBody>
      </p:sp>
      <p:sp>
        <p:nvSpPr>
          <p:cNvPr id="1034" name="Rectangle 10"/>
          <p:cNvSpPr>
            <a:spLocks noGrp="1"/>
          </p:cNvSpPr>
          <p:nvPr>
            <p:ph type="body" idx="1"/>
          </p:nvPr>
        </p:nvSpPr>
        <p:spPr>
          <a:xfrm>
            <a:off x="539750" y="1773238"/>
            <a:ext cx="8280400" cy="4114800"/>
          </a:xfrm>
          <a:prstGeom prst="rect">
            <a:avLst/>
          </a:prstGeom>
          <a:noFill/>
          <a:ln w="9525">
            <a:noFill/>
          </a:ln>
        </p:spPr>
        <p:txBody>
          <a:bodyPr/>
          <a:p>
            <a:pPr lvl="0"/>
            <a:r>
              <a:rPr lang="zh-CN" altLang="zh-CN" dirty="0"/>
              <a:t>单击此处编辑母版文本样式</a:t>
            </a:r>
            <a:endParaRPr lang="zh-CN" altLang="zh-CN" dirty="0"/>
          </a:p>
          <a:p>
            <a:pPr lvl="1"/>
            <a:r>
              <a:rPr lang="zh-CN" altLang="zh-CN" dirty="0"/>
              <a:t>第二级</a:t>
            </a:r>
            <a:endParaRPr lang="zh-CN" altLang="zh-CN" dirty="0"/>
          </a:p>
          <a:p>
            <a:pPr lvl="2"/>
            <a:r>
              <a:rPr lang="zh-CN" altLang="zh-CN" dirty="0"/>
              <a:t>第三级</a:t>
            </a:r>
            <a:endParaRPr lang="zh-CN" altLang="zh-CN" dirty="0"/>
          </a:p>
          <a:p>
            <a:pPr lvl="3"/>
            <a:r>
              <a:rPr lang="zh-CN" altLang="zh-CN" dirty="0"/>
              <a:t>第四级</a:t>
            </a:r>
            <a:endParaRPr lang="zh-CN" altLang="zh-CN" dirty="0"/>
          </a:p>
          <a:p>
            <a:pPr lvl="4"/>
            <a:r>
              <a:rPr lang="zh-CN" altLang="zh-CN" dirty="0"/>
              <a:t>第五级</a:t>
            </a:r>
            <a:endParaRPr lang="zh-CN" altLang="zh-CN" dirty="0"/>
          </a:p>
        </p:txBody>
      </p:sp>
      <p:sp>
        <p:nvSpPr>
          <p:cNvPr id="1035" name="Rectangle 11"/>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buFont typeface="Arial" panose="020B0604020202020204" pitchFamily="34" charset="0"/>
              <a:buNone/>
              <a:defRPr sz="14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41A95E8-0CC3-41FC-8148-64B639177D9A}" type="datetime1">
              <a:rPr kumimoji="0" lang="zh-CN" altLang="en-US"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rPr>
            </a:fld>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6" name="Rectangle 12"/>
          <p:cNvSpPr>
            <a:spLocks noGrp="1" noChangeArrowheads="1"/>
          </p:cNvSpPr>
          <p:nvPr>
            <p:ph type="ftr" sz="quarter" idx="3"/>
          </p:nvPr>
        </p:nvSpPr>
        <p:spPr bwMode="auto">
          <a:xfrm>
            <a:off x="3352800" y="6324600"/>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buFont typeface="Arial" panose="020B0604020202020204" pitchFamily="34" charset="0"/>
              <a:buNone/>
              <a:defRPr sz="1400"/>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zh-CN" sz="1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7" name="Rectangle 13"/>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vl1pPr>
          </a:lstStyle>
          <a:p>
            <a:pPr lvl="0" eaLnBrk="1" hangingPunct="1">
              <a:buNone/>
            </a:pPr>
            <a:fld id="{9A0DB2DC-4C9A-4742-B13C-FB6460FD3503}" type="slidenum">
              <a:rPr lang="zh-CN" altLang="zh-CN" dirty="0">
                <a:latin typeface="Tahoma" panose="020B0604030504040204" pitchFamily="34" charset="0"/>
              </a:rPr>
            </a:fld>
            <a:endParaRPr lang="zh-CN" altLang="zh-CN"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random/>
  </p:transition>
  <p:hf sldNum="0" hdr="0" ftr="0" dt="0"/>
  <p:txStyles>
    <p:titleStyle>
      <a:lvl1pPr algn="ctr" rtl="0" eaLnBrk="0" fontAlgn="base" hangingPunct="0">
        <a:spcBef>
          <a:spcPct val="0"/>
        </a:spcBef>
        <a:spcAft>
          <a:spcPct val="0"/>
        </a:spcAft>
        <a:defRPr sz="4400" b="1">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b="1">
          <a:solidFill>
            <a:schemeClr val="tx1"/>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Ø"/>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Tahoma" panose="020B0604030504040204" pitchFamily="34" charset="0"/>
          <a:ea typeface="+mj-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mj-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mj-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mj-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mj-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mj-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Tahoma" panose="020B060403050404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4646"/>
        </a:solidFill>
        <a:effectLst/>
      </p:bgPr>
    </p:bg>
    <p:spTree>
      <p:nvGrpSpPr>
        <p:cNvPr id="1" name=""/>
        <p:cNvGrpSpPr/>
        <p:nvPr/>
      </p:nvGrpSpPr>
      <p:grpSpPr/>
      <p:sp>
        <p:nvSpPr>
          <p:cNvPr id="2" name="标题占位符 1"/>
          <p:cNvSpPr>
            <a:spLocks noGrp="1"/>
          </p:cNvSpPr>
          <p:nvPr>
            <p:ph type="title"/>
          </p:nvPr>
        </p:nvSpPr>
        <p:spPr>
          <a:xfrm>
            <a:off x="457200" y="274638"/>
            <a:ext cx="7775575" cy="1143000"/>
          </a:xfrm>
          <a:prstGeom prst="rect">
            <a:avLst/>
          </a:prstGeom>
        </p:spPr>
        <p:txBody>
          <a:bodyPr vert="horz" rtlCol="0" anchor="ctr">
            <a:normAutofit/>
            <a:scene3d>
              <a:camera prst="orthographicFront"/>
              <a:lightRig rig="soft" dir="t"/>
            </a:scene3d>
            <a:sp3d prstMaterial="matte">
              <a:bevelT w="12700" h="12700"/>
            </a:sp3d>
          </a:bodyPr>
          <a:lstStyle/>
          <a:p>
            <a:r>
              <a:rPr lang="zh-CN" altLang="en-US"/>
              <a:t>单击此处编辑母版标题样式</a:t>
            </a:r>
            <a:endParaRPr lang="en-US"/>
          </a:p>
        </p:txBody>
      </p:sp>
      <p:sp>
        <p:nvSpPr>
          <p:cNvPr id="2051" name="文本占位符 2"/>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lgn="l" eaLnBrk="1" latinLnBrk="0" hangingPunct="1">
              <a:buFont typeface="Arial" panose="020B0604020202020204" pitchFamily="34" charset="0"/>
              <a:buNone/>
              <a:defRPr kumimoji="0"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buFont typeface="Arial" panose="020B0604020202020204" pitchFamily="34" charset="0"/>
              <a:buNone/>
              <a:defRPr kumimoji="0" sz="1200">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lstStyle>
            <a:lvl1pPr algn="r">
              <a:defRPr sz="1200"/>
            </a:lvl1pPr>
          </a:lstStyle>
          <a:p>
            <a:pPr lvl="0" eaLnBrk="1" hangingPunct="1">
              <a:buNone/>
            </a:pPr>
            <a:fld id="{9A0DB2DC-4C9A-4742-B13C-FB6460FD3503}" type="slidenum">
              <a:rPr lang="zh-CN" altLang="en-US" dirty="0">
                <a:latin typeface="Tahoma" panose="020B0604030504040204" pitchFamily="34" charset="0"/>
              </a:rPr>
            </a:fld>
            <a:endParaRPr lang="zh-CN" altLang="en-US" dirty="0">
              <a:latin typeface="Tahoma" panose="020B0604030504040204" pitchFamily="34" charset="0"/>
            </a:endParaRPr>
          </a:p>
        </p:txBody>
      </p:sp>
    </p:spTree>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ransition>
    <p:random/>
  </p:transition>
  <p:timing>
    <p:tnLst>
      <p:par>
        <p:cTn id="1" dur="indefinite" restart="never" nodeType="tmRoot"/>
      </p:par>
    </p:tnLst>
  </p:timing>
  <p:hf sldNum="0" hdr="0" ftr="0" dt="0"/>
  <p:txStyles>
    <p:titleStyle>
      <a:lvl1pPr algn="l" rtl="0" eaLnBrk="0" fontAlgn="base" hangingPunct="0">
        <a:spcBef>
          <a:spcPct val="0"/>
        </a:spcBef>
        <a:spcAft>
          <a:spcPct val="0"/>
        </a:spcAft>
        <a:defRPr lang="zh-CN" altLang="en-US" sz="4400" kern="1200" spc="50" dirty="0">
          <a:ln w="12700">
            <a:noFill/>
            <a:prstDash val="solid"/>
          </a:ln>
          <a:solidFill>
            <a:srgbClr val="4BC5B9"/>
          </a:solidFill>
          <a:effectLst>
            <a:outerShdw blurRad="38100" dist="20320" dir="2700000" algn="tl" rotWithShape="0">
              <a:srgbClr val="000000">
                <a:alpha val="70000"/>
              </a:srgbClr>
            </a:outerShdw>
          </a:effectLst>
          <a:latin typeface="+mj-lt"/>
          <a:ea typeface="+mj-ea"/>
          <a:cs typeface="+mj-cs"/>
        </a:defRPr>
      </a:lvl1pPr>
      <a:lvl2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2pPr>
      <a:lvl3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3pPr>
      <a:lvl4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4pPr>
      <a:lvl5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60000"/>
        <a:buFont typeface="Wingdings 2" panose="05020102010507070707" pitchFamily="18"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2" panose="05020102010507070707" pitchFamily="18"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6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4646"/>
        </a:solidFill>
        <a:effectLst/>
      </p:bgPr>
    </p:bg>
    <p:spTree>
      <p:nvGrpSpPr>
        <p:cNvPr id="1" name=""/>
        <p:cNvGrpSpPr/>
        <p:nvPr/>
      </p:nvGrpSpPr>
      <p:grpSpPr/>
      <p:sp>
        <p:nvSpPr>
          <p:cNvPr id="2" name="标题占位符 1"/>
          <p:cNvSpPr>
            <a:spLocks noGrp="1"/>
          </p:cNvSpPr>
          <p:nvPr>
            <p:ph type="title"/>
          </p:nvPr>
        </p:nvSpPr>
        <p:spPr>
          <a:xfrm>
            <a:off x="457200" y="274638"/>
            <a:ext cx="7775575" cy="1143000"/>
          </a:xfrm>
          <a:prstGeom prst="rect">
            <a:avLst/>
          </a:prstGeom>
        </p:spPr>
        <p:txBody>
          <a:bodyPr vert="horz" rtlCol="0" anchor="ctr">
            <a:normAutofit/>
            <a:scene3d>
              <a:camera prst="orthographicFront"/>
              <a:lightRig rig="soft" dir="t"/>
            </a:scene3d>
            <a:sp3d prstMaterial="matte">
              <a:bevelT w="12700" h="12700"/>
            </a:sp3d>
          </a:bodyPr>
          <a:lstStyle/>
          <a:p>
            <a:r>
              <a:rPr lang="zh-CN" altLang="en-US"/>
              <a:t>单击此处编辑母版标题样式</a:t>
            </a:r>
            <a:endParaRPr lang="en-US"/>
          </a:p>
        </p:txBody>
      </p:sp>
      <p:sp>
        <p:nvSpPr>
          <p:cNvPr id="3075" name="文本占位符 2"/>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lgn="l" eaLnBrk="1" latinLnBrk="0" hangingPunct="1">
              <a:buFont typeface="Arial" panose="020B0604020202020204" pitchFamily="34" charset="0"/>
              <a:buNone/>
              <a:defRPr kumimoji="0"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buFont typeface="Arial" panose="020B0604020202020204" pitchFamily="34" charset="0"/>
              <a:buNone/>
              <a:defRPr kumimoji="0" sz="1200">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lstStyle>
            <a:lvl1pPr algn="r">
              <a:defRPr sz="1200"/>
            </a:lvl1pPr>
          </a:lstStyle>
          <a:p>
            <a:pPr lvl="0" eaLnBrk="1" hangingPunct="1">
              <a:buNone/>
            </a:pPr>
            <a:fld id="{9A0DB2DC-4C9A-4742-B13C-FB6460FD3503}" type="slidenum">
              <a:rPr lang="zh-CN" altLang="en-US" dirty="0">
                <a:latin typeface="Tahoma" panose="020B0604030504040204" pitchFamily="34" charset="0"/>
              </a:rPr>
            </a:fld>
            <a:endParaRPr lang="zh-CN" altLang="en-US" dirty="0">
              <a:latin typeface="Tahoma" panose="020B0604030504040204" pitchFamily="34" charset="0"/>
            </a:endParaRPr>
          </a:p>
        </p:txBody>
      </p:sp>
    </p:spTree>
  </p:cSld>
  <p:clrMap bg1="dk1" tx1="lt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ransition>
    <p:random/>
  </p:transition>
  <p:timing>
    <p:tnLst>
      <p:par>
        <p:cTn id="1" dur="indefinite" restart="never" nodeType="tmRoot"/>
      </p:par>
    </p:tnLst>
  </p:timing>
  <p:hf sldNum="0" hdr="0" ftr="0" dt="0"/>
  <p:txStyles>
    <p:titleStyle>
      <a:lvl1pPr algn="l" rtl="0" eaLnBrk="0" fontAlgn="base" hangingPunct="0">
        <a:spcBef>
          <a:spcPct val="0"/>
        </a:spcBef>
        <a:spcAft>
          <a:spcPct val="0"/>
        </a:spcAft>
        <a:defRPr lang="zh-CN" altLang="en-US" sz="4400" kern="1200" spc="50" dirty="0">
          <a:ln w="12700">
            <a:noFill/>
            <a:prstDash val="solid"/>
          </a:ln>
          <a:solidFill>
            <a:srgbClr val="4BC5B9"/>
          </a:solidFill>
          <a:effectLst>
            <a:outerShdw blurRad="38100" dist="20320" dir="2700000" algn="tl" rotWithShape="0">
              <a:srgbClr val="000000">
                <a:alpha val="70000"/>
              </a:srgbClr>
            </a:outerShdw>
          </a:effectLst>
          <a:latin typeface="+mj-lt"/>
          <a:ea typeface="+mj-ea"/>
          <a:cs typeface="+mj-cs"/>
        </a:defRPr>
      </a:lvl1pPr>
      <a:lvl2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2pPr>
      <a:lvl3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3pPr>
      <a:lvl4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4pPr>
      <a:lvl5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60000"/>
        <a:buFont typeface="Wingdings 2" panose="05020102010507070707" pitchFamily="18"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2" panose="05020102010507070707" pitchFamily="18"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6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4646"/>
        </a:solidFill>
        <a:effectLst/>
      </p:bgPr>
    </p:bg>
    <p:spTree>
      <p:nvGrpSpPr>
        <p:cNvPr id="1" name=""/>
        <p:cNvGrpSpPr/>
        <p:nvPr/>
      </p:nvGrpSpPr>
      <p:grpSpPr/>
      <p:sp>
        <p:nvSpPr>
          <p:cNvPr id="2" name="标题占位符 1"/>
          <p:cNvSpPr>
            <a:spLocks noGrp="1"/>
          </p:cNvSpPr>
          <p:nvPr>
            <p:ph type="title"/>
          </p:nvPr>
        </p:nvSpPr>
        <p:spPr>
          <a:xfrm>
            <a:off x="457200" y="274638"/>
            <a:ext cx="7775575" cy="1143000"/>
          </a:xfrm>
          <a:prstGeom prst="rect">
            <a:avLst/>
          </a:prstGeom>
        </p:spPr>
        <p:txBody>
          <a:bodyPr vert="horz" rtlCol="0" anchor="ctr">
            <a:normAutofit/>
            <a:scene3d>
              <a:camera prst="orthographicFront"/>
              <a:lightRig rig="soft" dir="t"/>
            </a:scene3d>
            <a:sp3d prstMaterial="matte">
              <a:bevelT w="12700" h="12700"/>
            </a:sp3d>
          </a:bodyPr>
          <a:lstStyle/>
          <a:p>
            <a:r>
              <a:rPr lang="zh-CN" altLang="en-US"/>
              <a:t>单击此处编辑母版标题样式</a:t>
            </a:r>
            <a:endParaRPr lang="en-US"/>
          </a:p>
        </p:txBody>
      </p:sp>
      <p:sp>
        <p:nvSpPr>
          <p:cNvPr id="4099" name="文本占位符 2"/>
          <p:cNvSpPr>
            <a:spLocks noGrp="1"/>
          </p:cNvSpPr>
          <p:nvPr>
            <p:ph type="body" idx="1"/>
          </p:nvPr>
        </p:nvSpPr>
        <p:spPr>
          <a:xfrm>
            <a:off x="457200" y="1600200"/>
            <a:ext cx="8229600" cy="452596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457200" y="6356350"/>
            <a:ext cx="2133600" cy="365125"/>
          </a:xfrm>
          <a:prstGeom prst="rect">
            <a:avLst/>
          </a:prstGeom>
        </p:spPr>
        <p:txBody>
          <a:bodyPr vert="horz" lIns="274320" rtlCol="0" anchor="ctr"/>
          <a:lstStyle>
            <a:lvl1pPr algn="l" eaLnBrk="1" latinLnBrk="0" hangingPunct="1">
              <a:buFont typeface="Arial" panose="020B0604020202020204" pitchFamily="34" charset="0"/>
              <a:buNone/>
              <a:defRPr kumimoji="0" sz="1200">
                <a:solidFill>
                  <a:schemeClr val="tx1"/>
                </a:solidFill>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buFont typeface="Arial" panose="020B0604020202020204" pitchFamily="34" charset="0"/>
              <a:buNone/>
              <a:defRPr kumimoji="0" sz="1200">
                <a:solidFill>
                  <a:schemeClr val="tx1"/>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45720" tIns="45720" rIns="45720" bIns="45720" numCol="1" anchor="ctr" anchorCtr="0" compatLnSpc="1"/>
          <a:lstStyle>
            <a:lvl1pPr algn="r">
              <a:defRPr sz="1200"/>
            </a:lvl1pPr>
          </a:lstStyle>
          <a:p>
            <a:pPr lvl="0" eaLnBrk="1" hangingPunct="1">
              <a:buNone/>
            </a:pPr>
            <a:fld id="{9A0DB2DC-4C9A-4742-B13C-FB6460FD3503}" type="slidenum">
              <a:rPr lang="zh-CN" altLang="en-US" dirty="0">
                <a:latin typeface="Tahoma" panose="020B0604030504040204" pitchFamily="34" charset="0"/>
              </a:rPr>
            </a:fld>
            <a:endParaRPr lang="zh-CN" altLang="en-US" dirty="0">
              <a:latin typeface="Tahoma" panose="020B0604030504040204" pitchFamily="34" charset="0"/>
            </a:endParaRPr>
          </a:p>
        </p:txBody>
      </p:sp>
    </p:spTree>
  </p:cSld>
  <p:clrMap bg1="dk1" tx1="lt1" bg2="dk2" tx2="lt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ransition>
    <p:random/>
  </p:transition>
  <p:timing>
    <p:tnLst>
      <p:par>
        <p:cTn id="1" dur="indefinite" restart="never" nodeType="tmRoot"/>
      </p:par>
    </p:tnLst>
  </p:timing>
  <p:hf sldNum="0" hdr="0" ftr="0" dt="0"/>
  <p:txStyles>
    <p:titleStyle>
      <a:lvl1pPr algn="l" rtl="0" eaLnBrk="0" fontAlgn="base" hangingPunct="0">
        <a:spcBef>
          <a:spcPct val="0"/>
        </a:spcBef>
        <a:spcAft>
          <a:spcPct val="0"/>
        </a:spcAft>
        <a:defRPr lang="zh-CN" altLang="en-US" sz="4400" kern="1200" spc="50" dirty="0">
          <a:ln w="12700">
            <a:noFill/>
            <a:prstDash val="solid"/>
          </a:ln>
          <a:solidFill>
            <a:srgbClr val="4BC5B9"/>
          </a:solidFill>
          <a:effectLst>
            <a:outerShdw blurRad="38100" dist="20320" dir="2700000" algn="tl" rotWithShape="0">
              <a:srgbClr val="000000">
                <a:alpha val="70000"/>
              </a:srgbClr>
            </a:outerShdw>
          </a:effectLst>
          <a:latin typeface="+mj-lt"/>
          <a:ea typeface="+mj-ea"/>
          <a:cs typeface="+mj-cs"/>
        </a:defRPr>
      </a:lvl1pPr>
      <a:lvl2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2pPr>
      <a:lvl3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3pPr>
      <a:lvl4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4pPr>
      <a:lvl5pPr algn="l" rtl="0" eaLnBrk="0" fontAlgn="base" hangingPunct="0">
        <a:spcBef>
          <a:spcPct val="0"/>
        </a:spcBef>
        <a:spcAft>
          <a:spcPct val="0"/>
        </a:spcAft>
        <a:defRPr sz="4400">
          <a:solidFill>
            <a:srgbClr val="4BC5B9"/>
          </a:solidFill>
          <a:latin typeface="Footlight MT Light" panose="0204060206030A020304" pitchFamily="18" charset="0"/>
          <a:ea typeface="华文新魏" panose="02010800040101010101" pitchFamily="2" charset="-122"/>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0" fontAlgn="base" hangingPunct="0">
        <a:spcBef>
          <a:spcPct val="20000"/>
        </a:spcBef>
        <a:spcAft>
          <a:spcPct val="0"/>
        </a:spcAft>
        <a:buClr>
          <a:schemeClr val="tx2"/>
        </a:buClr>
        <a:buSzPct val="60000"/>
        <a:buFont typeface="Wingdings 2" panose="05020102010507070707" pitchFamily="18"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2"/>
        </a:buClr>
        <a:buSzPct val="60000"/>
        <a:buFont typeface="Wingdings 2" panose="05020102010507070707" pitchFamily="18"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tx2"/>
        </a:buClr>
        <a:buSzPct val="60000"/>
        <a:buFont typeface="Wingdings 2" panose="05020102010507070707" pitchFamily="18"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2"/>
        </a:buClr>
        <a:buSzPct val="60000"/>
        <a:buFont typeface="Wingdings 2" panose="05020102010507070707" pitchFamily="18"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SzPct val="60000"/>
        <a:buFont typeface="Wingdings 2" panose="05020102010507070707" pitchFamily="18" charset="2"/>
        <a:buChar char=""/>
        <a:defRPr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ChangeArrowheads="1"/>
          </p:cNvSpPr>
          <p:nvPr/>
        </p:nvSpPr>
        <p:spPr bwMode="auto">
          <a:xfrm>
            <a:off x="417513" y="584200"/>
            <a:ext cx="438150" cy="474663"/>
          </a:xfrm>
          <a:prstGeom prst="rect">
            <a:avLst/>
          </a:prstGeom>
          <a:solidFill>
            <a:schemeClr val="accent2"/>
          </a:soli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auto">
          <a:xfrm>
            <a:off x="800100" y="584200"/>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auto">
          <a:xfrm>
            <a:off x="541338" y="1006475"/>
            <a:ext cx="422275" cy="474663"/>
          </a:xfrm>
          <a:prstGeom prst="rect">
            <a:avLst/>
          </a:prstGeom>
          <a:solidFill>
            <a:schemeClr val="folHlink"/>
          </a:soli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auto">
          <a:xfrm>
            <a:off x="911225" y="1006475"/>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auto">
          <a:xfrm>
            <a:off x="127000" y="908050"/>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auto">
          <a:xfrm>
            <a:off x="762000" y="476250"/>
            <a:ext cx="31750" cy="1052513"/>
          </a:xfrm>
          <a:prstGeom prst="rect">
            <a:avLst/>
          </a:prstGeom>
          <a:solidFill>
            <a:schemeClr val="bg2"/>
          </a:soli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auto">
          <a:xfrm>
            <a:off x="442913" y="1266825"/>
            <a:ext cx="8226425" cy="31750"/>
          </a:xfrm>
          <a:prstGeom prst="rect">
            <a:avLst/>
          </a:prstGeom>
          <a:gradFill rotWithShape="0">
            <a:gsLst>
              <a:gs pos="0">
                <a:schemeClr val="bg2"/>
              </a:gs>
              <a:gs pos="100000">
                <a:schemeClr val="bg1"/>
              </a:gs>
            </a:gsLst>
            <a:lin ang="0" scaled="1"/>
          </a:gradFill>
          <a:ln>
            <a:noFill/>
          </a:ln>
        </p:spPr>
        <p:txBody>
          <a:bodyPr wrap="none" anchor="ctr"/>
          <a:lstStyle>
            <a:lvl1pPr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1pPr>
            <a:lvl2pPr marL="742950" indent="-28575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2pPr>
            <a:lvl3pPr marL="11430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3pPr>
            <a:lvl4pPr marL="16002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4pPr>
            <a:lvl5pPr marL="2057400" indent="-228600" algn="ctr">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buFont typeface="Arial" panose="020B0604020202020204" pitchFamily="34" charset="0"/>
              <a:defRPr sz="2000" baseline="-25000">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
        <p:nvSpPr>
          <p:cNvPr id="5129" name="Rectangle 9"/>
          <p:cNvSpPr>
            <a:spLocks noGrp="1"/>
          </p:cNvSpPr>
          <p:nvPr>
            <p:ph type="title"/>
          </p:nvPr>
        </p:nvSpPr>
        <p:spPr>
          <a:xfrm>
            <a:off x="1150938" y="214313"/>
            <a:ext cx="7793037" cy="1054100"/>
          </a:xfrm>
          <a:prstGeom prst="rect">
            <a:avLst/>
          </a:prstGeom>
          <a:noFill/>
          <a:ln w="9525">
            <a:noFill/>
          </a:ln>
        </p:spPr>
        <p:txBody>
          <a:bodyPr anchor="b" anchorCtr="0"/>
          <a:p>
            <a:pPr lvl="0"/>
            <a:r>
              <a:rPr lang="zh-CN" altLang="en-US" dirty="0"/>
              <a:t>单击此处编辑母版标题样式</a:t>
            </a:r>
            <a:endParaRPr lang="zh-CN" altLang="en-US" dirty="0"/>
          </a:p>
        </p:txBody>
      </p:sp>
      <p:sp>
        <p:nvSpPr>
          <p:cNvPr id="5130" name="Rectangle 10"/>
          <p:cNvSpPr>
            <a:spLocks noGrp="1"/>
          </p:cNvSpPr>
          <p:nvPr>
            <p:ph type="body" idx="1"/>
          </p:nvPr>
        </p:nvSpPr>
        <p:spPr>
          <a:xfrm>
            <a:off x="395288" y="1557338"/>
            <a:ext cx="8497887"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5" name="Rectangle 11"/>
          <p:cNvSpPr>
            <a:spLocks noGrp="1" noChangeArrowheads="1"/>
          </p:cNvSpPr>
          <p:nvPr>
            <p:ph type="dt" sz="half" idx="2"/>
          </p:nvPr>
        </p:nvSpPr>
        <p:spPr bwMode="auto">
          <a:xfrm>
            <a:off x="11620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l" eaLnBrk="1" hangingPunct="1">
              <a:buFont typeface="Arial" panose="020B0604020202020204" pitchFamily="34" charset="0"/>
              <a:buNone/>
              <a:defRPr sz="1400" baseline="0">
                <a:latin typeface="+mn-lt"/>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6" name="Rectangle 12"/>
          <p:cNvSpPr>
            <a:spLocks noGrp="1" noChangeArrowheads="1"/>
          </p:cNvSpPr>
          <p:nvPr>
            <p:ph type="ftr" sz="quarter" idx="3"/>
          </p:nvPr>
        </p:nvSpPr>
        <p:spPr bwMode="auto">
          <a:xfrm>
            <a:off x="3657600" y="6243638"/>
            <a:ext cx="28956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buFont typeface="Arial" panose="020B0604020202020204" pitchFamily="34" charset="0"/>
              <a:buNone/>
              <a:defRPr sz="1400" baseline="0">
                <a:latin typeface="+mn-lt"/>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7" name="Rectangle 13"/>
          <p:cNvSpPr>
            <a:spLocks noGrp="1" noChangeArrowheads="1"/>
          </p:cNvSpPr>
          <p:nvPr>
            <p:ph type="sldNum" sz="quarter" idx="4"/>
          </p:nvPr>
        </p:nvSpPr>
        <p:spPr bwMode="auto">
          <a:xfrm>
            <a:off x="7042150" y="6243638"/>
            <a:ext cx="1905000" cy="457200"/>
          </a:xfrm>
          <a:prstGeom prst="rect">
            <a:avLst/>
          </a:prstGeom>
          <a:noFill/>
          <a:ln w="9525">
            <a:noFill/>
            <a:miter lim="800000"/>
          </a:ln>
          <a:effectLst/>
        </p:spPr>
        <p:txBody>
          <a:bodyPr vert="horz" wrap="square" lIns="91440" tIns="45720" rIns="91440" bIns="45720" numCol="1" anchor="b" anchorCtr="0" compatLnSpc="1"/>
          <a:lstStyle>
            <a:lvl1pPr algn="r">
              <a:defRPr sz="1400"/>
            </a:lvl1pPr>
          </a:lstStyle>
          <a:p>
            <a:pPr lvl="0" eaLnBrk="1" hangingPunct="1">
              <a:buNone/>
            </a:pPr>
            <a:fld id="{9A0DB2DC-4C9A-4742-B13C-FB6460FD3503}" type="slidenum">
              <a:rPr lang="zh-CN" altLang="en-US" dirty="0">
                <a:latin typeface="Tahoma" panose="020B0604030504040204" pitchFamily="34" charset="0"/>
              </a:rPr>
            </a:fld>
            <a:endParaRPr lang="zh-CN" altLang="en-US" dirty="0">
              <a:latin typeface="Tahoma" panose="020B0604030504040204" pitchFamily="34" charset="0"/>
            </a:endParaRPr>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transition>
    <p:random/>
  </p:transition>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4400">
          <a:solidFill>
            <a:schemeClr val="tx2"/>
          </a:solidFill>
          <a:latin typeface="Tahoma" panose="020B0604030504040204" pitchFamily="34" charset="0"/>
          <a:ea typeface="宋体" panose="02010600030101010101" pitchFamily="2" charset="-122"/>
        </a:defRPr>
      </a:lvl5pPr>
      <a:lvl6pPr marL="4572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6pPr>
      <a:lvl7pPr marL="9144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7pPr>
      <a:lvl8pPr marL="13716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8pPr>
      <a:lvl9pPr marL="1828800" algn="l" rtl="0" fontAlgn="base">
        <a:spcBef>
          <a:spcPct val="0"/>
        </a:spcBef>
        <a:spcAft>
          <a:spcPct val="0"/>
        </a:spcAft>
        <a:defRPr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folHlink"/>
        </a:buClr>
        <a:buSzPct val="60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folHlink"/>
        </a:buClr>
        <a:buSzPct val="60000"/>
        <a:buFont typeface="Wingdings" panose="05000000000000000000" pitchFamily="2" charset="2"/>
        <a:buChar char="n"/>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s://baike.baidu.com/item/%E7%9C%9F%E7%A9%BA%E7%AE%A1/2571057?fromModule=lemma_inlink" TargetMode="External"/><Relationship Id="rId2" Type="http://schemas.openxmlformats.org/officeDocument/2006/relationships/hyperlink" Target="https://baike.baidu.com/item/%E8%8B%B1%E5%90%A8/4172326?fromModule=lemma_inlink" TargetMode="External"/><Relationship Id="rId1" Type="http://schemas.openxmlformats.org/officeDocument/2006/relationships/hyperlink" Target="https://baike.baidu.com/item/%E5%AE%BE%E5%A4%95%E6%B3%95%E5%B0%BC%E4%BA%9A%E5%A4%A7%E5%AD%A6/513402?fromModule=lemma_inlink" TargetMode="Externa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noChangeArrowheads="1"/>
          </p:cNvSpPr>
          <p:nvPr>
            <p:ph type="ctrTitle"/>
          </p:nvPr>
        </p:nvSpPr>
        <p:spPr>
          <a:xfrm>
            <a:off x="468313" y="620713"/>
            <a:ext cx="8101012" cy="2286000"/>
          </a:xfrm>
          <a:noFill/>
          <a:ln>
            <a:noFill/>
          </a:ln>
          <a:effectLst/>
          <a:sp3d prstMaterial="plastic"/>
        </p:spPr>
        <p:txBody>
          <a:bodyPr vert="horz" rtlCol="0" anchor="ctr">
            <a:normAutofit/>
            <a:scene3d>
              <a:camera prst="orthographicFront"/>
              <a:lightRig rig="soft" dir="t"/>
            </a:scene3d>
            <a:sp3d prstMaterial="matte">
              <a:bevelT w="12700" h="12700"/>
            </a:sp3d>
          </a:bodyPr>
          <a:lstStyle/>
          <a:p>
            <a:pPr marL="0" marR="0" lvl="0" indent="0" algn="ctr" defTabSz="914400" rtl="0" eaLnBrk="1" fontAlgn="auto" latinLnBrk="0" hangingPunct="1">
              <a:lnSpc>
                <a:spcPct val="100000"/>
              </a:lnSpc>
              <a:spcBef>
                <a:spcPts val="1800"/>
              </a:spcBef>
              <a:spcAft>
                <a:spcPts val="0"/>
              </a:spcAft>
              <a:buClrTx/>
              <a:buSzTx/>
              <a:buFontTx/>
              <a:buNone/>
              <a:defRPr/>
            </a:pPr>
            <a:r>
              <a:rPr kumimoji="0" lang="zh-CN" altLang="en-US" sz="6000" b="0" i="0" u="none" strike="noStrike" kern="1200" cap="none" spc="50" normalizeH="0" baseline="0" noProof="0">
                <a:ln w="12700">
                  <a:noFill/>
                  <a:prstDash val="solid"/>
                </a:ln>
                <a:solidFill>
                  <a:schemeClr val="folHlink"/>
                </a:solidFill>
                <a:effectLst>
                  <a:outerShdw blurRad="38100" dist="20320" dir="2700000" algn="tl" rotWithShape="0">
                    <a:srgbClr val="000000">
                      <a:alpha val="70000"/>
                    </a:srgbClr>
                  </a:outerShdw>
                </a:effectLst>
                <a:uLnTx/>
                <a:uFillTx/>
                <a:latin typeface="+mj-lt"/>
                <a:ea typeface="+mj-ea"/>
                <a:cs typeface="+mj-cs"/>
              </a:rPr>
              <a:t>微型计算机原理及应用</a:t>
            </a:r>
            <a:br>
              <a:rPr kumimoji="0" lang="en-US" altLang="zh-CN" sz="5400" b="0" i="0" u="none" strike="noStrike" kern="1200" cap="none" spc="50" normalizeH="0" baseline="0" noProof="0">
                <a:ln w="12700">
                  <a:noFill/>
                  <a:prstDash val="solid"/>
                </a:ln>
                <a:solidFill>
                  <a:schemeClr val="folHlink"/>
                </a:solidFill>
                <a:effectLst>
                  <a:outerShdw blurRad="38100" dist="20320" dir="2700000" algn="tl" rotWithShape="0">
                    <a:srgbClr val="000000">
                      <a:alpha val="70000"/>
                    </a:srgbClr>
                  </a:outerShdw>
                </a:effectLst>
                <a:uLnTx/>
                <a:uFillTx/>
                <a:latin typeface="+mj-lt"/>
                <a:ea typeface="+mj-ea"/>
                <a:cs typeface="+mj-cs"/>
              </a:rPr>
            </a:br>
            <a:r>
              <a:rPr kumimoji="0" lang="en-US" altLang="zh-CN" sz="4800" b="0" i="0" u="none" strike="noStrike" kern="1200" cap="none" spc="50" normalizeH="0" baseline="0" noProof="0">
                <a:ln w="12700">
                  <a:noFill/>
                  <a:prstDash val="solid"/>
                </a:ln>
                <a:solidFill>
                  <a:schemeClr val="folHlink"/>
                </a:solidFill>
                <a:effectLst>
                  <a:outerShdw blurRad="38100" dist="20320" dir="2700000" algn="tl" rotWithShape="0">
                    <a:srgbClr val="000000">
                      <a:alpha val="70000"/>
                    </a:srgbClr>
                  </a:outerShdw>
                </a:effectLst>
                <a:uLnTx/>
                <a:uFillTx/>
                <a:latin typeface="+mj-lt"/>
                <a:ea typeface="+mj-ea"/>
                <a:cs typeface="+mj-cs"/>
              </a:rPr>
              <a:t>(</a:t>
            </a:r>
            <a:r>
              <a:rPr kumimoji="0" lang="zh-CN" altLang="en-US" sz="4800" b="0" i="0" u="none" strike="noStrike" kern="1200" cap="none" spc="50" normalizeH="0" baseline="0" noProof="0">
                <a:ln w="12700">
                  <a:noFill/>
                  <a:prstDash val="solid"/>
                </a:ln>
                <a:solidFill>
                  <a:schemeClr val="folHlink"/>
                </a:solidFill>
                <a:effectLst>
                  <a:outerShdw blurRad="38100" dist="20320" dir="2700000" algn="tl" rotWithShape="0">
                    <a:srgbClr val="000000">
                      <a:alpha val="70000"/>
                    </a:srgbClr>
                  </a:outerShdw>
                </a:effectLst>
                <a:uLnTx/>
                <a:uFillTx/>
                <a:latin typeface="+mj-lt"/>
                <a:ea typeface="+mj-ea"/>
                <a:cs typeface="+mj-cs"/>
              </a:rPr>
              <a:t>第</a:t>
            </a:r>
            <a:r>
              <a:rPr kumimoji="0" lang="zh-CN" altLang="en-US" sz="4800" b="0" i="0" u="none" strike="noStrike" kern="1200" cap="none" spc="50" normalizeH="0" baseline="0" noProof="0">
                <a:ln w="12700">
                  <a:noFill/>
                  <a:prstDash val="solid"/>
                </a:ln>
                <a:solidFill>
                  <a:schemeClr val="folHlink"/>
                </a:solidFill>
                <a:effectLst>
                  <a:outerShdw blurRad="38100" dist="20320" dir="2700000" algn="tl" rotWithShape="0">
                    <a:srgbClr val="000000">
                      <a:alpha val="70000"/>
                    </a:srgbClr>
                  </a:outerShdw>
                </a:effectLst>
                <a:uLnTx/>
                <a:uFillTx/>
                <a:latin typeface="+mj-lt"/>
                <a:ea typeface="+mj-ea"/>
                <a:cs typeface="+mj-cs"/>
              </a:rPr>
              <a:t>三版</a:t>
            </a:r>
            <a:r>
              <a:rPr kumimoji="0" lang="en-US" altLang="zh-CN" sz="4800" b="0" i="0" u="none" strike="noStrike" kern="1200" cap="none" spc="50" normalizeH="0" baseline="0" noProof="0">
                <a:ln w="12700">
                  <a:noFill/>
                  <a:prstDash val="solid"/>
                </a:ln>
                <a:solidFill>
                  <a:schemeClr val="folHlink"/>
                </a:solidFill>
                <a:effectLst>
                  <a:outerShdw blurRad="38100" dist="20320" dir="2700000" algn="tl" rotWithShape="0">
                    <a:srgbClr val="000000">
                      <a:alpha val="70000"/>
                    </a:srgbClr>
                  </a:outerShdw>
                </a:effectLst>
                <a:uLnTx/>
                <a:uFillTx/>
                <a:latin typeface="+mj-lt"/>
                <a:ea typeface="+mj-ea"/>
                <a:cs typeface="+mj-cs"/>
              </a:rPr>
              <a:t>)</a:t>
            </a:r>
            <a:endParaRPr kumimoji="0" lang="zh-CN" altLang="zh-CN" sz="4800" b="0" i="0" u="none" strike="noStrike" kern="1200" cap="none" spc="50" normalizeH="0" baseline="0" noProof="0">
              <a:ln w="12700">
                <a:noFill/>
                <a:prstDash val="solid"/>
              </a:ln>
              <a:solidFill>
                <a:schemeClr val="folHlink"/>
              </a:solidFill>
              <a:effectLst>
                <a:outerShdw blurRad="38100" dist="20320" dir="2700000" algn="tl" rotWithShape="0">
                  <a:srgbClr val="000000">
                    <a:alpha val="70000"/>
                  </a:srgbClr>
                </a:outerShdw>
              </a:effectLst>
              <a:uLnTx/>
              <a:uFillTx/>
              <a:latin typeface="+mj-lt"/>
              <a:ea typeface="+mj-ea"/>
              <a:cs typeface="+mj-cs"/>
            </a:endParaRPr>
          </a:p>
        </p:txBody>
      </p:sp>
      <p:sp>
        <p:nvSpPr>
          <p:cNvPr id="6147" name="Rectangle 3"/>
          <p:cNvSpPr>
            <a:spLocks noGrp="1" noChangeArrowheads="1"/>
          </p:cNvSpPr>
          <p:nvPr>
            <p:ph type="subTitle" idx="1"/>
          </p:nvPr>
        </p:nvSpPr>
        <p:spPr>
          <a:xfrm>
            <a:off x="1403350" y="4221163"/>
            <a:ext cx="6400800" cy="1150938"/>
          </a:xfrm>
        </p:spPr>
        <p:txBody>
          <a:bodyPr vert="horz" wrap="square" lIns="91440" tIns="45720" rIns="91440" bIns="45720" numCol="1" rtlCol="0" anchor="t" anchorCtr="0" compatLnSpc="1">
            <a:normAutofit fontScale="55000" lnSpcReduction="20000"/>
          </a:bodyPr>
          <a:lstStyle/>
          <a:p>
            <a:pPr marL="0" marR="0" lvl="0" indent="0" algn="ctr" defTabSz="914400" rtl="0" eaLnBrk="1" fontAlgn="auto" latinLnBrk="0" hangingPunct="1">
              <a:lnSpc>
                <a:spcPct val="100000"/>
              </a:lnSpc>
              <a:spcBef>
                <a:spcPct val="20000"/>
              </a:spcBef>
              <a:spcAft>
                <a:spcPts val="0"/>
              </a:spcAft>
              <a:buClr>
                <a:schemeClr val="tx2"/>
              </a:buClr>
              <a:buSzPct val="60000"/>
              <a:buFont typeface="Wingdings 2" panose="05020102010507070707"/>
              <a:buNone/>
              <a:defRPr/>
            </a:pPr>
            <a:r>
              <a:rPr kumimoji="0" lang="zh-CN" altLang="en-US" sz="4400" b="1" i="0" u="none" strike="noStrike" kern="120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主讲：杨领军</a:t>
            </a:r>
            <a:endParaRPr kumimoji="0" lang="en-US" altLang="zh-CN" sz="4400" b="1" i="0" u="none" strike="noStrike" kern="120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tx2"/>
              </a:buClr>
              <a:buSzPct val="60000"/>
              <a:buFont typeface="Wingdings 2" panose="05020102010507070707"/>
              <a:buNone/>
              <a:defRPr/>
            </a:pPr>
            <a:r>
              <a:rPr kumimoji="0" lang="zh-CN" altLang="en-US" sz="4400" b="1" i="0" u="none" strike="noStrike" kern="120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信息与通信工程学院</a:t>
            </a:r>
            <a:endParaRPr kumimoji="0" lang="en-US" altLang="zh-CN" sz="4400" b="1" i="0" u="none" strike="noStrike" kern="120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tx2"/>
              </a:buClr>
              <a:buSzPct val="60000"/>
              <a:buFont typeface="Wingdings 2" panose="05020102010507070707"/>
              <a:buNone/>
              <a:defRPr/>
            </a:pPr>
            <a:r>
              <a:rPr kumimoji="0" lang="en-US" altLang="zh-CN" sz="4400" b="1" i="0" u="none" strike="noStrike" kern="120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15910828176</a:t>
            </a:r>
            <a:r>
              <a:rPr kumimoji="0" lang="zh-CN" altLang="en-US" sz="4400" b="1" i="0" u="none" strike="noStrike" kern="120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rPr>
              <a:t>（微信号）</a:t>
            </a:r>
            <a:endParaRPr kumimoji="0" lang="zh-CN" altLang="en-US" sz="4400" b="1" i="0" u="none" strike="noStrike" kern="1200" cap="none" spc="0" normalizeH="0" baseline="0" noProof="0">
              <a:ln>
                <a:noFill/>
              </a:ln>
              <a:solidFill>
                <a:schemeClr val="folHlink"/>
              </a:solidFill>
              <a:effectLst>
                <a:outerShdw blurRad="38100" dist="38100" dir="2700000" algn="tl">
                  <a:srgbClr val="C0C0C0"/>
                </a:outerShdw>
              </a:effectLst>
              <a:uLnTx/>
              <a:uFillTx/>
              <a:latin typeface="+mn-lt"/>
              <a:ea typeface="+mn-ea"/>
              <a:cs typeface="+mn-cs"/>
            </a:endParaRPr>
          </a:p>
        </p:txBody>
      </p:sp>
    </p:spTree>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457200" y="274638"/>
            <a:ext cx="7776000" cy="1143000"/>
          </a:xfrm>
          <a:noFill/>
          <a:ln>
            <a:noFill/>
          </a:ln>
          <a:effectLst/>
          <a:sp3d prstMaterial="plastic"/>
        </p:spPr>
        <p:txBody>
          <a:bodyPr vert="horz" rtlCol="0" anchor="ctr">
            <a:normAutofit/>
            <a:scene3d>
              <a:camera prst="orthographicFront"/>
              <a:lightRig rig="soft" dir="t"/>
            </a:scene3d>
            <a:sp3d prstMaterial="matte">
              <a:bevelT w="12700" h="127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4400" b="0" i="0" u="none" strike="noStrike" kern="1200" cap="none" spc="50" normalizeH="0" baseline="0" noProof="0" dirty="0">
                <a:ln w="12700">
                  <a:noFill/>
                  <a:prstDash val="solid"/>
                </a:ln>
                <a:solidFill>
                  <a:schemeClr val="accent4"/>
                </a:solidFill>
                <a:effectLst>
                  <a:outerShdw blurRad="38100" dist="20320" dir="2700000" algn="tl" rotWithShape="0">
                    <a:srgbClr val="000000">
                      <a:alpha val="70000"/>
                    </a:srgbClr>
                  </a:outerShdw>
                </a:effectLst>
                <a:uLnTx/>
                <a:uFillTx/>
                <a:latin typeface="+mj-lt"/>
                <a:ea typeface="+mj-ea"/>
                <a:cs typeface="+mj-cs"/>
              </a:rPr>
              <a:t>概述</a:t>
            </a:r>
            <a:endParaRPr kumimoji="0" lang="zh-CN" altLang="en-US" sz="4400" b="0" i="0" u="none" strike="noStrike" kern="1200" cap="none" spc="50" normalizeH="0" baseline="0" noProof="0" dirty="0">
              <a:ln w="12700">
                <a:noFill/>
                <a:prstDash val="solid"/>
              </a:ln>
              <a:solidFill>
                <a:schemeClr val="accent4"/>
              </a:solidFill>
              <a:effectLst>
                <a:outerShdw blurRad="38100" dist="20320" dir="2700000" algn="tl" rotWithShape="0">
                  <a:srgbClr val="000000">
                    <a:alpha val="70000"/>
                  </a:srgbClr>
                </a:outerShdw>
              </a:effectLst>
              <a:uLnTx/>
              <a:uFillTx/>
              <a:latin typeface="+mj-lt"/>
              <a:ea typeface="+mj-ea"/>
              <a:cs typeface="+mj-cs"/>
            </a:endParaRPr>
          </a:p>
        </p:txBody>
      </p:sp>
      <p:sp>
        <p:nvSpPr>
          <p:cNvPr id="3" name="内容占位符 2"/>
          <p:cNvSpPr>
            <a:spLocks noGrp="1"/>
          </p:cNvSpPr>
          <p:nvPr>
            <p:ph idx="1"/>
          </p:nvPr>
        </p:nvSpPr>
        <p:spPr/>
        <p:txBody>
          <a:bodyPr vert="horz" wrap="square" lIns="91440" tIns="45720" rIns="91440" bIns="45720" numCol="1" rtlCol="0" anchor="t" anchorCtr="0" compatLnSpc="1">
            <a:normAutofit fontScale="85000" lnSpcReduction="10000"/>
          </a:bodyPr>
          <a:lstStyle/>
          <a:p>
            <a:pPr marL="342900" marR="0" lvl="0" indent="-342900" algn="l" defTabSz="914400" rtl="0" eaLnBrk="1" fontAlgn="auto" latinLnBrk="0" hangingPunct="1">
              <a:lnSpc>
                <a:spcPct val="150000"/>
              </a:lnSpc>
              <a:spcBef>
                <a:spcPct val="20000"/>
              </a:spcBef>
              <a:spcAft>
                <a:spcPts val="0"/>
              </a:spcAft>
              <a:buClr>
                <a:schemeClr val="tx2"/>
              </a:buClr>
              <a:buSzPct val="60000"/>
              <a:buFont typeface="Wingdings 2" panose="05020102010507070707"/>
              <a:buChar char=""/>
              <a:defRPr/>
            </a:pPr>
            <a:r>
              <a:rPr kumimoji="0" lang="zh-CN" altLang="zh-CN" sz="3200" b="0" i="0" u="none" strike="noStrike" kern="1200" cap="none" spc="0" normalizeH="0" baseline="0" noProof="0" dirty="0">
                <a:ln>
                  <a:noFill/>
                </a:ln>
                <a:solidFill>
                  <a:schemeClr val="tx1"/>
                </a:solidFill>
                <a:effectLst/>
                <a:uLnTx/>
                <a:uFillTx/>
                <a:latin typeface="+mn-lt"/>
                <a:ea typeface="+mn-ea"/>
                <a:cs typeface="+mn-cs"/>
              </a:rPr>
              <a:t>《计算机原理与应用》是工科本科生的重要专业课程之一。课程系统地介绍了计算机的硬件技术及应用基础。内容主要包括微机系统的组成及工作原理、处理器结构、指令系统、汇编语言程序设计、存储器、</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I/O</a:t>
            </a:r>
            <a:r>
              <a:rPr kumimoji="0" lang="zh-CN" altLang="zh-CN" sz="3200" b="0" i="0" u="none" strike="noStrike" kern="1200" cap="none" spc="0" normalizeH="0" baseline="0" noProof="0" dirty="0">
                <a:ln>
                  <a:noFill/>
                </a:ln>
                <a:solidFill>
                  <a:schemeClr val="tx1"/>
                </a:solidFill>
                <a:effectLst/>
                <a:uLnTx/>
                <a:uFillTx/>
                <a:latin typeface="+mn-lt"/>
                <a:ea typeface="+mn-ea"/>
                <a:cs typeface="+mn-cs"/>
              </a:rPr>
              <a:t>接口、总线、中断与中断控制、定时器</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3200" b="0" i="0" u="none" strike="noStrike" kern="1200" cap="none" spc="0" normalizeH="0" baseline="0" noProof="0" dirty="0">
                <a:ln>
                  <a:noFill/>
                </a:ln>
                <a:solidFill>
                  <a:schemeClr val="tx1"/>
                </a:solidFill>
                <a:effectLst/>
                <a:uLnTx/>
                <a:uFillTx/>
                <a:latin typeface="+mn-lt"/>
                <a:ea typeface="+mn-ea"/>
                <a:cs typeface="+mn-cs"/>
              </a:rPr>
              <a:t>计数器电路；以及并行接口和串行接口、数</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3200" b="0" i="0" u="none" strike="noStrike" kern="1200" cap="none" spc="0" normalizeH="0" baseline="0" noProof="0" dirty="0">
                <a:ln>
                  <a:noFill/>
                </a:ln>
                <a:solidFill>
                  <a:schemeClr val="tx1"/>
                </a:solidFill>
                <a:effectLst/>
                <a:uLnTx/>
                <a:uFillTx/>
                <a:latin typeface="+mn-lt"/>
                <a:ea typeface="+mn-ea"/>
                <a:cs typeface="+mn-cs"/>
              </a:rPr>
              <a:t>模和模</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a:t>
            </a:r>
            <a:r>
              <a:rPr kumimoji="0" lang="zh-CN" altLang="zh-CN" sz="3200" b="0" i="0" u="none" strike="noStrike" kern="1200" cap="none" spc="0" normalizeH="0" baseline="0" noProof="0" dirty="0">
                <a:ln>
                  <a:noFill/>
                </a:ln>
                <a:solidFill>
                  <a:schemeClr val="tx1"/>
                </a:solidFill>
                <a:effectLst/>
                <a:uLnTx/>
                <a:uFillTx/>
                <a:latin typeface="+mn-lt"/>
                <a:ea typeface="+mn-ea"/>
                <a:cs typeface="+mn-cs"/>
              </a:rPr>
              <a:t>数转换等常用的</a:t>
            </a:r>
            <a:r>
              <a:rPr kumimoji="0" lang="en-US" altLang="zh-CN" sz="3200" b="0" i="0" u="none" strike="noStrike" kern="1200" cap="none" spc="0" normalizeH="0" baseline="0" noProof="0" dirty="0">
                <a:ln>
                  <a:noFill/>
                </a:ln>
                <a:solidFill>
                  <a:schemeClr val="tx1"/>
                </a:solidFill>
                <a:effectLst/>
                <a:uLnTx/>
                <a:uFillTx/>
                <a:latin typeface="+mn-lt"/>
                <a:ea typeface="+mn-ea"/>
                <a:cs typeface="+mn-cs"/>
              </a:rPr>
              <a:t>I/O</a:t>
            </a:r>
            <a:r>
              <a:rPr kumimoji="0" lang="zh-CN" altLang="zh-CN" sz="3200" b="0" i="0" u="none" strike="noStrike" kern="1200" cap="none" spc="0" normalizeH="0" baseline="0" noProof="0" dirty="0">
                <a:ln>
                  <a:noFill/>
                </a:ln>
                <a:solidFill>
                  <a:schemeClr val="tx1"/>
                </a:solidFill>
                <a:effectLst/>
                <a:uLnTx/>
                <a:uFillTx/>
                <a:latin typeface="+mn-lt"/>
                <a:ea typeface="+mn-ea"/>
                <a:cs typeface="+mn-cs"/>
              </a:rPr>
              <a:t>接口芯片及其应用。</a:t>
            </a:r>
            <a:endParaRPr kumimoji="0" lang="zh-CN" altLang="zh-CN"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灯片编号占位符 5"/>
          <p:cNvSpPr txBox="1">
            <a:spLocks noGrp="1"/>
          </p:cNvSpPr>
          <p:nvPr/>
        </p:nvSpPr>
        <p:spPr>
          <a:xfrm>
            <a:off x="7239000" y="6400800"/>
            <a:ext cx="1905000" cy="457200"/>
          </a:xfrm>
          <a:prstGeom prst="rect">
            <a:avLst/>
          </a:prstGeom>
          <a:noFill/>
          <a:ln w="9525">
            <a:noFill/>
          </a:ln>
        </p:spPr>
        <p:txBody>
          <a:bodyPr/>
          <a:p>
            <a:pPr algn="r" eaLnBrk="1" hangingPunct="1"/>
            <a:fld id="{9A0DB2DC-4C9A-4742-B13C-FB6460FD3503}" type="slidenum">
              <a:rPr lang="en-US" altLang="zh-CN" sz="1400" baseline="-25000" dirty="0">
                <a:solidFill>
                  <a:srgbClr val="FFFFFF"/>
                </a:solidFill>
                <a:latin typeface="Times New Roman" panose="02020603050405020304" pitchFamily="18" charset="0"/>
              </a:rPr>
            </a:fld>
            <a:endParaRPr lang="en-US" altLang="zh-CN" sz="1400" baseline="-25000" dirty="0">
              <a:solidFill>
                <a:srgbClr val="FFFFFF"/>
              </a:solidFill>
              <a:latin typeface="Times New Roman" panose="02020603050405020304" pitchFamily="18" charset="0"/>
            </a:endParaRPr>
          </a:p>
        </p:txBody>
      </p:sp>
      <p:sp>
        <p:nvSpPr>
          <p:cNvPr id="3076" name="Rectangle 5"/>
          <p:cNvSpPr>
            <a:spLocks noGrp="1" noChangeArrowheads="1"/>
          </p:cNvSpPr>
          <p:nvPr>
            <p:ph type="title"/>
          </p:nvPr>
        </p:nvSpPr>
        <p:spPr>
          <a:xfrm>
            <a:off x="323850" y="115888"/>
            <a:ext cx="7772400" cy="1362074"/>
          </a:xfrm>
          <a:noFill/>
          <a:ln>
            <a:noFill/>
          </a:ln>
          <a:effectLst/>
          <a:sp3d prstMaterial="plastic"/>
        </p:spPr>
        <p:txBody>
          <a:bodyPr vert="horz" rtlCol="0" anchor="t">
            <a:normAutofit/>
            <a:scene3d>
              <a:camera prst="orthographicFront"/>
              <a:lightRig rig="soft" dir="t"/>
            </a:scene3d>
            <a:sp3d prstMaterial="matte">
              <a:bevelT w="12700" h="12700"/>
            </a:sp3d>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3200" b="1" i="0" u="none" strike="noStrike" kern="1200" cap="all" spc="50" normalizeH="0" baseline="0" noProof="0" dirty="0">
                <a:ln w="12700">
                  <a:noFill/>
                  <a:prstDash val="solid"/>
                </a:ln>
                <a:solidFill>
                  <a:srgbClr val="00CC99"/>
                </a:solidFill>
                <a:effectLst>
                  <a:outerShdw blurRad="38100" dist="20320" dir="2700000" algn="tl" rotWithShape="0">
                    <a:srgbClr val="000000">
                      <a:alpha val="70000"/>
                    </a:srgbClr>
                  </a:outerShdw>
                </a:effectLst>
                <a:uLnTx/>
                <a:uFillTx/>
                <a:latin typeface="+mj-lt"/>
                <a:ea typeface="黑体" panose="02010609060101010101" pitchFamily="49" charset="-122"/>
                <a:cs typeface="+mj-cs"/>
              </a:rPr>
              <a:t>考核和要求：</a:t>
            </a:r>
            <a:endParaRPr kumimoji="0" lang="zh-CN" altLang="en-US" sz="3200" b="1" i="0" u="none" strike="noStrike" kern="1200" cap="all" spc="50" normalizeH="0" baseline="0" noProof="0" dirty="0">
              <a:ln w="12700">
                <a:noFill/>
                <a:prstDash val="solid"/>
              </a:ln>
              <a:solidFill>
                <a:srgbClr val="00CC99"/>
              </a:solidFill>
              <a:effectLst>
                <a:outerShdw blurRad="38100" dist="20320" dir="2700000" algn="tl" rotWithShape="0">
                  <a:srgbClr val="000000">
                    <a:alpha val="70000"/>
                  </a:srgbClr>
                </a:outerShdw>
              </a:effectLst>
              <a:uLnTx/>
              <a:uFillTx/>
              <a:latin typeface="+mj-lt"/>
              <a:ea typeface="黑体" panose="02010609060101010101" pitchFamily="49" charset="-122"/>
              <a:cs typeface="+mj-cs"/>
            </a:endParaRPr>
          </a:p>
        </p:txBody>
      </p:sp>
      <p:sp>
        <p:nvSpPr>
          <p:cNvPr id="69636" name="文本占位符 5"/>
          <p:cNvSpPr>
            <a:spLocks noGrp="1"/>
          </p:cNvSpPr>
          <p:nvPr>
            <p:ph type="body" idx="1"/>
          </p:nvPr>
        </p:nvSpPr>
        <p:spPr>
          <a:xfrm>
            <a:off x="179388" y="692150"/>
            <a:ext cx="8353425" cy="1152525"/>
          </a:xfrm>
        </p:spPr>
        <p:txBody>
          <a:bodyPr vert="horz" wrap="square" lIns="91440" tIns="45720" rIns="91440" bIns="45720" anchor="b" anchorCtr="0"/>
          <a:p>
            <a:pPr eaLnBrk="1" hangingPunct="1">
              <a:buSzPct val="60000"/>
            </a:pPr>
            <a:r>
              <a:rPr lang="zh-CN" altLang="en-US" kern="1200" dirty="0">
                <a:latin typeface="+mn-lt"/>
                <a:ea typeface="+mn-ea"/>
                <a:cs typeface="+mn-cs"/>
              </a:rPr>
              <a:t>学时：</a:t>
            </a:r>
            <a:r>
              <a:rPr lang="en-US" altLang="zh-CN" kern="1200" dirty="0">
                <a:latin typeface="+mn-lt"/>
                <a:ea typeface="+mn-ea"/>
                <a:cs typeface="+mn-cs"/>
              </a:rPr>
              <a:t>56</a:t>
            </a:r>
            <a:r>
              <a:rPr lang="zh-CN" altLang="zh-CN" kern="1200" dirty="0">
                <a:latin typeface="+mn-lt"/>
                <a:ea typeface="+mn-ea"/>
                <a:cs typeface="+mn-cs"/>
              </a:rPr>
              <a:t>学时（课堂讲授</a:t>
            </a:r>
            <a:r>
              <a:rPr lang="en-US" altLang="zh-CN" kern="1200" dirty="0">
                <a:latin typeface="+mn-lt"/>
                <a:ea typeface="+mn-ea"/>
                <a:cs typeface="+mn-cs"/>
              </a:rPr>
              <a:t>24</a:t>
            </a:r>
            <a:r>
              <a:rPr lang="zh-CN" altLang="zh-CN" kern="1200" dirty="0">
                <a:latin typeface="+mn-lt"/>
                <a:ea typeface="+mn-ea"/>
                <a:cs typeface="+mn-cs"/>
              </a:rPr>
              <a:t>学时，</a:t>
            </a:r>
            <a:r>
              <a:rPr lang="zh-CN" altLang="en-US" kern="1200" dirty="0">
                <a:latin typeface="+mn-lt"/>
                <a:ea typeface="+mn-ea"/>
                <a:cs typeface="+mn-cs"/>
              </a:rPr>
              <a:t>线上学习</a:t>
            </a:r>
            <a:r>
              <a:rPr lang="en-US" altLang="en-US" kern="1200" dirty="0">
                <a:latin typeface="+mn-lt"/>
                <a:ea typeface="+mn-ea"/>
                <a:cs typeface="+mn-cs"/>
              </a:rPr>
              <a:t>16</a:t>
            </a:r>
            <a:r>
              <a:rPr lang="zh-CN" altLang="en-US" kern="1200" dirty="0">
                <a:latin typeface="+mn-lt"/>
                <a:ea typeface="+mn-ea"/>
                <a:cs typeface="+mn-cs"/>
              </a:rPr>
              <a:t>学时，</a:t>
            </a:r>
            <a:r>
              <a:rPr lang="zh-CN" altLang="zh-CN" kern="1200" dirty="0">
                <a:latin typeface="+mn-lt"/>
                <a:ea typeface="+mn-ea"/>
                <a:cs typeface="+mn-cs"/>
              </a:rPr>
              <a:t>上机实验</a:t>
            </a:r>
            <a:r>
              <a:rPr lang="en-US" altLang="zh-CN" kern="1200" dirty="0">
                <a:latin typeface="+mn-lt"/>
                <a:ea typeface="+mn-ea"/>
                <a:cs typeface="+mn-cs"/>
              </a:rPr>
              <a:t>16</a:t>
            </a:r>
            <a:r>
              <a:rPr lang="zh-CN" altLang="zh-CN" kern="1200" dirty="0">
                <a:latin typeface="+mn-lt"/>
                <a:ea typeface="+mn-ea"/>
                <a:cs typeface="+mn-cs"/>
              </a:rPr>
              <a:t>学时）</a:t>
            </a:r>
            <a:endParaRPr lang="zh-CN" altLang="zh-CN" kern="1200" dirty="0">
              <a:latin typeface="+mn-lt"/>
              <a:ea typeface="+mn-ea"/>
              <a:cs typeface="+mn-cs"/>
            </a:endParaRPr>
          </a:p>
        </p:txBody>
      </p:sp>
      <p:sp>
        <p:nvSpPr>
          <p:cNvPr id="888839" name="Rectangle 7"/>
          <p:cNvSpPr/>
          <p:nvPr/>
        </p:nvSpPr>
        <p:spPr>
          <a:xfrm>
            <a:off x="250825" y="1700213"/>
            <a:ext cx="8642350" cy="5157787"/>
          </a:xfrm>
          <a:prstGeom prst="rect">
            <a:avLst/>
          </a:prstGeom>
          <a:noFill/>
          <a:ln w="9525">
            <a:noFill/>
          </a:ln>
        </p:spPr>
        <p:txBody>
          <a:bodyPr/>
          <a:p>
            <a:pPr marL="342900" indent="-342900" eaLnBrk="1" hangingPunct="1">
              <a:lnSpc>
                <a:spcPct val="120000"/>
              </a:lnSpc>
              <a:spcBef>
                <a:spcPct val="20000"/>
              </a:spcBef>
            </a:pPr>
            <a:r>
              <a:rPr lang="zh-CN" altLang="en-US" sz="3600" b="1" baseline="-25000" dirty="0">
                <a:solidFill>
                  <a:srgbClr val="FF0000"/>
                </a:solidFill>
                <a:latin typeface="宋体" panose="02010600030101010101" pitchFamily="2" charset="-122"/>
              </a:rPr>
              <a:t>平时成绩：</a:t>
            </a:r>
            <a:r>
              <a:rPr lang="en-US" altLang="zh-CN" sz="3600" b="1" baseline="-25000" dirty="0">
                <a:solidFill>
                  <a:srgbClr val="FF0000"/>
                </a:solidFill>
                <a:latin typeface="宋体" panose="02010600030101010101" pitchFamily="2" charset="-122"/>
              </a:rPr>
              <a:t>30%</a:t>
            </a:r>
            <a:r>
              <a:rPr lang="zh-CN" altLang="en-US" sz="3600" b="1" baseline="-25000" dirty="0">
                <a:solidFill>
                  <a:srgbClr val="FF0000"/>
                </a:solidFill>
                <a:latin typeface="宋体" panose="02010600030101010101" pitchFamily="2" charset="-122"/>
              </a:rPr>
              <a:t>（作业、考勤、试验）</a:t>
            </a:r>
            <a:r>
              <a:rPr lang="en-US" altLang="zh-CN" sz="3600" b="1" baseline="-25000" dirty="0">
                <a:solidFill>
                  <a:srgbClr val="FFFFFF"/>
                </a:solidFill>
                <a:latin typeface="宋体" panose="02010600030101010101" pitchFamily="2" charset="-122"/>
              </a:rPr>
              <a:t> </a:t>
            </a:r>
            <a:endParaRPr lang="zh-CN" altLang="en-US" sz="3600" b="1" baseline="-25000" dirty="0">
              <a:solidFill>
                <a:srgbClr val="FFFFFF"/>
              </a:solidFill>
              <a:latin typeface="宋体" panose="02010600030101010101" pitchFamily="2" charset="-122"/>
            </a:endParaRPr>
          </a:p>
          <a:p>
            <a:pPr marL="342900" indent="-342900" eaLnBrk="1" hangingPunct="1">
              <a:lnSpc>
                <a:spcPct val="120000"/>
              </a:lnSpc>
              <a:spcBef>
                <a:spcPct val="20000"/>
              </a:spcBef>
            </a:pPr>
            <a:r>
              <a:rPr lang="zh-CN" altLang="en-US" sz="3600" b="1" baseline="-25000" dirty="0">
                <a:solidFill>
                  <a:srgbClr val="FF0000"/>
                </a:solidFill>
                <a:latin typeface="宋体" panose="02010600030101010101" pitchFamily="2" charset="-122"/>
              </a:rPr>
              <a:t>期末考试（闭卷）：</a:t>
            </a:r>
            <a:r>
              <a:rPr lang="zh-CN" altLang="en-US" sz="3600" b="1" baseline="-25000" dirty="0">
                <a:solidFill>
                  <a:srgbClr val="FF0000"/>
                </a:solidFill>
                <a:latin typeface="宋体" panose="02010600030101010101" pitchFamily="2" charset="-122"/>
              </a:rPr>
              <a:t> </a:t>
            </a:r>
            <a:r>
              <a:rPr lang="en-US" altLang="zh-CN" sz="3600" b="1" baseline="-25000" dirty="0">
                <a:solidFill>
                  <a:srgbClr val="FF0000"/>
                </a:solidFill>
                <a:latin typeface="宋体" panose="02010600030101010101" pitchFamily="2" charset="-122"/>
              </a:rPr>
              <a:t>60%</a:t>
            </a:r>
            <a:endParaRPr lang="en-US" altLang="zh-CN" sz="3600" b="1" baseline="-25000" dirty="0">
              <a:solidFill>
                <a:srgbClr val="FFFFFF"/>
              </a:solidFill>
              <a:latin typeface="宋体" panose="02010600030101010101" pitchFamily="2" charset="-122"/>
            </a:endParaRPr>
          </a:p>
          <a:p>
            <a:pPr marL="342900" indent="-342900" eaLnBrk="1" hangingPunct="1">
              <a:lnSpc>
                <a:spcPct val="120000"/>
              </a:lnSpc>
              <a:spcBef>
                <a:spcPct val="20000"/>
              </a:spcBef>
            </a:pPr>
            <a:r>
              <a:rPr lang="zh-CN" altLang="en-US" sz="3600" b="1" baseline="-25000" dirty="0">
                <a:solidFill>
                  <a:srgbClr val="FF0000"/>
                </a:solidFill>
                <a:latin typeface="宋体" panose="02010600030101010101" pitchFamily="2" charset="-122"/>
              </a:rPr>
              <a:t>线上成绩  </a:t>
            </a:r>
            <a:r>
              <a:rPr lang="en-US" altLang="zh-CN" sz="3600" b="1" baseline="-25000" dirty="0">
                <a:solidFill>
                  <a:srgbClr val="FF0000"/>
                </a:solidFill>
                <a:latin typeface="宋体" panose="02010600030101010101" pitchFamily="2" charset="-122"/>
              </a:rPr>
              <a:t>10%</a:t>
            </a:r>
            <a:endParaRPr lang="en-US" altLang="zh-CN" sz="3600" b="1" baseline="-25000" dirty="0">
              <a:solidFill>
                <a:srgbClr val="FFFFFF"/>
              </a:solidFill>
              <a:latin typeface="宋体" panose="02010600030101010101" pitchFamily="2" charset="-122"/>
            </a:endParaRPr>
          </a:p>
          <a:p>
            <a:pPr marL="342900" indent="-342900" eaLnBrk="1" hangingPunct="1">
              <a:lnSpc>
                <a:spcPct val="120000"/>
              </a:lnSpc>
              <a:spcBef>
                <a:spcPct val="20000"/>
              </a:spcBef>
            </a:pPr>
            <a:r>
              <a:rPr lang="zh-CN" altLang="en-US" sz="3600" b="1" baseline="-25000" dirty="0">
                <a:solidFill>
                  <a:srgbClr val="FF0000"/>
                </a:solidFill>
                <a:latin typeface="宋体" panose="02010600030101010101" pitchFamily="2" charset="-122"/>
              </a:rPr>
              <a:t>答疑：</a:t>
            </a:r>
            <a:r>
              <a:rPr lang="zh-CN" altLang="en-US" sz="3600" b="1" baseline="-25000" dirty="0">
                <a:solidFill>
                  <a:srgbClr val="FFFFFF"/>
                </a:solidFill>
                <a:latin typeface="宋体" panose="02010600030101010101" pitchFamily="2" charset="-122"/>
              </a:rPr>
              <a:t>主楼</a:t>
            </a:r>
            <a:r>
              <a:rPr lang="en-US" altLang="zh-CN" sz="3600" b="1" baseline="-25000" dirty="0">
                <a:solidFill>
                  <a:srgbClr val="FFFFFF"/>
                </a:solidFill>
                <a:latin typeface="宋体" panose="02010600030101010101" pitchFamily="2" charset="-122"/>
              </a:rPr>
              <a:t>110</a:t>
            </a:r>
            <a:r>
              <a:rPr lang="zh-CN" altLang="en-US" sz="3600" b="1" baseline="-25000" dirty="0">
                <a:solidFill>
                  <a:srgbClr val="FFFFFF"/>
                </a:solidFill>
                <a:latin typeface="宋体" panose="02010600030101010101" pitchFamily="2" charset="-122"/>
              </a:rPr>
              <a:t>，周</a:t>
            </a:r>
            <a:r>
              <a:rPr lang="zh-CN" altLang="en-US" sz="3600" b="1" baseline="-25000" dirty="0">
                <a:solidFill>
                  <a:srgbClr val="FFFFFF"/>
                </a:solidFill>
                <a:latin typeface="宋体" panose="02010600030101010101" pitchFamily="2" charset="-122"/>
              </a:rPr>
              <a:t>三 </a:t>
            </a:r>
            <a:r>
              <a:rPr lang="en-US" altLang="zh-CN" sz="3600" b="1" baseline="-25000" dirty="0">
                <a:solidFill>
                  <a:srgbClr val="FFFFFF"/>
                </a:solidFill>
                <a:latin typeface="宋体" panose="02010600030101010101" pitchFamily="2" charset="-122"/>
              </a:rPr>
              <a:t>15:30----17:00</a:t>
            </a:r>
            <a:r>
              <a:rPr lang="zh-CN" altLang="en-US" sz="3600" b="1" baseline="-25000" dirty="0">
                <a:solidFill>
                  <a:srgbClr val="FFFFFF"/>
                </a:solidFill>
                <a:latin typeface="宋体" panose="02010600030101010101" pitchFamily="2" charset="-122"/>
              </a:rPr>
              <a:t> </a:t>
            </a:r>
            <a:endParaRPr lang="en-US" altLang="zh-CN" sz="3600" b="1" baseline="-25000" dirty="0">
              <a:solidFill>
                <a:srgbClr val="FFFFFF"/>
              </a:solidFill>
              <a:latin typeface="宋体" panose="02010600030101010101" pitchFamily="2" charset="-122"/>
            </a:endParaRPr>
          </a:p>
          <a:p>
            <a:pPr marL="342900" indent="-342900" eaLnBrk="1" hangingPunct="1">
              <a:lnSpc>
                <a:spcPct val="120000"/>
              </a:lnSpc>
              <a:spcBef>
                <a:spcPct val="20000"/>
              </a:spcBef>
            </a:pPr>
            <a:r>
              <a:rPr lang="zh-CN" altLang="en-US" sz="3600" b="1" baseline="-25000" dirty="0">
                <a:solidFill>
                  <a:srgbClr val="FF0000"/>
                </a:solidFill>
                <a:latin typeface="宋体" panose="02010600030101010101" pitchFamily="2" charset="-122"/>
              </a:rPr>
              <a:t>教材 </a:t>
            </a:r>
            <a:r>
              <a:rPr lang="zh-CN" altLang="en-US" sz="3600" b="1" baseline="-25000" dirty="0">
                <a:solidFill>
                  <a:srgbClr val="FFFFFF"/>
                </a:solidFill>
                <a:latin typeface="宋体" panose="02010600030101010101" pitchFamily="2" charset="-122"/>
              </a:rPr>
              <a:t> </a:t>
            </a:r>
            <a:endParaRPr lang="en-US" altLang="zh-CN" sz="3600" b="1" baseline="-25000" dirty="0">
              <a:solidFill>
                <a:srgbClr val="FFFFFF"/>
              </a:solidFill>
              <a:latin typeface="宋体" panose="02010600030101010101" pitchFamily="2" charset="-122"/>
            </a:endParaRPr>
          </a:p>
          <a:p>
            <a:pPr marL="342900" indent="-342900" eaLnBrk="1" hangingPunct="1">
              <a:lnSpc>
                <a:spcPct val="120000"/>
              </a:lnSpc>
              <a:spcBef>
                <a:spcPct val="20000"/>
              </a:spcBef>
            </a:pPr>
            <a:r>
              <a:rPr lang="zh-CN" altLang="en-US" sz="3200" b="1" baseline="-25000" dirty="0">
                <a:solidFill>
                  <a:srgbClr val="FFFFFF"/>
                </a:solidFill>
                <a:latin typeface="宋体" panose="02010600030101010101" pitchFamily="2" charset="-122"/>
              </a:rPr>
              <a:t> </a:t>
            </a:r>
            <a:endParaRPr lang="zh-CN" altLang="en-US" sz="3200" b="1" baseline="-25000" dirty="0">
              <a:solidFill>
                <a:srgbClr val="FFFFFF"/>
              </a:solidFill>
              <a:latin typeface="宋体" panose="02010600030101010101" pitchFamily="2" charset="-122"/>
            </a:endParaRPr>
          </a:p>
        </p:txBody>
      </p:sp>
      <p:sp>
        <p:nvSpPr>
          <p:cNvPr id="51206" name="Rectangle 4"/>
          <p:cNvSpPr/>
          <p:nvPr/>
        </p:nvSpPr>
        <p:spPr>
          <a:xfrm>
            <a:off x="20638" y="5358289"/>
            <a:ext cx="7623175" cy="810260"/>
          </a:xfrm>
          <a:prstGeom prst="rect">
            <a:avLst/>
          </a:prstGeom>
          <a:noFill/>
          <a:ln w="9525">
            <a:noFill/>
          </a:ln>
        </p:spPr>
        <p:txBody>
          <a:bodyPr wrap="none" anchor="ctr" anchorCtr="0">
            <a:spAutoFit/>
          </a:bodyPr>
          <a:p>
            <a:pPr indent="266700"/>
            <a:r>
              <a:rPr lang="en-US" altLang="zh-CN" sz="1000" baseline="-25000" dirty="0">
                <a:solidFill>
                  <a:srgbClr val="FFFFFF"/>
                </a:solidFill>
                <a:latin typeface="宋体" panose="02010600030101010101" pitchFamily="2" charset="-122"/>
              </a:rPr>
              <a:t> </a:t>
            </a:r>
            <a:r>
              <a:rPr lang="zh-CN" altLang="en-US" sz="3600" baseline="-25000" dirty="0">
                <a:solidFill>
                  <a:srgbClr val="FFFFFF"/>
                </a:solidFill>
                <a:latin typeface="Times New Roman" panose="02020603050405020304" pitchFamily="18" charset="0"/>
              </a:rPr>
              <a:t>李云、曹永忠等．微型计算机原理及应用（第</a:t>
            </a:r>
            <a:r>
              <a:rPr lang="zh-CN" altLang="en-US" sz="3600" baseline="-25000" dirty="0">
                <a:solidFill>
                  <a:srgbClr val="FFFFFF"/>
                </a:solidFill>
                <a:latin typeface="Times New Roman" panose="02020603050405020304" pitchFamily="18" charset="0"/>
              </a:rPr>
              <a:t>三版）．</a:t>
            </a:r>
            <a:endParaRPr lang="en-US" altLang="zh-CN" sz="3600" baseline="-25000" dirty="0">
              <a:solidFill>
                <a:srgbClr val="FFFFFF"/>
              </a:solidFill>
              <a:latin typeface="Times New Roman" panose="02020603050405020304" pitchFamily="18" charset="0"/>
            </a:endParaRPr>
          </a:p>
          <a:p>
            <a:pPr indent="266700"/>
            <a:r>
              <a:rPr lang="zh-CN" altLang="en-US" sz="3600" baseline="-25000" dirty="0">
                <a:solidFill>
                  <a:srgbClr val="FFFFFF"/>
                </a:solidFill>
                <a:latin typeface="Times New Roman" panose="02020603050405020304" pitchFamily="18" charset="0"/>
              </a:rPr>
              <a:t>北京：清华大学出版社</a:t>
            </a:r>
            <a:r>
              <a:rPr lang="en-US" altLang="zh-CN" sz="3600" baseline="-25000" dirty="0">
                <a:solidFill>
                  <a:srgbClr val="FFFFFF"/>
                </a:solidFill>
                <a:latin typeface="Times New Roman" panose="02020603050405020304" pitchFamily="18" charset="0"/>
              </a:rPr>
              <a:t>,  2023.09</a:t>
            </a:r>
            <a:endParaRPr lang="en-US" altLang="zh-CN" sz="3600" baseline="-25000" dirty="0">
              <a:solidFill>
                <a:srgbClr val="FFFFFF"/>
              </a:solidFill>
              <a:latin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88839">
                                            <p:txEl>
                                              <p:charRg st="0" end="8"/>
                                            </p:txEl>
                                          </p:spTgt>
                                        </p:tgtEl>
                                        <p:attrNameLst>
                                          <p:attrName>style.visibility</p:attrName>
                                        </p:attrNameLst>
                                      </p:cBhvr>
                                      <p:to>
                                        <p:strVal val="visible"/>
                                      </p:to>
                                    </p:set>
                                    <p:animEffect transition="in" filter="slide(fromBottom)">
                                      <p:cBhvr>
                                        <p:cTn id="7" dur="500"/>
                                        <p:tgtEl>
                                          <p:spTgt spid="888839">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888839">
                                            <p:txEl>
                                              <p:charRg st="25" end="39"/>
                                            </p:txEl>
                                          </p:spTgt>
                                        </p:tgtEl>
                                        <p:attrNameLst>
                                          <p:attrName>style.visibility</p:attrName>
                                        </p:attrNameLst>
                                      </p:cBhvr>
                                      <p:to>
                                        <p:strVal val="visible"/>
                                      </p:to>
                                    </p:set>
                                    <p:animEffect transition="in" filter="slide(fromBottom)">
                                      <p:cBhvr>
                                        <p:cTn id="12" dur="500"/>
                                        <p:tgtEl>
                                          <p:spTgt spid="888839">
                                            <p:txEl>
                                              <p:charRg st="25" end="3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888839">
                                            <p:txEl>
                                              <p:charRg st="39" end="49"/>
                                            </p:txEl>
                                          </p:spTgt>
                                        </p:tgtEl>
                                        <p:attrNameLst>
                                          <p:attrName>style.visibility</p:attrName>
                                        </p:attrNameLst>
                                      </p:cBhvr>
                                      <p:to>
                                        <p:strVal val="visible"/>
                                      </p:to>
                                    </p:set>
                                    <p:animEffect transition="in" filter="slide(fromBottom)">
                                      <p:cBhvr>
                                        <p:cTn id="17" dur="500"/>
                                        <p:tgtEl>
                                          <p:spTgt spid="888839">
                                            <p:txEl>
                                              <p:charRg st="39" end="4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888839">
                                            <p:txEl>
                                              <p:charRg st="49" end="77"/>
                                            </p:txEl>
                                          </p:spTgt>
                                        </p:tgtEl>
                                        <p:attrNameLst>
                                          <p:attrName>style.visibility</p:attrName>
                                        </p:attrNameLst>
                                      </p:cBhvr>
                                      <p:to>
                                        <p:strVal val="visible"/>
                                      </p:to>
                                    </p:set>
                                    <p:animEffect transition="in" filter="slide(fromBottom)">
                                      <p:cBhvr>
                                        <p:cTn id="22" dur="500"/>
                                        <p:tgtEl>
                                          <p:spTgt spid="888839">
                                            <p:txEl>
                                              <p:charRg st="49" end="7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888839">
                                            <p:txEl>
                                              <p:charRg st="77" end="82"/>
                                            </p:txEl>
                                          </p:spTgt>
                                        </p:tgtEl>
                                        <p:attrNameLst>
                                          <p:attrName>style.visibility</p:attrName>
                                        </p:attrNameLst>
                                      </p:cBhvr>
                                      <p:to>
                                        <p:strVal val="visible"/>
                                      </p:to>
                                    </p:set>
                                    <p:animEffect transition="in" filter="slide(fromBottom)">
                                      <p:cBhvr>
                                        <p:cTn id="27" dur="500"/>
                                        <p:tgtEl>
                                          <p:spTgt spid="888839">
                                            <p:txEl>
                                              <p:charRg st="77" end="8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888839">
                                            <p:txEl>
                                              <p:charRg st="82" end="84"/>
                                            </p:txEl>
                                          </p:spTgt>
                                        </p:tgtEl>
                                        <p:attrNameLst>
                                          <p:attrName>style.visibility</p:attrName>
                                        </p:attrNameLst>
                                      </p:cBhvr>
                                      <p:to>
                                        <p:strVal val="visible"/>
                                      </p:to>
                                    </p:set>
                                    <p:animEffect transition="in" filter="slide(fromBottom)">
                                      <p:cBhvr>
                                        <p:cTn id="32" dur="500"/>
                                        <p:tgtEl>
                                          <p:spTgt spid="888839">
                                            <p:txEl>
                                              <p:charRg st="82" end="8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51206"/>
                                        </p:tgtEl>
                                        <p:attrNameLst>
                                          <p:attrName>style.visibility</p:attrName>
                                        </p:attrNameLst>
                                      </p:cBhvr>
                                      <p:to>
                                        <p:strVal val="visible"/>
                                      </p:to>
                                    </p:set>
                                    <p:animEffect transition="in" filter="blinds(horizontal)">
                                      <p:cBhvr>
                                        <p:cTn id="37" dur="500"/>
                                        <p:tgtEl>
                                          <p:spTgt spid="51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文本占位符 2"/>
          <p:cNvSpPr>
            <a:spLocks noGrp="1"/>
          </p:cNvSpPr>
          <p:nvPr>
            <p:ph type="body" idx="1"/>
          </p:nvPr>
        </p:nvSpPr>
        <p:spPr>
          <a:xfrm>
            <a:off x="539750" y="260350"/>
            <a:ext cx="7772400" cy="1500188"/>
          </a:xfrm>
        </p:spPr>
        <p:txBody>
          <a:bodyPr vert="horz" wrap="square" lIns="91440" tIns="45720" rIns="91440" bIns="45720" anchor="b" anchorCtr="0"/>
          <a:p>
            <a:pPr>
              <a:buSzPct val="60000"/>
            </a:pPr>
            <a:r>
              <a:rPr lang="zh-CN" altLang="en-US" kern="1200" dirty="0">
                <a:latin typeface="+mn-lt"/>
                <a:ea typeface="+mn-ea"/>
                <a:cs typeface="+mn-cs"/>
              </a:rPr>
              <a:t>线上资源：</a:t>
            </a:r>
            <a:endParaRPr lang="zh-CN" altLang="en-US" kern="1200" dirty="0">
              <a:latin typeface="+mn-lt"/>
              <a:ea typeface="+mn-ea"/>
              <a:cs typeface="+mn-cs"/>
            </a:endParaRPr>
          </a:p>
          <a:p>
            <a:pPr>
              <a:buSzPct val="60000"/>
            </a:pPr>
            <a:r>
              <a:rPr kern="1200" dirty="0">
                <a:latin typeface="+mn-lt"/>
                <a:ea typeface="+mn-ea"/>
                <a:cs typeface="+mn-cs"/>
              </a:rPr>
              <a:t>畅课平台（</a:t>
            </a:r>
            <a:r>
              <a:rPr kern="1200" dirty="0">
                <a:latin typeface="+mn-lt"/>
                <a:ea typeface="+mn-ea"/>
                <a:cs typeface="+mn-cs"/>
              </a:rPr>
              <a:t>白杨课堂）</a:t>
            </a:r>
            <a:endParaRPr kern="1200" dirty="0">
              <a:latin typeface="+mn-lt"/>
              <a:ea typeface="+mn-ea"/>
              <a:cs typeface="+mn-cs"/>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第</a:t>
            </a:r>
            <a:r>
              <a:rPr kumimoji="0" lang="zh-CN" alt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1</a:t>
            </a:r>
            <a:r>
              <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章  微型计算机基础</a:t>
            </a:r>
            <a:endPar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71683" name="Rectangle 3"/>
          <p:cNvSpPr>
            <a:spLocks noGrp="1"/>
          </p:cNvSpPr>
          <p:nvPr>
            <p:ph idx="1"/>
          </p:nvPr>
        </p:nvSpPr>
        <p:spPr/>
        <p:txBody>
          <a:bodyPr vert="horz" wrap="square" lIns="91440" tIns="45720" rIns="91440" bIns="45720" anchor="t" anchorCtr="0"/>
          <a:p>
            <a:pPr eaLnBrk="1" hangingPunct="1">
              <a:buNone/>
            </a:pPr>
            <a:r>
              <a:rPr lang="zh-CN" altLang="en-US" sz="3600" dirty="0"/>
              <a:t>本章内容：</a:t>
            </a:r>
            <a:endParaRPr lang="zh-CN" altLang="en-US" sz="3600" dirty="0"/>
          </a:p>
          <a:p>
            <a:pPr lvl="1" eaLnBrk="1" hangingPunct="1">
              <a:buFont typeface="Wingdings" panose="05000000000000000000" pitchFamily="2" charset="2"/>
              <a:buChar char="n"/>
            </a:pPr>
            <a:r>
              <a:rPr lang="zh-CN" altLang="en-US" sz="3600" dirty="0"/>
              <a:t>微型计算机发展</a:t>
            </a:r>
            <a:endParaRPr lang="zh-CN" altLang="en-US" sz="3600" dirty="0"/>
          </a:p>
          <a:p>
            <a:pPr lvl="1" eaLnBrk="1" hangingPunct="1">
              <a:buFont typeface="Wingdings" panose="05000000000000000000" pitchFamily="2" charset="2"/>
              <a:buChar char="n"/>
            </a:pPr>
            <a:r>
              <a:rPr lang="zh-CN" altLang="en-US" sz="3600" dirty="0"/>
              <a:t>微型计算机系统的组成</a:t>
            </a:r>
            <a:endParaRPr lang="zh-CN" altLang="en-US" sz="3600" dirty="0"/>
          </a:p>
          <a:p>
            <a:pPr lvl="1" eaLnBrk="1" hangingPunct="1">
              <a:buFont typeface="Wingdings" panose="05000000000000000000" pitchFamily="2" charset="2"/>
              <a:buChar char="n"/>
            </a:pPr>
            <a:r>
              <a:rPr lang="zh-CN" altLang="en-US" sz="3600" dirty="0"/>
              <a:t>微型计算机中常用数制和编码</a:t>
            </a:r>
            <a:endParaRPr lang="zh-CN" altLang="en-US" sz="3600" dirty="0"/>
          </a:p>
          <a:p>
            <a:pPr lvl="1" eaLnBrk="1" hangingPunct="1">
              <a:buFont typeface="Wingdings" panose="05000000000000000000" pitchFamily="2" charset="2"/>
              <a:buChar char="n"/>
            </a:pPr>
            <a:r>
              <a:rPr lang="zh-CN" altLang="en-US" sz="3600" dirty="0"/>
              <a:t>微型计算机系统的性能指标</a:t>
            </a:r>
            <a:endParaRPr lang="zh-CN" altLang="en-US" sz="3600" dirty="0"/>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1.1 </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微型计算机发展</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8195" name="Rectangle 3"/>
          <p:cNvSpPr>
            <a:spLocks noGrp="1"/>
          </p:cNvSpPr>
          <p:nvPr>
            <p:ph idx="1"/>
          </p:nvPr>
        </p:nvSpPr>
        <p:spPr>
          <a:xfrm>
            <a:off x="539750" y="1773238"/>
            <a:ext cx="8208963" cy="2663825"/>
          </a:xfrm>
        </p:spPr>
        <p:txBody>
          <a:bodyPr vert="horz" wrap="square" lIns="91440" tIns="45720" rIns="91440" bIns="45720" anchor="t" anchorCtr="0"/>
          <a:p>
            <a:pPr eaLnBrk="1" hangingPunct="1"/>
            <a:r>
              <a:rPr lang="en-US" altLang="zh-CN" dirty="0"/>
              <a:t>1946</a:t>
            </a:r>
            <a:r>
              <a:rPr lang="zh-CN" altLang="en-US" dirty="0"/>
              <a:t>年</a:t>
            </a:r>
            <a:r>
              <a:rPr lang="en-US" altLang="zh-CN" dirty="0"/>
              <a:t>2</a:t>
            </a:r>
            <a:r>
              <a:rPr lang="zh-CN" altLang="en-US" dirty="0"/>
              <a:t>月，世界上第一台数字式电子计算机</a:t>
            </a:r>
            <a:r>
              <a:rPr lang="en-US" altLang="zh-CN" b="1" dirty="0">
                <a:solidFill>
                  <a:schemeClr val="folHlink"/>
                </a:solidFill>
              </a:rPr>
              <a:t>ENIAC</a:t>
            </a:r>
            <a:r>
              <a:rPr lang="en-US" altLang="zh-CN" dirty="0"/>
              <a:t>(Electronic Numerical Integrator And Calculator)</a:t>
            </a:r>
            <a:r>
              <a:rPr lang="zh-CN" altLang="en-US" dirty="0"/>
              <a:t>问世。</a:t>
            </a:r>
            <a:endParaRPr lang="en-US" altLang="zh-CN" dirty="0"/>
          </a:p>
          <a:p>
            <a:r>
              <a:rPr lang="zh-CN" altLang="en-US" sz="2000" dirty="0"/>
              <a:t>诞生于美国</a:t>
            </a:r>
            <a:r>
              <a:rPr lang="zh-CN" altLang="en-US" sz="2000" dirty="0">
                <a:hlinkClick r:id="rId1"/>
              </a:rPr>
              <a:t>宾夕法尼亚大学</a:t>
            </a:r>
            <a:r>
              <a:rPr lang="zh-CN" altLang="en-US" sz="2000" dirty="0"/>
              <a:t>，</a:t>
            </a:r>
            <a:r>
              <a:rPr lang="en-US" altLang="zh-CN" sz="2000" dirty="0"/>
              <a:t>ENIAC</a:t>
            </a:r>
            <a:r>
              <a:rPr lang="zh-CN" altLang="en-US" sz="2000" dirty="0"/>
              <a:t>长</a:t>
            </a:r>
            <a:r>
              <a:rPr lang="en-US" altLang="zh-CN" sz="2000" dirty="0"/>
              <a:t>30.48</a:t>
            </a:r>
            <a:r>
              <a:rPr lang="zh-CN" altLang="en-US" sz="2000" dirty="0"/>
              <a:t>米，宽</a:t>
            </a:r>
            <a:r>
              <a:rPr lang="en-US" altLang="zh-CN" sz="2000" dirty="0"/>
              <a:t>6</a:t>
            </a:r>
            <a:r>
              <a:rPr lang="zh-CN" altLang="en-US" sz="2000" dirty="0"/>
              <a:t>米，高</a:t>
            </a:r>
            <a:r>
              <a:rPr lang="en-US" altLang="zh-CN" sz="2000" dirty="0"/>
              <a:t>2.4</a:t>
            </a:r>
            <a:r>
              <a:rPr lang="zh-CN" altLang="en-US" sz="2000" dirty="0"/>
              <a:t>米，占地面积约</a:t>
            </a:r>
            <a:r>
              <a:rPr lang="en-US" altLang="zh-CN" sz="2000" dirty="0"/>
              <a:t>170</a:t>
            </a:r>
            <a:r>
              <a:rPr lang="zh-CN" altLang="en-US" sz="2000" dirty="0"/>
              <a:t>平方米，重达</a:t>
            </a:r>
            <a:r>
              <a:rPr lang="en-US" altLang="zh-CN" sz="2000" dirty="0"/>
              <a:t>30</a:t>
            </a:r>
            <a:r>
              <a:rPr lang="zh-CN" altLang="en-US" sz="2000" dirty="0">
                <a:hlinkClick r:id="rId2"/>
              </a:rPr>
              <a:t>英吨</a:t>
            </a:r>
            <a:r>
              <a:rPr lang="zh-CN" altLang="en-US" sz="2000" dirty="0"/>
              <a:t>，耗电量</a:t>
            </a:r>
            <a:r>
              <a:rPr lang="en-US" altLang="zh-CN" sz="2000" dirty="0"/>
              <a:t>150</a:t>
            </a:r>
            <a:r>
              <a:rPr lang="zh-CN" altLang="en-US" sz="2000" dirty="0"/>
              <a:t>千瓦，造价</a:t>
            </a:r>
            <a:r>
              <a:rPr lang="en-US" altLang="zh-CN" sz="2000" dirty="0"/>
              <a:t>48</a:t>
            </a:r>
            <a:r>
              <a:rPr lang="zh-CN" altLang="en-US" sz="2000" dirty="0"/>
              <a:t>万美元。它包含了</a:t>
            </a:r>
            <a:r>
              <a:rPr lang="en-US" altLang="zh-CN" sz="2000" dirty="0"/>
              <a:t>17,468</a:t>
            </a:r>
            <a:r>
              <a:rPr lang="zh-CN" altLang="en-US" sz="2000" dirty="0"/>
              <a:t>根</a:t>
            </a:r>
            <a:r>
              <a:rPr lang="zh-CN" altLang="en-US" sz="2000" dirty="0">
                <a:hlinkClick r:id="rId3"/>
              </a:rPr>
              <a:t>真空管</a:t>
            </a:r>
            <a:r>
              <a:rPr lang="zh-CN" altLang="en-US" sz="2000" dirty="0"/>
              <a:t>（电子管）</a:t>
            </a:r>
            <a:endParaRPr lang="zh-CN" altLang="en-US" sz="2000" dirty="0"/>
          </a:p>
          <a:p>
            <a:pPr eaLnBrk="1" hangingPunct="1"/>
            <a:endParaRPr lang="zh-CN" altLang="en-US" dirty="0"/>
          </a:p>
          <a:p>
            <a:pPr eaLnBrk="1" hangingPunct="1"/>
            <a:r>
              <a:rPr lang="zh-CN" altLang="en-US" dirty="0">
                <a:ea typeface="宋体" panose="02010600030101010101" pitchFamily="2" charset="-122"/>
              </a:rPr>
              <a:t>计算机的发展经历了：</a:t>
            </a:r>
            <a:r>
              <a:rPr lang="zh-CN" altLang="en-US" dirty="0"/>
              <a:t>电子管计算机、晶体管计算机、集成电路计算机、大规模集成电路计算机。</a:t>
            </a:r>
            <a:endParaRPr lang="zh-CN" altLang="en-US" sz="3600" dirty="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8195">
                                            <p:txEl>
                                              <p:charRg st="0" end="79"/>
                                            </p:txEl>
                                          </p:spTgt>
                                        </p:tgtEl>
                                        <p:attrNameLst>
                                          <p:attrName>style.visibility</p:attrName>
                                        </p:attrNameLst>
                                      </p:cBhvr>
                                      <p:to>
                                        <p:strVal val="visible"/>
                                      </p:to>
                                    </p:set>
                                    <p:anim calcmode="lin" valueType="num">
                                      <p:cBhvr>
                                        <p:cTn id="7" dur="500" fill="hold"/>
                                        <p:tgtEl>
                                          <p:spTgt spid="8195">
                                            <p:txEl>
                                              <p:charRg st="0" end="79"/>
                                            </p:txEl>
                                          </p:spTgt>
                                        </p:tgtEl>
                                        <p:attrNameLst>
                                          <p:attrName>ppt_w</p:attrName>
                                        </p:attrNameLst>
                                      </p:cBhvr>
                                      <p:tavLst>
                                        <p:tav tm="0">
                                          <p:val>
                                            <p:fltVal val="0.000000"/>
                                          </p:val>
                                        </p:tav>
                                        <p:tav tm="100000">
                                          <p:val>
                                            <p:strVal val="#ppt_w"/>
                                          </p:val>
                                        </p:tav>
                                      </p:tavLst>
                                    </p:anim>
                                    <p:anim calcmode="lin" valueType="num">
                                      <p:cBhvr>
                                        <p:cTn id="8" dur="500" fill="hold"/>
                                        <p:tgtEl>
                                          <p:spTgt spid="8195">
                                            <p:txEl>
                                              <p:charRg st="0" end="79"/>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8195">
                                            <p:txEl>
                                              <p:charRg st="79" end="171"/>
                                            </p:txEl>
                                          </p:spTgt>
                                        </p:tgtEl>
                                        <p:attrNameLst>
                                          <p:attrName>style.visibility</p:attrName>
                                        </p:attrNameLst>
                                      </p:cBhvr>
                                      <p:to>
                                        <p:strVal val="visible"/>
                                      </p:to>
                                    </p:set>
                                    <p:anim calcmode="lin" valueType="num">
                                      <p:cBhvr>
                                        <p:cTn id="13" dur="500" fill="hold"/>
                                        <p:tgtEl>
                                          <p:spTgt spid="8195">
                                            <p:txEl>
                                              <p:charRg st="79" end="171"/>
                                            </p:txEl>
                                          </p:spTgt>
                                        </p:tgtEl>
                                        <p:attrNameLst>
                                          <p:attrName>ppt_w</p:attrName>
                                        </p:attrNameLst>
                                      </p:cBhvr>
                                      <p:tavLst>
                                        <p:tav tm="0">
                                          <p:val>
                                            <p:fltVal val="0.000000"/>
                                          </p:val>
                                        </p:tav>
                                        <p:tav tm="100000">
                                          <p:val>
                                            <p:strVal val="#ppt_w"/>
                                          </p:val>
                                        </p:tav>
                                      </p:tavLst>
                                    </p:anim>
                                    <p:anim calcmode="lin" valueType="num">
                                      <p:cBhvr>
                                        <p:cTn id="14" dur="500" fill="hold"/>
                                        <p:tgtEl>
                                          <p:spTgt spid="8195">
                                            <p:txEl>
                                              <p:charRg st="79" end="171"/>
                                            </p:txEl>
                                          </p:spTgt>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8195">
                                            <p:txEl>
                                              <p:charRg st="172" end="216"/>
                                            </p:txEl>
                                          </p:spTgt>
                                        </p:tgtEl>
                                        <p:attrNameLst>
                                          <p:attrName>style.visibility</p:attrName>
                                        </p:attrNameLst>
                                      </p:cBhvr>
                                      <p:to>
                                        <p:strVal val="visible"/>
                                      </p:to>
                                    </p:set>
                                    <p:anim calcmode="lin" valueType="num">
                                      <p:cBhvr>
                                        <p:cTn id="19" dur="500" fill="hold"/>
                                        <p:tgtEl>
                                          <p:spTgt spid="8195">
                                            <p:txEl>
                                              <p:charRg st="172" end="216"/>
                                            </p:txEl>
                                          </p:spTgt>
                                        </p:tgtEl>
                                        <p:attrNameLst>
                                          <p:attrName>ppt_w</p:attrName>
                                        </p:attrNameLst>
                                      </p:cBhvr>
                                      <p:tavLst>
                                        <p:tav tm="0">
                                          <p:val>
                                            <p:fltVal val="0.000000"/>
                                          </p:val>
                                        </p:tav>
                                        <p:tav tm="100000">
                                          <p:val>
                                            <p:strVal val="#ppt_w"/>
                                          </p:val>
                                        </p:tav>
                                      </p:tavLst>
                                    </p:anim>
                                    <p:anim calcmode="lin" valueType="num">
                                      <p:cBhvr>
                                        <p:cTn id="20" dur="500" fill="hold"/>
                                        <p:tgtEl>
                                          <p:spTgt spid="8195">
                                            <p:txEl>
                                              <p:charRg st="172" end="216"/>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1.1.1 </a:t>
            </a:r>
            <a:r>
              <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微处理器和微型计算机的发展</a:t>
            </a:r>
            <a:r>
              <a:rPr kumimoji="0" lang="zh-CN" altLang="en-US" sz="4000" b="1" i="0" u="none" strike="noStrike" kern="0" cap="none" spc="0" normalizeH="0" baseline="0" noProof="0">
                <a:ln>
                  <a:noFill/>
                </a:ln>
                <a:solidFill>
                  <a:schemeClr val="tx1"/>
                </a:solidFill>
                <a:effectLst/>
                <a:uLnTx/>
                <a:uFillTx/>
                <a:latin typeface="+mj-lt"/>
                <a:ea typeface="+mj-ea"/>
                <a:cs typeface="+mj-cs"/>
              </a:rPr>
              <a:t> </a:t>
            </a:r>
            <a:endParaRPr kumimoji="0" lang="zh-CN" altLang="en-US" sz="4000" b="1" i="0" u="none" strike="noStrike" kern="0" cap="none" spc="0" normalizeH="0" baseline="0" noProof="0">
              <a:ln>
                <a:noFill/>
              </a:ln>
              <a:solidFill>
                <a:schemeClr val="tx1"/>
              </a:solidFill>
              <a:effectLst/>
              <a:uLnTx/>
              <a:uFillTx/>
              <a:latin typeface="+mj-lt"/>
              <a:ea typeface="+mj-ea"/>
              <a:cs typeface="+mj-cs"/>
            </a:endParaRPr>
          </a:p>
        </p:txBody>
      </p:sp>
      <p:sp>
        <p:nvSpPr>
          <p:cNvPr id="9219" name="Rectangle 3"/>
          <p:cNvSpPr>
            <a:spLocks noGrp="1"/>
          </p:cNvSpPr>
          <p:nvPr>
            <p:ph idx="1"/>
          </p:nvPr>
        </p:nvSpPr>
        <p:spPr>
          <a:xfrm>
            <a:off x="381000" y="1844675"/>
            <a:ext cx="8574088" cy="4651375"/>
          </a:xfrm>
        </p:spPr>
        <p:txBody>
          <a:bodyPr vert="horz" wrap="square" lIns="91440" tIns="45720" rIns="91440" bIns="45720" anchor="t" anchorCtr="0"/>
          <a:p>
            <a:pPr eaLnBrk="1" hangingPunct="1">
              <a:lnSpc>
                <a:spcPct val="90000"/>
              </a:lnSpc>
            </a:pPr>
            <a:r>
              <a:rPr lang="zh-CN" altLang="en-US" sz="2800" b="1" dirty="0">
                <a:solidFill>
                  <a:schemeClr val="hlink"/>
                </a:solidFill>
                <a:latin typeface="宋体" panose="02010600030101010101" pitchFamily="2" charset="-122"/>
                <a:ea typeface="宋体" panose="02010600030101010101" pitchFamily="2" charset="-122"/>
              </a:rPr>
              <a:t>中央处理器</a:t>
            </a:r>
            <a:r>
              <a:rPr lang="en-US" altLang="zh-CN" sz="2800" dirty="0"/>
              <a:t>(CPU)</a:t>
            </a:r>
            <a:r>
              <a:rPr lang="zh-CN" altLang="en-US" sz="2800" dirty="0"/>
              <a:t>：由运算器和控制器构成。</a:t>
            </a:r>
            <a:endParaRPr lang="zh-CN" altLang="en-US" sz="2800" dirty="0"/>
          </a:p>
          <a:p>
            <a:pPr eaLnBrk="1" hangingPunct="1">
              <a:lnSpc>
                <a:spcPct val="90000"/>
              </a:lnSpc>
            </a:pPr>
            <a:r>
              <a:rPr lang="zh-CN" altLang="en-US" sz="2800" b="1" dirty="0">
                <a:solidFill>
                  <a:schemeClr val="hlink"/>
                </a:solidFill>
                <a:latin typeface="宋体" panose="02010600030101010101" pitchFamily="2" charset="-122"/>
                <a:ea typeface="宋体" panose="02010600030101010101" pitchFamily="2" charset="-122"/>
              </a:rPr>
              <a:t>微处理器</a:t>
            </a:r>
            <a:r>
              <a:rPr lang="en-US" altLang="zh-CN" sz="2800" dirty="0"/>
              <a:t>(Microprocessor)</a:t>
            </a:r>
            <a:r>
              <a:rPr lang="zh-CN" altLang="en-US" sz="2800" dirty="0"/>
              <a:t>：运算器和控制器集成于一个芯片中。</a:t>
            </a:r>
            <a:r>
              <a:rPr lang="en-US" altLang="zh-CN" sz="2800" dirty="0">
                <a:solidFill>
                  <a:schemeClr val="hlink"/>
                </a:solidFill>
              </a:rPr>
              <a:t>1971</a:t>
            </a:r>
            <a:r>
              <a:rPr lang="zh-CN" altLang="en-US" sz="2800" dirty="0">
                <a:solidFill>
                  <a:schemeClr val="hlink"/>
                </a:solidFill>
              </a:rPr>
              <a:t>年</a:t>
            </a:r>
            <a:r>
              <a:rPr lang="zh-CN" altLang="en-US" sz="2800" dirty="0"/>
              <a:t>首先由</a:t>
            </a:r>
            <a:r>
              <a:rPr lang="en-US" altLang="zh-CN" sz="2800" dirty="0"/>
              <a:t>Intel</a:t>
            </a:r>
            <a:r>
              <a:rPr lang="zh-CN" altLang="en-US" sz="2800" dirty="0"/>
              <a:t>公司研制出</a:t>
            </a:r>
            <a:r>
              <a:rPr lang="en-US" altLang="zh-CN" sz="2800" dirty="0"/>
              <a:t>Intel 4004</a:t>
            </a:r>
            <a:r>
              <a:rPr lang="zh-CN" altLang="en-US" sz="2800" dirty="0"/>
              <a:t>。</a:t>
            </a:r>
            <a:endParaRPr lang="zh-CN" altLang="en-US" sz="2800" dirty="0"/>
          </a:p>
          <a:p>
            <a:pPr eaLnBrk="1" hangingPunct="1">
              <a:lnSpc>
                <a:spcPct val="90000"/>
              </a:lnSpc>
            </a:pPr>
            <a:endParaRPr lang="zh-CN" altLang="en-US" sz="2800" dirty="0"/>
          </a:p>
          <a:p>
            <a:pPr eaLnBrk="1" hangingPunct="1">
              <a:lnSpc>
                <a:spcPct val="90000"/>
              </a:lnSpc>
            </a:pPr>
            <a:endParaRPr lang="zh-CN" altLang="en-US" sz="2800" dirty="0"/>
          </a:p>
          <a:p>
            <a:pPr eaLnBrk="1" hangingPunct="1">
              <a:lnSpc>
                <a:spcPct val="90000"/>
              </a:lnSpc>
            </a:pPr>
            <a:endParaRPr lang="zh-CN" altLang="en-US" sz="2800" dirty="0"/>
          </a:p>
          <a:p>
            <a:pPr eaLnBrk="1" hangingPunct="1">
              <a:lnSpc>
                <a:spcPct val="90000"/>
              </a:lnSpc>
            </a:pPr>
            <a:r>
              <a:rPr lang="zh-CN" altLang="en-US" sz="2800" b="1" dirty="0">
                <a:solidFill>
                  <a:schemeClr val="hlink"/>
                </a:solidFill>
                <a:latin typeface="宋体" panose="02010600030101010101" pitchFamily="2" charset="-122"/>
                <a:ea typeface="宋体" panose="02010600030101010101" pitchFamily="2" charset="-122"/>
              </a:rPr>
              <a:t>微型计算机</a:t>
            </a:r>
            <a:r>
              <a:rPr lang="en-US" altLang="zh-CN" sz="2800" dirty="0"/>
              <a:t>(Microcomputer)</a:t>
            </a:r>
            <a:r>
              <a:rPr lang="en-US" altLang="zh-CN" sz="2800" b="1" dirty="0">
                <a:latin typeface="宋体" panose="02010600030101010101" pitchFamily="2" charset="-122"/>
                <a:ea typeface="宋体" panose="02010600030101010101" pitchFamily="2" charset="-122"/>
              </a:rPr>
              <a:t> </a:t>
            </a:r>
            <a:r>
              <a:rPr lang="zh-CN" altLang="en-US" sz="2800" dirty="0">
                <a:latin typeface="楷体_GB2312" pitchFamily="1" charset="-122"/>
              </a:rPr>
              <a:t>：是以微处理器为基础，配以内存储器以及输入</a:t>
            </a:r>
            <a:r>
              <a:rPr lang="en-US" altLang="zh-CN" sz="2800" dirty="0">
                <a:latin typeface="楷体_GB2312" pitchFamily="1" charset="-122"/>
              </a:rPr>
              <a:t>/</a:t>
            </a:r>
            <a:r>
              <a:rPr lang="zh-CN" altLang="en-US" sz="2800" dirty="0">
                <a:latin typeface="楷体_GB2312" pitchFamily="1" charset="-122"/>
              </a:rPr>
              <a:t>输出接口电路和相应的辅助电路构成的计算机。</a:t>
            </a:r>
            <a:r>
              <a:rPr lang="zh-CN" altLang="en-US" sz="2800" dirty="0"/>
              <a:t> </a:t>
            </a:r>
            <a:endParaRPr lang="zh-CN" altLang="en-US" sz="2800" dirty="0"/>
          </a:p>
        </p:txBody>
      </p:sp>
      <p:pic>
        <p:nvPicPr>
          <p:cNvPr id="9220" name="Picture 4" descr="9e7ce6dcb554f0b2cd1166cc"/>
          <p:cNvPicPr>
            <a:picLocks noChangeAspect="1"/>
          </p:cNvPicPr>
          <p:nvPr/>
        </p:nvPicPr>
        <p:blipFill>
          <a:blip r:embed="rId1"/>
          <a:stretch>
            <a:fillRect/>
          </a:stretch>
        </p:blipFill>
        <p:spPr>
          <a:xfrm>
            <a:off x="3419475" y="3357563"/>
            <a:ext cx="1587500" cy="1524000"/>
          </a:xfrm>
          <a:prstGeom prst="rect">
            <a:avLst/>
          </a:prstGeom>
          <a:noFill/>
          <a:ln w="9525">
            <a:noFill/>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219">
                                            <p:txEl>
                                              <p:charRg st="0" end="23"/>
                                            </p:txEl>
                                          </p:spTgt>
                                        </p:tgtEl>
                                        <p:attrNameLst>
                                          <p:attrName>style.visibility</p:attrName>
                                        </p:attrNameLst>
                                      </p:cBhvr>
                                      <p:to>
                                        <p:strVal val="visible"/>
                                      </p:to>
                                    </p:set>
                                    <p:animEffect transition="in" filter="dissolve">
                                      <p:cBhvr>
                                        <p:cTn id="7" dur="500"/>
                                        <p:tgtEl>
                                          <p:spTgt spid="9219">
                                            <p:txEl>
                                              <p:charRg st="0" end="2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219">
                                            <p:txEl>
                                              <p:charRg st="23" end="90"/>
                                            </p:txEl>
                                          </p:spTgt>
                                        </p:tgtEl>
                                        <p:attrNameLst>
                                          <p:attrName>style.visibility</p:attrName>
                                        </p:attrNameLst>
                                      </p:cBhvr>
                                      <p:to>
                                        <p:strVal val="visible"/>
                                      </p:to>
                                    </p:set>
                                    <p:animEffect transition="in" filter="dissolve">
                                      <p:cBhvr>
                                        <p:cTn id="12" dur="500"/>
                                        <p:tgtEl>
                                          <p:spTgt spid="9219">
                                            <p:txEl>
                                              <p:charRg st="23" end="90"/>
                                            </p:txEl>
                                          </p:spTgt>
                                        </p:tgtEl>
                                      </p:cBhvr>
                                    </p:animEffect>
                                  </p:childTnLst>
                                </p:cTn>
                              </p:par>
                              <p:par>
                                <p:cTn id="13" presetID="1" presetClass="entr" presetSubtype="0" fill="hold" nodeType="withEffect">
                                  <p:stCondLst>
                                    <p:cond delay="0"/>
                                  </p:stCondLst>
                                  <p:childTnLst>
                                    <p:set>
                                      <p:cBhvr>
                                        <p:cTn id="14" dur="1" fill="hold">
                                          <p:stCondLst>
                                            <p:cond delay="0"/>
                                          </p:stCondLst>
                                        </p:cTn>
                                        <p:tgtEl>
                                          <p:spTgt spid="92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9219">
                                            <p:txEl>
                                              <p:charRg st="93" end="159"/>
                                            </p:txEl>
                                          </p:spTgt>
                                        </p:tgtEl>
                                        <p:attrNameLst>
                                          <p:attrName>style.visibility</p:attrName>
                                        </p:attrNameLst>
                                      </p:cBhvr>
                                      <p:to>
                                        <p:strVal val="visible"/>
                                      </p:to>
                                    </p:set>
                                    <p:animEffect transition="in" filter="dissolve">
                                      <p:cBhvr>
                                        <p:cTn id="19" dur="500"/>
                                        <p:tgtEl>
                                          <p:spTgt spid="9219">
                                            <p:txEl>
                                              <p:charRg st="93" end="1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noChangeArrowheads="1"/>
          </p:cNvSpPr>
          <p:nvPr>
            <p:ph type="title"/>
          </p:nvPr>
        </p:nvSpPr>
        <p:spPr>
          <a:xfrm>
            <a:off x="1043623" y="44450"/>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微处理器的发展</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0243" name="Rectangle 3"/>
          <p:cNvSpPr>
            <a:spLocks noGrp="1" noChangeArrowheads="1"/>
          </p:cNvSpPr>
          <p:nvPr>
            <p:ph idx="1"/>
          </p:nvPr>
        </p:nvSpPr>
        <p:spPr>
          <a:xfrm>
            <a:off x="473710" y="1187450"/>
            <a:ext cx="8521700" cy="5539105"/>
          </a:xfrm>
        </p:spPr>
        <p:txBody>
          <a:bodyPr vert="horz" wrap="square" lIns="91440" tIns="45720" rIns="91440" bIns="45720" numCol="1" anchor="t" anchorCtr="0" compatLnSpc="1"/>
          <a:lstStyle/>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Ø"/>
              <a:defRPr/>
            </a:pPr>
            <a:r>
              <a:rPr kumimoji="0" lang="zh-CN" altLang="en-US" sz="2400" b="1" i="0" u="none" strike="noStrike" kern="0" cap="none" spc="0" normalizeH="0" baseline="0" noProof="0" dirty="0" smtClean="0">
                <a:ln>
                  <a:noFill/>
                </a:ln>
                <a:solidFill>
                  <a:schemeClr val="hlink"/>
                </a:solidFill>
                <a:effectLst/>
                <a:uLnTx/>
                <a:uFillTx/>
                <a:latin typeface="+mn-lt"/>
                <a:ea typeface="+mn-ea"/>
                <a:cs typeface="+mn-cs"/>
              </a:rPr>
              <a:t>第一代：</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1971</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年开始，典型产品：</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 4004/8008</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，字长：</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4</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位或</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8</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位。</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Ø"/>
              <a:defRPr/>
            </a:pPr>
            <a:r>
              <a:rPr kumimoji="0" lang="zh-CN" altLang="en-US" sz="2400" b="1" i="0" u="none" strike="noStrike" kern="0" cap="none" spc="0" normalizeH="0" baseline="0" noProof="0" dirty="0" smtClean="0">
                <a:ln>
                  <a:noFill/>
                </a:ln>
                <a:solidFill>
                  <a:schemeClr val="hlink"/>
                </a:solidFill>
                <a:effectLst/>
                <a:uLnTx/>
                <a:uFillTx/>
                <a:latin typeface="+mn-lt"/>
                <a:ea typeface="+mn-ea"/>
                <a:cs typeface="+mn-cs"/>
              </a:rPr>
              <a:t>第二代：</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1973</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年开始，典型产品：</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 8080</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 8085</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Motorola MC6800</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err="1" smtClean="0">
                <a:ln>
                  <a:noFill/>
                </a:ln>
                <a:solidFill>
                  <a:schemeClr val="tx1"/>
                </a:solidFill>
                <a:effectLst/>
                <a:uLnTx/>
                <a:uFillTx/>
                <a:latin typeface="+mn-lt"/>
                <a:ea typeface="+mn-ea"/>
                <a:cs typeface="+mn-cs"/>
              </a:rPr>
              <a:t>Zilog</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Z80</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，字长：</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8</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位。</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Ø"/>
              <a:defRPr/>
            </a:pPr>
            <a:r>
              <a:rPr kumimoji="0" lang="zh-CN" altLang="en-US" sz="2400" b="1" i="0" u="none" strike="noStrike" kern="0" cap="none" spc="0" normalizeH="0" baseline="0" noProof="0" dirty="0" smtClean="0">
                <a:ln>
                  <a:noFill/>
                </a:ln>
                <a:solidFill>
                  <a:schemeClr val="hlink"/>
                </a:solidFill>
                <a:effectLst/>
                <a:uLnTx/>
                <a:uFillTx/>
                <a:latin typeface="+mn-lt"/>
                <a:ea typeface="+mn-ea"/>
                <a:cs typeface="+mn-cs"/>
              </a:rPr>
              <a:t>第三代：</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1978</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年开始，典型产品：</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 8086</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 80286</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Motorola MC68000</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err="1" smtClean="0">
                <a:ln>
                  <a:noFill/>
                </a:ln>
                <a:solidFill>
                  <a:schemeClr val="tx1"/>
                </a:solidFill>
                <a:effectLst/>
                <a:uLnTx/>
                <a:uFillTx/>
                <a:latin typeface="+mn-lt"/>
                <a:ea typeface="+mn-ea"/>
                <a:cs typeface="+mn-cs"/>
              </a:rPr>
              <a:t>Zilog</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Z8000</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，字长：</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16</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位。</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Ø"/>
              <a:defRPr/>
            </a:pPr>
            <a:r>
              <a:rPr kumimoji="0" lang="zh-CN" altLang="en-US" sz="2400" b="1" i="0" u="none" strike="noStrike" kern="0" cap="none" spc="0" normalizeH="0" baseline="0" noProof="0" dirty="0" smtClean="0">
                <a:ln>
                  <a:noFill/>
                </a:ln>
                <a:solidFill>
                  <a:schemeClr val="hlink"/>
                </a:solidFill>
                <a:effectLst/>
                <a:uLnTx/>
                <a:uFillTx/>
                <a:latin typeface="+mn-lt"/>
                <a:ea typeface="+mn-ea"/>
                <a:cs typeface="+mn-cs"/>
              </a:rPr>
              <a:t>第四代：</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1983</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年开始，典型产品：</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 80386</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 80486</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Motorola MC68020</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err="1" smtClean="0">
                <a:ln>
                  <a:noFill/>
                </a:ln>
                <a:solidFill>
                  <a:schemeClr val="tx1"/>
                </a:solidFill>
                <a:effectLst/>
                <a:uLnTx/>
                <a:uFillTx/>
                <a:latin typeface="+mn-lt"/>
                <a:ea typeface="+mn-ea"/>
                <a:cs typeface="+mn-cs"/>
              </a:rPr>
              <a:t>Zilog</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Z80000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，字长：</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32</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位。</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Ø"/>
              <a:defRPr/>
            </a:pPr>
            <a:r>
              <a:rPr kumimoji="0" lang="zh-CN" altLang="en-US" sz="2400" b="1" i="0" u="none" strike="noStrike" kern="0" cap="none" spc="0" normalizeH="0" baseline="0" noProof="0" dirty="0" smtClean="0">
                <a:ln>
                  <a:noFill/>
                </a:ln>
                <a:solidFill>
                  <a:schemeClr val="hlink"/>
                </a:solidFill>
                <a:effectLst/>
                <a:uLnTx/>
                <a:uFillTx/>
                <a:latin typeface="+mn-lt"/>
                <a:ea typeface="+mn-ea"/>
                <a:cs typeface="+mn-cs"/>
              </a:rPr>
              <a:t>第五代</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1993</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年开始，典型产品：</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的 </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Pentium 586</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Pentium pro</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Pentium MMX</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Pentium Ⅱ</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Pentium Ⅲ</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Pentium Ⅳ</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等，高档的</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32</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位微处理器。 </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Ø"/>
              <a:defRPr/>
            </a:pP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公司</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2000</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年</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11</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月推出了第一代的</a:t>
            </a:r>
            <a:r>
              <a:rPr kumimoji="0" lang="en-US" altLang="zh-CN" sz="2400" b="1" i="0" u="none" strike="noStrike" kern="0" cap="none" spc="0" normalizeH="0" baseline="0" noProof="0" dirty="0" smtClean="0">
                <a:ln>
                  <a:noFill/>
                </a:ln>
                <a:solidFill>
                  <a:schemeClr val="folHlink"/>
                </a:solidFill>
                <a:effectLst/>
                <a:uLnTx/>
                <a:uFillTx/>
                <a:latin typeface="+mn-lt"/>
                <a:ea typeface="+mn-ea"/>
                <a:cs typeface="+mn-cs"/>
              </a:rPr>
              <a:t>64</a:t>
            </a:r>
            <a:r>
              <a:rPr kumimoji="0" lang="zh-CN" altLang="en-US" sz="2400" b="1" i="0" u="none" strike="noStrike" kern="0" cap="none" spc="0" normalizeH="0" baseline="0" noProof="0" dirty="0" smtClean="0">
                <a:ln>
                  <a:noFill/>
                </a:ln>
                <a:solidFill>
                  <a:schemeClr val="folHlink"/>
                </a:solidFill>
                <a:effectLst/>
                <a:uLnTx/>
                <a:uFillTx/>
                <a:latin typeface="+mn-lt"/>
                <a:ea typeface="+mn-ea"/>
                <a:cs typeface="+mn-cs"/>
              </a:rPr>
              <a:t>位微处理器</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Itanium</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，标志着</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Intel</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微处理器进入</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64</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位时代。</a:t>
            </a:r>
            <a:endParaRPr kumimoji="0" lang="en-US" altLang="zh-CN" sz="24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1" fontAlgn="base" latinLnBrk="0" hangingPunct="1">
              <a:lnSpc>
                <a:spcPct val="80000"/>
              </a:lnSpc>
              <a:spcBef>
                <a:spcPct val="20000"/>
              </a:spcBef>
              <a:spcAft>
                <a:spcPct val="0"/>
              </a:spcAft>
              <a:buClr>
                <a:schemeClr val="folHlink"/>
              </a:buClr>
              <a:buSzPct val="60000"/>
              <a:buFont typeface="Wingdings" panose="05000000000000000000" pitchFamily="2" charset="2"/>
              <a:buChar char="Ø"/>
              <a:defRPr/>
            </a:pP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英特尔的酷睿</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i3</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i5</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i7</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i9</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系列，另一个是</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AMD</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锐龙</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R3</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R5</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R7</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R9</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系列。截至</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2026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年</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2</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月，英特尔与</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AMD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的</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CPU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已全面进入</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AI PC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与高性能计算深度融合阶段，消费级以</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18A/3nm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制程和</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NPU </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本地</a:t>
            </a:r>
            <a:r>
              <a:rPr kumimoji="0" lang="en-US" altLang="zh-CN" sz="2400" b="0" i="0" u="none" strike="noStrike" kern="0" cap="none" spc="0" normalizeH="0" baseline="0" noProof="0" dirty="0" smtClean="0">
                <a:ln>
                  <a:noFill/>
                </a:ln>
                <a:solidFill>
                  <a:schemeClr val="tx1"/>
                </a:solidFill>
                <a:effectLst/>
                <a:uLnTx/>
                <a:uFillTx/>
                <a:latin typeface="+mn-lt"/>
                <a:ea typeface="+mn-ea"/>
                <a:cs typeface="+mn-cs"/>
              </a:rPr>
              <a:t> AI</a:t>
            </a:r>
            <a:r>
              <a:rPr kumimoji="0" lang="zh-CN" altLang="en-US" sz="2400" b="0" i="0" u="none" strike="noStrike" kern="0" cap="none" spc="0" normalizeH="0" baseline="0" noProof="0" dirty="0" smtClean="0">
                <a:ln>
                  <a:noFill/>
                </a:ln>
                <a:solidFill>
                  <a:schemeClr val="tx1"/>
                </a:solidFill>
                <a:effectLst/>
                <a:uLnTx/>
                <a:uFillTx/>
                <a:latin typeface="+mn-lt"/>
                <a:ea typeface="+mn-ea"/>
                <a:cs typeface="+mn-cs"/>
              </a:rPr>
              <a:t>为核心</a:t>
            </a:r>
            <a:endParaRPr kumimoji="0" lang="zh-CN" altLang="en-US" sz="24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grpId="0" nodeType="clickEffect">
                                  <p:stCondLst>
                                    <p:cond delay="0"/>
                                  </p:stCondLst>
                                  <p:childTnLst>
                                    <p:set>
                                      <p:cBhvr>
                                        <p:cTn id="6" dur="1" fill="hold">
                                          <p:stCondLst>
                                            <p:cond delay="0"/>
                                          </p:stCondLst>
                                        </p:cTn>
                                        <p:tgtEl>
                                          <p:spTgt spid="10243">
                                            <p:txEl>
                                              <p:charRg st="0" end="43"/>
                                            </p:txEl>
                                          </p:spTgt>
                                        </p:tgtEl>
                                        <p:attrNameLst>
                                          <p:attrName>style.visibility</p:attrName>
                                        </p:attrNameLst>
                                      </p:cBhvr>
                                      <p:to>
                                        <p:strVal val="visible"/>
                                      </p:to>
                                    </p:set>
                                    <p:animEffect transition="in" filter="fade">
                                      <p:cBhvr>
                                        <p:cTn id="7" dur="800" decel="100000"/>
                                        <p:tgtEl>
                                          <p:spTgt spid="10243">
                                            <p:txEl>
                                              <p:charRg st="0" end="43"/>
                                            </p:txEl>
                                          </p:spTgt>
                                        </p:tgtEl>
                                      </p:cBhvr>
                                    </p:animEffect>
                                    <p:anim calcmode="lin" valueType="num">
                                      <p:cBhvr>
                                        <p:cTn id="8" dur="800" decel="100000" fill="hold"/>
                                        <p:tgtEl>
                                          <p:spTgt spid="10243">
                                            <p:txEl>
                                              <p:charRg st="0" end="43"/>
                                            </p:txEl>
                                          </p:spTgt>
                                        </p:tgtEl>
                                        <p:attrNameLst>
                                          <p:attrName>style.rotation</p:attrName>
                                        </p:attrNameLst>
                                      </p:cBhvr>
                                      <p:tavLst>
                                        <p:tav tm="0">
                                          <p:val>
                                            <p:fltVal val="-90.000000"/>
                                          </p:val>
                                        </p:tav>
                                        <p:tav tm="100000">
                                          <p:val>
                                            <p:fltVal val="0.000000"/>
                                          </p:val>
                                        </p:tav>
                                      </p:tavLst>
                                    </p:anim>
                                    <p:anim calcmode="lin" valueType="num">
                                      <p:cBhvr>
                                        <p:cTn id="9" dur="800" decel="100000" fill="hold"/>
                                        <p:tgtEl>
                                          <p:spTgt spid="10243">
                                            <p:txEl>
                                              <p:charRg st="0" end="43"/>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10243">
                                            <p:txEl>
                                              <p:charRg st="0" end="43"/>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10243">
                                            <p:txEl>
                                              <p:charRg st="0" end="43"/>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10243">
                                            <p:txEl>
                                              <p:charRg st="0" end="43"/>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0" presetClass="entr" presetSubtype="0" fill="hold" grpId="0" nodeType="clickEffect">
                                  <p:stCondLst>
                                    <p:cond delay="0"/>
                                  </p:stCondLst>
                                  <p:childTnLst>
                                    <p:set>
                                      <p:cBhvr>
                                        <p:cTn id="16" dur="1" fill="hold">
                                          <p:stCondLst>
                                            <p:cond delay="0"/>
                                          </p:stCondLst>
                                        </p:cTn>
                                        <p:tgtEl>
                                          <p:spTgt spid="10243">
                                            <p:txEl>
                                              <p:charRg st="43" end="116"/>
                                            </p:txEl>
                                          </p:spTgt>
                                        </p:tgtEl>
                                        <p:attrNameLst>
                                          <p:attrName>style.visibility</p:attrName>
                                        </p:attrNameLst>
                                      </p:cBhvr>
                                      <p:to>
                                        <p:strVal val="visible"/>
                                      </p:to>
                                    </p:set>
                                    <p:animEffect transition="in" filter="fade">
                                      <p:cBhvr>
                                        <p:cTn id="17" dur="800" decel="100000"/>
                                        <p:tgtEl>
                                          <p:spTgt spid="10243">
                                            <p:txEl>
                                              <p:charRg st="43" end="116"/>
                                            </p:txEl>
                                          </p:spTgt>
                                        </p:tgtEl>
                                      </p:cBhvr>
                                    </p:animEffect>
                                    <p:anim calcmode="lin" valueType="num">
                                      <p:cBhvr>
                                        <p:cTn id="18" dur="800" decel="100000" fill="hold"/>
                                        <p:tgtEl>
                                          <p:spTgt spid="10243">
                                            <p:txEl>
                                              <p:charRg st="43" end="116"/>
                                            </p:txEl>
                                          </p:spTgt>
                                        </p:tgtEl>
                                        <p:attrNameLst>
                                          <p:attrName>style.rotation</p:attrName>
                                        </p:attrNameLst>
                                      </p:cBhvr>
                                      <p:tavLst>
                                        <p:tav tm="0">
                                          <p:val>
                                            <p:fltVal val="-90.000000"/>
                                          </p:val>
                                        </p:tav>
                                        <p:tav tm="100000">
                                          <p:val>
                                            <p:fltVal val="0.000000"/>
                                          </p:val>
                                        </p:tav>
                                      </p:tavLst>
                                    </p:anim>
                                    <p:anim calcmode="lin" valueType="num">
                                      <p:cBhvr>
                                        <p:cTn id="19" dur="800" decel="100000" fill="hold"/>
                                        <p:tgtEl>
                                          <p:spTgt spid="10243">
                                            <p:txEl>
                                              <p:charRg st="43" end="116"/>
                                            </p:txEl>
                                          </p:spTgt>
                                        </p:tgtEl>
                                        <p:attrNameLst>
                                          <p:attrName>ppt_x</p:attrName>
                                        </p:attrNameLst>
                                      </p:cBhvr>
                                      <p:tavLst>
                                        <p:tav tm="0">
                                          <p:val>
                                            <p:strVal val="#ppt_x+0.4"/>
                                          </p:val>
                                        </p:tav>
                                        <p:tav tm="100000">
                                          <p:val>
                                            <p:strVal val="#ppt_x-0.05"/>
                                          </p:val>
                                        </p:tav>
                                      </p:tavLst>
                                    </p:anim>
                                    <p:anim calcmode="lin" valueType="num">
                                      <p:cBhvr>
                                        <p:cTn id="20" dur="800" decel="100000" fill="hold"/>
                                        <p:tgtEl>
                                          <p:spTgt spid="10243">
                                            <p:txEl>
                                              <p:charRg st="43" end="116"/>
                                            </p:txEl>
                                          </p:spTgt>
                                        </p:tgtEl>
                                        <p:attrNameLst>
                                          <p:attrName>ppt_y</p:attrName>
                                        </p:attrNameLst>
                                      </p:cBhvr>
                                      <p:tavLst>
                                        <p:tav tm="0">
                                          <p:val>
                                            <p:strVal val="#ppt_y-0.4"/>
                                          </p:val>
                                        </p:tav>
                                        <p:tav tm="100000">
                                          <p:val>
                                            <p:strVal val="#ppt_y+0.1"/>
                                          </p:val>
                                        </p:tav>
                                      </p:tavLst>
                                    </p:anim>
                                    <p:anim calcmode="lin" valueType="num">
                                      <p:cBhvr>
                                        <p:cTn id="21" dur="200" accel="100000" fill="hold">
                                          <p:stCondLst>
                                            <p:cond delay="800"/>
                                          </p:stCondLst>
                                        </p:cTn>
                                        <p:tgtEl>
                                          <p:spTgt spid="10243">
                                            <p:txEl>
                                              <p:charRg st="43" end="116"/>
                                            </p:txEl>
                                          </p:spTgt>
                                        </p:tgtEl>
                                        <p:attrNameLst>
                                          <p:attrName>ppt_x</p:attrName>
                                        </p:attrNameLst>
                                      </p:cBhvr>
                                      <p:tavLst>
                                        <p:tav tm="0">
                                          <p:val>
                                            <p:strVal val="#ppt_x-0.05"/>
                                          </p:val>
                                        </p:tav>
                                        <p:tav tm="100000">
                                          <p:val>
                                            <p:strVal val="#ppt_x"/>
                                          </p:val>
                                        </p:tav>
                                      </p:tavLst>
                                    </p:anim>
                                    <p:anim calcmode="lin" valueType="num">
                                      <p:cBhvr>
                                        <p:cTn id="22" dur="200" accel="100000" fill="hold">
                                          <p:stCondLst>
                                            <p:cond delay="800"/>
                                          </p:stCondLst>
                                        </p:cTn>
                                        <p:tgtEl>
                                          <p:spTgt spid="10243">
                                            <p:txEl>
                                              <p:charRg st="43" end="116"/>
                                            </p:txEl>
                                          </p:spTgt>
                                        </p:tgtEl>
                                        <p:attrNameLst>
                                          <p:attrName>ppt_y</p:attrName>
                                        </p:attrNameLst>
                                      </p:cBhvr>
                                      <p:tavLst>
                                        <p:tav tm="0">
                                          <p:val>
                                            <p:strVal val="#ppt_y+0.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0" presetClass="entr" presetSubtype="0" fill="hold" grpId="0" nodeType="clickEffect">
                                  <p:stCondLst>
                                    <p:cond delay="0"/>
                                  </p:stCondLst>
                                  <p:childTnLst>
                                    <p:set>
                                      <p:cBhvr>
                                        <p:cTn id="26" dur="1" fill="hold">
                                          <p:stCondLst>
                                            <p:cond delay="0"/>
                                          </p:stCondLst>
                                        </p:cTn>
                                        <p:tgtEl>
                                          <p:spTgt spid="10243">
                                            <p:txEl>
                                              <p:charRg st="116" end="194"/>
                                            </p:txEl>
                                          </p:spTgt>
                                        </p:tgtEl>
                                        <p:attrNameLst>
                                          <p:attrName>style.visibility</p:attrName>
                                        </p:attrNameLst>
                                      </p:cBhvr>
                                      <p:to>
                                        <p:strVal val="visible"/>
                                      </p:to>
                                    </p:set>
                                    <p:animEffect transition="in" filter="fade">
                                      <p:cBhvr>
                                        <p:cTn id="27" dur="800" decel="100000"/>
                                        <p:tgtEl>
                                          <p:spTgt spid="10243">
                                            <p:txEl>
                                              <p:charRg st="116" end="194"/>
                                            </p:txEl>
                                          </p:spTgt>
                                        </p:tgtEl>
                                      </p:cBhvr>
                                    </p:animEffect>
                                    <p:anim calcmode="lin" valueType="num">
                                      <p:cBhvr>
                                        <p:cTn id="28" dur="800" decel="100000" fill="hold"/>
                                        <p:tgtEl>
                                          <p:spTgt spid="10243">
                                            <p:txEl>
                                              <p:charRg st="116" end="194"/>
                                            </p:txEl>
                                          </p:spTgt>
                                        </p:tgtEl>
                                        <p:attrNameLst>
                                          <p:attrName>style.rotation</p:attrName>
                                        </p:attrNameLst>
                                      </p:cBhvr>
                                      <p:tavLst>
                                        <p:tav tm="0">
                                          <p:val>
                                            <p:fltVal val="-90.000000"/>
                                          </p:val>
                                        </p:tav>
                                        <p:tav tm="100000">
                                          <p:val>
                                            <p:fltVal val="0.000000"/>
                                          </p:val>
                                        </p:tav>
                                      </p:tavLst>
                                    </p:anim>
                                    <p:anim calcmode="lin" valueType="num">
                                      <p:cBhvr>
                                        <p:cTn id="29" dur="800" decel="100000" fill="hold"/>
                                        <p:tgtEl>
                                          <p:spTgt spid="10243">
                                            <p:txEl>
                                              <p:charRg st="116" end="194"/>
                                            </p:txEl>
                                          </p:spTgt>
                                        </p:tgtEl>
                                        <p:attrNameLst>
                                          <p:attrName>ppt_x</p:attrName>
                                        </p:attrNameLst>
                                      </p:cBhvr>
                                      <p:tavLst>
                                        <p:tav tm="0">
                                          <p:val>
                                            <p:strVal val="#ppt_x+0.4"/>
                                          </p:val>
                                        </p:tav>
                                        <p:tav tm="100000">
                                          <p:val>
                                            <p:strVal val="#ppt_x-0.05"/>
                                          </p:val>
                                        </p:tav>
                                      </p:tavLst>
                                    </p:anim>
                                    <p:anim calcmode="lin" valueType="num">
                                      <p:cBhvr>
                                        <p:cTn id="30" dur="800" decel="100000" fill="hold"/>
                                        <p:tgtEl>
                                          <p:spTgt spid="10243">
                                            <p:txEl>
                                              <p:charRg st="116" end="194"/>
                                            </p:txEl>
                                          </p:spTgt>
                                        </p:tgtEl>
                                        <p:attrNameLst>
                                          <p:attrName>ppt_y</p:attrName>
                                        </p:attrNameLst>
                                      </p:cBhvr>
                                      <p:tavLst>
                                        <p:tav tm="0">
                                          <p:val>
                                            <p:strVal val="#ppt_y-0.4"/>
                                          </p:val>
                                        </p:tav>
                                        <p:tav tm="100000">
                                          <p:val>
                                            <p:strVal val="#ppt_y+0.1"/>
                                          </p:val>
                                        </p:tav>
                                      </p:tavLst>
                                    </p:anim>
                                    <p:anim calcmode="lin" valueType="num">
                                      <p:cBhvr>
                                        <p:cTn id="31" dur="200" accel="100000" fill="hold">
                                          <p:stCondLst>
                                            <p:cond delay="800"/>
                                          </p:stCondLst>
                                        </p:cTn>
                                        <p:tgtEl>
                                          <p:spTgt spid="10243">
                                            <p:txEl>
                                              <p:charRg st="116" end="194"/>
                                            </p:txEl>
                                          </p:spTgt>
                                        </p:tgtEl>
                                        <p:attrNameLst>
                                          <p:attrName>ppt_x</p:attrName>
                                        </p:attrNameLst>
                                      </p:cBhvr>
                                      <p:tavLst>
                                        <p:tav tm="0">
                                          <p:val>
                                            <p:strVal val="#ppt_x-0.05"/>
                                          </p:val>
                                        </p:tav>
                                        <p:tav tm="100000">
                                          <p:val>
                                            <p:strVal val="#ppt_x"/>
                                          </p:val>
                                        </p:tav>
                                      </p:tavLst>
                                    </p:anim>
                                    <p:anim calcmode="lin" valueType="num">
                                      <p:cBhvr>
                                        <p:cTn id="32" dur="200" accel="100000" fill="hold">
                                          <p:stCondLst>
                                            <p:cond delay="800"/>
                                          </p:stCondLst>
                                        </p:cTn>
                                        <p:tgtEl>
                                          <p:spTgt spid="10243">
                                            <p:txEl>
                                              <p:charRg st="116" end="194"/>
                                            </p:txEl>
                                          </p:spTgt>
                                        </p:tgtEl>
                                        <p:attrNameLst>
                                          <p:attrName>ppt_y</p:attrName>
                                        </p:attrNameLst>
                                      </p:cBhvr>
                                      <p:tavLst>
                                        <p:tav tm="0">
                                          <p:val>
                                            <p:strVal val="#ppt_y+0.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0" presetClass="entr" presetSubtype="0" fill="hold" grpId="0" nodeType="clickEffect">
                                  <p:stCondLst>
                                    <p:cond delay="0"/>
                                  </p:stCondLst>
                                  <p:childTnLst>
                                    <p:set>
                                      <p:cBhvr>
                                        <p:cTn id="36" dur="1" fill="hold">
                                          <p:stCondLst>
                                            <p:cond delay="0"/>
                                          </p:stCondLst>
                                        </p:cTn>
                                        <p:tgtEl>
                                          <p:spTgt spid="10243">
                                            <p:txEl>
                                              <p:charRg st="194" end="275"/>
                                            </p:txEl>
                                          </p:spTgt>
                                        </p:tgtEl>
                                        <p:attrNameLst>
                                          <p:attrName>style.visibility</p:attrName>
                                        </p:attrNameLst>
                                      </p:cBhvr>
                                      <p:to>
                                        <p:strVal val="visible"/>
                                      </p:to>
                                    </p:set>
                                    <p:animEffect transition="in" filter="fade">
                                      <p:cBhvr>
                                        <p:cTn id="37" dur="800" decel="100000"/>
                                        <p:tgtEl>
                                          <p:spTgt spid="10243">
                                            <p:txEl>
                                              <p:charRg st="194" end="275"/>
                                            </p:txEl>
                                          </p:spTgt>
                                        </p:tgtEl>
                                      </p:cBhvr>
                                    </p:animEffect>
                                    <p:anim calcmode="lin" valueType="num">
                                      <p:cBhvr>
                                        <p:cTn id="38" dur="800" decel="100000" fill="hold"/>
                                        <p:tgtEl>
                                          <p:spTgt spid="10243">
                                            <p:txEl>
                                              <p:charRg st="194" end="275"/>
                                            </p:txEl>
                                          </p:spTgt>
                                        </p:tgtEl>
                                        <p:attrNameLst>
                                          <p:attrName>style.rotation</p:attrName>
                                        </p:attrNameLst>
                                      </p:cBhvr>
                                      <p:tavLst>
                                        <p:tav tm="0">
                                          <p:val>
                                            <p:fltVal val="-90.000000"/>
                                          </p:val>
                                        </p:tav>
                                        <p:tav tm="100000">
                                          <p:val>
                                            <p:fltVal val="0.000000"/>
                                          </p:val>
                                        </p:tav>
                                      </p:tavLst>
                                    </p:anim>
                                    <p:anim calcmode="lin" valueType="num">
                                      <p:cBhvr>
                                        <p:cTn id="39" dur="800" decel="100000" fill="hold"/>
                                        <p:tgtEl>
                                          <p:spTgt spid="10243">
                                            <p:txEl>
                                              <p:charRg st="194" end="275"/>
                                            </p:txEl>
                                          </p:spTgt>
                                        </p:tgtEl>
                                        <p:attrNameLst>
                                          <p:attrName>ppt_x</p:attrName>
                                        </p:attrNameLst>
                                      </p:cBhvr>
                                      <p:tavLst>
                                        <p:tav tm="0">
                                          <p:val>
                                            <p:strVal val="#ppt_x+0.4"/>
                                          </p:val>
                                        </p:tav>
                                        <p:tav tm="100000">
                                          <p:val>
                                            <p:strVal val="#ppt_x-0.05"/>
                                          </p:val>
                                        </p:tav>
                                      </p:tavLst>
                                    </p:anim>
                                    <p:anim calcmode="lin" valueType="num">
                                      <p:cBhvr>
                                        <p:cTn id="40" dur="800" decel="100000" fill="hold"/>
                                        <p:tgtEl>
                                          <p:spTgt spid="10243">
                                            <p:txEl>
                                              <p:charRg st="194" end="275"/>
                                            </p:txEl>
                                          </p:spTgt>
                                        </p:tgtEl>
                                        <p:attrNameLst>
                                          <p:attrName>ppt_y</p:attrName>
                                        </p:attrNameLst>
                                      </p:cBhvr>
                                      <p:tavLst>
                                        <p:tav tm="0">
                                          <p:val>
                                            <p:strVal val="#ppt_y-0.4"/>
                                          </p:val>
                                        </p:tav>
                                        <p:tav tm="100000">
                                          <p:val>
                                            <p:strVal val="#ppt_y+0.1"/>
                                          </p:val>
                                        </p:tav>
                                      </p:tavLst>
                                    </p:anim>
                                    <p:anim calcmode="lin" valueType="num">
                                      <p:cBhvr>
                                        <p:cTn id="41" dur="200" accel="100000" fill="hold">
                                          <p:stCondLst>
                                            <p:cond delay="800"/>
                                          </p:stCondLst>
                                        </p:cTn>
                                        <p:tgtEl>
                                          <p:spTgt spid="10243">
                                            <p:txEl>
                                              <p:charRg st="194" end="275"/>
                                            </p:txEl>
                                          </p:spTgt>
                                        </p:tgtEl>
                                        <p:attrNameLst>
                                          <p:attrName>ppt_x</p:attrName>
                                        </p:attrNameLst>
                                      </p:cBhvr>
                                      <p:tavLst>
                                        <p:tav tm="0">
                                          <p:val>
                                            <p:strVal val="#ppt_x-0.05"/>
                                          </p:val>
                                        </p:tav>
                                        <p:tav tm="100000">
                                          <p:val>
                                            <p:strVal val="#ppt_x"/>
                                          </p:val>
                                        </p:tav>
                                      </p:tavLst>
                                    </p:anim>
                                    <p:anim calcmode="lin" valueType="num">
                                      <p:cBhvr>
                                        <p:cTn id="42" dur="200" accel="100000" fill="hold">
                                          <p:stCondLst>
                                            <p:cond delay="800"/>
                                          </p:stCondLst>
                                        </p:cTn>
                                        <p:tgtEl>
                                          <p:spTgt spid="10243">
                                            <p:txEl>
                                              <p:charRg st="194" end="275"/>
                                            </p:txEl>
                                          </p:spTgt>
                                        </p:tgtEl>
                                        <p:attrNameLst>
                                          <p:attrName>ppt_y</p:attrName>
                                        </p:attrNameLst>
                                      </p:cBhvr>
                                      <p:tavLst>
                                        <p:tav tm="0">
                                          <p:val>
                                            <p:strVal val="#ppt_y+0.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0" presetClass="entr" presetSubtype="0" fill="hold" grpId="0" nodeType="clickEffect">
                                  <p:stCondLst>
                                    <p:cond delay="0"/>
                                  </p:stCondLst>
                                  <p:childTnLst>
                                    <p:set>
                                      <p:cBhvr>
                                        <p:cTn id="46" dur="1" fill="hold">
                                          <p:stCondLst>
                                            <p:cond delay="0"/>
                                          </p:stCondLst>
                                        </p:cTn>
                                        <p:tgtEl>
                                          <p:spTgt spid="10243">
                                            <p:txEl>
                                              <p:charRg st="275" end="379"/>
                                            </p:txEl>
                                          </p:spTgt>
                                        </p:tgtEl>
                                        <p:attrNameLst>
                                          <p:attrName>style.visibility</p:attrName>
                                        </p:attrNameLst>
                                      </p:cBhvr>
                                      <p:to>
                                        <p:strVal val="visible"/>
                                      </p:to>
                                    </p:set>
                                    <p:animEffect transition="in" filter="fade">
                                      <p:cBhvr>
                                        <p:cTn id="47" dur="800" decel="100000"/>
                                        <p:tgtEl>
                                          <p:spTgt spid="10243">
                                            <p:txEl>
                                              <p:charRg st="275" end="379"/>
                                            </p:txEl>
                                          </p:spTgt>
                                        </p:tgtEl>
                                      </p:cBhvr>
                                    </p:animEffect>
                                    <p:anim calcmode="lin" valueType="num">
                                      <p:cBhvr>
                                        <p:cTn id="48" dur="800" decel="100000" fill="hold"/>
                                        <p:tgtEl>
                                          <p:spTgt spid="10243">
                                            <p:txEl>
                                              <p:charRg st="275" end="379"/>
                                            </p:txEl>
                                          </p:spTgt>
                                        </p:tgtEl>
                                        <p:attrNameLst>
                                          <p:attrName>style.rotation</p:attrName>
                                        </p:attrNameLst>
                                      </p:cBhvr>
                                      <p:tavLst>
                                        <p:tav tm="0">
                                          <p:val>
                                            <p:fltVal val="-90.000000"/>
                                          </p:val>
                                        </p:tav>
                                        <p:tav tm="100000">
                                          <p:val>
                                            <p:fltVal val="0.000000"/>
                                          </p:val>
                                        </p:tav>
                                      </p:tavLst>
                                    </p:anim>
                                    <p:anim calcmode="lin" valueType="num">
                                      <p:cBhvr>
                                        <p:cTn id="49" dur="800" decel="100000" fill="hold"/>
                                        <p:tgtEl>
                                          <p:spTgt spid="10243">
                                            <p:txEl>
                                              <p:charRg st="275" end="379"/>
                                            </p:txEl>
                                          </p:spTgt>
                                        </p:tgtEl>
                                        <p:attrNameLst>
                                          <p:attrName>ppt_x</p:attrName>
                                        </p:attrNameLst>
                                      </p:cBhvr>
                                      <p:tavLst>
                                        <p:tav tm="0">
                                          <p:val>
                                            <p:strVal val="#ppt_x+0.4"/>
                                          </p:val>
                                        </p:tav>
                                        <p:tav tm="100000">
                                          <p:val>
                                            <p:strVal val="#ppt_x-0.05"/>
                                          </p:val>
                                        </p:tav>
                                      </p:tavLst>
                                    </p:anim>
                                    <p:anim calcmode="lin" valueType="num">
                                      <p:cBhvr>
                                        <p:cTn id="50" dur="800" decel="100000" fill="hold"/>
                                        <p:tgtEl>
                                          <p:spTgt spid="10243">
                                            <p:txEl>
                                              <p:charRg st="275" end="379"/>
                                            </p:txEl>
                                          </p:spTgt>
                                        </p:tgtEl>
                                        <p:attrNameLst>
                                          <p:attrName>ppt_y</p:attrName>
                                        </p:attrNameLst>
                                      </p:cBhvr>
                                      <p:tavLst>
                                        <p:tav tm="0">
                                          <p:val>
                                            <p:strVal val="#ppt_y-0.4"/>
                                          </p:val>
                                        </p:tav>
                                        <p:tav tm="100000">
                                          <p:val>
                                            <p:strVal val="#ppt_y+0.1"/>
                                          </p:val>
                                        </p:tav>
                                      </p:tavLst>
                                    </p:anim>
                                    <p:anim calcmode="lin" valueType="num">
                                      <p:cBhvr>
                                        <p:cTn id="51" dur="200" accel="100000" fill="hold">
                                          <p:stCondLst>
                                            <p:cond delay="800"/>
                                          </p:stCondLst>
                                        </p:cTn>
                                        <p:tgtEl>
                                          <p:spTgt spid="10243">
                                            <p:txEl>
                                              <p:charRg st="275" end="379"/>
                                            </p:txEl>
                                          </p:spTgt>
                                        </p:tgtEl>
                                        <p:attrNameLst>
                                          <p:attrName>ppt_x</p:attrName>
                                        </p:attrNameLst>
                                      </p:cBhvr>
                                      <p:tavLst>
                                        <p:tav tm="0">
                                          <p:val>
                                            <p:strVal val="#ppt_x-0.05"/>
                                          </p:val>
                                        </p:tav>
                                        <p:tav tm="100000">
                                          <p:val>
                                            <p:strVal val="#ppt_x"/>
                                          </p:val>
                                        </p:tav>
                                      </p:tavLst>
                                    </p:anim>
                                    <p:anim calcmode="lin" valueType="num">
                                      <p:cBhvr>
                                        <p:cTn id="52" dur="200" accel="100000" fill="hold">
                                          <p:stCondLst>
                                            <p:cond delay="800"/>
                                          </p:stCondLst>
                                        </p:cTn>
                                        <p:tgtEl>
                                          <p:spTgt spid="10243">
                                            <p:txEl>
                                              <p:charRg st="275" end="379"/>
                                            </p:txEl>
                                          </p:spTgt>
                                        </p:tgtEl>
                                        <p:attrNameLst>
                                          <p:attrName>ppt_y</p:attrName>
                                        </p:attrNameLst>
                                      </p:cBhvr>
                                      <p:tavLst>
                                        <p:tav tm="0">
                                          <p:val>
                                            <p:strVal val="#ppt_y+0.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30" presetClass="entr" presetSubtype="0" fill="hold" grpId="0" nodeType="clickEffect">
                                  <p:stCondLst>
                                    <p:cond delay="0"/>
                                  </p:stCondLst>
                                  <p:childTnLst>
                                    <p:set>
                                      <p:cBhvr>
                                        <p:cTn id="56" dur="1" fill="hold">
                                          <p:stCondLst>
                                            <p:cond delay="0"/>
                                          </p:stCondLst>
                                        </p:cTn>
                                        <p:tgtEl>
                                          <p:spTgt spid="10243">
                                            <p:txEl>
                                              <p:charRg st="379" end="437"/>
                                            </p:txEl>
                                          </p:spTgt>
                                        </p:tgtEl>
                                        <p:attrNameLst>
                                          <p:attrName>style.visibility</p:attrName>
                                        </p:attrNameLst>
                                      </p:cBhvr>
                                      <p:to>
                                        <p:strVal val="visible"/>
                                      </p:to>
                                    </p:set>
                                    <p:animEffect transition="in" filter="fade">
                                      <p:cBhvr>
                                        <p:cTn id="57" dur="800" decel="100000"/>
                                        <p:tgtEl>
                                          <p:spTgt spid="10243">
                                            <p:txEl>
                                              <p:charRg st="379" end="437"/>
                                            </p:txEl>
                                          </p:spTgt>
                                        </p:tgtEl>
                                      </p:cBhvr>
                                    </p:animEffect>
                                    <p:anim calcmode="lin" valueType="num">
                                      <p:cBhvr>
                                        <p:cTn id="58" dur="800" decel="100000" fill="hold"/>
                                        <p:tgtEl>
                                          <p:spTgt spid="10243">
                                            <p:txEl>
                                              <p:charRg st="379" end="437"/>
                                            </p:txEl>
                                          </p:spTgt>
                                        </p:tgtEl>
                                        <p:attrNameLst>
                                          <p:attrName>style.rotation</p:attrName>
                                        </p:attrNameLst>
                                      </p:cBhvr>
                                      <p:tavLst>
                                        <p:tav tm="0">
                                          <p:val>
                                            <p:fltVal val="-90.000000"/>
                                          </p:val>
                                        </p:tav>
                                        <p:tav tm="100000">
                                          <p:val>
                                            <p:fltVal val="0.000000"/>
                                          </p:val>
                                        </p:tav>
                                      </p:tavLst>
                                    </p:anim>
                                    <p:anim calcmode="lin" valueType="num">
                                      <p:cBhvr>
                                        <p:cTn id="59" dur="800" decel="100000" fill="hold"/>
                                        <p:tgtEl>
                                          <p:spTgt spid="10243">
                                            <p:txEl>
                                              <p:charRg st="379" end="437"/>
                                            </p:txEl>
                                          </p:spTgt>
                                        </p:tgtEl>
                                        <p:attrNameLst>
                                          <p:attrName>ppt_x</p:attrName>
                                        </p:attrNameLst>
                                      </p:cBhvr>
                                      <p:tavLst>
                                        <p:tav tm="0">
                                          <p:val>
                                            <p:strVal val="#ppt_x+0.4"/>
                                          </p:val>
                                        </p:tav>
                                        <p:tav tm="100000">
                                          <p:val>
                                            <p:strVal val="#ppt_x-0.05"/>
                                          </p:val>
                                        </p:tav>
                                      </p:tavLst>
                                    </p:anim>
                                    <p:anim calcmode="lin" valueType="num">
                                      <p:cBhvr>
                                        <p:cTn id="60" dur="800" decel="100000" fill="hold"/>
                                        <p:tgtEl>
                                          <p:spTgt spid="10243">
                                            <p:txEl>
                                              <p:charRg st="379" end="437"/>
                                            </p:txEl>
                                          </p:spTgt>
                                        </p:tgtEl>
                                        <p:attrNameLst>
                                          <p:attrName>ppt_y</p:attrName>
                                        </p:attrNameLst>
                                      </p:cBhvr>
                                      <p:tavLst>
                                        <p:tav tm="0">
                                          <p:val>
                                            <p:strVal val="#ppt_y-0.4"/>
                                          </p:val>
                                        </p:tav>
                                        <p:tav tm="100000">
                                          <p:val>
                                            <p:strVal val="#ppt_y+0.1"/>
                                          </p:val>
                                        </p:tav>
                                      </p:tavLst>
                                    </p:anim>
                                    <p:anim calcmode="lin" valueType="num">
                                      <p:cBhvr>
                                        <p:cTn id="61" dur="200" accel="100000" fill="hold">
                                          <p:stCondLst>
                                            <p:cond delay="800"/>
                                          </p:stCondLst>
                                        </p:cTn>
                                        <p:tgtEl>
                                          <p:spTgt spid="10243">
                                            <p:txEl>
                                              <p:charRg st="379" end="437"/>
                                            </p:txEl>
                                          </p:spTgt>
                                        </p:tgtEl>
                                        <p:attrNameLst>
                                          <p:attrName>ppt_x</p:attrName>
                                        </p:attrNameLst>
                                      </p:cBhvr>
                                      <p:tavLst>
                                        <p:tav tm="0">
                                          <p:val>
                                            <p:strVal val="#ppt_x-0.05"/>
                                          </p:val>
                                        </p:tav>
                                        <p:tav tm="100000">
                                          <p:val>
                                            <p:strVal val="#ppt_x"/>
                                          </p:val>
                                        </p:tav>
                                      </p:tavLst>
                                    </p:anim>
                                    <p:anim calcmode="lin" valueType="num">
                                      <p:cBhvr>
                                        <p:cTn id="62" dur="200" accel="100000" fill="hold">
                                          <p:stCondLst>
                                            <p:cond delay="800"/>
                                          </p:stCondLst>
                                        </p:cTn>
                                        <p:tgtEl>
                                          <p:spTgt spid="10243">
                                            <p:txEl>
                                              <p:charRg st="379" end="437"/>
                                            </p:txEl>
                                          </p:spTgt>
                                        </p:tgtEl>
                                        <p:attrNameLst>
                                          <p:attrName>ppt_y</p:attrName>
                                        </p:attrNameLst>
                                      </p:cBhvr>
                                      <p:tavLst>
                                        <p:tav tm="0">
                                          <p:val>
                                            <p:strVal val="#ppt_y+0.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0243">
                                            <p:txEl>
                                              <p:pRg st="6" end="6"/>
                                            </p:txEl>
                                          </p:spTgt>
                                        </p:tgtEl>
                                        <p:attrNameLst>
                                          <p:attrName>style.visibility</p:attrName>
                                        </p:attrNameLst>
                                      </p:cBhvr>
                                      <p:to>
                                        <p:strVal val="visible"/>
                                      </p:to>
                                    </p:set>
                                    <p:anim calcmode="lin" valueType="num">
                                      <p:cBhvr additive="base">
                                        <p:cTn id="67" dur="5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2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1.1.2 </a:t>
            </a:r>
            <a:r>
              <a:rPr kumimoji="0" 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微型计算机的分类及其应用</a:t>
            </a:r>
            <a:endParaRPr kumimoji="0" 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75779" name="Rectangle 3"/>
          <p:cNvSpPr>
            <a:spLocks noGrp="1"/>
          </p:cNvSpPr>
          <p:nvPr>
            <p:ph idx="1"/>
          </p:nvPr>
        </p:nvSpPr>
        <p:spPr/>
        <p:txBody>
          <a:bodyPr vert="horz" wrap="square" lIns="91440" tIns="45720" rIns="91440" bIns="45720" anchor="t" anchorCtr="0"/>
          <a:p>
            <a:pPr eaLnBrk="1" hangingPunct="1">
              <a:buNone/>
            </a:pPr>
            <a:r>
              <a:rPr lang="zh-CN" altLang="en-US" sz="3600" dirty="0"/>
              <a:t>本小节内容：</a:t>
            </a:r>
            <a:endParaRPr lang="zh-CN" altLang="en-US" sz="3600" dirty="0"/>
          </a:p>
          <a:p>
            <a:pPr lvl="1" eaLnBrk="1" hangingPunct="1">
              <a:buFont typeface="Wingdings" panose="05000000000000000000" pitchFamily="2" charset="2"/>
              <a:buChar char="n"/>
            </a:pPr>
            <a:r>
              <a:rPr lang="zh-CN" altLang="en-US" sz="3600" dirty="0"/>
              <a:t>微型计算机的分类</a:t>
            </a:r>
            <a:endParaRPr lang="zh-CN" altLang="en-US" sz="3600" dirty="0"/>
          </a:p>
          <a:p>
            <a:pPr lvl="1" eaLnBrk="1" hangingPunct="1">
              <a:buFont typeface="Wingdings" panose="05000000000000000000" pitchFamily="2" charset="2"/>
              <a:buChar char="n"/>
            </a:pPr>
            <a:r>
              <a:rPr lang="zh-CN" altLang="en-US" sz="3600" dirty="0"/>
              <a:t>微型计算机的应用</a:t>
            </a:r>
            <a:endParaRPr lang="zh-CN" altLang="en-US" sz="3600" dirty="0"/>
          </a:p>
        </p:txBody>
      </p:sp>
    </p:spTree>
  </p:cSld>
  <p:clrMapOvr>
    <a:masterClrMapping/>
  </p:clrMapOvr>
  <p:transition>
    <p:rand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微型计算机的分类</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2291" name="Rectangle 3"/>
          <p:cNvSpPr>
            <a:spLocks noGrp="1"/>
          </p:cNvSpPr>
          <p:nvPr>
            <p:ph idx="1"/>
          </p:nvPr>
        </p:nvSpPr>
        <p:spPr>
          <a:xfrm>
            <a:off x="539750" y="1871663"/>
            <a:ext cx="8280400" cy="4365625"/>
          </a:xfrm>
        </p:spPr>
        <p:txBody>
          <a:bodyPr vert="horz" wrap="square" lIns="91440" tIns="45720" rIns="91440" bIns="45720" anchor="t" anchorCtr="0"/>
          <a:p>
            <a:pPr marL="0" indent="0" eaLnBrk="1" hangingPunct="1"/>
            <a:r>
              <a:rPr lang="zh-CN" altLang="en-US" b="1" dirty="0"/>
              <a:t>按微处理器的位数划分：</a:t>
            </a:r>
            <a:br>
              <a:rPr lang="zh-CN" altLang="en-US" b="1" dirty="0"/>
            </a:br>
            <a:r>
              <a:rPr lang="zh-CN" altLang="en-US" b="1" dirty="0"/>
              <a:t>  </a:t>
            </a:r>
            <a:r>
              <a:rPr lang="en-US" altLang="zh-CN" dirty="0"/>
              <a:t>4</a:t>
            </a:r>
            <a:r>
              <a:rPr lang="zh-CN" altLang="en-US" dirty="0"/>
              <a:t>位机、</a:t>
            </a:r>
            <a:r>
              <a:rPr lang="en-US" altLang="zh-CN" dirty="0"/>
              <a:t>8</a:t>
            </a:r>
            <a:r>
              <a:rPr lang="zh-CN" altLang="en-US" dirty="0"/>
              <a:t>位机、</a:t>
            </a:r>
            <a:r>
              <a:rPr lang="en-US" altLang="zh-CN" dirty="0"/>
              <a:t>16</a:t>
            </a:r>
            <a:r>
              <a:rPr lang="zh-CN" altLang="en-US" dirty="0"/>
              <a:t>位机、</a:t>
            </a:r>
            <a:r>
              <a:rPr lang="en-US" altLang="zh-CN" dirty="0"/>
              <a:t>32</a:t>
            </a:r>
            <a:r>
              <a:rPr lang="zh-CN" altLang="en-US" dirty="0"/>
              <a:t>位机和</a:t>
            </a:r>
            <a:r>
              <a:rPr lang="en-US" altLang="zh-CN" dirty="0"/>
              <a:t>64</a:t>
            </a:r>
            <a:r>
              <a:rPr lang="zh-CN" altLang="en-US" dirty="0"/>
              <a:t>位机。</a:t>
            </a:r>
            <a:endParaRPr lang="zh-CN" altLang="en-US" dirty="0"/>
          </a:p>
          <a:p>
            <a:pPr marL="0" indent="0" eaLnBrk="1" hangingPunct="1"/>
            <a:r>
              <a:rPr lang="zh-CN" altLang="en-US" b="1" dirty="0"/>
              <a:t>按组装形式和系统规模划分：</a:t>
            </a:r>
            <a:endParaRPr lang="zh-CN" altLang="en-US" b="1" dirty="0"/>
          </a:p>
          <a:p>
            <a:pPr marL="822325" lvl="1" eaLnBrk="1" hangingPunct="1">
              <a:buFont typeface="Wingdings" panose="05000000000000000000" pitchFamily="2" charset="2"/>
              <a:buChar char="n"/>
            </a:pPr>
            <a:r>
              <a:rPr lang="zh-CN" altLang="en-US" dirty="0"/>
              <a:t>单片机</a:t>
            </a:r>
            <a:endParaRPr lang="zh-CN" altLang="en-US" dirty="0"/>
          </a:p>
          <a:p>
            <a:pPr marL="822325" lvl="1" eaLnBrk="1" hangingPunct="1">
              <a:buFont typeface="Wingdings" panose="05000000000000000000" pitchFamily="2" charset="2"/>
              <a:buChar char="n"/>
            </a:pPr>
            <a:r>
              <a:rPr lang="zh-CN" altLang="en-US" dirty="0"/>
              <a:t>单板机</a:t>
            </a:r>
            <a:endParaRPr lang="zh-CN" altLang="en-US" dirty="0"/>
          </a:p>
          <a:p>
            <a:pPr marL="822325" lvl="1" eaLnBrk="1" hangingPunct="1">
              <a:buFont typeface="Wingdings" panose="05000000000000000000" pitchFamily="2" charset="2"/>
              <a:buChar char="n"/>
            </a:pPr>
            <a:r>
              <a:rPr lang="zh-CN" altLang="en-US" dirty="0"/>
              <a:t>个人计算机</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291">
                                            <p:txEl>
                                              <p:charRg st="0" end="38"/>
                                            </p:txEl>
                                          </p:spTgt>
                                        </p:tgtEl>
                                        <p:attrNameLst>
                                          <p:attrName>style.visibility</p:attrName>
                                        </p:attrNameLst>
                                      </p:cBhvr>
                                      <p:to>
                                        <p:strVal val="visible"/>
                                      </p:to>
                                    </p:set>
                                    <p:animEffect transition="in" filter="slide(fromBottom)">
                                      <p:cBhvr>
                                        <p:cTn id="7" dur="500"/>
                                        <p:tgtEl>
                                          <p:spTgt spid="12291">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2291">
                                            <p:txEl>
                                              <p:charRg st="38" end="52"/>
                                            </p:txEl>
                                          </p:spTgt>
                                        </p:tgtEl>
                                        <p:attrNameLst>
                                          <p:attrName>style.visibility</p:attrName>
                                        </p:attrNameLst>
                                      </p:cBhvr>
                                      <p:to>
                                        <p:strVal val="visible"/>
                                      </p:to>
                                    </p:set>
                                    <p:animEffect transition="in" filter="slide(fromBottom)">
                                      <p:cBhvr>
                                        <p:cTn id="12" dur="500"/>
                                        <p:tgtEl>
                                          <p:spTgt spid="12291">
                                            <p:txEl>
                                              <p:charRg st="38" end="5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12291">
                                            <p:txEl>
                                              <p:charRg st="52" end="56"/>
                                            </p:txEl>
                                          </p:spTgt>
                                        </p:tgtEl>
                                        <p:attrNameLst>
                                          <p:attrName>style.visibility</p:attrName>
                                        </p:attrNameLst>
                                      </p:cBhvr>
                                      <p:to>
                                        <p:strVal val="visible"/>
                                      </p:to>
                                    </p:set>
                                    <p:animEffect transition="in" filter="slide(fromBottom)">
                                      <p:cBhvr>
                                        <p:cTn id="17" dur="500"/>
                                        <p:tgtEl>
                                          <p:spTgt spid="12291">
                                            <p:txEl>
                                              <p:charRg st="52" end="5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12291">
                                            <p:txEl>
                                              <p:charRg st="56" end="60"/>
                                            </p:txEl>
                                          </p:spTgt>
                                        </p:tgtEl>
                                        <p:attrNameLst>
                                          <p:attrName>style.visibility</p:attrName>
                                        </p:attrNameLst>
                                      </p:cBhvr>
                                      <p:to>
                                        <p:strVal val="visible"/>
                                      </p:to>
                                    </p:set>
                                    <p:animEffect transition="in" filter="slide(fromBottom)">
                                      <p:cBhvr>
                                        <p:cTn id="22" dur="500"/>
                                        <p:tgtEl>
                                          <p:spTgt spid="12291">
                                            <p:txEl>
                                              <p:charRg st="56" end="6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2291">
                                            <p:txEl>
                                              <p:charRg st="60" end="66"/>
                                            </p:txEl>
                                          </p:spTgt>
                                        </p:tgtEl>
                                        <p:attrNameLst>
                                          <p:attrName>style.visibility</p:attrName>
                                        </p:attrNameLst>
                                      </p:cBhvr>
                                      <p:to>
                                        <p:strVal val="visible"/>
                                      </p:to>
                                    </p:set>
                                    <p:animEffect transition="in" filter="slide(fromBottom)">
                                      <p:cBhvr>
                                        <p:cTn id="27" dur="500"/>
                                        <p:tgtEl>
                                          <p:spTgt spid="12291">
                                            <p:txEl>
                                              <p:charRg st="60" end="6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单片机</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3315" name="Rectangle 3"/>
          <p:cNvSpPr>
            <a:spLocks noGrp="1"/>
          </p:cNvSpPr>
          <p:nvPr>
            <p:ph idx="1"/>
          </p:nvPr>
        </p:nvSpPr>
        <p:spPr/>
        <p:txBody>
          <a:bodyPr vert="horz" wrap="square" lIns="91440" tIns="45720" rIns="91440" bIns="45720" anchor="t" anchorCtr="0"/>
          <a:p>
            <a:pPr marL="0" indent="0" eaLnBrk="1" hangingPunct="1"/>
            <a:r>
              <a:rPr lang="zh-CN" altLang="en-US" dirty="0"/>
              <a:t>单片微型计算机</a:t>
            </a:r>
            <a:r>
              <a:rPr lang="en-US" altLang="zh-CN" dirty="0"/>
              <a:t>(</a:t>
            </a:r>
            <a:r>
              <a:rPr lang="zh-CN" altLang="en-US" dirty="0"/>
              <a:t>简称单片机</a:t>
            </a:r>
            <a:r>
              <a:rPr lang="en-US" altLang="zh-CN" dirty="0"/>
              <a:t>)</a:t>
            </a:r>
            <a:r>
              <a:rPr lang="zh-CN" altLang="en-US" dirty="0"/>
              <a:t>：将微处理器、</a:t>
            </a:r>
            <a:r>
              <a:rPr lang="en-US" altLang="zh-CN" dirty="0"/>
              <a:t>RAM</a:t>
            </a:r>
            <a:r>
              <a:rPr lang="zh-CN" altLang="en-US" dirty="0"/>
              <a:t>、</a:t>
            </a:r>
            <a:r>
              <a:rPr lang="en-US" altLang="zh-CN" dirty="0"/>
              <a:t>ROM</a:t>
            </a:r>
            <a:r>
              <a:rPr lang="zh-CN" altLang="en-US" dirty="0"/>
              <a:t>及</a:t>
            </a:r>
            <a:r>
              <a:rPr lang="en-US" altLang="zh-CN" dirty="0"/>
              <a:t>I/O</a:t>
            </a:r>
            <a:r>
              <a:rPr lang="zh-CN" altLang="en-US" dirty="0"/>
              <a:t>接口电路等集成在</a:t>
            </a:r>
            <a:r>
              <a:rPr lang="zh-CN" altLang="en-US" b="1" dirty="0">
                <a:solidFill>
                  <a:schemeClr val="folHlink"/>
                </a:solidFill>
              </a:rPr>
              <a:t>一块芯片上的计算机</a:t>
            </a:r>
            <a:r>
              <a:rPr lang="zh-CN" altLang="en-US" dirty="0"/>
              <a:t>。</a:t>
            </a:r>
            <a:endParaRPr lang="zh-CN" altLang="en-US" dirty="0"/>
          </a:p>
          <a:p>
            <a:pPr marL="0" indent="0" eaLnBrk="1" hangingPunct="1"/>
            <a:r>
              <a:rPr lang="zh-CN" altLang="en-US" dirty="0"/>
              <a:t>由于单片机体积小、功耗低、可靠性高，在智能仪器仪表和控制领域得到广泛应用。典型的有</a:t>
            </a:r>
            <a:r>
              <a:rPr lang="en-US" altLang="zh-CN" dirty="0"/>
              <a:t>Intel 8051</a:t>
            </a:r>
            <a:r>
              <a:rPr lang="zh-CN" altLang="en-US" dirty="0"/>
              <a:t>、</a:t>
            </a:r>
            <a:r>
              <a:rPr lang="en-US" altLang="zh-CN" dirty="0"/>
              <a:t>Intel 8096</a:t>
            </a:r>
            <a:r>
              <a:rPr lang="zh-CN" altLang="en-US" dirty="0"/>
              <a:t>等产品。</a:t>
            </a:r>
            <a:endParaRPr lang="zh-CN" altLang="en-US" dirty="0"/>
          </a:p>
          <a:p>
            <a:pPr marL="0" indent="0" eaLnBrk="1" hangingPunct="1"/>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315">
                                            <p:txEl>
                                              <p:charRg st="0" end="51"/>
                                            </p:txEl>
                                          </p:spTgt>
                                        </p:tgtEl>
                                        <p:attrNameLst>
                                          <p:attrName>style.visibility</p:attrName>
                                        </p:attrNameLst>
                                      </p:cBhvr>
                                      <p:to>
                                        <p:strVal val="visible"/>
                                      </p:to>
                                    </p:set>
                                    <p:animEffect transition="in" filter="dissolve">
                                      <p:cBhvr>
                                        <p:cTn id="7" dur="500"/>
                                        <p:tgtEl>
                                          <p:spTgt spid="13315">
                                            <p:txEl>
                                              <p:charRg st="0" end="5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315">
                                            <p:txEl>
                                              <p:charRg st="51" end="118"/>
                                            </p:txEl>
                                          </p:spTgt>
                                        </p:tgtEl>
                                        <p:attrNameLst>
                                          <p:attrName>style.visibility</p:attrName>
                                        </p:attrNameLst>
                                      </p:cBhvr>
                                      <p:to>
                                        <p:strVal val="visible"/>
                                      </p:to>
                                    </p:set>
                                    <p:animEffect transition="in" filter="dissolve">
                                      <p:cBhvr>
                                        <p:cTn id="12" dur="500"/>
                                        <p:tgtEl>
                                          <p:spTgt spid="13315">
                                            <p:txEl>
                                              <p:charRg st="51" end="1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单板机</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4339" name="Rectangle 3"/>
          <p:cNvSpPr>
            <a:spLocks noGrp="1"/>
          </p:cNvSpPr>
          <p:nvPr>
            <p:ph idx="1"/>
          </p:nvPr>
        </p:nvSpPr>
        <p:spPr>
          <a:xfrm>
            <a:off x="468313" y="1773238"/>
            <a:ext cx="8351837" cy="4679950"/>
          </a:xfrm>
        </p:spPr>
        <p:txBody>
          <a:bodyPr vert="horz" wrap="square" lIns="91440" tIns="45720" rIns="91440" bIns="45720" anchor="t" anchorCtr="0"/>
          <a:p>
            <a:pPr eaLnBrk="1" hangingPunct="1"/>
            <a:r>
              <a:rPr lang="zh-CN" altLang="en-US" dirty="0"/>
              <a:t>单板微型计算机</a:t>
            </a:r>
            <a:r>
              <a:rPr lang="en-US" altLang="zh-CN" dirty="0"/>
              <a:t>(</a:t>
            </a:r>
            <a:r>
              <a:rPr lang="zh-CN" altLang="en-US" dirty="0"/>
              <a:t>简称单板机</a:t>
            </a:r>
            <a:r>
              <a:rPr lang="en-US" altLang="zh-CN" dirty="0"/>
              <a:t>)</a:t>
            </a:r>
            <a:r>
              <a:rPr lang="zh-CN" altLang="en-US" dirty="0"/>
              <a:t>：将微处理器、</a:t>
            </a:r>
            <a:r>
              <a:rPr lang="en-US" altLang="zh-CN" dirty="0"/>
              <a:t>RAM</a:t>
            </a:r>
            <a:r>
              <a:rPr lang="zh-CN" altLang="en-US" dirty="0"/>
              <a:t>、</a:t>
            </a:r>
            <a:r>
              <a:rPr lang="en-US" altLang="zh-CN" dirty="0"/>
              <a:t>ROM</a:t>
            </a:r>
            <a:r>
              <a:rPr lang="zh-CN" altLang="en-US" dirty="0"/>
              <a:t>、</a:t>
            </a:r>
            <a:r>
              <a:rPr lang="en-US" altLang="zh-CN" dirty="0"/>
              <a:t>I/O</a:t>
            </a:r>
            <a:r>
              <a:rPr lang="zh-CN" altLang="en-US" dirty="0"/>
              <a:t>接口电路及少量的输入</a:t>
            </a:r>
            <a:r>
              <a:rPr lang="en-US" altLang="zh-CN" dirty="0"/>
              <a:t>/</a:t>
            </a:r>
            <a:r>
              <a:rPr lang="zh-CN" altLang="en-US" dirty="0"/>
              <a:t>输出设备装配在</a:t>
            </a:r>
            <a:r>
              <a:rPr lang="zh-CN" altLang="en-US" b="1" dirty="0">
                <a:solidFill>
                  <a:schemeClr val="folHlink"/>
                </a:solidFill>
              </a:rPr>
              <a:t>一块印刷线路板上的计算机</a:t>
            </a:r>
            <a:r>
              <a:rPr lang="zh-CN" altLang="en-US" dirty="0"/>
              <a:t>。</a:t>
            </a:r>
            <a:endParaRPr lang="zh-CN" altLang="en-US" dirty="0"/>
          </a:p>
          <a:p>
            <a:pPr eaLnBrk="1" hangingPunct="1"/>
            <a:r>
              <a:rPr lang="zh-CN" altLang="en-US" dirty="0"/>
              <a:t>单板机结构简单、价格低廉、具有独立的微型机操作功能，但输入</a:t>
            </a:r>
            <a:r>
              <a:rPr lang="en-US" altLang="zh-CN" dirty="0"/>
              <a:t>/</a:t>
            </a:r>
            <a:r>
              <a:rPr lang="zh-CN" altLang="en-US" dirty="0"/>
              <a:t>输出设备简单，一般为小键盘、数码显示器等，通常用在简单的控制系统和教学实验。典型的有以</a:t>
            </a:r>
            <a:r>
              <a:rPr lang="en-US" altLang="zh-CN" dirty="0"/>
              <a:t>Z80</a:t>
            </a:r>
            <a:r>
              <a:rPr lang="zh-CN" altLang="en-US" dirty="0"/>
              <a:t>为</a:t>
            </a:r>
            <a:r>
              <a:rPr lang="en-US" altLang="zh-CN" dirty="0"/>
              <a:t>CPU</a:t>
            </a:r>
            <a:r>
              <a:rPr lang="zh-CN" altLang="en-US" dirty="0"/>
              <a:t>的</a:t>
            </a:r>
            <a:r>
              <a:rPr lang="en-US" altLang="zh-CN" dirty="0"/>
              <a:t>TP-801</a:t>
            </a:r>
            <a:r>
              <a:rPr lang="zh-CN" altLang="en-US" dirty="0"/>
              <a:t>、</a:t>
            </a:r>
            <a:r>
              <a:rPr lang="en-US" altLang="zh-CN" dirty="0"/>
              <a:t>以Intel 8086为CPU的TP-86等。</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4339">
                                            <p:txEl>
                                              <p:charRg st="0" end="64"/>
                                            </p:txEl>
                                          </p:spTgt>
                                        </p:tgtEl>
                                        <p:attrNameLst>
                                          <p:attrName>style.visibility</p:attrName>
                                        </p:attrNameLst>
                                      </p:cBhvr>
                                      <p:to>
                                        <p:strVal val="visible"/>
                                      </p:to>
                                    </p:set>
                                    <p:anim calcmode="lin" valueType="num">
                                      <p:cBhvr>
                                        <p:cTn id="7" dur="500" fill="hold"/>
                                        <p:tgtEl>
                                          <p:spTgt spid="14339">
                                            <p:txEl>
                                              <p:charRg st="0" end="64"/>
                                            </p:txEl>
                                          </p:spTgt>
                                        </p:tgtEl>
                                        <p:attrNameLst>
                                          <p:attrName>ppt_w</p:attrName>
                                        </p:attrNameLst>
                                      </p:cBhvr>
                                      <p:tavLst>
                                        <p:tav tm="0">
                                          <p:val>
                                            <p:fltVal val="0.000000"/>
                                          </p:val>
                                        </p:tav>
                                        <p:tav tm="100000">
                                          <p:val>
                                            <p:strVal val="#ppt_w"/>
                                          </p:val>
                                        </p:tav>
                                      </p:tavLst>
                                    </p:anim>
                                    <p:anim calcmode="lin" valueType="num">
                                      <p:cBhvr>
                                        <p:cTn id="8" dur="500" fill="hold"/>
                                        <p:tgtEl>
                                          <p:spTgt spid="14339">
                                            <p:txEl>
                                              <p:charRg st="0" end="64"/>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4339">
                                            <p:txEl>
                                              <p:charRg st="64" end="176"/>
                                            </p:txEl>
                                          </p:spTgt>
                                        </p:tgtEl>
                                        <p:attrNameLst>
                                          <p:attrName>style.visibility</p:attrName>
                                        </p:attrNameLst>
                                      </p:cBhvr>
                                      <p:to>
                                        <p:strVal val="visible"/>
                                      </p:to>
                                    </p:set>
                                    <p:anim calcmode="lin" valueType="num">
                                      <p:cBhvr>
                                        <p:cTn id="13" dur="500" fill="hold"/>
                                        <p:tgtEl>
                                          <p:spTgt spid="14339">
                                            <p:txEl>
                                              <p:charRg st="64" end="176"/>
                                            </p:txEl>
                                          </p:spTgt>
                                        </p:tgtEl>
                                        <p:attrNameLst>
                                          <p:attrName>ppt_w</p:attrName>
                                        </p:attrNameLst>
                                      </p:cBhvr>
                                      <p:tavLst>
                                        <p:tav tm="0">
                                          <p:val>
                                            <p:fltVal val="0.000000"/>
                                          </p:val>
                                        </p:tav>
                                        <p:tav tm="100000">
                                          <p:val>
                                            <p:strVal val="#ppt_w"/>
                                          </p:val>
                                        </p:tav>
                                      </p:tavLst>
                                    </p:anim>
                                    <p:anim calcmode="lin" valueType="num">
                                      <p:cBhvr>
                                        <p:cTn id="14" dur="500" fill="hold"/>
                                        <p:tgtEl>
                                          <p:spTgt spid="14339">
                                            <p:txEl>
                                              <p:charRg st="64" end="176"/>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个人计算机</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5363" name="Rectangle 3"/>
          <p:cNvSpPr>
            <a:spLocks noGrp="1"/>
          </p:cNvSpPr>
          <p:nvPr>
            <p:ph idx="1"/>
          </p:nvPr>
        </p:nvSpPr>
        <p:spPr>
          <a:xfrm>
            <a:off x="539750" y="1484313"/>
            <a:ext cx="8280400" cy="4114800"/>
          </a:xfrm>
        </p:spPr>
        <p:txBody>
          <a:bodyPr vert="horz" wrap="square" lIns="91440" tIns="45720" rIns="91440" bIns="45720" anchor="t" anchorCtr="0"/>
          <a:p>
            <a:pPr eaLnBrk="1" hangingPunct="1"/>
            <a:r>
              <a:rPr lang="zh-CN" altLang="en-US" dirty="0"/>
              <a:t>个人计算机</a:t>
            </a:r>
            <a:r>
              <a:rPr lang="en-US" altLang="zh-CN" dirty="0"/>
              <a:t>(Personal Computer)</a:t>
            </a:r>
            <a:r>
              <a:rPr lang="zh-CN" altLang="en-US" dirty="0"/>
              <a:t>，简称</a:t>
            </a:r>
            <a:r>
              <a:rPr lang="en-US" altLang="zh-CN" dirty="0"/>
              <a:t>PC </a:t>
            </a:r>
            <a:r>
              <a:rPr lang="zh-CN" altLang="en-US" dirty="0"/>
              <a:t>机：由微处理器组装而成，供单个用户使用。通常说的微型计算机或家用电脑就属于个人计算机。</a:t>
            </a:r>
            <a:endParaRPr lang="zh-CN" altLang="en-US" dirty="0"/>
          </a:p>
          <a:p>
            <a:pPr eaLnBrk="1" hangingPunct="1"/>
            <a:r>
              <a:rPr lang="zh-CN" altLang="en-US" dirty="0"/>
              <a:t>典型的有</a:t>
            </a:r>
            <a:r>
              <a:rPr lang="en-US" altLang="zh-CN" dirty="0"/>
              <a:t>IBM</a:t>
            </a:r>
            <a:r>
              <a:rPr lang="zh-CN" altLang="en-US" dirty="0"/>
              <a:t>公司推出的</a:t>
            </a:r>
            <a:r>
              <a:rPr lang="en-US" altLang="zh-CN" dirty="0"/>
              <a:t>IBM-PC</a:t>
            </a:r>
            <a:r>
              <a:rPr lang="zh-CN" altLang="en-US" dirty="0"/>
              <a:t>系列计算机。现在，个人计算机在商用、家用、科学研究、教育等领域都得到了广泛的应用。</a:t>
            </a:r>
            <a:endParaRPr lang="zh-CN" altLang="en-US" dirty="0"/>
          </a:p>
          <a:p>
            <a:pPr eaLnBrk="1" hangingPunct="1"/>
            <a:r>
              <a:rPr lang="zh-CN" altLang="en-US" dirty="0"/>
              <a:t>目前国内市场电脑品牌有：联想、华为、小米、荣耀、神舟、清华同方、华硕、宏基、惠普、戴尔、</a:t>
            </a:r>
            <a:r>
              <a:rPr lang="zh-CN" altLang="en-US" dirty="0"/>
              <a:t>苹果</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363">
                                            <p:txEl>
                                              <p:charRg st="0" end="74"/>
                                            </p:txEl>
                                          </p:spTgt>
                                        </p:tgtEl>
                                        <p:attrNameLst>
                                          <p:attrName>style.visibility</p:attrName>
                                        </p:attrNameLst>
                                      </p:cBhvr>
                                      <p:to>
                                        <p:strVal val="visible"/>
                                      </p:to>
                                    </p:set>
                                    <p:animEffect transition="in" filter="slide(fromBottom)">
                                      <p:cBhvr>
                                        <p:cTn id="7" dur="500"/>
                                        <p:tgtEl>
                                          <p:spTgt spid="15363">
                                            <p:txEl>
                                              <p:charRg st="0" end="7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363">
                                            <p:txEl>
                                              <p:charRg st="74" end="134"/>
                                            </p:txEl>
                                          </p:spTgt>
                                        </p:tgtEl>
                                        <p:attrNameLst>
                                          <p:attrName>style.visibility</p:attrName>
                                        </p:attrNameLst>
                                      </p:cBhvr>
                                      <p:to>
                                        <p:strVal val="visible"/>
                                      </p:to>
                                    </p:set>
                                    <p:animEffect transition="in" filter="slide(fromBottom)">
                                      <p:cBhvr>
                                        <p:cTn id="12" dur="500"/>
                                        <p:tgtEl>
                                          <p:spTgt spid="15363">
                                            <p:txEl>
                                              <p:charRg st="74" end="13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5363">
                                            <p:txEl>
                                              <p:charRg st="2" end="2"/>
                                            </p:txEl>
                                          </p:spTgt>
                                        </p:tgtEl>
                                        <p:attrNameLst>
                                          <p:attrName>style.visibility</p:attrName>
                                        </p:attrNameLst>
                                      </p:cBhvr>
                                      <p:to>
                                        <p:strVal val="visible"/>
                                      </p:to>
                                    </p:set>
                                    <p:animEffect transition="in" filter="slide(fromBottom)">
                                      <p:cBhvr>
                                        <p:cTn id="17" dur="500"/>
                                        <p:tgtEl>
                                          <p:spTgt spid="15363">
                                            <p:txEl>
                                              <p:char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2.</a:t>
            </a:r>
            <a:r>
              <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微型计算机的应用</a:t>
            </a:r>
            <a:endPar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80899" name="Rectangle 3"/>
          <p:cNvSpPr>
            <a:spLocks noGrp="1"/>
          </p:cNvSpPr>
          <p:nvPr>
            <p:ph idx="1"/>
          </p:nvPr>
        </p:nvSpPr>
        <p:spPr/>
        <p:txBody>
          <a:bodyPr vert="horz" wrap="square" lIns="91440" tIns="45720" rIns="91440" bIns="45720" anchor="t" anchorCtr="0"/>
          <a:p>
            <a:pPr eaLnBrk="1" hangingPunct="1">
              <a:buNone/>
            </a:pPr>
            <a:r>
              <a:rPr lang="zh-CN" altLang="en-US" dirty="0"/>
              <a:t>包括：</a:t>
            </a:r>
            <a:endParaRPr lang="zh-CN" altLang="en-US" dirty="0"/>
          </a:p>
          <a:p>
            <a:pPr lvl="1" eaLnBrk="1" hangingPunct="1">
              <a:buFont typeface="Wingdings" panose="05000000000000000000" pitchFamily="2" charset="2"/>
              <a:buChar char="n"/>
            </a:pPr>
            <a:r>
              <a:rPr lang="zh-CN" altLang="en-US" sz="3200" dirty="0"/>
              <a:t>科学计算</a:t>
            </a:r>
            <a:endParaRPr lang="zh-CN" altLang="en-US" sz="3200" dirty="0"/>
          </a:p>
          <a:p>
            <a:pPr lvl="1" eaLnBrk="1" hangingPunct="1">
              <a:buFont typeface="Wingdings" panose="05000000000000000000" pitchFamily="2" charset="2"/>
              <a:buChar char="n"/>
            </a:pPr>
            <a:r>
              <a:rPr lang="zh-CN" altLang="en-US" sz="3200" dirty="0"/>
              <a:t>信息处理</a:t>
            </a:r>
            <a:endParaRPr lang="zh-CN" altLang="en-US" sz="3200" dirty="0"/>
          </a:p>
          <a:p>
            <a:pPr lvl="1" eaLnBrk="1" hangingPunct="1">
              <a:buFont typeface="Wingdings" panose="05000000000000000000" pitchFamily="2" charset="2"/>
              <a:buChar char="n"/>
            </a:pPr>
            <a:r>
              <a:rPr lang="zh-CN" altLang="en-US" sz="3200" dirty="0"/>
              <a:t>计算机控制</a:t>
            </a:r>
            <a:endParaRPr lang="zh-CN" altLang="en-US" sz="3200" dirty="0"/>
          </a:p>
          <a:p>
            <a:pPr lvl="1" eaLnBrk="1" hangingPunct="1">
              <a:buFont typeface="Wingdings" panose="05000000000000000000" pitchFamily="2" charset="2"/>
              <a:buChar char="n"/>
            </a:pPr>
            <a:r>
              <a:rPr lang="zh-CN" altLang="en-US" sz="3200" dirty="0"/>
              <a:t>智能仪器</a:t>
            </a:r>
            <a:endParaRPr lang="zh-CN" altLang="en-US" sz="3200" dirty="0"/>
          </a:p>
          <a:p>
            <a:pPr lvl="1" eaLnBrk="1" hangingPunct="1">
              <a:buFont typeface="Wingdings" panose="05000000000000000000" pitchFamily="2" charset="2"/>
              <a:buChar char="n"/>
            </a:pPr>
            <a:r>
              <a:rPr lang="zh-CN" altLang="en-US" sz="3200" dirty="0"/>
              <a:t>计算机通信</a:t>
            </a:r>
            <a:endParaRPr lang="zh-CN" altLang="en-US" sz="3200" dirty="0"/>
          </a:p>
        </p:txBody>
      </p:sp>
    </p:spTree>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741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科学计算</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7411" name="Rectangle 3"/>
          <p:cNvSpPr>
            <a:spLocks noGrp="1"/>
          </p:cNvSpPr>
          <p:nvPr>
            <p:ph idx="1"/>
          </p:nvPr>
        </p:nvSpPr>
        <p:spPr/>
        <p:txBody>
          <a:bodyPr vert="horz" wrap="square" lIns="91440" tIns="45720" rIns="91440" bIns="45720" anchor="t" anchorCtr="0"/>
          <a:p>
            <a:pPr eaLnBrk="1" hangingPunct="1"/>
            <a:r>
              <a:rPr lang="zh-CN" altLang="en-US" dirty="0"/>
              <a:t>现在微型计算机的性能已超过原来的小型机，具有很强的运算能力。</a:t>
            </a:r>
            <a:endParaRPr lang="zh-CN" altLang="en-US" dirty="0"/>
          </a:p>
          <a:p>
            <a:pPr eaLnBrk="1" hangingPunct="1"/>
            <a:r>
              <a:rPr lang="zh-CN" altLang="en-US" dirty="0"/>
              <a:t>由多个微处理器或多个微型计算机组成多处理器或多计算机系统，已成为搭建大型计算机系统的主流。</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411">
                                            <p:txEl>
                                              <p:charRg st="0" end="31"/>
                                            </p:txEl>
                                          </p:spTgt>
                                        </p:tgtEl>
                                        <p:attrNameLst>
                                          <p:attrName>style.visibility</p:attrName>
                                        </p:attrNameLst>
                                      </p:cBhvr>
                                      <p:to>
                                        <p:strVal val="visible"/>
                                      </p:to>
                                    </p:set>
                                    <p:anim calcmode="lin" valueType="num">
                                      <p:cBhvr additive="base">
                                        <p:cTn id="7" dur="500" fill="hold"/>
                                        <p:tgtEl>
                                          <p:spTgt spid="17411">
                                            <p:txEl>
                                              <p:charRg st="0" end="3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charRg st="0" end="3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411">
                                            <p:txEl>
                                              <p:charRg st="31" end="77"/>
                                            </p:txEl>
                                          </p:spTgt>
                                        </p:tgtEl>
                                        <p:attrNameLst>
                                          <p:attrName>style.visibility</p:attrName>
                                        </p:attrNameLst>
                                      </p:cBhvr>
                                      <p:to>
                                        <p:strVal val="visible"/>
                                      </p:to>
                                    </p:set>
                                    <p:anim calcmode="lin" valueType="num">
                                      <p:cBhvr additive="base">
                                        <p:cTn id="13" dur="500" fill="hold"/>
                                        <p:tgtEl>
                                          <p:spTgt spid="17411">
                                            <p:txEl>
                                              <p:charRg st="31" end="7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charRg st="31" end="7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843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信息处理</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8435" name="Rectangle 3"/>
          <p:cNvSpPr>
            <a:spLocks noGrp="1"/>
          </p:cNvSpPr>
          <p:nvPr>
            <p:ph idx="1"/>
          </p:nvPr>
        </p:nvSpPr>
        <p:spPr/>
        <p:txBody>
          <a:bodyPr vert="horz" wrap="square" lIns="91440" tIns="45720" rIns="91440" bIns="45720" anchor="t" anchorCtr="0"/>
          <a:p>
            <a:pPr marL="0" indent="0" eaLnBrk="1" hangingPunct="1"/>
            <a:r>
              <a:rPr lang="zh-CN" altLang="en-US" dirty="0"/>
              <a:t>微型计算机配上适当的管理软件，实现诸如办公自动化、银行管理、航空管理、企业资源管理等。</a:t>
            </a:r>
            <a:endParaRPr lang="zh-CN" altLang="en-US" dirty="0"/>
          </a:p>
          <a:p>
            <a:pPr marL="0" indent="0" eaLnBrk="1" hangingPunct="1"/>
            <a:r>
              <a:rPr lang="zh-CN" altLang="en-US" dirty="0"/>
              <a:t>采用多媒体技术已可以方便处理图、文、声、像等各种信息。</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435">
                                            <p:txEl>
                                              <p:charRg st="0" end="44"/>
                                            </p:txEl>
                                          </p:spTgt>
                                        </p:tgtEl>
                                        <p:attrNameLst>
                                          <p:attrName>style.visibility</p:attrName>
                                        </p:attrNameLst>
                                      </p:cBhvr>
                                      <p:to>
                                        <p:strVal val="visible"/>
                                      </p:to>
                                    </p:set>
                                    <p:animEffect transition="in" filter="slide(fromBottom)">
                                      <p:cBhvr>
                                        <p:cTn id="7" dur="500"/>
                                        <p:tgtEl>
                                          <p:spTgt spid="18435">
                                            <p:txEl>
                                              <p:charRg st="0" end="4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8435">
                                            <p:txEl>
                                              <p:charRg st="44" end="72"/>
                                            </p:txEl>
                                          </p:spTgt>
                                        </p:tgtEl>
                                        <p:attrNameLst>
                                          <p:attrName>style.visibility</p:attrName>
                                        </p:attrNameLst>
                                      </p:cBhvr>
                                      <p:to>
                                        <p:strVal val="visible"/>
                                      </p:to>
                                    </p:set>
                                    <p:animEffect transition="in" filter="slide(fromBottom)">
                                      <p:cBhvr>
                                        <p:cTn id="12" dur="500"/>
                                        <p:tgtEl>
                                          <p:spTgt spid="18435">
                                            <p:txEl>
                                              <p:charRg st="44" end="7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945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计算机控制</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83971" name="Rectangle 3"/>
          <p:cNvSpPr>
            <a:spLocks noGrp="1"/>
          </p:cNvSpPr>
          <p:nvPr>
            <p:ph idx="1"/>
          </p:nvPr>
        </p:nvSpPr>
        <p:spPr/>
        <p:txBody>
          <a:bodyPr vert="horz" wrap="square" lIns="91440" tIns="45720" rIns="91440" bIns="45720" anchor="t" anchorCtr="0"/>
          <a:p>
            <a:pPr marL="0" indent="0" eaLnBrk="1" hangingPunct="1">
              <a:buNone/>
            </a:pPr>
            <a:r>
              <a:rPr lang="zh-CN" altLang="en-US" dirty="0"/>
              <a:t>生产过程采用实时计算机控制及自动化生产线，可以大大提高产品的数量和质量，节约能源，降低劳动强度。卫星和导弹的发射也离不开计算机控制。 </a:t>
            </a:r>
            <a:endParaRPr lang="zh-CN" altLang="en-US" dirty="0"/>
          </a:p>
          <a:p>
            <a:pPr marL="0" indent="0" eaLnBrk="1" hangingPunct="1"/>
            <a:endParaRPr lang="zh-CN" altLang="en-US" dirty="0"/>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048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智能仪器</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20483" name="Rectangle 3"/>
          <p:cNvSpPr>
            <a:spLocks noGrp="1"/>
          </p:cNvSpPr>
          <p:nvPr>
            <p:ph idx="1"/>
          </p:nvPr>
        </p:nvSpPr>
        <p:spPr/>
        <p:txBody>
          <a:bodyPr vert="horz" wrap="square" lIns="91440" tIns="45720" rIns="91440" bIns="45720" anchor="t" anchorCtr="0"/>
          <a:p>
            <a:pPr eaLnBrk="1" hangingPunct="1"/>
            <a:r>
              <a:rPr lang="zh-CN" altLang="en-US" dirty="0"/>
              <a:t>配备微处理器的仪器仪表，可以极大提高仪器的精度和水平。</a:t>
            </a:r>
            <a:endParaRPr lang="zh-CN" altLang="en-US" dirty="0"/>
          </a:p>
          <a:p>
            <a:pPr eaLnBrk="1" hangingPunct="1"/>
            <a:r>
              <a:rPr lang="zh-CN" altLang="en-US" dirty="0"/>
              <a:t>工业过程中的检测仪器、大型医疗器械等都广泛使用了微处理器。</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0483">
                                            <p:txEl>
                                              <p:charRg st="0" end="28"/>
                                            </p:txEl>
                                          </p:spTgt>
                                        </p:tgtEl>
                                        <p:attrNameLst>
                                          <p:attrName>style.visibility</p:attrName>
                                        </p:attrNameLst>
                                      </p:cBhvr>
                                      <p:to>
                                        <p:strVal val="visible"/>
                                      </p:to>
                                    </p:set>
                                    <p:anim calcmode="lin" valueType="num">
                                      <p:cBhvr>
                                        <p:cTn id="7" dur="500" fill="hold"/>
                                        <p:tgtEl>
                                          <p:spTgt spid="20483">
                                            <p:txEl>
                                              <p:charRg st="0" end="28"/>
                                            </p:txEl>
                                          </p:spTgt>
                                        </p:tgtEl>
                                        <p:attrNameLst>
                                          <p:attrName>ppt_w</p:attrName>
                                        </p:attrNameLst>
                                      </p:cBhvr>
                                      <p:tavLst>
                                        <p:tav tm="0">
                                          <p:val>
                                            <p:fltVal val="0.000000"/>
                                          </p:val>
                                        </p:tav>
                                        <p:tav tm="100000">
                                          <p:val>
                                            <p:strVal val="#ppt_w"/>
                                          </p:val>
                                        </p:tav>
                                      </p:tavLst>
                                    </p:anim>
                                    <p:anim calcmode="lin" valueType="num">
                                      <p:cBhvr>
                                        <p:cTn id="8" dur="500" fill="hold"/>
                                        <p:tgtEl>
                                          <p:spTgt spid="20483">
                                            <p:txEl>
                                              <p:charRg st="0" end="28"/>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0483">
                                            <p:txEl>
                                              <p:charRg st="28" end="58"/>
                                            </p:txEl>
                                          </p:spTgt>
                                        </p:tgtEl>
                                        <p:attrNameLst>
                                          <p:attrName>style.visibility</p:attrName>
                                        </p:attrNameLst>
                                      </p:cBhvr>
                                      <p:to>
                                        <p:strVal val="visible"/>
                                      </p:to>
                                    </p:set>
                                    <p:anim calcmode="lin" valueType="num">
                                      <p:cBhvr>
                                        <p:cTn id="13" dur="500" fill="hold"/>
                                        <p:tgtEl>
                                          <p:spTgt spid="20483">
                                            <p:txEl>
                                              <p:charRg st="28" end="58"/>
                                            </p:txEl>
                                          </p:spTgt>
                                        </p:tgtEl>
                                        <p:attrNameLst>
                                          <p:attrName>ppt_w</p:attrName>
                                        </p:attrNameLst>
                                      </p:cBhvr>
                                      <p:tavLst>
                                        <p:tav tm="0">
                                          <p:val>
                                            <p:fltVal val="0.000000"/>
                                          </p:val>
                                        </p:tav>
                                        <p:tav tm="100000">
                                          <p:val>
                                            <p:strVal val="#ppt_w"/>
                                          </p:val>
                                        </p:tav>
                                      </p:tavLst>
                                    </p:anim>
                                    <p:anim calcmode="lin" valueType="num">
                                      <p:cBhvr>
                                        <p:cTn id="14" dur="500" fill="hold"/>
                                        <p:tgtEl>
                                          <p:spTgt spid="20483">
                                            <p:txEl>
                                              <p:charRg st="28" end="58"/>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150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计算机通信</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21507" name="Rectangle 3"/>
          <p:cNvSpPr>
            <a:spLocks noGrp="1"/>
          </p:cNvSpPr>
          <p:nvPr>
            <p:ph idx="1"/>
          </p:nvPr>
        </p:nvSpPr>
        <p:spPr/>
        <p:txBody>
          <a:bodyPr vert="horz" wrap="square" lIns="91440" tIns="45720" rIns="91440" bIns="45720" anchor="t" anchorCtr="0"/>
          <a:p>
            <a:pPr eaLnBrk="1" hangingPunct="1"/>
            <a:r>
              <a:rPr lang="zh-CN" altLang="en-US" dirty="0"/>
              <a:t>计算机技术和通信技术的结合使得通信事业得到了迅速的发展。</a:t>
            </a:r>
            <a:endParaRPr lang="zh-CN" altLang="en-US" dirty="0"/>
          </a:p>
          <a:p>
            <a:pPr eaLnBrk="1" hangingPunct="1"/>
            <a:r>
              <a:rPr lang="zh-CN" altLang="en-US" dirty="0"/>
              <a:t>微机控制的通讯设备广泛部署，通信工具愈来愈先进和智能化，特别是以计算机技术和通信技术为基础的网络技术的发展已彻底改变了人们的生活。</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507">
                                            <p:txEl>
                                              <p:charRg st="0" end="29"/>
                                            </p:txEl>
                                          </p:spTgt>
                                        </p:tgtEl>
                                        <p:attrNameLst>
                                          <p:attrName>style.visibility</p:attrName>
                                        </p:attrNameLst>
                                      </p:cBhvr>
                                      <p:to>
                                        <p:strVal val="visible"/>
                                      </p:to>
                                    </p:set>
                                    <p:animEffect transition="in" filter="dissolve">
                                      <p:cBhvr>
                                        <p:cTn id="7" dur="500"/>
                                        <p:tgtEl>
                                          <p:spTgt spid="21507">
                                            <p:txEl>
                                              <p:charRg st="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507">
                                            <p:txEl>
                                              <p:charRg st="29" end="95"/>
                                            </p:txEl>
                                          </p:spTgt>
                                        </p:tgtEl>
                                        <p:attrNameLst>
                                          <p:attrName>style.visibility</p:attrName>
                                        </p:attrNameLst>
                                      </p:cBhvr>
                                      <p:to>
                                        <p:strVal val="visible"/>
                                      </p:to>
                                    </p:set>
                                    <p:animEffect transition="in" filter="dissolve">
                                      <p:cBhvr>
                                        <p:cTn id="12" dur="500"/>
                                        <p:tgtEl>
                                          <p:spTgt spid="21507">
                                            <p:txEl>
                                              <p:charRg st="29" end="9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1.2  </a:t>
            </a:r>
            <a:r>
              <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微型计算机系统的组成</a:t>
            </a:r>
            <a:endPar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87043" name="Rectangle 3"/>
          <p:cNvSpPr>
            <a:spLocks noGrp="1"/>
          </p:cNvSpPr>
          <p:nvPr>
            <p:ph idx="1"/>
          </p:nvPr>
        </p:nvSpPr>
        <p:spPr/>
        <p:txBody>
          <a:bodyPr vert="horz" wrap="square" lIns="91440" tIns="45720" rIns="91440" bIns="45720" anchor="t" anchorCtr="0"/>
          <a:p>
            <a:pPr eaLnBrk="1" hangingPunct="1">
              <a:buNone/>
            </a:pPr>
            <a:r>
              <a:rPr lang="zh-CN" altLang="en-US" sz="3600" dirty="0"/>
              <a:t>本节内容：</a:t>
            </a:r>
            <a:endParaRPr lang="zh-CN" altLang="en-US" sz="3600" dirty="0"/>
          </a:p>
          <a:p>
            <a:pPr lvl="1" eaLnBrk="1" hangingPunct="1">
              <a:buFont typeface="Wingdings" panose="05000000000000000000" pitchFamily="2" charset="2"/>
              <a:buChar char="n"/>
            </a:pPr>
            <a:r>
              <a:rPr lang="zh-CN" altLang="en-US" sz="3600" dirty="0"/>
              <a:t>微型计算机硬件</a:t>
            </a:r>
            <a:endParaRPr lang="zh-CN" altLang="en-US" sz="3600" dirty="0"/>
          </a:p>
          <a:p>
            <a:pPr lvl="1" eaLnBrk="1" hangingPunct="1">
              <a:buFont typeface="Wingdings" panose="05000000000000000000" pitchFamily="2" charset="2"/>
              <a:buChar char="n"/>
            </a:pPr>
            <a:r>
              <a:rPr lang="zh-CN" altLang="en-US" sz="3600" dirty="0"/>
              <a:t>微型计算机软件</a:t>
            </a:r>
            <a:endParaRPr lang="zh-CN" altLang="en-US" sz="3600" dirty="0"/>
          </a:p>
          <a:p>
            <a:pPr lvl="1" eaLnBrk="1" hangingPunct="1">
              <a:buFont typeface="Wingdings" panose="05000000000000000000" pitchFamily="2" charset="2"/>
              <a:buChar char="n"/>
            </a:pPr>
            <a:r>
              <a:rPr lang="zh-CN" altLang="en-US" sz="3600" dirty="0"/>
              <a:t>微型计算机的工作过程</a:t>
            </a:r>
            <a:endParaRPr lang="zh-CN" altLang="en-US" sz="3600" dirty="0"/>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1.2.1  </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微型计算机硬件</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88067" name="Text Box 3"/>
          <p:cNvSpPr txBox="1"/>
          <p:nvPr/>
        </p:nvSpPr>
        <p:spPr>
          <a:xfrm>
            <a:off x="539750" y="1773238"/>
            <a:ext cx="8135938" cy="1187450"/>
          </a:xfrm>
          <a:prstGeom prst="rect">
            <a:avLst/>
          </a:prstGeom>
          <a:noFill/>
          <a:ln w="9525">
            <a:noFill/>
          </a:ln>
        </p:spPr>
        <p:txBody>
          <a:bodyPr>
            <a:spAutoFit/>
          </a:bodyPr>
          <a:p>
            <a:pPr eaLnBrk="1" hangingPunct="1">
              <a:spcBef>
                <a:spcPct val="50000"/>
              </a:spcBef>
            </a:pPr>
            <a:r>
              <a:rPr lang="zh-CN" altLang="en-US" dirty="0">
                <a:latin typeface="Times New Roman" panose="02020603050405020304" pitchFamily="18" charset="0"/>
                <a:ea typeface="楷体_GB2312" pitchFamily="1" charset="-122"/>
              </a:rPr>
              <a:t>微型计算机硬件系统由微处理器、存储器、输入</a:t>
            </a:r>
            <a:r>
              <a:rPr lang="en-US" altLang="zh-CN" dirty="0">
                <a:latin typeface="Times New Roman" panose="02020603050405020304" pitchFamily="18" charset="0"/>
                <a:ea typeface="楷体_GB2312" pitchFamily="1" charset="-122"/>
              </a:rPr>
              <a:t>/</a:t>
            </a:r>
            <a:r>
              <a:rPr lang="zh-CN" altLang="en-US" dirty="0">
                <a:latin typeface="Times New Roman" panose="02020603050405020304" pitchFamily="18" charset="0"/>
                <a:ea typeface="楷体_GB2312" pitchFamily="1" charset="-122"/>
              </a:rPr>
              <a:t>输出接口电路和一些必不可少的外部设备组成，并通过系统总线连接成有机整体。 </a:t>
            </a:r>
            <a:endParaRPr lang="zh-CN" altLang="en-US" dirty="0">
              <a:latin typeface="Times New Roman" panose="02020603050405020304" pitchFamily="18" charset="0"/>
              <a:ea typeface="楷体_GB2312" pitchFamily="1" charset="-122"/>
            </a:endParaRPr>
          </a:p>
        </p:txBody>
      </p:sp>
      <p:pic>
        <p:nvPicPr>
          <p:cNvPr id="88068" name="Picture 4"/>
          <p:cNvPicPr>
            <a:picLocks noChangeAspect="1"/>
          </p:cNvPicPr>
          <p:nvPr/>
        </p:nvPicPr>
        <p:blipFill>
          <a:blip r:embed="rId1"/>
          <a:stretch>
            <a:fillRect/>
          </a:stretch>
        </p:blipFill>
        <p:spPr>
          <a:xfrm>
            <a:off x="2555875" y="2924175"/>
            <a:ext cx="4176713" cy="3419475"/>
          </a:xfrm>
          <a:prstGeom prst="rect">
            <a:avLst/>
          </a:prstGeom>
          <a:noFill/>
          <a:ln w="9525">
            <a:noFill/>
          </a:ln>
        </p:spPr>
      </p:pic>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noChangeArrowheads="1"/>
          </p:cNvSpPr>
          <p:nvPr>
            <p:ph type="title"/>
          </p:nvPr>
        </p:nvSpPr>
        <p:spPr>
          <a:xfrm>
            <a:off x="1116013" y="2698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微处理器</a:t>
            </a:r>
            <a:r>
              <a:rPr kumimoji="0" lang="zh-CN" altLang="en-US" sz="4400" b="1" i="0" u="none" strike="noStrike" kern="0" cap="none" spc="0" normalizeH="0" baseline="0" noProof="0">
                <a:ln>
                  <a:noFill/>
                </a:ln>
                <a:solidFill>
                  <a:schemeClr val="tx1"/>
                </a:solidFill>
                <a:effectLst/>
                <a:uLnTx/>
                <a:uFillTx/>
                <a:latin typeface="+mj-lt"/>
                <a:ea typeface="+mj-ea"/>
                <a:cs typeface="+mj-cs"/>
              </a:rPr>
              <a:t> </a:t>
            </a:r>
            <a:endParaRPr kumimoji="0" lang="zh-CN" altLang="en-US" sz="4400" b="1" i="0" u="none" strike="noStrike" kern="0" cap="none" spc="0" normalizeH="0" baseline="0" noProof="0">
              <a:ln>
                <a:noFill/>
              </a:ln>
              <a:solidFill>
                <a:schemeClr val="tx1"/>
              </a:solidFill>
              <a:effectLst/>
              <a:uLnTx/>
              <a:uFillTx/>
              <a:latin typeface="+mj-lt"/>
              <a:ea typeface="+mj-ea"/>
              <a:cs typeface="+mj-cs"/>
            </a:endParaRPr>
          </a:p>
        </p:txBody>
      </p:sp>
      <p:sp>
        <p:nvSpPr>
          <p:cNvPr id="24579" name="Rectangle 3"/>
          <p:cNvSpPr>
            <a:spLocks noGrp="1"/>
          </p:cNvSpPr>
          <p:nvPr>
            <p:ph idx="1"/>
          </p:nvPr>
        </p:nvSpPr>
        <p:spPr>
          <a:xfrm>
            <a:off x="395288" y="1844675"/>
            <a:ext cx="8353425" cy="4114800"/>
          </a:xfrm>
        </p:spPr>
        <p:txBody>
          <a:bodyPr vert="horz" wrap="square" lIns="91440" tIns="45720" rIns="91440" bIns="45720" anchor="t" anchorCtr="0"/>
          <a:p>
            <a:pPr marL="0" indent="0" eaLnBrk="1" hangingPunct="1">
              <a:lnSpc>
                <a:spcPct val="80000"/>
              </a:lnSpc>
            </a:pPr>
            <a:r>
              <a:rPr lang="zh-CN" altLang="en-US" sz="2800" dirty="0">
                <a:solidFill>
                  <a:schemeClr val="hlink"/>
                </a:solidFill>
              </a:rPr>
              <a:t>算术逻辑部件</a:t>
            </a:r>
            <a:r>
              <a:rPr lang="en-US" altLang="zh-CN" sz="2800" dirty="0">
                <a:solidFill>
                  <a:schemeClr val="hlink"/>
                </a:solidFill>
              </a:rPr>
              <a:t>(ALU)</a:t>
            </a:r>
            <a:r>
              <a:rPr lang="zh-CN" altLang="en-US" sz="2800" dirty="0">
                <a:solidFill>
                  <a:schemeClr val="hlink"/>
                </a:solidFill>
              </a:rPr>
              <a:t>：</a:t>
            </a:r>
            <a:r>
              <a:rPr lang="zh-CN" altLang="en-US" sz="2800" dirty="0"/>
              <a:t>主要实现算术运算</a:t>
            </a:r>
            <a:r>
              <a:rPr lang="en-US" altLang="zh-CN" sz="2800" dirty="0"/>
              <a:t>(</a:t>
            </a:r>
            <a:r>
              <a:rPr lang="zh-CN" altLang="en-US" sz="2800" dirty="0"/>
              <a:t>加、减、乘、除等操作</a:t>
            </a:r>
            <a:r>
              <a:rPr lang="en-US" altLang="zh-CN" sz="2800" dirty="0"/>
              <a:t>)</a:t>
            </a:r>
            <a:r>
              <a:rPr lang="zh-CN" altLang="en-US" sz="2800" dirty="0"/>
              <a:t>和逻辑运算</a:t>
            </a:r>
            <a:r>
              <a:rPr lang="en-US" altLang="zh-CN" sz="2800" dirty="0"/>
              <a:t>(</a:t>
            </a:r>
            <a:r>
              <a:rPr lang="zh-CN" altLang="en-US" sz="2800" dirty="0"/>
              <a:t>与、或、非、异或等操作</a:t>
            </a:r>
            <a:r>
              <a:rPr lang="en-US" altLang="zh-CN" sz="2800" dirty="0"/>
              <a:t>)</a:t>
            </a:r>
            <a:r>
              <a:rPr lang="zh-CN" altLang="en-US" sz="2800" dirty="0"/>
              <a:t>，是运算器的核心；</a:t>
            </a:r>
            <a:endParaRPr lang="zh-CN" altLang="en-US" sz="2800" dirty="0"/>
          </a:p>
          <a:p>
            <a:pPr marL="0" indent="0" eaLnBrk="1" hangingPunct="1">
              <a:lnSpc>
                <a:spcPct val="80000"/>
              </a:lnSpc>
            </a:pPr>
            <a:r>
              <a:rPr lang="zh-CN" altLang="en-US" sz="2800" dirty="0">
                <a:solidFill>
                  <a:schemeClr val="hlink"/>
                </a:solidFill>
              </a:rPr>
              <a:t>通用寄存器：</a:t>
            </a:r>
            <a:r>
              <a:rPr lang="zh-CN" altLang="en-US" sz="2800" dirty="0"/>
              <a:t>用来存放参加运算的数据、中间结果等；</a:t>
            </a:r>
            <a:endParaRPr lang="zh-CN" altLang="en-US" sz="2800" dirty="0"/>
          </a:p>
          <a:p>
            <a:pPr marL="0" indent="0" eaLnBrk="1" hangingPunct="1">
              <a:lnSpc>
                <a:spcPct val="80000"/>
              </a:lnSpc>
            </a:pPr>
            <a:r>
              <a:rPr lang="zh-CN" altLang="en-US" sz="2800" dirty="0">
                <a:solidFill>
                  <a:schemeClr val="hlink"/>
                </a:solidFill>
              </a:rPr>
              <a:t>程序计数器</a:t>
            </a:r>
            <a:r>
              <a:rPr lang="en-US" altLang="zh-CN" sz="2800" dirty="0">
                <a:solidFill>
                  <a:schemeClr val="hlink"/>
                </a:solidFill>
              </a:rPr>
              <a:t>(PC)</a:t>
            </a:r>
            <a:r>
              <a:rPr lang="zh-CN" altLang="en-US" sz="2800" dirty="0">
                <a:solidFill>
                  <a:schemeClr val="hlink"/>
                </a:solidFill>
              </a:rPr>
              <a:t>：</a:t>
            </a:r>
            <a:r>
              <a:rPr lang="zh-CN" altLang="en-US" sz="2800" dirty="0"/>
              <a:t>指向将要执行的下一条指令的位置，具有自动增</a:t>
            </a:r>
            <a:r>
              <a:rPr lang="en-US" altLang="zh-CN" sz="2800" dirty="0"/>
              <a:t>1</a:t>
            </a:r>
            <a:r>
              <a:rPr lang="zh-CN" altLang="en-US" sz="2800" dirty="0"/>
              <a:t>功能，以决定程序的执行顺序；</a:t>
            </a:r>
            <a:endParaRPr lang="zh-CN" altLang="en-US" sz="2800" dirty="0"/>
          </a:p>
          <a:p>
            <a:pPr marL="0" indent="0" eaLnBrk="1" hangingPunct="1">
              <a:lnSpc>
                <a:spcPct val="80000"/>
              </a:lnSpc>
            </a:pPr>
            <a:r>
              <a:rPr lang="zh-CN" altLang="en-US" sz="2800" dirty="0">
                <a:solidFill>
                  <a:schemeClr val="hlink"/>
                </a:solidFill>
              </a:rPr>
              <a:t>时序与控制逻辑部件：</a:t>
            </a:r>
            <a:r>
              <a:rPr lang="zh-CN" altLang="en-US" sz="2800" dirty="0"/>
              <a:t>主要负责对整机的控制，包括对指令的取出、译码、分析，确定指令的操作，使</a:t>
            </a:r>
            <a:r>
              <a:rPr lang="en-US" altLang="zh-CN" sz="2800" dirty="0"/>
              <a:t>CPU</a:t>
            </a:r>
            <a:r>
              <a:rPr lang="zh-CN" altLang="en-US" sz="2800" dirty="0"/>
              <a:t>内部和外部各部件协调工作。</a:t>
            </a:r>
            <a:endParaRPr lang="en-US" altLang="zh-CN"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79">
                                            <p:txEl>
                                              <p:charRg st="0" end="60"/>
                                            </p:txEl>
                                          </p:spTgt>
                                        </p:tgtEl>
                                        <p:attrNameLst>
                                          <p:attrName>style.visibility</p:attrName>
                                        </p:attrNameLst>
                                      </p:cBhvr>
                                      <p:to>
                                        <p:strVal val="visible"/>
                                      </p:to>
                                    </p:set>
                                    <p:anim calcmode="lin" valueType="num">
                                      <p:cBhvr additive="base">
                                        <p:cTn id="7" dur="500" fill="hold"/>
                                        <p:tgtEl>
                                          <p:spTgt spid="24579">
                                            <p:txEl>
                                              <p:charRg st="0" end="6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79">
                                            <p:txEl>
                                              <p:charRg st="0" end="6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79">
                                            <p:txEl>
                                              <p:charRg st="60" end="85"/>
                                            </p:txEl>
                                          </p:spTgt>
                                        </p:tgtEl>
                                        <p:attrNameLst>
                                          <p:attrName>style.visibility</p:attrName>
                                        </p:attrNameLst>
                                      </p:cBhvr>
                                      <p:to>
                                        <p:strVal val="visible"/>
                                      </p:to>
                                    </p:set>
                                    <p:anim calcmode="lin" valueType="num">
                                      <p:cBhvr additive="base">
                                        <p:cTn id="13" dur="500" fill="hold"/>
                                        <p:tgtEl>
                                          <p:spTgt spid="24579">
                                            <p:txEl>
                                              <p:charRg st="60" end="8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4579">
                                            <p:txEl>
                                              <p:charRg st="60" end="8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579">
                                            <p:txEl>
                                              <p:charRg st="85" end="132"/>
                                            </p:txEl>
                                          </p:spTgt>
                                        </p:tgtEl>
                                        <p:attrNameLst>
                                          <p:attrName>style.visibility</p:attrName>
                                        </p:attrNameLst>
                                      </p:cBhvr>
                                      <p:to>
                                        <p:strVal val="visible"/>
                                      </p:to>
                                    </p:set>
                                    <p:anim calcmode="lin" valueType="num">
                                      <p:cBhvr additive="base">
                                        <p:cTn id="19" dur="500" fill="hold"/>
                                        <p:tgtEl>
                                          <p:spTgt spid="24579">
                                            <p:txEl>
                                              <p:charRg st="85" end="13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4579">
                                            <p:txEl>
                                              <p:charRg st="85" end="13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579">
                                            <p:txEl>
                                              <p:charRg st="132" end="194"/>
                                            </p:txEl>
                                          </p:spTgt>
                                        </p:tgtEl>
                                        <p:attrNameLst>
                                          <p:attrName>style.visibility</p:attrName>
                                        </p:attrNameLst>
                                      </p:cBhvr>
                                      <p:to>
                                        <p:strVal val="visible"/>
                                      </p:to>
                                    </p:set>
                                    <p:anim calcmode="lin" valueType="num">
                                      <p:cBhvr additive="base">
                                        <p:cTn id="25" dur="500" fill="hold"/>
                                        <p:tgtEl>
                                          <p:spTgt spid="24579">
                                            <p:txEl>
                                              <p:charRg st="132" end="19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79">
                                            <p:txEl>
                                              <p:charRg st="132" end="19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存储器</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25603" name="Rectangle 3"/>
          <p:cNvSpPr>
            <a:spLocks noGrp="1"/>
          </p:cNvSpPr>
          <p:nvPr>
            <p:ph idx="1"/>
          </p:nvPr>
        </p:nvSpPr>
        <p:spPr>
          <a:xfrm>
            <a:off x="468313" y="1916113"/>
            <a:ext cx="8064500" cy="4465637"/>
          </a:xfrm>
        </p:spPr>
        <p:txBody>
          <a:bodyPr vert="horz" wrap="square" lIns="91440" tIns="45720" rIns="91440" bIns="45720" anchor="t" anchorCtr="0"/>
          <a:p>
            <a:pPr eaLnBrk="1" hangingPunct="1">
              <a:lnSpc>
                <a:spcPct val="90000"/>
              </a:lnSpc>
            </a:pPr>
            <a:r>
              <a:rPr lang="zh-CN" altLang="en-US" sz="2800" dirty="0"/>
              <a:t>主要用来存放程序和数据，这里指的是内存储器或主存储器，分为：</a:t>
            </a:r>
            <a:endParaRPr lang="zh-CN" altLang="en-US" sz="2800" dirty="0"/>
          </a:p>
          <a:p>
            <a:pPr lvl="1" eaLnBrk="1" hangingPunct="1">
              <a:lnSpc>
                <a:spcPct val="90000"/>
              </a:lnSpc>
              <a:buFont typeface="Wingdings" panose="05000000000000000000" pitchFamily="2" charset="2"/>
              <a:buChar char="n"/>
            </a:pPr>
            <a:r>
              <a:rPr lang="zh-CN" altLang="en-US" dirty="0"/>
              <a:t>随机存储器</a:t>
            </a:r>
            <a:r>
              <a:rPr lang="en-US" altLang="zh-CN" dirty="0"/>
              <a:t>(RAM) </a:t>
            </a:r>
            <a:endParaRPr lang="en-US" altLang="zh-CN" dirty="0"/>
          </a:p>
          <a:p>
            <a:pPr lvl="1" eaLnBrk="1" hangingPunct="1">
              <a:lnSpc>
                <a:spcPct val="90000"/>
              </a:lnSpc>
              <a:buFont typeface="Wingdings" panose="05000000000000000000" pitchFamily="2" charset="2"/>
              <a:buChar char="n"/>
            </a:pPr>
            <a:r>
              <a:rPr lang="zh-CN" altLang="en-US" dirty="0"/>
              <a:t>只读存储器</a:t>
            </a:r>
            <a:r>
              <a:rPr lang="en-US" altLang="zh-CN" dirty="0"/>
              <a:t>(ROM)</a:t>
            </a:r>
            <a:endParaRPr lang="en-US" altLang="zh-CN" dirty="0"/>
          </a:p>
          <a:p>
            <a:pPr eaLnBrk="1" hangingPunct="1">
              <a:lnSpc>
                <a:spcPct val="90000"/>
              </a:lnSpc>
            </a:pPr>
            <a:r>
              <a:rPr lang="zh-CN" altLang="en-US" sz="2800" dirty="0"/>
              <a:t>存储器由许多存储单元组成，每个单元的位数可以是</a:t>
            </a:r>
            <a:r>
              <a:rPr lang="en-US" altLang="zh-CN" sz="2800" dirty="0"/>
              <a:t>1</a:t>
            </a:r>
            <a:r>
              <a:rPr lang="zh-CN" altLang="en-US" sz="2800" dirty="0"/>
              <a:t>位、</a:t>
            </a:r>
            <a:r>
              <a:rPr lang="en-US" altLang="zh-CN" sz="2800" dirty="0"/>
              <a:t>4</a:t>
            </a:r>
            <a:r>
              <a:rPr lang="zh-CN" altLang="en-US" sz="2800" dirty="0"/>
              <a:t>位、</a:t>
            </a:r>
            <a:r>
              <a:rPr lang="en-US" altLang="zh-CN" sz="2800" dirty="0"/>
              <a:t>8</a:t>
            </a:r>
            <a:r>
              <a:rPr lang="zh-CN" altLang="en-US" sz="2800" dirty="0"/>
              <a:t>位、</a:t>
            </a:r>
            <a:r>
              <a:rPr lang="en-US" altLang="zh-CN" sz="2800" dirty="0"/>
              <a:t>16</a:t>
            </a:r>
            <a:r>
              <a:rPr lang="zh-CN" altLang="en-US" sz="2800" dirty="0"/>
              <a:t>位等，其中</a:t>
            </a:r>
            <a:r>
              <a:rPr lang="en-US" altLang="zh-CN" sz="2800" dirty="0"/>
              <a:t>8</a:t>
            </a:r>
            <a:r>
              <a:rPr lang="zh-CN" altLang="en-US" sz="2800" dirty="0"/>
              <a:t>位为一个字节</a:t>
            </a:r>
            <a:r>
              <a:rPr lang="en-US" altLang="zh-CN" sz="2800" dirty="0"/>
              <a:t>(Byte)</a:t>
            </a:r>
            <a:r>
              <a:rPr lang="zh-CN" altLang="en-US" sz="2800" dirty="0"/>
              <a:t>。</a:t>
            </a:r>
            <a:endParaRPr lang="zh-CN" altLang="en-US" sz="2800" dirty="0"/>
          </a:p>
          <a:p>
            <a:pPr eaLnBrk="1" hangingPunct="1">
              <a:lnSpc>
                <a:spcPct val="90000"/>
              </a:lnSpc>
            </a:pPr>
            <a:r>
              <a:rPr lang="zh-CN" altLang="en-US" sz="2800" dirty="0"/>
              <a:t>存储器的容量是指存储器所能存储的二进制位数，</a:t>
            </a:r>
            <a:r>
              <a:rPr lang="zh-CN" altLang="en-US" sz="2800" b="1" dirty="0">
                <a:solidFill>
                  <a:schemeClr val="folHlink"/>
                </a:solidFill>
              </a:rPr>
              <a:t>通常用能存储的字节数来衡量</a:t>
            </a:r>
            <a:r>
              <a:rPr lang="zh-CN" altLang="en-US" sz="2800" dirty="0"/>
              <a:t>，单位有</a:t>
            </a:r>
            <a:r>
              <a:rPr lang="en-US" altLang="zh-CN" sz="2800" dirty="0"/>
              <a:t>KB</a:t>
            </a:r>
            <a:r>
              <a:rPr lang="zh-CN" altLang="en-US" sz="2800" dirty="0"/>
              <a:t>、</a:t>
            </a:r>
            <a:r>
              <a:rPr lang="en-US" altLang="zh-CN" sz="2800" dirty="0"/>
              <a:t>MB</a:t>
            </a:r>
            <a:r>
              <a:rPr lang="zh-CN" altLang="en-US" sz="2800" dirty="0"/>
              <a:t>、</a:t>
            </a:r>
            <a:r>
              <a:rPr lang="en-US" altLang="zh-CN" sz="2800" dirty="0"/>
              <a:t>GB</a:t>
            </a:r>
            <a:r>
              <a:rPr lang="zh-CN" altLang="en-US" sz="2800" dirty="0"/>
              <a:t>等。</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charRg st="0" end="31"/>
                                            </p:txEl>
                                          </p:spTgt>
                                        </p:tgtEl>
                                        <p:attrNameLst>
                                          <p:attrName>style.visibility</p:attrName>
                                        </p:attrNameLst>
                                      </p:cBhvr>
                                      <p:to>
                                        <p:strVal val="visible"/>
                                      </p:to>
                                    </p:set>
                                    <p:animEffect transition="in" filter="blinds(horizontal)">
                                      <p:cBhvr>
                                        <p:cTn id="7" dur="500"/>
                                        <p:tgtEl>
                                          <p:spTgt spid="25603">
                                            <p:txEl>
                                              <p:charRg st="0" end="3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5603">
                                            <p:txEl>
                                              <p:charRg st="31" end="43"/>
                                            </p:txEl>
                                          </p:spTgt>
                                        </p:tgtEl>
                                        <p:attrNameLst>
                                          <p:attrName>style.visibility</p:attrName>
                                        </p:attrNameLst>
                                      </p:cBhvr>
                                      <p:to>
                                        <p:strVal val="visible"/>
                                      </p:to>
                                    </p:set>
                                    <p:animEffect transition="in" filter="blinds(horizontal)">
                                      <p:cBhvr>
                                        <p:cTn id="10" dur="500"/>
                                        <p:tgtEl>
                                          <p:spTgt spid="25603">
                                            <p:txEl>
                                              <p:charRg st="31" end="43"/>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5603">
                                            <p:txEl>
                                              <p:charRg st="43" end="54"/>
                                            </p:txEl>
                                          </p:spTgt>
                                        </p:tgtEl>
                                        <p:attrNameLst>
                                          <p:attrName>style.visibility</p:attrName>
                                        </p:attrNameLst>
                                      </p:cBhvr>
                                      <p:to>
                                        <p:strVal val="visible"/>
                                      </p:to>
                                    </p:set>
                                    <p:animEffect transition="in" filter="blinds(horizontal)">
                                      <p:cBhvr>
                                        <p:cTn id="13" dur="500"/>
                                        <p:tgtEl>
                                          <p:spTgt spid="25603">
                                            <p:txEl>
                                              <p:charRg st="43" end="5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5603">
                                            <p:txEl>
                                              <p:charRg st="54" end="108"/>
                                            </p:txEl>
                                          </p:spTgt>
                                        </p:tgtEl>
                                        <p:attrNameLst>
                                          <p:attrName>style.visibility</p:attrName>
                                        </p:attrNameLst>
                                      </p:cBhvr>
                                      <p:to>
                                        <p:strVal val="visible"/>
                                      </p:to>
                                    </p:set>
                                    <p:animEffect transition="in" filter="blinds(horizontal)">
                                      <p:cBhvr>
                                        <p:cTn id="18" dur="500"/>
                                        <p:tgtEl>
                                          <p:spTgt spid="25603">
                                            <p:txEl>
                                              <p:charRg st="54" end="10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5603">
                                            <p:txEl>
                                              <p:charRg st="108" end="158"/>
                                            </p:txEl>
                                          </p:spTgt>
                                        </p:tgtEl>
                                        <p:attrNameLst>
                                          <p:attrName>style.visibility</p:attrName>
                                        </p:attrNameLst>
                                      </p:cBhvr>
                                      <p:to>
                                        <p:strVal val="visible"/>
                                      </p:to>
                                    </p:set>
                                    <p:animEffect transition="in" filter="blinds(horizontal)">
                                      <p:cBhvr>
                                        <p:cTn id="23" dur="500"/>
                                        <p:tgtEl>
                                          <p:spTgt spid="25603">
                                            <p:txEl>
                                              <p:charRg st="108" end="15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存储器</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续</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26627" name="Rectangle 3"/>
          <p:cNvSpPr>
            <a:spLocks noGrp="1"/>
          </p:cNvSpPr>
          <p:nvPr>
            <p:ph idx="1"/>
          </p:nvPr>
        </p:nvSpPr>
        <p:spPr>
          <a:xfrm>
            <a:off x="395288" y="1916113"/>
            <a:ext cx="8280400" cy="4681537"/>
          </a:xfrm>
        </p:spPr>
        <p:txBody>
          <a:bodyPr vert="horz" wrap="square" lIns="91440" tIns="45720" rIns="91440" bIns="45720" anchor="t" anchorCtr="0"/>
          <a:p>
            <a:pPr eaLnBrk="1" hangingPunct="1"/>
            <a:r>
              <a:rPr lang="zh-CN" altLang="en-US" dirty="0"/>
              <a:t>存储器中每个存储单元都有一个编号，称为存储地址，简称</a:t>
            </a:r>
            <a:r>
              <a:rPr lang="zh-CN" altLang="en-US" dirty="0">
                <a:solidFill>
                  <a:schemeClr val="hlink"/>
                </a:solidFill>
              </a:rPr>
              <a:t>地址</a:t>
            </a:r>
            <a:r>
              <a:rPr lang="zh-CN" altLang="en-US" dirty="0"/>
              <a:t>。微处理器就是按照存储单元的地址来访问内存的。</a:t>
            </a:r>
            <a:endParaRPr lang="zh-CN" altLang="en-US" dirty="0"/>
          </a:p>
          <a:p>
            <a:pPr eaLnBrk="1" hangingPunct="1"/>
            <a:r>
              <a:rPr lang="zh-CN" altLang="en-US" dirty="0"/>
              <a:t>对存储器的访问操作有</a:t>
            </a:r>
            <a:r>
              <a:rPr lang="zh-CN" altLang="en-US" dirty="0">
                <a:solidFill>
                  <a:schemeClr val="hlink"/>
                </a:solidFill>
              </a:rPr>
              <a:t>读操作</a:t>
            </a:r>
            <a:r>
              <a:rPr lang="zh-CN" altLang="en-US" dirty="0"/>
              <a:t>和</a:t>
            </a:r>
            <a:r>
              <a:rPr lang="zh-CN" altLang="en-US" dirty="0">
                <a:solidFill>
                  <a:schemeClr val="hlink"/>
                </a:solidFill>
              </a:rPr>
              <a:t>写操作</a:t>
            </a:r>
            <a:r>
              <a:rPr lang="zh-CN" altLang="en-US" dirty="0"/>
              <a:t>，用于实现从存储器中读出信息和把信息写入存储器。</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627">
                                            <p:txEl>
                                              <p:charRg st="0" end="52"/>
                                            </p:txEl>
                                          </p:spTgt>
                                        </p:tgtEl>
                                        <p:attrNameLst>
                                          <p:attrName>style.visibility</p:attrName>
                                        </p:attrNameLst>
                                      </p:cBhvr>
                                      <p:to>
                                        <p:strVal val="visible"/>
                                      </p:to>
                                    </p:set>
                                    <p:anim calcmode="lin" valueType="num">
                                      <p:cBhvr additive="base">
                                        <p:cTn id="7" dur="500" fill="hold"/>
                                        <p:tgtEl>
                                          <p:spTgt spid="26627">
                                            <p:txEl>
                                              <p:charRg st="0" end="5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7">
                                            <p:txEl>
                                              <p:charRg st="0" end="5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6627">
                                            <p:txEl>
                                              <p:charRg st="52" end="94"/>
                                            </p:txEl>
                                          </p:spTgt>
                                        </p:tgtEl>
                                        <p:attrNameLst>
                                          <p:attrName>style.visibility</p:attrName>
                                        </p:attrNameLst>
                                      </p:cBhvr>
                                      <p:to>
                                        <p:strVal val="visible"/>
                                      </p:to>
                                    </p:set>
                                    <p:anim calcmode="lin" valueType="num">
                                      <p:cBhvr additive="base">
                                        <p:cTn id="13" dur="500" fill="hold"/>
                                        <p:tgtEl>
                                          <p:spTgt spid="26627">
                                            <p:txEl>
                                              <p:charRg st="52" end="9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627">
                                            <p:txEl>
                                              <p:charRg st="52" end="9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存储器</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续</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27651" name="Rectangle 3"/>
          <p:cNvSpPr>
            <a:spLocks noGrp="1"/>
          </p:cNvSpPr>
          <p:nvPr>
            <p:ph idx="1"/>
          </p:nvPr>
        </p:nvSpPr>
        <p:spPr/>
        <p:txBody>
          <a:bodyPr vert="horz" wrap="square" lIns="91440" tIns="45720" rIns="91440" bIns="45720" anchor="t" anchorCtr="0"/>
          <a:p>
            <a:pPr eaLnBrk="1" hangingPunct="1">
              <a:buNone/>
            </a:pPr>
            <a:r>
              <a:rPr lang="zh-CN" altLang="en-US" dirty="0">
                <a:latin typeface="楷体_GB2312" pitchFamily="1" charset="-122"/>
                <a:sym typeface="Arial" panose="020B0604020202020204" pitchFamily="34" charset="0"/>
              </a:rPr>
              <a:t>每当需访问存储器时：</a:t>
            </a:r>
            <a:endParaRPr lang="zh-CN" altLang="en-US" dirty="0">
              <a:latin typeface="楷体_GB2312" pitchFamily="1" charset="-122"/>
              <a:sym typeface="Arial" panose="020B0604020202020204" pitchFamily="34" charset="0"/>
            </a:endParaRPr>
          </a:p>
          <a:p>
            <a:pPr lvl="1" eaLnBrk="1" hangingPunct="1">
              <a:buFont typeface="Wingdings" panose="05000000000000000000" pitchFamily="2" charset="2"/>
              <a:buChar char="n"/>
            </a:pPr>
            <a:r>
              <a:rPr lang="zh-CN" altLang="en-US" sz="3200" dirty="0">
                <a:latin typeface="楷体_GB2312" pitchFamily="1" charset="-122"/>
                <a:sym typeface="Arial" panose="020B0604020202020204" pitchFamily="34" charset="0"/>
              </a:rPr>
              <a:t>由微处理器给出地址；</a:t>
            </a:r>
            <a:endParaRPr lang="zh-CN" altLang="en-US" sz="3200" dirty="0">
              <a:latin typeface="楷体_GB2312" pitchFamily="1" charset="-122"/>
              <a:sym typeface="Arial" panose="020B0604020202020204" pitchFamily="34" charset="0"/>
            </a:endParaRPr>
          </a:p>
          <a:p>
            <a:pPr lvl="1" eaLnBrk="1" hangingPunct="1">
              <a:buFont typeface="Wingdings" panose="05000000000000000000" pitchFamily="2" charset="2"/>
              <a:buChar char="n"/>
            </a:pPr>
            <a:r>
              <a:rPr lang="zh-CN" altLang="en-US" sz="3200" dirty="0">
                <a:latin typeface="楷体_GB2312" pitchFamily="1" charset="-122"/>
                <a:sym typeface="Arial" panose="020B0604020202020204" pitchFamily="34" charset="0"/>
              </a:rPr>
              <a:t>通过地址译码器选择相应的存储单元；</a:t>
            </a:r>
            <a:endParaRPr lang="zh-CN" altLang="en-US" sz="3200" dirty="0">
              <a:latin typeface="楷体_GB2312" pitchFamily="1" charset="-122"/>
              <a:sym typeface="Arial" panose="020B0604020202020204" pitchFamily="34" charset="0"/>
            </a:endParaRPr>
          </a:p>
          <a:p>
            <a:pPr lvl="1" eaLnBrk="1" hangingPunct="1">
              <a:buFont typeface="Wingdings" panose="05000000000000000000" pitchFamily="2" charset="2"/>
              <a:buChar char="n"/>
            </a:pPr>
            <a:r>
              <a:rPr lang="zh-CN" altLang="en-US" sz="3200" dirty="0">
                <a:latin typeface="楷体_GB2312" pitchFamily="1" charset="-122"/>
                <a:sym typeface="Arial" panose="020B0604020202020204" pitchFamily="34" charset="0"/>
              </a:rPr>
              <a:t>微处理器发出读或写控制信号，从而从指定地址的单元读出数据或把数据写入指定地址的存储单元。 </a:t>
            </a:r>
            <a:endParaRPr lang="zh-CN" altLang="en-US" sz="3200" dirty="0">
              <a:latin typeface="楷体_GB2312" pitchFamily="1" charset="-122"/>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charRg st="11" end="22"/>
                                            </p:txEl>
                                          </p:spTgt>
                                        </p:tgtEl>
                                        <p:attrNameLst>
                                          <p:attrName>style.visibility</p:attrName>
                                        </p:attrNameLst>
                                      </p:cBhvr>
                                      <p:to>
                                        <p:strVal val="visible"/>
                                      </p:to>
                                    </p:set>
                                    <p:anim calcmode="lin" valueType="num">
                                      <p:cBhvr additive="base">
                                        <p:cTn id="7" dur="500" fill="hold"/>
                                        <p:tgtEl>
                                          <p:spTgt spid="27651">
                                            <p:txEl>
                                              <p:charRg st="11" end="2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charRg st="11" end="2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651">
                                            <p:txEl>
                                              <p:charRg st="22" end="40"/>
                                            </p:txEl>
                                          </p:spTgt>
                                        </p:tgtEl>
                                        <p:attrNameLst>
                                          <p:attrName>style.visibility</p:attrName>
                                        </p:attrNameLst>
                                      </p:cBhvr>
                                      <p:to>
                                        <p:strVal val="visible"/>
                                      </p:to>
                                    </p:set>
                                    <p:anim calcmode="lin" valueType="num">
                                      <p:cBhvr additive="base">
                                        <p:cTn id="13" dur="500" fill="hold"/>
                                        <p:tgtEl>
                                          <p:spTgt spid="27651">
                                            <p:txEl>
                                              <p:charRg st="22" end="4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charRg st="22" end="4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651">
                                            <p:txEl>
                                              <p:charRg st="40" end="86"/>
                                            </p:txEl>
                                          </p:spTgt>
                                        </p:tgtEl>
                                        <p:attrNameLst>
                                          <p:attrName>style.visibility</p:attrName>
                                        </p:attrNameLst>
                                      </p:cBhvr>
                                      <p:to>
                                        <p:strVal val="visible"/>
                                      </p:to>
                                    </p:set>
                                    <p:anim calcmode="lin" valueType="num">
                                      <p:cBhvr additive="base">
                                        <p:cTn id="19" dur="500" fill="hold"/>
                                        <p:tgtEl>
                                          <p:spTgt spid="27651">
                                            <p:txEl>
                                              <p:charRg st="40" end="8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charRg st="40" end="8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输入</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输出接口电路</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28675" name="Rectangle 3"/>
          <p:cNvSpPr>
            <a:spLocks noGrp="1"/>
          </p:cNvSpPr>
          <p:nvPr>
            <p:ph idx="1"/>
          </p:nvPr>
        </p:nvSpPr>
        <p:spPr>
          <a:xfrm>
            <a:off x="468313" y="2060575"/>
            <a:ext cx="7920037" cy="4114800"/>
          </a:xfrm>
        </p:spPr>
        <p:txBody>
          <a:bodyPr vert="horz" wrap="square" lIns="91440" tIns="45720" rIns="91440" bIns="45720" anchor="t" anchorCtr="0"/>
          <a:p>
            <a:pPr marL="0" indent="0" eaLnBrk="1" hangingPunct="1"/>
            <a:r>
              <a:rPr lang="zh-CN" altLang="en-US" dirty="0"/>
              <a:t>输入</a:t>
            </a:r>
            <a:r>
              <a:rPr lang="en-US" altLang="zh-CN" dirty="0"/>
              <a:t>/</a:t>
            </a:r>
            <a:r>
              <a:rPr lang="zh-CN" altLang="en-US" dirty="0"/>
              <a:t>输出接口电路也称</a:t>
            </a:r>
            <a:r>
              <a:rPr lang="en-US" altLang="zh-CN" b="1" dirty="0">
                <a:solidFill>
                  <a:schemeClr val="folHlink"/>
                </a:solidFill>
              </a:rPr>
              <a:t>I/O</a:t>
            </a:r>
            <a:r>
              <a:rPr lang="zh-CN" altLang="en-US" b="1" dirty="0">
                <a:solidFill>
                  <a:schemeClr val="folHlink"/>
                </a:solidFill>
              </a:rPr>
              <a:t>接口</a:t>
            </a:r>
            <a:r>
              <a:rPr lang="zh-CN" altLang="en-US" dirty="0"/>
              <a:t>，用来连接输入</a:t>
            </a:r>
            <a:r>
              <a:rPr lang="en-US" altLang="zh-CN" dirty="0"/>
              <a:t>/</a:t>
            </a:r>
            <a:r>
              <a:rPr lang="zh-CN" altLang="en-US" dirty="0"/>
              <a:t>输出设备</a:t>
            </a:r>
            <a:r>
              <a:rPr lang="en-US" altLang="zh-CN" dirty="0"/>
              <a:t>(</a:t>
            </a:r>
            <a:r>
              <a:rPr lang="zh-CN" altLang="en-US" dirty="0"/>
              <a:t>外部设备</a:t>
            </a:r>
            <a:r>
              <a:rPr lang="en-US" altLang="zh-CN" dirty="0"/>
              <a:t>)</a:t>
            </a:r>
            <a:r>
              <a:rPr lang="zh-CN" altLang="en-US" dirty="0"/>
              <a:t>。</a:t>
            </a:r>
            <a:endParaRPr lang="zh-CN" altLang="en-US" dirty="0"/>
          </a:p>
          <a:p>
            <a:pPr marL="0" indent="0" eaLnBrk="1" hangingPunct="1"/>
            <a:r>
              <a:rPr lang="zh-CN" altLang="en-US" dirty="0"/>
              <a:t>输入</a:t>
            </a:r>
            <a:r>
              <a:rPr lang="en-US" altLang="zh-CN" dirty="0"/>
              <a:t>/</a:t>
            </a:r>
            <a:r>
              <a:rPr lang="zh-CN" altLang="en-US" dirty="0"/>
              <a:t>输出设备用来实现信息的输入</a:t>
            </a:r>
            <a:r>
              <a:rPr lang="en-US" altLang="zh-CN" dirty="0"/>
              <a:t>/</a:t>
            </a:r>
            <a:r>
              <a:rPr lang="zh-CN" altLang="en-US" dirty="0"/>
              <a:t>输出，包括外部存储器、键盘、显示器等。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8675">
                                            <p:txEl>
                                              <p:charRg st="0" end="36"/>
                                            </p:txEl>
                                          </p:spTgt>
                                        </p:tgtEl>
                                        <p:attrNameLst>
                                          <p:attrName>style.visibility</p:attrName>
                                        </p:attrNameLst>
                                      </p:cBhvr>
                                      <p:to>
                                        <p:strVal val="visible"/>
                                      </p:to>
                                    </p:set>
                                    <p:anim calcmode="lin" valueType="num">
                                      <p:cBhvr>
                                        <p:cTn id="7" dur="1000" fill="hold"/>
                                        <p:tgtEl>
                                          <p:spTgt spid="28675">
                                            <p:txEl>
                                              <p:charRg st="0" end="36"/>
                                            </p:txEl>
                                          </p:spTgt>
                                        </p:tgtEl>
                                        <p:attrNameLst>
                                          <p:attrName>ppt_x</p:attrName>
                                        </p:attrNameLst>
                                      </p:cBhvr>
                                      <p:tavLst>
                                        <p:tav tm="0">
                                          <p:val>
                                            <p:strVal val="#ppt_x-.2"/>
                                          </p:val>
                                        </p:tav>
                                        <p:tav tm="100000">
                                          <p:val>
                                            <p:strVal val="#ppt_x"/>
                                          </p:val>
                                        </p:tav>
                                      </p:tavLst>
                                    </p:anim>
                                    <p:anim calcmode="lin" valueType="num">
                                      <p:cBhvr>
                                        <p:cTn id="8" dur="1000" fill="hold"/>
                                        <p:tgtEl>
                                          <p:spTgt spid="28675">
                                            <p:txEl>
                                              <p:charRg st="0" end="36"/>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28675">
                                            <p:txEl>
                                              <p:charRg st="0" end="36"/>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28675">
                                            <p:txEl>
                                              <p:charRg st="36" end="74"/>
                                            </p:txEl>
                                          </p:spTgt>
                                        </p:tgtEl>
                                        <p:attrNameLst>
                                          <p:attrName>style.visibility</p:attrName>
                                        </p:attrNameLst>
                                      </p:cBhvr>
                                      <p:to>
                                        <p:strVal val="visible"/>
                                      </p:to>
                                    </p:set>
                                    <p:anim calcmode="lin" valueType="num">
                                      <p:cBhvr>
                                        <p:cTn id="14" dur="1000" fill="hold"/>
                                        <p:tgtEl>
                                          <p:spTgt spid="28675">
                                            <p:txEl>
                                              <p:charRg st="36" end="74"/>
                                            </p:txEl>
                                          </p:spTgt>
                                        </p:tgtEl>
                                        <p:attrNameLst>
                                          <p:attrName>ppt_x</p:attrName>
                                        </p:attrNameLst>
                                      </p:cBhvr>
                                      <p:tavLst>
                                        <p:tav tm="0">
                                          <p:val>
                                            <p:strVal val="#ppt_x-.2"/>
                                          </p:val>
                                        </p:tav>
                                        <p:tav tm="100000">
                                          <p:val>
                                            <p:strVal val="#ppt_x"/>
                                          </p:val>
                                        </p:tav>
                                      </p:tavLst>
                                    </p:anim>
                                    <p:anim calcmode="lin" valueType="num">
                                      <p:cBhvr>
                                        <p:cTn id="15" dur="1000" fill="hold"/>
                                        <p:tgtEl>
                                          <p:spTgt spid="28675">
                                            <p:txEl>
                                              <p:charRg st="36" end="74"/>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28675">
                                            <p:txEl>
                                              <p:charRg st="36" end="7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系统总线</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29699" name="Rectangle 3"/>
          <p:cNvSpPr>
            <a:spLocks noGrp="1"/>
          </p:cNvSpPr>
          <p:nvPr>
            <p:ph idx="1"/>
          </p:nvPr>
        </p:nvSpPr>
        <p:spPr>
          <a:xfrm>
            <a:off x="539750" y="1917700"/>
            <a:ext cx="8208963" cy="3168650"/>
          </a:xfrm>
        </p:spPr>
        <p:txBody>
          <a:bodyPr vert="horz" wrap="square" lIns="91440" tIns="45720" rIns="91440" bIns="45720" anchor="t" anchorCtr="0"/>
          <a:p>
            <a:pPr marL="0" indent="0" eaLnBrk="1" hangingPunct="1">
              <a:lnSpc>
                <a:spcPct val="90000"/>
              </a:lnSpc>
            </a:pPr>
            <a:r>
              <a:rPr lang="zh-CN" altLang="en-US" dirty="0"/>
              <a:t>总线是</a:t>
            </a:r>
            <a:r>
              <a:rPr lang="en-US" altLang="zh-CN" dirty="0"/>
              <a:t>CPU</a:t>
            </a:r>
            <a:r>
              <a:rPr lang="zh-CN" altLang="en-US" dirty="0"/>
              <a:t>向存储器和输入</a:t>
            </a:r>
            <a:r>
              <a:rPr lang="en-US" altLang="zh-CN" dirty="0"/>
              <a:t>/</a:t>
            </a:r>
            <a:r>
              <a:rPr lang="zh-CN" altLang="en-US" dirty="0"/>
              <a:t>输出接口传送地址、数据和控制信息的</a:t>
            </a:r>
            <a:r>
              <a:rPr lang="zh-CN" altLang="en-US" b="1" dirty="0">
                <a:solidFill>
                  <a:schemeClr val="hlink"/>
                </a:solidFill>
              </a:rPr>
              <a:t>公共通路</a:t>
            </a:r>
            <a:r>
              <a:rPr lang="zh-CN" altLang="en-US" dirty="0"/>
              <a:t>。</a:t>
            </a:r>
            <a:endParaRPr lang="zh-CN" altLang="en-US" dirty="0"/>
          </a:p>
          <a:p>
            <a:pPr marL="0" indent="0" eaLnBrk="1" hangingPunct="1">
              <a:lnSpc>
                <a:spcPct val="90000"/>
              </a:lnSpc>
            </a:pPr>
            <a:r>
              <a:rPr lang="zh-CN" altLang="en-US" dirty="0"/>
              <a:t>包括：</a:t>
            </a:r>
            <a:endParaRPr lang="zh-CN" altLang="en-US" dirty="0"/>
          </a:p>
          <a:p>
            <a:pPr marL="0" indent="0" eaLnBrk="1" hangingPunct="1">
              <a:lnSpc>
                <a:spcPct val="90000"/>
              </a:lnSpc>
              <a:buFont typeface="Wingdings" panose="05000000000000000000" pitchFamily="2" charset="2"/>
              <a:buChar char="n"/>
            </a:pPr>
            <a:r>
              <a:rPr lang="zh-CN" altLang="en-US" dirty="0"/>
              <a:t>地址总线</a:t>
            </a:r>
            <a:r>
              <a:rPr lang="en-US" altLang="zh-CN" dirty="0"/>
              <a:t>(AB)</a:t>
            </a:r>
            <a:endParaRPr lang="en-US" altLang="zh-CN" dirty="0"/>
          </a:p>
          <a:p>
            <a:pPr marL="0" indent="0" eaLnBrk="1" hangingPunct="1">
              <a:lnSpc>
                <a:spcPct val="90000"/>
              </a:lnSpc>
              <a:buFont typeface="Wingdings" panose="05000000000000000000" pitchFamily="2" charset="2"/>
              <a:buChar char="n"/>
            </a:pPr>
            <a:r>
              <a:rPr lang="zh-CN" altLang="en-US" dirty="0"/>
              <a:t>数据总线</a:t>
            </a:r>
            <a:r>
              <a:rPr lang="en-US" altLang="zh-CN" dirty="0"/>
              <a:t>(DB)</a:t>
            </a:r>
            <a:endParaRPr lang="en-US" altLang="zh-CN" dirty="0"/>
          </a:p>
          <a:p>
            <a:pPr marL="0" indent="0" eaLnBrk="1" hangingPunct="1">
              <a:lnSpc>
                <a:spcPct val="90000"/>
              </a:lnSpc>
              <a:buFont typeface="Wingdings" panose="05000000000000000000" pitchFamily="2" charset="2"/>
              <a:buChar char="n"/>
            </a:pPr>
            <a:r>
              <a:rPr lang="zh-CN" altLang="en-US" dirty="0"/>
              <a:t>控制总线</a:t>
            </a:r>
            <a:r>
              <a:rPr lang="en-US" altLang="zh-CN" dirty="0"/>
              <a:t>(CB)</a:t>
            </a:r>
            <a:endParaRPr lang="en-US" altLang="zh-CN" dirty="0"/>
          </a:p>
        </p:txBody>
      </p:sp>
      <p:grpSp>
        <p:nvGrpSpPr>
          <p:cNvPr id="94212" name="Group 4"/>
          <p:cNvGrpSpPr/>
          <p:nvPr/>
        </p:nvGrpSpPr>
        <p:grpSpPr>
          <a:xfrm>
            <a:off x="3779838" y="3068638"/>
            <a:ext cx="4392612" cy="3241675"/>
            <a:chOff x="0" y="0"/>
            <a:chExt cx="3234" cy="2358"/>
          </a:xfrm>
        </p:grpSpPr>
        <p:pic>
          <p:nvPicPr>
            <p:cNvPr id="94213" name="Picture 5" descr="Fig1-3"/>
            <p:cNvPicPr>
              <a:picLocks noChangeAspect="1"/>
            </p:cNvPicPr>
            <p:nvPr/>
          </p:nvPicPr>
          <p:blipFill>
            <a:blip r:embed="rId1"/>
            <a:srcRect b="17493"/>
            <a:stretch>
              <a:fillRect/>
            </a:stretch>
          </p:blipFill>
          <p:spPr>
            <a:xfrm>
              <a:off x="0" y="0"/>
              <a:ext cx="3221" cy="2358"/>
            </a:xfrm>
            <a:prstGeom prst="rect">
              <a:avLst/>
            </a:prstGeom>
            <a:noFill/>
            <a:ln w="9525">
              <a:noFill/>
            </a:ln>
          </p:spPr>
        </p:pic>
        <p:sp>
          <p:nvSpPr>
            <p:cNvPr id="94214" name="Oval 6"/>
            <p:cNvSpPr/>
            <p:nvPr/>
          </p:nvSpPr>
          <p:spPr>
            <a:xfrm>
              <a:off x="41" y="465"/>
              <a:ext cx="635" cy="227"/>
            </a:xfrm>
            <a:prstGeom prst="ellipse">
              <a:avLst/>
            </a:prstGeom>
            <a:noFill/>
            <a:ln w="38100" cap="flat" cmpd="sng">
              <a:solidFill>
                <a:schemeClr val="hlink"/>
              </a:solidFill>
              <a:prstDash val="solid"/>
              <a:headEnd type="none" w="med" len="med"/>
              <a:tailEnd type="none" w="med" len="med"/>
            </a:ln>
          </p:spPr>
          <p:txBody>
            <a:bodyPr wrap="none" anchor="ctr" anchorCtr="0"/>
            <a:p>
              <a:pPr algn="ctr" eaLnBrk="1" hangingPunct="1"/>
              <a:endParaRPr lang="zh-CN" altLang="en-US" dirty="0">
                <a:latin typeface="Tahoma" panose="020B0604030504040204" pitchFamily="34" charset="0"/>
              </a:endParaRPr>
            </a:p>
          </p:txBody>
        </p:sp>
        <p:sp>
          <p:nvSpPr>
            <p:cNvPr id="94215" name="Oval 7"/>
            <p:cNvSpPr/>
            <p:nvPr/>
          </p:nvSpPr>
          <p:spPr>
            <a:xfrm>
              <a:off x="27" y="959"/>
              <a:ext cx="635" cy="227"/>
            </a:xfrm>
            <a:prstGeom prst="ellipse">
              <a:avLst/>
            </a:prstGeom>
            <a:noFill/>
            <a:ln w="38100" cap="flat" cmpd="sng">
              <a:solidFill>
                <a:schemeClr val="hlink"/>
              </a:solidFill>
              <a:prstDash val="solid"/>
              <a:headEnd type="none" w="med" len="med"/>
              <a:tailEnd type="none" w="med" len="med"/>
            </a:ln>
          </p:spPr>
          <p:txBody>
            <a:bodyPr wrap="none" anchor="ctr" anchorCtr="0"/>
            <a:p>
              <a:pPr algn="ctr" eaLnBrk="1" hangingPunct="1"/>
              <a:endParaRPr lang="zh-CN" altLang="en-US" dirty="0">
                <a:latin typeface="Tahoma" panose="020B0604030504040204" pitchFamily="34" charset="0"/>
              </a:endParaRPr>
            </a:p>
          </p:txBody>
        </p:sp>
        <p:sp>
          <p:nvSpPr>
            <p:cNvPr id="94216" name="Oval 8"/>
            <p:cNvSpPr/>
            <p:nvPr/>
          </p:nvSpPr>
          <p:spPr>
            <a:xfrm>
              <a:off x="2599" y="884"/>
              <a:ext cx="635" cy="227"/>
            </a:xfrm>
            <a:prstGeom prst="ellipse">
              <a:avLst/>
            </a:prstGeom>
            <a:noFill/>
            <a:ln w="38100" cap="flat" cmpd="sng">
              <a:solidFill>
                <a:schemeClr val="hlink"/>
              </a:solidFill>
              <a:prstDash val="solid"/>
              <a:headEnd type="none" w="med" len="med"/>
              <a:tailEnd type="none" w="med" len="med"/>
            </a:ln>
          </p:spPr>
          <p:txBody>
            <a:bodyPr wrap="none" anchor="ctr" anchorCtr="0"/>
            <a:p>
              <a:pPr algn="ctr" eaLnBrk="1" hangingPunct="1"/>
              <a:endParaRPr lang="zh-CN" altLang="en-US" dirty="0">
                <a:latin typeface="Tahoma" panose="020B0604030504040204" pitchFamily="34" charset="0"/>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699">
                                            <p:txEl>
                                              <p:charRg st="0" end="37"/>
                                            </p:txEl>
                                          </p:spTgt>
                                        </p:tgtEl>
                                        <p:attrNameLst>
                                          <p:attrName>style.visibility</p:attrName>
                                        </p:attrNameLst>
                                      </p:cBhvr>
                                      <p:to>
                                        <p:strVal val="visible"/>
                                      </p:to>
                                    </p:set>
                                    <p:anim calcmode="lin" valueType="num">
                                      <p:cBhvr additive="base">
                                        <p:cTn id="7" dur="500" fill="hold"/>
                                        <p:tgtEl>
                                          <p:spTgt spid="29699">
                                            <p:txEl>
                                              <p:charRg st="0" end="3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699">
                                            <p:txEl>
                                              <p:charRg st="0" end="37"/>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699">
                                            <p:txEl>
                                              <p:charRg st="37" end="41"/>
                                            </p:txEl>
                                          </p:spTgt>
                                        </p:tgtEl>
                                        <p:attrNameLst>
                                          <p:attrName>style.visibility</p:attrName>
                                        </p:attrNameLst>
                                      </p:cBhvr>
                                      <p:to>
                                        <p:strVal val="visible"/>
                                      </p:to>
                                    </p:set>
                                    <p:anim calcmode="lin" valueType="num">
                                      <p:cBhvr additive="base">
                                        <p:cTn id="13" dur="500" fill="hold"/>
                                        <p:tgtEl>
                                          <p:spTgt spid="29699">
                                            <p:txEl>
                                              <p:charRg st="37" end="4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699">
                                            <p:txEl>
                                              <p:charRg st="37" end="4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699">
                                            <p:txEl>
                                              <p:charRg st="41" end="50"/>
                                            </p:txEl>
                                          </p:spTgt>
                                        </p:tgtEl>
                                        <p:attrNameLst>
                                          <p:attrName>style.visibility</p:attrName>
                                        </p:attrNameLst>
                                      </p:cBhvr>
                                      <p:to>
                                        <p:strVal val="visible"/>
                                      </p:to>
                                    </p:set>
                                    <p:anim calcmode="lin" valueType="num">
                                      <p:cBhvr additive="base">
                                        <p:cTn id="19" dur="500" fill="hold"/>
                                        <p:tgtEl>
                                          <p:spTgt spid="29699">
                                            <p:txEl>
                                              <p:charRg st="41" end="5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699">
                                            <p:txEl>
                                              <p:charRg st="41" end="5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699">
                                            <p:txEl>
                                              <p:charRg st="50" end="59"/>
                                            </p:txEl>
                                          </p:spTgt>
                                        </p:tgtEl>
                                        <p:attrNameLst>
                                          <p:attrName>style.visibility</p:attrName>
                                        </p:attrNameLst>
                                      </p:cBhvr>
                                      <p:to>
                                        <p:strVal val="visible"/>
                                      </p:to>
                                    </p:set>
                                    <p:anim calcmode="lin" valueType="num">
                                      <p:cBhvr additive="base">
                                        <p:cTn id="25" dur="500" fill="hold"/>
                                        <p:tgtEl>
                                          <p:spTgt spid="29699">
                                            <p:txEl>
                                              <p:charRg st="50" end="5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699">
                                            <p:txEl>
                                              <p:charRg st="50" end="59"/>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9699">
                                            <p:txEl>
                                              <p:charRg st="59" end="68"/>
                                            </p:txEl>
                                          </p:spTgt>
                                        </p:tgtEl>
                                        <p:attrNameLst>
                                          <p:attrName>style.visibility</p:attrName>
                                        </p:attrNameLst>
                                      </p:cBhvr>
                                      <p:to>
                                        <p:strVal val="visible"/>
                                      </p:to>
                                    </p:set>
                                    <p:anim calcmode="lin" valueType="num">
                                      <p:cBhvr additive="base">
                                        <p:cTn id="31" dur="500" fill="hold"/>
                                        <p:tgtEl>
                                          <p:spTgt spid="29699">
                                            <p:txEl>
                                              <p:charRg st="59" end="6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699">
                                            <p:txEl>
                                              <p:charRg st="59" end="6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1.2.2  </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微型计算机软件</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30723" name="Rectangle 3"/>
          <p:cNvSpPr>
            <a:spLocks noGrp="1"/>
          </p:cNvSpPr>
          <p:nvPr>
            <p:ph idx="1"/>
          </p:nvPr>
        </p:nvSpPr>
        <p:spPr>
          <a:xfrm>
            <a:off x="684213" y="1773238"/>
            <a:ext cx="7772400" cy="4248150"/>
          </a:xfrm>
        </p:spPr>
        <p:txBody>
          <a:bodyPr vert="horz" wrap="square" lIns="91440" tIns="45720" rIns="91440" bIns="45720" anchor="t" anchorCtr="0"/>
          <a:p>
            <a:pPr marL="0" indent="0" eaLnBrk="1" hangingPunct="1">
              <a:lnSpc>
                <a:spcPct val="80000"/>
              </a:lnSpc>
              <a:buNone/>
            </a:pPr>
            <a:r>
              <a:rPr lang="zh-CN" altLang="en-US" sz="2400" dirty="0"/>
              <a:t>软件</a:t>
            </a:r>
            <a:r>
              <a:rPr lang="en-US" altLang="zh-CN" sz="2400" dirty="0"/>
              <a:t>(software)</a:t>
            </a:r>
            <a:r>
              <a:rPr lang="zh-CN" altLang="en-US" sz="2400" dirty="0"/>
              <a:t>是指在硬件上运行的程序和相关的数据及文档，包括：</a:t>
            </a:r>
            <a:endParaRPr lang="zh-CN" altLang="en-US" sz="2400" dirty="0"/>
          </a:p>
          <a:p>
            <a:pPr marL="0" indent="0" eaLnBrk="1" hangingPunct="1">
              <a:lnSpc>
                <a:spcPct val="80000"/>
              </a:lnSpc>
            </a:pPr>
            <a:r>
              <a:rPr lang="zh-CN" altLang="en-US" sz="2400" dirty="0">
                <a:solidFill>
                  <a:schemeClr val="hlink"/>
                </a:solidFill>
                <a:sym typeface="Arial" panose="020B0604020202020204" pitchFamily="34" charset="0"/>
              </a:rPr>
              <a:t>系统软件</a:t>
            </a:r>
            <a:r>
              <a:rPr lang="zh-CN" altLang="en-US" sz="2400" dirty="0">
                <a:sym typeface="Arial" panose="020B0604020202020204" pitchFamily="34" charset="0"/>
              </a:rPr>
              <a:t>(system software)：是指用来实现对计算机系统资源的管理，便于人们使用计算机而配置的软件；系统软件是以计算机系统本身为管理对象，通常包括操作系统、计算机语言的处理程序、编译解释程序、调试诊断程序等。</a:t>
            </a:r>
            <a:endParaRPr lang="zh-CN" altLang="en-US" sz="2400" dirty="0">
              <a:sym typeface="Arial" panose="020B0604020202020204" pitchFamily="34" charset="0"/>
            </a:endParaRPr>
          </a:p>
          <a:p>
            <a:pPr marL="0" indent="0" eaLnBrk="1" hangingPunct="1">
              <a:lnSpc>
                <a:spcPct val="80000"/>
              </a:lnSpc>
            </a:pPr>
            <a:r>
              <a:rPr lang="zh-CN" altLang="en-US" sz="2400" dirty="0">
                <a:solidFill>
                  <a:schemeClr val="hlink"/>
                </a:solidFill>
                <a:sym typeface="Arial" panose="020B0604020202020204" pitchFamily="34" charset="0"/>
              </a:rPr>
              <a:t>应用软件</a:t>
            </a:r>
            <a:r>
              <a:rPr lang="zh-CN" altLang="en-US" sz="2400" dirty="0">
                <a:sym typeface="Arial" panose="020B0604020202020204" pitchFamily="34" charset="0"/>
              </a:rPr>
              <a:t>(application software)：应用软件是用户针对某一实际问题而设计的程序，是以计算机系统作为工具以达到某一应用需要的软件，包括文字处理系统、计算机辅助设计软件、各种信息管理系统等。</a:t>
            </a:r>
            <a:endParaRPr lang="zh-CN" altLang="en-US" sz="2400" dirty="0">
              <a:sym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23">
                                            <p:txEl>
                                              <p:charRg st="37" end="148"/>
                                            </p:txEl>
                                          </p:spTgt>
                                        </p:tgtEl>
                                        <p:attrNameLst>
                                          <p:attrName>style.visibility</p:attrName>
                                        </p:attrNameLst>
                                      </p:cBhvr>
                                      <p:to>
                                        <p:strVal val="visible"/>
                                      </p:to>
                                    </p:set>
                                    <p:anim calcmode="lin" valueType="num">
                                      <p:cBhvr additive="base">
                                        <p:cTn id="7" dur="500" fill="hold"/>
                                        <p:tgtEl>
                                          <p:spTgt spid="30723">
                                            <p:txEl>
                                              <p:charRg st="37" end="14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23">
                                            <p:txEl>
                                              <p:charRg st="37" end="14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23">
                                            <p:txEl>
                                              <p:charRg st="148" end="251"/>
                                            </p:txEl>
                                          </p:spTgt>
                                        </p:tgtEl>
                                        <p:attrNameLst>
                                          <p:attrName>style.visibility</p:attrName>
                                        </p:attrNameLst>
                                      </p:cBhvr>
                                      <p:to>
                                        <p:strVal val="visible"/>
                                      </p:to>
                                    </p:set>
                                    <p:anim calcmode="lin" valueType="num">
                                      <p:cBhvr additive="base">
                                        <p:cTn id="13" dur="500" fill="hold"/>
                                        <p:tgtEl>
                                          <p:spTgt spid="30723">
                                            <p:txEl>
                                              <p:charRg st="148" end="25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23">
                                            <p:txEl>
                                              <p:charRg st="148" end="25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1.2.3  </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微型计算机的工作过程</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96259" name="Rectangle 3"/>
          <p:cNvSpPr>
            <a:spLocks noGrp="1"/>
          </p:cNvSpPr>
          <p:nvPr>
            <p:ph idx="1"/>
          </p:nvPr>
        </p:nvSpPr>
        <p:spPr>
          <a:xfrm>
            <a:off x="611188" y="1989138"/>
            <a:ext cx="7988300" cy="4259262"/>
          </a:xfrm>
        </p:spPr>
        <p:txBody>
          <a:bodyPr vert="horz" wrap="square" lIns="91440" tIns="45720" rIns="91440" bIns="45720" anchor="t" anchorCtr="0"/>
          <a:p>
            <a:pPr marL="0" indent="0" eaLnBrk="1" hangingPunct="1">
              <a:buNone/>
            </a:pPr>
            <a:r>
              <a:rPr lang="zh-CN" altLang="en-US" dirty="0">
                <a:latin typeface="楷体_GB2312" pitchFamily="1" charset="-122"/>
              </a:rPr>
              <a:t>微型计算机的工作过程就是执行存放在存储器中程序的过程，就是逐条执行指令序列的过程，就是</a:t>
            </a:r>
            <a:r>
              <a:rPr lang="zh-CN" altLang="en-US" dirty="0">
                <a:solidFill>
                  <a:schemeClr val="hlink"/>
                </a:solidFill>
                <a:latin typeface="楷体_GB2312" pitchFamily="1" charset="-122"/>
              </a:rPr>
              <a:t>不断地</a:t>
            </a:r>
            <a:r>
              <a:rPr lang="zh-CN" altLang="en-US" b="1" dirty="0">
                <a:solidFill>
                  <a:schemeClr val="folHlink"/>
                </a:solidFill>
                <a:latin typeface="宋体" panose="02010600030101010101" pitchFamily="2" charset="-122"/>
                <a:ea typeface="宋体" panose="02010600030101010101" pitchFamily="2" charset="-122"/>
              </a:rPr>
              <a:t>取指令</a:t>
            </a:r>
            <a:r>
              <a:rPr lang="zh-CN" altLang="en-US" dirty="0">
                <a:solidFill>
                  <a:schemeClr val="hlink"/>
                </a:solidFill>
                <a:latin typeface="楷体_GB2312" pitchFamily="1" charset="-122"/>
              </a:rPr>
              <a:t>和</a:t>
            </a:r>
            <a:r>
              <a:rPr lang="zh-CN" altLang="en-US" b="1" dirty="0">
                <a:solidFill>
                  <a:schemeClr val="folHlink"/>
                </a:solidFill>
                <a:latin typeface="宋体" panose="02010600030101010101" pitchFamily="2" charset="-122"/>
                <a:ea typeface="宋体" panose="02010600030101010101" pitchFamily="2" charset="-122"/>
              </a:rPr>
              <a:t>执行指令</a:t>
            </a:r>
            <a:r>
              <a:rPr lang="zh-CN" altLang="en-US" dirty="0">
                <a:latin typeface="楷体_GB2312" pitchFamily="1" charset="-122"/>
              </a:rPr>
              <a:t>的过程。</a:t>
            </a:r>
            <a:endParaRPr lang="zh-CN" altLang="en-US" dirty="0">
              <a:latin typeface="楷体_GB2312" pitchFamily="1" charset="-122"/>
            </a:endParaRPr>
          </a:p>
        </p:txBody>
      </p:sp>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277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工作过程详解</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32771" name="Rectangle 3"/>
          <p:cNvSpPr>
            <a:spLocks noGrp="1"/>
          </p:cNvSpPr>
          <p:nvPr>
            <p:ph idx="1"/>
          </p:nvPr>
        </p:nvSpPr>
        <p:spPr>
          <a:xfrm>
            <a:off x="323850" y="1773238"/>
            <a:ext cx="8496300" cy="4895850"/>
          </a:xfrm>
        </p:spPr>
        <p:txBody>
          <a:bodyPr vert="horz" wrap="square" lIns="91440" tIns="45720" rIns="91440" bIns="45720" anchor="t" anchorCtr="0"/>
          <a:p>
            <a:pPr marL="0" indent="0" eaLnBrk="1" hangingPunct="1">
              <a:lnSpc>
                <a:spcPct val="90000"/>
              </a:lnSpc>
              <a:buNone/>
            </a:pPr>
            <a:r>
              <a:rPr lang="zh-CN" altLang="en-US" sz="2800" dirty="0">
                <a:ea typeface="宋体" panose="02010600030101010101" pitchFamily="2" charset="-122"/>
              </a:rPr>
              <a:t>假定程序已由输入设备存放到内存中。那么，微型计算机的工作过程(微型计算机执行程序的过程)包括的</a:t>
            </a:r>
            <a:r>
              <a:rPr lang="zh-CN" altLang="en-US" sz="2800" dirty="0">
                <a:solidFill>
                  <a:schemeClr val="hlink"/>
                </a:solidFill>
                <a:ea typeface="宋体" panose="02010600030101010101" pitchFamily="2" charset="-122"/>
              </a:rPr>
              <a:t>基本步骤</a:t>
            </a:r>
            <a:r>
              <a:rPr lang="zh-CN" altLang="en-US" sz="2800" dirty="0">
                <a:ea typeface="宋体" panose="02010600030101010101" pitchFamily="2" charset="-122"/>
              </a:rPr>
              <a:t>有：</a:t>
            </a:r>
            <a:endParaRPr lang="zh-CN" altLang="en-US" sz="2800" dirty="0">
              <a:ea typeface="宋体" panose="02010600030101010101" pitchFamily="2" charset="-122"/>
            </a:endParaRPr>
          </a:p>
          <a:p>
            <a:pPr marL="0" indent="0" eaLnBrk="1" hangingPunct="1">
              <a:lnSpc>
                <a:spcPct val="90000"/>
              </a:lnSpc>
              <a:buNone/>
            </a:pPr>
            <a:r>
              <a:rPr lang="en-US" altLang="zh-CN" sz="2800" dirty="0"/>
              <a:t>(1)</a:t>
            </a:r>
            <a:r>
              <a:rPr lang="zh-CN" altLang="en-US" sz="2800" dirty="0"/>
              <a:t>将第一条指令由内存中取出</a:t>
            </a:r>
            <a:r>
              <a:rPr lang="en-US" altLang="zh-CN" sz="2800" dirty="0"/>
              <a:t>(</a:t>
            </a:r>
            <a:r>
              <a:rPr lang="zh-CN" altLang="en-US" sz="2800" dirty="0"/>
              <a:t>即</a:t>
            </a:r>
            <a:r>
              <a:rPr lang="zh-CN" altLang="en-US" sz="2800" b="1" dirty="0">
                <a:solidFill>
                  <a:schemeClr val="folHlink"/>
                </a:solidFill>
              </a:rPr>
              <a:t>取指令</a:t>
            </a:r>
            <a:r>
              <a:rPr lang="en-US" altLang="zh-CN" sz="2800" dirty="0"/>
              <a:t>)</a:t>
            </a:r>
            <a:r>
              <a:rPr lang="zh-CN" altLang="en-US" sz="2800" dirty="0"/>
              <a:t>；</a:t>
            </a:r>
            <a:endParaRPr lang="zh-CN" altLang="en-US" sz="2800" dirty="0"/>
          </a:p>
          <a:p>
            <a:pPr marL="0" indent="0" eaLnBrk="1" hangingPunct="1">
              <a:lnSpc>
                <a:spcPct val="90000"/>
              </a:lnSpc>
              <a:buNone/>
            </a:pPr>
            <a:r>
              <a:rPr lang="en-US" altLang="zh-CN" sz="2800" dirty="0"/>
              <a:t>(2)</a:t>
            </a:r>
            <a:r>
              <a:rPr lang="zh-CN" altLang="en-US" sz="2800" dirty="0"/>
              <a:t>将取出的指令送指令译码器</a:t>
            </a:r>
            <a:r>
              <a:rPr lang="zh-CN" altLang="en-US" sz="2800" b="1" dirty="0">
                <a:solidFill>
                  <a:schemeClr val="folHlink"/>
                </a:solidFill>
              </a:rPr>
              <a:t>译码</a:t>
            </a:r>
            <a:r>
              <a:rPr lang="zh-CN" altLang="en-US" sz="2800" dirty="0"/>
              <a:t>，以确定要进行的操作；</a:t>
            </a:r>
            <a:endParaRPr lang="zh-CN" altLang="en-US" sz="2800" dirty="0"/>
          </a:p>
          <a:p>
            <a:pPr marL="0" indent="0" eaLnBrk="1" hangingPunct="1">
              <a:lnSpc>
                <a:spcPct val="90000"/>
              </a:lnSpc>
              <a:buNone/>
            </a:pPr>
            <a:r>
              <a:rPr lang="en-US" altLang="zh-CN" sz="2800" dirty="0"/>
              <a:t>(3)</a:t>
            </a:r>
            <a:r>
              <a:rPr lang="zh-CN" altLang="en-US" sz="2800" b="1" dirty="0">
                <a:solidFill>
                  <a:schemeClr val="folHlink"/>
                </a:solidFill>
              </a:rPr>
              <a:t>读取相应的操作数</a:t>
            </a:r>
            <a:r>
              <a:rPr lang="en-US" altLang="zh-CN" sz="2800" dirty="0"/>
              <a:t>(</a:t>
            </a:r>
            <a:r>
              <a:rPr lang="zh-CN" altLang="en-US" sz="2800" dirty="0"/>
              <a:t>或操作对象</a:t>
            </a:r>
            <a:r>
              <a:rPr lang="en-US" altLang="zh-CN" sz="2800" dirty="0"/>
              <a:t>)</a:t>
            </a:r>
            <a:r>
              <a:rPr lang="zh-CN" altLang="en-US" sz="2800" dirty="0"/>
              <a:t>；</a:t>
            </a:r>
            <a:endParaRPr lang="zh-CN" altLang="en-US" sz="2800" dirty="0"/>
          </a:p>
          <a:p>
            <a:pPr marL="0" indent="0" eaLnBrk="1" hangingPunct="1">
              <a:lnSpc>
                <a:spcPct val="90000"/>
              </a:lnSpc>
              <a:buNone/>
            </a:pPr>
            <a:r>
              <a:rPr lang="en-US" altLang="zh-CN" sz="2800" dirty="0"/>
              <a:t>(4)</a:t>
            </a:r>
            <a:r>
              <a:rPr lang="zh-CN" altLang="en-US" sz="2800" dirty="0"/>
              <a:t>对操作数进行指令规定的操作，并存放结果</a:t>
            </a:r>
            <a:r>
              <a:rPr lang="en-US" altLang="zh-CN" sz="2800" dirty="0"/>
              <a:t>(</a:t>
            </a:r>
            <a:r>
              <a:rPr lang="zh-CN" altLang="en-US" sz="2800" dirty="0"/>
              <a:t>即</a:t>
            </a:r>
            <a:r>
              <a:rPr lang="zh-CN" altLang="en-US" sz="2800" b="1" dirty="0">
                <a:solidFill>
                  <a:schemeClr val="folHlink"/>
                </a:solidFill>
              </a:rPr>
              <a:t>执行指令</a:t>
            </a:r>
            <a:r>
              <a:rPr lang="en-US" altLang="zh-CN" sz="2800" dirty="0"/>
              <a:t>)</a:t>
            </a:r>
            <a:r>
              <a:rPr lang="zh-CN" altLang="en-US" sz="2800" dirty="0"/>
              <a:t>；</a:t>
            </a:r>
            <a:endParaRPr lang="zh-CN" altLang="en-US" sz="2800" dirty="0"/>
          </a:p>
          <a:p>
            <a:pPr marL="0" indent="0" eaLnBrk="1" hangingPunct="1">
              <a:lnSpc>
                <a:spcPct val="90000"/>
              </a:lnSpc>
              <a:buNone/>
            </a:pPr>
            <a:r>
              <a:rPr lang="en-US" altLang="zh-CN" sz="2800" dirty="0"/>
              <a:t>(5)</a:t>
            </a:r>
            <a:r>
              <a:rPr lang="zh-CN" altLang="en-US" sz="2800" dirty="0"/>
              <a:t>一条指令执行完后，转入下一条指令的取指令阶段。如此周而复始地循环，直到程序中的指令执行完。</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2771">
                                            <p:txEl>
                                              <p:charRg st="0" end="54"/>
                                            </p:txEl>
                                          </p:spTgt>
                                        </p:tgtEl>
                                        <p:attrNameLst>
                                          <p:attrName>style.visibility</p:attrName>
                                        </p:attrNameLst>
                                      </p:cBhvr>
                                      <p:to>
                                        <p:strVal val="visible"/>
                                      </p:to>
                                    </p:set>
                                    <p:anim calcmode="lin" valueType="num">
                                      <p:cBhvr>
                                        <p:cTn id="7" dur="500" fill="hold"/>
                                        <p:tgtEl>
                                          <p:spTgt spid="32771">
                                            <p:txEl>
                                              <p:charRg st="0" end="54"/>
                                            </p:txEl>
                                          </p:spTgt>
                                        </p:tgtEl>
                                        <p:attrNameLst>
                                          <p:attrName>ppt_w</p:attrName>
                                        </p:attrNameLst>
                                      </p:cBhvr>
                                      <p:tavLst>
                                        <p:tav tm="0">
                                          <p:val>
                                            <p:fltVal val="0.000000"/>
                                          </p:val>
                                        </p:tav>
                                        <p:tav tm="100000">
                                          <p:val>
                                            <p:strVal val="#ppt_w"/>
                                          </p:val>
                                        </p:tav>
                                      </p:tavLst>
                                    </p:anim>
                                    <p:anim calcmode="lin" valueType="num">
                                      <p:cBhvr>
                                        <p:cTn id="8" dur="500" fill="hold"/>
                                        <p:tgtEl>
                                          <p:spTgt spid="32771">
                                            <p:txEl>
                                              <p:charRg st="0" end="54"/>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2771">
                                            <p:txEl>
                                              <p:charRg st="54" end="77"/>
                                            </p:txEl>
                                          </p:spTgt>
                                        </p:tgtEl>
                                        <p:attrNameLst>
                                          <p:attrName>style.visibility</p:attrName>
                                        </p:attrNameLst>
                                      </p:cBhvr>
                                      <p:to>
                                        <p:strVal val="visible"/>
                                      </p:to>
                                    </p:set>
                                    <p:anim calcmode="lin" valueType="num">
                                      <p:cBhvr>
                                        <p:cTn id="13" dur="500" fill="hold"/>
                                        <p:tgtEl>
                                          <p:spTgt spid="32771">
                                            <p:txEl>
                                              <p:charRg st="54" end="77"/>
                                            </p:txEl>
                                          </p:spTgt>
                                        </p:tgtEl>
                                        <p:attrNameLst>
                                          <p:attrName>ppt_w</p:attrName>
                                        </p:attrNameLst>
                                      </p:cBhvr>
                                      <p:tavLst>
                                        <p:tav tm="0">
                                          <p:val>
                                            <p:fltVal val="0.000000"/>
                                          </p:val>
                                        </p:tav>
                                        <p:tav tm="100000">
                                          <p:val>
                                            <p:strVal val="#ppt_w"/>
                                          </p:val>
                                        </p:tav>
                                      </p:tavLst>
                                    </p:anim>
                                    <p:anim calcmode="lin" valueType="num">
                                      <p:cBhvr>
                                        <p:cTn id="14" dur="500" fill="hold"/>
                                        <p:tgtEl>
                                          <p:spTgt spid="32771">
                                            <p:txEl>
                                              <p:charRg st="54" end="77"/>
                                            </p:txEl>
                                          </p:spTgt>
                                        </p:tgtEl>
                                        <p:attrNameLst>
                                          <p:attrName>ppt_h</p:attrName>
                                        </p:attrNameLst>
                                      </p:cBhvr>
                                      <p:tavLst>
                                        <p:tav tm="0">
                                          <p:val>
                                            <p:fltVal val="0.00000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32771">
                                            <p:txEl>
                                              <p:charRg st="77" end="106"/>
                                            </p:txEl>
                                          </p:spTgt>
                                        </p:tgtEl>
                                        <p:attrNameLst>
                                          <p:attrName>style.visibility</p:attrName>
                                        </p:attrNameLst>
                                      </p:cBhvr>
                                      <p:to>
                                        <p:strVal val="visible"/>
                                      </p:to>
                                    </p:set>
                                    <p:anim calcmode="lin" valueType="num">
                                      <p:cBhvr>
                                        <p:cTn id="19" dur="500" fill="hold"/>
                                        <p:tgtEl>
                                          <p:spTgt spid="32771">
                                            <p:txEl>
                                              <p:charRg st="77" end="106"/>
                                            </p:txEl>
                                          </p:spTgt>
                                        </p:tgtEl>
                                        <p:attrNameLst>
                                          <p:attrName>ppt_w</p:attrName>
                                        </p:attrNameLst>
                                      </p:cBhvr>
                                      <p:tavLst>
                                        <p:tav tm="0">
                                          <p:val>
                                            <p:fltVal val="0.000000"/>
                                          </p:val>
                                        </p:tav>
                                        <p:tav tm="100000">
                                          <p:val>
                                            <p:strVal val="#ppt_w"/>
                                          </p:val>
                                        </p:tav>
                                      </p:tavLst>
                                    </p:anim>
                                    <p:anim calcmode="lin" valueType="num">
                                      <p:cBhvr>
                                        <p:cTn id="20" dur="500" fill="hold"/>
                                        <p:tgtEl>
                                          <p:spTgt spid="32771">
                                            <p:txEl>
                                              <p:charRg st="77" end="106"/>
                                            </p:txEl>
                                          </p:spTgt>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32771">
                                            <p:txEl>
                                              <p:charRg st="106" end="126"/>
                                            </p:txEl>
                                          </p:spTgt>
                                        </p:tgtEl>
                                        <p:attrNameLst>
                                          <p:attrName>style.visibility</p:attrName>
                                        </p:attrNameLst>
                                      </p:cBhvr>
                                      <p:to>
                                        <p:strVal val="visible"/>
                                      </p:to>
                                    </p:set>
                                    <p:anim calcmode="lin" valueType="num">
                                      <p:cBhvr>
                                        <p:cTn id="25" dur="500" fill="hold"/>
                                        <p:tgtEl>
                                          <p:spTgt spid="32771">
                                            <p:txEl>
                                              <p:charRg st="106" end="126"/>
                                            </p:txEl>
                                          </p:spTgt>
                                        </p:tgtEl>
                                        <p:attrNameLst>
                                          <p:attrName>ppt_w</p:attrName>
                                        </p:attrNameLst>
                                      </p:cBhvr>
                                      <p:tavLst>
                                        <p:tav tm="0">
                                          <p:val>
                                            <p:fltVal val="0.000000"/>
                                          </p:val>
                                        </p:tav>
                                        <p:tav tm="100000">
                                          <p:val>
                                            <p:strVal val="#ppt_w"/>
                                          </p:val>
                                        </p:tav>
                                      </p:tavLst>
                                    </p:anim>
                                    <p:anim calcmode="lin" valueType="num">
                                      <p:cBhvr>
                                        <p:cTn id="26" dur="500" fill="hold"/>
                                        <p:tgtEl>
                                          <p:spTgt spid="32771">
                                            <p:txEl>
                                              <p:charRg st="106" end="126"/>
                                            </p:txEl>
                                          </p:spTgt>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32771">
                                            <p:txEl>
                                              <p:charRg st="126" end="157"/>
                                            </p:txEl>
                                          </p:spTgt>
                                        </p:tgtEl>
                                        <p:attrNameLst>
                                          <p:attrName>style.visibility</p:attrName>
                                        </p:attrNameLst>
                                      </p:cBhvr>
                                      <p:to>
                                        <p:strVal val="visible"/>
                                      </p:to>
                                    </p:set>
                                    <p:anim calcmode="lin" valueType="num">
                                      <p:cBhvr>
                                        <p:cTn id="31" dur="500" fill="hold"/>
                                        <p:tgtEl>
                                          <p:spTgt spid="32771">
                                            <p:txEl>
                                              <p:charRg st="126" end="157"/>
                                            </p:txEl>
                                          </p:spTgt>
                                        </p:tgtEl>
                                        <p:attrNameLst>
                                          <p:attrName>ppt_w</p:attrName>
                                        </p:attrNameLst>
                                      </p:cBhvr>
                                      <p:tavLst>
                                        <p:tav tm="0">
                                          <p:val>
                                            <p:fltVal val="0.000000"/>
                                          </p:val>
                                        </p:tav>
                                        <p:tav tm="100000">
                                          <p:val>
                                            <p:strVal val="#ppt_w"/>
                                          </p:val>
                                        </p:tav>
                                      </p:tavLst>
                                    </p:anim>
                                    <p:anim calcmode="lin" valueType="num">
                                      <p:cBhvr>
                                        <p:cTn id="32" dur="500" fill="hold"/>
                                        <p:tgtEl>
                                          <p:spTgt spid="32771">
                                            <p:txEl>
                                              <p:charRg st="126" end="157"/>
                                            </p:txEl>
                                          </p:spTgt>
                                        </p:tgtEl>
                                        <p:attrNameLst>
                                          <p:attrName>ppt_h</p:attrName>
                                        </p:attrNameLst>
                                      </p:cBhvr>
                                      <p:tavLst>
                                        <p:tav tm="0">
                                          <p:val>
                                            <p:fltVal val="0.00000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32771">
                                            <p:txEl>
                                              <p:charRg st="157" end="206"/>
                                            </p:txEl>
                                          </p:spTgt>
                                        </p:tgtEl>
                                        <p:attrNameLst>
                                          <p:attrName>style.visibility</p:attrName>
                                        </p:attrNameLst>
                                      </p:cBhvr>
                                      <p:to>
                                        <p:strVal val="visible"/>
                                      </p:to>
                                    </p:set>
                                    <p:anim calcmode="lin" valueType="num">
                                      <p:cBhvr>
                                        <p:cTn id="37" dur="500" fill="hold"/>
                                        <p:tgtEl>
                                          <p:spTgt spid="32771">
                                            <p:txEl>
                                              <p:charRg st="157" end="206"/>
                                            </p:txEl>
                                          </p:spTgt>
                                        </p:tgtEl>
                                        <p:attrNameLst>
                                          <p:attrName>ppt_w</p:attrName>
                                        </p:attrNameLst>
                                      </p:cBhvr>
                                      <p:tavLst>
                                        <p:tav tm="0">
                                          <p:val>
                                            <p:fltVal val="0.000000"/>
                                          </p:val>
                                        </p:tav>
                                        <p:tav tm="100000">
                                          <p:val>
                                            <p:strVal val="#ppt_w"/>
                                          </p:val>
                                        </p:tav>
                                      </p:tavLst>
                                    </p:anim>
                                    <p:anim calcmode="lin" valueType="num">
                                      <p:cBhvr>
                                        <p:cTn id="38" dur="500" fill="hold"/>
                                        <p:tgtEl>
                                          <p:spTgt spid="32771">
                                            <p:txEl>
                                              <p:charRg st="157" end="206"/>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图</a:t>
            </a:r>
            <a:r>
              <a:rPr kumimoji="0" 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1.2 </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典型的模型计算机</a:t>
            </a:r>
            <a:r>
              <a:rPr kumimoji="0" 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CPU</a:t>
            </a:r>
            <a:r>
              <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的组成结构</a:t>
            </a:r>
            <a:endParaRPr kumimoji="0" lang="zh-CN" altLang="en-US" sz="32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pic>
        <p:nvPicPr>
          <p:cNvPr id="98307" name="Picture 3"/>
          <p:cNvPicPr>
            <a:picLocks noChangeAspect="1"/>
          </p:cNvPicPr>
          <p:nvPr/>
        </p:nvPicPr>
        <p:blipFill>
          <a:blip r:embed="rId1"/>
          <a:stretch>
            <a:fillRect/>
          </a:stretch>
        </p:blipFill>
        <p:spPr>
          <a:xfrm>
            <a:off x="1979613" y="1628775"/>
            <a:ext cx="5616575" cy="4895850"/>
          </a:xfrm>
          <a:prstGeom prst="rect">
            <a:avLst/>
          </a:prstGeom>
          <a:noFill/>
          <a:ln w="9525">
            <a:noFill/>
          </a:ln>
        </p:spPr>
      </p:pic>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481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模型计算机</a:t>
            </a:r>
            <a:r>
              <a:rPr kumimoji="0" 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CPU</a:t>
            </a:r>
            <a:r>
              <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的组成结构</a:t>
            </a:r>
            <a:endParaRPr kumimoji="0" lang="zh-CN" altLang="en-US" sz="36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34819" name="Rectangle 3"/>
          <p:cNvSpPr>
            <a:spLocks noGrp="1"/>
          </p:cNvSpPr>
          <p:nvPr>
            <p:ph idx="1"/>
          </p:nvPr>
        </p:nvSpPr>
        <p:spPr>
          <a:xfrm>
            <a:off x="395288" y="1773238"/>
            <a:ext cx="8280400" cy="4032250"/>
          </a:xfrm>
        </p:spPr>
        <p:txBody>
          <a:bodyPr vert="horz" wrap="square" lIns="91440" tIns="45720" rIns="91440" bIns="45720" anchor="t" anchorCtr="0"/>
          <a:p>
            <a:pPr eaLnBrk="1" hangingPunct="1">
              <a:lnSpc>
                <a:spcPct val="80000"/>
              </a:lnSpc>
            </a:pPr>
            <a:r>
              <a:rPr lang="zh-CN" altLang="en-US" sz="2800" dirty="0"/>
              <a:t>要执行指令的地址由程序计数器</a:t>
            </a:r>
            <a:r>
              <a:rPr lang="en-US" altLang="zh-CN" sz="2800" dirty="0"/>
              <a:t>PC</a:t>
            </a:r>
            <a:r>
              <a:rPr lang="zh-CN" altLang="en-US" sz="2800" dirty="0"/>
              <a:t>提供，地址寄存器</a:t>
            </a:r>
            <a:r>
              <a:rPr lang="en-US" altLang="zh-CN" sz="2800" dirty="0"/>
              <a:t>AR</a:t>
            </a:r>
            <a:r>
              <a:rPr lang="zh-CN" altLang="en-US" sz="2800" dirty="0"/>
              <a:t>将要寻址的单元的地址通过地址总线</a:t>
            </a:r>
            <a:r>
              <a:rPr lang="en-US" altLang="zh-CN" sz="2800" dirty="0"/>
              <a:t>AB</a:t>
            </a:r>
            <a:r>
              <a:rPr lang="zh-CN" altLang="en-US" sz="2800" dirty="0"/>
              <a:t>送至存储器；</a:t>
            </a:r>
            <a:endParaRPr lang="zh-CN" altLang="en-US" sz="2800" dirty="0"/>
          </a:p>
          <a:p>
            <a:pPr eaLnBrk="1" hangingPunct="1">
              <a:lnSpc>
                <a:spcPct val="80000"/>
              </a:lnSpc>
            </a:pPr>
            <a:r>
              <a:rPr lang="zh-CN" altLang="en-US" sz="2800" dirty="0"/>
              <a:t>从存储器中取出指令后，由数据寄存器</a:t>
            </a:r>
            <a:r>
              <a:rPr lang="en-US" altLang="zh-CN" sz="2800" dirty="0"/>
              <a:t>DR</a:t>
            </a:r>
            <a:r>
              <a:rPr lang="zh-CN" altLang="en-US" sz="2800" dirty="0"/>
              <a:t>送至指令寄存器</a:t>
            </a:r>
            <a:r>
              <a:rPr lang="en-US" altLang="zh-CN" sz="2800" dirty="0"/>
              <a:t>IR</a:t>
            </a:r>
            <a:r>
              <a:rPr lang="zh-CN" altLang="en-US" sz="2800" dirty="0"/>
              <a:t>，再通过指令译码器</a:t>
            </a:r>
            <a:r>
              <a:rPr lang="en-US" altLang="zh-CN" sz="2800" dirty="0"/>
              <a:t>ID</a:t>
            </a:r>
            <a:r>
              <a:rPr lang="zh-CN" altLang="en-US" sz="2800" dirty="0"/>
              <a:t>译码，并通过可编程逻辑阵列</a:t>
            </a:r>
            <a:r>
              <a:rPr lang="en-US" altLang="zh-CN" sz="2800" dirty="0"/>
              <a:t>PLA</a:t>
            </a:r>
            <a:r>
              <a:rPr lang="zh-CN" altLang="en-US" sz="2800" dirty="0"/>
              <a:t>控制电路发出执行一条指令所需要的各种控制信息。</a:t>
            </a:r>
            <a:endParaRPr lang="zh-CN" altLang="en-US" sz="2800" dirty="0"/>
          </a:p>
          <a:p>
            <a:pPr eaLnBrk="1" hangingPunct="1">
              <a:lnSpc>
                <a:spcPct val="80000"/>
              </a:lnSpc>
            </a:pPr>
            <a:r>
              <a:rPr lang="zh-CN" altLang="en-US" sz="2800" dirty="0"/>
              <a:t>在控制信号的控制下，准备好参加运算的操作数，并由</a:t>
            </a:r>
            <a:r>
              <a:rPr lang="en-US" altLang="zh-CN" sz="2800" dirty="0"/>
              <a:t>ALU</a:t>
            </a:r>
            <a:r>
              <a:rPr lang="zh-CN" altLang="en-US" sz="2800" dirty="0"/>
              <a:t>完成对操作数的运算处理，同时把运算过程中的状态标志信息存放在标志寄存器</a:t>
            </a:r>
            <a:r>
              <a:rPr lang="en-US" altLang="zh-CN" sz="2800" dirty="0"/>
              <a:t>F</a:t>
            </a:r>
            <a:r>
              <a:rPr lang="zh-CN" altLang="en-US" sz="2800" dirty="0"/>
              <a:t>。 </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4819">
                                            <p:txEl>
                                              <p:charRg st="0" end="51"/>
                                            </p:txEl>
                                          </p:spTgt>
                                        </p:tgtEl>
                                        <p:attrNameLst>
                                          <p:attrName>style.visibility</p:attrName>
                                        </p:attrNameLst>
                                      </p:cBhvr>
                                      <p:to>
                                        <p:strVal val="visible"/>
                                      </p:to>
                                    </p:set>
                                    <p:animEffect transition="in" filter="dissolve">
                                      <p:cBhvr>
                                        <p:cTn id="7" dur="500"/>
                                        <p:tgtEl>
                                          <p:spTgt spid="34819">
                                            <p:txEl>
                                              <p:charRg st="0" end="5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4819">
                                            <p:txEl>
                                              <p:charRg st="51" end="130"/>
                                            </p:txEl>
                                          </p:spTgt>
                                        </p:tgtEl>
                                        <p:attrNameLst>
                                          <p:attrName>style.visibility</p:attrName>
                                        </p:attrNameLst>
                                      </p:cBhvr>
                                      <p:to>
                                        <p:strVal val="visible"/>
                                      </p:to>
                                    </p:set>
                                    <p:animEffect transition="in" filter="dissolve">
                                      <p:cBhvr>
                                        <p:cTn id="12" dur="500"/>
                                        <p:tgtEl>
                                          <p:spTgt spid="34819">
                                            <p:txEl>
                                              <p:charRg st="51" end="13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4819">
                                            <p:txEl>
                                              <p:charRg st="130" end="196"/>
                                            </p:txEl>
                                          </p:spTgt>
                                        </p:tgtEl>
                                        <p:attrNameLst>
                                          <p:attrName>style.visibility</p:attrName>
                                        </p:attrNameLst>
                                      </p:cBhvr>
                                      <p:to>
                                        <p:strVal val="visible"/>
                                      </p:to>
                                    </p:set>
                                    <p:animEffect transition="in" filter="dissolve">
                                      <p:cBhvr>
                                        <p:cTn id="17" dur="500"/>
                                        <p:tgtEl>
                                          <p:spTgt spid="34819">
                                            <p:txEl>
                                              <p:charRg st="130" end="1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build="p"/>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584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以简单的加法运算为例</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35843" name="Rectangle 3"/>
          <p:cNvSpPr>
            <a:spLocks noGrp="1"/>
          </p:cNvSpPr>
          <p:nvPr>
            <p:ph idx="1"/>
          </p:nvPr>
        </p:nvSpPr>
        <p:spPr>
          <a:xfrm>
            <a:off x="539750" y="1916113"/>
            <a:ext cx="8280400" cy="4752975"/>
          </a:xfrm>
        </p:spPr>
        <p:txBody>
          <a:bodyPr vert="horz" wrap="square" lIns="91440" tIns="45720" rIns="91440" bIns="45720" anchor="t" anchorCtr="0"/>
          <a:p>
            <a:pPr marL="0" indent="0" eaLnBrk="1" hangingPunct="1">
              <a:buNone/>
            </a:pPr>
            <a:r>
              <a:rPr lang="zh-CN" altLang="en-US" dirty="0">
                <a:ea typeface="宋体" panose="02010600030101010101" pitchFamily="2" charset="-122"/>
              </a:rPr>
              <a:t>假定要运算的数已存放在存储器中，加法运算程序至少包括两条指令：</a:t>
            </a:r>
            <a:endParaRPr lang="zh-CN" altLang="en-US" dirty="0">
              <a:ea typeface="宋体" panose="02010600030101010101" pitchFamily="2" charset="-122"/>
            </a:endParaRPr>
          </a:p>
          <a:p>
            <a:pPr marL="0" indent="0" eaLnBrk="1" hangingPunct="1">
              <a:buNone/>
            </a:pPr>
            <a:r>
              <a:rPr lang="en-US" altLang="zh-CN" dirty="0"/>
              <a:t>(1)</a:t>
            </a:r>
            <a:r>
              <a:rPr lang="zh-CN" altLang="en-US" dirty="0"/>
              <a:t>把第一个数从它所在的存储单元取出送至运算器中的累加器，如：</a:t>
            </a:r>
            <a:r>
              <a:rPr lang="en-US" altLang="zh-CN" dirty="0"/>
              <a:t>MOV AL</a:t>
            </a:r>
            <a:r>
              <a:rPr lang="zh-CN" altLang="en-US" dirty="0"/>
              <a:t>，</a:t>
            </a:r>
            <a:r>
              <a:rPr lang="en-US" altLang="zh-CN" dirty="0"/>
              <a:t>[addrx]</a:t>
            </a:r>
            <a:r>
              <a:rPr lang="zh-CN" altLang="en-US" dirty="0"/>
              <a:t>。</a:t>
            </a:r>
            <a:endParaRPr lang="zh-CN" altLang="en-US" dirty="0"/>
          </a:p>
          <a:p>
            <a:pPr marL="0" indent="0" eaLnBrk="1" hangingPunct="1">
              <a:buNone/>
            </a:pPr>
            <a:r>
              <a:rPr lang="en-US" altLang="zh-CN" dirty="0"/>
              <a:t>(2)</a:t>
            </a:r>
            <a:r>
              <a:rPr lang="zh-CN" altLang="en-US" dirty="0"/>
              <a:t>把累加器的内容和存放在指定存储单元的第二个数相加，并将结果存放累加器，如：</a:t>
            </a:r>
            <a:r>
              <a:rPr lang="en-US" altLang="zh-CN" dirty="0"/>
              <a:t>ADD AL</a:t>
            </a:r>
            <a:r>
              <a:rPr lang="zh-CN" altLang="en-US" dirty="0"/>
              <a:t>，</a:t>
            </a:r>
            <a:r>
              <a:rPr lang="en-US" altLang="zh-CN" dirty="0"/>
              <a:t>[addry]</a:t>
            </a:r>
            <a:r>
              <a:rPr lang="zh-CN" altLang="en-US" dirty="0"/>
              <a:t>。</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5843">
                                            <p:txEl>
                                              <p:charRg st="0" end="32"/>
                                            </p:txEl>
                                          </p:spTgt>
                                        </p:tgtEl>
                                        <p:attrNameLst>
                                          <p:attrName>style.visibility</p:attrName>
                                        </p:attrNameLst>
                                      </p:cBhvr>
                                      <p:to>
                                        <p:strVal val="visible"/>
                                      </p:to>
                                    </p:set>
                                    <p:anim calcmode="lin" valueType="num">
                                      <p:cBhvr additive="base">
                                        <p:cTn id="7" dur="500" fill="hold"/>
                                        <p:tgtEl>
                                          <p:spTgt spid="35843">
                                            <p:txEl>
                                              <p:charRg st="0" end="3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843">
                                            <p:txEl>
                                              <p:charRg st="0" end="3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5843">
                                            <p:txEl>
                                              <p:charRg st="32" end="80"/>
                                            </p:txEl>
                                          </p:spTgt>
                                        </p:tgtEl>
                                        <p:attrNameLst>
                                          <p:attrName>style.visibility</p:attrName>
                                        </p:attrNameLst>
                                      </p:cBhvr>
                                      <p:to>
                                        <p:strVal val="visible"/>
                                      </p:to>
                                    </p:set>
                                    <p:anim calcmode="lin" valueType="num">
                                      <p:cBhvr additive="base">
                                        <p:cTn id="13" dur="500" fill="hold"/>
                                        <p:tgtEl>
                                          <p:spTgt spid="35843">
                                            <p:txEl>
                                              <p:charRg st="32" end="8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843">
                                            <p:txEl>
                                              <p:charRg st="32" end="8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5843">
                                            <p:txEl>
                                              <p:charRg st="80" end="136"/>
                                            </p:txEl>
                                          </p:spTgt>
                                        </p:tgtEl>
                                        <p:attrNameLst>
                                          <p:attrName>style.visibility</p:attrName>
                                        </p:attrNameLst>
                                      </p:cBhvr>
                                      <p:to>
                                        <p:strVal val="visible"/>
                                      </p:to>
                                    </p:set>
                                    <p:anim calcmode="lin" valueType="num">
                                      <p:cBhvr additive="base">
                                        <p:cTn id="19" dur="500" fill="hold"/>
                                        <p:tgtEl>
                                          <p:spTgt spid="35843">
                                            <p:txEl>
                                              <p:charRg st="80" end="13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843">
                                            <p:txEl>
                                              <p:charRg st="80" end="13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686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以简单的加法运算为例</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续</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36867" name="Rectangle 3"/>
          <p:cNvSpPr>
            <a:spLocks noGrp="1"/>
          </p:cNvSpPr>
          <p:nvPr>
            <p:ph idx="1"/>
          </p:nvPr>
        </p:nvSpPr>
        <p:spPr>
          <a:xfrm>
            <a:off x="539750" y="1916113"/>
            <a:ext cx="8280400" cy="4608512"/>
          </a:xfrm>
        </p:spPr>
        <p:txBody>
          <a:bodyPr vert="horz" wrap="square" lIns="91440" tIns="45720" rIns="91440" bIns="45720" anchor="t" anchorCtr="0"/>
          <a:p>
            <a:pPr marL="0" indent="0" eaLnBrk="1" hangingPunct="1">
              <a:lnSpc>
                <a:spcPct val="80000"/>
              </a:lnSpc>
              <a:buNone/>
            </a:pPr>
            <a:r>
              <a:rPr lang="zh-CN" altLang="en-US" sz="2000" dirty="0"/>
              <a:t>在模型计算机下，该加法运算程序的执行过程</a:t>
            </a:r>
            <a:r>
              <a:rPr lang="en-US" altLang="zh-CN" sz="2000" dirty="0"/>
              <a:t>(</a:t>
            </a:r>
            <a:r>
              <a:rPr lang="zh-CN" altLang="en-US" sz="2000" dirty="0"/>
              <a:t>假定程序计数器</a:t>
            </a:r>
            <a:r>
              <a:rPr lang="en-US" altLang="zh-CN" sz="2000" dirty="0"/>
              <a:t>PC</a:t>
            </a:r>
            <a:r>
              <a:rPr lang="zh-CN" altLang="en-US" sz="2000" dirty="0"/>
              <a:t>中已存放第一条指令在存储器中的地址</a:t>
            </a:r>
            <a:r>
              <a:rPr lang="en-US" altLang="zh-CN" sz="2000" dirty="0"/>
              <a:t>)</a:t>
            </a:r>
            <a:r>
              <a:rPr lang="zh-CN" altLang="en-US" sz="2000" dirty="0"/>
              <a:t>包括：</a:t>
            </a:r>
            <a:endParaRPr lang="zh-CN" altLang="en-US" sz="2000" dirty="0"/>
          </a:p>
          <a:p>
            <a:pPr marL="0" indent="0" eaLnBrk="1" hangingPunct="1">
              <a:lnSpc>
                <a:spcPct val="80000"/>
              </a:lnSpc>
              <a:buNone/>
            </a:pPr>
            <a:r>
              <a:rPr lang="zh-CN" altLang="en-US" sz="2000" dirty="0"/>
              <a:t> </a:t>
            </a:r>
            <a:r>
              <a:rPr lang="en-US" altLang="zh-CN" sz="2000" dirty="0"/>
              <a:t>(1)</a:t>
            </a:r>
            <a:r>
              <a:rPr lang="zh-CN" altLang="en-US" sz="2000" b="1" dirty="0">
                <a:solidFill>
                  <a:schemeClr val="folHlink"/>
                </a:solidFill>
              </a:rPr>
              <a:t>取第一条指令</a:t>
            </a:r>
            <a:r>
              <a:rPr lang="zh-CN" altLang="en-US" sz="2000" dirty="0"/>
              <a:t>，即程序计数器</a:t>
            </a:r>
            <a:r>
              <a:rPr lang="en-US" altLang="zh-CN" sz="2000" dirty="0"/>
              <a:t>PC</a:t>
            </a:r>
            <a:r>
              <a:rPr lang="zh-CN" altLang="en-US" sz="2000" dirty="0"/>
              <a:t>送到地址寄存器</a:t>
            </a:r>
            <a:r>
              <a:rPr lang="en-US" altLang="zh-CN" sz="2000" dirty="0"/>
              <a:t>AR</a:t>
            </a:r>
            <a:r>
              <a:rPr lang="zh-CN" altLang="en-US" sz="2000" dirty="0"/>
              <a:t>，并送至内存储器，经地址译码器译码，选中相应的单元；读存储器，把第一条指令取出来，经数据寄存器</a:t>
            </a:r>
            <a:r>
              <a:rPr lang="en-US" altLang="zh-CN" sz="2000" dirty="0"/>
              <a:t>DR</a:t>
            </a:r>
            <a:r>
              <a:rPr lang="zh-CN" altLang="en-US" sz="2000" dirty="0"/>
              <a:t>，送指令寄存器</a:t>
            </a:r>
            <a:r>
              <a:rPr lang="en-US" altLang="zh-CN" sz="2000" dirty="0"/>
              <a:t>IR</a:t>
            </a:r>
            <a:r>
              <a:rPr lang="zh-CN" altLang="en-US" sz="2000" dirty="0"/>
              <a:t>。同时</a:t>
            </a:r>
            <a:r>
              <a:rPr lang="en-US" altLang="zh-CN" sz="2000" dirty="0"/>
              <a:t>PC</a:t>
            </a:r>
            <a:r>
              <a:rPr lang="zh-CN" altLang="en-US" sz="2000" dirty="0"/>
              <a:t>自动加</a:t>
            </a:r>
            <a:r>
              <a:rPr lang="en-US" altLang="zh-CN" sz="2000" dirty="0"/>
              <a:t>1</a:t>
            </a:r>
            <a:r>
              <a:rPr lang="zh-CN" altLang="en-US" sz="2000" dirty="0"/>
              <a:t>，指向下一条指令的位置</a:t>
            </a:r>
            <a:r>
              <a:rPr lang="en-US" altLang="zh-CN" sz="2000" dirty="0"/>
              <a:t>(</a:t>
            </a:r>
            <a:r>
              <a:rPr lang="zh-CN" altLang="en-US" sz="2000" dirty="0"/>
              <a:t>地址</a:t>
            </a:r>
            <a:r>
              <a:rPr lang="en-US" altLang="zh-CN" sz="2000" dirty="0"/>
              <a:t>)</a:t>
            </a:r>
            <a:r>
              <a:rPr lang="zh-CN" altLang="en-US" sz="2000" dirty="0"/>
              <a:t>；</a:t>
            </a:r>
            <a:endParaRPr lang="zh-CN" altLang="en-US" sz="2000" dirty="0"/>
          </a:p>
          <a:p>
            <a:pPr marL="0" indent="0" eaLnBrk="1" hangingPunct="1">
              <a:lnSpc>
                <a:spcPct val="80000"/>
              </a:lnSpc>
              <a:buNone/>
            </a:pPr>
            <a:r>
              <a:rPr lang="en-US" altLang="zh-CN" sz="2000" dirty="0"/>
              <a:t>(2)</a:t>
            </a:r>
            <a:r>
              <a:rPr lang="zh-CN" altLang="en-US" sz="2000" dirty="0"/>
              <a:t>通过指令</a:t>
            </a:r>
            <a:r>
              <a:rPr lang="zh-CN" altLang="en-US" sz="2000" b="1" dirty="0">
                <a:solidFill>
                  <a:schemeClr val="folHlink"/>
                </a:solidFill>
              </a:rPr>
              <a:t>译码分析</a:t>
            </a:r>
            <a:r>
              <a:rPr lang="zh-CN" altLang="en-US" sz="2000" dirty="0"/>
              <a:t>，确定该指令是完成从内存</a:t>
            </a:r>
            <a:r>
              <a:rPr lang="en-US" altLang="zh-CN" sz="2000" dirty="0"/>
              <a:t>addrx</a:t>
            </a:r>
            <a:r>
              <a:rPr lang="zh-CN" altLang="en-US" sz="2000" dirty="0"/>
              <a:t>单元中取数的功能，即把第一个数的地址</a:t>
            </a:r>
            <a:r>
              <a:rPr lang="en-US" altLang="zh-CN" sz="2000" dirty="0"/>
              <a:t>addrx</a:t>
            </a:r>
            <a:r>
              <a:rPr lang="zh-CN" altLang="en-US" sz="2000" dirty="0"/>
              <a:t>部分送地址寄存器</a:t>
            </a:r>
            <a:r>
              <a:rPr lang="en-US" altLang="zh-CN" sz="2000" dirty="0"/>
              <a:t>AR</a:t>
            </a:r>
            <a:r>
              <a:rPr lang="zh-CN" altLang="en-US" sz="2000" dirty="0"/>
              <a:t>，并送至内存储器，通过读存储器，</a:t>
            </a:r>
            <a:r>
              <a:rPr lang="zh-CN" altLang="en-US" sz="2000" b="1" dirty="0">
                <a:solidFill>
                  <a:schemeClr val="folHlink"/>
                </a:solidFill>
              </a:rPr>
              <a:t>取出第一个数</a:t>
            </a:r>
            <a:r>
              <a:rPr lang="zh-CN" altLang="en-US" sz="2000" dirty="0"/>
              <a:t>，经数据寄存器</a:t>
            </a:r>
            <a:r>
              <a:rPr lang="en-US" altLang="zh-CN" sz="2000" dirty="0"/>
              <a:t>DR</a:t>
            </a:r>
            <a:r>
              <a:rPr lang="zh-CN" altLang="en-US" sz="2000" dirty="0"/>
              <a:t>送累加器</a:t>
            </a:r>
            <a:r>
              <a:rPr lang="en-US" altLang="zh-CN" sz="2000" dirty="0"/>
              <a:t>AL</a:t>
            </a:r>
            <a:r>
              <a:rPr lang="zh-CN" altLang="en-US" sz="2000" dirty="0"/>
              <a:t>。</a:t>
            </a:r>
            <a:endParaRPr lang="zh-CN" altLang="en-US" sz="2000" dirty="0"/>
          </a:p>
          <a:p>
            <a:pPr marL="0" indent="0" eaLnBrk="1" hangingPunct="1">
              <a:lnSpc>
                <a:spcPct val="80000"/>
              </a:lnSpc>
              <a:buNone/>
            </a:pPr>
            <a:r>
              <a:rPr lang="en-US" altLang="zh-CN" sz="2000" dirty="0"/>
              <a:t>(3)</a:t>
            </a:r>
            <a:r>
              <a:rPr lang="zh-CN" altLang="en-US" sz="2000" b="1" dirty="0">
                <a:solidFill>
                  <a:schemeClr val="folHlink"/>
                </a:solidFill>
              </a:rPr>
              <a:t>取第二条指令</a:t>
            </a:r>
            <a:r>
              <a:rPr lang="zh-CN" altLang="en-US" sz="2000" dirty="0"/>
              <a:t>，其读取过程与第一条指令是完全一样的；</a:t>
            </a:r>
            <a:endParaRPr lang="zh-CN" altLang="en-US" sz="2000" dirty="0"/>
          </a:p>
          <a:p>
            <a:pPr marL="0" indent="0" eaLnBrk="1" hangingPunct="1">
              <a:lnSpc>
                <a:spcPct val="80000"/>
              </a:lnSpc>
              <a:buNone/>
            </a:pPr>
            <a:r>
              <a:rPr lang="en-US" altLang="zh-CN" sz="2000" dirty="0"/>
              <a:t>(4)</a:t>
            </a:r>
            <a:r>
              <a:rPr lang="zh-CN" altLang="en-US" sz="2000" dirty="0"/>
              <a:t>通过指令</a:t>
            </a:r>
            <a:r>
              <a:rPr lang="zh-CN" altLang="en-US" sz="2000" b="1" dirty="0">
                <a:solidFill>
                  <a:schemeClr val="folHlink"/>
                </a:solidFill>
              </a:rPr>
              <a:t>译码分析</a:t>
            </a:r>
            <a:r>
              <a:rPr lang="zh-CN" altLang="en-US" sz="2000" dirty="0"/>
              <a:t>，确定该指令是完成把</a:t>
            </a:r>
            <a:r>
              <a:rPr lang="en-US" altLang="zh-CN" sz="2000" dirty="0"/>
              <a:t>AL</a:t>
            </a:r>
            <a:r>
              <a:rPr lang="zh-CN" altLang="en-US" sz="2000" dirty="0"/>
              <a:t>和存放在</a:t>
            </a:r>
            <a:r>
              <a:rPr lang="en-US" altLang="zh-CN" sz="2000" dirty="0"/>
              <a:t>addry</a:t>
            </a:r>
            <a:r>
              <a:rPr lang="zh-CN" altLang="en-US" sz="2000" dirty="0"/>
              <a:t>单元的第二个数相加的功能，即把第二个数的地址</a:t>
            </a:r>
            <a:r>
              <a:rPr lang="en-US" altLang="zh-CN" sz="2000" dirty="0"/>
              <a:t>addry</a:t>
            </a:r>
            <a:r>
              <a:rPr lang="zh-CN" altLang="en-US" sz="2000" dirty="0"/>
              <a:t>部分送地址寄存器</a:t>
            </a:r>
            <a:r>
              <a:rPr lang="en-US" altLang="zh-CN" sz="2000" dirty="0"/>
              <a:t>AR</a:t>
            </a:r>
            <a:r>
              <a:rPr lang="zh-CN" altLang="en-US" sz="2000" dirty="0"/>
              <a:t>，并送至内存储器，通过读存储器，</a:t>
            </a:r>
            <a:r>
              <a:rPr lang="zh-CN" altLang="en-US" sz="2000" b="1" dirty="0">
                <a:solidFill>
                  <a:schemeClr val="folHlink"/>
                </a:solidFill>
              </a:rPr>
              <a:t>取第二个数</a:t>
            </a:r>
            <a:r>
              <a:rPr lang="zh-CN" altLang="en-US" sz="2000" dirty="0"/>
              <a:t>，经数据寄存器</a:t>
            </a:r>
            <a:r>
              <a:rPr lang="en-US" altLang="zh-CN" sz="2000" dirty="0"/>
              <a:t>DR</a:t>
            </a:r>
            <a:r>
              <a:rPr lang="zh-CN" altLang="en-US" sz="2000" dirty="0"/>
              <a:t>送</a:t>
            </a:r>
            <a:r>
              <a:rPr lang="en-US" altLang="zh-CN" sz="2000" dirty="0"/>
              <a:t>ALU</a:t>
            </a:r>
            <a:r>
              <a:rPr lang="zh-CN" altLang="en-US" sz="2000" dirty="0"/>
              <a:t>，同时暂存在</a:t>
            </a:r>
            <a:r>
              <a:rPr lang="en-US" altLang="zh-CN" sz="2000" dirty="0"/>
              <a:t>AL</a:t>
            </a:r>
            <a:r>
              <a:rPr lang="zh-CN" altLang="en-US" sz="2000" dirty="0"/>
              <a:t>中的第一个数也送</a:t>
            </a:r>
            <a:r>
              <a:rPr lang="en-US" altLang="zh-CN" sz="2000" dirty="0"/>
              <a:t>ALU</a:t>
            </a:r>
            <a:r>
              <a:rPr lang="zh-CN" altLang="en-US" sz="2000" dirty="0"/>
              <a:t>，然后</a:t>
            </a:r>
            <a:r>
              <a:rPr lang="en-US" altLang="zh-CN" sz="2000" dirty="0"/>
              <a:t>ALU</a:t>
            </a:r>
            <a:r>
              <a:rPr lang="zh-CN" altLang="en-US" sz="2000" dirty="0"/>
              <a:t>进行</a:t>
            </a:r>
            <a:r>
              <a:rPr lang="zh-CN" altLang="en-US" sz="2000" b="1" dirty="0">
                <a:solidFill>
                  <a:schemeClr val="folHlink"/>
                </a:solidFill>
              </a:rPr>
              <a:t>加运算</a:t>
            </a:r>
            <a:r>
              <a:rPr lang="zh-CN" altLang="en-US" sz="2000" dirty="0"/>
              <a:t>，并把结果输出到</a:t>
            </a:r>
            <a:r>
              <a:rPr lang="en-US" altLang="zh-CN" sz="2000" dirty="0"/>
              <a:t>AL</a:t>
            </a:r>
            <a:r>
              <a:rPr lang="zh-CN" altLang="en-US" sz="2000" dirty="0"/>
              <a:t>。</a:t>
            </a:r>
            <a:endParaRPr lang="zh-CN" altLang="en-US" sz="20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6867">
                                            <p:txEl>
                                              <p:charRg st="0" end="52"/>
                                            </p:txEl>
                                          </p:spTgt>
                                        </p:tgtEl>
                                        <p:attrNameLst>
                                          <p:attrName>style.visibility</p:attrName>
                                        </p:attrNameLst>
                                      </p:cBhvr>
                                      <p:to>
                                        <p:strVal val="visible"/>
                                      </p:to>
                                    </p:set>
                                    <p:animEffect transition="in" filter="dissolve">
                                      <p:cBhvr>
                                        <p:cTn id="7" dur="500"/>
                                        <p:tgtEl>
                                          <p:spTgt spid="36867">
                                            <p:txEl>
                                              <p:charRg st="0" end="5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6867">
                                            <p:txEl>
                                              <p:charRg st="52" end="164"/>
                                            </p:txEl>
                                          </p:spTgt>
                                        </p:tgtEl>
                                        <p:attrNameLst>
                                          <p:attrName>style.visibility</p:attrName>
                                        </p:attrNameLst>
                                      </p:cBhvr>
                                      <p:to>
                                        <p:strVal val="visible"/>
                                      </p:to>
                                    </p:set>
                                    <p:animEffect transition="in" filter="dissolve">
                                      <p:cBhvr>
                                        <p:cTn id="12" dur="500"/>
                                        <p:tgtEl>
                                          <p:spTgt spid="36867">
                                            <p:txEl>
                                              <p:charRg st="52" end="1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867">
                                            <p:txEl>
                                              <p:charRg st="164" end="264"/>
                                            </p:txEl>
                                          </p:spTgt>
                                        </p:tgtEl>
                                        <p:attrNameLst>
                                          <p:attrName>style.visibility</p:attrName>
                                        </p:attrNameLst>
                                      </p:cBhvr>
                                      <p:to>
                                        <p:strVal val="visible"/>
                                      </p:to>
                                    </p:set>
                                    <p:animEffect transition="in" filter="dissolve">
                                      <p:cBhvr>
                                        <p:cTn id="17" dur="500"/>
                                        <p:tgtEl>
                                          <p:spTgt spid="36867">
                                            <p:txEl>
                                              <p:charRg st="164" end="26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6867">
                                            <p:txEl>
                                              <p:charRg st="264" end="293"/>
                                            </p:txEl>
                                          </p:spTgt>
                                        </p:tgtEl>
                                        <p:attrNameLst>
                                          <p:attrName>style.visibility</p:attrName>
                                        </p:attrNameLst>
                                      </p:cBhvr>
                                      <p:to>
                                        <p:strVal val="visible"/>
                                      </p:to>
                                    </p:set>
                                    <p:animEffect transition="in" filter="dissolve">
                                      <p:cBhvr>
                                        <p:cTn id="22" dur="500"/>
                                        <p:tgtEl>
                                          <p:spTgt spid="36867">
                                            <p:txEl>
                                              <p:charRg st="264" end="29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6867">
                                            <p:txEl>
                                              <p:charRg st="293" end="438"/>
                                            </p:txEl>
                                          </p:spTgt>
                                        </p:tgtEl>
                                        <p:attrNameLst>
                                          <p:attrName>style.visibility</p:attrName>
                                        </p:attrNameLst>
                                      </p:cBhvr>
                                      <p:to>
                                        <p:strVal val="visible"/>
                                      </p:to>
                                    </p:set>
                                    <p:animEffect transition="in" filter="dissolve">
                                      <p:cBhvr>
                                        <p:cTn id="27" dur="500"/>
                                        <p:tgtEl>
                                          <p:spTgt spid="36867">
                                            <p:txEl>
                                              <p:charRg st="293" end="4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1.3  </a:t>
            </a:r>
            <a:r>
              <a:rPr kumimoji="0" 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微型计算机中常用数制和编码</a:t>
            </a:r>
            <a:endParaRPr kumimoji="0" 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102403" name="Rectangle 3"/>
          <p:cNvSpPr>
            <a:spLocks noGrp="1"/>
          </p:cNvSpPr>
          <p:nvPr>
            <p:ph idx="1"/>
          </p:nvPr>
        </p:nvSpPr>
        <p:spPr/>
        <p:txBody>
          <a:bodyPr vert="horz" wrap="square" lIns="91440" tIns="45720" rIns="91440" bIns="45720" anchor="t" anchorCtr="0"/>
          <a:p>
            <a:pPr eaLnBrk="1" hangingPunct="1">
              <a:buNone/>
            </a:pPr>
            <a:r>
              <a:rPr lang="zh-CN" altLang="en-US" sz="3600" dirty="0"/>
              <a:t>本节内容：</a:t>
            </a:r>
            <a:endParaRPr lang="zh-CN" altLang="en-US" sz="3600" dirty="0"/>
          </a:p>
          <a:p>
            <a:pPr lvl="1" eaLnBrk="1" hangingPunct="1">
              <a:buFont typeface="Wingdings" panose="05000000000000000000" pitchFamily="2" charset="2"/>
              <a:buChar char="n"/>
            </a:pPr>
            <a:r>
              <a:rPr lang="zh-CN" altLang="en-US" sz="3600" dirty="0"/>
              <a:t>常用数制及转换</a:t>
            </a:r>
            <a:endParaRPr lang="zh-CN" altLang="en-US" sz="3600" dirty="0"/>
          </a:p>
          <a:p>
            <a:pPr lvl="1" eaLnBrk="1" hangingPunct="1">
              <a:buFont typeface="Wingdings" panose="05000000000000000000" pitchFamily="2" charset="2"/>
              <a:buChar char="n"/>
            </a:pPr>
            <a:r>
              <a:rPr lang="zh-CN" altLang="en-US" sz="3600" dirty="0"/>
              <a:t>数的表示与运算</a:t>
            </a:r>
            <a:endParaRPr lang="zh-CN" altLang="en-US" sz="3600" dirty="0"/>
          </a:p>
          <a:p>
            <a:pPr lvl="1" eaLnBrk="1" hangingPunct="1">
              <a:buFont typeface="Wingdings" panose="05000000000000000000" pitchFamily="2" charset="2"/>
              <a:buChar char="n"/>
            </a:pPr>
            <a:r>
              <a:rPr lang="zh-CN" altLang="en-US" sz="3600" dirty="0"/>
              <a:t>常用编码</a:t>
            </a:r>
            <a:endParaRPr lang="zh-CN" altLang="en-US" sz="3600" dirty="0"/>
          </a:p>
        </p:txBody>
      </p:sp>
    </p:spTree>
  </p:cSld>
  <p:clrMapOvr>
    <a:masterClrMapping/>
  </p:clrMapOvr>
  <p:transition>
    <p:rand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1.3.1 </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常用数制及转换</a:t>
            </a:r>
            <a:r>
              <a:rPr kumimoji="0" lang="zh-CN" altLang="en-US" sz="4400" b="1" i="0" u="none" strike="noStrike" kern="0" cap="none" spc="0" normalizeH="0" baseline="0" noProof="0">
                <a:ln>
                  <a:noFill/>
                </a:ln>
                <a:solidFill>
                  <a:schemeClr val="tx1"/>
                </a:solidFill>
                <a:effectLst/>
                <a:uLnTx/>
                <a:uFillTx/>
                <a:latin typeface="+mj-lt"/>
                <a:ea typeface="+mj-ea"/>
                <a:cs typeface="+mj-cs"/>
              </a:rPr>
              <a:t> </a:t>
            </a:r>
            <a:endParaRPr kumimoji="0" lang="zh-CN" altLang="en-US" sz="4400" b="1" i="0" u="none" strike="noStrike" kern="0" cap="none" spc="0" normalizeH="0" baseline="0" noProof="0">
              <a:ln>
                <a:noFill/>
              </a:ln>
              <a:solidFill>
                <a:schemeClr val="tx1"/>
              </a:solidFill>
              <a:effectLst/>
              <a:uLnTx/>
              <a:uFillTx/>
              <a:latin typeface="+mj-lt"/>
              <a:ea typeface="+mj-ea"/>
              <a:cs typeface="+mj-cs"/>
            </a:endParaRPr>
          </a:p>
        </p:txBody>
      </p:sp>
      <p:sp>
        <p:nvSpPr>
          <p:cNvPr id="103427" name="Rectangle 3"/>
          <p:cNvSpPr>
            <a:spLocks noGrp="1"/>
          </p:cNvSpPr>
          <p:nvPr>
            <p:ph idx="1"/>
          </p:nvPr>
        </p:nvSpPr>
        <p:spPr>
          <a:xfrm>
            <a:off x="609600" y="1981200"/>
            <a:ext cx="8001000" cy="1231900"/>
          </a:xfrm>
        </p:spPr>
        <p:txBody>
          <a:bodyPr vert="horz" wrap="square" lIns="91440" tIns="45720" rIns="91440" bIns="45720" anchor="t" anchorCtr="0"/>
          <a:p>
            <a:pPr marL="0" indent="0" eaLnBrk="1" hangingPunct="1">
              <a:buNone/>
            </a:pPr>
            <a:r>
              <a:rPr lang="zh-CN" altLang="en-US" sz="3600" dirty="0"/>
              <a:t>数制是数的表示方法。可以用各种进位计数制来表示数。</a:t>
            </a:r>
            <a:endParaRPr lang="zh-CN" altLang="en-US" sz="3600" dirty="0"/>
          </a:p>
          <a:p>
            <a:pPr marL="0" indent="0" eaLnBrk="1" hangingPunct="1">
              <a:buNone/>
            </a:pPr>
            <a:endParaRPr lang="zh-CN" altLang="en-US" sz="3600" dirty="0"/>
          </a:p>
        </p:txBody>
      </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常用数制</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39939" name="Rectangle 3"/>
          <p:cNvSpPr>
            <a:spLocks noGrp="1"/>
          </p:cNvSpPr>
          <p:nvPr>
            <p:ph idx="1"/>
          </p:nvPr>
        </p:nvSpPr>
        <p:spPr>
          <a:xfrm>
            <a:off x="539750" y="1916113"/>
            <a:ext cx="8280400" cy="4033837"/>
          </a:xfrm>
        </p:spPr>
        <p:txBody>
          <a:bodyPr vert="horz" wrap="square" lIns="91440" tIns="45720" rIns="91440" bIns="45720" anchor="t" anchorCtr="0"/>
          <a:p>
            <a:pPr eaLnBrk="1" hangingPunct="1"/>
            <a:r>
              <a:rPr lang="zh-CN" altLang="en-US" b="1" dirty="0">
                <a:solidFill>
                  <a:schemeClr val="hlink"/>
                </a:solidFill>
              </a:rPr>
              <a:t>基数：</a:t>
            </a:r>
            <a:r>
              <a:rPr lang="zh-CN" altLang="en-US" dirty="0"/>
              <a:t>数制中所使用的数码的个数。</a:t>
            </a:r>
            <a:endParaRPr lang="zh-CN" altLang="en-US" dirty="0"/>
          </a:p>
          <a:p>
            <a:pPr eaLnBrk="1" hangingPunct="1"/>
            <a:r>
              <a:rPr lang="zh-CN" altLang="en-US" b="1" dirty="0">
                <a:solidFill>
                  <a:schemeClr val="hlink"/>
                </a:solidFill>
              </a:rPr>
              <a:t>位权：</a:t>
            </a:r>
            <a:r>
              <a:rPr lang="zh-CN" altLang="en-US" dirty="0"/>
              <a:t>数制每一位所具有的权值，每一位的值等于该位数字和该位位权的乘积。</a:t>
            </a:r>
            <a:endParaRPr lang="zh-CN" altLang="en-US" dirty="0"/>
          </a:p>
          <a:p>
            <a:pPr eaLnBrk="1" hangingPunct="1"/>
            <a:r>
              <a:rPr lang="zh-CN" altLang="en-US" dirty="0"/>
              <a:t>常用数制</a:t>
            </a:r>
            <a:endParaRPr lang="zh-CN" altLang="en-US" dirty="0"/>
          </a:p>
          <a:p>
            <a:pPr eaLnBrk="1" hangingPunct="1">
              <a:buFont typeface="Wingdings" panose="05000000000000000000" pitchFamily="2" charset="2"/>
              <a:buChar char="n"/>
            </a:pPr>
            <a:r>
              <a:rPr lang="zh-CN" altLang="en-US" dirty="0"/>
              <a:t>十进制：人们最熟悉、最常用</a:t>
            </a:r>
            <a:endParaRPr lang="zh-CN" altLang="en-US" dirty="0"/>
          </a:p>
          <a:p>
            <a:pPr eaLnBrk="1" hangingPunct="1">
              <a:buFont typeface="Wingdings" panose="05000000000000000000" pitchFamily="2" charset="2"/>
              <a:buChar char="n"/>
            </a:pPr>
            <a:r>
              <a:rPr lang="zh-CN" altLang="en-US" dirty="0"/>
              <a:t>二进制：</a:t>
            </a:r>
            <a:r>
              <a:rPr lang="zh-CN" altLang="en-US" dirty="0">
                <a:solidFill>
                  <a:srgbClr val="2F2F3A"/>
                </a:solidFill>
              </a:rPr>
              <a:t>计算机中数的表示</a:t>
            </a:r>
            <a:endParaRPr lang="zh-CN" altLang="en-US" dirty="0"/>
          </a:p>
          <a:p>
            <a:pPr eaLnBrk="1" hangingPunct="1">
              <a:buFont typeface="Wingdings" panose="05000000000000000000" pitchFamily="2" charset="2"/>
              <a:buChar char="n"/>
            </a:pPr>
            <a:r>
              <a:rPr lang="zh-CN" altLang="en-US" dirty="0"/>
              <a:t>十六进制：</a:t>
            </a:r>
            <a:r>
              <a:rPr lang="zh-CN" altLang="en-US" dirty="0">
                <a:solidFill>
                  <a:srgbClr val="2F2F3A"/>
                </a:solidFill>
              </a:rPr>
              <a:t>为方便书写计算机中的二进制数</a:t>
            </a:r>
            <a:endParaRPr lang="zh-CN" altLang="en-US" dirty="0">
              <a:solidFill>
                <a:srgbClr val="2F2F3A"/>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9939">
                                            <p:txEl>
                                              <p:charRg st="0" end="17"/>
                                            </p:txEl>
                                          </p:spTgt>
                                        </p:tgtEl>
                                        <p:attrNameLst>
                                          <p:attrName>style.visibility</p:attrName>
                                        </p:attrNameLst>
                                      </p:cBhvr>
                                      <p:to>
                                        <p:strVal val="visible"/>
                                      </p:to>
                                    </p:set>
                                    <p:animEffect transition="in" filter="slide(fromBottom)">
                                      <p:cBhvr>
                                        <p:cTn id="7" dur="500"/>
                                        <p:tgtEl>
                                          <p:spTgt spid="39939">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9939">
                                            <p:txEl>
                                              <p:charRg st="17" end="53"/>
                                            </p:txEl>
                                          </p:spTgt>
                                        </p:tgtEl>
                                        <p:attrNameLst>
                                          <p:attrName>style.visibility</p:attrName>
                                        </p:attrNameLst>
                                      </p:cBhvr>
                                      <p:to>
                                        <p:strVal val="visible"/>
                                      </p:to>
                                    </p:set>
                                    <p:animEffect transition="in" filter="slide(fromBottom)">
                                      <p:cBhvr>
                                        <p:cTn id="12" dur="500"/>
                                        <p:tgtEl>
                                          <p:spTgt spid="39939">
                                            <p:txEl>
                                              <p:charRg st="17" end="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39939">
                                            <p:txEl>
                                              <p:charRg st="53" end="58"/>
                                            </p:txEl>
                                          </p:spTgt>
                                        </p:tgtEl>
                                        <p:attrNameLst>
                                          <p:attrName>style.visibility</p:attrName>
                                        </p:attrNameLst>
                                      </p:cBhvr>
                                      <p:to>
                                        <p:strVal val="visible"/>
                                      </p:to>
                                    </p:set>
                                    <p:animEffect transition="in" filter="slide(fromBottom)">
                                      <p:cBhvr>
                                        <p:cTn id="17" dur="500"/>
                                        <p:tgtEl>
                                          <p:spTgt spid="39939">
                                            <p:txEl>
                                              <p:charRg st="53" end="5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39939">
                                            <p:txEl>
                                              <p:charRg st="58" end="72"/>
                                            </p:txEl>
                                          </p:spTgt>
                                        </p:tgtEl>
                                        <p:attrNameLst>
                                          <p:attrName>style.visibility</p:attrName>
                                        </p:attrNameLst>
                                      </p:cBhvr>
                                      <p:to>
                                        <p:strVal val="visible"/>
                                      </p:to>
                                    </p:set>
                                    <p:animEffect transition="in" filter="slide(fromBottom)">
                                      <p:cBhvr>
                                        <p:cTn id="22" dur="500"/>
                                        <p:tgtEl>
                                          <p:spTgt spid="39939">
                                            <p:txEl>
                                              <p:charRg st="58" end="7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39939">
                                            <p:txEl>
                                              <p:charRg st="72" end="85"/>
                                            </p:txEl>
                                          </p:spTgt>
                                        </p:tgtEl>
                                        <p:attrNameLst>
                                          <p:attrName>style.visibility</p:attrName>
                                        </p:attrNameLst>
                                      </p:cBhvr>
                                      <p:to>
                                        <p:strVal val="visible"/>
                                      </p:to>
                                    </p:set>
                                    <p:animEffect transition="in" filter="slide(fromBottom)">
                                      <p:cBhvr>
                                        <p:cTn id="27" dur="500"/>
                                        <p:tgtEl>
                                          <p:spTgt spid="39939">
                                            <p:txEl>
                                              <p:charRg st="72" end="8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39939">
                                            <p:txEl>
                                              <p:charRg st="85" end="105"/>
                                            </p:txEl>
                                          </p:spTgt>
                                        </p:tgtEl>
                                        <p:attrNameLst>
                                          <p:attrName>style.visibility</p:attrName>
                                        </p:attrNameLst>
                                      </p:cBhvr>
                                      <p:to>
                                        <p:strVal val="visible"/>
                                      </p:to>
                                    </p:set>
                                    <p:animEffect transition="in" filter="slide(fromBottom)">
                                      <p:cBhvr>
                                        <p:cTn id="32" dur="500"/>
                                        <p:tgtEl>
                                          <p:spTgt spid="39939">
                                            <p:txEl>
                                              <p:charRg st="85" end="10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十进制</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40963" name="Rectangle 3"/>
          <p:cNvSpPr>
            <a:spLocks noGrp="1"/>
          </p:cNvSpPr>
          <p:nvPr>
            <p:ph idx="1"/>
          </p:nvPr>
        </p:nvSpPr>
        <p:spPr/>
        <p:txBody>
          <a:bodyPr vert="horz" wrap="square" lIns="91440" tIns="45720" rIns="91440" bIns="45720" anchor="t" anchorCtr="0"/>
          <a:p>
            <a:pPr eaLnBrk="1" hangingPunct="1"/>
            <a:r>
              <a:rPr lang="zh-CN" altLang="en-US" dirty="0"/>
              <a:t>十进制由</a:t>
            </a:r>
            <a:r>
              <a:rPr lang="en-US" altLang="zh-CN" dirty="0"/>
              <a:t>0~9</a:t>
            </a:r>
            <a:r>
              <a:rPr lang="zh-CN" altLang="en-US" dirty="0"/>
              <a:t>这十个不同的数字组成，其基数为</a:t>
            </a:r>
            <a:r>
              <a:rPr lang="en-US" altLang="zh-CN" dirty="0"/>
              <a:t>10</a:t>
            </a:r>
            <a:r>
              <a:rPr lang="zh-CN" altLang="en-US" dirty="0"/>
              <a:t>，每位的位权是以</a:t>
            </a:r>
            <a:r>
              <a:rPr lang="en-US" altLang="zh-CN" dirty="0"/>
              <a:t>10</a:t>
            </a:r>
            <a:r>
              <a:rPr lang="zh-CN" altLang="en-US" dirty="0"/>
              <a:t>为底的幂，即第</a:t>
            </a:r>
            <a:r>
              <a:rPr lang="en-US" altLang="zh-CN" dirty="0"/>
              <a:t>i</a:t>
            </a:r>
            <a:r>
              <a:rPr lang="zh-CN" altLang="en-US" dirty="0"/>
              <a:t>位的权为</a:t>
            </a:r>
            <a:r>
              <a:rPr lang="en-US" altLang="zh-CN" dirty="0"/>
              <a:t>10</a:t>
            </a:r>
            <a:r>
              <a:rPr lang="en-US" altLang="zh-CN" baseline="30000" dirty="0"/>
              <a:t>i</a:t>
            </a:r>
            <a:r>
              <a:rPr lang="zh-CN" altLang="en-US" dirty="0"/>
              <a:t>。</a:t>
            </a:r>
            <a:endParaRPr lang="zh-CN" altLang="en-US" dirty="0"/>
          </a:p>
          <a:p>
            <a:pPr eaLnBrk="1" hangingPunct="1"/>
            <a:r>
              <a:rPr lang="zh-CN" altLang="en-US" dirty="0"/>
              <a:t>十进制数可在</a:t>
            </a:r>
            <a:r>
              <a:rPr lang="zh-CN" altLang="en-US" b="1" dirty="0">
                <a:solidFill>
                  <a:schemeClr val="folHlink"/>
                </a:solidFill>
              </a:rPr>
              <a:t>数字后加后缀</a:t>
            </a:r>
            <a:r>
              <a:rPr lang="en-US" altLang="zh-CN" b="1" dirty="0">
                <a:solidFill>
                  <a:schemeClr val="folHlink"/>
                </a:solidFill>
              </a:rPr>
              <a:t>D</a:t>
            </a:r>
            <a:r>
              <a:rPr lang="zh-CN" altLang="en-US" b="1" dirty="0">
                <a:solidFill>
                  <a:schemeClr val="folHlink"/>
                </a:solidFill>
              </a:rPr>
              <a:t>表示，但常省略不写</a:t>
            </a:r>
            <a:r>
              <a:rPr lang="zh-CN" altLang="en-US" dirty="0"/>
              <a:t>。</a:t>
            </a:r>
            <a:endParaRPr lang="zh-CN" altLang="en-US" dirty="0"/>
          </a:p>
          <a:p>
            <a:pPr eaLnBrk="1" hangingPunct="1"/>
            <a:r>
              <a:rPr lang="zh-CN" altLang="en-US" dirty="0"/>
              <a:t>例如：</a:t>
            </a:r>
            <a:r>
              <a:rPr lang="en-US" altLang="zh-CN" dirty="0"/>
              <a:t>123.45=1×10</a:t>
            </a:r>
            <a:r>
              <a:rPr lang="en-US" altLang="zh-CN" baseline="30000" dirty="0"/>
              <a:t>2</a:t>
            </a:r>
            <a:r>
              <a:rPr lang="en-US" altLang="zh-CN" dirty="0"/>
              <a:t>+2×10</a:t>
            </a:r>
            <a:r>
              <a:rPr lang="en-US" altLang="zh-CN" baseline="30000" dirty="0"/>
              <a:t>1</a:t>
            </a:r>
            <a:r>
              <a:rPr lang="en-US" altLang="zh-CN" dirty="0"/>
              <a:t>+3×10</a:t>
            </a:r>
            <a:r>
              <a:rPr lang="en-US" altLang="zh-CN" baseline="30000" dirty="0"/>
              <a:t>0</a:t>
            </a:r>
            <a:br>
              <a:rPr lang="en-US" altLang="zh-CN" baseline="30000" dirty="0"/>
            </a:br>
            <a:r>
              <a:rPr lang="en-US" altLang="zh-CN" baseline="30000" dirty="0"/>
              <a:t>                                     </a:t>
            </a:r>
            <a:r>
              <a:rPr lang="en-US" altLang="zh-CN" dirty="0"/>
              <a:t>+4×10</a:t>
            </a:r>
            <a:r>
              <a:rPr lang="en-US" altLang="zh-CN" baseline="30000" dirty="0"/>
              <a:t>-1</a:t>
            </a:r>
            <a:r>
              <a:rPr lang="en-US" altLang="zh-CN" dirty="0"/>
              <a:t>+5×10</a:t>
            </a:r>
            <a:r>
              <a:rPr lang="en-US" altLang="zh-CN" baseline="30000" dirty="0"/>
              <a:t>-2</a:t>
            </a:r>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63">
                                            <p:txEl>
                                              <p:charRg st="0" end="51"/>
                                            </p:txEl>
                                          </p:spTgt>
                                        </p:tgtEl>
                                        <p:attrNameLst>
                                          <p:attrName>style.visibility</p:attrName>
                                        </p:attrNameLst>
                                      </p:cBhvr>
                                      <p:to>
                                        <p:strVal val="visible"/>
                                      </p:to>
                                    </p:set>
                                    <p:anim calcmode="lin" valueType="num">
                                      <p:cBhvr additive="base">
                                        <p:cTn id="7" dur="500" fill="hold"/>
                                        <p:tgtEl>
                                          <p:spTgt spid="40963">
                                            <p:txEl>
                                              <p:charRg st="0" end="5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63">
                                            <p:txEl>
                                              <p:charRg st="0" end="5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63">
                                            <p:txEl>
                                              <p:charRg st="51" end="75"/>
                                            </p:txEl>
                                          </p:spTgt>
                                        </p:tgtEl>
                                        <p:attrNameLst>
                                          <p:attrName>style.visibility</p:attrName>
                                        </p:attrNameLst>
                                      </p:cBhvr>
                                      <p:to>
                                        <p:strVal val="visible"/>
                                      </p:to>
                                    </p:set>
                                    <p:anim calcmode="lin" valueType="num">
                                      <p:cBhvr additive="base">
                                        <p:cTn id="13" dur="500" fill="hold"/>
                                        <p:tgtEl>
                                          <p:spTgt spid="40963">
                                            <p:txEl>
                                              <p:charRg st="51" end="7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63">
                                            <p:txEl>
                                              <p:charRg st="51" end="7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63">
                                            <p:txEl>
                                              <p:charRg st="75" end="155"/>
                                            </p:txEl>
                                          </p:spTgt>
                                        </p:tgtEl>
                                        <p:attrNameLst>
                                          <p:attrName>style.visibility</p:attrName>
                                        </p:attrNameLst>
                                      </p:cBhvr>
                                      <p:to>
                                        <p:strVal val="visible"/>
                                      </p:to>
                                    </p:set>
                                    <p:anim calcmode="lin" valueType="num">
                                      <p:cBhvr additive="base">
                                        <p:cTn id="19" dur="500" fill="hold"/>
                                        <p:tgtEl>
                                          <p:spTgt spid="40963">
                                            <p:txEl>
                                              <p:charRg st="75" end="15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63">
                                            <p:txEl>
                                              <p:charRg st="75" end="15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2)</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二进制</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41987" name="Rectangle 3"/>
          <p:cNvSpPr>
            <a:spLocks noGrp="1"/>
          </p:cNvSpPr>
          <p:nvPr>
            <p:ph idx="1"/>
          </p:nvPr>
        </p:nvSpPr>
        <p:spPr/>
        <p:txBody>
          <a:bodyPr vert="horz" wrap="square" lIns="91440" tIns="45720" rIns="91440" bIns="45720" anchor="t" anchorCtr="0"/>
          <a:p>
            <a:pPr eaLnBrk="1" hangingPunct="1"/>
            <a:r>
              <a:rPr lang="zh-CN" altLang="en-US" dirty="0"/>
              <a:t>二进制由</a:t>
            </a:r>
            <a:r>
              <a:rPr lang="en-US" altLang="zh-CN" dirty="0"/>
              <a:t>0</a:t>
            </a:r>
            <a:r>
              <a:rPr lang="zh-CN" altLang="en-US" dirty="0"/>
              <a:t>、</a:t>
            </a:r>
            <a:r>
              <a:rPr lang="en-US" altLang="zh-CN" dirty="0"/>
              <a:t>1</a:t>
            </a:r>
            <a:r>
              <a:rPr lang="zh-CN" altLang="en-US" dirty="0"/>
              <a:t>这二个不同的数字组成，其基数为</a:t>
            </a:r>
            <a:r>
              <a:rPr lang="en-US" altLang="zh-CN" dirty="0"/>
              <a:t>2</a:t>
            </a:r>
            <a:r>
              <a:rPr lang="zh-CN" altLang="en-US" dirty="0"/>
              <a:t>，每位的位权是以</a:t>
            </a:r>
            <a:r>
              <a:rPr lang="en-US" altLang="zh-CN" dirty="0"/>
              <a:t>2</a:t>
            </a:r>
            <a:r>
              <a:rPr lang="zh-CN" altLang="en-US" dirty="0"/>
              <a:t>为底的幂，即第</a:t>
            </a:r>
            <a:r>
              <a:rPr lang="en-US" altLang="zh-CN" dirty="0"/>
              <a:t>i</a:t>
            </a:r>
            <a:r>
              <a:rPr lang="zh-CN" altLang="en-US" dirty="0"/>
              <a:t>位的权为</a:t>
            </a:r>
            <a:r>
              <a:rPr lang="en-US" altLang="zh-CN" dirty="0"/>
              <a:t>2</a:t>
            </a:r>
            <a:r>
              <a:rPr lang="en-US" altLang="zh-CN" baseline="30000" dirty="0"/>
              <a:t>i</a:t>
            </a:r>
            <a:r>
              <a:rPr lang="zh-CN" altLang="en-US" dirty="0"/>
              <a:t>。</a:t>
            </a:r>
            <a:endParaRPr lang="zh-CN" altLang="en-US" dirty="0"/>
          </a:p>
          <a:p>
            <a:pPr eaLnBrk="1" hangingPunct="1"/>
            <a:r>
              <a:rPr lang="zh-CN" altLang="en-US" dirty="0"/>
              <a:t>二进制数可在</a:t>
            </a:r>
            <a:r>
              <a:rPr lang="zh-CN" altLang="en-US" b="1" dirty="0">
                <a:solidFill>
                  <a:schemeClr val="folHlink"/>
                </a:solidFill>
              </a:rPr>
              <a:t>数字后加后缀</a:t>
            </a:r>
            <a:r>
              <a:rPr lang="en-US" altLang="zh-CN" b="1" dirty="0">
                <a:solidFill>
                  <a:schemeClr val="folHlink"/>
                </a:solidFill>
              </a:rPr>
              <a:t>B</a:t>
            </a:r>
            <a:r>
              <a:rPr lang="zh-CN" altLang="en-US" dirty="0"/>
              <a:t>表示。</a:t>
            </a:r>
            <a:endParaRPr lang="zh-CN" altLang="en-US" dirty="0"/>
          </a:p>
          <a:p>
            <a:pPr eaLnBrk="1" hangingPunct="1"/>
            <a:r>
              <a:rPr lang="zh-CN" altLang="en-US" dirty="0"/>
              <a:t>例如：</a:t>
            </a:r>
            <a:r>
              <a:rPr lang="en-US" altLang="zh-CN" dirty="0"/>
              <a:t>101.01B=1×2</a:t>
            </a:r>
            <a:r>
              <a:rPr lang="en-US" altLang="zh-CN" baseline="30000" dirty="0"/>
              <a:t>2</a:t>
            </a:r>
            <a:r>
              <a:rPr lang="en-US" altLang="zh-CN" dirty="0"/>
              <a:t>+0×2</a:t>
            </a:r>
            <a:r>
              <a:rPr lang="en-US" altLang="zh-CN" baseline="30000" dirty="0"/>
              <a:t>1</a:t>
            </a:r>
            <a:r>
              <a:rPr lang="en-US" altLang="zh-CN" dirty="0"/>
              <a:t>+1×2</a:t>
            </a:r>
            <a:r>
              <a:rPr lang="en-US" altLang="zh-CN" baseline="30000" dirty="0"/>
              <a:t>0</a:t>
            </a:r>
            <a:br>
              <a:rPr lang="en-US" altLang="zh-CN" baseline="30000" dirty="0"/>
            </a:br>
            <a:r>
              <a:rPr lang="en-US" altLang="zh-CN" dirty="0"/>
              <a:t>                            +0×2</a:t>
            </a:r>
            <a:r>
              <a:rPr lang="en-US" altLang="zh-CN" baseline="30000" dirty="0"/>
              <a:t>-1</a:t>
            </a:r>
            <a:r>
              <a:rPr lang="en-US" altLang="zh-CN" dirty="0"/>
              <a:t>+1×2</a:t>
            </a:r>
            <a:r>
              <a:rPr lang="en-US" altLang="zh-CN" baseline="30000" dirty="0"/>
              <a:t>-2</a:t>
            </a:r>
            <a:br>
              <a:rPr lang="en-US" altLang="zh-CN" baseline="30000" dirty="0"/>
            </a:br>
            <a:r>
              <a:rPr lang="en-US" altLang="zh-CN" baseline="30000" dirty="0"/>
              <a:t>                                      </a:t>
            </a:r>
            <a:r>
              <a:rPr lang="en-US" altLang="zh-CN" dirty="0"/>
              <a:t>=5.25</a:t>
            </a:r>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1987">
                                            <p:txEl>
                                              <p:charRg st="0" end="48"/>
                                            </p:txEl>
                                          </p:spTgt>
                                        </p:tgtEl>
                                        <p:attrNameLst>
                                          <p:attrName>style.visibility</p:attrName>
                                        </p:attrNameLst>
                                      </p:cBhvr>
                                      <p:to>
                                        <p:strVal val="visible"/>
                                      </p:to>
                                    </p:set>
                                    <p:anim calcmode="lin" valueType="num">
                                      <p:cBhvr>
                                        <p:cTn id="7" dur="500" fill="hold"/>
                                        <p:tgtEl>
                                          <p:spTgt spid="41987">
                                            <p:txEl>
                                              <p:charRg st="0" end="48"/>
                                            </p:txEl>
                                          </p:spTgt>
                                        </p:tgtEl>
                                        <p:attrNameLst>
                                          <p:attrName>ppt_w</p:attrName>
                                        </p:attrNameLst>
                                      </p:cBhvr>
                                      <p:tavLst>
                                        <p:tav tm="0">
                                          <p:val>
                                            <p:fltVal val="0.000000"/>
                                          </p:val>
                                        </p:tav>
                                        <p:tav tm="100000">
                                          <p:val>
                                            <p:strVal val="#ppt_w"/>
                                          </p:val>
                                        </p:tav>
                                      </p:tavLst>
                                    </p:anim>
                                    <p:anim calcmode="lin" valueType="num">
                                      <p:cBhvr>
                                        <p:cTn id="8" dur="500" fill="hold"/>
                                        <p:tgtEl>
                                          <p:spTgt spid="41987">
                                            <p:txEl>
                                              <p:charRg st="0" end="48"/>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41987">
                                            <p:txEl>
                                              <p:charRg st="48" end="65"/>
                                            </p:txEl>
                                          </p:spTgt>
                                        </p:tgtEl>
                                        <p:attrNameLst>
                                          <p:attrName>style.visibility</p:attrName>
                                        </p:attrNameLst>
                                      </p:cBhvr>
                                      <p:to>
                                        <p:strVal val="visible"/>
                                      </p:to>
                                    </p:set>
                                    <p:anim calcmode="lin" valueType="num">
                                      <p:cBhvr>
                                        <p:cTn id="13" dur="500" fill="hold"/>
                                        <p:tgtEl>
                                          <p:spTgt spid="41987">
                                            <p:txEl>
                                              <p:charRg st="48" end="65"/>
                                            </p:txEl>
                                          </p:spTgt>
                                        </p:tgtEl>
                                        <p:attrNameLst>
                                          <p:attrName>ppt_w</p:attrName>
                                        </p:attrNameLst>
                                      </p:cBhvr>
                                      <p:tavLst>
                                        <p:tav tm="0">
                                          <p:val>
                                            <p:fltVal val="0.000000"/>
                                          </p:val>
                                        </p:tav>
                                        <p:tav tm="100000">
                                          <p:val>
                                            <p:strVal val="#ppt_w"/>
                                          </p:val>
                                        </p:tav>
                                      </p:tavLst>
                                    </p:anim>
                                    <p:anim calcmode="lin" valueType="num">
                                      <p:cBhvr>
                                        <p:cTn id="14" dur="500" fill="hold"/>
                                        <p:tgtEl>
                                          <p:spTgt spid="41987">
                                            <p:txEl>
                                              <p:charRg st="48" end="65"/>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41987">
                                            <p:txEl>
                                              <p:charRg st="65" end="176"/>
                                            </p:txEl>
                                          </p:spTgt>
                                        </p:tgtEl>
                                        <p:attrNameLst>
                                          <p:attrName>style.visibility</p:attrName>
                                        </p:attrNameLst>
                                      </p:cBhvr>
                                      <p:to>
                                        <p:strVal val="visible"/>
                                      </p:to>
                                    </p:set>
                                    <p:anim calcmode="lin" valueType="num">
                                      <p:cBhvr>
                                        <p:cTn id="19" dur="500" fill="hold"/>
                                        <p:tgtEl>
                                          <p:spTgt spid="41987">
                                            <p:txEl>
                                              <p:charRg st="65" end="176"/>
                                            </p:txEl>
                                          </p:spTgt>
                                        </p:tgtEl>
                                        <p:attrNameLst>
                                          <p:attrName>ppt_w</p:attrName>
                                        </p:attrNameLst>
                                      </p:cBhvr>
                                      <p:tavLst>
                                        <p:tav tm="0">
                                          <p:val>
                                            <p:fltVal val="0.000000"/>
                                          </p:val>
                                        </p:tav>
                                        <p:tav tm="100000">
                                          <p:val>
                                            <p:strVal val="#ppt_w"/>
                                          </p:val>
                                        </p:tav>
                                      </p:tavLst>
                                    </p:anim>
                                    <p:anim calcmode="lin" valueType="num">
                                      <p:cBhvr>
                                        <p:cTn id="20" dur="500" fill="hold"/>
                                        <p:tgtEl>
                                          <p:spTgt spid="41987">
                                            <p:txEl>
                                              <p:charRg st="65" end="17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3)</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十六进制</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43011" name="Rectangle 3"/>
          <p:cNvSpPr>
            <a:spLocks noGrp="1"/>
          </p:cNvSpPr>
          <p:nvPr>
            <p:ph idx="1"/>
          </p:nvPr>
        </p:nvSpPr>
        <p:spPr>
          <a:xfrm>
            <a:off x="395288" y="1773238"/>
            <a:ext cx="8424862" cy="3816350"/>
          </a:xfrm>
        </p:spPr>
        <p:txBody>
          <a:bodyPr vert="horz" wrap="square" lIns="91440" tIns="45720" rIns="91440" bIns="45720" anchor="t" anchorCtr="0"/>
          <a:p>
            <a:pPr eaLnBrk="1" hangingPunct="1"/>
            <a:r>
              <a:rPr lang="zh-CN" altLang="en-US" dirty="0"/>
              <a:t>十六进制由</a:t>
            </a:r>
            <a:r>
              <a:rPr lang="en-US" altLang="zh-CN" dirty="0"/>
              <a:t>0~9</a:t>
            </a:r>
            <a:r>
              <a:rPr lang="zh-CN" altLang="en-US" dirty="0"/>
              <a:t>、</a:t>
            </a:r>
            <a:r>
              <a:rPr lang="en-US" altLang="zh-CN" dirty="0"/>
              <a:t>A</a:t>
            </a:r>
            <a:r>
              <a:rPr lang="zh-CN" altLang="en-US" dirty="0"/>
              <a:t>、</a:t>
            </a:r>
            <a:r>
              <a:rPr lang="en-US" altLang="zh-CN" dirty="0"/>
              <a:t>B</a:t>
            </a:r>
            <a:r>
              <a:rPr lang="zh-CN" altLang="en-US" dirty="0"/>
              <a:t>、</a:t>
            </a:r>
            <a:r>
              <a:rPr lang="en-US" altLang="zh-CN" dirty="0"/>
              <a:t>C</a:t>
            </a:r>
            <a:r>
              <a:rPr lang="zh-CN" altLang="en-US" dirty="0"/>
              <a:t>、</a:t>
            </a:r>
            <a:r>
              <a:rPr lang="en-US" altLang="zh-CN" dirty="0"/>
              <a:t>D</a:t>
            </a:r>
            <a:r>
              <a:rPr lang="zh-CN" altLang="en-US" dirty="0"/>
              <a:t>、</a:t>
            </a:r>
            <a:r>
              <a:rPr lang="en-US" altLang="zh-CN" dirty="0"/>
              <a:t>E</a:t>
            </a:r>
            <a:r>
              <a:rPr lang="zh-CN" altLang="en-US" dirty="0"/>
              <a:t>、</a:t>
            </a:r>
            <a:r>
              <a:rPr lang="en-US" altLang="zh-CN" dirty="0"/>
              <a:t>F</a:t>
            </a:r>
            <a:r>
              <a:rPr lang="zh-CN" altLang="en-US" dirty="0"/>
              <a:t>这十六个不同的数字组成，其基数为</a:t>
            </a:r>
            <a:r>
              <a:rPr lang="en-US" altLang="zh-CN" dirty="0"/>
              <a:t>16</a:t>
            </a:r>
            <a:r>
              <a:rPr lang="zh-CN" altLang="en-US" dirty="0"/>
              <a:t>，每位的位权是以</a:t>
            </a:r>
            <a:r>
              <a:rPr lang="en-US" altLang="zh-CN" dirty="0"/>
              <a:t>16</a:t>
            </a:r>
            <a:r>
              <a:rPr lang="zh-CN" altLang="en-US" dirty="0"/>
              <a:t>为底的幂，即第</a:t>
            </a:r>
            <a:r>
              <a:rPr lang="en-US" altLang="zh-CN" dirty="0"/>
              <a:t>i</a:t>
            </a:r>
            <a:r>
              <a:rPr lang="zh-CN" altLang="en-US" dirty="0"/>
              <a:t>位的权为</a:t>
            </a:r>
            <a:r>
              <a:rPr lang="en-US" altLang="zh-CN" dirty="0"/>
              <a:t>16</a:t>
            </a:r>
            <a:r>
              <a:rPr lang="en-US" altLang="zh-CN" baseline="30000" dirty="0"/>
              <a:t>i</a:t>
            </a:r>
            <a:r>
              <a:rPr lang="zh-CN" altLang="en-US" dirty="0"/>
              <a:t>。</a:t>
            </a:r>
            <a:endParaRPr lang="zh-CN" altLang="en-US" dirty="0"/>
          </a:p>
          <a:p>
            <a:pPr eaLnBrk="1" hangingPunct="1"/>
            <a:r>
              <a:rPr lang="zh-CN" altLang="en-US" dirty="0"/>
              <a:t>十六进制数可在</a:t>
            </a:r>
            <a:r>
              <a:rPr lang="zh-CN" altLang="en-US" b="1" dirty="0">
                <a:solidFill>
                  <a:schemeClr val="folHlink"/>
                </a:solidFill>
              </a:rPr>
              <a:t>数字后加后缀</a:t>
            </a:r>
            <a:r>
              <a:rPr lang="en-US" altLang="zh-CN" b="1" dirty="0">
                <a:solidFill>
                  <a:schemeClr val="folHlink"/>
                </a:solidFill>
              </a:rPr>
              <a:t>H</a:t>
            </a:r>
            <a:r>
              <a:rPr lang="zh-CN" altLang="en-US" dirty="0"/>
              <a:t>表示。</a:t>
            </a:r>
            <a:endParaRPr lang="zh-CN" altLang="en-US" dirty="0"/>
          </a:p>
          <a:p>
            <a:pPr eaLnBrk="1" hangingPunct="1"/>
            <a:r>
              <a:rPr lang="zh-CN" altLang="en-US" dirty="0"/>
              <a:t>例如：</a:t>
            </a:r>
            <a:r>
              <a:rPr lang="en-US" altLang="zh-CN" dirty="0"/>
              <a:t>1F3.9AH=1×16</a:t>
            </a:r>
            <a:r>
              <a:rPr lang="en-US" altLang="zh-CN" baseline="30000" dirty="0"/>
              <a:t>2</a:t>
            </a:r>
            <a:r>
              <a:rPr lang="en-US" altLang="zh-CN" dirty="0"/>
              <a:t>+15×16</a:t>
            </a:r>
            <a:r>
              <a:rPr lang="en-US" altLang="zh-CN" baseline="30000" dirty="0"/>
              <a:t>1</a:t>
            </a:r>
            <a:r>
              <a:rPr lang="en-US" altLang="zh-CN" dirty="0"/>
              <a:t>+3×16</a:t>
            </a:r>
            <a:r>
              <a:rPr lang="en-US" altLang="zh-CN" baseline="30000" dirty="0"/>
              <a:t>0</a:t>
            </a:r>
            <a:br>
              <a:rPr lang="en-US" altLang="zh-CN" baseline="30000" dirty="0"/>
            </a:br>
            <a:r>
              <a:rPr lang="en-US" altLang="zh-CN" baseline="30000" dirty="0"/>
              <a:t>                                          </a:t>
            </a:r>
            <a:r>
              <a:rPr lang="en-US" altLang="zh-CN" dirty="0"/>
              <a:t>+9×16</a:t>
            </a:r>
            <a:r>
              <a:rPr lang="en-US" altLang="zh-CN" baseline="30000" dirty="0"/>
              <a:t>-1</a:t>
            </a:r>
            <a:r>
              <a:rPr lang="en-US" altLang="zh-CN" dirty="0"/>
              <a:t>+10×16</a:t>
            </a:r>
            <a:r>
              <a:rPr lang="en-US" altLang="zh-CN" baseline="30000" dirty="0"/>
              <a:t>-2</a:t>
            </a:r>
            <a:br>
              <a:rPr lang="en-US" altLang="zh-CN" baseline="30000" dirty="0"/>
            </a:br>
            <a:r>
              <a:rPr lang="en-US" altLang="zh-CN" baseline="30000" dirty="0"/>
              <a:t>                                        </a:t>
            </a:r>
            <a:r>
              <a:rPr lang="en-US" altLang="zh-CN" dirty="0"/>
              <a:t>=504.6015625</a:t>
            </a:r>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3011">
                                            <p:txEl>
                                              <p:charRg st="0" end="65"/>
                                            </p:txEl>
                                          </p:spTgt>
                                        </p:tgtEl>
                                        <p:attrNameLst>
                                          <p:attrName>style.visibility</p:attrName>
                                        </p:attrNameLst>
                                      </p:cBhvr>
                                      <p:to>
                                        <p:strVal val="visible"/>
                                      </p:to>
                                    </p:set>
                                    <p:animEffect transition="in" filter="slide(fromBottom)">
                                      <p:cBhvr>
                                        <p:cTn id="7" dur="500"/>
                                        <p:tgtEl>
                                          <p:spTgt spid="43011">
                                            <p:txEl>
                                              <p:charRg st="0" end="6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3011">
                                            <p:txEl>
                                              <p:charRg st="65" end="83"/>
                                            </p:txEl>
                                          </p:spTgt>
                                        </p:tgtEl>
                                        <p:attrNameLst>
                                          <p:attrName>style.visibility</p:attrName>
                                        </p:attrNameLst>
                                      </p:cBhvr>
                                      <p:to>
                                        <p:strVal val="visible"/>
                                      </p:to>
                                    </p:set>
                                    <p:animEffect transition="in" filter="slide(fromBottom)">
                                      <p:cBhvr>
                                        <p:cTn id="12" dur="500"/>
                                        <p:tgtEl>
                                          <p:spTgt spid="43011">
                                            <p:txEl>
                                              <p:charRg st="65" end="8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43011">
                                            <p:txEl>
                                              <p:charRg st="83" end="224"/>
                                            </p:txEl>
                                          </p:spTgt>
                                        </p:tgtEl>
                                        <p:attrNameLst>
                                          <p:attrName>style.visibility</p:attrName>
                                        </p:attrNameLst>
                                      </p:cBhvr>
                                      <p:to>
                                        <p:strVal val="visible"/>
                                      </p:to>
                                    </p:set>
                                    <p:animEffect transition="in" filter="slide(fromBottom)">
                                      <p:cBhvr>
                                        <p:cTn id="17" dur="500"/>
                                        <p:tgtEl>
                                          <p:spTgt spid="43011">
                                            <p:txEl>
                                              <p:charRg st="83" end="2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常用进制数之间的关系</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graphicFrame>
        <p:nvGraphicFramePr>
          <p:cNvPr id="108547" name="表格占位符 108546"/>
          <p:cNvGraphicFramePr/>
          <p:nvPr>
            <p:ph type="tbl" idx="1"/>
          </p:nvPr>
        </p:nvGraphicFramePr>
        <p:xfrm>
          <a:off x="539750" y="1989138"/>
          <a:ext cx="8280400" cy="4114800"/>
        </p:xfrm>
        <a:graphic>
          <a:graphicData uri="http://schemas.openxmlformats.org/drawingml/2006/table">
            <a:tbl>
              <a:tblPr/>
              <a:tblGrid>
                <a:gridCol w="1314450"/>
                <a:gridCol w="1330325"/>
                <a:gridCol w="1330325"/>
                <a:gridCol w="311150"/>
                <a:gridCol w="1330325"/>
                <a:gridCol w="1330325"/>
                <a:gridCol w="1333500"/>
              </a:tblGrid>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zh-CN" altLang="en-US" sz="2000" b="1" dirty="0">
                          <a:solidFill>
                            <a:schemeClr val="bg1"/>
                          </a:solidFill>
                          <a:latin typeface="宋体" panose="02010600030101010101" pitchFamily="2" charset="-122"/>
                          <a:ea typeface="楷体_GB2312" pitchFamily="1" charset="-122"/>
                        </a:rPr>
                        <a:t>十进制</a:t>
                      </a:r>
                      <a:endParaRPr lang="zh-CN" altLang="en-US" sz="2000" b="1" dirty="0">
                        <a:solidFill>
                          <a:schemeClr val="bg1"/>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9782B6"/>
                        </a:gs>
                        <a:gs pos="100000">
                          <a:srgbClr val="50015D"/>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zh-CN" altLang="en-US" sz="2000" b="1" dirty="0">
                          <a:solidFill>
                            <a:schemeClr val="bg1"/>
                          </a:solidFill>
                          <a:latin typeface="宋体" panose="02010600030101010101" pitchFamily="2" charset="-122"/>
                          <a:ea typeface="楷体_GB2312" pitchFamily="1" charset="-122"/>
                        </a:rPr>
                        <a:t>二进制</a:t>
                      </a:r>
                      <a:endParaRPr lang="zh-CN" altLang="en-US" sz="2000" b="1" dirty="0">
                        <a:solidFill>
                          <a:schemeClr val="bg1"/>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9782B6"/>
                        </a:gs>
                        <a:gs pos="100000">
                          <a:srgbClr val="50015D"/>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zh-CN" altLang="en-US" sz="2000" b="1" dirty="0">
                          <a:solidFill>
                            <a:schemeClr val="bg1"/>
                          </a:solidFill>
                          <a:latin typeface="宋体" panose="02010600030101010101" pitchFamily="2" charset="-122"/>
                          <a:ea typeface="楷体_GB2312" pitchFamily="1" charset="-122"/>
                        </a:rPr>
                        <a:t>十六进制</a:t>
                      </a:r>
                      <a:endParaRPr lang="zh-CN" altLang="en-US" sz="2000" b="1" dirty="0">
                        <a:solidFill>
                          <a:schemeClr val="bg1"/>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9782B6"/>
                        </a:gs>
                        <a:gs pos="100000">
                          <a:srgbClr val="50015D"/>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chemeClr val="bg1"/>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9782B6"/>
                        </a:gs>
                        <a:gs pos="100000">
                          <a:srgbClr val="50015D"/>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zh-CN" altLang="en-US" sz="2000" b="1" dirty="0">
                          <a:solidFill>
                            <a:schemeClr val="bg1"/>
                          </a:solidFill>
                          <a:latin typeface="宋体" panose="02010600030101010101" pitchFamily="2" charset="-122"/>
                          <a:ea typeface="楷体_GB2312" pitchFamily="1" charset="-122"/>
                        </a:rPr>
                        <a:t>十进制</a:t>
                      </a:r>
                      <a:endParaRPr lang="zh-CN" altLang="en-US" sz="2000" b="1" dirty="0">
                        <a:solidFill>
                          <a:schemeClr val="bg1"/>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9782B6"/>
                        </a:gs>
                        <a:gs pos="100000">
                          <a:srgbClr val="50015D"/>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zh-CN" altLang="en-US" sz="2000" b="1" dirty="0">
                          <a:solidFill>
                            <a:srgbClr val="FFFFFF"/>
                          </a:solidFill>
                          <a:latin typeface="Constantia" panose="02030602050306030303" pitchFamily="18" charset="0"/>
                          <a:ea typeface="楷体_GB2312" pitchFamily="1" charset="-122"/>
                        </a:rPr>
                        <a:t>二进制</a:t>
                      </a:r>
                      <a:endParaRPr lang="zh-CN" altLang="en-US" sz="2000" b="1" dirty="0">
                        <a:solidFill>
                          <a:srgbClr val="FFFFFF"/>
                        </a:solidFill>
                        <a:latin typeface="Constantia" panose="02030602050306030303" pitchFamily="18" charset="0"/>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9782B6"/>
                        </a:gs>
                        <a:gs pos="100000">
                          <a:srgbClr val="50015D"/>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zh-CN" altLang="en-US" sz="2000" b="1" dirty="0">
                          <a:solidFill>
                            <a:srgbClr val="FFFFFF"/>
                          </a:solidFill>
                          <a:latin typeface="Constantia" panose="02030602050306030303" pitchFamily="18" charset="0"/>
                          <a:ea typeface="楷体_GB2312" pitchFamily="1" charset="-122"/>
                        </a:rPr>
                        <a:t>十六进制</a:t>
                      </a:r>
                      <a:endParaRPr lang="zh-CN" altLang="en-US" sz="2000" b="1" dirty="0">
                        <a:solidFill>
                          <a:srgbClr val="FFFFFF"/>
                        </a:solidFill>
                        <a:latin typeface="Constantia" panose="02030602050306030303" pitchFamily="18" charset="0"/>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9782B6"/>
                        </a:gs>
                        <a:gs pos="100000">
                          <a:srgbClr val="50015D"/>
                        </a:gs>
                      </a:gsLst>
                      <a:path path="shape">
                        <a:fillToRect l="50000" t="50000" r="50000" b="50000"/>
                      </a:path>
                      <a:tileRect/>
                    </a:gra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0000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8</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1000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8</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0001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9</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1001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9</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2</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0010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2</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1010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A</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r h="457200">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3</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0011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3</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1011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B</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r h="4587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4</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0100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4</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12</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1100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C</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r h="455612">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5</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0101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5</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13</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1101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D</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r h="458788">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6</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0110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6</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14</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1110</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E</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r h="455612">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7</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0111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7</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endParaRPr lang="zh-CN" altLang="en-US"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15</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1111</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c>
                  <a:txBody>
                    <a:bodyPr/>
                    <a:lst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defRPr>
                      </a:lvl1pPr>
                      <a:lvl2pPr marL="457200" lvl="1"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Tahoma" panose="020B0604030504040204" pitchFamily="34" charset="0"/>
                          <a:ea typeface="宋体" panose="02010600030101010101" pitchFamily="2" charset="-122"/>
                          <a:cs typeface="+mn-cs"/>
                        </a:defRPr>
                      </a:lvl5pPr>
                    </a:lstStyle>
                    <a:p>
                      <a:pPr lvl="0" algn="ctr" eaLnBrk="1" hangingPunct="1">
                        <a:buClr>
                          <a:schemeClr val="folHlink"/>
                        </a:buClr>
                        <a:buSzPct val="60000"/>
                        <a:buFont typeface="Wingdings" panose="05000000000000000000" pitchFamily="2" charset="2"/>
                        <a:buNone/>
                      </a:pPr>
                      <a:r>
                        <a:rPr lang="en-US" altLang="zh-CN" sz="2000" b="1" dirty="0">
                          <a:solidFill>
                            <a:srgbClr val="000000"/>
                          </a:solidFill>
                          <a:latin typeface="宋体" panose="02010600030101010101" pitchFamily="2" charset="-122"/>
                          <a:ea typeface="楷体_GB2312" pitchFamily="1" charset="-122"/>
                        </a:rPr>
                        <a:t>F</a:t>
                      </a:r>
                      <a:endParaRPr lang="en-US" altLang="zh-CN" sz="2000" b="1" dirty="0">
                        <a:solidFill>
                          <a:srgbClr val="000000"/>
                        </a:solidFill>
                        <a:latin typeface="宋体" panose="02010600030101010101" pitchFamily="2" charset="-122"/>
                        <a:ea typeface="楷体_GB2312" pitchFamily="1" charset="-122"/>
                      </a:endParaRPr>
                    </a:p>
                  </a:txBody>
                  <a:tcPr>
                    <a:lnL w="0" cap="flat" cmpd="sng">
                      <a:solidFill>
                        <a:srgbClr val="000000"/>
                      </a:solidFill>
                      <a:prstDash val="solid"/>
                      <a:headEnd type="none" w="med" len="med"/>
                      <a:tailEnd type="none" w="med" len="med"/>
                    </a:lnL>
                    <a:lnR w="0" cap="flat" cmpd="sng">
                      <a:solidFill>
                        <a:srgbClr val="000000"/>
                      </a:solidFill>
                      <a:prstDash val="solid"/>
                      <a:headEnd type="none" w="med" len="med"/>
                      <a:tailEnd type="none" w="med" len="med"/>
                    </a:lnR>
                    <a:lnT w="0" cap="flat" cmpd="sng">
                      <a:solidFill>
                        <a:srgbClr val="000000"/>
                      </a:solidFill>
                      <a:prstDash val="solid"/>
                      <a:headEnd type="none" w="med" len="med"/>
                      <a:tailEnd type="none" w="med" len="med"/>
                    </a:lnT>
                    <a:lnB w="0" cap="flat" cmpd="sng">
                      <a:solidFill>
                        <a:srgbClr val="000000"/>
                      </a:solidFill>
                      <a:prstDash val="solid"/>
                      <a:headEnd type="none" w="med" len="med"/>
                      <a:tailEnd type="none" w="med" len="med"/>
                    </a:lnB>
                    <a:lnTlToBr>
                      <a:noFill/>
                    </a:lnTlToBr>
                    <a:lnBlToTr>
                      <a:noFill/>
                    </a:lnBlToTr>
                    <a:gradFill rotWithShape="0">
                      <a:gsLst>
                        <a:gs pos="0">
                          <a:srgbClr val="FFFFFF"/>
                        </a:gs>
                        <a:gs pos="100000">
                          <a:srgbClr val="CCCCFF"/>
                        </a:gs>
                      </a:gsLst>
                      <a:path path="shape">
                        <a:fillToRect l="50000" t="50000" r="50000" b="50000"/>
                      </a:path>
                      <a:tileRect/>
                    </a:gradFill>
                  </a:tcPr>
                </a:tc>
              </a:tr>
            </a:tbl>
          </a:graphicData>
        </a:graphic>
      </p:graphicFrame>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2.</a:t>
            </a:r>
            <a:r>
              <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数制转换</a:t>
            </a:r>
            <a:endPar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109571" name="Rectangle 3"/>
          <p:cNvSpPr>
            <a:spLocks noGrp="1"/>
          </p:cNvSpPr>
          <p:nvPr>
            <p:ph idx="1"/>
          </p:nvPr>
        </p:nvSpPr>
        <p:spPr/>
        <p:txBody>
          <a:bodyPr vert="horz" wrap="square" lIns="91440" tIns="45720" rIns="91440" bIns="45720" anchor="t" anchorCtr="0"/>
          <a:p>
            <a:pPr eaLnBrk="1" hangingPunct="1"/>
            <a:r>
              <a:rPr lang="zh-CN" altLang="zh-CN" dirty="0"/>
              <a:t>二进制、十六进制转换为十进制</a:t>
            </a:r>
            <a:endParaRPr lang="zh-CN" altLang="zh-CN" dirty="0"/>
          </a:p>
          <a:p>
            <a:pPr eaLnBrk="1" hangingPunct="1"/>
            <a:r>
              <a:rPr lang="zh-CN" altLang="zh-CN" dirty="0"/>
              <a:t>十进制转换为二进制</a:t>
            </a:r>
            <a:endParaRPr lang="zh-CN" altLang="zh-CN" dirty="0"/>
          </a:p>
          <a:p>
            <a:pPr eaLnBrk="1" hangingPunct="1"/>
            <a:r>
              <a:rPr lang="zh-CN" altLang="zh-CN" dirty="0"/>
              <a:t>二进制和十六进制间的互换</a:t>
            </a:r>
            <a:endParaRPr lang="zh-CN" altLang="zh-CN" dirty="0"/>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二进制、十六进制转换为十进制</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10595" name="Rectangle 3"/>
          <p:cNvSpPr>
            <a:spLocks noGrp="1"/>
          </p:cNvSpPr>
          <p:nvPr>
            <p:ph idx="1"/>
          </p:nvPr>
        </p:nvSpPr>
        <p:spPr>
          <a:xfrm>
            <a:off x="539750" y="1773238"/>
            <a:ext cx="8280400" cy="1223962"/>
          </a:xfrm>
        </p:spPr>
        <p:txBody>
          <a:bodyPr vert="horz" wrap="square" lIns="91440" tIns="45720" rIns="91440" bIns="45720" anchor="t" anchorCtr="0"/>
          <a:p>
            <a:pPr marL="0" indent="0" eaLnBrk="1" hangingPunct="1">
              <a:buNone/>
            </a:pPr>
            <a:r>
              <a:rPr lang="zh-CN" altLang="en-US" b="1" dirty="0">
                <a:solidFill>
                  <a:schemeClr val="folHlink"/>
                </a:solidFill>
              </a:rPr>
              <a:t>多项式展开法</a:t>
            </a:r>
            <a:r>
              <a:rPr lang="zh-CN" altLang="en-US" dirty="0"/>
              <a:t>：把每个数位上的数字和该位的位权相乘再累加即可得到等值的十进制数。</a:t>
            </a:r>
            <a:endParaRPr lang="zh-CN" altLang="en-US" dirty="0"/>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2)</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十进制转换为二进制</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47107" name="Rectangle 3"/>
          <p:cNvSpPr>
            <a:spLocks noGrp="1"/>
          </p:cNvSpPr>
          <p:nvPr>
            <p:ph idx="1"/>
          </p:nvPr>
        </p:nvSpPr>
        <p:spPr>
          <a:xfrm>
            <a:off x="395288" y="1773238"/>
            <a:ext cx="8424862" cy="4114800"/>
          </a:xfrm>
        </p:spPr>
        <p:txBody>
          <a:bodyPr vert="horz" wrap="square" lIns="91440" tIns="45720" rIns="91440" bIns="45720" anchor="t" anchorCtr="0"/>
          <a:p>
            <a:pPr eaLnBrk="1" hangingPunct="1">
              <a:lnSpc>
                <a:spcPct val="90000"/>
              </a:lnSpc>
            </a:pPr>
            <a:r>
              <a:rPr lang="zh-CN" altLang="en-US" sz="2800" dirty="0">
                <a:solidFill>
                  <a:schemeClr val="hlink"/>
                </a:solidFill>
              </a:rPr>
              <a:t>需要对数的整数部分和小数部分分别进行处理</a:t>
            </a:r>
            <a:r>
              <a:rPr lang="zh-CN" altLang="en-US" sz="2800" dirty="0"/>
              <a:t>，再合并得到转换结果。</a:t>
            </a:r>
            <a:endParaRPr lang="zh-CN" altLang="en-US" sz="2800" dirty="0"/>
          </a:p>
          <a:p>
            <a:pPr eaLnBrk="1" hangingPunct="1">
              <a:lnSpc>
                <a:spcPct val="90000"/>
              </a:lnSpc>
            </a:pPr>
            <a:r>
              <a:rPr lang="en-US" altLang="zh-CN" sz="2800" dirty="0"/>
              <a:t>(1)</a:t>
            </a:r>
            <a:r>
              <a:rPr lang="zh-CN" altLang="en-US" sz="2800" dirty="0"/>
              <a:t>十进制整数：采用</a:t>
            </a:r>
            <a:r>
              <a:rPr lang="zh-CN" altLang="en-US" sz="2800" b="1" dirty="0">
                <a:solidFill>
                  <a:schemeClr val="hlink"/>
                </a:solidFill>
              </a:rPr>
              <a:t>除</a:t>
            </a:r>
            <a:r>
              <a:rPr lang="en-US" altLang="zh-CN" sz="2800" b="1" dirty="0">
                <a:solidFill>
                  <a:schemeClr val="hlink"/>
                </a:solidFill>
              </a:rPr>
              <a:t>2</a:t>
            </a:r>
            <a:r>
              <a:rPr lang="zh-CN" altLang="en-US" sz="2800" b="1" dirty="0">
                <a:solidFill>
                  <a:schemeClr val="hlink"/>
                </a:solidFill>
              </a:rPr>
              <a:t>取余法</a:t>
            </a:r>
            <a:r>
              <a:rPr lang="zh-CN" altLang="en-US" sz="2800" dirty="0"/>
              <a:t>，即用基数</a:t>
            </a:r>
            <a:r>
              <a:rPr lang="en-US" altLang="zh-CN" sz="2800" dirty="0"/>
              <a:t>2</a:t>
            </a:r>
            <a:r>
              <a:rPr lang="zh-CN" altLang="en-US" sz="2800" dirty="0"/>
              <a:t>不断去除要转换的十进制数，直至商为</a:t>
            </a:r>
            <a:r>
              <a:rPr lang="en-US" altLang="zh-CN" sz="2800" dirty="0"/>
              <a:t>0</a:t>
            </a:r>
            <a:r>
              <a:rPr lang="zh-CN" altLang="en-US" sz="2800" dirty="0"/>
              <a:t>。每次的余数即为二进制位数，</a:t>
            </a:r>
            <a:r>
              <a:rPr lang="zh-CN" altLang="en-US" sz="2800" b="1" dirty="0">
                <a:solidFill>
                  <a:schemeClr val="folHlink"/>
                </a:solidFill>
              </a:rPr>
              <a:t>先得到的是二进制低位，后得到的是二进制高位</a:t>
            </a:r>
            <a:r>
              <a:rPr lang="zh-CN" altLang="en-US" sz="2800" dirty="0"/>
              <a:t>。</a:t>
            </a:r>
            <a:endParaRPr lang="zh-CN" altLang="en-US" sz="2800" dirty="0"/>
          </a:p>
          <a:p>
            <a:pPr eaLnBrk="1" hangingPunct="1">
              <a:lnSpc>
                <a:spcPct val="90000"/>
              </a:lnSpc>
            </a:pPr>
            <a:r>
              <a:rPr lang="en-US" altLang="zh-CN" sz="2800" dirty="0"/>
              <a:t>(2)</a:t>
            </a:r>
            <a:r>
              <a:rPr lang="zh-CN" altLang="en-US" sz="2800" dirty="0"/>
              <a:t>十进制小数：采用</a:t>
            </a:r>
            <a:r>
              <a:rPr lang="zh-CN" altLang="en-US" sz="2800" b="1" dirty="0">
                <a:solidFill>
                  <a:schemeClr val="hlink"/>
                </a:solidFill>
              </a:rPr>
              <a:t>乘</a:t>
            </a:r>
            <a:r>
              <a:rPr lang="en-US" altLang="zh-CN" sz="2800" b="1" dirty="0">
                <a:solidFill>
                  <a:schemeClr val="hlink"/>
                </a:solidFill>
              </a:rPr>
              <a:t>2</a:t>
            </a:r>
            <a:r>
              <a:rPr lang="zh-CN" altLang="en-US" sz="2800" b="1" dirty="0">
                <a:solidFill>
                  <a:schemeClr val="hlink"/>
                </a:solidFill>
              </a:rPr>
              <a:t>取整法</a:t>
            </a:r>
            <a:r>
              <a:rPr lang="zh-CN" altLang="en-US" sz="2800" dirty="0"/>
              <a:t>，即用基数</a:t>
            </a:r>
            <a:r>
              <a:rPr lang="en-US" altLang="zh-CN" sz="2800" dirty="0"/>
              <a:t>2</a:t>
            </a:r>
            <a:r>
              <a:rPr lang="zh-CN" altLang="en-US" sz="2800" dirty="0"/>
              <a:t>不断去乘要转换的十进制数。每次得到积的整数部分即为二进制位数，</a:t>
            </a:r>
            <a:r>
              <a:rPr lang="zh-CN" altLang="en-US" sz="2800" b="1" dirty="0">
                <a:solidFill>
                  <a:schemeClr val="folHlink"/>
                </a:solidFill>
              </a:rPr>
              <a:t>先得到的是二进制小数的高位，后得到的是二进制小数的低位</a:t>
            </a:r>
            <a:r>
              <a:rPr lang="zh-CN" altLang="en-US" sz="2800" dirty="0"/>
              <a:t>。</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107">
                                            <p:txEl>
                                              <p:charRg st="0" end="32"/>
                                            </p:txEl>
                                          </p:spTgt>
                                        </p:tgtEl>
                                        <p:attrNameLst>
                                          <p:attrName>style.visibility</p:attrName>
                                        </p:attrNameLst>
                                      </p:cBhvr>
                                      <p:to>
                                        <p:strVal val="visible"/>
                                      </p:to>
                                    </p:set>
                                    <p:animEffect transition="in" filter="dissolve">
                                      <p:cBhvr>
                                        <p:cTn id="7" dur="500"/>
                                        <p:tgtEl>
                                          <p:spTgt spid="47107">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107">
                                            <p:txEl>
                                              <p:charRg st="32" end="109"/>
                                            </p:txEl>
                                          </p:spTgt>
                                        </p:tgtEl>
                                        <p:attrNameLst>
                                          <p:attrName>style.visibility</p:attrName>
                                        </p:attrNameLst>
                                      </p:cBhvr>
                                      <p:to>
                                        <p:strVal val="visible"/>
                                      </p:to>
                                    </p:set>
                                    <p:animEffect transition="in" filter="dissolve">
                                      <p:cBhvr>
                                        <p:cTn id="12" dur="500"/>
                                        <p:tgtEl>
                                          <p:spTgt spid="47107">
                                            <p:txEl>
                                              <p:charRg st="32" end="10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7107">
                                            <p:txEl>
                                              <p:charRg st="109" end="191"/>
                                            </p:txEl>
                                          </p:spTgt>
                                        </p:tgtEl>
                                        <p:attrNameLst>
                                          <p:attrName>style.visibility</p:attrName>
                                        </p:attrNameLst>
                                      </p:cBhvr>
                                      <p:to>
                                        <p:strVal val="visible"/>
                                      </p:to>
                                    </p:set>
                                    <p:animEffect transition="in" filter="dissolve">
                                      <p:cBhvr>
                                        <p:cTn id="17" dur="500"/>
                                        <p:tgtEl>
                                          <p:spTgt spid="47107">
                                            <p:txEl>
                                              <p:charRg st="109" end="19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例</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1.1</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112643" name="Rectangle 3"/>
          <p:cNvSpPr>
            <a:spLocks noGrp="1"/>
          </p:cNvSpPr>
          <p:nvPr>
            <p:ph idx="1"/>
          </p:nvPr>
        </p:nvSpPr>
        <p:spPr>
          <a:xfrm>
            <a:off x="684213" y="1773238"/>
            <a:ext cx="7772400" cy="4679950"/>
          </a:xfrm>
        </p:spPr>
        <p:txBody>
          <a:bodyPr vert="horz" wrap="square" lIns="91440" tIns="45720" rIns="91440" bIns="45720" anchor="t" anchorCtr="0"/>
          <a:p>
            <a:pPr eaLnBrk="1" hangingPunct="1">
              <a:lnSpc>
                <a:spcPct val="90000"/>
              </a:lnSpc>
              <a:buNone/>
            </a:pPr>
            <a:r>
              <a:rPr lang="zh-CN" altLang="en-US" sz="3600" dirty="0">
                <a:ea typeface="宋体" panose="02010600030101010101" pitchFamily="2" charset="-122"/>
              </a:rPr>
              <a:t>将十进制数</a:t>
            </a:r>
            <a:r>
              <a:rPr lang="en-US" altLang="zh-CN" sz="3600" dirty="0">
                <a:ea typeface="宋体" panose="02010600030101010101" pitchFamily="2" charset="-122"/>
              </a:rPr>
              <a:t>135.8125</a:t>
            </a:r>
            <a:r>
              <a:rPr lang="zh-CN" altLang="en-US" sz="3600" dirty="0">
                <a:ea typeface="宋体" panose="02010600030101010101" pitchFamily="2" charset="-122"/>
              </a:rPr>
              <a:t>转换为二进制数。</a:t>
            </a:r>
            <a:endParaRPr lang="zh-CN" altLang="en-US" sz="3600" dirty="0">
              <a:ea typeface="宋体" panose="02010600030101010101" pitchFamily="2" charset="-122"/>
            </a:endParaRPr>
          </a:p>
          <a:p>
            <a:pPr eaLnBrk="1" hangingPunct="1">
              <a:lnSpc>
                <a:spcPct val="90000"/>
              </a:lnSpc>
              <a:buNone/>
            </a:pPr>
            <a:r>
              <a:rPr lang="zh-CN" altLang="en-US" dirty="0"/>
              <a:t> </a:t>
            </a:r>
            <a:endParaRPr lang="zh-CN" altLang="en-US" dirty="0"/>
          </a:p>
          <a:p>
            <a:pPr eaLnBrk="1" hangingPunct="1">
              <a:lnSpc>
                <a:spcPct val="90000"/>
              </a:lnSpc>
              <a:buNone/>
            </a:pPr>
            <a:endParaRPr lang="zh-CN" altLang="en-US" dirty="0"/>
          </a:p>
          <a:p>
            <a:pPr eaLnBrk="1" hangingPunct="1">
              <a:lnSpc>
                <a:spcPct val="90000"/>
              </a:lnSpc>
              <a:buNone/>
            </a:pPr>
            <a:endParaRPr lang="zh-CN" altLang="en-US" dirty="0"/>
          </a:p>
          <a:p>
            <a:pPr eaLnBrk="1" hangingPunct="1">
              <a:lnSpc>
                <a:spcPct val="90000"/>
              </a:lnSpc>
              <a:buNone/>
            </a:pPr>
            <a:endParaRPr lang="zh-CN" altLang="en-US" dirty="0"/>
          </a:p>
          <a:p>
            <a:pPr eaLnBrk="1" hangingPunct="1">
              <a:lnSpc>
                <a:spcPct val="90000"/>
              </a:lnSpc>
              <a:buNone/>
            </a:pPr>
            <a:endParaRPr lang="zh-CN" altLang="en-US" dirty="0"/>
          </a:p>
          <a:p>
            <a:pPr eaLnBrk="1" hangingPunct="1">
              <a:lnSpc>
                <a:spcPct val="90000"/>
              </a:lnSpc>
              <a:buNone/>
            </a:pPr>
            <a:endParaRPr lang="zh-CN" altLang="en-US" dirty="0"/>
          </a:p>
          <a:p>
            <a:pPr eaLnBrk="1" hangingPunct="1">
              <a:lnSpc>
                <a:spcPct val="90000"/>
              </a:lnSpc>
              <a:buNone/>
            </a:pPr>
            <a:r>
              <a:rPr lang="zh-CN" altLang="en-US" dirty="0"/>
              <a:t>所以，</a:t>
            </a:r>
            <a:r>
              <a:rPr lang="en-US" altLang="zh-CN" dirty="0"/>
              <a:t>(135.8125)</a:t>
            </a:r>
            <a:r>
              <a:rPr lang="en-US" altLang="zh-CN" baseline="-25000" dirty="0"/>
              <a:t>10</a:t>
            </a:r>
            <a:r>
              <a:rPr lang="en-US" altLang="zh-CN" dirty="0"/>
              <a:t>=(10000111.1101)</a:t>
            </a:r>
            <a:r>
              <a:rPr lang="en-US" altLang="zh-CN" baseline="-25000" dirty="0"/>
              <a:t>2</a:t>
            </a:r>
            <a:r>
              <a:rPr lang="en-US" altLang="zh-CN" dirty="0"/>
              <a:t> </a:t>
            </a:r>
            <a:endParaRPr lang="en-US" altLang="zh-CN" dirty="0"/>
          </a:p>
        </p:txBody>
      </p:sp>
      <p:pic>
        <p:nvPicPr>
          <p:cNvPr id="112644" name="Picture 4"/>
          <p:cNvPicPr>
            <a:picLocks noChangeAspect="1"/>
          </p:cNvPicPr>
          <p:nvPr/>
        </p:nvPicPr>
        <p:blipFill>
          <a:blip r:embed="rId1"/>
          <a:stretch>
            <a:fillRect/>
          </a:stretch>
        </p:blipFill>
        <p:spPr>
          <a:xfrm>
            <a:off x="827088" y="2349500"/>
            <a:ext cx="7543800" cy="3103563"/>
          </a:xfrm>
          <a:prstGeom prst="rect">
            <a:avLst/>
          </a:prstGeom>
          <a:noFill/>
          <a:ln w="9525">
            <a:noFill/>
          </a:ln>
        </p:spPr>
      </p:pic>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3)</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二进制和十六进制间的互换</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49155" name="Rectangle 3"/>
          <p:cNvSpPr>
            <a:spLocks noGrp="1"/>
          </p:cNvSpPr>
          <p:nvPr>
            <p:ph idx="1"/>
          </p:nvPr>
        </p:nvSpPr>
        <p:spPr>
          <a:xfrm>
            <a:off x="539750" y="1773238"/>
            <a:ext cx="8280400" cy="4752975"/>
          </a:xfrm>
        </p:spPr>
        <p:txBody>
          <a:bodyPr vert="horz" wrap="square" lIns="91440" tIns="45720" rIns="91440" bIns="45720" anchor="t" anchorCtr="0"/>
          <a:p>
            <a:pPr eaLnBrk="1" hangingPunct="1"/>
            <a:r>
              <a:rPr lang="en-US" altLang="zh-CN" dirty="0">
                <a:solidFill>
                  <a:schemeClr val="hlink"/>
                </a:solidFill>
              </a:rPr>
              <a:t>4</a:t>
            </a:r>
            <a:r>
              <a:rPr lang="zh-CN" altLang="en-US" dirty="0">
                <a:solidFill>
                  <a:schemeClr val="hlink"/>
                </a:solidFill>
              </a:rPr>
              <a:t>位二进制数对应</a:t>
            </a:r>
            <a:r>
              <a:rPr lang="en-US" altLang="zh-CN" dirty="0">
                <a:solidFill>
                  <a:schemeClr val="hlink"/>
                </a:solidFill>
              </a:rPr>
              <a:t>1</a:t>
            </a:r>
            <a:r>
              <a:rPr lang="zh-CN" altLang="en-US" dirty="0">
                <a:solidFill>
                  <a:schemeClr val="hlink"/>
                </a:solidFill>
              </a:rPr>
              <a:t>位十六进制数</a:t>
            </a:r>
            <a:r>
              <a:rPr lang="zh-CN" altLang="en-US" dirty="0"/>
              <a:t>。</a:t>
            </a:r>
            <a:endParaRPr lang="zh-CN" altLang="en-US" dirty="0"/>
          </a:p>
          <a:p>
            <a:pPr eaLnBrk="1" hangingPunct="1"/>
            <a:r>
              <a:rPr lang="zh-CN" altLang="en-US" dirty="0"/>
              <a:t>二进制数转换为十六进制数时，以二进制数的小数点分界，分别进行分组处理，不足的位用</a:t>
            </a:r>
            <a:r>
              <a:rPr lang="en-US" altLang="zh-CN" dirty="0"/>
              <a:t>0</a:t>
            </a:r>
            <a:r>
              <a:rPr lang="zh-CN" altLang="en-US" dirty="0"/>
              <a:t>补足，</a:t>
            </a:r>
            <a:r>
              <a:rPr lang="zh-CN" altLang="en-US" b="1" dirty="0">
                <a:solidFill>
                  <a:schemeClr val="folHlink"/>
                </a:solidFill>
              </a:rPr>
              <a:t>整数部分在高位补</a:t>
            </a:r>
            <a:r>
              <a:rPr lang="en-US" altLang="zh-CN" b="1" dirty="0">
                <a:solidFill>
                  <a:schemeClr val="folHlink"/>
                </a:solidFill>
              </a:rPr>
              <a:t>0</a:t>
            </a:r>
            <a:r>
              <a:rPr lang="zh-CN" altLang="en-US" b="1" dirty="0">
                <a:solidFill>
                  <a:schemeClr val="folHlink"/>
                </a:solidFill>
              </a:rPr>
              <a:t>，小数部分在低位补</a:t>
            </a:r>
            <a:r>
              <a:rPr lang="en-US" altLang="zh-CN" b="1" dirty="0">
                <a:solidFill>
                  <a:schemeClr val="folHlink"/>
                </a:solidFill>
              </a:rPr>
              <a:t>0</a:t>
            </a:r>
            <a:r>
              <a:rPr lang="zh-CN" altLang="en-US" dirty="0"/>
              <a:t>。</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9155">
                                            <p:txEl>
                                              <p:charRg st="0" end="17"/>
                                            </p:txEl>
                                          </p:spTgt>
                                        </p:tgtEl>
                                        <p:attrNameLst>
                                          <p:attrName>style.visibility</p:attrName>
                                        </p:attrNameLst>
                                      </p:cBhvr>
                                      <p:to>
                                        <p:strVal val="visible"/>
                                      </p:to>
                                    </p:set>
                                    <p:animEffect transition="in" filter="slide(fromBottom)">
                                      <p:cBhvr>
                                        <p:cTn id="7" dur="500"/>
                                        <p:tgtEl>
                                          <p:spTgt spid="49155">
                                            <p:txEl>
                                              <p:charRg st="0" end="17"/>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49155">
                                            <p:txEl>
                                              <p:charRg st="17" end="82"/>
                                            </p:txEl>
                                          </p:spTgt>
                                        </p:tgtEl>
                                        <p:attrNameLst>
                                          <p:attrName>style.visibility</p:attrName>
                                        </p:attrNameLst>
                                      </p:cBhvr>
                                      <p:to>
                                        <p:strVal val="visible"/>
                                      </p:to>
                                    </p:set>
                                    <p:animEffect transition="in" filter="slide(fromBottom)">
                                      <p:cBhvr>
                                        <p:cTn id="12" dur="500"/>
                                        <p:tgtEl>
                                          <p:spTgt spid="49155">
                                            <p:txEl>
                                              <p:charRg st="17" end="8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例</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1. 2</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50179" name="Rectangle 3"/>
          <p:cNvSpPr>
            <a:spLocks noGrp="1"/>
          </p:cNvSpPr>
          <p:nvPr>
            <p:ph idx="1"/>
          </p:nvPr>
        </p:nvSpPr>
        <p:spPr>
          <a:xfrm>
            <a:off x="539750" y="1773238"/>
            <a:ext cx="8280400" cy="2303462"/>
          </a:xfrm>
        </p:spPr>
        <p:txBody>
          <a:bodyPr vert="horz" wrap="square" lIns="91440" tIns="45720" rIns="91440" bIns="45720" anchor="t" anchorCtr="0"/>
          <a:p>
            <a:pPr marL="0" indent="0" eaLnBrk="1" hangingPunct="1">
              <a:buNone/>
            </a:pPr>
            <a:r>
              <a:rPr lang="zh-CN" altLang="en-US" dirty="0">
                <a:ea typeface="宋体" panose="02010600030101010101" pitchFamily="2" charset="-122"/>
              </a:rPr>
              <a:t>将二进制数</a:t>
            </a:r>
            <a:r>
              <a:rPr lang="en-US" altLang="zh-CN" dirty="0">
                <a:ea typeface="宋体" panose="02010600030101010101" pitchFamily="2" charset="-122"/>
              </a:rPr>
              <a:t>10000111.1101</a:t>
            </a:r>
            <a:r>
              <a:rPr lang="zh-CN" altLang="en-US" dirty="0">
                <a:ea typeface="宋体" panose="02010600030101010101" pitchFamily="2" charset="-122"/>
              </a:rPr>
              <a:t>转换为十六进制数。</a:t>
            </a:r>
            <a:endParaRPr lang="zh-CN" altLang="en-US" dirty="0">
              <a:ea typeface="宋体" panose="02010600030101010101" pitchFamily="2" charset="-122"/>
            </a:endParaRPr>
          </a:p>
          <a:p>
            <a:pPr marL="0" indent="0" eaLnBrk="1" hangingPunct="1">
              <a:buNone/>
            </a:pPr>
            <a:r>
              <a:rPr lang="en-US" altLang="zh-CN" dirty="0"/>
              <a:t>(10000111.1101)</a:t>
            </a:r>
            <a:r>
              <a:rPr lang="en-US" altLang="zh-CN" baseline="-25000" dirty="0"/>
              <a:t>2</a:t>
            </a:r>
            <a:r>
              <a:rPr lang="en-US" altLang="zh-CN" dirty="0"/>
              <a:t>=(</a:t>
            </a:r>
            <a:r>
              <a:rPr lang="en-US" altLang="zh-CN" u="sng" dirty="0"/>
              <a:t>1000</a:t>
            </a:r>
            <a:r>
              <a:rPr lang="en-US" altLang="zh-CN" dirty="0"/>
              <a:t> </a:t>
            </a:r>
            <a:r>
              <a:rPr lang="en-US" altLang="zh-CN" u="sng" dirty="0"/>
              <a:t>0111</a:t>
            </a:r>
            <a:r>
              <a:rPr lang="en-US" altLang="zh-CN" dirty="0"/>
              <a:t>.</a:t>
            </a:r>
            <a:r>
              <a:rPr lang="en-US" altLang="zh-CN" u="sng" dirty="0"/>
              <a:t>1101</a:t>
            </a:r>
            <a:r>
              <a:rPr lang="en-US" altLang="zh-CN" dirty="0"/>
              <a:t>)</a:t>
            </a:r>
            <a:r>
              <a:rPr lang="en-US" altLang="zh-CN" baseline="-25000" dirty="0"/>
              <a:t>2</a:t>
            </a:r>
            <a:r>
              <a:rPr lang="en-US" altLang="zh-CN" dirty="0"/>
              <a:t>=(87.D)</a:t>
            </a:r>
            <a:r>
              <a:rPr lang="en-US" altLang="zh-CN" baseline="-25000" dirty="0"/>
              <a:t>16</a:t>
            </a:r>
            <a:r>
              <a:rPr lang="en-US" altLang="zh-CN" dirty="0"/>
              <a:t> </a:t>
            </a:r>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0179">
                                            <p:txEl>
                                              <p:charRg st="0" end="28"/>
                                            </p:txEl>
                                          </p:spTgt>
                                        </p:tgtEl>
                                        <p:attrNameLst>
                                          <p:attrName>style.visibility</p:attrName>
                                        </p:attrNameLst>
                                      </p:cBhvr>
                                      <p:to>
                                        <p:strVal val="visible"/>
                                      </p:to>
                                    </p:set>
                                    <p:anim calcmode="lin" valueType="num">
                                      <p:cBhvr>
                                        <p:cTn id="7" dur="500" fill="hold"/>
                                        <p:tgtEl>
                                          <p:spTgt spid="50179">
                                            <p:txEl>
                                              <p:charRg st="0" end="28"/>
                                            </p:txEl>
                                          </p:spTgt>
                                        </p:tgtEl>
                                        <p:attrNameLst>
                                          <p:attrName>ppt_w</p:attrName>
                                        </p:attrNameLst>
                                      </p:cBhvr>
                                      <p:tavLst>
                                        <p:tav tm="0">
                                          <p:val>
                                            <p:fltVal val="0.000000"/>
                                          </p:val>
                                        </p:tav>
                                        <p:tav tm="100000">
                                          <p:val>
                                            <p:strVal val="#ppt_w"/>
                                          </p:val>
                                        </p:tav>
                                      </p:tavLst>
                                    </p:anim>
                                    <p:anim calcmode="lin" valueType="num">
                                      <p:cBhvr>
                                        <p:cTn id="8" dur="500" fill="hold"/>
                                        <p:tgtEl>
                                          <p:spTgt spid="50179">
                                            <p:txEl>
                                              <p:charRg st="0" end="28"/>
                                            </p:txEl>
                                          </p:spTgt>
                                        </p:tgtEl>
                                        <p:attrNameLst>
                                          <p:attrName>ppt_h</p:attrName>
                                        </p:attrNameLst>
                                      </p:cBhvr>
                                      <p:tavLst>
                                        <p:tav tm="0">
                                          <p:val>
                                            <p:fltVal val="0.00000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50179">
                                            <p:txEl>
                                              <p:charRg st="28" end="73"/>
                                            </p:txEl>
                                          </p:spTgt>
                                        </p:tgtEl>
                                        <p:attrNameLst>
                                          <p:attrName>style.visibility</p:attrName>
                                        </p:attrNameLst>
                                      </p:cBhvr>
                                      <p:to>
                                        <p:strVal val="visible"/>
                                      </p:to>
                                    </p:set>
                                    <p:anim calcmode="lin" valueType="num">
                                      <p:cBhvr>
                                        <p:cTn id="13" dur="500" fill="hold"/>
                                        <p:tgtEl>
                                          <p:spTgt spid="50179">
                                            <p:txEl>
                                              <p:charRg st="28" end="73"/>
                                            </p:txEl>
                                          </p:spTgt>
                                        </p:tgtEl>
                                        <p:attrNameLst>
                                          <p:attrName>ppt_w</p:attrName>
                                        </p:attrNameLst>
                                      </p:cBhvr>
                                      <p:tavLst>
                                        <p:tav tm="0">
                                          <p:val>
                                            <p:fltVal val="0.000000"/>
                                          </p:val>
                                        </p:tav>
                                        <p:tav tm="100000">
                                          <p:val>
                                            <p:strVal val="#ppt_w"/>
                                          </p:val>
                                        </p:tav>
                                      </p:tavLst>
                                    </p:anim>
                                    <p:anim calcmode="lin" valueType="num">
                                      <p:cBhvr>
                                        <p:cTn id="14" dur="500" fill="hold"/>
                                        <p:tgtEl>
                                          <p:spTgt spid="50179">
                                            <p:txEl>
                                              <p:charRg st="28" end="73"/>
                                            </p:txEl>
                                          </p:spTgt>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1.3.2 </a:t>
            </a:r>
            <a:r>
              <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数的表示与运算</a:t>
            </a:r>
            <a:r>
              <a:rPr kumimoji="0" lang="zh-CN" sz="4400" b="1" i="0" u="none" strike="noStrike" kern="0" cap="none" spc="0" normalizeH="0" baseline="0" noProof="0">
                <a:ln>
                  <a:noFill/>
                </a:ln>
                <a:solidFill>
                  <a:schemeClr val="tx1"/>
                </a:solidFill>
                <a:effectLst/>
                <a:uLnTx/>
                <a:uFillTx/>
                <a:latin typeface="+mj-lt"/>
                <a:ea typeface="+mj-ea"/>
                <a:cs typeface="+mj-cs"/>
              </a:rPr>
              <a:t> </a:t>
            </a:r>
            <a:endParaRPr kumimoji="0" lang="zh-CN" sz="4400" b="1" i="0" u="none" strike="noStrike" kern="0" cap="none" spc="0" normalizeH="0" baseline="0" noProof="0">
              <a:ln>
                <a:noFill/>
              </a:ln>
              <a:solidFill>
                <a:schemeClr val="tx1"/>
              </a:solidFill>
              <a:effectLst/>
              <a:uLnTx/>
              <a:uFillTx/>
              <a:latin typeface="+mj-lt"/>
              <a:ea typeface="+mj-ea"/>
              <a:cs typeface="+mj-cs"/>
            </a:endParaRPr>
          </a:p>
        </p:txBody>
      </p:sp>
      <p:sp>
        <p:nvSpPr>
          <p:cNvPr id="115715" name="Rectangle 3"/>
          <p:cNvSpPr>
            <a:spLocks noGrp="1"/>
          </p:cNvSpPr>
          <p:nvPr>
            <p:ph idx="1"/>
          </p:nvPr>
        </p:nvSpPr>
        <p:spPr/>
        <p:txBody>
          <a:bodyPr vert="horz" wrap="square" lIns="91440" tIns="45720" rIns="91440" bIns="45720" anchor="t" anchorCtr="0"/>
          <a:p>
            <a:pPr eaLnBrk="1" hangingPunct="1">
              <a:buNone/>
            </a:pPr>
            <a:r>
              <a:rPr lang="zh-CN" altLang="en-US" dirty="0"/>
              <a:t>本小节内容：</a:t>
            </a:r>
            <a:endParaRPr lang="zh-CN" altLang="en-US" dirty="0"/>
          </a:p>
          <a:p>
            <a:pPr lvl="1" eaLnBrk="1" hangingPunct="1">
              <a:buFont typeface="Wingdings" panose="05000000000000000000" pitchFamily="2" charset="2"/>
              <a:buChar char="n"/>
            </a:pPr>
            <a:r>
              <a:rPr lang="zh-CN" altLang="en-US" sz="3200" dirty="0"/>
              <a:t>基本概念</a:t>
            </a:r>
            <a:endParaRPr lang="zh-CN" altLang="en-US" sz="3200" dirty="0"/>
          </a:p>
          <a:p>
            <a:pPr lvl="1" eaLnBrk="1" hangingPunct="1">
              <a:buFont typeface="Wingdings" panose="05000000000000000000" pitchFamily="2" charset="2"/>
              <a:buChar char="n"/>
            </a:pPr>
            <a:r>
              <a:rPr lang="zh-CN" altLang="en-US" sz="3200" dirty="0"/>
              <a:t>原码、反码和补码表示</a:t>
            </a:r>
            <a:endParaRPr lang="zh-CN" altLang="en-US" sz="3200" dirty="0"/>
          </a:p>
          <a:p>
            <a:pPr lvl="1" eaLnBrk="1" hangingPunct="1">
              <a:buFont typeface="Wingdings" panose="05000000000000000000" pitchFamily="2" charset="2"/>
              <a:buChar char="n"/>
            </a:pPr>
            <a:r>
              <a:rPr lang="zh-CN" altLang="en-US" sz="3200" dirty="0"/>
              <a:t>补码的加减运算</a:t>
            </a:r>
            <a:endParaRPr lang="zh-CN" altLang="en-US" sz="3200" dirty="0"/>
          </a:p>
          <a:p>
            <a:pPr lvl="1" eaLnBrk="1" hangingPunct="1">
              <a:buFont typeface="Wingdings" panose="05000000000000000000" pitchFamily="2" charset="2"/>
              <a:buChar char="n"/>
            </a:pPr>
            <a:r>
              <a:rPr lang="zh-CN" altLang="en-US" sz="3200" dirty="0"/>
              <a:t>定点数与浮点数表示</a:t>
            </a:r>
            <a:endParaRPr lang="zh-CN" altLang="en-US" sz="3200" dirty="0"/>
          </a:p>
        </p:txBody>
      </p:sp>
    </p:spTree>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基本概念</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52227" name="Rectangle 3"/>
          <p:cNvSpPr>
            <a:spLocks noGrp="1"/>
          </p:cNvSpPr>
          <p:nvPr>
            <p:ph idx="1"/>
          </p:nvPr>
        </p:nvSpPr>
        <p:spPr>
          <a:xfrm>
            <a:off x="468313" y="1773238"/>
            <a:ext cx="8351837" cy="4824412"/>
          </a:xfrm>
        </p:spPr>
        <p:txBody>
          <a:bodyPr vert="horz" wrap="square" lIns="91440" tIns="45720" rIns="91440" bIns="45720" anchor="t" anchorCtr="0"/>
          <a:p>
            <a:pPr eaLnBrk="1" hangingPunct="1"/>
            <a:r>
              <a:rPr lang="zh-CN" altLang="en-US" sz="2800" dirty="0"/>
              <a:t>真值：日常的表示方式，正负号加绝对值。</a:t>
            </a:r>
            <a:endParaRPr lang="zh-CN" altLang="en-US" sz="2800" dirty="0"/>
          </a:p>
          <a:p>
            <a:pPr eaLnBrk="1" hangingPunct="1"/>
            <a:r>
              <a:rPr lang="zh-CN" altLang="en-US" sz="2800" dirty="0"/>
              <a:t>机器数：计算机内部的表示方式，正负号分别用</a:t>
            </a:r>
            <a:r>
              <a:rPr lang="en-US" altLang="zh-CN" sz="2800" dirty="0"/>
              <a:t>0</a:t>
            </a:r>
            <a:r>
              <a:rPr lang="zh-CN" altLang="en-US" sz="2800" dirty="0"/>
              <a:t>、</a:t>
            </a:r>
            <a:r>
              <a:rPr lang="en-US" altLang="zh-CN" sz="2800" dirty="0"/>
              <a:t>1</a:t>
            </a:r>
            <a:r>
              <a:rPr lang="zh-CN" altLang="en-US" sz="2800" dirty="0"/>
              <a:t>表示。</a:t>
            </a:r>
            <a:endParaRPr lang="zh-CN" altLang="en-US" sz="2800" dirty="0"/>
          </a:p>
          <a:p>
            <a:pPr eaLnBrk="1" hangingPunct="1"/>
            <a:r>
              <a:rPr lang="zh-CN" altLang="en-US" sz="2800" dirty="0"/>
              <a:t>计算机中的数据分为</a:t>
            </a:r>
            <a:r>
              <a:rPr lang="zh-CN" altLang="en-US" sz="2800" dirty="0">
                <a:solidFill>
                  <a:schemeClr val="hlink"/>
                </a:solidFill>
              </a:rPr>
              <a:t>数值数据</a:t>
            </a:r>
            <a:r>
              <a:rPr lang="zh-CN" altLang="en-US" sz="2800" dirty="0"/>
              <a:t>和</a:t>
            </a:r>
            <a:r>
              <a:rPr lang="zh-CN" altLang="en-US" sz="2800" dirty="0">
                <a:solidFill>
                  <a:schemeClr val="hlink"/>
                </a:solidFill>
              </a:rPr>
              <a:t>非数值数据</a:t>
            </a:r>
            <a:r>
              <a:rPr lang="zh-CN" altLang="en-US" sz="2800" dirty="0"/>
              <a:t>。</a:t>
            </a:r>
            <a:endParaRPr lang="zh-CN" altLang="en-US" sz="2800" dirty="0"/>
          </a:p>
          <a:p>
            <a:pPr lvl="1" eaLnBrk="1" hangingPunct="1">
              <a:buFont typeface="Wingdings" panose="05000000000000000000" pitchFamily="2" charset="2"/>
              <a:buChar char="n"/>
            </a:pPr>
            <a:r>
              <a:rPr lang="zh-CN" altLang="en-US" dirty="0">
                <a:solidFill>
                  <a:schemeClr val="folHlink"/>
                </a:solidFill>
              </a:rPr>
              <a:t>无符号数值数据的表示形式：</a:t>
            </a:r>
            <a:r>
              <a:rPr lang="zh-CN" altLang="en-US" dirty="0"/>
              <a:t>全部数位都表示数值大小</a:t>
            </a:r>
            <a:endParaRPr lang="zh-CN" altLang="en-US" dirty="0"/>
          </a:p>
          <a:p>
            <a:pPr lvl="1" eaLnBrk="1" hangingPunct="1">
              <a:buFont typeface="Wingdings" panose="05000000000000000000" pitchFamily="2" charset="2"/>
              <a:buChar char="n"/>
            </a:pPr>
            <a:r>
              <a:rPr lang="zh-CN" altLang="en-US" dirty="0">
                <a:solidFill>
                  <a:schemeClr val="folHlink"/>
                </a:solidFill>
              </a:rPr>
              <a:t>带符号数值数据的表示形式：</a:t>
            </a:r>
            <a:r>
              <a:rPr lang="zh-CN" altLang="en-US" dirty="0"/>
              <a:t>常用的表示方法有：原码、反码和补码。</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52227">
                                            <p:txEl>
                                              <p:charRg st="0" end="20"/>
                                            </p:txEl>
                                          </p:spTgt>
                                        </p:tgtEl>
                                        <p:attrNameLst>
                                          <p:attrName>style.visibility</p:attrName>
                                        </p:attrNameLst>
                                      </p:cBhvr>
                                      <p:to>
                                        <p:strVal val="visible"/>
                                      </p:to>
                                    </p:set>
                                    <p:animEffect transition="in" filter="slide(fromBottom)">
                                      <p:cBhvr>
                                        <p:cTn id="7" dur="500"/>
                                        <p:tgtEl>
                                          <p:spTgt spid="52227">
                                            <p:txEl>
                                              <p:charRg st="0" end="2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52227">
                                            <p:txEl>
                                              <p:charRg st="20" end="48"/>
                                            </p:txEl>
                                          </p:spTgt>
                                        </p:tgtEl>
                                        <p:attrNameLst>
                                          <p:attrName>style.visibility</p:attrName>
                                        </p:attrNameLst>
                                      </p:cBhvr>
                                      <p:to>
                                        <p:strVal val="visible"/>
                                      </p:to>
                                    </p:set>
                                    <p:animEffect transition="in" filter="slide(fromBottom)">
                                      <p:cBhvr>
                                        <p:cTn id="12" dur="500"/>
                                        <p:tgtEl>
                                          <p:spTgt spid="52227">
                                            <p:txEl>
                                              <p:charRg st="20" end="4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52227">
                                            <p:txEl>
                                              <p:charRg st="48" end="69"/>
                                            </p:txEl>
                                          </p:spTgt>
                                        </p:tgtEl>
                                        <p:attrNameLst>
                                          <p:attrName>style.visibility</p:attrName>
                                        </p:attrNameLst>
                                      </p:cBhvr>
                                      <p:to>
                                        <p:strVal val="visible"/>
                                      </p:to>
                                    </p:set>
                                    <p:animEffect transition="in" filter="slide(fromBottom)">
                                      <p:cBhvr>
                                        <p:cTn id="17" dur="500"/>
                                        <p:tgtEl>
                                          <p:spTgt spid="52227">
                                            <p:txEl>
                                              <p:charRg st="48" end="69"/>
                                            </p:txEl>
                                          </p:spTgt>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52227">
                                            <p:txEl>
                                              <p:charRg st="69" end="94"/>
                                            </p:txEl>
                                          </p:spTgt>
                                        </p:tgtEl>
                                        <p:attrNameLst>
                                          <p:attrName>style.visibility</p:attrName>
                                        </p:attrNameLst>
                                      </p:cBhvr>
                                      <p:to>
                                        <p:strVal val="visible"/>
                                      </p:to>
                                    </p:set>
                                    <p:animEffect transition="in" filter="slide(fromBottom)">
                                      <p:cBhvr>
                                        <p:cTn id="20" dur="500"/>
                                        <p:tgtEl>
                                          <p:spTgt spid="52227">
                                            <p:txEl>
                                              <p:charRg st="69" end="94"/>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52227">
                                            <p:txEl>
                                              <p:charRg st="94" end="126"/>
                                            </p:txEl>
                                          </p:spTgt>
                                        </p:tgtEl>
                                        <p:attrNameLst>
                                          <p:attrName>style.visibility</p:attrName>
                                        </p:attrNameLst>
                                      </p:cBhvr>
                                      <p:to>
                                        <p:strVal val="visible"/>
                                      </p:to>
                                    </p:set>
                                    <p:animEffect transition="in" filter="slide(fromBottom)">
                                      <p:cBhvr>
                                        <p:cTn id="23" dur="500"/>
                                        <p:tgtEl>
                                          <p:spTgt spid="52227">
                                            <p:txEl>
                                              <p:charRg st="94"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原码</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53251" name="Rectangle 3"/>
          <p:cNvSpPr>
            <a:spLocks noGrp="1"/>
          </p:cNvSpPr>
          <p:nvPr>
            <p:ph idx="1"/>
          </p:nvPr>
        </p:nvSpPr>
        <p:spPr>
          <a:xfrm>
            <a:off x="395288" y="1916113"/>
            <a:ext cx="8353425" cy="4459287"/>
          </a:xfrm>
        </p:spPr>
        <p:txBody>
          <a:bodyPr vert="horz" wrap="square" lIns="91440" tIns="45720" rIns="91440" bIns="45720" anchor="t" anchorCtr="0"/>
          <a:p>
            <a:pPr eaLnBrk="1" hangingPunct="1">
              <a:lnSpc>
                <a:spcPct val="90000"/>
              </a:lnSpc>
            </a:pPr>
            <a:r>
              <a:rPr lang="zh-CN" altLang="en-US" dirty="0"/>
              <a:t>若</a:t>
            </a:r>
            <a:r>
              <a:rPr lang="en-US" altLang="zh-CN" dirty="0"/>
              <a:t>X=+99</a:t>
            </a:r>
            <a:r>
              <a:rPr lang="zh-CN" altLang="en-US" dirty="0"/>
              <a:t>，则</a:t>
            </a:r>
            <a:r>
              <a:rPr lang="en-US" altLang="zh-CN" dirty="0"/>
              <a:t>[X]</a:t>
            </a:r>
            <a:r>
              <a:rPr lang="zh-CN" altLang="en-US" baseline="-25000" dirty="0"/>
              <a:t>原</a:t>
            </a:r>
            <a:r>
              <a:rPr lang="zh-CN" altLang="en-US" dirty="0"/>
              <a:t>＝</a:t>
            </a:r>
            <a:r>
              <a:rPr lang="en-US" altLang="zh-CN" u="sng" dirty="0"/>
              <a:t>0</a:t>
            </a:r>
            <a:r>
              <a:rPr lang="en-US" altLang="zh-CN" dirty="0"/>
              <a:t> 1100011B</a:t>
            </a:r>
            <a:br>
              <a:rPr lang="en-US" altLang="zh-CN" dirty="0"/>
            </a:br>
            <a:r>
              <a:rPr lang="zh-CN" altLang="en-US" dirty="0"/>
              <a:t>若</a:t>
            </a:r>
            <a:r>
              <a:rPr lang="en-US" altLang="zh-CN" dirty="0"/>
              <a:t>X= -99</a:t>
            </a:r>
            <a:r>
              <a:rPr lang="zh-CN" altLang="en-US" dirty="0"/>
              <a:t>，则</a:t>
            </a:r>
            <a:r>
              <a:rPr lang="en-US" altLang="zh-CN" dirty="0"/>
              <a:t>[X]</a:t>
            </a:r>
            <a:r>
              <a:rPr lang="zh-CN" altLang="en-US" baseline="-25000" dirty="0"/>
              <a:t>原</a:t>
            </a:r>
            <a:r>
              <a:rPr lang="zh-CN" altLang="en-US" dirty="0"/>
              <a:t>＝</a:t>
            </a:r>
            <a:r>
              <a:rPr lang="en-US" altLang="zh-CN" u="sng" dirty="0"/>
              <a:t>1</a:t>
            </a:r>
            <a:r>
              <a:rPr lang="en-US" altLang="zh-CN" dirty="0"/>
              <a:t> 1100011B</a:t>
            </a:r>
            <a:endParaRPr lang="en-US" altLang="zh-CN" dirty="0"/>
          </a:p>
          <a:p>
            <a:pPr eaLnBrk="1" hangingPunct="1">
              <a:lnSpc>
                <a:spcPct val="90000"/>
              </a:lnSpc>
            </a:pPr>
            <a:r>
              <a:rPr lang="en-US" altLang="zh-CN" dirty="0"/>
              <a:t>[+0]</a:t>
            </a:r>
            <a:r>
              <a:rPr lang="zh-CN" altLang="en-US" baseline="-25000" dirty="0"/>
              <a:t>原</a:t>
            </a:r>
            <a:r>
              <a:rPr lang="en-US" altLang="zh-CN" dirty="0"/>
              <a:t>=</a:t>
            </a:r>
            <a:r>
              <a:rPr lang="en-US" altLang="zh-CN" u="sng" dirty="0"/>
              <a:t>0</a:t>
            </a:r>
            <a:r>
              <a:rPr lang="en-US" altLang="zh-CN" dirty="0"/>
              <a:t> 0000000B</a:t>
            </a:r>
            <a:br>
              <a:rPr lang="en-US" altLang="zh-CN" dirty="0"/>
            </a:br>
            <a:r>
              <a:rPr lang="en-US" altLang="zh-CN" dirty="0"/>
              <a:t>[ -0]</a:t>
            </a:r>
            <a:r>
              <a:rPr lang="zh-CN" altLang="en-US" baseline="-25000" dirty="0"/>
              <a:t>原</a:t>
            </a:r>
            <a:r>
              <a:rPr lang="en-US" altLang="zh-CN" dirty="0"/>
              <a:t>=</a:t>
            </a:r>
            <a:r>
              <a:rPr lang="en-US" altLang="zh-CN" u="sng" dirty="0"/>
              <a:t>1</a:t>
            </a:r>
            <a:r>
              <a:rPr lang="en-US" altLang="zh-CN" dirty="0"/>
              <a:t> 0000000B</a:t>
            </a:r>
            <a:endParaRPr lang="en-US" altLang="zh-CN" dirty="0"/>
          </a:p>
          <a:p>
            <a:pPr eaLnBrk="1" hangingPunct="1">
              <a:lnSpc>
                <a:spcPct val="90000"/>
              </a:lnSpc>
            </a:pPr>
            <a:r>
              <a:rPr lang="en-US" altLang="zh-CN" dirty="0"/>
              <a:t>8</a:t>
            </a:r>
            <a:r>
              <a:rPr lang="zh-CN" altLang="en-US" dirty="0"/>
              <a:t>位原码表示的整数的范围为：</a:t>
            </a:r>
            <a:br>
              <a:rPr lang="zh-CN" altLang="en-US" dirty="0"/>
            </a:br>
            <a:r>
              <a:rPr lang="en-US" altLang="zh-CN" dirty="0"/>
              <a:t>1 1111111~ 0 1111111</a:t>
            </a:r>
            <a:r>
              <a:rPr lang="zh-CN" altLang="en-US" dirty="0"/>
              <a:t>，即 </a:t>
            </a:r>
            <a:r>
              <a:rPr lang="en-US" altLang="zh-CN" dirty="0"/>
              <a:t>-127~+127</a:t>
            </a:r>
            <a:r>
              <a:rPr lang="zh-CN" altLang="en-US" dirty="0"/>
              <a:t>；</a:t>
            </a:r>
            <a:br>
              <a:rPr lang="zh-CN" altLang="en-US" dirty="0"/>
            </a:br>
            <a:r>
              <a:rPr lang="en-US" altLang="zh-CN" dirty="0"/>
              <a:t>8</a:t>
            </a:r>
            <a:r>
              <a:rPr lang="zh-CN" altLang="en-US" dirty="0"/>
              <a:t>位原码表示的小数的范围为：</a:t>
            </a:r>
            <a:br>
              <a:rPr lang="zh-CN" altLang="en-US" dirty="0"/>
            </a:br>
            <a:r>
              <a:rPr lang="en-US" altLang="zh-CN" dirty="0"/>
              <a:t>1.1111111~ 0.1111111</a:t>
            </a:r>
            <a:r>
              <a:rPr lang="zh-CN" altLang="en-US" dirty="0"/>
              <a:t>，即 </a:t>
            </a:r>
            <a:r>
              <a:rPr lang="en-US" altLang="zh-CN" dirty="0"/>
              <a:t>-(1-2</a:t>
            </a:r>
            <a:r>
              <a:rPr lang="en-US" altLang="zh-CN" baseline="30000" dirty="0"/>
              <a:t>-7</a:t>
            </a:r>
            <a:r>
              <a:rPr lang="en-US" altLang="zh-CN" dirty="0"/>
              <a:t>)~+(1-2</a:t>
            </a:r>
            <a:r>
              <a:rPr lang="en-US" altLang="zh-CN" baseline="30000" dirty="0"/>
              <a:t>-7</a:t>
            </a:r>
            <a:r>
              <a:rPr lang="en-US" altLang="zh-CN" dirty="0"/>
              <a:t>)</a:t>
            </a:r>
            <a:r>
              <a:rPr lang="zh-CN" altLang="en-US" dirty="0"/>
              <a:t>。 </a:t>
            </a:r>
            <a:endParaRPr lang="zh-CN" altLang="en-US" dirty="0"/>
          </a:p>
          <a:p>
            <a:pPr eaLnBrk="1" hangingPunct="1">
              <a:lnSpc>
                <a:spcPct val="90000"/>
              </a:lnSpc>
            </a:pPr>
            <a:r>
              <a:rPr lang="zh-CN" altLang="en-US" dirty="0"/>
              <a:t>原码表示简单易懂，但运算不方便。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3251">
                                            <p:txEl>
                                              <p:charRg st="0" end="49"/>
                                            </p:txEl>
                                          </p:spTgt>
                                        </p:tgtEl>
                                        <p:attrNameLst>
                                          <p:attrName>style.visibility</p:attrName>
                                        </p:attrNameLst>
                                      </p:cBhvr>
                                      <p:to>
                                        <p:strVal val="visible"/>
                                      </p:to>
                                    </p:set>
                                    <p:animEffect transition="in" filter="dissolve">
                                      <p:cBhvr>
                                        <p:cTn id="7" dur="500"/>
                                        <p:tgtEl>
                                          <p:spTgt spid="53251">
                                            <p:txEl>
                                              <p:charRg st="0" end="4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3251">
                                            <p:txEl>
                                              <p:charRg st="49" end="84"/>
                                            </p:txEl>
                                          </p:spTgt>
                                        </p:tgtEl>
                                        <p:attrNameLst>
                                          <p:attrName>style.visibility</p:attrName>
                                        </p:attrNameLst>
                                      </p:cBhvr>
                                      <p:to>
                                        <p:strVal val="visible"/>
                                      </p:to>
                                    </p:set>
                                    <p:animEffect transition="in" filter="dissolve">
                                      <p:cBhvr>
                                        <p:cTn id="12" dur="500"/>
                                        <p:tgtEl>
                                          <p:spTgt spid="53251">
                                            <p:txEl>
                                              <p:charRg st="49" end="8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3251">
                                            <p:txEl>
                                              <p:charRg st="84" end="191"/>
                                            </p:txEl>
                                          </p:spTgt>
                                        </p:tgtEl>
                                        <p:attrNameLst>
                                          <p:attrName>style.visibility</p:attrName>
                                        </p:attrNameLst>
                                      </p:cBhvr>
                                      <p:to>
                                        <p:strVal val="visible"/>
                                      </p:to>
                                    </p:set>
                                    <p:animEffect transition="in" filter="dissolve">
                                      <p:cBhvr>
                                        <p:cTn id="17" dur="500"/>
                                        <p:tgtEl>
                                          <p:spTgt spid="53251">
                                            <p:txEl>
                                              <p:charRg st="84" end="19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3251">
                                            <p:txEl>
                                              <p:charRg st="191" end="210"/>
                                            </p:txEl>
                                          </p:spTgt>
                                        </p:tgtEl>
                                        <p:attrNameLst>
                                          <p:attrName>style.visibility</p:attrName>
                                        </p:attrNameLst>
                                      </p:cBhvr>
                                      <p:to>
                                        <p:strVal val="visible"/>
                                      </p:to>
                                    </p:set>
                                    <p:animEffect transition="in" filter="dissolve">
                                      <p:cBhvr>
                                        <p:cTn id="22" dur="500"/>
                                        <p:tgtEl>
                                          <p:spTgt spid="53251">
                                            <p:txEl>
                                              <p:charRg st="191" end="2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反码</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54275" name="Rectangle 3"/>
          <p:cNvSpPr>
            <a:spLocks noGrp="1"/>
          </p:cNvSpPr>
          <p:nvPr>
            <p:ph idx="1"/>
          </p:nvPr>
        </p:nvSpPr>
        <p:spPr>
          <a:xfrm>
            <a:off x="395288" y="1773238"/>
            <a:ext cx="8270875" cy="4679950"/>
          </a:xfrm>
        </p:spPr>
        <p:txBody>
          <a:bodyPr vert="horz" wrap="square" lIns="91440" tIns="45720" rIns="91440" bIns="45720" anchor="t" anchorCtr="0"/>
          <a:p>
            <a:pPr eaLnBrk="1" hangingPunct="1"/>
            <a:r>
              <a:rPr lang="zh-CN" altLang="en-US" b="1" dirty="0">
                <a:solidFill>
                  <a:schemeClr val="hlink"/>
                </a:solidFill>
              </a:rPr>
              <a:t>正数的反码表示与原码相同，负数的反码则是原码的数值位按位取反</a:t>
            </a:r>
            <a:r>
              <a:rPr lang="zh-CN" altLang="en-US" b="1" dirty="0"/>
              <a:t>。</a:t>
            </a:r>
            <a:endParaRPr lang="zh-CN" altLang="en-US" b="1" dirty="0"/>
          </a:p>
          <a:p>
            <a:pPr eaLnBrk="1" hangingPunct="1"/>
            <a:r>
              <a:rPr lang="zh-CN" altLang="en-US" dirty="0"/>
              <a:t>若</a:t>
            </a:r>
            <a:r>
              <a:rPr lang="en-US" altLang="zh-CN" dirty="0"/>
              <a:t>X=+99</a:t>
            </a:r>
            <a:r>
              <a:rPr lang="zh-CN" altLang="en-US" dirty="0"/>
              <a:t>，则</a:t>
            </a:r>
            <a:r>
              <a:rPr lang="en-US" altLang="zh-CN" dirty="0"/>
              <a:t>[X]</a:t>
            </a:r>
            <a:r>
              <a:rPr lang="zh-CN" altLang="en-US" baseline="-25000" dirty="0"/>
              <a:t>反</a:t>
            </a:r>
            <a:r>
              <a:rPr lang="zh-CN" altLang="en-US" dirty="0"/>
              <a:t>＝</a:t>
            </a:r>
            <a:r>
              <a:rPr lang="en-US" altLang="zh-CN" u="sng" dirty="0"/>
              <a:t>0</a:t>
            </a:r>
            <a:r>
              <a:rPr lang="en-US" altLang="zh-CN" dirty="0"/>
              <a:t> 1100011B</a:t>
            </a:r>
            <a:br>
              <a:rPr lang="en-US" altLang="zh-CN" dirty="0"/>
            </a:br>
            <a:r>
              <a:rPr lang="zh-CN" altLang="en-US" dirty="0"/>
              <a:t>若</a:t>
            </a:r>
            <a:r>
              <a:rPr lang="en-US" altLang="zh-CN" dirty="0"/>
              <a:t>X= -99</a:t>
            </a:r>
            <a:r>
              <a:rPr lang="zh-CN" altLang="en-US" dirty="0"/>
              <a:t>，则</a:t>
            </a:r>
            <a:r>
              <a:rPr lang="en-US" altLang="zh-CN" dirty="0"/>
              <a:t>[X]</a:t>
            </a:r>
            <a:r>
              <a:rPr lang="zh-CN" altLang="en-US" baseline="-25000" dirty="0"/>
              <a:t>反</a:t>
            </a:r>
            <a:r>
              <a:rPr lang="zh-CN" altLang="en-US" dirty="0"/>
              <a:t>＝</a:t>
            </a:r>
            <a:r>
              <a:rPr lang="en-US" altLang="zh-CN" u="sng" dirty="0"/>
              <a:t>1</a:t>
            </a:r>
            <a:r>
              <a:rPr lang="en-US" altLang="zh-CN" dirty="0"/>
              <a:t> 0011100B</a:t>
            </a:r>
            <a:endParaRPr lang="en-US" altLang="zh-CN" dirty="0"/>
          </a:p>
          <a:p>
            <a:pPr eaLnBrk="1" hangingPunct="1"/>
            <a:r>
              <a:rPr lang="en-US" altLang="zh-CN" dirty="0"/>
              <a:t>[+0]</a:t>
            </a:r>
            <a:r>
              <a:rPr lang="zh-CN" altLang="en-US" baseline="-25000" dirty="0"/>
              <a:t>反</a:t>
            </a:r>
            <a:r>
              <a:rPr lang="en-US" altLang="zh-CN" dirty="0"/>
              <a:t>=</a:t>
            </a:r>
            <a:r>
              <a:rPr lang="en-US" altLang="zh-CN" u="sng" dirty="0"/>
              <a:t>0</a:t>
            </a:r>
            <a:r>
              <a:rPr lang="en-US" altLang="zh-CN" dirty="0"/>
              <a:t> 0000000B</a:t>
            </a:r>
            <a:br>
              <a:rPr lang="en-US" altLang="zh-CN" dirty="0"/>
            </a:br>
            <a:r>
              <a:rPr lang="en-US" altLang="zh-CN" dirty="0"/>
              <a:t>[ -0]</a:t>
            </a:r>
            <a:r>
              <a:rPr lang="zh-CN" altLang="en-US" baseline="-25000" dirty="0"/>
              <a:t>反</a:t>
            </a:r>
            <a:r>
              <a:rPr lang="en-US" altLang="zh-CN" dirty="0"/>
              <a:t>=</a:t>
            </a:r>
            <a:r>
              <a:rPr lang="en-US" altLang="zh-CN" u="sng" dirty="0"/>
              <a:t>1</a:t>
            </a:r>
            <a:r>
              <a:rPr lang="en-US" altLang="zh-CN" dirty="0"/>
              <a:t> 1111111B</a:t>
            </a:r>
            <a:endParaRPr lang="en-US" altLang="zh-CN" dirty="0"/>
          </a:p>
          <a:p>
            <a:pPr eaLnBrk="1" hangingPunct="1"/>
            <a:r>
              <a:rPr lang="zh-CN" altLang="en-US" dirty="0"/>
              <a:t>字长为</a:t>
            </a:r>
            <a:r>
              <a:rPr lang="en-US" altLang="zh-CN" dirty="0"/>
              <a:t>n</a:t>
            </a:r>
            <a:r>
              <a:rPr lang="zh-CN" altLang="en-US" dirty="0"/>
              <a:t>位的反码的表数范围和其原码相同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4275">
                                            <p:txEl>
                                              <p:charRg st="0" end="32"/>
                                            </p:txEl>
                                          </p:spTgt>
                                        </p:tgtEl>
                                        <p:attrNameLst>
                                          <p:attrName>style.visibility</p:attrName>
                                        </p:attrNameLst>
                                      </p:cBhvr>
                                      <p:to>
                                        <p:strVal val="visible"/>
                                      </p:to>
                                    </p:set>
                                    <p:animEffect transition="in" filter="wipe(left)">
                                      <p:cBhvr>
                                        <p:cTn id="7" dur="500"/>
                                        <p:tgtEl>
                                          <p:spTgt spid="54275">
                                            <p:txEl>
                                              <p:charRg st="0" end="3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4275">
                                            <p:txEl>
                                              <p:charRg st="32" end="81"/>
                                            </p:txEl>
                                          </p:spTgt>
                                        </p:tgtEl>
                                        <p:attrNameLst>
                                          <p:attrName>style.visibility</p:attrName>
                                        </p:attrNameLst>
                                      </p:cBhvr>
                                      <p:to>
                                        <p:strVal val="visible"/>
                                      </p:to>
                                    </p:set>
                                    <p:animEffect transition="in" filter="wipe(left)">
                                      <p:cBhvr>
                                        <p:cTn id="12" dur="500"/>
                                        <p:tgtEl>
                                          <p:spTgt spid="54275">
                                            <p:txEl>
                                              <p:charRg st="32" end="8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4275">
                                            <p:txEl>
                                              <p:charRg st="81" end="116"/>
                                            </p:txEl>
                                          </p:spTgt>
                                        </p:tgtEl>
                                        <p:attrNameLst>
                                          <p:attrName>style.visibility</p:attrName>
                                        </p:attrNameLst>
                                      </p:cBhvr>
                                      <p:to>
                                        <p:strVal val="visible"/>
                                      </p:to>
                                    </p:set>
                                    <p:animEffect transition="in" filter="wipe(left)">
                                      <p:cBhvr>
                                        <p:cTn id="17" dur="500"/>
                                        <p:tgtEl>
                                          <p:spTgt spid="54275">
                                            <p:txEl>
                                              <p:charRg st="81" end="1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4275">
                                            <p:txEl>
                                              <p:charRg st="116" end="137"/>
                                            </p:txEl>
                                          </p:spTgt>
                                        </p:tgtEl>
                                        <p:attrNameLst>
                                          <p:attrName>style.visibility</p:attrName>
                                        </p:attrNameLst>
                                      </p:cBhvr>
                                      <p:to>
                                        <p:strVal val="visible"/>
                                      </p:to>
                                    </p:set>
                                    <p:animEffect transition="in" filter="wipe(left)">
                                      <p:cBhvr>
                                        <p:cTn id="22" dur="500"/>
                                        <p:tgtEl>
                                          <p:spTgt spid="54275">
                                            <p:txEl>
                                              <p:charRg st="116" end="13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补码</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55299" name="Rectangle 3"/>
          <p:cNvSpPr>
            <a:spLocks noGrp="1"/>
          </p:cNvSpPr>
          <p:nvPr>
            <p:ph idx="1"/>
          </p:nvPr>
        </p:nvSpPr>
        <p:spPr>
          <a:xfrm>
            <a:off x="468313" y="1916113"/>
            <a:ext cx="8066087" cy="4540250"/>
          </a:xfrm>
        </p:spPr>
        <p:txBody>
          <a:bodyPr vert="horz" wrap="square" lIns="91440" tIns="45720" rIns="91440" bIns="45720" anchor="t" anchorCtr="0"/>
          <a:p>
            <a:pPr eaLnBrk="1" hangingPunct="1">
              <a:lnSpc>
                <a:spcPct val="80000"/>
              </a:lnSpc>
            </a:pPr>
            <a:r>
              <a:rPr lang="zh-CN" altLang="en-US" b="1" dirty="0">
                <a:solidFill>
                  <a:schemeClr val="hlink"/>
                </a:solidFill>
              </a:rPr>
              <a:t>正数的补码表示与原码相同，负数的补码则是原码的数值位按位取反，再末位加</a:t>
            </a:r>
            <a:r>
              <a:rPr lang="en-US" altLang="zh-CN" b="1" dirty="0">
                <a:solidFill>
                  <a:schemeClr val="hlink"/>
                </a:solidFill>
              </a:rPr>
              <a:t>1</a:t>
            </a:r>
            <a:r>
              <a:rPr lang="zh-CN" altLang="en-US" b="1" dirty="0"/>
              <a:t>。</a:t>
            </a:r>
            <a:endParaRPr lang="zh-CN" altLang="en-US" b="1" dirty="0"/>
          </a:p>
          <a:p>
            <a:pPr eaLnBrk="1" hangingPunct="1">
              <a:lnSpc>
                <a:spcPct val="80000"/>
              </a:lnSpc>
            </a:pPr>
            <a:r>
              <a:rPr lang="zh-CN" altLang="en-US" dirty="0"/>
              <a:t>若</a:t>
            </a:r>
            <a:r>
              <a:rPr lang="en-US" altLang="zh-CN" dirty="0"/>
              <a:t>X=+99</a:t>
            </a:r>
            <a:r>
              <a:rPr lang="zh-CN" altLang="en-US" dirty="0"/>
              <a:t>，则</a:t>
            </a:r>
            <a:r>
              <a:rPr lang="en-US" altLang="zh-CN" dirty="0"/>
              <a:t>[X]</a:t>
            </a:r>
            <a:r>
              <a:rPr lang="zh-CN" altLang="en-US" baseline="-25000" dirty="0"/>
              <a:t>补</a:t>
            </a:r>
            <a:r>
              <a:rPr lang="zh-CN" altLang="en-US" dirty="0"/>
              <a:t>＝</a:t>
            </a:r>
            <a:r>
              <a:rPr lang="en-US" altLang="zh-CN" u="sng" dirty="0"/>
              <a:t>0</a:t>
            </a:r>
            <a:r>
              <a:rPr lang="en-US" altLang="zh-CN" dirty="0"/>
              <a:t> 1100011</a:t>
            </a:r>
            <a:br>
              <a:rPr lang="en-US" altLang="zh-CN" dirty="0"/>
            </a:br>
            <a:r>
              <a:rPr lang="zh-CN" altLang="en-US" dirty="0"/>
              <a:t>若</a:t>
            </a:r>
            <a:r>
              <a:rPr lang="en-US" altLang="zh-CN" dirty="0"/>
              <a:t>X= -99</a:t>
            </a:r>
            <a:r>
              <a:rPr lang="zh-CN" altLang="en-US" dirty="0"/>
              <a:t>，则</a:t>
            </a:r>
            <a:r>
              <a:rPr lang="en-US" altLang="zh-CN" dirty="0"/>
              <a:t>[X]</a:t>
            </a:r>
            <a:r>
              <a:rPr lang="zh-CN" altLang="en-US" baseline="-25000" dirty="0"/>
              <a:t>补</a:t>
            </a:r>
            <a:r>
              <a:rPr lang="zh-CN" altLang="en-US" dirty="0"/>
              <a:t>＝</a:t>
            </a:r>
            <a:r>
              <a:rPr lang="en-US" altLang="zh-CN" u="sng" dirty="0"/>
              <a:t>1</a:t>
            </a:r>
            <a:r>
              <a:rPr lang="en-US" altLang="zh-CN" dirty="0"/>
              <a:t> 0011101</a:t>
            </a:r>
            <a:endParaRPr lang="en-US" altLang="zh-CN" dirty="0"/>
          </a:p>
          <a:p>
            <a:pPr eaLnBrk="1" hangingPunct="1">
              <a:lnSpc>
                <a:spcPct val="80000"/>
              </a:lnSpc>
            </a:pPr>
            <a:r>
              <a:rPr lang="zh-CN" altLang="en-US" dirty="0"/>
              <a:t>注意：若</a:t>
            </a:r>
            <a:r>
              <a:rPr lang="en-US" altLang="zh-CN" dirty="0"/>
              <a:t>X=-128</a:t>
            </a:r>
            <a:r>
              <a:rPr lang="zh-CN" altLang="en-US" dirty="0"/>
              <a:t>，则</a:t>
            </a:r>
            <a:r>
              <a:rPr lang="en-US" altLang="zh-CN" dirty="0"/>
              <a:t>[X]</a:t>
            </a:r>
            <a:r>
              <a:rPr lang="zh-CN" altLang="en-US" baseline="-25000" dirty="0"/>
              <a:t>补</a:t>
            </a:r>
            <a:r>
              <a:rPr lang="zh-CN" altLang="en-US" dirty="0"/>
              <a:t>＝</a:t>
            </a:r>
            <a:r>
              <a:rPr lang="en-US" altLang="zh-CN" u="sng" dirty="0"/>
              <a:t>1</a:t>
            </a:r>
            <a:r>
              <a:rPr lang="en-US" altLang="zh-CN" dirty="0"/>
              <a:t> 0000000</a:t>
            </a:r>
            <a:endParaRPr lang="en-US" altLang="zh-CN" dirty="0"/>
          </a:p>
          <a:p>
            <a:pPr eaLnBrk="1" hangingPunct="1">
              <a:lnSpc>
                <a:spcPct val="80000"/>
              </a:lnSpc>
            </a:pPr>
            <a:r>
              <a:rPr lang="en-US" altLang="zh-CN" dirty="0"/>
              <a:t>[+0]</a:t>
            </a:r>
            <a:r>
              <a:rPr lang="zh-CN" altLang="en-US" baseline="-25000" dirty="0"/>
              <a:t>补</a:t>
            </a:r>
            <a:r>
              <a:rPr lang="zh-CN" altLang="en-US" dirty="0"/>
              <a:t>＝</a:t>
            </a:r>
            <a:r>
              <a:rPr lang="en-US" altLang="zh-CN" dirty="0"/>
              <a:t>[-0]</a:t>
            </a:r>
            <a:r>
              <a:rPr lang="zh-CN" altLang="en-US" baseline="-25000" dirty="0"/>
              <a:t>补</a:t>
            </a:r>
            <a:r>
              <a:rPr lang="en-US" altLang="zh-CN" dirty="0"/>
              <a:t>=</a:t>
            </a:r>
            <a:r>
              <a:rPr lang="en-US" altLang="zh-CN" u="sng" dirty="0"/>
              <a:t>0</a:t>
            </a:r>
            <a:r>
              <a:rPr lang="en-US" altLang="zh-CN" dirty="0"/>
              <a:t> 0000000</a:t>
            </a:r>
            <a:endParaRPr lang="en-US" altLang="zh-CN" dirty="0"/>
          </a:p>
          <a:p>
            <a:pPr eaLnBrk="1" hangingPunct="1">
              <a:lnSpc>
                <a:spcPct val="80000"/>
              </a:lnSpc>
            </a:pPr>
            <a:r>
              <a:rPr lang="en-US" altLang="zh-CN" dirty="0"/>
              <a:t>8</a:t>
            </a:r>
            <a:r>
              <a:rPr lang="zh-CN" altLang="en-US" dirty="0"/>
              <a:t>位补码表示的整数的范围为：</a:t>
            </a:r>
            <a:br>
              <a:rPr lang="zh-CN" altLang="en-US" dirty="0"/>
            </a:br>
            <a:r>
              <a:rPr lang="zh-CN" altLang="en-US" dirty="0"/>
              <a:t> </a:t>
            </a:r>
            <a:r>
              <a:rPr lang="en-US" altLang="zh-CN" dirty="0"/>
              <a:t>-128 ~ +127</a:t>
            </a:r>
            <a:br>
              <a:rPr lang="en-US" altLang="zh-CN" dirty="0"/>
            </a:br>
            <a:r>
              <a:rPr lang="en-US" altLang="zh-CN" dirty="0"/>
              <a:t>8</a:t>
            </a:r>
            <a:r>
              <a:rPr lang="zh-CN" altLang="en-US" dirty="0"/>
              <a:t>位补码表示的小数的范围为：</a:t>
            </a:r>
            <a:br>
              <a:rPr lang="zh-CN" altLang="en-US" dirty="0"/>
            </a:br>
            <a:r>
              <a:rPr lang="zh-CN" altLang="en-US" dirty="0"/>
              <a:t> </a:t>
            </a:r>
            <a:r>
              <a:rPr lang="en-US" altLang="zh-CN" dirty="0"/>
              <a:t>-1 ~ +(1-2</a:t>
            </a:r>
            <a:r>
              <a:rPr lang="en-US" altLang="zh-CN" baseline="30000" dirty="0"/>
              <a:t>-7</a:t>
            </a:r>
            <a:r>
              <a:rPr lang="en-US" altLang="zh-CN" dirty="0"/>
              <a:t>)</a:t>
            </a:r>
            <a:r>
              <a:rPr lang="zh-CN" altLang="en-US" dirty="0"/>
              <a:t>。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55299">
                                            <p:txEl>
                                              <p:charRg st="0" end="38"/>
                                            </p:txEl>
                                          </p:spTgt>
                                        </p:tgtEl>
                                        <p:attrNameLst>
                                          <p:attrName>style.visibility</p:attrName>
                                        </p:attrNameLst>
                                      </p:cBhvr>
                                      <p:to>
                                        <p:strVal val="visible"/>
                                      </p:to>
                                    </p:set>
                                    <p:animEffect transition="in" filter="barn(outVertical)">
                                      <p:cBhvr>
                                        <p:cTn id="7" dur="500"/>
                                        <p:tgtEl>
                                          <p:spTgt spid="55299">
                                            <p:txEl>
                                              <p:charRg st="0" end="38"/>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37" fill="hold" grpId="0" nodeType="clickEffect">
                                  <p:stCondLst>
                                    <p:cond delay="0"/>
                                  </p:stCondLst>
                                  <p:childTnLst>
                                    <p:set>
                                      <p:cBhvr>
                                        <p:cTn id="11" dur="1" fill="hold">
                                          <p:stCondLst>
                                            <p:cond delay="0"/>
                                          </p:stCondLst>
                                        </p:cTn>
                                        <p:tgtEl>
                                          <p:spTgt spid="55299">
                                            <p:txEl>
                                              <p:charRg st="38" end="85"/>
                                            </p:txEl>
                                          </p:spTgt>
                                        </p:tgtEl>
                                        <p:attrNameLst>
                                          <p:attrName>style.visibility</p:attrName>
                                        </p:attrNameLst>
                                      </p:cBhvr>
                                      <p:to>
                                        <p:strVal val="visible"/>
                                      </p:to>
                                    </p:set>
                                    <p:animEffect transition="in" filter="barn(outVertical)">
                                      <p:cBhvr>
                                        <p:cTn id="12" dur="500"/>
                                        <p:tgtEl>
                                          <p:spTgt spid="55299">
                                            <p:txEl>
                                              <p:charRg st="38" end="8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grpId="0" nodeType="clickEffect">
                                  <p:stCondLst>
                                    <p:cond delay="0"/>
                                  </p:stCondLst>
                                  <p:childTnLst>
                                    <p:set>
                                      <p:cBhvr>
                                        <p:cTn id="16" dur="1" fill="hold">
                                          <p:stCondLst>
                                            <p:cond delay="0"/>
                                          </p:stCondLst>
                                        </p:cTn>
                                        <p:tgtEl>
                                          <p:spTgt spid="55299">
                                            <p:txEl>
                                              <p:charRg st="85" end="112"/>
                                            </p:txEl>
                                          </p:spTgt>
                                        </p:tgtEl>
                                        <p:attrNameLst>
                                          <p:attrName>style.visibility</p:attrName>
                                        </p:attrNameLst>
                                      </p:cBhvr>
                                      <p:to>
                                        <p:strVal val="visible"/>
                                      </p:to>
                                    </p:set>
                                    <p:animEffect transition="in" filter="barn(outVertical)">
                                      <p:cBhvr>
                                        <p:cTn id="17" dur="500"/>
                                        <p:tgtEl>
                                          <p:spTgt spid="55299">
                                            <p:txEl>
                                              <p:charRg st="85" end="11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55299">
                                            <p:txEl>
                                              <p:charRg st="112" end="134"/>
                                            </p:txEl>
                                          </p:spTgt>
                                        </p:tgtEl>
                                        <p:attrNameLst>
                                          <p:attrName>style.visibility</p:attrName>
                                        </p:attrNameLst>
                                      </p:cBhvr>
                                      <p:to>
                                        <p:strVal val="visible"/>
                                      </p:to>
                                    </p:set>
                                    <p:animEffect transition="in" filter="barn(outVertical)">
                                      <p:cBhvr>
                                        <p:cTn id="22" dur="500"/>
                                        <p:tgtEl>
                                          <p:spTgt spid="55299">
                                            <p:txEl>
                                              <p:charRg st="112" end="13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55299">
                                            <p:txEl>
                                              <p:charRg st="134" end="194"/>
                                            </p:txEl>
                                          </p:spTgt>
                                        </p:tgtEl>
                                        <p:attrNameLst>
                                          <p:attrName>style.visibility</p:attrName>
                                        </p:attrNameLst>
                                      </p:cBhvr>
                                      <p:to>
                                        <p:strVal val="visible"/>
                                      </p:to>
                                    </p:set>
                                    <p:animEffect transition="in" filter="barn(outVertical)">
                                      <p:cBhvr>
                                        <p:cTn id="27" dur="500"/>
                                        <p:tgtEl>
                                          <p:spTgt spid="55299">
                                            <p:txEl>
                                              <p:charRg st="134" end="19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2.</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补码的加减运算</a:t>
            </a:r>
            <a:r>
              <a:rPr kumimoji="0" lang="zh-CN" altLang="en-US" sz="4400" b="1" i="0" u="none" strike="noStrike" kern="0" cap="none" spc="0" normalizeH="0" baseline="0" noProof="0">
                <a:ln>
                  <a:noFill/>
                </a:ln>
                <a:solidFill>
                  <a:schemeClr val="tx1"/>
                </a:solidFill>
                <a:effectLst/>
                <a:uLnTx/>
                <a:uFillTx/>
                <a:latin typeface="+mj-lt"/>
                <a:ea typeface="+mj-ea"/>
                <a:cs typeface="+mj-cs"/>
              </a:rPr>
              <a:t> </a:t>
            </a:r>
            <a:endParaRPr kumimoji="0" lang="zh-CN" altLang="en-US" sz="4400" b="1" i="0" u="none" strike="noStrike" kern="0" cap="none" spc="0" normalizeH="0" baseline="0" noProof="0">
              <a:ln>
                <a:noFill/>
              </a:ln>
              <a:solidFill>
                <a:schemeClr val="tx1"/>
              </a:solidFill>
              <a:effectLst/>
              <a:uLnTx/>
              <a:uFillTx/>
              <a:latin typeface="+mj-lt"/>
              <a:ea typeface="+mj-ea"/>
              <a:cs typeface="+mj-cs"/>
            </a:endParaRPr>
          </a:p>
        </p:txBody>
      </p:sp>
      <p:sp>
        <p:nvSpPr>
          <p:cNvPr id="56323" name="Rectangle 3"/>
          <p:cNvSpPr>
            <a:spLocks noGrp="1"/>
          </p:cNvSpPr>
          <p:nvPr>
            <p:ph idx="1"/>
          </p:nvPr>
        </p:nvSpPr>
        <p:spPr>
          <a:xfrm>
            <a:off x="468313" y="1916113"/>
            <a:ext cx="8207375" cy="4114800"/>
          </a:xfrm>
        </p:spPr>
        <p:txBody>
          <a:bodyPr vert="horz" wrap="square" lIns="91440" tIns="45720" rIns="91440" bIns="45720" anchor="t" anchorCtr="0"/>
          <a:p>
            <a:pPr eaLnBrk="1" hangingPunct="1"/>
            <a:r>
              <a:rPr lang="zh-CN" altLang="en-US" dirty="0"/>
              <a:t>在进行补码加减运算时，符号位和数值位一起参加运算，并且可以把减法运算转化为负数补码的加法运算。 </a:t>
            </a:r>
            <a:endParaRPr lang="zh-CN" altLang="en-US" dirty="0"/>
          </a:p>
          <a:p>
            <a:pPr eaLnBrk="1" hangingPunct="1"/>
            <a:r>
              <a:rPr lang="zh-CN" altLang="en-US" dirty="0"/>
              <a:t>补码的</a:t>
            </a:r>
            <a:r>
              <a:rPr lang="zh-CN" altLang="en-US" b="1" dirty="0">
                <a:solidFill>
                  <a:schemeClr val="folHlink"/>
                </a:solidFill>
              </a:rPr>
              <a:t>加减运算规则</a:t>
            </a:r>
            <a:r>
              <a:rPr lang="zh-CN" altLang="en-US" dirty="0"/>
              <a:t>：</a:t>
            </a:r>
            <a:endParaRPr lang="zh-CN" altLang="en-US" dirty="0"/>
          </a:p>
          <a:p>
            <a:pPr eaLnBrk="1" hangingPunct="1">
              <a:buNone/>
            </a:pPr>
            <a:r>
              <a:rPr lang="zh-CN" altLang="en-US" dirty="0"/>
              <a:t>    </a:t>
            </a:r>
            <a:r>
              <a:rPr lang="en-US" altLang="zh-CN" dirty="0"/>
              <a:t>[X+Y]</a:t>
            </a:r>
            <a:r>
              <a:rPr lang="zh-CN" altLang="en-US" baseline="-25000" dirty="0"/>
              <a:t>补</a:t>
            </a:r>
            <a:r>
              <a:rPr lang="en-US" altLang="zh-CN" dirty="0"/>
              <a:t>=[X]</a:t>
            </a:r>
            <a:r>
              <a:rPr lang="zh-CN" altLang="en-US" baseline="-25000" dirty="0"/>
              <a:t>补</a:t>
            </a:r>
            <a:r>
              <a:rPr lang="en-US" altLang="zh-CN" dirty="0"/>
              <a:t>+[Y]</a:t>
            </a:r>
            <a:r>
              <a:rPr lang="zh-CN" altLang="en-US" baseline="-25000" dirty="0"/>
              <a:t>补</a:t>
            </a:r>
            <a:r>
              <a:rPr lang="zh-CN" altLang="en-US" dirty="0"/>
              <a:t>；</a:t>
            </a:r>
            <a:endParaRPr lang="zh-CN" altLang="en-US" dirty="0"/>
          </a:p>
          <a:p>
            <a:pPr eaLnBrk="1" hangingPunct="1">
              <a:buNone/>
            </a:pPr>
            <a:r>
              <a:rPr lang="zh-CN" altLang="en-US" dirty="0"/>
              <a:t>    </a:t>
            </a:r>
            <a:r>
              <a:rPr lang="en-US" altLang="zh-CN" dirty="0"/>
              <a:t>[X-Y]</a:t>
            </a:r>
            <a:r>
              <a:rPr lang="zh-CN" altLang="en-US" baseline="-25000" dirty="0"/>
              <a:t>补</a:t>
            </a:r>
            <a:r>
              <a:rPr lang="en-US" altLang="zh-CN" dirty="0"/>
              <a:t>=[X]</a:t>
            </a:r>
            <a:r>
              <a:rPr lang="zh-CN" altLang="en-US" baseline="-25000" dirty="0"/>
              <a:t>补</a:t>
            </a:r>
            <a:r>
              <a:rPr lang="en-US" altLang="zh-CN" dirty="0"/>
              <a:t>+[-Y]</a:t>
            </a:r>
            <a:r>
              <a:rPr lang="zh-CN" altLang="en-US" baseline="-25000" dirty="0"/>
              <a:t>补</a:t>
            </a:r>
            <a:r>
              <a:rPr lang="zh-CN" altLang="en-US" dirty="0"/>
              <a:t>；</a:t>
            </a:r>
            <a:endParaRPr lang="zh-CN" altLang="en-US" dirty="0"/>
          </a:p>
          <a:p>
            <a:pPr eaLnBrk="1" hangingPunct="1">
              <a:buNone/>
            </a:pPr>
            <a:r>
              <a:rPr lang="zh-CN" altLang="en-US" dirty="0"/>
              <a:t>            其中：</a:t>
            </a:r>
            <a:r>
              <a:rPr lang="en-US" altLang="zh-CN" dirty="0"/>
              <a:t>[-Y]</a:t>
            </a:r>
            <a:r>
              <a:rPr lang="zh-CN" altLang="en-US" baseline="-25000" dirty="0"/>
              <a:t>补</a:t>
            </a:r>
            <a:r>
              <a:rPr lang="en-US" altLang="zh-CN" dirty="0"/>
              <a:t>=[Y]</a:t>
            </a:r>
            <a:r>
              <a:rPr lang="zh-CN" altLang="en-US" baseline="-25000" dirty="0"/>
              <a:t>补</a:t>
            </a:r>
            <a:r>
              <a:rPr lang="zh-CN" altLang="en-US" dirty="0"/>
              <a:t>各位取反</a:t>
            </a:r>
            <a:r>
              <a:rPr lang="en-US" altLang="zh-CN" dirty="0"/>
              <a:t>+</a:t>
            </a:r>
            <a:r>
              <a:rPr lang="zh-CN" altLang="en-US" dirty="0"/>
              <a:t>末位</a:t>
            </a:r>
            <a:r>
              <a:rPr lang="en-US" altLang="zh-CN" dirty="0"/>
              <a:t>1</a:t>
            </a:r>
            <a:r>
              <a:rPr lang="zh-CN" altLang="en-US" dirty="0"/>
              <a:t>。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3">
                                            <p:txEl>
                                              <p:charRg st="0" end="49"/>
                                            </p:txEl>
                                          </p:spTgt>
                                        </p:tgtEl>
                                        <p:attrNameLst>
                                          <p:attrName>style.visibility</p:attrName>
                                        </p:attrNameLst>
                                      </p:cBhvr>
                                      <p:to>
                                        <p:strVal val="visible"/>
                                      </p:to>
                                    </p:set>
                                    <p:anim calcmode="lin" valueType="num">
                                      <p:cBhvr additive="base">
                                        <p:cTn id="7" dur="500" fill="hold"/>
                                        <p:tgtEl>
                                          <p:spTgt spid="56323">
                                            <p:txEl>
                                              <p:charRg st="0" end="4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charRg st="0" end="49"/>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6323">
                                            <p:txEl>
                                              <p:charRg st="49" end="60"/>
                                            </p:txEl>
                                          </p:spTgt>
                                        </p:tgtEl>
                                        <p:attrNameLst>
                                          <p:attrName>style.visibility</p:attrName>
                                        </p:attrNameLst>
                                      </p:cBhvr>
                                      <p:to>
                                        <p:strVal val="visible"/>
                                      </p:to>
                                    </p:set>
                                    <p:anim calcmode="lin" valueType="num">
                                      <p:cBhvr additive="base">
                                        <p:cTn id="13" dur="500" fill="hold"/>
                                        <p:tgtEl>
                                          <p:spTgt spid="56323">
                                            <p:txEl>
                                              <p:charRg st="49" end="6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3">
                                            <p:txEl>
                                              <p:charRg st="49" end="6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6323">
                                            <p:txEl>
                                              <p:charRg st="60" end="82"/>
                                            </p:txEl>
                                          </p:spTgt>
                                        </p:tgtEl>
                                        <p:attrNameLst>
                                          <p:attrName>style.visibility</p:attrName>
                                        </p:attrNameLst>
                                      </p:cBhvr>
                                      <p:to>
                                        <p:strVal val="visible"/>
                                      </p:to>
                                    </p:set>
                                    <p:anim calcmode="lin" valueType="num">
                                      <p:cBhvr additive="base">
                                        <p:cTn id="19" dur="500" fill="hold"/>
                                        <p:tgtEl>
                                          <p:spTgt spid="56323">
                                            <p:txEl>
                                              <p:charRg st="60" end="8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3">
                                            <p:txEl>
                                              <p:charRg st="60" end="8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6323">
                                            <p:txEl>
                                              <p:charRg st="82" end="105"/>
                                            </p:txEl>
                                          </p:spTgt>
                                        </p:tgtEl>
                                        <p:attrNameLst>
                                          <p:attrName>style.visibility</p:attrName>
                                        </p:attrNameLst>
                                      </p:cBhvr>
                                      <p:to>
                                        <p:strVal val="visible"/>
                                      </p:to>
                                    </p:set>
                                    <p:anim calcmode="lin" valueType="num">
                                      <p:cBhvr additive="base">
                                        <p:cTn id="25" dur="500" fill="hold"/>
                                        <p:tgtEl>
                                          <p:spTgt spid="56323">
                                            <p:txEl>
                                              <p:charRg st="82" end="10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6323">
                                            <p:txEl>
                                              <p:charRg st="82" end="10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6323">
                                            <p:txEl>
                                              <p:charRg st="105" end="141"/>
                                            </p:txEl>
                                          </p:spTgt>
                                        </p:tgtEl>
                                        <p:attrNameLst>
                                          <p:attrName>style.visibility</p:attrName>
                                        </p:attrNameLst>
                                      </p:cBhvr>
                                      <p:to>
                                        <p:strVal val="visible"/>
                                      </p:to>
                                    </p:set>
                                    <p:anim calcmode="lin" valueType="num">
                                      <p:cBhvr additive="base">
                                        <p:cTn id="31" dur="500" fill="hold"/>
                                        <p:tgtEl>
                                          <p:spTgt spid="56323">
                                            <p:txEl>
                                              <p:charRg st="105" end="14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6323">
                                            <p:txEl>
                                              <p:charRg st="105" end="14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例</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1.3</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57347" name="Rectangle 3"/>
          <p:cNvSpPr>
            <a:spLocks noGrp="1"/>
          </p:cNvSpPr>
          <p:nvPr>
            <p:ph idx="1"/>
          </p:nvPr>
        </p:nvSpPr>
        <p:spPr>
          <a:xfrm>
            <a:off x="611188" y="2060575"/>
            <a:ext cx="7772400" cy="4114800"/>
          </a:xfrm>
        </p:spPr>
        <p:txBody>
          <a:bodyPr vert="horz" wrap="square" lIns="91440" tIns="45720" rIns="91440" bIns="45720" anchor="t" anchorCtr="0"/>
          <a:p>
            <a:pPr eaLnBrk="1" hangingPunct="1">
              <a:lnSpc>
                <a:spcPct val="90000"/>
              </a:lnSpc>
              <a:buNone/>
            </a:pPr>
            <a:r>
              <a:rPr lang="zh-CN" altLang="en-US" sz="2400" dirty="0">
                <a:ea typeface="宋体" panose="02010600030101010101" pitchFamily="2" charset="-122"/>
              </a:rPr>
              <a:t>设字长为</a:t>
            </a:r>
            <a:r>
              <a:rPr lang="en-US" altLang="zh-CN" sz="2400" dirty="0">
                <a:ea typeface="宋体" panose="02010600030101010101" pitchFamily="2" charset="-122"/>
              </a:rPr>
              <a:t>8</a:t>
            </a:r>
            <a:r>
              <a:rPr lang="zh-CN" altLang="en-US" sz="2400" dirty="0">
                <a:ea typeface="宋体" panose="02010600030101010101" pitchFamily="2" charset="-122"/>
              </a:rPr>
              <a:t>位，</a:t>
            </a:r>
            <a:r>
              <a:rPr lang="en-US" altLang="zh-CN" sz="2400" dirty="0">
                <a:ea typeface="宋体" panose="02010600030101010101" pitchFamily="2" charset="-122"/>
              </a:rPr>
              <a:t>X=+65</a:t>
            </a:r>
            <a:r>
              <a:rPr lang="zh-CN" altLang="en-US" sz="2400" dirty="0">
                <a:ea typeface="宋体" panose="02010600030101010101" pitchFamily="2" charset="-122"/>
              </a:rPr>
              <a:t>，</a:t>
            </a:r>
            <a:r>
              <a:rPr lang="en-US" altLang="zh-CN" sz="2400" dirty="0">
                <a:ea typeface="宋体" panose="02010600030101010101" pitchFamily="2" charset="-122"/>
              </a:rPr>
              <a:t>Y=+48</a:t>
            </a:r>
            <a:r>
              <a:rPr lang="zh-CN" altLang="en-US" sz="2400" dirty="0">
                <a:ea typeface="宋体" panose="02010600030101010101" pitchFamily="2" charset="-122"/>
              </a:rPr>
              <a:t>，计算</a:t>
            </a:r>
            <a:r>
              <a:rPr lang="en-US" altLang="zh-CN" sz="2400" dirty="0">
                <a:ea typeface="宋体" panose="02010600030101010101" pitchFamily="2" charset="-122"/>
              </a:rPr>
              <a:t>[X+Y]</a:t>
            </a:r>
            <a:r>
              <a:rPr lang="zh-CN" altLang="en-US" sz="2400" baseline="-25000" dirty="0">
                <a:ea typeface="宋体" panose="02010600030101010101" pitchFamily="2" charset="-122"/>
              </a:rPr>
              <a:t>补</a:t>
            </a:r>
            <a:r>
              <a:rPr lang="zh-CN" altLang="en-US" sz="2400" dirty="0">
                <a:ea typeface="宋体" panose="02010600030101010101" pitchFamily="2" charset="-122"/>
              </a:rPr>
              <a:t>、</a:t>
            </a:r>
            <a:r>
              <a:rPr lang="en-US" altLang="zh-CN" sz="2400" dirty="0">
                <a:ea typeface="宋体" panose="02010600030101010101" pitchFamily="2" charset="-122"/>
              </a:rPr>
              <a:t>[X-Y]</a:t>
            </a:r>
            <a:r>
              <a:rPr lang="zh-CN" altLang="en-US" sz="2400" baseline="-25000" dirty="0">
                <a:ea typeface="宋体" panose="02010600030101010101" pitchFamily="2" charset="-122"/>
              </a:rPr>
              <a:t>补</a:t>
            </a:r>
            <a:r>
              <a:rPr lang="zh-CN" altLang="en-US" sz="2400" dirty="0">
                <a:ea typeface="宋体" panose="02010600030101010101" pitchFamily="2" charset="-122"/>
              </a:rPr>
              <a:t>。</a:t>
            </a:r>
            <a:endParaRPr lang="zh-CN" altLang="en-US" sz="2400" dirty="0">
              <a:ea typeface="宋体" panose="02010600030101010101" pitchFamily="2" charset="-122"/>
            </a:endParaRPr>
          </a:p>
          <a:p>
            <a:pPr eaLnBrk="1" hangingPunct="1">
              <a:lnSpc>
                <a:spcPct val="90000"/>
              </a:lnSpc>
            </a:pPr>
            <a:r>
              <a:rPr lang="en-US" altLang="zh-CN" sz="2400" dirty="0"/>
              <a:t>X=+65=+1000001B</a:t>
            </a:r>
            <a:r>
              <a:rPr lang="zh-CN" altLang="en-US" sz="2400" dirty="0"/>
              <a:t>，</a:t>
            </a:r>
            <a:r>
              <a:rPr lang="en-US" altLang="zh-CN" sz="2400" dirty="0"/>
              <a:t>[X]</a:t>
            </a:r>
            <a:r>
              <a:rPr lang="zh-CN" altLang="en-US" sz="2400" baseline="-25000" dirty="0"/>
              <a:t>补</a:t>
            </a:r>
            <a:r>
              <a:rPr lang="en-US" altLang="zh-CN" sz="2400" dirty="0"/>
              <a:t>=0 1000001B</a:t>
            </a:r>
            <a:r>
              <a:rPr lang="zh-CN" altLang="en-US" sz="2400" dirty="0"/>
              <a:t>，</a:t>
            </a:r>
            <a:endParaRPr lang="zh-CN" altLang="en-US" sz="2400" dirty="0"/>
          </a:p>
          <a:p>
            <a:pPr eaLnBrk="1" hangingPunct="1">
              <a:lnSpc>
                <a:spcPct val="90000"/>
              </a:lnSpc>
              <a:buNone/>
            </a:pPr>
            <a:r>
              <a:rPr lang="zh-CN" altLang="en-US" sz="2400" dirty="0"/>
              <a:t>    </a:t>
            </a:r>
            <a:r>
              <a:rPr lang="en-US" altLang="zh-CN" sz="2400" dirty="0"/>
              <a:t>Y=+48=+110000B</a:t>
            </a:r>
            <a:r>
              <a:rPr lang="zh-CN" altLang="en-US" sz="2400" dirty="0"/>
              <a:t>，  </a:t>
            </a:r>
            <a:r>
              <a:rPr lang="en-US" altLang="zh-CN" sz="2400" dirty="0"/>
              <a:t>[Y]</a:t>
            </a:r>
            <a:r>
              <a:rPr lang="zh-CN" altLang="en-US" sz="2400" baseline="-25000" dirty="0"/>
              <a:t>补</a:t>
            </a:r>
            <a:r>
              <a:rPr lang="en-US" altLang="zh-CN" sz="2400" dirty="0"/>
              <a:t>=0 0110000B</a:t>
            </a:r>
            <a:r>
              <a:rPr lang="zh-CN" altLang="en-US" sz="2400" dirty="0"/>
              <a:t>，</a:t>
            </a:r>
            <a:endParaRPr lang="zh-CN" altLang="en-US" sz="2400" dirty="0"/>
          </a:p>
          <a:p>
            <a:pPr eaLnBrk="1" hangingPunct="1">
              <a:lnSpc>
                <a:spcPct val="90000"/>
              </a:lnSpc>
              <a:buNone/>
            </a:pPr>
            <a:r>
              <a:rPr lang="zh-CN" altLang="en-US" sz="2400" dirty="0"/>
              <a:t>    </a:t>
            </a:r>
            <a:r>
              <a:rPr lang="en-US" altLang="zh-CN" sz="2400" dirty="0"/>
              <a:t>[-Y] </a:t>
            </a:r>
            <a:r>
              <a:rPr lang="zh-CN" altLang="en-US" sz="2400" baseline="-25000" dirty="0"/>
              <a:t>补</a:t>
            </a:r>
            <a:r>
              <a:rPr lang="en-US" altLang="zh-CN" sz="2400" dirty="0"/>
              <a:t>= 1 1001111B+1=1 1010000B</a:t>
            </a:r>
            <a:endParaRPr lang="en-US" altLang="zh-CN" sz="2400" dirty="0"/>
          </a:p>
          <a:p>
            <a:pPr eaLnBrk="1" hangingPunct="1">
              <a:lnSpc>
                <a:spcPct val="90000"/>
              </a:lnSpc>
            </a:pPr>
            <a:r>
              <a:rPr lang="en-US" altLang="zh-CN" sz="2400" dirty="0"/>
              <a:t>       [X]</a:t>
            </a:r>
            <a:r>
              <a:rPr lang="zh-CN" altLang="en-US" sz="2400" baseline="-25000" dirty="0"/>
              <a:t>补</a:t>
            </a:r>
            <a:r>
              <a:rPr lang="zh-CN" altLang="en-US" sz="2400" dirty="0"/>
              <a:t>   </a:t>
            </a:r>
            <a:r>
              <a:rPr lang="en-US" altLang="zh-CN" sz="2400" dirty="0"/>
              <a:t>0 1000001B                [X]</a:t>
            </a:r>
            <a:r>
              <a:rPr lang="zh-CN" altLang="en-US" sz="2400" baseline="-25000" dirty="0"/>
              <a:t>补</a:t>
            </a:r>
            <a:r>
              <a:rPr lang="zh-CN" altLang="en-US" sz="2400" dirty="0"/>
              <a:t>     </a:t>
            </a:r>
            <a:r>
              <a:rPr lang="en-US" altLang="zh-CN" sz="2400" dirty="0"/>
              <a:t>0 1000001B</a:t>
            </a:r>
            <a:endParaRPr lang="en-US" altLang="zh-CN" sz="2400" u="sng" dirty="0"/>
          </a:p>
          <a:p>
            <a:pPr eaLnBrk="1" hangingPunct="1">
              <a:lnSpc>
                <a:spcPct val="90000"/>
              </a:lnSpc>
              <a:buNone/>
            </a:pPr>
            <a:r>
              <a:rPr lang="en-US" altLang="zh-CN" sz="2400" dirty="0"/>
              <a:t>      +   [Y]</a:t>
            </a:r>
            <a:r>
              <a:rPr lang="zh-CN" altLang="en-US" sz="2400" baseline="-25000" dirty="0"/>
              <a:t>补</a:t>
            </a:r>
            <a:r>
              <a:rPr lang="zh-CN" altLang="en-US" sz="2400" dirty="0"/>
              <a:t>   </a:t>
            </a:r>
            <a:r>
              <a:rPr lang="en-US" altLang="zh-CN" sz="2400" dirty="0"/>
              <a:t>0 0110000B           + [-Y]</a:t>
            </a:r>
            <a:r>
              <a:rPr lang="zh-CN" altLang="en-US" sz="2400" baseline="-25000" dirty="0"/>
              <a:t>补 </a:t>
            </a:r>
            <a:r>
              <a:rPr lang="zh-CN" altLang="en-US" sz="2400" dirty="0"/>
              <a:t>     </a:t>
            </a:r>
            <a:r>
              <a:rPr lang="en-US" altLang="zh-CN" sz="2400" dirty="0"/>
              <a:t>1 1010000B</a:t>
            </a:r>
            <a:endParaRPr lang="en-US" altLang="zh-CN" sz="2400" dirty="0"/>
          </a:p>
          <a:p>
            <a:pPr eaLnBrk="1" hangingPunct="1">
              <a:lnSpc>
                <a:spcPct val="90000"/>
              </a:lnSpc>
              <a:buNone/>
            </a:pPr>
            <a:r>
              <a:rPr lang="en-US" altLang="zh-CN" sz="2400" dirty="0"/>
              <a:t>      [X+Y]</a:t>
            </a:r>
            <a:r>
              <a:rPr lang="zh-CN" altLang="en-US" sz="2400" baseline="-25000" dirty="0"/>
              <a:t>补</a:t>
            </a:r>
            <a:r>
              <a:rPr lang="zh-CN" altLang="en-US" sz="2400" dirty="0"/>
              <a:t>   </a:t>
            </a:r>
            <a:r>
              <a:rPr lang="en-US" altLang="zh-CN" sz="2400" dirty="0"/>
              <a:t>0 1110001B              [X-Y]</a:t>
            </a:r>
            <a:r>
              <a:rPr lang="zh-CN" altLang="en-US" sz="2400" baseline="-25000" dirty="0"/>
              <a:t>补 </a:t>
            </a:r>
            <a:r>
              <a:rPr lang="en-US" altLang="zh-CN" sz="2400" dirty="0"/>
              <a:t>1 0 0010001B                                            </a:t>
            </a:r>
            <a:endParaRPr lang="en-US" altLang="zh-CN" sz="2400" dirty="0"/>
          </a:p>
          <a:p>
            <a:pPr eaLnBrk="1" hangingPunct="1">
              <a:lnSpc>
                <a:spcPct val="90000"/>
              </a:lnSpc>
              <a:buNone/>
            </a:pPr>
            <a:r>
              <a:rPr lang="en-US" altLang="zh-CN" sz="2400" dirty="0"/>
              <a:t>                                                                    </a:t>
            </a:r>
            <a:r>
              <a:rPr lang="zh-CN" altLang="en-US" sz="2000" b="1" dirty="0">
                <a:solidFill>
                  <a:schemeClr val="folHlink"/>
                </a:solidFill>
              </a:rPr>
              <a:t>丢失</a:t>
            </a:r>
            <a:endParaRPr lang="zh-CN" altLang="en-US" sz="2000" b="1" dirty="0">
              <a:solidFill>
                <a:schemeClr val="folHlink"/>
              </a:solidFill>
            </a:endParaRPr>
          </a:p>
          <a:p>
            <a:pPr eaLnBrk="1" hangingPunct="1">
              <a:lnSpc>
                <a:spcPct val="90000"/>
              </a:lnSpc>
            </a:pPr>
            <a:r>
              <a:rPr lang="zh-CN" altLang="en-US" sz="2400" dirty="0"/>
              <a:t>所以，</a:t>
            </a:r>
            <a:r>
              <a:rPr lang="en-US" altLang="zh-CN" sz="2400" dirty="0"/>
              <a:t>[X+Y]</a:t>
            </a:r>
            <a:r>
              <a:rPr lang="zh-CN" altLang="en-US" sz="2400" baseline="-25000" dirty="0"/>
              <a:t>补</a:t>
            </a:r>
            <a:r>
              <a:rPr lang="en-US" altLang="zh-CN" sz="2400" dirty="0"/>
              <a:t>=0 1110001B</a:t>
            </a:r>
            <a:r>
              <a:rPr lang="zh-CN" altLang="en-US" sz="2400" dirty="0"/>
              <a:t>，</a:t>
            </a:r>
            <a:r>
              <a:rPr lang="en-US" altLang="zh-CN" sz="2400" dirty="0"/>
              <a:t>X+Y=+113</a:t>
            </a:r>
            <a:endParaRPr lang="en-US" altLang="zh-CN" sz="2400" dirty="0"/>
          </a:p>
          <a:p>
            <a:pPr eaLnBrk="1" hangingPunct="1">
              <a:lnSpc>
                <a:spcPct val="90000"/>
              </a:lnSpc>
              <a:buNone/>
            </a:pPr>
            <a:r>
              <a:rPr lang="en-US" altLang="zh-CN" sz="2400" dirty="0"/>
              <a:t>                [X-Y]</a:t>
            </a:r>
            <a:r>
              <a:rPr lang="zh-CN" altLang="en-US" sz="2400" baseline="-25000" dirty="0"/>
              <a:t>补  </a:t>
            </a:r>
            <a:r>
              <a:rPr lang="en-US" altLang="zh-CN" sz="2400" dirty="0"/>
              <a:t>= 0 0010001B</a:t>
            </a:r>
            <a:r>
              <a:rPr lang="zh-CN" altLang="en-US" sz="2400" dirty="0"/>
              <a:t>，</a:t>
            </a:r>
            <a:r>
              <a:rPr lang="en-US" altLang="zh-CN" sz="2400" dirty="0"/>
              <a:t>X-Y=+17 </a:t>
            </a:r>
            <a:endParaRPr lang="en-US" altLang="zh-CN" sz="2400" dirty="0"/>
          </a:p>
        </p:txBody>
      </p:sp>
      <p:sp>
        <p:nvSpPr>
          <p:cNvPr id="57348" name="Line 4"/>
          <p:cNvSpPr/>
          <p:nvPr/>
        </p:nvSpPr>
        <p:spPr>
          <a:xfrm>
            <a:off x="1116013" y="4508500"/>
            <a:ext cx="2952750" cy="0"/>
          </a:xfrm>
          <a:prstGeom prst="line">
            <a:avLst/>
          </a:prstGeom>
          <a:ln w="9525" cap="flat" cmpd="sng">
            <a:solidFill>
              <a:schemeClr val="tx1"/>
            </a:solidFill>
            <a:prstDash val="solid"/>
            <a:headEnd type="none" w="med" len="med"/>
            <a:tailEnd type="none" w="med" len="med"/>
          </a:ln>
        </p:spPr>
      </p:sp>
      <p:sp>
        <p:nvSpPr>
          <p:cNvPr id="57349" name="Line 5"/>
          <p:cNvSpPr/>
          <p:nvPr/>
        </p:nvSpPr>
        <p:spPr>
          <a:xfrm>
            <a:off x="4859338" y="4508500"/>
            <a:ext cx="2881312" cy="0"/>
          </a:xfrm>
          <a:prstGeom prst="line">
            <a:avLst/>
          </a:prstGeom>
          <a:ln w="9525" cap="flat" cmpd="sng">
            <a:solidFill>
              <a:schemeClr val="tx1"/>
            </a:solidFill>
            <a:prstDash val="solid"/>
            <a:headEnd type="none" w="med" len="med"/>
            <a:tailEnd type="none" w="med" len="med"/>
          </a:ln>
        </p:spPr>
      </p:sp>
      <p:sp>
        <p:nvSpPr>
          <p:cNvPr id="57350" name="Oval 6"/>
          <p:cNvSpPr/>
          <p:nvPr/>
        </p:nvSpPr>
        <p:spPr>
          <a:xfrm>
            <a:off x="5940425" y="4437063"/>
            <a:ext cx="215900" cy="504825"/>
          </a:xfrm>
          <a:prstGeom prst="ellipse">
            <a:avLst/>
          </a:prstGeom>
          <a:noFill/>
          <a:ln w="9525" cap="flat" cmpd="sng">
            <a:solidFill>
              <a:schemeClr val="hlink"/>
            </a:solidFill>
            <a:prstDash val="solid"/>
            <a:headEnd type="none" w="med" len="med"/>
            <a:tailEnd type="none" w="med" len="med"/>
          </a:ln>
        </p:spPr>
        <p:txBody>
          <a:bodyPr wrap="none" anchor="ctr" anchorCtr="0"/>
          <a:p>
            <a:pPr algn="ctr" eaLnBrk="1" hangingPunct="1"/>
            <a:endParaRPr lang="zh-CN" altLang="en-US" dirty="0">
              <a:latin typeface="Tahoma" panose="020B060403050404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347">
                                            <p:txEl>
                                              <p:charRg st="0" end="36"/>
                                            </p:txEl>
                                          </p:spTgt>
                                        </p:tgtEl>
                                        <p:attrNameLst>
                                          <p:attrName>style.visibility</p:attrName>
                                        </p:attrNameLst>
                                      </p:cBhvr>
                                      <p:to>
                                        <p:strVal val="visible"/>
                                      </p:to>
                                    </p:set>
                                    <p:anim calcmode="lin" valueType="num">
                                      <p:cBhvr additive="base">
                                        <p:cTn id="7" dur="500" fill="hold"/>
                                        <p:tgtEl>
                                          <p:spTgt spid="57347">
                                            <p:txEl>
                                              <p:charRg st="0" end="3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charRg st="0" end="3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347">
                                            <p:txEl>
                                              <p:charRg st="36" end="69"/>
                                            </p:txEl>
                                          </p:spTgt>
                                        </p:tgtEl>
                                        <p:attrNameLst>
                                          <p:attrName>style.visibility</p:attrName>
                                        </p:attrNameLst>
                                      </p:cBhvr>
                                      <p:to>
                                        <p:strVal val="visible"/>
                                      </p:to>
                                    </p:set>
                                    <p:anim calcmode="lin" valueType="num">
                                      <p:cBhvr additive="base">
                                        <p:cTn id="13" dur="500" fill="hold"/>
                                        <p:tgtEl>
                                          <p:spTgt spid="57347">
                                            <p:txEl>
                                              <p:charRg st="36" end="6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347">
                                            <p:txEl>
                                              <p:charRg st="36" end="69"/>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347">
                                            <p:txEl>
                                              <p:charRg st="69" end="107"/>
                                            </p:txEl>
                                          </p:spTgt>
                                        </p:tgtEl>
                                        <p:attrNameLst>
                                          <p:attrName>style.visibility</p:attrName>
                                        </p:attrNameLst>
                                      </p:cBhvr>
                                      <p:to>
                                        <p:strVal val="visible"/>
                                      </p:to>
                                    </p:set>
                                    <p:anim calcmode="lin" valueType="num">
                                      <p:cBhvr additive="base">
                                        <p:cTn id="19" dur="500" fill="hold"/>
                                        <p:tgtEl>
                                          <p:spTgt spid="57347">
                                            <p:txEl>
                                              <p:charRg st="69" end="10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347">
                                            <p:txEl>
                                              <p:charRg st="69" end="107"/>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347">
                                            <p:txEl>
                                              <p:charRg st="107" end="143"/>
                                            </p:txEl>
                                          </p:spTgt>
                                        </p:tgtEl>
                                        <p:attrNameLst>
                                          <p:attrName>style.visibility</p:attrName>
                                        </p:attrNameLst>
                                      </p:cBhvr>
                                      <p:to>
                                        <p:strVal val="visible"/>
                                      </p:to>
                                    </p:set>
                                    <p:anim calcmode="lin" valueType="num">
                                      <p:cBhvr additive="base">
                                        <p:cTn id="25" dur="500" fill="hold"/>
                                        <p:tgtEl>
                                          <p:spTgt spid="57347">
                                            <p:txEl>
                                              <p:charRg st="107" end="14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7347">
                                            <p:txEl>
                                              <p:charRg st="107" end="14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347">
                                            <p:txEl>
                                              <p:charRg st="143" end="203"/>
                                            </p:txEl>
                                          </p:spTgt>
                                        </p:tgtEl>
                                        <p:attrNameLst>
                                          <p:attrName>style.visibility</p:attrName>
                                        </p:attrNameLst>
                                      </p:cBhvr>
                                      <p:to>
                                        <p:strVal val="visible"/>
                                      </p:to>
                                    </p:set>
                                    <p:anim calcmode="lin" valueType="num">
                                      <p:cBhvr additive="base">
                                        <p:cTn id="31" dur="500" fill="hold"/>
                                        <p:tgtEl>
                                          <p:spTgt spid="57347">
                                            <p:txEl>
                                              <p:charRg st="143" end="20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347">
                                            <p:txEl>
                                              <p:charRg st="143" end="203"/>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7347">
                                            <p:txEl>
                                              <p:charRg st="203" end="265"/>
                                            </p:txEl>
                                          </p:spTgt>
                                        </p:tgtEl>
                                        <p:attrNameLst>
                                          <p:attrName>style.visibility</p:attrName>
                                        </p:attrNameLst>
                                      </p:cBhvr>
                                      <p:to>
                                        <p:strVal val="visible"/>
                                      </p:to>
                                    </p:set>
                                    <p:anim calcmode="lin" valueType="num">
                                      <p:cBhvr additive="base">
                                        <p:cTn id="35" dur="500" fill="hold"/>
                                        <p:tgtEl>
                                          <p:spTgt spid="57347">
                                            <p:txEl>
                                              <p:charRg st="203" end="26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57347">
                                            <p:txEl>
                                              <p:charRg st="203" end="265"/>
                                            </p:txEl>
                                          </p:spTgt>
                                        </p:tgtEl>
                                        <p:attrNameLst>
                                          <p:attrName>ppt_y</p:attrName>
                                        </p:attrNameLst>
                                      </p:cBhvr>
                                      <p:tavLst>
                                        <p:tav tm="0">
                                          <p:val>
                                            <p:strVal val="1+#ppt_h/2"/>
                                          </p:val>
                                        </p:tav>
                                        <p:tav tm="100000">
                                          <p:val>
                                            <p:strVal val="#ppt_y"/>
                                          </p:val>
                                        </p:tav>
                                      </p:tavLst>
                                    </p:anim>
                                  </p:childTnLst>
                                </p:cTn>
                              </p:par>
                              <p:par>
                                <p:cTn id="37" presetID="1" presetClass="entr" presetSubtype="0" fill="hold" nodeType="withEffect">
                                  <p:stCondLst>
                                    <p:cond delay="0"/>
                                  </p:stCondLst>
                                  <p:childTnLst>
                                    <p:set>
                                      <p:cBhvr>
                                        <p:cTn id="38" dur="1" fill="hold">
                                          <p:stCondLst>
                                            <p:cond delay="0"/>
                                          </p:stCondLst>
                                        </p:cTn>
                                        <p:tgtEl>
                                          <p:spTgt spid="5734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349"/>
                                        </p:tgtEl>
                                        <p:attrNameLst>
                                          <p:attrName>style.visibility</p:attrName>
                                        </p:attrNameLst>
                                      </p:cBhvr>
                                      <p:to>
                                        <p:strVal val="visible"/>
                                      </p:to>
                                    </p:set>
                                  </p:childTnLst>
                                </p:cTn>
                              </p:par>
                              <p:par>
                                <p:cTn id="41" presetID="2" presetClass="entr" presetSubtype="4" fill="hold" grpId="0" nodeType="withEffect">
                                  <p:stCondLst>
                                    <p:cond delay="0"/>
                                  </p:stCondLst>
                                  <p:childTnLst>
                                    <p:set>
                                      <p:cBhvr>
                                        <p:cTn id="42" dur="1" fill="hold">
                                          <p:stCondLst>
                                            <p:cond delay="0"/>
                                          </p:stCondLst>
                                        </p:cTn>
                                        <p:tgtEl>
                                          <p:spTgt spid="57347">
                                            <p:txEl>
                                              <p:charRg st="265" end="368"/>
                                            </p:txEl>
                                          </p:spTgt>
                                        </p:tgtEl>
                                        <p:attrNameLst>
                                          <p:attrName>style.visibility</p:attrName>
                                        </p:attrNameLst>
                                      </p:cBhvr>
                                      <p:to>
                                        <p:strVal val="visible"/>
                                      </p:to>
                                    </p:set>
                                    <p:anim calcmode="lin" valueType="num">
                                      <p:cBhvr additive="base">
                                        <p:cTn id="43" dur="500" fill="hold"/>
                                        <p:tgtEl>
                                          <p:spTgt spid="57347">
                                            <p:txEl>
                                              <p:charRg st="265" end="36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7347">
                                            <p:txEl>
                                              <p:charRg st="265" end="36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7350"/>
                                        </p:tgtEl>
                                        <p:attrNameLst>
                                          <p:attrName>style.visibility</p:attrName>
                                        </p:attrNameLst>
                                      </p:cBhvr>
                                      <p:to>
                                        <p:strVal val="visible"/>
                                      </p:to>
                                    </p:set>
                                  </p:childTnLst>
                                </p:cTn>
                              </p:par>
                            </p:childTnLst>
                          </p:cTn>
                        </p:par>
                        <p:par>
                          <p:cTn id="49" fill="hold">
                            <p:stCondLst>
                              <p:cond delay="0"/>
                            </p:stCondLst>
                            <p:childTnLst>
                              <p:par>
                                <p:cTn id="50" presetID="2" presetClass="entr" presetSubtype="4" fill="hold" grpId="0" nodeType="afterEffect">
                                  <p:stCondLst>
                                    <p:cond delay="0"/>
                                  </p:stCondLst>
                                  <p:childTnLst>
                                    <p:set>
                                      <p:cBhvr>
                                        <p:cTn id="51" dur="1" fill="hold">
                                          <p:stCondLst>
                                            <p:cond delay="0"/>
                                          </p:stCondLst>
                                        </p:cTn>
                                        <p:tgtEl>
                                          <p:spTgt spid="57347">
                                            <p:txEl>
                                              <p:charRg st="368" end="439"/>
                                            </p:txEl>
                                          </p:spTgt>
                                        </p:tgtEl>
                                        <p:attrNameLst>
                                          <p:attrName>style.visibility</p:attrName>
                                        </p:attrNameLst>
                                      </p:cBhvr>
                                      <p:to>
                                        <p:strVal val="visible"/>
                                      </p:to>
                                    </p:set>
                                    <p:anim calcmode="lin" valueType="num">
                                      <p:cBhvr additive="base">
                                        <p:cTn id="52" dur="500" fill="hold"/>
                                        <p:tgtEl>
                                          <p:spTgt spid="57347">
                                            <p:txEl>
                                              <p:charRg st="368" end="43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57347">
                                            <p:txEl>
                                              <p:charRg st="368" end="439"/>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57347">
                                            <p:txEl>
                                              <p:charRg st="439" end="469"/>
                                            </p:txEl>
                                          </p:spTgt>
                                        </p:tgtEl>
                                        <p:attrNameLst>
                                          <p:attrName>style.visibility</p:attrName>
                                        </p:attrNameLst>
                                      </p:cBhvr>
                                      <p:to>
                                        <p:strVal val="visible"/>
                                      </p:to>
                                    </p:set>
                                    <p:anim calcmode="lin" valueType="num">
                                      <p:cBhvr additive="base">
                                        <p:cTn id="58" dur="500" fill="hold"/>
                                        <p:tgtEl>
                                          <p:spTgt spid="57347">
                                            <p:txEl>
                                              <p:charRg st="439" end="469"/>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57347">
                                            <p:txEl>
                                              <p:charRg st="439" end="469"/>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57347">
                                            <p:txEl>
                                              <p:charRg st="469" end="515"/>
                                            </p:txEl>
                                          </p:spTgt>
                                        </p:tgtEl>
                                        <p:attrNameLst>
                                          <p:attrName>style.visibility</p:attrName>
                                        </p:attrNameLst>
                                      </p:cBhvr>
                                      <p:to>
                                        <p:strVal val="visible"/>
                                      </p:to>
                                    </p:set>
                                    <p:anim calcmode="lin" valueType="num">
                                      <p:cBhvr additive="base">
                                        <p:cTn id="64" dur="500" fill="hold"/>
                                        <p:tgtEl>
                                          <p:spTgt spid="57347">
                                            <p:txEl>
                                              <p:charRg st="469" end="515"/>
                                            </p:txEl>
                                          </p:spTgt>
                                        </p:tgtEl>
                                        <p:attrNameLst>
                                          <p:attrName>ppt_x</p:attrName>
                                        </p:attrNameLst>
                                      </p:cBhvr>
                                      <p:tavLst>
                                        <p:tav tm="0">
                                          <p:val>
                                            <p:strVal val="#ppt_x"/>
                                          </p:val>
                                        </p:tav>
                                        <p:tav tm="100000">
                                          <p:val>
                                            <p:strVal val="#ppt_x"/>
                                          </p:val>
                                        </p:tav>
                                      </p:tavLst>
                                    </p:anim>
                                    <p:anim calcmode="lin" valueType="num">
                                      <p:cBhvr additive="base">
                                        <p:cTn id="65" dur="500" fill="hold"/>
                                        <p:tgtEl>
                                          <p:spTgt spid="57347">
                                            <p:txEl>
                                              <p:charRg st="469" end="5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P spid="5735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a:spLocks noGrp="1" noChangeArrowheads="1"/>
          </p:cNvSpPr>
          <p:nvPr>
            <p:ph type="title"/>
          </p:nvPr>
        </p:nvSpPr>
        <p:spPr>
          <a:xfrm>
            <a:off x="1150938" y="214313"/>
            <a:ext cx="7793038" cy="1054100"/>
          </a:xfrm>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楷体_GB2312" pitchFamily="1" charset="-122"/>
                <a:cs typeface="+mj-cs"/>
              </a:rPr>
              <a:t>溢出及其判定</a:t>
            </a:r>
            <a:endParaRPr kumimoji="0" lang="zh-CN" altLang="en-US" sz="4400" b="0"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楷体_GB2312" pitchFamily="1" charset="-122"/>
              <a:cs typeface="+mj-cs"/>
            </a:endParaRPr>
          </a:p>
        </p:txBody>
      </p:sp>
      <p:sp>
        <p:nvSpPr>
          <p:cNvPr id="58371" name="Rectangle 3"/>
          <p:cNvSpPr>
            <a:spLocks noGrp="1"/>
          </p:cNvSpPr>
          <p:nvPr>
            <p:ph idx="1"/>
          </p:nvPr>
        </p:nvSpPr>
        <p:spPr>
          <a:xfrm>
            <a:off x="381000" y="1981200"/>
            <a:ext cx="8382000" cy="4543425"/>
          </a:xfrm>
        </p:spPr>
        <p:txBody>
          <a:bodyPr vert="horz" wrap="square" lIns="91440" tIns="45720" rIns="91440" bIns="45720" anchor="t" anchorCtr="0"/>
          <a:p>
            <a:pPr eaLnBrk="1" hangingPunct="1">
              <a:lnSpc>
                <a:spcPct val="90000"/>
              </a:lnSpc>
            </a:pPr>
            <a:r>
              <a:rPr lang="zh-CN" altLang="en-US" b="1" dirty="0">
                <a:solidFill>
                  <a:schemeClr val="hlink"/>
                </a:solidFill>
              </a:rPr>
              <a:t>溢出</a:t>
            </a:r>
            <a:r>
              <a:rPr lang="zh-CN" altLang="en-US" dirty="0"/>
              <a:t>：补码运算时，若运算结果超出了其表数范围就发生了溢出，造成运算结果错误。</a:t>
            </a:r>
            <a:endParaRPr lang="zh-CN" altLang="en-US" dirty="0"/>
          </a:p>
          <a:p>
            <a:pPr eaLnBrk="1" hangingPunct="1">
              <a:lnSpc>
                <a:spcPct val="90000"/>
              </a:lnSpc>
            </a:pPr>
            <a:r>
              <a:rPr lang="zh-CN" altLang="en-US" dirty="0"/>
              <a:t>例如，字长</a:t>
            </a:r>
            <a:r>
              <a:rPr lang="en-US" altLang="zh-CN" dirty="0"/>
              <a:t>n=8</a:t>
            </a:r>
            <a:r>
              <a:rPr lang="zh-CN" altLang="en-US" dirty="0"/>
              <a:t>时，</a:t>
            </a:r>
            <a:r>
              <a:rPr lang="en-US" altLang="zh-CN" dirty="0"/>
              <a:t>X=+99</a:t>
            </a:r>
            <a:r>
              <a:rPr lang="zh-CN" altLang="en-US" dirty="0"/>
              <a:t>，</a:t>
            </a:r>
            <a:r>
              <a:rPr lang="en-US" altLang="zh-CN" dirty="0"/>
              <a:t>Y=+98</a:t>
            </a:r>
            <a:r>
              <a:rPr lang="zh-CN" altLang="en-US" dirty="0"/>
              <a:t>，</a:t>
            </a:r>
            <a:r>
              <a:rPr lang="en-US" altLang="zh-CN" dirty="0"/>
              <a:t>X+Y=+197&gt;+127</a:t>
            </a:r>
            <a:r>
              <a:rPr lang="zh-CN" altLang="en-US" dirty="0"/>
              <a:t>，肯定发生溢出。</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8371">
                                            <p:txEl>
                                              <p:charRg st="0" end="39"/>
                                            </p:txEl>
                                          </p:spTgt>
                                        </p:tgtEl>
                                        <p:attrNameLst>
                                          <p:attrName>style.visibility</p:attrName>
                                        </p:attrNameLst>
                                      </p:cBhvr>
                                      <p:to>
                                        <p:strVal val="visible"/>
                                      </p:to>
                                    </p:set>
                                    <p:animEffect transition="in" filter="wipe(left)">
                                      <p:cBhvr>
                                        <p:cTn id="7" dur="500"/>
                                        <p:tgtEl>
                                          <p:spTgt spid="58371">
                                            <p:txEl>
                                              <p:charRg st="0" end="3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8371">
                                            <p:txEl>
                                              <p:charRg st="39" end="83"/>
                                            </p:txEl>
                                          </p:spTgt>
                                        </p:tgtEl>
                                        <p:attrNameLst>
                                          <p:attrName>style.visibility</p:attrName>
                                        </p:attrNameLst>
                                      </p:cBhvr>
                                      <p:to>
                                        <p:strVal val="visible"/>
                                      </p:to>
                                    </p:set>
                                    <p:animEffect transition="in" filter="wipe(left)">
                                      <p:cBhvr>
                                        <p:cTn id="12" dur="500"/>
                                        <p:tgtEl>
                                          <p:spTgt spid="58371">
                                            <p:txEl>
                                              <p:charRg st="39" end="8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150938" y="214313"/>
            <a:ext cx="7793038" cy="1054100"/>
          </a:xfrm>
        </p:spPr>
        <p:txBody>
          <a:bodyPr vert="horz" wrap="square" lIns="91440" tIns="45720" rIns="91440" bIns="45720" numCol="1" anchor="b"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4400" b="0" i="0" u="none" strike="noStrike" kern="0" cap="none" spc="0" normalizeH="0" baseline="0" noProof="0" dirty="0">
                <a:ln>
                  <a:noFill/>
                </a:ln>
                <a:solidFill>
                  <a:schemeClr val="tx2"/>
                </a:solidFill>
                <a:effectLst>
                  <a:outerShdw blurRad="38100" dist="38100" dir="2700000" algn="tl">
                    <a:srgbClr val="C0C0C0"/>
                  </a:outerShdw>
                </a:effectLst>
                <a:uLnTx/>
                <a:uFillTx/>
                <a:latin typeface="+mj-lt"/>
                <a:ea typeface="楷体_GB2312" pitchFamily="1" charset="-122"/>
                <a:cs typeface="+mj-cs"/>
              </a:rPr>
              <a:t>溢出及其判定</a:t>
            </a:r>
            <a:endParaRPr kumimoji="0" lang="zh-CN" altLang="en-US" sz="4400" b="0" i="0" u="none" strike="noStrike" kern="0" cap="none" spc="0" normalizeH="0" baseline="0" noProof="0" dirty="0">
              <a:ln>
                <a:noFill/>
              </a:ln>
              <a:solidFill>
                <a:schemeClr val="tx2"/>
              </a:solidFill>
              <a:effectLst/>
              <a:uLnTx/>
              <a:uFillTx/>
              <a:latin typeface="+mj-lt"/>
              <a:ea typeface="+mj-ea"/>
              <a:cs typeface="+mj-cs"/>
            </a:endParaRPr>
          </a:p>
        </p:txBody>
      </p:sp>
      <p:sp>
        <p:nvSpPr>
          <p:cNvPr id="123907" name="内容占位符 2"/>
          <p:cNvSpPr>
            <a:spLocks noGrp="1"/>
          </p:cNvSpPr>
          <p:nvPr>
            <p:ph idx="1"/>
          </p:nvPr>
        </p:nvSpPr>
        <p:spPr>
          <a:xfrm>
            <a:off x="323850" y="1628775"/>
            <a:ext cx="8497888" cy="4114800"/>
          </a:xfrm>
        </p:spPr>
        <p:txBody>
          <a:bodyPr vert="horz" wrap="square" lIns="91440" tIns="45720" rIns="91440" bIns="45720" anchor="t" anchorCtr="0"/>
          <a:p>
            <a:r>
              <a:rPr lang="zh-CN" altLang="en-US" dirty="0"/>
              <a:t>溢出的判定方法：由于溢出只可能出现在</a:t>
            </a:r>
            <a:r>
              <a:rPr lang="zh-CN" altLang="en-US" dirty="0">
                <a:solidFill>
                  <a:schemeClr val="hlink"/>
                </a:solidFill>
              </a:rPr>
              <a:t>同号相加或异号相减</a:t>
            </a:r>
            <a:r>
              <a:rPr lang="zh-CN" altLang="en-US" dirty="0"/>
              <a:t>运算时，且采用补码减法可转变为加法，最直观、最易于理解的溢出判定方法是：若正数加正数，结果为负数或负数加负数，结果为正数，则发生溢出。 </a:t>
            </a:r>
            <a:endParaRPr lang="zh-CN" altLang="en-US" dirty="0"/>
          </a:p>
          <a:p>
            <a:endParaRPr lang="zh-CN" altLang="en-US" dirty="0"/>
          </a:p>
        </p:txBody>
      </p:sp>
      <p:sp>
        <p:nvSpPr>
          <p:cNvPr id="123908" name="Text Box 4"/>
          <p:cNvSpPr txBox="1"/>
          <p:nvPr/>
        </p:nvSpPr>
        <p:spPr>
          <a:xfrm>
            <a:off x="323850" y="4076700"/>
            <a:ext cx="8415338" cy="1395413"/>
          </a:xfrm>
          <a:prstGeom prst="rect">
            <a:avLst/>
          </a:prstGeom>
          <a:noFill/>
          <a:ln w="9525">
            <a:noFill/>
          </a:ln>
        </p:spPr>
        <p:txBody>
          <a:bodyPr lIns="0" tIns="0" rIns="0" bIns="0">
            <a:spAutoFit/>
          </a:bodyPr>
          <a:p>
            <a:pPr eaLnBrk="1" hangingPunct="1">
              <a:spcBef>
                <a:spcPct val="50000"/>
              </a:spcBef>
            </a:pPr>
            <a:endParaRPr lang="en-US" altLang="zh-CN" sz="2800" b="1" baseline="-25000" dirty="0">
              <a:solidFill>
                <a:srgbClr val="3333CC"/>
              </a:solidFill>
              <a:latin typeface="Times New Roman" panose="02020603050405020304" pitchFamily="18" charset="0"/>
            </a:endParaRPr>
          </a:p>
          <a:p>
            <a:pPr eaLnBrk="1" hangingPunct="1">
              <a:spcBef>
                <a:spcPct val="50000"/>
              </a:spcBef>
            </a:pPr>
            <a:r>
              <a:rPr lang="zh-CN" altLang="en-US" sz="4400" b="1" baseline="-25000" dirty="0">
                <a:solidFill>
                  <a:srgbClr val="FF0000"/>
                </a:solidFill>
                <a:latin typeface="Times New Roman" panose="02020603050405020304" pitchFamily="18" charset="0"/>
              </a:rPr>
              <a:t>双进位判溢出</a:t>
            </a:r>
            <a:endParaRPr lang="zh-CN" altLang="en-US" sz="4400" b="1" baseline="-25000" dirty="0">
              <a:solidFill>
                <a:srgbClr val="FF0000"/>
              </a:solidFill>
              <a:latin typeface="Times New Roman" panose="02020603050405020304" pitchFamily="18" charset="0"/>
            </a:endParaRPr>
          </a:p>
          <a:p>
            <a:pPr algn="ctr" eaLnBrk="1" hangingPunct="1">
              <a:spcBef>
                <a:spcPct val="50000"/>
              </a:spcBef>
            </a:pPr>
            <a:endParaRPr lang="zh-CN" altLang="en-US" sz="2800" b="1" baseline="-25000" dirty="0">
              <a:solidFill>
                <a:srgbClr val="3333CC"/>
              </a:solidFill>
              <a:latin typeface="Times New Roman" panose="02020603050405020304" pitchFamily="18" charset="0"/>
            </a:endParaRPr>
          </a:p>
        </p:txBody>
      </p:sp>
      <p:sp>
        <p:nvSpPr>
          <p:cNvPr id="123909" name="AutoShape 8"/>
          <p:cNvSpPr/>
          <p:nvPr/>
        </p:nvSpPr>
        <p:spPr>
          <a:xfrm>
            <a:off x="2700338" y="4508500"/>
            <a:ext cx="1295400" cy="936625"/>
          </a:xfrm>
          <a:prstGeom prst="leftBrace">
            <a:avLst>
              <a:gd name="adj1" fmla="val 8333"/>
              <a:gd name="adj2" fmla="val 50000"/>
            </a:avLst>
          </a:prstGeom>
          <a:noFill/>
          <a:ln w="9525" cap="flat" cmpd="sng">
            <a:solidFill>
              <a:srgbClr val="FF0000"/>
            </a:solidFill>
            <a:prstDash val="solid"/>
            <a:headEnd type="none" w="med" len="med"/>
            <a:tailEnd type="none" w="med" len="med"/>
          </a:ln>
        </p:spPr>
        <p:txBody>
          <a:bodyPr wrap="none" anchor="ctr" anchorCtr="0"/>
          <a:p>
            <a:pPr algn="ctr" eaLnBrk="1" hangingPunct="1"/>
            <a:endParaRPr lang="zh-CN" altLang="en-US" sz="2000" baseline="-25000" dirty="0">
              <a:solidFill>
                <a:srgbClr val="000000"/>
              </a:solidFill>
              <a:latin typeface="Times New Roman" panose="02020603050405020304" pitchFamily="18" charset="0"/>
            </a:endParaRPr>
          </a:p>
        </p:txBody>
      </p:sp>
      <p:sp>
        <p:nvSpPr>
          <p:cNvPr id="123910" name="Text Box 5"/>
          <p:cNvSpPr txBox="1"/>
          <p:nvPr/>
        </p:nvSpPr>
        <p:spPr>
          <a:xfrm>
            <a:off x="3995738" y="4292600"/>
            <a:ext cx="4175125" cy="1119188"/>
          </a:xfrm>
          <a:prstGeom prst="rect">
            <a:avLst/>
          </a:prstGeom>
          <a:noFill/>
          <a:ln w="9525">
            <a:noFill/>
          </a:ln>
        </p:spPr>
        <p:txBody>
          <a:bodyPr>
            <a:spAutoFit/>
          </a:bodyPr>
          <a:p>
            <a:pPr algn="ctr" eaLnBrk="1" hangingPunct="1">
              <a:spcBef>
                <a:spcPct val="50000"/>
              </a:spcBef>
            </a:pPr>
            <a:r>
              <a:rPr lang="en-US" altLang="zh-CN" sz="4000" b="1" baseline="-25000" dirty="0">
                <a:solidFill>
                  <a:srgbClr val="FF0000"/>
                </a:solidFill>
                <a:latin typeface="Times New Roman" panose="02020603050405020304" pitchFamily="18" charset="0"/>
              </a:rPr>
              <a:t>D</a:t>
            </a:r>
            <a:r>
              <a:rPr lang="en-US" altLang="zh-CN" sz="4000" b="1" baseline="-50000" dirty="0">
                <a:solidFill>
                  <a:srgbClr val="FF0000"/>
                </a:solidFill>
                <a:latin typeface="Times New Roman" panose="02020603050405020304" pitchFamily="18" charset="0"/>
              </a:rPr>
              <a:t>6CY</a:t>
            </a:r>
            <a:r>
              <a:rPr lang="en-US" altLang="zh-CN" sz="4000" b="1" baseline="-25000" dirty="0">
                <a:solidFill>
                  <a:srgbClr val="FF0000"/>
                </a:solidFill>
                <a:latin typeface="宋体" panose="02010600030101010101" pitchFamily="2" charset="-122"/>
              </a:rPr>
              <a:t>⊕</a:t>
            </a:r>
            <a:r>
              <a:rPr lang="en-US" altLang="zh-CN" sz="4000" b="1" baseline="-25000" dirty="0">
                <a:solidFill>
                  <a:srgbClr val="FF0000"/>
                </a:solidFill>
                <a:latin typeface="Times New Roman" panose="02020603050405020304" pitchFamily="18" charset="0"/>
              </a:rPr>
              <a:t>D</a:t>
            </a:r>
            <a:r>
              <a:rPr lang="en-US" altLang="zh-CN" sz="4000" b="1" baseline="-40000" dirty="0">
                <a:solidFill>
                  <a:srgbClr val="FF0000"/>
                </a:solidFill>
                <a:latin typeface="Times New Roman" panose="02020603050405020304" pitchFamily="18" charset="0"/>
              </a:rPr>
              <a:t>7CY</a:t>
            </a:r>
            <a:r>
              <a:rPr lang="en-US" altLang="zh-CN" sz="4000" b="1" baseline="-25000" dirty="0">
                <a:solidFill>
                  <a:srgbClr val="FF0000"/>
                </a:solidFill>
                <a:latin typeface="Times New Roman" panose="02020603050405020304" pitchFamily="18" charset="0"/>
              </a:rPr>
              <a:t>=0</a:t>
            </a:r>
            <a:r>
              <a:rPr lang="zh-CN" altLang="en-US" sz="4000" b="1" baseline="-25000" dirty="0">
                <a:solidFill>
                  <a:srgbClr val="FF0000"/>
                </a:solidFill>
                <a:latin typeface="Times New Roman" panose="02020603050405020304" pitchFamily="18" charset="0"/>
              </a:rPr>
              <a:t>，无溢出</a:t>
            </a:r>
            <a:endParaRPr lang="zh-CN" altLang="en-US" sz="4000" b="1" baseline="-25000" dirty="0">
              <a:solidFill>
                <a:srgbClr val="FF0000"/>
              </a:solidFill>
              <a:latin typeface="Times New Roman" panose="02020603050405020304" pitchFamily="18" charset="0"/>
            </a:endParaRPr>
          </a:p>
          <a:p>
            <a:pPr algn="ctr" eaLnBrk="1" hangingPunct="1">
              <a:spcBef>
                <a:spcPct val="50000"/>
              </a:spcBef>
            </a:pPr>
            <a:r>
              <a:rPr lang="en-US" altLang="zh-CN" sz="4000" b="1" baseline="-25000" dirty="0">
                <a:solidFill>
                  <a:srgbClr val="FF0000"/>
                </a:solidFill>
                <a:latin typeface="Times New Roman" panose="02020603050405020304" pitchFamily="18" charset="0"/>
              </a:rPr>
              <a:t>D</a:t>
            </a:r>
            <a:r>
              <a:rPr lang="en-US" altLang="zh-CN" sz="4000" b="1" baseline="-40000" dirty="0">
                <a:solidFill>
                  <a:srgbClr val="FF0000"/>
                </a:solidFill>
                <a:latin typeface="Times New Roman" panose="02020603050405020304" pitchFamily="18" charset="0"/>
              </a:rPr>
              <a:t>6CY</a:t>
            </a:r>
            <a:r>
              <a:rPr lang="en-US" altLang="zh-CN" sz="4000" b="1" baseline="-25000" dirty="0">
                <a:solidFill>
                  <a:srgbClr val="FF0000"/>
                </a:solidFill>
                <a:latin typeface="Times New Roman" panose="02020603050405020304" pitchFamily="18" charset="0"/>
              </a:rPr>
              <a:t>⊕D</a:t>
            </a:r>
            <a:r>
              <a:rPr lang="en-US" altLang="zh-CN" sz="4000" b="1" baseline="-40000" dirty="0">
                <a:solidFill>
                  <a:srgbClr val="FF0000"/>
                </a:solidFill>
                <a:latin typeface="Times New Roman" panose="02020603050405020304" pitchFamily="18" charset="0"/>
              </a:rPr>
              <a:t>7CY</a:t>
            </a:r>
            <a:r>
              <a:rPr lang="en-US" altLang="zh-CN" sz="4000" b="1" baseline="-25000" dirty="0">
                <a:solidFill>
                  <a:srgbClr val="FF0000"/>
                </a:solidFill>
                <a:latin typeface="Times New Roman" panose="02020603050405020304" pitchFamily="18" charset="0"/>
              </a:rPr>
              <a:t>=1</a:t>
            </a:r>
            <a:r>
              <a:rPr lang="zh-CN" altLang="en-US" sz="4000" b="1" baseline="-25000" dirty="0">
                <a:solidFill>
                  <a:srgbClr val="FF0000"/>
                </a:solidFill>
                <a:latin typeface="Times New Roman" panose="02020603050405020304" pitchFamily="18" charset="0"/>
              </a:rPr>
              <a:t>，有溢出</a:t>
            </a:r>
            <a:endParaRPr lang="zh-CN" altLang="en-US" sz="4000" b="1" baseline="-25000" dirty="0">
              <a:solidFill>
                <a:srgbClr val="FF0000"/>
              </a:solidFill>
              <a:latin typeface="Times New Roman" panose="02020603050405020304" pitchFamily="18" charset="0"/>
            </a:endParaRP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3.</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定点数与浮点数表示</a:t>
            </a:r>
            <a:r>
              <a:rPr kumimoji="0" lang="zh-CN" altLang="en-US" sz="4400" b="1" i="0" u="none" strike="noStrike" kern="0" cap="none" spc="0" normalizeH="0" baseline="0" noProof="0">
                <a:ln>
                  <a:noFill/>
                </a:ln>
                <a:solidFill>
                  <a:schemeClr val="tx1"/>
                </a:solidFill>
                <a:effectLst/>
                <a:uLnTx/>
                <a:uFillTx/>
                <a:latin typeface="+mj-lt"/>
                <a:ea typeface="+mj-ea"/>
                <a:cs typeface="+mj-cs"/>
              </a:rPr>
              <a:t> </a:t>
            </a:r>
            <a:endParaRPr kumimoji="0" lang="zh-CN" altLang="en-US" sz="4400" b="1" i="0" u="none" strike="noStrike" kern="0" cap="none" spc="0" normalizeH="0" baseline="0" noProof="0">
              <a:ln>
                <a:noFill/>
              </a:ln>
              <a:solidFill>
                <a:schemeClr val="tx1"/>
              </a:solidFill>
              <a:effectLst/>
              <a:uLnTx/>
              <a:uFillTx/>
              <a:latin typeface="+mj-lt"/>
              <a:ea typeface="+mj-ea"/>
              <a:cs typeface="+mj-cs"/>
            </a:endParaRPr>
          </a:p>
        </p:txBody>
      </p:sp>
      <p:sp>
        <p:nvSpPr>
          <p:cNvPr id="59395" name="Rectangle 3"/>
          <p:cNvSpPr>
            <a:spLocks noGrp="1"/>
          </p:cNvSpPr>
          <p:nvPr>
            <p:ph idx="1"/>
          </p:nvPr>
        </p:nvSpPr>
        <p:spPr>
          <a:xfrm>
            <a:off x="468313" y="1916113"/>
            <a:ext cx="8207375" cy="4114800"/>
          </a:xfrm>
        </p:spPr>
        <p:txBody>
          <a:bodyPr vert="horz" wrap="square" lIns="91440" tIns="45720" rIns="91440" bIns="45720" anchor="t" anchorCtr="0"/>
          <a:p>
            <a:pPr marL="0" indent="0" eaLnBrk="1" hangingPunct="1"/>
            <a:r>
              <a:rPr lang="zh-CN" altLang="en-US" dirty="0"/>
              <a:t>对于数值数据除了需要表示符号外，通常还包含小数点，而计算机是无法识别的。</a:t>
            </a:r>
            <a:endParaRPr lang="zh-CN" altLang="en-US" dirty="0"/>
          </a:p>
          <a:p>
            <a:pPr marL="0" indent="0" eaLnBrk="1" hangingPunct="1"/>
            <a:r>
              <a:rPr lang="zh-CN" altLang="en-US" dirty="0"/>
              <a:t>根据数中小数点的位置是固定还是浮动，分为：</a:t>
            </a:r>
            <a:endParaRPr lang="zh-CN" altLang="en-US" dirty="0"/>
          </a:p>
          <a:p>
            <a:pPr marL="822325" lvl="1" eaLnBrk="1" hangingPunct="1">
              <a:buFont typeface="Wingdings" panose="05000000000000000000" pitchFamily="2" charset="2"/>
              <a:buChar char="n"/>
            </a:pPr>
            <a:r>
              <a:rPr lang="zh-CN" altLang="en-US" dirty="0"/>
              <a:t>定点数</a:t>
            </a:r>
            <a:endParaRPr lang="zh-CN" altLang="en-US" dirty="0"/>
          </a:p>
          <a:p>
            <a:pPr marL="822325" lvl="1" eaLnBrk="1" hangingPunct="1">
              <a:buFont typeface="Wingdings" panose="05000000000000000000" pitchFamily="2" charset="2"/>
              <a:buChar char="n"/>
            </a:pPr>
            <a:r>
              <a:rPr lang="zh-CN" altLang="en-US" dirty="0"/>
              <a:t>浮点数</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txEl>
                                              <p:charRg st="0" end="3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5">
                                            <p:txEl>
                                              <p:charRg st="37" end="59"/>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395">
                                            <p:txEl>
                                              <p:charRg st="59" end="6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395">
                                            <p:txEl>
                                              <p:charRg st="63" end="6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定点数</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60419" name="Rectangle 3"/>
          <p:cNvSpPr>
            <a:spLocks noGrp="1"/>
          </p:cNvSpPr>
          <p:nvPr>
            <p:ph idx="1"/>
          </p:nvPr>
        </p:nvSpPr>
        <p:spPr>
          <a:xfrm>
            <a:off x="395288" y="1989138"/>
            <a:ext cx="8353425" cy="4608512"/>
          </a:xfrm>
        </p:spPr>
        <p:txBody>
          <a:bodyPr vert="horz" wrap="square" lIns="91440" tIns="45720" rIns="91440" bIns="45720" anchor="t" anchorCtr="0"/>
          <a:p>
            <a:pPr eaLnBrk="1" hangingPunct="1"/>
            <a:r>
              <a:rPr lang="zh-CN" altLang="en-US" sz="2800" dirty="0"/>
              <a:t>分为定点整数</a:t>
            </a:r>
            <a:r>
              <a:rPr lang="en-US" altLang="zh-CN" sz="2800" dirty="0"/>
              <a:t>(</a:t>
            </a:r>
            <a:r>
              <a:rPr lang="zh-CN" altLang="en-US" sz="2800" dirty="0"/>
              <a:t>纯整数，简称整数</a:t>
            </a:r>
            <a:r>
              <a:rPr lang="en-US" altLang="zh-CN" sz="2800" dirty="0"/>
              <a:t>)</a:t>
            </a:r>
            <a:r>
              <a:rPr lang="zh-CN" altLang="en-US" sz="2800" dirty="0"/>
              <a:t>和定点小数</a:t>
            </a:r>
            <a:r>
              <a:rPr lang="en-US" altLang="zh-CN" sz="2800" dirty="0"/>
              <a:t>(</a:t>
            </a:r>
            <a:r>
              <a:rPr lang="zh-CN" altLang="en-US" sz="2800" dirty="0"/>
              <a:t>纯小数，简称小数</a:t>
            </a:r>
            <a:r>
              <a:rPr lang="en-US" altLang="zh-CN" sz="2800" dirty="0"/>
              <a:t>) </a:t>
            </a:r>
            <a:r>
              <a:rPr lang="zh-CN" altLang="en-US" sz="2800" dirty="0"/>
              <a:t>。</a:t>
            </a:r>
            <a:endParaRPr lang="zh-CN" altLang="en-US" sz="2800" dirty="0"/>
          </a:p>
          <a:p>
            <a:pPr eaLnBrk="1" hangingPunct="1"/>
            <a:r>
              <a:rPr lang="zh-CN" altLang="en-US" sz="2800" dirty="0">
                <a:solidFill>
                  <a:schemeClr val="hlink"/>
                </a:solidFill>
              </a:rPr>
              <a:t>定点整数</a:t>
            </a:r>
            <a:r>
              <a:rPr lang="zh-CN" altLang="en-US" sz="2800" dirty="0"/>
              <a:t>：小数点固定在数据数值部分的最右边</a:t>
            </a:r>
            <a:br>
              <a:rPr lang="zh-CN" altLang="en-US" sz="2800" dirty="0"/>
            </a:br>
            <a:r>
              <a:rPr lang="zh-CN" altLang="en-US" sz="2800" dirty="0">
                <a:solidFill>
                  <a:schemeClr val="hlink"/>
                </a:solidFill>
              </a:rPr>
              <a:t>定点小数</a:t>
            </a:r>
            <a:r>
              <a:rPr lang="zh-CN" altLang="en-US" sz="2800" dirty="0"/>
              <a:t>：小数点固定在数据数值部分的最左边</a:t>
            </a:r>
            <a:endParaRPr lang="zh-CN" altLang="en-US" sz="2800" dirty="0"/>
          </a:p>
          <a:p>
            <a:pPr eaLnBrk="1" hangingPunct="1"/>
            <a:r>
              <a:rPr lang="zh-CN" altLang="en-US" sz="2800" dirty="0"/>
              <a:t>由于这两种形式下小数点的位置是固定的，所以在计算机数据表示中实际上并不需要表示小数点，小数点采取</a:t>
            </a:r>
            <a:r>
              <a:rPr lang="zh-CN" altLang="en-US" sz="2800" dirty="0">
                <a:solidFill>
                  <a:schemeClr val="hlink"/>
                </a:solidFill>
              </a:rPr>
              <a:t>隐含表示</a:t>
            </a:r>
            <a:r>
              <a:rPr lang="zh-CN" altLang="en-US" sz="2800" dirty="0"/>
              <a:t>。而在书写时，为了直观起见，在符号位之后加小数点表示定点小数。 </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60419">
                                            <p:txEl>
                                              <p:charRg st="0" end="34"/>
                                            </p:txEl>
                                          </p:spTgt>
                                        </p:tgtEl>
                                        <p:attrNameLst>
                                          <p:attrName>style.visibility</p:attrName>
                                        </p:attrNameLst>
                                      </p:cBhvr>
                                      <p:to>
                                        <p:strVal val="visible"/>
                                      </p:to>
                                    </p:set>
                                    <p:anim calcmode="lin" valueType="num">
                                      <p:cBhvr>
                                        <p:cTn id="7" dur="1000" fill="hold"/>
                                        <p:tgtEl>
                                          <p:spTgt spid="60419">
                                            <p:txEl>
                                              <p:charRg st="0" end="34"/>
                                            </p:txEl>
                                          </p:spTgt>
                                        </p:tgtEl>
                                        <p:attrNameLst>
                                          <p:attrName>ppt_x</p:attrName>
                                        </p:attrNameLst>
                                      </p:cBhvr>
                                      <p:tavLst>
                                        <p:tav tm="0">
                                          <p:val>
                                            <p:strVal val="#ppt_x-.2"/>
                                          </p:val>
                                        </p:tav>
                                        <p:tav tm="100000">
                                          <p:val>
                                            <p:strVal val="#ppt_x"/>
                                          </p:val>
                                        </p:tav>
                                      </p:tavLst>
                                    </p:anim>
                                    <p:anim calcmode="lin" valueType="num">
                                      <p:cBhvr>
                                        <p:cTn id="8" dur="1000" fill="hold"/>
                                        <p:tgtEl>
                                          <p:spTgt spid="60419">
                                            <p:txEl>
                                              <p:charRg st="0" end="34"/>
                                            </p:txEl>
                                          </p:spTgt>
                                        </p:tgtEl>
                                        <p:attrNameLst>
                                          <p:attrName>ppt_y</p:attrName>
                                        </p:attrNameLst>
                                      </p:cBhvr>
                                      <p:tavLst>
                                        <p:tav tm="0">
                                          <p:val>
                                            <p:strVal val="#ppt_y"/>
                                          </p:val>
                                        </p:tav>
                                        <p:tav tm="100000">
                                          <p:val>
                                            <p:strVal val="#ppt_y"/>
                                          </p:val>
                                        </p:tav>
                                      </p:tavLst>
                                    </p:anim>
                                    <p:animEffect transition="in" filter="wipe(right)" prLst="gradientSize: 0.1">
                                      <p:cBhvr>
                                        <p:cTn id="9" dur="1000"/>
                                        <p:tgtEl>
                                          <p:spTgt spid="60419">
                                            <p:txEl>
                                              <p:charRg st="0" end="34"/>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9" presetClass="entr" presetSubtype="0" fill="hold" grpId="0" nodeType="clickEffect">
                                  <p:stCondLst>
                                    <p:cond delay="0"/>
                                  </p:stCondLst>
                                  <p:childTnLst>
                                    <p:set>
                                      <p:cBhvr>
                                        <p:cTn id="13" dur="1" fill="hold">
                                          <p:stCondLst>
                                            <p:cond delay="0"/>
                                          </p:stCondLst>
                                        </p:cTn>
                                        <p:tgtEl>
                                          <p:spTgt spid="60419">
                                            <p:txEl>
                                              <p:charRg st="34" end="78"/>
                                            </p:txEl>
                                          </p:spTgt>
                                        </p:tgtEl>
                                        <p:attrNameLst>
                                          <p:attrName>style.visibility</p:attrName>
                                        </p:attrNameLst>
                                      </p:cBhvr>
                                      <p:to>
                                        <p:strVal val="visible"/>
                                      </p:to>
                                    </p:set>
                                    <p:anim calcmode="lin" valueType="num">
                                      <p:cBhvr>
                                        <p:cTn id="14" dur="1000" fill="hold"/>
                                        <p:tgtEl>
                                          <p:spTgt spid="60419">
                                            <p:txEl>
                                              <p:charRg st="34" end="78"/>
                                            </p:txEl>
                                          </p:spTgt>
                                        </p:tgtEl>
                                        <p:attrNameLst>
                                          <p:attrName>ppt_x</p:attrName>
                                        </p:attrNameLst>
                                      </p:cBhvr>
                                      <p:tavLst>
                                        <p:tav tm="0">
                                          <p:val>
                                            <p:strVal val="#ppt_x-.2"/>
                                          </p:val>
                                        </p:tav>
                                        <p:tav tm="100000">
                                          <p:val>
                                            <p:strVal val="#ppt_x"/>
                                          </p:val>
                                        </p:tav>
                                      </p:tavLst>
                                    </p:anim>
                                    <p:anim calcmode="lin" valueType="num">
                                      <p:cBhvr>
                                        <p:cTn id="15" dur="1000" fill="hold"/>
                                        <p:tgtEl>
                                          <p:spTgt spid="60419">
                                            <p:txEl>
                                              <p:charRg st="34" end="78"/>
                                            </p:txEl>
                                          </p:spTgt>
                                        </p:tgtEl>
                                        <p:attrNameLst>
                                          <p:attrName>ppt_y</p:attrName>
                                        </p:attrNameLst>
                                      </p:cBhvr>
                                      <p:tavLst>
                                        <p:tav tm="0">
                                          <p:val>
                                            <p:strVal val="#ppt_y"/>
                                          </p:val>
                                        </p:tav>
                                        <p:tav tm="100000">
                                          <p:val>
                                            <p:strVal val="#ppt_y"/>
                                          </p:val>
                                        </p:tav>
                                      </p:tavLst>
                                    </p:anim>
                                    <p:animEffect transition="in" filter="wipe(right)" prLst="gradientSize: 0.1">
                                      <p:cBhvr>
                                        <p:cTn id="16" dur="1000"/>
                                        <p:tgtEl>
                                          <p:spTgt spid="60419">
                                            <p:txEl>
                                              <p:charRg st="34" end="78"/>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9" presetClass="entr" presetSubtype="0" fill="hold" grpId="0" nodeType="clickEffect">
                                  <p:stCondLst>
                                    <p:cond delay="0"/>
                                  </p:stCondLst>
                                  <p:childTnLst>
                                    <p:set>
                                      <p:cBhvr>
                                        <p:cTn id="20" dur="1" fill="hold">
                                          <p:stCondLst>
                                            <p:cond delay="0"/>
                                          </p:stCondLst>
                                        </p:cTn>
                                        <p:tgtEl>
                                          <p:spTgt spid="60419">
                                            <p:txEl>
                                              <p:charRg st="78" end="163"/>
                                            </p:txEl>
                                          </p:spTgt>
                                        </p:tgtEl>
                                        <p:attrNameLst>
                                          <p:attrName>style.visibility</p:attrName>
                                        </p:attrNameLst>
                                      </p:cBhvr>
                                      <p:to>
                                        <p:strVal val="visible"/>
                                      </p:to>
                                    </p:set>
                                    <p:anim calcmode="lin" valueType="num">
                                      <p:cBhvr>
                                        <p:cTn id="21" dur="1000" fill="hold"/>
                                        <p:tgtEl>
                                          <p:spTgt spid="60419">
                                            <p:txEl>
                                              <p:charRg st="78" end="163"/>
                                            </p:txEl>
                                          </p:spTgt>
                                        </p:tgtEl>
                                        <p:attrNameLst>
                                          <p:attrName>ppt_x</p:attrName>
                                        </p:attrNameLst>
                                      </p:cBhvr>
                                      <p:tavLst>
                                        <p:tav tm="0">
                                          <p:val>
                                            <p:strVal val="#ppt_x-.2"/>
                                          </p:val>
                                        </p:tav>
                                        <p:tav tm="100000">
                                          <p:val>
                                            <p:strVal val="#ppt_x"/>
                                          </p:val>
                                        </p:tav>
                                      </p:tavLst>
                                    </p:anim>
                                    <p:anim calcmode="lin" valueType="num">
                                      <p:cBhvr>
                                        <p:cTn id="22" dur="1000" fill="hold"/>
                                        <p:tgtEl>
                                          <p:spTgt spid="60419">
                                            <p:txEl>
                                              <p:charRg st="78" end="163"/>
                                            </p:txEl>
                                          </p:spTgt>
                                        </p:tgtEl>
                                        <p:attrNameLst>
                                          <p:attrName>ppt_y</p:attrName>
                                        </p:attrNameLst>
                                      </p:cBhvr>
                                      <p:tavLst>
                                        <p:tav tm="0">
                                          <p:val>
                                            <p:strVal val="#ppt_y"/>
                                          </p:val>
                                        </p:tav>
                                        <p:tav tm="100000">
                                          <p:val>
                                            <p:strVal val="#ppt_y"/>
                                          </p:val>
                                        </p:tav>
                                      </p:tavLst>
                                    </p:anim>
                                    <p:animEffect transition="in" filter="wipe(right)" prLst="gradientSize: 0.1">
                                      <p:cBhvr>
                                        <p:cTn id="23" dur="1000"/>
                                        <p:tgtEl>
                                          <p:spTgt spid="60419">
                                            <p:txEl>
                                              <p:charRg st="78"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定点数</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续</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61443" name="Rectangle 3"/>
          <p:cNvSpPr>
            <a:spLocks noGrp="1"/>
          </p:cNvSpPr>
          <p:nvPr>
            <p:ph idx="1"/>
          </p:nvPr>
        </p:nvSpPr>
        <p:spPr>
          <a:xfrm>
            <a:off x="539750" y="1989138"/>
            <a:ext cx="8280400" cy="4364037"/>
          </a:xfrm>
        </p:spPr>
        <p:txBody>
          <a:bodyPr vert="horz" wrap="square" lIns="91440" tIns="45720" rIns="91440" bIns="45720" anchor="t" anchorCtr="0"/>
          <a:p>
            <a:pPr marL="0" indent="0" eaLnBrk="1" hangingPunct="1">
              <a:lnSpc>
                <a:spcPct val="80000"/>
              </a:lnSpc>
            </a:pPr>
            <a:r>
              <a:rPr lang="zh-CN" altLang="en-US" sz="2400" dirty="0"/>
              <a:t>字长为</a:t>
            </a:r>
            <a:r>
              <a:rPr lang="en-US" altLang="zh-CN" sz="2400" dirty="0"/>
              <a:t>n</a:t>
            </a:r>
            <a:r>
              <a:rPr lang="zh-CN" altLang="en-US" sz="2400" dirty="0"/>
              <a:t>位的</a:t>
            </a:r>
            <a:r>
              <a:rPr lang="zh-CN" altLang="en-US" sz="2400" dirty="0">
                <a:solidFill>
                  <a:schemeClr val="hlink"/>
                </a:solidFill>
              </a:rPr>
              <a:t>定点整数形式</a:t>
            </a:r>
            <a:r>
              <a:rPr lang="zh-CN" altLang="en-US" sz="2400" dirty="0"/>
              <a:t>为：</a:t>
            </a:r>
            <a:br>
              <a:rPr lang="zh-CN" altLang="en-US" sz="2400" dirty="0"/>
            </a:br>
            <a:r>
              <a:rPr lang="zh-CN" altLang="en-US" sz="2400" dirty="0"/>
              <a:t>       </a:t>
            </a:r>
            <a:r>
              <a:rPr lang="en-US" altLang="zh-CN" sz="2400" dirty="0"/>
              <a:t>X             XXXXX···XX            .</a:t>
            </a:r>
            <a:endParaRPr lang="en-US" altLang="zh-CN" sz="2400" dirty="0"/>
          </a:p>
          <a:p>
            <a:pPr marL="0" indent="0" eaLnBrk="1" hangingPunct="1">
              <a:lnSpc>
                <a:spcPct val="80000"/>
              </a:lnSpc>
              <a:buNone/>
            </a:pPr>
            <a:r>
              <a:rPr lang="en-US" altLang="zh-CN" sz="2400" dirty="0"/>
              <a:t>  1</a:t>
            </a:r>
            <a:r>
              <a:rPr lang="zh-CN" altLang="en-US" sz="2400" dirty="0"/>
              <a:t>位符号       </a:t>
            </a:r>
            <a:r>
              <a:rPr lang="en-US" altLang="zh-CN" sz="2400" dirty="0"/>
              <a:t>n-1</a:t>
            </a:r>
            <a:r>
              <a:rPr lang="zh-CN" altLang="en-US" sz="2400" dirty="0"/>
              <a:t>位数值部分 小数点</a:t>
            </a:r>
            <a:r>
              <a:rPr lang="en-US" altLang="zh-CN" sz="2400" dirty="0"/>
              <a:t>(</a:t>
            </a:r>
            <a:r>
              <a:rPr lang="zh-CN" altLang="en-US" sz="2400" dirty="0"/>
              <a:t>隐含</a:t>
            </a:r>
            <a:r>
              <a:rPr lang="en-US" altLang="zh-CN" sz="2400" dirty="0"/>
              <a:t>)</a:t>
            </a:r>
            <a:endParaRPr lang="en-US" altLang="zh-CN" sz="2400" dirty="0"/>
          </a:p>
          <a:p>
            <a:pPr marL="0" indent="0" eaLnBrk="1" hangingPunct="1">
              <a:lnSpc>
                <a:spcPct val="80000"/>
              </a:lnSpc>
            </a:pPr>
            <a:r>
              <a:rPr lang="zh-CN" altLang="en-US" sz="2400" dirty="0"/>
              <a:t>字长为</a:t>
            </a:r>
            <a:r>
              <a:rPr lang="en-US" altLang="zh-CN" sz="2400" dirty="0"/>
              <a:t>n</a:t>
            </a:r>
            <a:r>
              <a:rPr lang="zh-CN" altLang="en-US" sz="2400" dirty="0"/>
              <a:t>位的</a:t>
            </a:r>
            <a:r>
              <a:rPr lang="zh-CN" altLang="en-US" sz="2400" dirty="0">
                <a:solidFill>
                  <a:schemeClr val="hlink"/>
                </a:solidFill>
              </a:rPr>
              <a:t>定点小数形式</a:t>
            </a:r>
            <a:r>
              <a:rPr lang="zh-CN" altLang="en-US" sz="2400" dirty="0"/>
              <a:t>为：</a:t>
            </a:r>
            <a:br>
              <a:rPr lang="zh-CN" altLang="en-US" sz="2400" dirty="0"/>
            </a:br>
            <a:r>
              <a:rPr lang="zh-CN" altLang="en-US" sz="2400" dirty="0"/>
              <a:t>       </a:t>
            </a:r>
            <a:r>
              <a:rPr lang="en-US" altLang="zh-CN" sz="2400" dirty="0"/>
              <a:t>X           .                    XXXXX···XX</a:t>
            </a:r>
            <a:br>
              <a:rPr lang="en-US" altLang="zh-CN" sz="2400" dirty="0"/>
            </a:br>
            <a:r>
              <a:rPr lang="en-US" altLang="zh-CN" sz="2400" dirty="0"/>
              <a:t>1</a:t>
            </a:r>
            <a:r>
              <a:rPr lang="zh-CN" altLang="en-US" sz="2400" dirty="0"/>
              <a:t>位符号 小数点</a:t>
            </a:r>
            <a:r>
              <a:rPr lang="en-US" altLang="zh-CN" sz="2400" dirty="0"/>
              <a:t>(</a:t>
            </a:r>
            <a:r>
              <a:rPr lang="zh-CN" altLang="en-US" sz="2400" dirty="0"/>
              <a:t>隐含</a:t>
            </a:r>
            <a:r>
              <a:rPr lang="en-US" altLang="zh-CN" sz="2400" dirty="0"/>
              <a:t>)     n-1</a:t>
            </a:r>
            <a:r>
              <a:rPr lang="zh-CN" altLang="en-US" sz="2400" dirty="0"/>
              <a:t>位数值部分 </a:t>
            </a:r>
            <a:endParaRPr lang="zh-CN" altLang="en-US" sz="2400" dirty="0"/>
          </a:p>
          <a:p>
            <a:pPr marL="0" indent="0" eaLnBrk="1" hangingPunct="1">
              <a:lnSpc>
                <a:spcPct val="80000"/>
              </a:lnSpc>
            </a:pPr>
            <a:r>
              <a:rPr lang="zh-CN" altLang="en-US" sz="2400" dirty="0"/>
              <a:t>例如：字长</a:t>
            </a:r>
            <a:r>
              <a:rPr lang="en-US" altLang="zh-CN" sz="2400" dirty="0"/>
              <a:t>n=8</a:t>
            </a:r>
            <a:r>
              <a:rPr lang="zh-CN" altLang="en-US" sz="2400" dirty="0"/>
              <a:t>时，</a:t>
            </a:r>
            <a:r>
              <a:rPr lang="en-US" altLang="zh-CN" sz="2400" dirty="0"/>
              <a:t>X=+99=+1100011B→0 1100011B</a:t>
            </a:r>
            <a:r>
              <a:rPr lang="zh-CN" altLang="en-US" sz="2400" dirty="0"/>
              <a:t>；</a:t>
            </a:r>
            <a:br>
              <a:rPr lang="zh-CN" altLang="en-US" sz="2400" dirty="0"/>
            </a:br>
            <a:r>
              <a:rPr lang="zh-CN" altLang="en-US" sz="2400" dirty="0"/>
              <a:t>                                    </a:t>
            </a:r>
            <a:r>
              <a:rPr lang="en-US" altLang="zh-CN" sz="2400" dirty="0"/>
              <a:t>Y= -0. 8125=-0. 1101B→1. 1101000B</a:t>
            </a:r>
            <a:r>
              <a:rPr lang="zh-CN" altLang="en-US" sz="2400" dirty="0"/>
              <a:t>。</a:t>
            </a:r>
            <a:endParaRPr lang="zh-CN" altLang="en-US" sz="2400" dirty="0"/>
          </a:p>
          <a:p>
            <a:pPr marL="0" indent="0" eaLnBrk="1" hangingPunct="1">
              <a:lnSpc>
                <a:spcPct val="80000"/>
              </a:lnSpc>
            </a:pPr>
            <a:r>
              <a:rPr lang="zh-CN" altLang="en-US" sz="2400" dirty="0"/>
              <a:t>定点数的表数范围较小，设字长为</a:t>
            </a:r>
            <a:r>
              <a:rPr lang="en-US" altLang="zh-CN" sz="2400" dirty="0"/>
              <a:t>n</a:t>
            </a:r>
            <a:r>
              <a:rPr lang="zh-CN" altLang="en-US" sz="2400" dirty="0"/>
              <a:t>位的定点数</a:t>
            </a:r>
            <a:r>
              <a:rPr lang="en-US" altLang="zh-CN" sz="2400" dirty="0"/>
              <a:t>(</a:t>
            </a:r>
            <a:r>
              <a:rPr lang="zh-CN" altLang="en-US" sz="2400" dirty="0"/>
              <a:t>符号位</a:t>
            </a:r>
            <a:r>
              <a:rPr lang="en-US" altLang="zh-CN" sz="2400" dirty="0"/>
              <a:t>1</a:t>
            </a:r>
            <a:r>
              <a:rPr lang="zh-CN" altLang="en-US" sz="2400" dirty="0"/>
              <a:t>位，数值位</a:t>
            </a:r>
            <a:r>
              <a:rPr lang="en-US" altLang="zh-CN" sz="2400" dirty="0"/>
              <a:t>n-1</a:t>
            </a:r>
            <a:r>
              <a:rPr lang="zh-CN" altLang="en-US" sz="2400" dirty="0"/>
              <a:t>位</a:t>
            </a:r>
            <a:r>
              <a:rPr lang="en-US" altLang="zh-CN" sz="2400" dirty="0"/>
              <a:t>)</a:t>
            </a:r>
            <a:r>
              <a:rPr lang="zh-CN" altLang="en-US" sz="2400" dirty="0"/>
              <a:t>以补码形式表示时，其范围为：</a:t>
            </a:r>
            <a:endParaRPr lang="zh-CN" altLang="en-US" sz="2400" dirty="0"/>
          </a:p>
          <a:p>
            <a:pPr marL="0" indent="0" eaLnBrk="1" hangingPunct="1">
              <a:lnSpc>
                <a:spcPct val="80000"/>
              </a:lnSpc>
              <a:buNone/>
            </a:pPr>
            <a:r>
              <a:rPr lang="zh-CN" altLang="en-US" sz="2400" dirty="0"/>
              <a:t>        定点整数：</a:t>
            </a:r>
            <a:r>
              <a:rPr lang="en-US" altLang="zh-CN" sz="2400" dirty="0"/>
              <a:t>- 2</a:t>
            </a:r>
            <a:r>
              <a:rPr lang="en-US" altLang="zh-CN" sz="2400" baseline="30000" dirty="0"/>
              <a:t>n-1</a:t>
            </a:r>
            <a:r>
              <a:rPr lang="en-US" altLang="zh-CN" sz="2400" dirty="0"/>
              <a:t>  ~  2</a:t>
            </a:r>
            <a:r>
              <a:rPr lang="en-US" altLang="zh-CN" sz="2400" baseline="30000" dirty="0"/>
              <a:t>n-1</a:t>
            </a:r>
            <a:r>
              <a:rPr lang="en-US" altLang="zh-CN" sz="2400" dirty="0"/>
              <a:t>-1</a:t>
            </a:r>
            <a:endParaRPr lang="en-US" altLang="zh-CN" sz="2400" dirty="0"/>
          </a:p>
          <a:p>
            <a:pPr marL="0" indent="0" eaLnBrk="1" hangingPunct="1">
              <a:lnSpc>
                <a:spcPct val="80000"/>
              </a:lnSpc>
              <a:buNone/>
            </a:pPr>
            <a:r>
              <a:rPr lang="en-US" altLang="zh-CN" sz="2400" dirty="0"/>
              <a:t>        </a:t>
            </a:r>
            <a:r>
              <a:rPr lang="zh-CN" altLang="en-US" sz="2400" dirty="0"/>
              <a:t>定点小数：</a:t>
            </a:r>
            <a:r>
              <a:rPr lang="en-US" altLang="zh-CN" sz="2400" dirty="0"/>
              <a:t>-1      ~  1-2</a:t>
            </a:r>
            <a:r>
              <a:rPr lang="en-US" altLang="zh-CN" sz="2400" baseline="30000" dirty="0"/>
              <a:t>-(n-1)</a:t>
            </a:r>
            <a:endParaRPr lang="en-US" altLang="zh-CN" sz="2400" baseline="300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443">
                                            <p:txEl>
                                              <p:charRg st="0" end="60"/>
                                            </p:txEl>
                                          </p:spTgt>
                                        </p:tgtEl>
                                        <p:attrNameLst>
                                          <p:attrName>style.visibility</p:attrName>
                                        </p:attrNameLst>
                                      </p:cBhvr>
                                      <p:to>
                                        <p:strVal val="visible"/>
                                      </p:to>
                                    </p:set>
                                    <p:anim calcmode="lin" valueType="num">
                                      <p:cBhvr additive="base">
                                        <p:cTn id="7" dur="500" fill="hold"/>
                                        <p:tgtEl>
                                          <p:spTgt spid="61443">
                                            <p:txEl>
                                              <p:charRg st="0" end="6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43">
                                            <p:txEl>
                                              <p:charRg st="0" end="6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1443">
                                            <p:txEl>
                                              <p:charRg st="60" end="90"/>
                                            </p:txEl>
                                          </p:spTgt>
                                        </p:tgtEl>
                                        <p:attrNameLst>
                                          <p:attrName>style.visibility</p:attrName>
                                        </p:attrNameLst>
                                      </p:cBhvr>
                                      <p:to>
                                        <p:strVal val="visible"/>
                                      </p:to>
                                    </p:set>
                                    <p:anim calcmode="lin" valueType="num">
                                      <p:cBhvr additive="base">
                                        <p:cTn id="11" dur="500" fill="hold"/>
                                        <p:tgtEl>
                                          <p:spTgt spid="61443">
                                            <p:txEl>
                                              <p:charRg st="60" end="9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1443">
                                            <p:txEl>
                                              <p:charRg st="60" end="9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1443">
                                            <p:txEl>
                                              <p:charRg st="90" end="183"/>
                                            </p:txEl>
                                          </p:spTgt>
                                        </p:tgtEl>
                                        <p:attrNameLst>
                                          <p:attrName>style.visibility</p:attrName>
                                        </p:attrNameLst>
                                      </p:cBhvr>
                                      <p:to>
                                        <p:strVal val="visible"/>
                                      </p:to>
                                    </p:set>
                                    <p:anim calcmode="lin" valueType="num">
                                      <p:cBhvr additive="base">
                                        <p:cTn id="17" dur="500" fill="hold"/>
                                        <p:tgtEl>
                                          <p:spTgt spid="61443">
                                            <p:txEl>
                                              <p:charRg st="90" end="18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1443">
                                            <p:txEl>
                                              <p:charRg st="90" end="18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1443">
                                            <p:txEl>
                                              <p:charRg st="183" end="292"/>
                                            </p:txEl>
                                          </p:spTgt>
                                        </p:tgtEl>
                                        <p:attrNameLst>
                                          <p:attrName>style.visibility</p:attrName>
                                        </p:attrNameLst>
                                      </p:cBhvr>
                                      <p:to>
                                        <p:strVal val="visible"/>
                                      </p:to>
                                    </p:set>
                                    <p:anim calcmode="lin" valueType="num">
                                      <p:cBhvr additive="base">
                                        <p:cTn id="23" dur="500" fill="hold"/>
                                        <p:tgtEl>
                                          <p:spTgt spid="61443">
                                            <p:txEl>
                                              <p:charRg st="183" end="29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1443">
                                            <p:txEl>
                                              <p:charRg st="183" end="29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1443">
                                            <p:txEl>
                                              <p:charRg st="292" end="343"/>
                                            </p:txEl>
                                          </p:spTgt>
                                        </p:tgtEl>
                                        <p:attrNameLst>
                                          <p:attrName>style.visibility</p:attrName>
                                        </p:attrNameLst>
                                      </p:cBhvr>
                                      <p:to>
                                        <p:strVal val="visible"/>
                                      </p:to>
                                    </p:set>
                                    <p:anim calcmode="lin" valueType="num">
                                      <p:cBhvr additive="base">
                                        <p:cTn id="29" dur="500" fill="hold"/>
                                        <p:tgtEl>
                                          <p:spTgt spid="61443">
                                            <p:txEl>
                                              <p:charRg st="292" end="34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1443">
                                            <p:txEl>
                                              <p:charRg st="292" end="34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1443">
                                            <p:txEl>
                                              <p:charRg st="343" end="374"/>
                                            </p:txEl>
                                          </p:spTgt>
                                        </p:tgtEl>
                                        <p:attrNameLst>
                                          <p:attrName>style.visibility</p:attrName>
                                        </p:attrNameLst>
                                      </p:cBhvr>
                                      <p:to>
                                        <p:strVal val="visible"/>
                                      </p:to>
                                    </p:set>
                                    <p:anim calcmode="lin" valueType="num">
                                      <p:cBhvr additive="base">
                                        <p:cTn id="35" dur="500" fill="hold"/>
                                        <p:tgtEl>
                                          <p:spTgt spid="61443">
                                            <p:txEl>
                                              <p:charRg st="343" end="37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1443">
                                            <p:txEl>
                                              <p:charRg st="343" end="37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1443">
                                            <p:txEl>
                                              <p:charRg st="374" end="408"/>
                                            </p:txEl>
                                          </p:spTgt>
                                        </p:tgtEl>
                                        <p:attrNameLst>
                                          <p:attrName>style.visibility</p:attrName>
                                        </p:attrNameLst>
                                      </p:cBhvr>
                                      <p:to>
                                        <p:strVal val="visible"/>
                                      </p:to>
                                    </p:set>
                                    <p:anim calcmode="lin" valueType="num">
                                      <p:cBhvr additive="base">
                                        <p:cTn id="41" dur="500" fill="hold"/>
                                        <p:tgtEl>
                                          <p:spTgt spid="61443">
                                            <p:txEl>
                                              <p:charRg st="374" end="40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61443">
                                            <p:txEl>
                                              <p:charRg st="374" end="40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2)</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浮点数</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62467" name="Rectangle 3"/>
          <p:cNvSpPr>
            <a:spLocks noGrp="1"/>
          </p:cNvSpPr>
          <p:nvPr>
            <p:ph idx="1"/>
          </p:nvPr>
        </p:nvSpPr>
        <p:spPr>
          <a:xfrm>
            <a:off x="395288" y="1989138"/>
            <a:ext cx="8497887" cy="4464050"/>
          </a:xfrm>
        </p:spPr>
        <p:txBody>
          <a:bodyPr vert="horz" wrap="square" lIns="91440" tIns="45720" rIns="91440" bIns="45720" anchor="t" anchorCtr="0"/>
          <a:p>
            <a:pPr eaLnBrk="1" hangingPunct="1">
              <a:lnSpc>
                <a:spcPct val="90000"/>
              </a:lnSpc>
            </a:pPr>
            <a:r>
              <a:rPr lang="zh-CN" altLang="en-US" sz="2400" dirty="0"/>
              <a:t>浮点数是指小数点位置可浮动的数据。</a:t>
            </a:r>
            <a:endParaRPr lang="zh-CN" altLang="en-US" sz="2400" dirty="0"/>
          </a:p>
          <a:p>
            <a:pPr eaLnBrk="1" hangingPunct="1">
              <a:lnSpc>
                <a:spcPct val="90000"/>
              </a:lnSpc>
            </a:pPr>
            <a:r>
              <a:rPr lang="zh-CN" altLang="en-US" sz="2400" dirty="0"/>
              <a:t>把一个二进制数通过移动小数点位置可表示成</a:t>
            </a:r>
            <a:r>
              <a:rPr lang="zh-CN" altLang="en-US" sz="2400" dirty="0">
                <a:solidFill>
                  <a:schemeClr val="hlink"/>
                </a:solidFill>
              </a:rPr>
              <a:t>整数的阶码</a:t>
            </a:r>
            <a:r>
              <a:rPr lang="zh-CN" altLang="en-US" sz="2400" dirty="0"/>
              <a:t>和</a:t>
            </a:r>
            <a:r>
              <a:rPr lang="zh-CN" altLang="en-US" sz="2400" dirty="0">
                <a:solidFill>
                  <a:schemeClr val="hlink"/>
                </a:solidFill>
              </a:rPr>
              <a:t>小数的尾数</a:t>
            </a:r>
            <a:r>
              <a:rPr lang="zh-CN" altLang="en-US" sz="2400" dirty="0"/>
              <a:t>两部分，这样，就可采用定点数的表示形式来表示浮点数。</a:t>
            </a:r>
            <a:endParaRPr lang="zh-CN" altLang="en-US" sz="2400" dirty="0"/>
          </a:p>
          <a:p>
            <a:pPr eaLnBrk="1" hangingPunct="1">
              <a:lnSpc>
                <a:spcPct val="90000"/>
              </a:lnSpc>
            </a:pPr>
            <a:r>
              <a:rPr lang="zh-CN" altLang="en-US" sz="2400" dirty="0"/>
              <a:t>浮点数在计算机中的表示形式为：</a:t>
            </a:r>
            <a:endParaRPr lang="zh-CN" altLang="en-US" sz="2400" dirty="0"/>
          </a:p>
          <a:p>
            <a:pPr eaLnBrk="1" hangingPunct="1">
              <a:lnSpc>
                <a:spcPct val="90000"/>
              </a:lnSpc>
              <a:buNone/>
            </a:pPr>
            <a:r>
              <a:rPr lang="zh-CN" altLang="en-US" sz="2400" dirty="0"/>
              <a:t>          </a:t>
            </a:r>
            <a:r>
              <a:rPr lang="en-US" altLang="zh-CN" sz="2400" dirty="0"/>
              <a:t>X                    XXX···XX               X              XXX···XX</a:t>
            </a:r>
            <a:endParaRPr lang="en-US" altLang="zh-CN" sz="2400" dirty="0"/>
          </a:p>
          <a:p>
            <a:pPr eaLnBrk="1" hangingPunct="1">
              <a:lnSpc>
                <a:spcPct val="90000"/>
              </a:lnSpc>
              <a:buNone/>
            </a:pPr>
            <a:r>
              <a:rPr lang="en-US" altLang="zh-CN" sz="2400" dirty="0"/>
              <a:t>  </a:t>
            </a:r>
            <a:r>
              <a:rPr lang="zh-CN" altLang="en-US" sz="2400" dirty="0"/>
              <a:t>阶码符号</a:t>
            </a:r>
            <a:r>
              <a:rPr lang="en-US" altLang="zh-CN" sz="2400" dirty="0"/>
              <a:t>(</a:t>
            </a:r>
            <a:r>
              <a:rPr lang="zh-CN" altLang="en-US" sz="2400" dirty="0"/>
              <a:t>阶符</a:t>
            </a:r>
            <a:r>
              <a:rPr lang="en-US" altLang="zh-CN" sz="2400" dirty="0"/>
              <a:t>)   </a:t>
            </a:r>
            <a:r>
              <a:rPr lang="zh-CN" altLang="en-US" sz="2400" dirty="0"/>
              <a:t>阶码数值部分   尾数符号     尾数数值部分</a:t>
            </a:r>
            <a:endParaRPr lang="zh-CN" altLang="en-US" sz="2400" dirty="0"/>
          </a:p>
          <a:p>
            <a:pPr eaLnBrk="1" hangingPunct="1">
              <a:lnSpc>
                <a:spcPct val="90000"/>
              </a:lnSpc>
            </a:pPr>
            <a:r>
              <a:rPr lang="zh-CN" altLang="en-US" sz="2400" b="1" dirty="0">
                <a:solidFill>
                  <a:schemeClr val="folHlink"/>
                </a:solidFill>
              </a:rPr>
              <a:t>浮点数由整数的阶码和小数的尾数两部分组成，其表示形式就由阶码的整数表示和尾数的小数表示组合而成。</a:t>
            </a:r>
            <a:r>
              <a:rPr lang="zh-CN" altLang="en-US" sz="2400" dirty="0"/>
              <a:t> </a:t>
            </a:r>
            <a:endParaRPr lang="zh-CN" altLang="en-US"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67">
                                            <p:txEl>
                                              <p:charRg st="0" end="18"/>
                                            </p:txEl>
                                          </p:spTgt>
                                        </p:tgtEl>
                                        <p:attrNameLst>
                                          <p:attrName>style.visibility</p:attrName>
                                        </p:attrNameLst>
                                      </p:cBhvr>
                                      <p:to>
                                        <p:strVal val="visible"/>
                                      </p:to>
                                    </p:set>
                                    <p:anim calcmode="lin" valueType="num">
                                      <p:cBhvr additive="base">
                                        <p:cTn id="7" dur="500" fill="hold"/>
                                        <p:tgtEl>
                                          <p:spTgt spid="62467">
                                            <p:txEl>
                                              <p:charRg st="0" end="18"/>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467">
                                            <p:txEl>
                                              <p:charRg st="0" end="18"/>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2467">
                                            <p:txEl>
                                              <p:charRg st="18" end="76"/>
                                            </p:txEl>
                                          </p:spTgt>
                                        </p:tgtEl>
                                        <p:attrNameLst>
                                          <p:attrName>style.visibility</p:attrName>
                                        </p:attrNameLst>
                                      </p:cBhvr>
                                      <p:to>
                                        <p:strVal val="visible"/>
                                      </p:to>
                                    </p:set>
                                    <p:anim calcmode="lin" valueType="num">
                                      <p:cBhvr additive="base">
                                        <p:cTn id="13" dur="500" fill="hold"/>
                                        <p:tgtEl>
                                          <p:spTgt spid="62467">
                                            <p:txEl>
                                              <p:charRg st="18" end="7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2467">
                                            <p:txEl>
                                              <p:charRg st="18" end="7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2467">
                                            <p:txEl>
                                              <p:charRg st="76" end="92"/>
                                            </p:txEl>
                                          </p:spTgt>
                                        </p:tgtEl>
                                        <p:attrNameLst>
                                          <p:attrName>style.visibility</p:attrName>
                                        </p:attrNameLst>
                                      </p:cBhvr>
                                      <p:to>
                                        <p:strVal val="visible"/>
                                      </p:to>
                                    </p:set>
                                    <p:anim calcmode="lin" valueType="num">
                                      <p:cBhvr additive="base">
                                        <p:cTn id="19" dur="500" fill="hold"/>
                                        <p:tgtEl>
                                          <p:spTgt spid="62467">
                                            <p:txEl>
                                              <p:charRg st="76" end="9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2467">
                                            <p:txEl>
                                              <p:charRg st="76" end="9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2467">
                                            <p:txEl>
                                              <p:charRg st="92" end="170"/>
                                            </p:txEl>
                                          </p:spTgt>
                                        </p:tgtEl>
                                        <p:attrNameLst>
                                          <p:attrName>style.visibility</p:attrName>
                                        </p:attrNameLst>
                                      </p:cBhvr>
                                      <p:to>
                                        <p:strVal val="visible"/>
                                      </p:to>
                                    </p:set>
                                    <p:anim calcmode="lin" valueType="num">
                                      <p:cBhvr additive="base">
                                        <p:cTn id="23" dur="500" fill="hold"/>
                                        <p:tgtEl>
                                          <p:spTgt spid="62467">
                                            <p:txEl>
                                              <p:charRg st="92" end="17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2467">
                                            <p:txEl>
                                              <p:charRg st="92" end="170"/>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2467">
                                            <p:txEl>
                                              <p:charRg st="170" end="208"/>
                                            </p:txEl>
                                          </p:spTgt>
                                        </p:tgtEl>
                                        <p:attrNameLst>
                                          <p:attrName>style.visibility</p:attrName>
                                        </p:attrNameLst>
                                      </p:cBhvr>
                                      <p:to>
                                        <p:strVal val="visible"/>
                                      </p:to>
                                    </p:set>
                                    <p:anim calcmode="lin" valueType="num">
                                      <p:cBhvr additive="base">
                                        <p:cTn id="27" dur="500" fill="hold"/>
                                        <p:tgtEl>
                                          <p:spTgt spid="62467">
                                            <p:txEl>
                                              <p:charRg st="170" end="20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62467">
                                            <p:txEl>
                                              <p:charRg st="170" end="20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2467">
                                            <p:txEl>
                                              <p:charRg st="208" end="258"/>
                                            </p:txEl>
                                          </p:spTgt>
                                        </p:tgtEl>
                                        <p:attrNameLst>
                                          <p:attrName>style.visibility</p:attrName>
                                        </p:attrNameLst>
                                      </p:cBhvr>
                                      <p:to>
                                        <p:strVal val="visible"/>
                                      </p:to>
                                    </p:set>
                                    <p:anim calcmode="lin" valueType="num">
                                      <p:cBhvr additive="base">
                                        <p:cTn id="33" dur="500" fill="hold"/>
                                        <p:tgtEl>
                                          <p:spTgt spid="62467">
                                            <p:txEl>
                                              <p:charRg st="208" end="25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2467">
                                            <p:txEl>
                                              <p:charRg st="208" end="25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例子</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63491" name="Rectangle 3"/>
          <p:cNvSpPr>
            <a:spLocks noGrp="1"/>
          </p:cNvSpPr>
          <p:nvPr>
            <p:ph idx="1"/>
          </p:nvPr>
        </p:nvSpPr>
        <p:spPr>
          <a:xfrm>
            <a:off x="684213" y="2060575"/>
            <a:ext cx="7983537" cy="4435475"/>
          </a:xfrm>
        </p:spPr>
        <p:txBody>
          <a:bodyPr vert="horz" wrap="square" lIns="91440" tIns="45720" rIns="91440" bIns="45720" anchor="t" anchorCtr="0"/>
          <a:p>
            <a:pPr eaLnBrk="1" hangingPunct="1">
              <a:lnSpc>
                <a:spcPct val="90000"/>
              </a:lnSpc>
            </a:pPr>
            <a:r>
              <a:rPr lang="zh-CN" altLang="en-US" sz="2800" dirty="0"/>
              <a:t>数据</a:t>
            </a:r>
            <a:r>
              <a:rPr lang="en-US" altLang="zh-CN" sz="2800" dirty="0"/>
              <a:t>N=-13×2</a:t>
            </a:r>
            <a:r>
              <a:rPr lang="en-US" altLang="zh-CN" sz="2800" baseline="30000" dirty="0"/>
              <a:t>3</a:t>
            </a:r>
            <a:r>
              <a:rPr lang="en-US" altLang="zh-CN" sz="2800" dirty="0"/>
              <a:t>=-1101B×2</a:t>
            </a:r>
            <a:r>
              <a:rPr lang="en-US" altLang="zh-CN" sz="2800" baseline="30000" dirty="0"/>
              <a:t>3</a:t>
            </a:r>
            <a:r>
              <a:rPr lang="en-US" altLang="zh-CN" sz="2800" dirty="0"/>
              <a:t>=-0.1101B×2</a:t>
            </a:r>
            <a:r>
              <a:rPr lang="en-US" altLang="zh-CN" sz="2800" baseline="30000" dirty="0"/>
              <a:t>7</a:t>
            </a:r>
            <a:br>
              <a:rPr lang="en-US" altLang="zh-CN" sz="2800" baseline="30000" dirty="0"/>
            </a:br>
            <a:r>
              <a:rPr lang="en-US" altLang="zh-CN" sz="2800" dirty="0"/>
              <a:t>=-0.1101B×2</a:t>
            </a:r>
            <a:r>
              <a:rPr lang="en-US" altLang="zh-CN" sz="2800" baseline="30000" dirty="0"/>
              <a:t>+111B</a:t>
            </a:r>
            <a:r>
              <a:rPr lang="zh-CN" altLang="en-US" sz="2800" dirty="0"/>
              <a:t>，所以表示成浮点数形式，其尾数</a:t>
            </a:r>
            <a:r>
              <a:rPr lang="en-US" altLang="zh-CN" sz="2800" dirty="0"/>
              <a:t>M=-0.1101B</a:t>
            </a:r>
            <a:r>
              <a:rPr lang="zh-CN" altLang="en-US" sz="2800" dirty="0"/>
              <a:t>，阶码</a:t>
            </a:r>
            <a:r>
              <a:rPr lang="en-US" altLang="zh-CN" sz="2800" dirty="0"/>
              <a:t>E=+111B</a:t>
            </a:r>
            <a:r>
              <a:rPr lang="zh-CN" altLang="en-US" sz="2800" dirty="0"/>
              <a:t>。</a:t>
            </a:r>
            <a:endParaRPr lang="zh-CN" altLang="en-US" sz="2800" dirty="0"/>
          </a:p>
          <a:p>
            <a:pPr eaLnBrk="1" hangingPunct="1">
              <a:lnSpc>
                <a:spcPct val="90000"/>
              </a:lnSpc>
            </a:pPr>
            <a:r>
              <a:rPr lang="zh-CN" altLang="en-US" sz="2800" dirty="0"/>
              <a:t>若浮点数为</a:t>
            </a:r>
            <a:r>
              <a:rPr lang="en-US" altLang="zh-CN" sz="2800" dirty="0"/>
              <a:t>1</a:t>
            </a:r>
            <a:r>
              <a:rPr lang="zh-CN" altLang="en-US" sz="2800" dirty="0"/>
              <a:t>6位，其中阶码6位、尾数10位，如果以原码表示，则</a:t>
            </a:r>
            <a:br>
              <a:rPr lang="zh-CN" altLang="en-US" sz="2800" dirty="0"/>
            </a:br>
            <a:r>
              <a:rPr lang="en-US" altLang="zh-CN" sz="2800" dirty="0"/>
              <a:t>[N]</a:t>
            </a:r>
            <a:r>
              <a:rPr lang="zh-CN" altLang="en-US" sz="2800" baseline="-25000" dirty="0"/>
              <a:t>原</a:t>
            </a:r>
            <a:r>
              <a:rPr lang="en-US" altLang="zh-CN" sz="2800" dirty="0"/>
              <a:t>=  </a:t>
            </a:r>
            <a:r>
              <a:rPr lang="en-US" altLang="zh-CN" sz="2800" u="sng" dirty="0"/>
              <a:t>0</a:t>
            </a:r>
            <a:r>
              <a:rPr lang="en-US" altLang="zh-CN" sz="2800" dirty="0"/>
              <a:t>    </a:t>
            </a:r>
            <a:r>
              <a:rPr lang="zh-CN" altLang="en-US" sz="2800" u="sng" dirty="0"/>
              <a:t>00</a:t>
            </a:r>
            <a:r>
              <a:rPr lang="en-US" altLang="zh-CN" sz="2800" u="sng" dirty="0"/>
              <a:t>111</a:t>
            </a:r>
            <a:r>
              <a:rPr lang="en-US" altLang="zh-CN" sz="2800" dirty="0"/>
              <a:t>       </a:t>
            </a:r>
            <a:r>
              <a:rPr lang="en-US" altLang="zh-CN" sz="2800" u="sng" dirty="0"/>
              <a:t>1</a:t>
            </a:r>
            <a:r>
              <a:rPr lang="en-US" altLang="zh-CN" sz="2800" dirty="0"/>
              <a:t>   </a:t>
            </a:r>
            <a:r>
              <a:rPr lang="en-US" altLang="zh-CN" sz="2800" u="sng" dirty="0"/>
              <a:t>11010</a:t>
            </a:r>
            <a:r>
              <a:rPr lang="zh-CN" altLang="en-US" sz="2800" u="sng" dirty="0"/>
              <a:t>0000</a:t>
            </a:r>
            <a:endParaRPr lang="en-US" altLang="zh-CN" sz="2800" u="sng" dirty="0"/>
          </a:p>
          <a:p>
            <a:pPr eaLnBrk="1" hangingPunct="1">
              <a:lnSpc>
                <a:spcPct val="90000"/>
              </a:lnSpc>
              <a:buNone/>
            </a:pPr>
            <a:r>
              <a:rPr lang="en-US" altLang="zh-CN" sz="2800" dirty="0"/>
              <a:t>             </a:t>
            </a:r>
            <a:r>
              <a:rPr lang="zh-CN" altLang="en-US" sz="2800" dirty="0"/>
              <a:t>阶符  阶码     尾符    尾数</a:t>
            </a:r>
            <a:endParaRPr lang="zh-CN" altLang="en-US" sz="2800" dirty="0"/>
          </a:p>
          <a:p>
            <a:pPr eaLnBrk="1" hangingPunct="1">
              <a:lnSpc>
                <a:spcPct val="90000"/>
              </a:lnSpc>
            </a:pPr>
            <a:r>
              <a:rPr lang="zh-CN" altLang="en-US" sz="2800" dirty="0">
                <a:solidFill>
                  <a:schemeClr val="hlink"/>
                </a:solidFill>
              </a:rPr>
              <a:t>浮点数由于有阶码的存在，扩大了浮点数的表数范围，同时由于有尾数的存在，又保证了浮点数的表数精度</a:t>
            </a:r>
            <a:r>
              <a:rPr lang="zh-CN" altLang="en-US" sz="2800" dirty="0"/>
              <a:t>。</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3491">
                                            <p:txEl>
                                              <p:charRg st="0" end="86"/>
                                            </p:txEl>
                                          </p:spTgt>
                                        </p:tgtEl>
                                        <p:attrNameLst>
                                          <p:attrName>style.visibility</p:attrName>
                                        </p:attrNameLst>
                                      </p:cBhvr>
                                      <p:to>
                                        <p:strVal val="visible"/>
                                      </p:to>
                                    </p:set>
                                    <p:animEffect transition="in" filter="slide(fromBottom)">
                                      <p:cBhvr>
                                        <p:cTn id="7" dur="500"/>
                                        <p:tgtEl>
                                          <p:spTgt spid="63491">
                                            <p:txEl>
                                              <p:charRg st="0" end="8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63491">
                                            <p:txEl>
                                              <p:charRg st="86" end="156"/>
                                            </p:txEl>
                                          </p:spTgt>
                                        </p:tgtEl>
                                        <p:attrNameLst>
                                          <p:attrName>style.visibility</p:attrName>
                                        </p:attrNameLst>
                                      </p:cBhvr>
                                      <p:to>
                                        <p:strVal val="visible"/>
                                      </p:to>
                                    </p:set>
                                    <p:animEffect transition="in" filter="slide(fromBottom)">
                                      <p:cBhvr>
                                        <p:cTn id="12" dur="500"/>
                                        <p:tgtEl>
                                          <p:spTgt spid="63491">
                                            <p:txEl>
                                              <p:charRg st="86" end="156"/>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63491">
                                            <p:txEl>
                                              <p:charRg st="156" end="189"/>
                                            </p:txEl>
                                          </p:spTgt>
                                        </p:tgtEl>
                                        <p:attrNameLst>
                                          <p:attrName>style.visibility</p:attrName>
                                        </p:attrNameLst>
                                      </p:cBhvr>
                                      <p:to>
                                        <p:strVal val="visible"/>
                                      </p:to>
                                    </p:set>
                                    <p:animEffect transition="in" filter="slide(fromBottom)">
                                      <p:cBhvr>
                                        <p:cTn id="15" dur="500"/>
                                        <p:tgtEl>
                                          <p:spTgt spid="63491">
                                            <p:txEl>
                                              <p:charRg st="156" end="189"/>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63491">
                                            <p:txEl>
                                              <p:charRg st="189" end="238"/>
                                            </p:txEl>
                                          </p:spTgt>
                                        </p:tgtEl>
                                        <p:attrNameLst>
                                          <p:attrName>style.visibility</p:attrName>
                                        </p:attrNameLst>
                                      </p:cBhvr>
                                      <p:to>
                                        <p:strVal val="visible"/>
                                      </p:to>
                                    </p:set>
                                    <p:animEffect transition="in" filter="slide(fromBottom)">
                                      <p:cBhvr>
                                        <p:cTn id="20" dur="500"/>
                                        <p:tgtEl>
                                          <p:spTgt spid="63491">
                                            <p:txEl>
                                              <p:charRg st="189" end="23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1.3.3 </a:t>
            </a:r>
            <a:r>
              <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常用编码</a:t>
            </a:r>
            <a:endParaRPr kumimoji="0" lang="zh-CN"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130051" name="Rectangle 3"/>
          <p:cNvSpPr>
            <a:spLocks noGrp="1"/>
          </p:cNvSpPr>
          <p:nvPr>
            <p:ph idx="1"/>
          </p:nvPr>
        </p:nvSpPr>
        <p:spPr/>
        <p:txBody>
          <a:bodyPr vert="horz" wrap="square" lIns="91440" tIns="45720" rIns="91440" bIns="45720" anchor="t" anchorCtr="0"/>
          <a:p>
            <a:pPr eaLnBrk="1" hangingPunct="1">
              <a:buNone/>
            </a:pPr>
            <a:r>
              <a:rPr lang="zh-CN" altLang="en-US" sz="3600" dirty="0"/>
              <a:t>本小节内容：</a:t>
            </a:r>
            <a:endParaRPr lang="zh-CN" altLang="en-US" sz="3600" dirty="0"/>
          </a:p>
          <a:p>
            <a:pPr lvl="1" eaLnBrk="1" hangingPunct="1">
              <a:buFont typeface="Wingdings" panose="05000000000000000000" pitchFamily="2" charset="2"/>
              <a:buChar char="n"/>
            </a:pPr>
            <a:r>
              <a:rPr lang="zh-CN" altLang="en-US" sz="3600" dirty="0"/>
              <a:t>字符的编码</a:t>
            </a:r>
            <a:endParaRPr lang="zh-CN" altLang="en-US" sz="3600" dirty="0"/>
          </a:p>
          <a:p>
            <a:pPr lvl="1" eaLnBrk="1" hangingPunct="1">
              <a:buFont typeface="Wingdings" panose="05000000000000000000" pitchFamily="2" charset="2"/>
              <a:buChar char="n"/>
            </a:pPr>
            <a:r>
              <a:rPr lang="zh-CN" altLang="en-US" sz="3600" dirty="0"/>
              <a:t>汉字的编码</a:t>
            </a:r>
            <a:endParaRPr lang="zh-CN" altLang="en-US" sz="3600" dirty="0"/>
          </a:p>
          <a:p>
            <a:pPr lvl="1" eaLnBrk="1" hangingPunct="1">
              <a:buFont typeface="Wingdings" panose="05000000000000000000" pitchFamily="2" charset="2"/>
              <a:buChar char="n"/>
            </a:pPr>
            <a:r>
              <a:rPr lang="zh-CN" altLang="en-US" sz="3600" dirty="0"/>
              <a:t>二进制编码的十进制数</a:t>
            </a:r>
            <a:endParaRPr lang="zh-CN" altLang="en-US" sz="3600" dirty="0"/>
          </a:p>
        </p:txBody>
      </p:sp>
    </p:spTree>
  </p:cSld>
  <p:clrMapOvr>
    <a:masterClrMapping/>
  </p:clrMapOvr>
  <p:transition>
    <p:rand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字符的编码</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(ASCII</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码</a:t>
            </a: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endPar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65539" name="Rectangle 3"/>
          <p:cNvSpPr>
            <a:spLocks noGrp="1"/>
          </p:cNvSpPr>
          <p:nvPr>
            <p:ph idx="1"/>
          </p:nvPr>
        </p:nvSpPr>
        <p:spPr>
          <a:xfrm>
            <a:off x="468313" y="1916113"/>
            <a:ext cx="8351837" cy="4467225"/>
          </a:xfrm>
        </p:spPr>
        <p:txBody>
          <a:bodyPr vert="horz" wrap="square" lIns="91440" tIns="45720" rIns="91440" bIns="45720" anchor="t" anchorCtr="0"/>
          <a:p>
            <a:pPr eaLnBrk="1" hangingPunct="1">
              <a:spcBef>
                <a:spcPct val="0"/>
              </a:spcBef>
            </a:pPr>
            <a:r>
              <a:rPr lang="zh-CN" altLang="en-US" sz="2800" dirty="0"/>
              <a:t>在微型计算机系统中，字母、数字符以及各种符号需要采取特定的规则用二进制编码来表示。目前，广泛采用的是美国信息交换标准码，即</a:t>
            </a:r>
            <a:r>
              <a:rPr lang="en-US" altLang="zh-CN" sz="2800" dirty="0"/>
              <a:t>ASCII</a:t>
            </a:r>
            <a:r>
              <a:rPr lang="zh-CN" altLang="en-US" sz="2800" dirty="0"/>
              <a:t>码</a:t>
            </a:r>
            <a:r>
              <a:rPr lang="en-US" altLang="zh-CN" sz="2400" dirty="0"/>
              <a:t>(American Standard Code for Information Interchange)</a:t>
            </a:r>
            <a:r>
              <a:rPr lang="zh-CN" altLang="en-US" sz="2800" dirty="0"/>
              <a:t>。</a:t>
            </a:r>
            <a:endParaRPr lang="zh-CN" altLang="en-US" sz="2800" dirty="0"/>
          </a:p>
          <a:p>
            <a:pPr eaLnBrk="1" hangingPunct="1">
              <a:spcBef>
                <a:spcPct val="0"/>
              </a:spcBef>
            </a:pPr>
            <a:r>
              <a:rPr lang="zh-CN" altLang="en-US" sz="2800" dirty="0"/>
              <a:t>标准</a:t>
            </a:r>
            <a:r>
              <a:rPr lang="en-US" altLang="zh-CN" sz="2800" dirty="0"/>
              <a:t>ASCII</a:t>
            </a:r>
            <a:r>
              <a:rPr lang="zh-CN" altLang="en-US" sz="2800" dirty="0"/>
              <a:t>码采用</a:t>
            </a:r>
            <a:r>
              <a:rPr lang="en-US" altLang="zh-CN" sz="2800" dirty="0"/>
              <a:t>7</a:t>
            </a:r>
            <a:r>
              <a:rPr lang="zh-CN" altLang="en-US" sz="2800" dirty="0"/>
              <a:t>位二进制数作为字符的编码，可以表示</a:t>
            </a:r>
            <a:r>
              <a:rPr lang="en-US" altLang="zh-CN" sz="2800" dirty="0"/>
              <a:t>128</a:t>
            </a:r>
            <a:r>
              <a:rPr lang="zh-CN" altLang="en-US" sz="2800" dirty="0"/>
              <a:t>个字符。由于计算机中一个字节为</a:t>
            </a:r>
            <a:r>
              <a:rPr lang="en-US" altLang="zh-CN" sz="2800" dirty="0"/>
              <a:t>8</a:t>
            </a:r>
            <a:r>
              <a:rPr lang="zh-CN" altLang="en-US" sz="2800" dirty="0"/>
              <a:t>位二进制数，标准的</a:t>
            </a:r>
            <a:r>
              <a:rPr lang="en-US" altLang="zh-CN" sz="2800" dirty="0"/>
              <a:t>ASCII</a:t>
            </a:r>
            <a:r>
              <a:rPr lang="zh-CN" altLang="en-US" sz="2800" dirty="0"/>
              <a:t>码为一个字节</a:t>
            </a:r>
            <a:r>
              <a:rPr lang="en-US" altLang="zh-CN" sz="2800" dirty="0"/>
              <a:t>8</a:t>
            </a:r>
            <a:r>
              <a:rPr lang="zh-CN" altLang="en-US" sz="2800" dirty="0"/>
              <a:t>位二进制数，最高位</a:t>
            </a:r>
            <a:r>
              <a:rPr lang="en-US" altLang="zh-CN" sz="2800" dirty="0"/>
              <a:t>(D</a:t>
            </a:r>
            <a:r>
              <a:rPr lang="en-US" altLang="zh-CN" sz="2800" baseline="-25000" dirty="0"/>
              <a:t>7</a:t>
            </a:r>
            <a:r>
              <a:rPr lang="en-US" altLang="zh-CN" sz="2800" dirty="0"/>
              <a:t>)</a:t>
            </a:r>
            <a:r>
              <a:rPr lang="zh-CN" altLang="en-US" sz="2800" dirty="0"/>
              <a:t>为</a:t>
            </a:r>
            <a:r>
              <a:rPr lang="en-US" altLang="zh-CN" sz="2800" dirty="0"/>
              <a:t>0</a:t>
            </a:r>
            <a:r>
              <a:rPr lang="zh-CN" altLang="en-US" sz="2800" dirty="0"/>
              <a:t>。标准的</a:t>
            </a:r>
            <a:r>
              <a:rPr lang="en-US" altLang="zh-CN" sz="2800" dirty="0"/>
              <a:t>ASCII</a:t>
            </a:r>
            <a:r>
              <a:rPr lang="zh-CN" altLang="en-US" sz="2800" dirty="0"/>
              <a:t>码表见附录。</a:t>
            </a:r>
            <a:endParaRPr lang="zh-CN" altLang="en-US" sz="2800" dirty="0"/>
          </a:p>
          <a:p>
            <a:pPr eaLnBrk="1" hangingPunct="1">
              <a:spcBef>
                <a:spcPct val="0"/>
              </a:spcBef>
            </a:pPr>
            <a:r>
              <a:rPr lang="zh-CN" altLang="en-US" sz="2800" b="1" dirty="0">
                <a:solidFill>
                  <a:schemeClr val="folHlink"/>
                </a:solidFill>
              </a:rPr>
              <a:t>数字符</a:t>
            </a:r>
            <a:r>
              <a:rPr lang="en-US" altLang="zh-CN" sz="2800" b="1" dirty="0">
                <a:solidFill>
                  <a:schemeClr val="folHlink"/>
                </a:solidFill>
              </a:rPr>
              <a:t>0~9</a:t>
            </a:r>
            <a:r>
              <a:rPr lang="zh-CN" altLang="en-US" sz="2800" b="1" dirty="0">
                <a:solidFill>
                  <a:schemeClr val="folHlink"/>
                </a:solidFill>
              </a:rPr>
              <a:t>的</a:t>
            </a:r>
            <a:r>
              <a:rPr lang="en-US" altLang="zh-CN" sz="2800" b="1" dirty="0">
                <a:solidFill>
                  <a:schemeClr val="folHlink"/>
                </a:solidFill>
              </a:rPr>
              <a:t>ASCII</a:t>
            </a:r>
            <a:r>
              <a:rPr lang="zh-CN" altLang="en-US" sz="2800" b="1" dirty="0">
                <a:solidFill>
                  <a:schemeClr val="folHlink"/>
                </a:solidFill>
              </a:rPr>
              <a:t>码为</a:t>
            </a:r>
            <a:r>
              <a:rPr lang="en-US" altLang="zh-CN" sz="2800" b="1" dirty="0">
                <a:solidFill>
                  <a:schemeClr val="folHlink"/>
                </a:solidFill>
              </a:rPr>
              <a:t>30H~39H</a:t>
            </a:r>
            <a:r>
              <a:rPr lang="zh-CN" altLang="en-US" sz="2800" b="1" dirty="0">
                <a:solidFill>
                  <a:schemeClr val="folHlink"/>
                </a:solidFill>
              </a:rPr>
              <a:t>；</a:t>
            </a:r>
            <a:br>
              <a:rPr lang="zh-CN" altLang="en-US" sz="2800" b="1" dirty="0">
                <a:solidFill>
                  <a:schemeClr val="folHlink"/>
                </a:solidFill>
              </a:rPr>
            </a:br>
            <a:r>
              <a:rPr lang="zh-CN" altLang="en-US" sz="2800" b="1" dirty="0">
                <a:solidFill>
                  <a:schemeClr val="folHlink"/>
                </a:solidFill>
              </a:rPr>
              <a:t>大写字母</a:t>
            </a:r>
            <a:r>
              <a:rPr lang="en-US" altLang="zh-CN" sz="2800" b="1" dirty="0">
                <a:solidFill>
                  <a:schemeClr val="folHlink"/>
                </a:solidFill>
              </a:rPr>
              <a:t>A~Z</a:t>
            </a:r>
            <a:r>
              <a:rPr lang="zh-CN" altLang="en-US" sz="2800" b="1" dirty="0">
                <a:solidFill>
                  <a:schemeClr val="folHlink"/>
                </a:solidFill>
              </a:rPr>
              <a:t>的</a:t>
            </a:r>
            <a:r>
              <a:rPr lang="en-US" altLang="zh-CN" sz="2800" b="1" dirty="0">
                <a:solidFill>
                  <a:schemeClr val="folHlink"/>
                </a:solidFill>
              </a:rPr>
              <a:t>ASCII</a:t>
            </a:r>
            <a:r>
              <a:rPr lang="zh-CN" altLang="en-US" sz="2800" b="1" dirty="0">
                <a:solidFill>
                  <a:schemeClr val="folHlink"/>
                </a:solidFill>
              </a:rPr>
              <a:t>码为</a:t>
            </a:r>
            <a:r>
              <a:rPr lang="en-US" altLang="zh-CN" sz="2800" b="1" dirty="0">
                <a:solidFill>
                  <a:schemeClr val="folHlink"/>
                </a:solidFill>
              </a:rPr>
              <a:t>41H~5AH</a:t>
            </a:r>
            <a:r>
              <a:rPr lang="zh-CN" altLang="en-US" sz="2800" dirty="0"/>
              <a:t>。 </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539">
                                            <p:txEl>
                                              <p:charRg st="0" end="121"/>
                                            </p:txEl>
                                          </p:spTgt>
                                        </p:tgtEl>
                                        <p:attrNameLst>
                                          <p:attrName>style.visibility</p:attrName>
                                        </p:attrNameLst>
                                      </p:cBhvr>
                                      <p:to>
                                        <p:strVal val="visible"/>
                                      </p:to>
                                    </p:set>
                                    <p:anim calcmode="lin" valueType="num">
                                      <p:cBhvr additive="base">
                                        <p:cTn id="7" dur="500" fill="hold"/>
                                        <p:tgtEl>
                                          <p:spTgt spid="65539">
                                            <p:txEl>
                                              <p:charRg st="0" end="12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5539">
                                            <p:txEl>
                                              <p:charRg st="0" end="12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539">
                                            <p:txEl>
                                              <p:charRg st="121" end="220"/>
                                            </p:txEl>
                                          </p:spTgt>
                                        </p:tgtEl>
                                        <p:attrNameLst>
                                          <p:attrName>style.visibility</p:attrName>
                                        </p:attrNameLst>
                                      </p:cBhvr>
                                      <p:to>
                                        <p:strVal val="visible"/>
                                      </p:to>
                                    </p:set>
                                    <p:anim calcmode="lin" valueType="num">
                                      <p:cBhvr additive="base">
                                        <p:cTn id="13" dur="500" fill="hold"/>
                                        <p:tgtEl>
                                          <p:spTgt spid="65539">
                                            <p:txEl>
                                              <p:charRg st="121" end="22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539">
                                            <p:txEl>
                                              <p:charRg st="121" end="22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539">
                                            <p:txEl>
                                              <p:charRg st="220" end="268"/>
                                            </p:txEl>
                                          </p:spTgt>
                                        </p:tgtEl>
                                        <p:attrNameLst>
                                          <p:attrName>style.visibility</p:attrName>
                                        </p:attrNameLst>
                                      </p:cBhvr>
                                      <p:to>
                                        <p:strVal val="visible"/>
                                      </p:to>
                                    </p:set>
                                    <p:anim calcmode="lin" valueType="num">
                                      <p:cBhvr additive="base">
                                        <p:cTn id="19" dur="500" fill="hold"/>
                                        <p:tgtEl>
                                          <p:spTgt spid="65539">
                                            <p:txEl>
                                              <p:charRg st="220" end="26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539">
                                            <p:txEl>
                                              <p:charRg st="220" end="26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2.</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汉字的编码</a:t>
            </a:r>
            <a:r>
              <a:rPr kumimoji="0" lang="zh-CN" altLang="en-US" sz="4400" b="1" i="0" u="none" strike="noStrike" kern="0" cap="none" spc="0" normalizeH="0" baseline="0" noProof="0">
                <a:ln>
                  <a:noFill/>
                </a:ln>
                <a:solidFill>
                  <a:schemeClr val="tx1"/>
                </a:solidFill>
                <a:effectLst/>
                <a:uLnTx/>
                <a:uFillTx/>
                <a:latin typeface="+mj-lt"/>
                <a:ea typeface="+mj-ea"/>
                <a:cs typeface="+mj-cs"/>
              </a:rPr>
              <a:t> </a:t>
            </a:r>
            <a:endParaRPr kumimoji="0" lang="zh-CN" altLang="en-US" sz="4400" b="1" i="0" u="none" strike="noStrike" kern="0" cap="none" spc="0" normalizeH="0" baseline="0" noProof="0">
              <a:ln>
                <a:noFill/>
              </a:ln>
              <a:solidFill>
                <a:schemeClr val="tx1"/>
              </a:solidFill>
              <a:effectLst/>
              <a:uLnTx/>
              <a:uFillTx/>
              <a:latin typeface="+mj-lt"/>
              <a:ea typeface="+mj-ea"/>
              <a:cs typeface="+mj-cs"/>
            </a:endParaRPr>
          </a:p>
        </p:txBody>
      </p:sp>
      <p:sp>
        <p:nvSpPr>
          <p:cNvPr id="66563" name="Rectangle 3"/>
          <p:cNvSpPr>
            <a:spLocks noGrp="1"/>
          </p:cNvSpPr>
          <p:nvPr>
            <p:ph idx="1"/>
          </p:nvPr>
        </p:nvSpPr>
        <p:spPr>
          <a:xfrm>
            <a:off x="457200" y="2017713"/>
            <a:ext cx="8497888" cy="4114800"/>
          </a:xfrm>
        </p:spPr>
        <p:txBody>
          <a:bodyPr vert="horz" wrap="square" lIns="91440" tIns="45720" rIns="91440" bIns="45720" anchor="t" anchorCtr="0"/>
          <a:p>
            <a:pPr algn="just" eaLnBrk="1" hangingPunct="1"/>
            <a:r>
              <a:rPr lang="en-US" altLang="zh-CN" dirty="0"/>
              <a:t>GB-2312</a:t>
            </a:r>
            <a:r>
              <a:rPr lang="zh-CN" altLang="en-US" dirty="0"/>
              <a:t>码，中华人民共和国国家标准信息交换代码，</a:t>
            </a:r>
            <a:r>
              <a:rPr lang="en-US" altLang="zh-CN" dirty="0"/>
              <a:t>3755(</a:t>
            </a:r>
            <a:r>
              <a:rPr lang="zh-CN" altLang="en-US" dirty="0"/>
              <a:t>一级汉字</a:t>
            </a:r>
            <a:r>
              <a:rPr lang="en-US" altLang="zh-CN" dirty="0"/>
              <a:t>)+3008(</a:t>
            </a:r>
            <a:r>
              <a:rPr lang="zh-CN" altLang="en-US" dirty="0"/>
              <a:t>二级汉字</a:t>
            </a:r>
            <a:r>
              <a:rPr lang="en-US" altLang="zh-CN" dirty="0"/>
              <a:t>)+682(</a:t>
            </a:r>
            <a:r>
              <a:rPr lang="zh-CN" altLang="en-US" dirty="0"/>
              <a:t>图形符号</a:t>
            </a:r>
            <a:r>
              <a:rPr lang="en-US" altLang="zh-CN" dirty="0"/>
              <a:t>)</a:t>
            </a:r>
            <a:r>
              <a:rPr lang="zh-CN" altLang="en-US" dirty="0"/>
              <a:t>，</a:t>
            </a:r>
            <a:r>
              <a:rPr lang="zh-CN" altLang="en-US" dirty="0">
                <a:solidFill>
                  <a:schemeClr val="hlink"/>
                </a:solidFill>
              </a:rPr>
              <a:t>双字节</a:t>
            </a:r>
            <a:r>
              <a:rPr lang="zh-CN" altLang="en-US" dirty="0"/>
              <a:t>表示。</a:t>
            </a:r>
            <a:endParaRPr lang="zh-CN" altLang="en-US" dirty="0"/>
          </a:p>
          <a:p>
            <a:pPr algn="just" eaLnBrk="1" hangingPunct="1"/>
            <a:r>
              <a:rPr lang="zh-CN" altLang="en-US" dirty="0"/>
              <a:t>为了使汉字的编码与</a:t>
            </a:r>
            <a:r>
              <a:rPr lang="en-US" altLang="zh-CN" dirty="0"/>
              <a:t>ASCII</a:t>
            </a:r>
            <a:r>
              <a:rPr lang="zh-CN" altLang="en-US" dirty="0"/>
              <a:t>码相区别，在机器中，汉字是以</a:t>
            </a:r>
            <a:r>
              <a:rPr lang="zh-CN" altLang="en-US" dirty="0">
                <a:solidFill>
                  <a:schemeClr val="hlink"/>
                </a:solidFill>
              </a:rPr>
              <a:t>内码</a:t>
            </a:r>
            <a:r>
              <a:rPr lang="zh-CN" altLang="en-US" dirty="0"/>
              <a:t>形式存储和传输的。通常就是用汉字的国标码的两个字节的最高位都置“</a:t>
            </a:r>
            <a:r>
              <a:rPr lang="en-US" altLang="zh-CN" dirty="0"/>
              <a:t>1”</a:t>
            </a:r>
            <a:r>
              <a:rPr lang="zh-CN" altLang="en-US" dirty="0"/>
              <a:t>形成的。 </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563">
                                            <p:txEl>
                                              <p:charRg st="0" end="66"/>
                                            </p:txEl>
                                          </p:spTgt>
                                        </p:tgtEl>
                                        <p:attrNameLst>
                                          <p:attrName>style.visibility</p:attrName>
                                        </p:attrNameLst>
                                      </p:cBhvr>
                                      <p:to>
                                        <p:strVal val="visible"/>
                                      </p:to>
                                    </p:set>
                                    <p:anim calcmode="lin" valueType="num">
                                      <p:cBhvr additive="base">
                                        <p:cTn id="7" dur="500" fill="hold"/>
                                        <p:tgtEl>
                                          <p:spTgt spid="66563">
                                            <p:txEl>
                                              <p:charRg st="0" end="6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6563">
                                            <p:txEl>
                                              <p:charRg st="0" end="6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6563">
                                            <p:txEl>
                                              <p:charRg st="66" end="136"/>
                                            </p:txEl>
                                          </p:spTgt>
                                        </p:tgtEl>
                                        <p:attrNameLst>
                                          <p:attrName>style.visibility</p:attrName>
                                        </p:attrNameLst>
                                      </p:cBhvr>
                                      <p:to>
                                        <p:strVal val="visible"/>
                                      </p:to>
                                    </p:set>
                                    <p:anim calcmode="lin" valueType="num">
                                      <p:cBhvr additive="base">
                                        <p:cTn id="13" dur="500" fill="hold"/>
                                        <p:tgtEl>
                                          <p:spTgt spid="66563">
                                            <p:txEl>
                                              <p:charRg st="66" end="13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6563">
                                            <p:txEl>
                                              <p:charRg st="66" end="13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3.</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二进制编码的十进制数</a:t>
            </a:r>
            <a:r>
              <a:rPr kumimoji="0" 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(BCD</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码</a:t>
            </a:r>
            <a:r>
              <a:rPr kumimoji="0" 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a:t>
            </a:r>
            <a:endParaRPr kumimoji="0" 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67587" name="Rectangle 3"/>
          <p:cNvSpPr>
            <a:spLocks noGrp="1"/>
          </p:cNvSpPr>
          <p:nvPr>
            <p:ph type="body" sz="half" idx="1"/>
          </p:nvPr>
        </p:nvSpPr>
        <p:spPr>
          <a:xfrm>
            <a:off x="684213" y="1846263"/>
            <a:ext cx="7988300" cy="4535487"/>
          </a:xfrm>
        </p:spPr>
        <p:txBody>
          <a:bodyPr vert="horz" wrap="square" lIns="91440" tIns="45720" rIns="91440" bIns="45720" anchor="t" anchorCtr="0"/>
          <a:p>
            <a:pPr marL="0" indent="0" eaLnBrk="1" hangingPunct="1">
              <a:buClr>
                <a:schemeClr val="folHlink"/>
              </a:buClr>
              <a:buSzPct val="60000"/>
              <a:buFont typeface="Wingdings" panose="05000000000000000000" pitchFamily="2" charset="2"/>
            </a:pPr>
            <a:r>
              <a:rPr lang="en-US" altLang="zh-CN" sz="2800" dirty="0"/>
              <a:t>1</a:t>
            </a:r>
            <a:r>
              <a:rPr lang="zh-CN" altLang="en-US" sz="2800" dirty="0"/>
              <a:t>位十进制数可采用</a:t>
            </a:r>
            <a:r>
              <a:rPr lang="en-US" altLang="zh-CN" sz="2800" dirty="0"/>
              <a:t>4</a:t>
            </a:r>
            <a:r>
              <a:rPr lang="zh-CN" altLang="en-US" sz="2800" dirty="0"/>
              <a:t>位二进制编码来表示，常采用的是按权值</a:t>
            </a:r>
            <a:r>
              <a:rPr lang="en-US" altLang="zh-CN" sz="2800" dirty="0"/>
              <a:t>8421</a:t>
            </a:r>
            <a:r>
              <a:rPr lang="zh-CN" altLang="en-US" sz="2800" dirty="0"/>
              <a:t>编码，通常称为</a:t>
            </a:r>
            <a:r>
              <a:rPr lang="en-US" altLang="zh-CN" sz="2800" dirty="0"/>
              <a:t>BCD</a:t>
            </a:r>
            <a:r>
              <a:rPr lang="zh-CN" altLang="en-US" sz="2800" dirty="0"/>
              <a:t>码。</a:t>
            </a:r>
            <a:endParaRPr lang="zh-CN" altLang="en-US" sz="2800" dirty="0"/>
          </a:p>
          <a:p>
            <a:pPr marL="0" indent="0" eaLnBrk="1" hangingPunct="1">
              <a:buClr>
                <a:schemeClr val="folHlink"/>
              </a:buClr>
              <a:buSzPct val="60000"/>
              <a:buFont typeface="Wingdings" panose="05000000000000000000" pitchFamily="2" charset="2"/>
            </a:pPr>
            <a:r>
              <a:rPr lang="zh-CN" altLang="en-US" sz="2800" dirty="0"/>
              <a:t> </a:t>
            </a:r>
            <a:r>
              <a:rPr lang="en-US" altLang="zh-CN" sz="2800" dirty="0"/>
              <a:t>BCD</a:t>
            </a:r>
            <a:r>
              <a:rPr lang="zh-CN" altLang="en-US" sz="2800" dirty="0"/>
              <a:t>码分为两类：</a:t>
            </a:r>
            <a:endParaRPr lang="zh-CN" altLang="en-US" sz="2800" dirty="0"/>
          </a:p>
          <a:p>
            <a:pPr marL="822325" lvl="1" eaLnBrk="1" hangingPunct="1">
              <a:buFont typeface="Wingdings" panose="05000000000000000000" pitchFamily="2" charset="2"/>
              <a:buChar char="n"/>
            </a:pPr>
            <a:r>
              <a:rPr lang="zh-CN" altLang="en-US" b="1" dirty="0">
                <a:solidFill>
                  <a:schemeClr val="folHlink"/>
                </a:solidFill>
              </a:rPr>
              <a:t>压缩</a:t>
            </a:r>
            <a:r>
              <a:rPr lang="en-US" altLang="zh-CN" b="1" dirty="0">
                <a:solidFill>
                  <a:schemeClr val="folHlink"/>
                </a:solidFill>
              </a:rPr>
              <a:t>BCD</a:t>
            </a:r>
            <a:r>
              <a:rPr lang="zh-CN" altLang="en-US" b="1" dirty="0">
                <a:solidFill>
                  <a:schemeClr val="folHlink"/>
                </a:solidFill>
              </a:rPr>
              <a:t>码</a:t>
            </a:r>
            <a:r>
              <a:rPr lang="zh-CN" altLang="en-US" dirty="0"/>
              <a:t>：一个字节表示两位十进制数，这是常用的</a:t>
            </a:r>
            <a:r>
              <a:rPr lang="en-US" altLang="zh-CN" dirty="0"/>
              <a:t>BCD</a:t>
            </a:r>
            <a:r>
              <a:rPr lang="zh-CN" altLang="en-US" dirty="0"/>
              <a:t>码表示形式。如</a:t>
            </a:r>
            <a:r>
              <a:rPr lang="en-US" altLang="zh-CN" dirty="0"/>
              <a:t>16</a:t>
            </a:r>
            <a:r>
              <a:rPr lang="zh-CN" altLang="en-US" dirty="0"/>
              <a:t>的压缩</a:t>
            </a:r>
            <a:r>
              <a:rPr lang="en-US" altLang="zh-CN" dirty="0"/>
              <a:t>BCD</a:t>
            </a:r>
            <a:r>
              <a:rPr lang="zh-CN" altLang="en-US" dirty="0"/>
              <a:t>码为</a:t>
            </a:r>
            <a:r>
              <a:rPr lang="en-US" altLang="zh-CN" dirty="0"/>
              <a:t>0001 0110</a:t>
            </a:r>
            <a:endParaRPr lang="en-US" altLang="zh-CN" sz="2400" b="1" dirty="0">
              <a:solidFill>
                <a:srgbClr val="403152"/>
              </a:solidFill>
            </a:endParaRPr>
          </a:p>
          <a:p>
            <a:pPr marL="822325" lvl="1" eaLnBrk="1" hangingPunct="1">
              <a:buFont typeface="Wingdings" panose="05000000000000000000" pitchFamily="2" charset="2"/>
              <a:buChar char="n"/>
            </a:pPr>
            <a:r>
              <a:rPr lang="zh-CN" altLang="en-US" b="1" dirty="0">
                <a:solidFill>
                  <a:schemeClr val="folHlink"/>
                </a:solidFill>
              </a:rPr>
              <a:t>非压缩</a:t>
            </a:r>
            <a:r>
              <a:rPr lang="en-US" altLang="zh-CN" b="1" dirty="0">
                <a:solidFill>
                  <a:schemeClr val="folHlink"/>
                </a:solidFill>
              </a:rPr>
              <a:t>BCD</a:t>
            </a:r>
            <a:r>
              <a:rPr lang="zh-CN" altLang="en-US" b="1" dirty="0">
                <a:solidFill>
                  <a:schemeClr val="folHlink"/>
                </a:solidFill>
              </a:rPr>
              <a:t>码</a:t>
            </a:r>
            <a:r>
              <a:rPr lang="zh-CN" altLang="en-US" dirty="0"/>
              <a:t>：一个字节表示一位十进制数，字节的高</a:t>
            </a:r>
            <a:r>
              <a:rPr lang="en-US" altLang="zh-CN" dirty="0"/>
              <a:t>4</a:t>
            </a:r>
            <a:r>
              <a:rPr lang="zh-CN" altLang="en-US" dirty="0"/>
              <a:t>位总是</a:t>
            </a:r>
            <a:r>
              <a:rPr lang="en-US" altLang="zh-CN" dirty="0"/>
              <a:t>0000</a:t>
            </a:r>
            <a:r>
              <a:rPr lang="zh-CN" altLang="en-US" dirty="0"/>
              <a:t>。如</a:t>
            </a:r>
            <a:r>
              <a:rPr lang="en-US" altLang="zh-CN" dirty="0"/>
              <a:t>16</a:t>
            </a:r>
            <a:r>
              <a:rPr lang="zh-CN" altLang="en-US" dirty="0"/>
              <a:t>的非压缩</a:t>
            </a:r>
            <a:r>
              <a:rPr lang="en-US" altLang="zh-CN" dirty="0"/>
              <a:t>BCD</a:t>
            </a:r>
            <a:r>
              <a:rPr lang="zh-CN" altLang="en-US" dirty="0"/>
              <a:t>码为</a:t>
            </a:r>
            <a:r>
              <a:rPr lang="en-US" altLang="zh-CN" dirty="0"/>
              <a:t>00000001 00000110</a:t>
            </a:r>
            <a:endParaRPr lang="en-US"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7587">
                                            <p:txEl>
                                              <p:charRg st="0" end="45"/>
                                            </p:txEl>
                                          </p:spTgt>
                                        </p:tgtEl>
                                        <p:attrNameLst>
                                          <p:attrName>style.visibility</p:attrName>
                                        </p:attrNameLst>
                                      </p:cBhvr>
                                      <p:to>
                                        <p:strVal val="visible"/>
                                      </p:to>
                                    </p:set>
                                    <p:anim calcmode="lin" valueType="num">
                                      <p:cBhvr additive="base">
                                        <p:cTn id="7" dur="500" fill="hold"/>
                                        <p:tgtEl>
                                          <p:spTgt spid="67587">
                                            <p:txEl>
                                              <p:charRg st="0" end="4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7">
                                            <p:txEl>
                                              <p:charRg st="0" end="4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587">
                                            <p:txEl>
                                              <p:charRg st="45" end="56"/>
                                            </p:txEl>
                                          </p:spTgt>
                                        </p:tgtEl>
                                        <p:attrNameLst>
                                          <p:attrName>style.visibility</p:attrName>
                                        </p:attrNameLst>
                                      </p:cBhvr>
                                      <p:to>
                                        <p:strVal val="visible"/>
                                      </p:to>
                                    </p:set>
                                    <p:anim calcmode="lin" valueType="num">
                                      <p:cBhvr additive="base">
                                        <p:cTn id="13" dur="500" fill="hold"/>
                                        <p:tgtEl>
                                          <p:spTgt spid="67587">
                                            <p:txEl>
                                              <p:charRg st="45" end="5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7587">
                                            <p:txEl>
                                              <p:charRg st="45" end="56"/>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67587">
                                            <p:txEl>
                                              <p:charRg st="56" end="111"/>
                                            </p:txEl>
                                          </p:spTgt>
                                        </p:tgtEl>
                                        <p:attrNameLst>
                                          <p:attrName>style.visibility</p:attrName>
                                        </p:attrNameLst>
                                      </p:cBhvr>
                                      <p:to>
                                        <p:strVal val="visible"/>
                                      </p:to>
                                    </p:set>
                                    <p:anim calcmode="lin" valueType="num">
                                      <p:cBhvr additive="base">
                                        <p:cTn id="17" dur="500" fill="hold"/>
                                        <p:tgtEl>
                                          <p:spTgt spid="67587">
                                            <p:txEl>
                                              <p:charRg st="56" end="11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7587">
                                            <p:txEl>
                                              <p:charRg st="56" end="11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7587">
                                            <p:txEl>
                                              <p:charRg st="111" end="175"/>
                                            </p:txEl>
                                          </p:spTgt>
                                        </p:tgtEl>
                                        <p:attrNameLst>
                                          <p:attrName>style.visibility</p:attrName>
                                        </p:attrNameLst>
                                      </p:cBhvr>
                                      <p:to>
                                        <p:strVal val="visible"/>
                                      </p:to>
                                    </p:set>
                                    <p:anim calcmode="lin" valueType="num">
                                      <p:cBhvr additive="base">
                                        <p:cTn id="21" dur="500" fill="hold"/>
                                        <p:tgtEl>
                                          <p:spTgt spid="67587">
                                            <p:txEl>
                                              <p:charRg st="111" end="17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7587">
                                            <p:txEl>
                                              <p:charRg st="111" end="17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表</a:t>
            </a:r>
            <a:r>
              <a:rPr kumimoji="0" 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1.2 BCD</a:t>
            </a:r>
            <a:r>
              <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码和十进制数的关系</a:t>
            </a:r>
            <a:endParaRPr kumimoji="0" lang="zh-CN" altLang="en-US"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pic>
        <p:nvPicPr>
          <p:cNvPr id="134147" name="Picture 3"/>
          <p:cNvPicPr>
            <a:picLocks noChangeAspect="1"/>
          </p:cNvPicPr>
          <p:nvPr/>
        </p:nvPicPr>
        <p:blipFill>
          <a:blip r:embed="rId1"/>
          <a:stretch>
            <a:fillRect/>
          </a:stretch>
        </p:blipFill>
        <p:spPr>
          <a:xfrm>
            <a:off x="1476375" y="1844675"/>
            <a:ext cx="6637338" cy="4079875"/>
          </a:xfrm>
          <a:prstGeom prst="rect">
            <a:avLst/>
          </a:prstGeom>
          <a:noFill/>
          <a:ln w="9525">
            <a:noFill/>
          </a:ln>
        </p:spPr>
      </p:pic>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1.4  </a:t>
            </a:r>
            <a:r>
              <a:rPr kumimoji="0" 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微型计算机系统的性能指标</a:t>
            </a:r>
            <a:endParaRPr kumimoji="0" lang="zh-CN" sz="40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135171" name="Rectangle 3"/>
          <p:cNvSpPr>
            <a:spLocks noGrp="1"/>
          </p:cNvSpPr>
          <p:nvPr>
            <p:ph idx="1"/>
          </p:nvPr>
        </p:nvSpPr>
        <p:spPr/>
        <p:txBody>
          <a:bodyPr vert="horz" wrap="square" lIns="91440" tIns="45720" rIns="91440" bIns="45720" anchor="t" anchorCtr="0"/>
          <a:p>
            <a:pPr eaLnBrk="1" hangingPunct="1">
              <a:buNone/>
            </a:pPr>
            <a:r>
              <a:rPr lang="zh-CN" altLang="en-US" sz="3600" dirty="0"/>
              <a:t>包括：</a:t>
            </a:r>
            <a:endParaRPr lang="zh-CN" altLang="en-US" sz="3600" dirty="0"/>
          </a:p>
          <a:p>
            <a:pPr lvl="1" eaLnBrk="1" hangingPunct="1">
              <a:buFont typeface="Wingdings" panose="05000000000000000000" pitchFamily="2" charset="2"/>
              <a:buChar char="n"/>
            </a:pPr>
            <a:r>
              <a:rPr lang="zh-CN" altLang="en-US" sz="3600" dirty="0"/>
              <a:t>字长</a:t>
            </a:r>
            <a:endParaRPr lang="zh-CN" altLang="en-US" sz="3600" dirty="0"/>
          </a:p>
          <a:p>
            <a:pPr lvl="1" eaLnBrk="1" hangingPunct="1">
              <a:buFont typeface="Wingdings" panose="05000000000000000000" pitchFamily="2" charset="2"/>
              <a:buChar char="n"/>
            </a:pPr>
            <a:r>
              <a:rPr lang="zh-CN" altLang="en-US" sz="3600" dirty="0"/>
              <a:t>存储器容量</a:t>
            </a:r>
            <a:endParaRPr lang="zh-CN" altLang="en-US" sz="3600" dirty="0"/>
          </a:p>
          <a:p>
            <a:pPr lvl="1" eaLnBrk="1" hangingPunct="1">
              <a:buFont typeface="Wingdings" panose="05000000000000000000" pitchFamily="2" charset="2"/>
              <a:buChar char="n"/>
            </a:pPr>
            <a:r>
              <a:rPr lang="zh-CN" altLang="en-US" sz="3600" dirty="0"/>
              <a:t>运算速度</a:t>
            </a:r>
            <a:endParaRPr lang="zh-CN" altLang="en-US" sz="3600" dirty="0"/>
          </a:p>
          <a:p>
            <a:pPr lvl="1" eaLnBrk="1" hangingPunct="1">
              <a:buFont typeface="Wingdings" panose="05000000000000000000" pitchFamily="2" charset="2"/>
              <a:buChar char="n"/>
            </a:pPr>
            <a:r>
              <a:rPr lang="zh-CN" altLang="en-US" sz="3600" dirty="0"/>
              <a:t>时钟频率</a:t>
            </a:r>
            <a:endParaRPr lang="zh-CN" altLang="en-US" sz="3600" dirty="0"/>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1.</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字长</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70659" name="Rectangle 3"/>
          <p:cNvSpPr>
            <a:spLocks noGrp="1"/>
          </p:cNvSpPr>
          <p:nvPr>
            <p:ph idx="1"/>
          </p:nvPr>
        </p:nvSpPr>
        <p:spPr>
          <a:xfrm>
            <a:off x="250825" y="1916113"/>
            <a:ext cx="8713788" cy="2736850"/>
          </a:xfrm>
        </p:spPr>
        <p:txBody>
          <a:bodyPr vert="horz" wrap="square" lIns="91440" tIns="45720" rIns="91440" bIns="45720" anchor="t" anchorCtr="0"/>
          <a:p>
            <a:pPr eaLnBrk="1" hangingPunct="1"/>
            <a:r>
              <a:rPr lang="zh-CN" altLang="en-US" dirty="0"/>
              <a:t>指计算机内部一次可以处理的二进制数的位数。</a:t>
            </a:r>
            <a:endParaRPr lang="zh-CN" altLang="en-US" dirty="0"/>
          </a:p>
          <a:p>
            <a:pPr eaLnBrk="1" hangingPunct="1"/>
            <a:r>
              <a:rPr lang="zh-CN" altLang="en-US" dirty="0">
                <a:solidFill>
                  <a:schemeClr val="hlink"/>
                </a:solidFill>
              </a:rPr>
              <a:t>字长越长，计算机所能表示的数据精度越高，在完成同样精度的运算时数据的处理速度越快</a:t>
            </a:r>
            <a:r>
              <a:rPr lang="zh-CN" altLang="en-US" dirty="0"/>
              <a:t>。</a:t>
            </a:r>
            <a:endParaRPr lang="zh-CN" altLang="en-US" dirty="0"/>
          </a:p>
          <a:p>
            <a:pPr eaLnBrk="1" hangingPunct="1"/>
            <a:r>
              <a:rPr lang="zh-CN" altLang="en-US" dirty="0"/>
              <a:t>字长一般是字节的整数倍。</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659">
                                            <p:txEl>
                                              <p:charRg st="0" end="22"/>
                                            </p:txEl>
                                          </p:spTgt>
                                        </p:tgtEl>
                                        <p:attrNameLst>
                                          <p:attrName>style.visibility</p:attrName>
                                        </p:attrNameLst>
                                      </p:cBhvr>
                                      <p:to>
                                        <p:strVal val="visible"/>
                                      </p:to>
                                    </p:set>
                                    <p:anim calcmode="lin" valueType="num">
                                      <p:cBhvr additive="base">
                                        <p:cTn id="7" dur="500" fill="hold"/>
                                        <p:tgtEl>
                                          <p:spTgt spid="70659">
                                            <p:txEl>
                                              <p:charRg st="0" end="2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charRg st="0" end="2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0659">
                                            <p:txEl>
                                              <p:charRg st="22" end="64"/>
                                            </p:txEl>
                                          </p:spTgt>
                                        </p:tgtEl>
                                        <p:attrNameLst>
                                          <p:attrName>style.visibility</p:attrName>
                                        </p:attrNameLst>
                                      </p:cBhvr>
                                      <p:to>
                                        <p:strVal val="visible"/>
                                      </p:to>
                                    </p:set>
                                    <p:anim calcmode="lin" valueType="num">
                                      <p:cBhvr additive="base">
                                        <p:cTn id="13" dur="500" fill="hold"/>
                                        <p:tgtEl>
                                          <p:spTgt spid="70659">
                                            <p:txEl>
                                              <p:charRg st="22" end="6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9">
                                            <p:txEl>
                                              <p:charRg st="22" end="6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0659">
                                            <p:txEl>
                                              <p:charRg st="64" end="77"/>
                                            </p:txEl>
                                          </p:spTgt>
                                        </p:tgtEl>
                                        <p:attrNameLst>
                                          <p:attrName>style.visibility</p:attrName>
                                        </p:attrNameLst>
                                      </p:cBhvr>
                                      <p:to>
                                        <p:strVal val="visible"/>
                                      </p:to>
                                    </p:set>
                                    <p:anim calcmode="lin" valueType="num">
                                      <p:cBhvr additive="base">
                                        <p:cTn id="19" dur="500" fill="hold"/>
                                        <p:tgtEl>
                                          <p:spTgt spid="70659">
                                            <p:txEl>
                                              <p:charRg st="64" end="7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59">
                                            <p:txEl>
                                              <p:charRg st="64" end="7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2.</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存储器容量</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71683" name="Rectangle 3"/>
          <p:cNvSpPr>
            <a:spLocks noGrp="1"/>
          </p:cNvSpPr>
          <p:nvPr>
            <p:ph idx="1"/>
          </p:nvPr>
        </p:nvSpPr>
        <p:spPr>
          <a:xfrm>
            <a:off x="539750" y="1916113"/>
            <a:ext cx="8280400" cy="4465637"/>
          </a:xfrm>
        </p:spPr>
        <p:txBody>
          <a:bodyPr vert="horz" wrap="square" lIns="91440" tIns="45720" rIns="91440" bIns="45720" anchor="t" anchorCtr="0"/>
          <a:p>
            <a:pPr eaLnBrk="1" hangingPunct="1">
              <a:lnSpc>
                <a:spcPct val="90000"/>
              </a:lnSpc>
            </a:pPr>
            <a:r>
              <a:rPr lang="zh-CN" altLang="en-US" sz="2400" dirty="0"/>
              <a:t>是衡量计算机主存储器能存储二进制信息量大小的一个重要指标。</a:t>
            </a:r>
            <a:endParaRPr lang="zh-CN" altLang="en-US" sz="2400" dirty="0"/>
          </a:p>
          <a:p>
            <a:pPr eaLnBrk="1" hangingPunct="1">
              <a:lnSpc>
                <a:spcPct val="90000"/>
              </a:lnSpc>
            </a:pPr>
            <a:r>
              <a:rPr lang="zh-CN" altLang="en-US" sz="2400" dirty="0">
                <a:solidFill>
                  <a:schemeClr val="hlink"/>
                </a:solidFill>
              </a:rPr>
              <a:t>主存储容量反映了主存储器的数据处理能力，存储容量越大，其处理数据的范围就越大，并且运算速度一般也越快</a:t>
            </a:r>
            <a:r>
              <a:rPr lang="zh-CN" altLang="en-US" sz="2400" dirty="0"/>
              <a:t>。</a:t>
            </a:r>
            <a:endParaRPr lang="zh-CN" altLang="en-US" sz="2400" dirty="0"/>
          </a:p>
          <a:p>
            <a:pPr eaLnBrk="1" hangingPunct="1">
              <a:lnSpc>
                <a:spcPct val="90000"/>
              </a:lnSpc>
            </a:pPr>
            <a:r>
              <a:rPr lang="zh-CN" altLang="en-US" sz="2400" dirty="0"/>
              <a:t>微型计算机中通常以字节为单位表示存储容量：</a:t>
            </a:r>
            <a:br>
              <a:rPr lang="zh-CN" altLang="en-US" sz="2400" dirty="0"/>
            </a:br>
            <a:r>
              <a:rPr lang="zh-CN" altLang="en-US" sz="2400" dirty="0"/>
              <a:t>字节</a:t>
            </a:r>
            <a:r>
              <a:rPr lang="en-US" altLang="zh-CN" sz="2400" dirty="0"/>
              <a:t>1B (Byte)=8</a:t>
            </a:r>
            <a:r>
              <a:rPr lang="zh-CN" altLang="en-US" sz="2400" dirty="0"/>
              <a:t>位，</a:t>
            </a:r>
            <a:endParaRPr lang="zh-CN" altLang="en-US" sz="2400" dirty="0"/>
          </a:p>
          <a:p>
            <a:pPr eaLnBrk="1" hangingPunct="1">
              <a:lnSpc>
                <a:spcPct val="90000"/>
              </a:lnSpc>
              <a:buNone/>
            </a:pPr>
            <a:r>
              <a:rPr lang="zh-CN" altLang="en-US" sz="2400" dirty="0"/>
              <a:t>     </a:t>
            </a:r>
            <a:r>
              <a:rPr lang="en-US" altLang="zh-CN" sz="2400" dirty="0"/>
              <a:t>1KB (Kilobyte)=2</a:t>
            </a:r>
            <a:r>
              <a:rPr lang="en-US" altLang="zh-CN" sz="2400" baseline="30000" dirty="0"/>
              <a:t>10</a:t>
            </a:r>
            <a:r>
              <a:rPr lang="en-US" altLang="zh-CN" sz="2400" dirty="0"/>
              <a:t>B</a:t>
            </a:r>
            <a:r>
              <a:rPr lang="zh-CN" altLang="en-US" sz="2400" dirty="0"/>
              <a:t>，</a:t>
            </a:r>
            <a:endParaRPr lang="zh-CN" altLang="en-US" sz="2400" dirty="0"/>
          </a:p>
          <a:p>
            <a:pPr eaLnBrk="1" hangingPunct="1">
              <a:lnSpc>
                <a:spcPct val="90000"/>
              </a:lnSpc>
              <a:buNone/>
            </a:pPr>
            <a:r>
              <a:rPr lang="zh-CN" altLang="en-US" sz="2400" dirty="0"/>
              <a:t>     </a:t>
            </a:r>
            <a:r>
              <a:rPr lang="en-US" altLang="zh-CN" sz="2400" dirty="0"/>
              <a:t>1MB (Megabyte)= 2</a:t>
            </a:r>
            <a:r>
              <a:rPr lang="en-US" altLang="zh-CN" sz="2400" baseline="30000" dirty="0"/>
              <a:t>10</a:t>
            </a:r>
            <a:r>
              <a:rPr lang="en-US" altLang="zh-CN" sz="2400" dirty="0"/>
              <a:t>KB</a:t>
            </a:r>
            <a:r>
              <a:rPr lang="zh-CN" altLang="en-US" sz="2400" dirty="0"/>
              <a:t>，</a:t>
            </a:r>
            <a:endParaRPr lang="zh-CN" altLang="en-US" sz="2400" dirty="0"/>
          </a:p>
          <a:p>
            <a:pPr eaLnBrk="1" hangingPunct="1">
              <a:lnSpc>
                <a:spcPct val="90000"/>
              </a:lnSpc>
              <a:buNone/>
            </a:pPr>
            <a:r>
              <a:rPr lang="zh-CN" altLang="en-US" sz="2400" dirty="0"/>
              <a:t>     </a:t>
            </a:r>
            <a:r>
              <a:rPr lang="en-US" altLang="zh-CN" sz="2400" dirty="0"/>
              <a:t>1GB (Gigabyte)= 2</a:t>
            </a:r>
            <a:r>
              <a:rPr lang="en-US" altLang="zh-CN" sz="2400" baseline="30000" dirty="0"/>
              <a:t>10</a:t>
            </a:r>
            <a:r>
              <a:rPr lang="en-US" altLang="zh-CN" sz="2400" dirty="0"/>
              <a:t> MB</a:t>
            </a:r>
            <a:r>
              <a:rPr lang="zh-CN" altLang="en-US" sz="2400" dirty="0"/>
              <a:t>，</a:t>
            </a:r>
            <a:endParaRPr lang="zh-CN" altLang="en-US" sz="2400" dirty="0"/>
          </a:p>
          <a:p>
            <a:pPr eaLnBrk="1" hangingPunct="1">
              <a:lnSpc>
                <a:spcPct val="90000"/>
              </a:lnSpc>
              <a:buNone/>
            </a:pPr>
            <a:r>
              <a:rPr lang="zh-CN" altLang="en-US" sz="2400" dirty="0"/>
              <a:t>     </a:t>
            </a:r>
            <a:r>
              <a:rPr lang="en-US" altLang="zh-CN" sz="2400" dirty="0"/>
              <a:t>1TB(Terabyte)= 2</a:t>
            </a:r>
            <a:r>
              <a:rPr lang="en-US" altLang="zh-CN" sz="2400" baseline="30000" dirty="0"/>
              <a:t>10</a:t>
            </a:r>
            <a:r>
              <a:rPr lang="en-US" altLang="zh-CN" sz="2400" dirty="0"/>
              <a:t> GB </a:t>
            </a:r>
            <a:r>
              <a:rPr lang="zh-CN" altLang="en-US" sz="2400" dirty="0"/>
              <a:t>，</a:t>
            </a:r>
            <a:endParaRPr lang="zh-CN" altLang="en-US" sz="2400" dirty="0"/>
          </a:p>
          <a:p>
            <a:pPr eaLnBrk="1" hangingPunct="1">
              <a:lnSpc>
                <a:spcPct val="90000"/>
              </a:lnSpc>
              <a:buNone/>
            </a:pPr>
            <a:r>
              <a:rPr lang="zh-CN" altLang="en-US" sz="2400" dirty="0"/>
              <a:t>     </a:t>
            </a:r>
            <a:r>
              <a:rPr lang="en-US" altLang="zh-CN" sz="2400" dirty="0"/>
              <a:t>1PB (Petabyte) = 2</a:t>
            </a:r>
            <a:r>
              <a:rPr lang="en-US" altLang="zh-CN" sz="2400" baseline="30000" dirty="0"/>
              <a:t>10</a:t>
            </a:r>
            <a:r>
              <a:rPr lang="en-US" altLang="zh-CN" sz="2400" dirty="0"/>
              <a:t> TB</a:t>
            </a:r>
            <a:r>
              <a:rPr lang="zh-CN" altLang="en-US" sz="2400" dirty="0"/>
              <a:t>。 </a:t>
            </a:r>
            <a:endParaRPr lang="zh-CN" altLang="en-US" sz="24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1683">
                                            <p:txEl>
                                              <p:charRg st="0" end="30"/>
                                            </p:txEl>
                                          </p:spTgt>
                                        </p:tgtEl>
                                        <p:attrNameLst>
                                          <p:attrName>style.visibility</p:attrName>
                                        </p:attrNameLst>
                                      </p:cBhvr>
                                      <p:to>
                                        <p:strVal val="visible"/>
                                      </p:to>
                                    </p:set>
                                    <p:anim calcmode="lin" valueType="num">
                                      <p:cBhvr additive="base">
                                        <p:cTn id="7" dur="500" fill="hold"/>
                                        <p:tgtEl>
                                          <p:spTgt spid="71683">
                                            <p:txEl>
                                              <p:charRg st="0" end="3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3">
                                            <p:txEl>
                                              <p:charRg st="0" end="3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1683">
                                            <p:txEl>
                                              <p:charRg st="30" end="82"/>
                                            </p:txEl>
                                          </p:spTgt>
                                        </p:tgtEl>
                                        <p:attrNameLst>
                                          <p:attrName>style.visibility</p:attrName>
                                        </p:attrNameLst>
                                      </p:cBhvr>
                                      <p:to>
                                        <p:strVal val="visible"/>
                                      </p:to>
                                    </p:set>
                                    <p:anim calcmode="lin" valueType="num">
                                      <p:cBhvr additive="base">
                                        <p:cTn id="13" dur="500" fill="hold"/>
                                        <p:tgtEl>
                                          <p:spTgt spid="71683">
                                            <p:txEl>
                                              <p:charRg st="30" end="8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683">
                                            <p:txEl>
                                              <p:charRg st="30" end="8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683">
                                            <p:txEl>
                                              <p:charRg st="82" end="120"/>
                                            </p:txEl>
                                          </p:spTgt>
                                        </p:tgtEl>
                                        <p:attrNameLst>
                                          <p:attrName>style.visibility</p:attrName>
                                        </p:attrNameLst>
                                      </p:cBhvr>
                                      <p:to>
                                        <p:strVal val="visible"/>
                                      </p:to>
                                    </p:set>
                                    <p:anim calcmode="lin" valueType="num">
                                      <p:cBhvr additive="base">
                                        <p:cTn id="19" dur="500" fill="hold"/>
                                        <p:tgtEl>
                                          <p:spTgt spid="71683">
                                            <p:txEl>
                                              <p:charRg st="82" end="12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3">
                                            <p:txEl>
                                              <p:charRg st="82" end="12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683">
                                            <p:txEl>
                                              <p:charRg st="120" end="146"/>
                                            </p:txEl>
                                          </p:spTgt>
                                        </p:tgtEl>
                                        <p:attrNameLst>
                                          <p:attrName>style.visibility</p:attrName>
                                        </p:attrNameLst>
                                      </p:cBhvr>
                                      <p:to>
                                        <p:strVal val="visible"/>
                                      </p:to>
                                    </p:set>
                                    <p:anim calcmode="lin" valueType="num">
                                      <p:cBhvr additive="base">
                                        <p:cTn id="25" dur="500" fill="hold"/>
                                        <p:tgtEl>
                                          <p:spTgt spid="71683">
                                            <p:txEl>
                                              <p:charRg st="120" end="14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683">
                                            <p:txEl>
                                              <p:charRg st="120" end="14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683">
                                            <p:txEl>
                                              <p:charRg st="146" end="174"/>
                                            </p:txEl>
                                          </p:spTgt>
                                        </p:tgtEl>
                                        <p:attrNameLst>
                                          <p:attrName>style.visibility</p:attrName>
                                        </p:attrNameLst>
                                      </p:cBhvr>
                                      <p:to>
                                        <p:strVal val="visible"/>
                                      </p:to>
                                    </p:set>
                                    <p:anim calcmode="lin" valueType="num">
                                      <p:cBhvr additive="base">
                                        <p:cTn id="31" dur="500" fill="hold"/>
                                        <p:tgtEl>
                                          <p:spTgt spid="71683">
                                            <p:txEl>
                                              <p:charRg st="146" end="17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683">
                                            <p:txEl>
                                              <p:charRg st="146" end="17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1683">
                                            <p:txEl>
                                              <p:charRg st="174" end="203"/>
                                            </p:txEl>
                                          </p:spTgt>
                                        </p:tgtEl>
                                        <p:attrNameLst>
                                          <p:attrName>style.visibility</p:attrName>
                                        </p:attrNameLst>
                                      </p:cBhvr>
                                      <p:to>
                                        <p:strVal val="visible"/>
                                      </p:to>
                                    </p:set>
                                    <p:anim calcmode="lin" valueType="num">
                                      <p:cBhvr additive="base">
                                        <p:cTn id="37" dur="500" fill="hold"/>
                                        <p:tgtEl>
                                          <p:spTgt spid="71683">
                                            <p:txEl>
                                              <p:charRg st="174" end="20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1683">
                                            <p:txEl>
                                              <p:charRg st="174" end="20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1683">
                                            <p:txEl>
                                              <p:charRg st="203" end="232"/>
                                            </p:txEl>
                                          </p:spTgt>
                                        </p:tgtEl>
                                        <p:attrNameLst>
                                          <p:attrName>style.visibility</p:attrName>
                                        </p:attrNameLst>
                                      </p:cBhvr>
                                      <p:to>
                                        <p:strVal val="visible"/>
                                      </p:to>
                                    </p:set>
                                    <p:anim calcmode="lin" valueType="num">
                                      <p:cBhvr additive="base">
                                        <p:cTn id="43" dur="500" fill="hold"/>
                                        <p:tgtEl>
                                          <p:spTgt spid="71683">
                                            <p:txEl>
                                              <p:charRg st="203" end="232"/>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1683">
                                            <p:txEl>
                                              <p:charRg st="203" end="232"/>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1683">
                                            <p:txEl>
                                              <p:charRg st="232" end="263"/>
                                            </p:txEl>
                                          </p:spTgt>
                                        </p:tgtEl>
                                        <p:attrNameLst>
                                          <p:attrName>style.visibility</p:attrName>
                                        </p:attrNameLst>
                                      </p:cBhvr>
                                      <p:to>
                                        <p:strVal val="visible"/>
                                      </p:to>
                                    </p:set>
                                    <p:anim calcmode="lin" valueType="num">
                                      <p:cBhvr additive="base">
                                        <p:cTn id="49" dur="500" fill="hold"/>
                                        <p:tgtEl>
                                          <p:spTgt spid="71683">
                                            <p:txEl>
                                              <p:charRg st="232" end="26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1683">
                                            <p:txEl>
                                              <p:charRg st="232" end="26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3.</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运算速度</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72707" name="Rectangle 3"/>
          <p:cNvSpPr>
            <a:spLocks noGrp="1"/>
          </p:cNvSpPr>
          <p:nvPr>
            <p:ph idx="1"/>
          </p:nvPr>
        </p:nvSpPr>
        <p:spPr>
          <a:xfrm>
            <a:off x="611188" y="1773238"/>
            <a:ext cx="8064500" cy="4114800"/>
          </a:xfrm>
        </p:spPr>
        <p:txBody>
          <a:bodyPr vert="horz" wrap="square" lIns="91440" tIns="45720" rIns="91440" bIns="45720" anchor="t" anchorCtr="0"/>
          <a:p>
            <a:pPr marL="0" indent="0" eaLnBrk="1" hangingPunct="1">
              <a:lnSpc>
                <a:spcPct val="80000"/>
              </a:lnSpc>
              <a:buNone/>
            </a:pPr>
            <a:r>
              <a:rPr lang="zh-CN" altLang="en-US" sz="2800" dirty="0"/>
              <a:t>计算机的运算速度以每秒钟能执行的指令条数来表示。由于不同类型的指令执行时所需的时间长度不同，因而有几种不同的衡量运算速度的方法。 </a:t>
            </a:r>
            <a:endParaRPr lang="zh-CN" altLang="en-US" sz="2800" dirty="0"/>
          </a:p>
          <a:p>
            <a:pPr marL="0" indent="0" eaLnBrk="1" hangingPunct="1">
              <a:lnSpc>
                <a:spcPct val="80000"/>
              </a:lnSpc>
            </a:pPr>
            <a:r>
              <a:rPr lang="en-US" altLang="zh-CN" sz="2800" b="1" dirty="0">
                <a:solidFill>
                  <a:schemeClr val="folHlink"/>
                </a:solidFill>
              </a:rPr>
              <a:t>MIPS(</a:t>
            </a:r>
            <a:r>
              <a:rPr lang="zh-CN" altLang="en-US" sz="2800" b="1" dirty="0">
                <a:solidFill>
                  <a:schemeClr val="folHlink"/>
                </a:solidFill>
              </a:rPr>
              <a:t>百万条指令</a:t>
            </a:r>
            <a:r>
              <a:rPr lang="en-US" altLang="zh-CN" sz="2800" b="1" dirty="0">
                <a:solidFill>
                  <a:schemeClr val="folHlink"/>
                </a:solidFill>
              </a:rPr>
              <a:t>/</a:t>
            </a:r>
            <a:r>
              <a:rPr lang="zh-CN" altLang="en-US" sz="2800" b="1" dirty="0">
                <a:solidFill>
                  <a:schemeClr val="folHlink"/>
                </a:solidFill>
              </a:rPr>
              <a:t>秒</a:t>
            </a:r>
            <a:r>
              <a:rPr lang="en-US" altLang="zh-CN" sz="2800" b="1" dirty="0">
                <a:solidFill>
                  <a:schemeClr val="folHlink"/>
                </a:solidFill>
              </a:rPr>
              <a:t>)</a:t>
            </a:r>
            <a:r>
              <a:rPr lang="zh-CN" altLang="en-US" sz="2800" b="1" dirty="0">
                <a:solidFill>
                  <a:schemeClr val="folHlink"/>
                </a:solidFill>
              </a:rPr>
              <a:t>法</a:t>
            </a:r>
            <a:r>
              <a:rPr lang="zh-CN" altLang="en-US" sz="2800" dirty="0"/>
              <a:t>：根据不同类型指令出现的频度，乘上不同的系数，求得统计平均值，得到平均运算速度，用</a:t>
            </a:r>
            <a:r>
              <a:rPr lang="en-US" altLang="zh-CN" sz="2800" dirty="0"/>
              <a:t>MIPS</a:t>
            </a:r>
            <a:r>
              <a:rPr lang="zh-CN" altLang="en-US" sz="2800" dirty="0"/>
              <a:t>作单位衡量。</a:t>
            </a:r>
            <a:endParaRPr lang="zh-CN" altLang="en-US" sz="2800" dirty="0"/>
          </a:p>
          <a:p>
            <a:pPr marL="0" indent="0" eaLnBrk="1" hangingPunct="1">
              <a:lnSpc>
                <a:spcPct val="80000"/>
              </a:lnSpc>
            </a:pPr>
            <a:r>
              <a:rPr lang="zh-CN" altLang="en-US" sz="2800" b="1" dirty="0">
                <a:solidFill>
                  <a:schemeClr val="folHlink"/>
                </a:solidFill>
              </a:rPr>
              <a:t>最短指令法</a:t>
            </a:r>
            <a:r>
              <a:rPr lang="zh-CN" altLang="en-US" sz="2800" dirty="0"/>
              <a:t>：以执行时间最短的指令</a:t>
            </a:r>
            <a:r>
              <a:rPr lang="en-US" altLang="zh-CN" sz="2800" dirty="0"/>
              <a:t>(</a:t>
            </a:r>
            <a:r>
              <a:rPr lang="zh-CN" altLang="en-US" sz="2800" dirty="0"/>
              <a:t>如传送指令、加法指令</a:t>
            </a:r>
            <a:r>
              <a:rPr lang="en-US" altLang="zh-CN" sz="2800" dirty="0"/>
              <a:t>)</a:t>
            </a:r>
            <a:r>
              <a:rPr lang="zh-CN" altLang="en-US" sz="2800" dirty="0"/>
              <a:t>为标准来计算速度。</a:t>
            </a:r>
            <a:endParaRPr lang="zh-CN" altLang="en-US" sz="2800" dirty="0"/>
          </a:p>
          <a:p>
            <a:pPr marL="0" indent="0" eaLnBrk="1" hangingPunct="1">
              <a:lnSpc>
                <a:spcPct val="80000"/>
              </a:lnSpc>
            </a:pPr>
            <a:r>
              <a:rPr lang="zh-CN" altLang="en-US" sz="2800" b="1" dirty="0">
                <a:solidFill>
                  <a:schemeClr val="folHlink"/>
                </a:solidFill>
              </a:rPr>
              <a:t>实际执行时间法</a:t>
            </a:r>
            <a:r>
              <a:rPr lang="zh-CN" altLang="en-US" sz="2800" dirty="0"/>
              <a:t>：给出</a:t>
            </a:r>
            <a:r>
              <a:rPr lang="en-US" altLang="zh-CN" sz="2800" dirty="0"/>
              <a:t>CPU</a:t>
            </a:r>
            <a:r>
              <a:rPr lang="zh-CN" altLang="en-US" sz="2800" dirty="0"/>
              <a:t>的主频和每条指令执行所需要的时钟周期，可以直接计算出每条指令执行所需的时间。</a:t>
            </a:r>
            <a:endParaRPr lang="zh-CN" altLang="en-US" sz="2800"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2707">
                                            <p:txEl>
                                              <p:charRg st="0" end="6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707">
                                            <p:txEl>
                                              <p:charRg st="66" end="13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707">
                                            <p:txEl>
                                              <p:charRg st="132" end="17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2707">
                                            <p:txEl>
                                              <p:charRg st="170" end="22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4.</a:t>
            </a: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rPr>
              <a:t>时钟频率</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endParaRPr>
          </a:p>
        </p:txBody>
      </p:sp>
      <p:sp>
        <p:nvSpPr>
          <p:cNvPr id="73731" name="Rectangle 3"/>
          <p:cNvSpPr>
            <a:spLocks noGrp="1"/>
          </p:cNvSpPr>
          <p:nvPr>
            <p:ph idx="1"/>
          </p:nvPr>
        </p:nvSpPr>
        <p:spPr>
          <a:xfrm>
            <a:off x="539750" y="1844675"/>
            <a:ext cx="7920038" cy="4114800"/>
          </a:xfrm>
        </p:spPr>
        <p:txBody>
          <a:bodyPr vert="horz" wrap="square" lIns="91440" tIns="45720" rIns="91440" bIns="45720" anchor="t" anchorCtr="0"/>
          <a:p>
            <a:pPr eaLnBrk="1" hangingPunct="1"/>
            <a:r>
              <a:rPr lang="zh-CN" altLang="en-US" dirty="0"/>
              <a:t>又称为系统主频，指微处理器在单位时间</a:t>
            </a:r>
            <a:r>
              <a:rPr lang="en-US" altLang="zh-CN" dirty="0"/>
              <a:t>(</a:t>
            </a:r>
            <a:r>
              <a:rPr lang="zh-CN" altLang="en-US" dirty="0"/>
              <a:t>秒</a:t>
            </a:r>
            <a:r>
              <a:rPr lang="en-US" altLang="zh-CN" dirty="0"/>
              <a:t>)</a:t>
            </a:r>
            <a:r>
              <a:rPr lang="zh-CN" altLang="en-US" dirty="0"/>
              <a:t>内发出的脉冲数。</a:t>
            </a:r>
            <a:endParaRPr lang="zh-CN" altLang="en-US" dirty="0"/>
          </a:p>
          <a:p>
            <a:pPr eaLnBrk="1" hangingPunct="1"/>
            <a:r>
              <a:rPr lang="zh-CN" altLang="en-US" dirty="0"/>
              <a:t>计算机的操作都是分步进行的，一个时钟周期完成一个操作，因此时钟频率是衡量微型计算机速度的重要指标。一般来说，时钟频率越高，其运算速度越快。时钟频率现多使用</a:t>
            </a:r>
            <a:r>
              <a:rPr lang="en-US" altLang="zh-CN" dirty="0"/>
              <a:t>MHz</a:t>
            </a:r>
            <a:r>
              <a:rPr lang="zh-CN" altLang="en-US" dirty="0"/>
              <a:t>、</a:t>
            </a:r>
            <a:r>
              <a:rPr lang="en-US" altLang="zh-CN" dirty="0"/>
              <a:t>GHz</a:t>
            </a:r>
            <a:r>
              <a:rPr lang="zh-CN" altLang="en-US" dirty="0"/>
              <a:t>为单位。</a:t>
            </a:r>
            <a:endParaRPr lang="zh-CN" altLang="en-US"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1">
                                            <p:txEl>
                                              <p:charRg st="0" end="30"/>
                                            </p:txEl>
                                          </p:spTgt>
                                        </p:tgtEl>
                                        <p:attrNameLst>
                                          <p:attrName>style.visibility</p:attrName>
                                        </p:attrNameLst>
                                      </p:cBhvr>
                                      <p:to>
                                        <p:strVal val="visible"/>
                                      </p:to>
                                    </p:set>
                                    <p:anim calcmode="lin" valueType="num">
                                      <p:cBhvr additive="base">
                                        <p:cTn id="7" dur="500" fill="hold"/>
                                        <p:tgtEl>
                                          <p:spTgt spid="73731">
                                            <p:txEl>
                                              <p:charRg st="0" end="3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1">
                                            <p:txEl>
                                              <p:charRg st="0" end="3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731">
                                            <p:txEl>
                                              <p:charRg st="30" end="119"/>
                                            </p:txEl>
                                          </p:spTgt>
                                        </p:tgtEl>
                                        <p:attrNameLst>
                                          <p:attrName>style.visibility</p:attrName>
                                        </p:attrNameLst>
                                      </p:cBhvr>
                                      <p:to>
                                        <p:strVal val="visible"/>
                                      </p:to>
                                    </p:set>
                                    <p:anim calcmode="lin" valueType="num">
                                      <p:cBhvr additive="base">
                                        <p:cTn id="13" dur="500" fill="hold"/>
                                        <p:tgtEl>
                                          <p:spTgt spid="73731">
                                            <p:txEl>
                                              <p:charRg st="30" end="11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1">
                                            <p:txEl>
                                              <p:charRg st="30" end="11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a:spLocks noGrp="1" noChangeArrowheads="1"/>
          </p:cNvSpPr>
          <p:nvPr>
            <p:ph type="title"/>
          </p:nvPr>
        </p:nvSpPr>
        <p:spPr>
          <a:xfrm>
            <a:off x="1116013" y="333375"/>
            <a:ext cx="7793038" cy="1143000"/>
          </a:xfrm>
        </p:spPr>
        <p:txBody>
          <a:bodyPr vert="horz" wrap="square" lIns="91440" tIns="45720" rIns="91440" bIns="45720"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rPr>
              <a:t>说明</a:t>
            </a:r>
            <a:endParaRPr kumimoji="0" lang="zh-CN" altLang="en-US" sz="4400" b="1" i="0" u="none" strike="noStrike" kern="0" cap="none" spc="0" normalizeH="0" baseline="0" noProof="0">
              <a:ln>
                <a:noFill/>
              </a:ln>
              <a:solidFill>
                <a:schemeClr val="tx1"/>
              </a:solidFill>
              <a:effectLst>
                <a:outerShdw blurRad="38100" dist="38100" dir="2700000" algn="tl">
                  <a:srgbClr val="C0C0C0"/>
                </a:outerShdw>
              </a:effectLst>
              <a:uLnTx/>
              <a:uFillTx/>
              <a:latin typeface="+mj-lt"/>
              <a:ea typeface="楷体_GB2312" pitchFamily="1" charset="-122"/>
              <a:cs typeface="+mj-cs"/>
              <a:sym typeface="Arial" panose="020B0604020202020204" pitchFamily="34" charset="0"/>
            </a:endParaRPr>
          </a:p>
        </p:txBody>
      </p:sp>
      <p:sp>
        <p:nvSpPr>
          <p:cNvPr id="74755" name="Rectangle 3"/>
          <p:cNvSpPr>
            <a:spLocks noGrp="1"/>
          </p:cNvSpPr>
          <p:nvPr>
            <p:ph idx="1"/>
          </p:nvPr>
        </p:nvSpPr>
        <p:spPr/>
        <p:txBody>
          <a:bodyPr vert="horz" wrap="square" lIns="91440" tIns="45720" rIns="91440" bIns="45720" anchor="t" anchorCtr="0"/>
          <a:p>
            <a:pPr eaLnBrk="1" hangingPunct="1"/>
            <a:r>
              <a:rPr lang="zh-CN" altLang="zh-CN" dirty="0"/>
              <a:t>一台计算机的整机性能，不能仅由一、二个部件的指标决定，而取决于各部件的综合性能指标。</a:t>
            </a:r>
            <a:endParaRPr lang="zh-CN" altLang="zh-CN" dirty="0"/>
          </a:p>
          <a:p>
            <a:pPr eaLnBrk="1" hangingPunct="1"/>
            <a:r>
              <a:rPr lang="zh-CN" altLang="zh-CN" dirty="0"/>
              <a:t>另外，微型计算机系统的扩展能力、软件配置情况也直接影响系统的性能。</a:t>
            </a:r>
            <a:endParaRPr lang="zh-CN" altLang="zh-CN" dirty="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755">
                                            <p:txEl>
                                              <p:charRg st="0" end="43"/>
                                            </p:txEl>
                                          </p:spTgt>
                                        </p:tgtEl>
                                        <p:attrNameLst>
                                          <p:attrName>style.visibility</p:attrName>
                                        </p:attrNameLst>
                                      </p:cBhvr>
                                      <p:to>
                                        <p:strVal val="visible"/>
                                      </p:to>
                                    </p:set>
                                    <p:anim calcmode="lin" valueType="num">
                                      <p:cBhvr additive="base">
                                        <p:cTn id="7" dur="500" fill="hold"/>
                                        <p:tgtEl>
                                          <p:spTgt spid="74755">
                                            <p:txEl>
                                              <p:charRg st="0" end="4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charRg st="0" end="4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4755">
                                            <p:txEl>
                                              <p:charRg st="43" end="77"/>
                                            </p:txEl>
                                          </p:spTgt>
                                        </p:tgtEl>
                                        <p:attrNameLst>
                                          <p:attrName>style.visibility</p:attrName>
                                        </p:attrNameLst>
                                      </p:cBhvr>
                                      <p:to>
                                        <p:strVal val="visible"/>
                                      </p:to>
                                    </p:set>
                                    <p:anim calcmode="lin" valueType="num">
                                      <p:cBhvr additive="base">
                                        <p:cTn id="13" dur="500" fill="hold"/>
                                        <p:tgtEl>
                                          <p:spTgt spid="74755">
                                            <p:txEl>
                                              <p:charRg st="43" end="7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5">
                                            <p:txEl>
                                              <p:charRg st="43" end="7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OWVlZjkwNGE4NzkwNjI4MTBlMjBkZjViODNlMjBiNWYifQ=="/>
</p:tagLst>
</file>

<file path=ppt/theme/_rels/theme2.xml.rels><?xml version="1.0" encoding="UTF-8" standalone="yes"?>
<Relationships xmlns="http://schemas.openxmlformats.org/package/2006/relationships"><Relationship Id="rId1" Type="http://schemas.openxmlformats.org/officeDocument/2006/relationships/image" Target="../media/image5.jpeg"/></Relationships>
</file>

<file path=ppt/theme/_rels/theme3.xml.rels><?xml version="1.0" encoding="UTF-8" standalone="yes"?>
<Relationships xmlns="http://schemas.openxmlformats.org/package/2006/relationships"><Relationship Id="rId1" Type="http://schemas.openxmlformats.org/officeDocument/2006/relationships/image" Target="../media/image5.jpeg"/></Relationships>
</file>

<file path=ppt/theme/_rels/theme4.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宋体"/>
        <a:cs typeface=""/>
      </a:majorFont>
      <a:minorFont>
        <a:latin typeface="Times New Roman"/>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24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凤舞九天">
  <a:themeElements>
    <a:clrScheme name="凤舞九天">
      <a:dk1>
        <a:sysClr val="windowText" lastClr="000000"/>
      </a:dk1>
      <a:lt1>
        <a:sysClr val="window" lastClr="FFFFFF"/>
      </a:lt1>
      <a:dk2>
        <a:srgbClr val="004646"/>
      </a:dk2>
      <a:lt2>
        <a:srgbClr val="E1F0FF"/>
      </a:lt2>
      <a:accent1>
        <a:srgbClr val="50742F"/>
      </a:accent1>
      <a:accent2>
        <a:srgbClr val="268868"/>
      </a:accent2>
      <a:accent3>
        <a:srgbClr val="33BD56"/>
      </a:accent3>
      <a:accent4>
        <a:srgbClr val="4BC5B9"/>
      </a:accent4>
      <a:accent5>
        <a:srgbClr val="3163CA"/>
      </a:accent5>
      <a:accent6>
        <a:srgbClr val="4B14AA"/>
      </a:accent6>
      <a:hlink>
        <a:srgbClr val="D9BE02"/>
      </a:hlink>
      <a:folHlink>
        <a:srgbClr val="F900F9"/>
      </a:folHlink>
    </a:clrScheme>
    <a:fontScheme name="凤舞九天">
      <a:majorFont>
        <a:latin typeface="Footlight MT Light"/>
        <a:ea typeface=""/>
        <a:cs typeface=""/>
        <a:font script="Jpan" typeface="ＭＳ Ｐゴシック"/>
        <a:font script="Hang" typeface="맑은 고딕"/>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oudy Old Style"/>
        <a:ea typeface=""/>
        <a:cs typeface=""/>
        <a:font script="Jpan" typeface="ＭＳ Ｐ明朝"/>
        <a:font script="Hang" typeface="HY견명조"/>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凤舞九天">
      <a:fillStyleLst>
        <a:solidFill>
          <a:schemeClr val="phClr">
            <a:tint val="100000"/>
            <a:shade val="100000"/>
            <a:hueMod val="100000"/>
            <a:satMod val="100000"/>
          </a:schemeClr>
        </a:solidFill>
        <a:gradFill rotWithShape="1">
          <a:gsLst>
            <a:gs pos="0">
              <a:schemeClr val="phClr">
                <a:tint val="65000"/>
                <a:satMod val="180000"/>
              </a:schemeClr>
            </a:gs>
            <a:gs pos="50000">
              <a:schemeClr val="phClr">
                <a:tint val="40000"/>
                <a:satMod val="175000"/>
              </a:schemeClr>
            </a:gs>
            <a:gs pos="100000">
              <a:schemeClr val="phClr">
                <a:tint val="65000"/>
                <a:satMod val="180000"/>
              </a:schemeClr>
            </a:gs>
          </a:gsLst>
          <a:lin ang="0" scaled="1"/>
        </a:gradFill>
        <a:gradFill rotWithShape="1">
          <a:gsLst>
            <a:gs pos="0">
              <a:schemeClr val="phClr">
                <a:shade val="38000"/>
                <a:satMod val="150000"/>
              </a:schemeClr>
            </a:gs>
            <a:gs pos="50000">
              <a:schemeClr val="phClr">
                <a:shade val="100000"/>
                <a:satMod val="100000"/>
              </a:schemeClr>
            </a:gs>
            <a:gs pos="100000">
              <a:schemeClr val="phClr">
                <a:shade val="38000"/>
                <a:satMod val="150000"/>
              </a:schemeClr>
            </a:gs>
          </a:gsLst>
          <a:lin ang="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tint val="100000"/>
            <a:shade val="100000"/>
            <a:hueMod val="100000"/>
            <a:satMod val="100000"/>
          </a:schemeClr>
        </a:solidFill>
        <a:gradFill rotWithShape="1">
          <a:gsLst>
            <a:gs pos="0">
              <a:schemeClr val="phClr">
                <a:tint val="80000"/>
                <a:satMod val="400000"/>
              </a:schemeClr>
            </a:gs>
            <a:gs pos="25000">
              <a:schemeClr val="phClr">
                <a:tint val="83000"/>
                <a:satMod val="300000"/>
              </a:schemeClr>
            </a:gs>
            <a:gs pos="100000">
              <a:schemeClr val="phClr">
                <a:shade val="15000"/>
                <a:satMod val="300000"/>
              </a:schemeClr>
            </a:gs>
          </a:gsLst>
          <a:path path="circle">
            <a:fillToRect l="10000" t="180000" r="10000" b="50000"/>
          </a:path>
        </a:gradFill>
        <a:blipFill>
          <a:blip xmlns:r="http://schemas.openxmlformats.org/officeDocument/2006/relationships" r:embed="rId1">
            <a:duotone>
              <a:schemeClr val="phClr">
                <a:tint val="100000"/>
                <a:shade val="70000"/>
                <a:hueMod val="100000"/>
                <a:satMod val="100000"/>
              </a:schemeClr>
              <a:schemeClr val="phClr">
                <a:tint val="90000"/>
                <a:shade val="100000"/>
                <a:hueMod val="100000"/>
                <a:satMod val="100000"/>
              </a:schemeClr>
            </a:duotone>
          </a:blip>
          <a:tile tx="0" ty="0" sx="50000" sy="5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凤舞九天">
  <a:themeElements>
    <a:clrScheme name="凤舞九天">
      <a:dk1>
        <a:sysClr val="windowText" lastClr="000000"/>
      </a:dk1>
      <a:lt1>
        <a:sysClr val="window" lastClr="FFFFFF"/>
      </a:lt1>
      <a:dk2>
        <a:srgbClr val="004646"/>
      </a:dk2>
      <a:lt2>
        <a:srgbClr val="E1F0FF"/>
      </a:lt2>
      <a:accent1>
        <a:srgbClr val="50742F"/>
      </a:accent1>
      <a:accent2>
        <a:srgbClr val="268868"/>
      </a:accent2>
      <a:accent3>
        <a:srgbClr val="33BD56"/>
      </a:accent3>
      <a:accent4>
        <a:srgbClr val="4BC5B9"/>
      </a:accent4>
      <a:accent5>
        <a:srgbClr val="3163CA"/>
      </a:accent5>
      <a:accent6>
        <a:srgbClr val="4B14AA"/>
      </a:accent6>
      <a:hlink>
        <a:srgbClr val="D9BE02"/>
      </a:hlink>
      <a:folHlink>
        <a:srgbClr val="F900F9"/>
      </a:folHlink>
    </a:clrScheme>
    <a:fontScheme name="凤舞九天">
      <a:majorFont>
        <a:latin typeface="Footlight MT Light"/>
        <a:ea typeface=""/>
        <a:cs typeface=""/>
        <a:font script="Jpan" typeface="ＭＳ Ｐゴシック"/>
        <a:font script="Hang" typeface="맑은 고딕"/>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oudy Old Style"/>
        <a:ea typeface=""/>
        <a:cs typeface=""/>
        <a:font script="Jpan" typeface="ＭＳ Ｐ明朝"/>
        <a:font script="Hang" typeface="HY견명조"/>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凤舞九天">
      <a:fillStyleLst>
        <a:solidFill>
          <a:schemeClr val="phClr">
            <a:tint val="100000"/>
            <a:shade val="100000"/>
            <a:hueMod val="100000"/>
            <a:satMod val="100000"/>
          </a:schemeClr>
        </a:solidFill>
        <a:gradFill rotWithShape="1">
          <a:gsLst>
            <a:gs pos="0">
              <a:schemeClr val="phClr">
                <a:tint val="65000"/>
                <a:satMod val="180000"/>
              </a:schemeClr>
            </a:gs>
            <a:gs pos="50000">
              <a:schemeClr val="phClr">
                <a:tint val="40000"/>
                <a:satMod val="175000"/>
              </a:schemeClr>
            </a:gs>
            <a:gs pos="100000">
              <a:schemeClr val="phClr">
                <a:tint val="65000"/>
                <a:satMod val="180000"/>
              </a:schemeClr>
            </a:gs>
          </a:gsLst>
          <a:lin ang="0" scaled="1"/>
        </a:gradFill>
        <a:gradFill rotWithShape="1">
          <a:gsLst>
            <a:gs pos="0">
              <a:schemeClr val="phClr">
                <a:shade val="38000"/>
                <a:satMod val="150000"/>
              </a:schemeClr>
            </a:gs>
            <a:gs pos="50000">
              <a:schemeClr val="phClr">
                <a:shade val="100000"/>
                <a:satMod val="100000"/>
              </a:schemeClr>
            </a:gs>
            <a:gs pos="100000">
              <a:schemeClr val="phClr">
                <a:shade val="38000"/>
                <a:satMod val="150000"/>
              </a:schemeClr>
            </a:gs>
          </a:gsLst>
          <a:lin ang="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tint val="100000"/>
            <a:shade val="100000"/>
            <a:hueMod val="100000"/>
            <a:satMod val="100000"/>
          </a:schemeClr>
        </a:solidFill>
        <a:gradFill rotWithShape="1">
          <a:gsLst>
            <a:gs pos="0">
              <a:schemeClr val="phClr">
                <a:tint val="80000"/>
                <a:satMod val="400000"/>
              </a:schemeClr>
            </a:gs>
            <a:gs pos="25000">
              <a:schemeClr val="phClr">
                <a:tint val="83000"/>
                <a:satMod val="300000"/>
              </a:schemeClr>
            </a:gs>
            <a:gs pos="100000">
              <a:schemeClr val="phClr">
                <a:shade val="15000"/>
                <a:satMod val="300000"/>
              </a:schemeClr>
            </a:gs>
          </a:gsLst>
          <a:path path="circle">
            <a:fillToRect l="10000" t="180000" r="10000" b="50000"/>
          </a:path>
        </a:gradFill>
        <a:blipFill>
          <a:blip xmlns:r="http://schemas.openxmlformats.org/officeDocument/2006/relationships" r:embed="rId1">
            <a:duotone>
              <a:schemeClr val="phClr">
                <a:tint val="100000"/>
                <a:shade val="70000"/>
                <a:hueMod val="100000"/>
                <a:satMod val="100000"/>
              </a:schemeClr>
              <a:schemeClr val="phClr">
                <a:tint val="90000"/>
                <a:shade val="100000"/>
                <a:hueMod val="100000"/>
                <a:satMod val="100000"/>
              </a:schemeClr>
            </a:duotone>
          </a:blip>
          <a:tile tx="0" ty="0" sx="50000" sy="5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凤舞九天">
  <a:themeElements>
    <a:clrScheme name="凤舞九天">
      <a:dk1>
        <a:sysClr val="windowText" lastClr="000000"/>
      </a:dk1>
      <a:lt1>
        <a:sysClr val="window" lastClr="FFFFFF"/>
      </a:lt1>
      <a:dk2>
        <a:srgbClr val="004646"/>
      </a:dk2>
      <a:lt2>
        <a:srgbClr val="E1F0FF"/>
      </a:lt2>
      <a:accent1>
        <a:srgbClr val="50742F"/>
      </a:accent1>
      <a:accent2>
        <a:srgbClr val="268868"/>
      </a:accent2>
      <a:accent3>
        <a:srgbClr val="33BD56"/>
      </a:accent3>
      <a:accent4>
        <a:srgbClr val="4BC5B9"/>
      </a:accent4>
      <a:accent5>
        <a:srgbClr val="3163CA"/>
      </a:accent5>
      <a:accent6>
        <a:srgbClr val="4B14AA"/>
      </a:accent6>
      <a:hlink>
        <a:srgbClr val="D9BE02"/>
      </a:hlink>
      <a:folHlink>
        <a:srgbClr val="F900F9"/>
      </a:folHlink>
    </a:clrScheme>
    <a:fontScheme name="凤舞九天">
      <a:majorFont>
        <a:latin typeface="Footlight MT Light"/>
        <a:ea typeface=""/>
        <a:cs typeface=""/>
        <a:font script="Jpan" typeface="ＭＳ Ｐゴシック"/>
        <a:font script="Hang" typeface="맑은 고딕"/>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oudy Old Style"/>
        <a:ea typeface=""/>
        <a:cs typeface=""/>
        <a:font script="Jpan" typeface="ＭＳ Ｐ明朝"/>
        <a:font script="Hang" typeface="HY견명조"/>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凤舞九天">
      <a:fillStyleLst>
        <a:solidFill>
          <a:schemeClr val="phClr">
            <a:tint val="100000"/>
            <a:shade val="100000"/>
            <a:hueMod val="100000"/>
            <a:satMod val="100000"/>
          </a:schemeClr>
        </a:solidFill>
        <a:gradFill rotWithShape="1">
          <a:gsLst>
            <a:gs pos="0">
              <a:schemeClr val="phClr">
                <a:tint val="65000"/>
                <a:satMod val="180000"/>
              </a:schemeClr>
            </a:gs>
            <a:gs pos="50000">
              <a:schemeClr val="phClr">
                <a:tint val="40000"/>
                <a:satMod val="175000"/>
              </a:schemeClr>
            </a:gs>
            <a:gs pos="100000">
              <a:schemeClr val="phClr">
                <a:tint val="65000"/>
                <a:satMod val="180000"/>
              </a:schemeClr>
            </a:gs>
          </a:gsLst>
          <a:lin ang="0" scaled="1"/>
        </a:gradFill>
        <a:gradFill rotWithShape="1">
          <a:gsLst>
            <a:gs pos="0">
              <a:schemeClr val="phClr">
                <a:shade val="38000"/>
                <a:satMod val="150000"/>
              </a:schemeClr>
            </a:gs>
            <a:gs pos="50000">
              <a:schemeClr val="phClr">
                <a:shade val="100000"/>
                <a:satMod val="100000"/>
              </a:schemeClr>
            </a:gs>
            <a:gs pos="100000">
              <a:schemeClr val="phClr">
                <a:shade val="38000"/>
                <a:satMod val="150000"/>
              </a:schemeClr>
            </a:gs>
          </a:gsLst>
          <a:lin ang="0" scaled="1"/>
        </a:grad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effectStyle>
        <a:effectStyle>
          <a:effectLst>
            <a:outerShdw blurRad="190500" dist="78600" dir="2700000" rotWithShape="0">
              <a:srgbClr val="000000">
                <a:alpha val="3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tint val="100000"/>
            <a:shade val="100000"/>
            <a:hueMod val="100000"/>
            <a:satMod val="100000"/>
          </a:schemeClr>
        </a:solidFill>
        <a:gradFill rotWithShape="1">
          <a:gsLst>
            <a:gs pos="0">
              <a:schemeClr val="phClr">
                <a:tint val="80000"/>
                <a:satMod val="400000"/>
              </a:schemeClr>
            </a:gs>
            <a:gs pos="25000">
              <a:schemeClr val="phClr">
                <a:tint val="83000"/>
                <a:satMod val="300000"/>
              </a:schemeClr>
            </a:gs>
            <a:gs pos="100000">
              <a:schemeClr val="phClr">
                <a:shade val="15000"/>
                <a:satMod val="300000"/>
              </a:schemeClr>
            </a:gs>
          </a:gsLst>
          <a:path path="circle">
            <a:fillToRect l="10000" t="180000" r="10000" b="50000"/>
          </a:path>
        </a:gradFill>
        <a:blipFill>
          <a:blip xmlns:r="http://schemas.openxmlformats.org/officeDocument/2006/relationships" r:embed="rId1">
            <a:duotone>
              <a:schemeClr val="phClr">
                <a:tint val="100000"/>
                <a:shade val="70000"/>
                <a:hueMod val="100000"/>
                <a:satMod val="100000"/>
              </a:schemeClr>
              <a:schemeClr val="phClr">
                <a:tint val="90000"/>
                <a:shade val="100000"/>
                <a:hueMod val="100000"/>
                <a:satMod val="100000"/>
              </a:schemeClr>
            </a:duotone>
          </a:blip>
          <a:tile tx="0" ty="0" sx="50000" sy="50000" flip="x"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20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2000" b="0" i="0" u="none" strike="noStrike" cap="none" normalizeH="0" baseline="-2500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10160</Words>
  <Application>WPS 演示</Application>
  <PresentationFormat>全屏显示(4:3)</PresentationFormat>
  <Paragraphs>589</Paragraphs>
  <Slides>72</Slides>
  <Notes>0</Notes>
  <HiddenSlides>9</HiddenSlides>
  <MMClips>0</MMClips>
  <ScaleCrop>false</ScaleCrop>
  <HeadingPairs>
    <vt:vector size="6" baseType="variant">
      <vt:variant>
        <vt:lpstr>已用的字体</vt:lpstr>
      </vt:variant>
      <vt:variant>
        <vt:i4>21</vt:i4>
      </vt:variant>
      <vt:variant>
        <vt:lpstr>主题</vt:lpstr>
      </vt:variant>
      <vt:variant>
        <vt:i4>5</vt:i4>
      </vt:variant>
      <vt:variant>
        <vt:lpstr>幻灯片标题</vt:lpstr>
      </vt:variant>
      <vt:variant>
        <vt:i4>72</vt:i4>
      </vt:variant>
    </vt:vector>
  </HeadingPairs>
  <TitlesOfParts>
    <vt:vector size="98" baseType="lpstr">
      <vt:lpstr>Arial</vt:lpstr>
      <vt:lpstr>宋体</vt:lpstr>
      <vt:lpstr>Wingdings</vt:lpstr>
      <vt:lpstr>Tahoma</vt:lpstr>
      <vt:lpstr>Times New Roman</vt:lpstr>
      <vt:lpstr>Footlight MT Light</vt:lpstr>
      <vt:lpstr>华文新魏</vt:lpstr>
      <vt:lpstr>Wingdings 2</vt:lpstr>
      <vt:lpstr>Arial</vt:lpstr>
      <vt:lpstr>Goudy Old Style</vt:lpstr>
      <vt:lpstr>Wingdings 2</vt:lpstr>
      <vt:lpstr>黑体</vt:lpstr>
      <vt:lpstr>楷体_GB2312</vt:lpstr>
      <vt:lpstr>新宋体</vt:lpstr>
      <vt:lpstr>微软雅黑</vt:lpstr>
      <vt:lpstr>Arial Unicode MS</vt:lpstr>
      <vt:lpstr>Constantia</vt:lpstr>
      <vt:lpstr>Wingdings</vt:lpstr>
      <vt:lpstr>Wingdings 2</vt:lpstr>
      <vt:lpstr>楷体_GB2312</vt:lpstr>
      <vt:lpstr>方正楷体_GB2312</vt:lpstr>
      <vt:lpstr>Blends</vt:lpstr>
      <vt:lpstr>凤舞九天</vt:lpstr>
      <vt:lpstr>1_凤舞九天</vt:lpstr>
      <vt:lpstr>2_凤舞九天</vt:lpstr>
      <vt:lpstr>1_Blends</vt:lpstr>
      <vt:lpstr>微型计算机原理及应用 (第三版)</vt:lpstr>
      <vt:lpstr>概述</vt:lpstr>
      <vt:lpstr>考核和要求：</vt:lpstr>
      <vt:lpstr>PowerPoint 演示文稿</vt:lpstr>
      <vt:lpstr>第1章  微型计算机基础</vt:lpstr>
      <vt:lpstr>1.1 微型计算机发展</vt:lpstr>
      <vt:lpstr>1.1.1 微处理器和微型计算机的发展 </vt:lpstr>
      <vt:lpstr>微处理器的发展</vt:lpstr>
      <vt:lpstr>1.1.2 微型计算机的分类及其应用</vt:lpstr>
      <vt:lpstr>1.微型计算机的分类</vt:lpstr>
      <vt:lpstr>单片机</vt:lpstr>
      <vt:lpstr>单板机</vt:lpstr>
      <vt:lpstr>个人计算机</vt:lpstr>
      <vt:lpstr>2.微型计算机的应用</vt:lpstr>
      <vt:lpstr>科学计算</vt:lpstr>
      <vt:lpstr>信息处理</vt:lpstr>
      <vt:lpstr>计算机控制</vt:lpstr>
      <vt:lpstr>智能仪器</vt:lpstr>
      <vt:lpstr>计算机通信</vt:lpstr>
      <vt:lpstr>1.2  微型计算机系统的组成</vt:lpstr>
      <vt:lpstr>1.2.1  微型计算机硬件</vt:lpstr>
      <vt:lpstr>微处理器 </vt:lpstr>
      <vt:lpstr>存储器</vt:lpstr>
      <vt:lpstr>存储器(续)</vt:lpstr>
      <vt:lpstr>存储器(续)</vt:lpstr>
      <vt:lpstr>输入/输出接口电路</vt:lpstr>
      <vt:lpstr>系统总线</vt:lpstr>
      <vt:lpstr>1.2.2  微型计算机软件</vt:lpstr>
      <vt:lpstr>1.2.3  微型计算机的工作过程</vt:lpstr>
      <vt:lpstr>工作过程详解</vt:lpstr>
      <vt:lpstr>图1.2 典型的模型计算机CPU的组成结构</vt:lpstr>
      <vt:lpstr>模型计算机CPU的组成结构</vt:lpstr>
      <vt:lpstr>以简单的加法运算为例</vt:lpstr>
      <vt:lpstr>以简单的加法运算为例(续)</vt:lpstr>
      <vt:lpstr>1.3  微型计算机中常用数制和编码</vt:lpstr>
      <vt:lpstr>1.3.1 常用数制及转换 </vt:lpstr>
      <vt:lpstr>1.常用数制</vt:lpstr>
      <vt:lpstr>1)十进制</vt:lpstr>
      <vt:lpstr>2)二进制</vt:lpstr>
      <vt:lpstr>3)十六进制</vt:lpstr>
      <vt:lpstr>常用进制数之间的关系</vt:lpstr>
      <vt:lpstr>2.数制转换</vt:lpstr>
      <vt:lpstr>1)二进制、十六进制转换为十进制</vt:lpstr>
      <vt:lpstr>2)十进制转换为二进制</vt:lpstr>
      <vt:lpstr>例1.1</vt:lpstr>
      <vt:lpstr>3)二进制和十六进制间的互换</vt:lpstr>
      <vt:lpstr>例1. 2</vt:lpstr>
      <vt:lpstr>1.3.2 数的表示与运算 </vt:lpstr>
      <vt:lpstr>基本概念</vt:lpstr>
      <vt:lpstr>原码</vt:lpstr>
      <vt:lpstr>反码</vt:lpstr>
      <vt:lpstr>补码</vt:lpstr>
      <vt:lpstr>2.补码的加减运算 </vt:lpstr>
      <vt:lpstr>例1.3</vt:lpstr>
      <vt:lpstr>溢出及其判定</vt:lpstr>
      <vt:lpstr>溢出及其判定</vt:lpstr>
      <vt:lpstr>3.定点数与浮点数表示 </vt:lpstr>
      <vt:lpstr>1)定点数</vt:lpstr>
      <vt:lpstr>1)定点数(续)</vt:lpstr>
      <vt:lpstr>2)浮点数</vt:lpstr>
      <vt:lpstr>例子</vt:lpstr>
      <vt:lpstr>1.3.3 常用编码</vt:lpstr>
      <vt:lpstr>1.字符的编码(ASCII码)</vt:lpstr>
      <vt:lpstr>2.汉字的编码 </vt:lpstr>
      <vt:lpstr>3.二进制编码的十进制数(BCD码)</vt:lpstr>
      <vt:lpstr>表1.2 BCD码和十进制数的关系</vt:lpstr>
      <vt:lpstr>1.4  微型计算机系统的性能指标</vt:lpstr>
      <vt:lpstr>1.字长</vt:lpstr>
      <vt:lpstr>2.存储器容量</vt:lpstr>
      <vt:lpstr>3.运算速度</vt:lpstr>
      <vt:lpstr>4.时钟频率</vt:lpstr>
      <vt:lpstr>说明</vt:lpstr>
    </vt:vector>
  </TitlesOfParts>
  <Company>扬州大学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微型计算机基础</dc:title>
  <dc:creator>于海东</dc:creator>
  <cp:lastModifiedBy>杨领军</cp:lastModifiedBy>
  <cp:revision>506</cp:revision>
  <dcterms:created xsi:type="dcterms:W3CDTF">2002-07-04T11:54:00Z</dcterms:created>
  <dcterms:modified xsi:type="dcterms:W3CDTF">2026-03-03T01:37:55Z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14007D65A8144FF9B86C9EBE02F38E12_12</vt:lpwstr>
  </property>
</Properties>
</file>