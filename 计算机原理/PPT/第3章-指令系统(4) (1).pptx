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60" r:id="rId5"/>
    <p:sldId id="261" r:id="rId6"/>
    <p:sldId id="262" r:id="rId7"/>
    <p:sldId id="263" r:id="rId8"/>
    <p:sldId id="264" r:id="rId9"/>
    <p:sldId id="265" r:id="rId10"/>
    <p:sldId id="266" r:id="rId11"/>
    <p:sldId id="267" r:id="rId12"/>
    <p:sldId id="269" r:id="rId13"/>
    <p:sldId id="365" r:id="rId14"/>
    <p:sldId id="270" r:id="rId15"/>
    <p:sldId id="271" r:id="rId16"/>
    <p:sldId id="369"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68" r:id="rId42"/>
    <p:sldId id="297" r:id="rId43"/>
    <p:sldId id="298" r:id="rId44"/>
    <p:sldId id="299" r:id="rId45"/>
    <p:sldId id="300" r:id="rId46"/>
    <p:sldId id="301" r:id="rId47"/>
    <p:sldId id="302" r:id="rId48"/>
    <p:sldId id="303" r:id="rId49"/>
    <p:sldId id="304" r:id="rId50"/>
    <p:sldId id="296" r:id="rId51"/>
    <p:sldId id="366"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1" r:id="rId68"/>
    <p:sldId id="322" r:id="rId69"/>
    <p:sldId id="323" r:id="rId70"/>
    <p:sldId id="324" r:id="rId71"/>
    <p:sldId id="325" r:id="rId72"/>
    <p:sldId id="326" r:id="rId73"/>
    <p:sldId id="327" r:id="rId74"/>
    <p:sldId id="328" r:id="rId75"/>
    <p:sldId id="329" r:id="rId76"/>
    <p:sldId id="370"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71" r:id="rId100"/>
    <p:sldId id="352" r:id="rId101"/>
    <p:sldId id="353" r:id="rId102"/>
    <p:sldId id="354" r:id="rId103"/>
    <p:sldId id="355" r:id="rId104"/>
    <p:sldId id="356" r:id="rId105"/>
    <p:sldId id="357" r:id="rId106"/>
    <p:sldId id="358" r:id="rId107"/>
    <p:sldId id="359" r:id="rId108"/>
    <p:sldId id="367" r:id="rId109"/>
    <p:sldId id="360" r:id="rId110"/>
    <p:sldId id="361" r:id="rId111"/>
    <p:sldId id="362" r:id="rId112"/>
    <p:sldId id="363" r:id="rId113"/>
    <p:sldId id="364" r:id="rId114"/>
    <p:sldId id="372" r:id="rId1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showGuides="1">
      <p:cViewPr varScale="1">
        <p:scale>
          <a:sx n="89" d="100"/>
          <a:sy n="89" d="100"/>
        </p:scale>
        <p:origin x="-61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B987ED82-D1A3-45FE-80F8-86D8D28D03CD}"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a:lvl1pPr>
            <a:lvl2pPr>
              <a:defRPr>
                <a:latin typeface="+mn-lt"/>
              </a:defRPr>
            </a:lvl2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FFCF43AE-F8FD-49EE-9553-888B016E31A5}"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630820B-D0F1-47EF-A8DA-9994F9F83B6C}"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69117693-7908-4A91-B471-8FEF6DA281B2}"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88C2CC61-C6FC-4A0D-9DB9-9F02363F5AE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696741FA-DDBC-4EA0-94D5-FBD8154C3488}"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9E163E86-D2F7-47EE-8733-36D525731CFA}"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B77AC4-9B6B-4955-98AD-6DB523334E40}"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12B7E4C-ECAE-4348-B44D-B6E27617DF07}"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DA0FF42-8979-4AE7-AB32-AB2B478435C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D76E9331-9EC7-4BC1-9F19-95838F0AB25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BFF7F5F-45AA-4834-B66F-E424254E1B5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54E35A8-292F-4AEC-B83B-BB31DB8FE108}" type="datetime1">
              <a:rPr lang="zh-CN" altLang="en-US"/>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r>
              <a:rPr lang="en-US" altLang="zh-CN"/>
              <a:t>逻辑代数基础----《数字电路》</a:t>
            </a: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4.emf"/></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emf"/></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emf"/></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3</a:t>
            </a:r>
            <a:r>
              <a:rPr lang="zh-CN" altLang="en-US" dirty="0"/>
              <a:t>章  </a:t>
            </a:r>
            <a:r>
              <a:rPr lang="en-US" altLang="zh-CN" dirty="0"/>
              <a:t>16</a:t>
            </a:r>
            <a:r>
              <a:rPr lang="zh-CN" altLang="en-US" dirty="0"/>
              <a:t>位</a:t>
            </a:r>
            <a:r>
              <a:rPr lang="en-US" altLang="zh-CN" dirty="0"/>
              <a:t>/32</a:t>
            </a:r>
            <a:r>
              <a:rPr lang="zh-CN" altLang="en-US" dirty="0"/>
              <a:t>位微处理器指令系统 </a:t>
            </a:r>
            <a:endParaRPr lang="zh-CN" altLang="en-US" dirty="0"/>
          </a:p>
        </p:txBody>
      </p:sp>
      <p:sp>
        <p:nvSpPr>
          <p:cNvPr id="3" name="内容占位符 2"/>
          <p:cNvSpPr>
            <a:spLocks noGrp="1"/>
          </p:cNvSpPr>
          <p:nvPr>
            <p:ph idx="1"/>
          </p:nvPr>
        </p:nvSpPr>
        <p:spPr>
          <a:xfrm>
            <a:off x="838200" y="1770540"/>
            <a:ext cx="9829800" cy="3506854"/>
          </a:xfrm>
        </p:spPr>
        <p:txBody>
          <a:bodyPr>
            <a:normAutofit/>
          </a:bodyPr>
          <a:lstStyle/>
          <a:p>
            <a:pPr>
              <a:lnSpc>
                <a:spcPct val="120000"/>
              </a:lnSpc>
            </a:pPr>
            <a:r>
              <a:rPr lang="zh-CN" altLang="en-US" b="0" i="0" u="none" strike="noStrike" baseline="0" dirty="0">
                <a:solidFill>
                  <a:srgbClr val="7030A0"/>
                </a:solidFill>
                <a:latin typeface="Wingdings" panose="05000000000000000000" pitchFamily="2" charset="2"/>
              </a:rPr>
              <a:t>指令的基本概念：</a:t>
            </a:r>
            <a:endParaRPr lang="en-US" altLang="zh-CN" b="0" i="0" u="none" strike="noStrike" baseline="0" dirty="0">
              <a:solidFill>
                <a:srgbClr val="7030A0"/>
              </a:solidFill>
              <a:latin typeface="Wingdings" panose="05000000000000000000" pitchFamily="2" charset="2"/>
            </a:endParaRPr>
          </a:p>
          <a:p>
            <a:pPr lvl="1">
              <a:lnSpc>
                <a:spcPct val="120000"/>
              </a:lnSpc>
            </a:pPr>
            <a:r>
              <a:rPr lang="zh-CN" altLang="en-US" sz="2800" b="0" i="0" u="none" strike="noStrike" baseline="0" dirty="0"/>
              <a:t>指令</a:t>
            </a:r>
            <a:r>
              <a:rPr lang="en-US" altLang="zh-CN" sz="2800" b="0" i="0" u="none" strike="noStrike" baseline="0" dirty="0"/>
              <a:t>:</a:t>
            </a:r>
            <a:r>
              <a:rPr lang="zh-CN" altLang="en-US" sz="2800" b="0" i="0" u="none" strike="noStrike" baseline="0" dirty="0"/>
              <a:t>要求计算机执行各种特定操作的命令。</a:t>
            </a:r>
            <a:endParaRPr lang="zh-CN" altLang="en-US" sz="2800" b="0" i="0" u="none" strike="noStrike" baseline="0" dirty="0"/>
          </a:p>
          <a:p>
            <a:pPr lvl="1">
              <a:lnSpc>
                <a:spcPct val="120000"/>
              </a:lnSpc>
            </a:pPr>
            <a:r>
              <a:rPr lang="zh-CN" altLang="en-US" sz="2800" b="0" i="0" u="none" strike="noStrike" baseline="0" dirty="0"/>
              <a:t>指令系统：微机能够识别和执行的全部指令集合，不同的微处理器所对应的指令系统也不相同</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329883"/>
            <a:ext cx="10058400" cy="1295400"/>
          </a:xfrm>
        </p:spPr>
        <p:txBody>
          <a:bodyPr/>
          <a:lstStyle/>
          <a:p>
            <a:pPr algn="l"/>
            <a:r>
              <a:rPr lang="en-US" altLang="zh-CN" dirty="0"/>
              <a:t>3.1</a:t>
            </a:r>
            <a:r>
              <a:rPr lang="zh-CN" altLang="en-US" dirty="0"/>
              <a:t>指令的基本格式</a:t>
            </a:r>
            <a:br>
              <a:rPr lang="zh-CN" altLang="en-US" dirty="0"/>
            </a:br>
            <a:r>
              <a:rPr lang="en-US" altLang="zh-CN" sz="2800" dirty="0"/>
              <a:t>3.1.1</a:t>
            </a:r>
            <a:r>
              <a:rPr lang="zh-CN" altLang="en-US" sz="2800" dirty="0"/>
              <a:t>指令的构成</a:t>
            </a:r>
            <a:endParaRPr lang="zh-CN" altLang="en-US" sz="2800" dirty="0"/>
          </a:p>
        </p:txBody>
      </p:sp>
      <p:sp>
        <p:nvSpPr>
          <p:cNvPr id="3" name="内容占位符 2"/>
          <p:cNvSpPr>
            <a:spLocks noGrp="1"/>
          </p:cNvSpPr>
          <p:nvPr>
            <p:ph idx="1"/>
          </p:nvPr>
        </p:nvSpPr>
        <p:spPr/>
        <p:txBody>
          <a:bodyPr/>
          <a:lstStyle/>
          <a:p>
            <a:pPr>
              <a:lnSpc>
                <a:spcPct val="100000"/>
              </a:lnSpc>
            </a:pPr>
            <a:r>
              <a:rPr lang="zh-CN" altLang="en-US" dirty="0">
                <a:solidFill>
                  <a:srgbClr val="7030A0"/>
                </a:solidFill>
              </a:rPr>
              <a:t>包括两部分：</a:t>
            </a:r>
            <a:endParaRPr lang="en-US" altLang="zh-CN" dirty="0">
              <a:solidFill>
                <a:srgbClr val="7030A0"/>
              </a:solidFill>
            </a:endParaRPr>
          </a:p>
          <a:p>
            <a:pPr lvl="1"/>
            <a:r>
              <a:rPr lang="zh-CN" altLang="en-US" dirty="0">
                <a:solidFill>
                  <a:srgbClr val="7030A0"/>
                </a:solidFill>
              </a:rPr>
              <a:t>操作码</a:t>
            </a:r>
            <a:r>
              <a:rPr lang="zh-CN" altLang="en-US" dirty="0"/>
              <a:t>：表示操作性质或类型编码</a:t>
            </a:r>
            <a:endParaRPr lang="en-US" altLang="zh-CN" dirty="0"/>
          </a:p>
          <a:p>
            <a:pPr lvl="1"/>
            <a:r>
              <a:rPr lang="zh-CN" altLang="en-US" dirty="0">
                <a:solidFill>
                  <a:srgbClr val="7030A0"/>
                </a:solidFill>
              </a:rPr>
              <a:t>操作数</a:t>
            </a:r>
            <a:r>
              <a:rPr lang="zh-CN" altLang="en-US" dirty="0"/>
              <a:t>：操作对象</a:t>
            </a:r>
            <a:endParaRPr lang="zh-CN" altLang="en-US" dirty="0"/>
          </a:p>
          <a:p>
            <a:pPr marL="0" indent="0">
              <a:lnSpc>
                <a:spcPct val="100000"/>
              </a:lnSpc>
              <a:buNone/>
            </a:pPr>
            <a:r>
              <a:rPr lang="zh-CN" altLang="en-US" dirty="0"/>
              <a:t>   以</a:t>
            </a:r>
            <a:r>
              <a:rPr lang="en-US" altLang="zh-CN" dirty="0"/>
              <a:t>8086/8088</a:t>
            </a:r>
            <a:r>
              <a:rPr lang="zh-CN" altLang="en-US" dirty="0"/>
              <a:t>机器指令</a:t>
            </a:r>
            <a:r>
              <a:rPr lang="zh-CN" altLang="en-US" dirty="0"/>
              <a:t>为例，一般来说，第一字节表示操作码，第二字节表示寻址方式，第三、四字节表示操作数在内存的位移量或者是立即数，第五、六字节表示立即数。</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43645" y="4705215"/>
            <a:ext cx="75374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3.1.2   8086/8088</a:t>
            </a:r>
            <a:r>
              <a:rPr lang="zh-CN" altLang="en-US" dirty="0"/>
              <a:t>的指令格式</a:t>
            </a:r>
            <a:endParaRPr lang="zh-CN" altLang="en-US" dirty="0"/>
          </a:p>
        </p:txBody>
      </p:sp>
      <p:sp>
        <p:nvSpPr>
          <p:cNvPr id="3" name="内容占位符 2"/>
          <p:cNvSpPr>
            <a:spLocks noGrp="1"/>
          </p:cNvSpPr>
          <p:nvPr>
            <p:ph idx="1"/>
          </p:nvPr>
        </p:nvSpPr>
        <p:spPr/>
        <p:txBody>
          <a:bodyPr>
            <a:normAutofit fontScale="47500" lnSpcReduction="20000"/>
          </a:bodyPr>
          <a:lstStyle/>
          <a:p>
            <a:pPr marL="0" indent="0">
              <a:lnSpc>
                <a:spcPct val="120000"/>
              </a:lnSpc>
              <a:buNone/>
            </a:pPr>
            <a:r>
              <a:rPr lang="zh-CN" altLang="en-US" sz="5900" dirty="0">
                <a:solidFill>
                  <a:srgbClr val="C00000"/>
                </a:solidFill>
              </a:rPr>
              <a:t>基本格式：</a:t>
            </a:r>
            <a:endParaRPr lang="en-US" altLang="zh-CN" sz="5900" dirty="0">
              <a:solidFill>
                <a:srgbClr val="C00000"/>
              </a:solidFill>
            </a:endParaRPr>
          </a:p>
          <a:p>
            <a:pPr>
              <a:lnSpc>
                <a:spcPct val="120000"/>
              </a:lnSpc>
            </a:pPr>
            <a:r>
              <a:rPr lang="en-US" altLang="zh-CN" sz="5100" dirty="0"/>
              <a:t>[</a:t>
            </a:r>
            <a:r>
              <a:rPr lang="zh-CN" altLang="en-US" sz="5100" dirty="0"/>
              <a:t>标号：</a:t>
            </a:r>
            <a:r>
              <a:rPr lang="en-US" altLang="zh-CN" sz="5100" dirty="0"/>
              <a:t>]</a:t>
            </a:r>
            <a:r>
              <a:rPr lang="zh-CN" altLang="en-US" sz="5100" dirty="0"/>
              <a:t>操作码助记符 目的操作数，源操作数</a:t>
            </a:r>
            <a:r>
              <a:rPr lang="en-US" altLang="zh-CN" sz="5100" dirty="0"/>
              <a:t>[</a:t>
            </a:r>
            <a:r>
              <a:rPr lang="zh-CN" altLang="en-US" sz="5100" dirty="0"/>
              <a:t>；注释</a:t>
            </a:r>
            <a:r>
              <a:rPr lang="en-US" altLang="zh-CN" sz="5100" dirty="0"/>
              <a:t>]</a:t>
            </a:r>
            <a:endParaRPr lang="en-US" altLang="zh-CN" sz="5100" dirty="0"/>
          </a:p>
          <a:p>
            <a:pPr lvl="1">
              <a:lnSpc>
                <a:spcPct val="120000"/>
              </a:lnSpc>
            </a:pPr>
            <a:r>
              <a:rPr lang="zh-CN" altLang="en-US" sz="5100" dirty="0">
                <a:solidFill>
                  <a:srgbClr val="7030A0"/>
                </a:solidFill>
              </a:rPr>
              <a:t>标号</a:t>
            </a:r>
            <a:r>
              <a:rPr lang="zh-CN" altLang="en-US" sz="5100" dirty="0"/>
              <a:t>：为该条指令所在内存单元的符号地址，后面要跟冒号。标号一般由字母开头，后跟字母、数字或特殊字符，不允许使用保留字。</a:t>
            </a:r>
            <a:endParaRPr lang="en-US" altLang="zh-CN" sz="5100" dirty="0"/>
          </a:p>
          <a:p>
            <a:pPr lvl="1">
              <a:lnSpc>
                <a:spcPct val="120000"/>
              </a:lnSpc>
            </a:pPr>
            <a:r>
              <a:rPr lang="zh-CN" altLang="en-US" sz="5100" dirty="0">
                <a:solidFill>
                  <a:srgbClr val="7030A0"/>
                </a:solidFill>
              </a:rPr>
              <a:t>操作码助记符</a:t>
            </a:r>
            <a:r>
              <a:rPr lang="zh-CN" altLang="en-US" sz="5100" dirty="0"/>
              <a:t>：指示</a:t>
            </a:r>
            <a:r>
              <a:rPr lang="en-US" altLang="zh-CN" sz="5100" dirty="0"/>
              <a:t>CPU</a:t>
            </a:r>
            <a:r>
              <a:rPr lang="zh-CN" altLang="en-US" sz="5100" dirty="0"/>
              <a:t>执行什么样的操作。</a:t>
            </a:r>
            <a:endParaRPr lang="en-US" altLang="zh-CN" sz="5100" dirty="0"/>
          </a:p>
          <a:p>
            <a:pPr lvl="1">
              <a:lnSpc>
                <a:spcPct val="120000"/>
              </a:lnSpc>
            </a:pPr>
            <a:r>
              <a:rPr lang="zh-CN" altLang="en-US" sz="5100" dirty="0">
                <a:solidFill>
                  <a:srgbClr val="7030A0"/>
                </a:solidFill>
              </a:rPr>
              <a:t>操作数</a:t>
            </a:r>
            <a:r>
              <a:rPr lang="zh-CN" altLang="en-US" sz="5100" dirty="0"/>
              <a:t>：分目的操作数和源操作数两种。目的操作数是指令结果存放的位置，源操作数是指令操作的对象。</a:t>
            </a:r>
            <a:endParaRPr lang="en-US" altLang="zh-CN" sz="5100" dirty="0"/>
          </a:p>
          <a:p>
            <a:pPr lvl="1">
              <a:lnSpc>
                <a:spcPct val="120000"/>
              </a:lnSpc>
            </a:pPr>
            <a:r>
              <a:rPr lang="zh-CN" altLang="en-US" sz="5100" dirty="0">
                <a:solidFill>
                  <a:srgbClr val="7030A0"/>
                </a:solidFill>
              </a:rPr>
              <a:t>注释</a:t>
            </a:r>
            <a:r>
              <a:rPr lang="zh-CN" altLang="en-US" sz="5100" dirty="0"/>
              <a:t>：说明本条指令或一段程序的功能，使程序可读性强。汇编程序对其不进行处理。。</a:t>
            </a:r>
            <a:endParaRPr lang="zh-CN" altLang="en-US" sz="5100" dirty="0"/>
          </a:p>
          <a:p>
            <a:pPr marL="0" indent="0">
              <a:lnSpc>
                <a:spcPct val="120000"/>
              </a:lnSpc>
              <a:buNone/>
            </a:pPr>
            <a:r>
              <a:rPr lang="en-US" altLang="zh-CN" sz="5100" dirty="0"/>
              <a:t>  </a:t>
            </a:r>
            <a:r>
              <a:rPr lang="en-US" altLang="zh-CN" sz="5100" dirty="0" err="1"/>
              <a:t>Lp</a:t>
            </a:r>
            <a:r>
              <a:rPr lang="en-US" altLang="zh-CN" sz="5100" dirty="0"/>
              <a:t>: MOV AL</a:t>
            </a:r>
            <a:r>
              <a:rPr lang="zh-CN" altLang="en-US" sz="5100" dirty="0"/>
              <a:t>，</a:t>
            </a:r>
            <a:r>
              <a:rPr lang="en-US" altLang="zh-CN" sz="5100" dirty="0"/>
              <a:t>BL </a:t>
            </a:r>
            <a:r>
              <a:rPr lang="zh-CN" altLang="en-US" sz="5100" dirty="0"/>
              <a:t>；将</a:t>
            </a:r>
            <a:r>
              <a:rPr lang="en-US" altLang="zh-CN" sz="5100" dirty="0"/>
              <a:t>BL</a:t>
            </a:r>
            <a:r>
              <a:rPr lang="zh-CN" altLang="en-US" sz="5100" dirty="0"/>
              <a:t>寄存器中内容送入</a:t>
            </a:r>
            <a:r>
              <a:rPr lang="en-US" altLang="zh-CN" sz="5100" dirty="0"/>
              <a:t>AL</a:t>
            </a:r>
            <a:endParaRPr lang="zh-CN" altLang="en-US" sz="5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8086/8088</a:t>
            </a:r>
            <a:r>
              <a:rPr lang="zh-CN" altLang="en-US" dirty="0"/>
              <a:t>的寻址方式</a:t>
            </a:r>
            <a:endParaRPr lang="zh-CN" altLang="en-US" dirty="0"/>
          </a:p>
        </p:txBody>
      </p:sp>
      <p:sp>
        <p:nvSpPr>
          <p:cNvPr id="3" name="内容占位符 2"/>
          <p:cNvSpPr>
            <a:spLocks noGrp="1"/>
          </p:cNvSpPr>
          <p:nvPr>
            <p:ph idx="1"/>
          </p:nvPr>
        </p:nvSpPr>
        <p:spPr/>
        <p:txBody>
          <a:bodyPr>
            <a:normAutofit/>
          </a:bodyPr>
          <a:lstStyle/>
          <a:p>
            <a:pPr>
              <a:lnSpc>
                <a:spcPct val="120000"/>
              </a:lnSpc>
            </a:pPr>
            <a:r>
              <a:rPr lang="zh-CN" altLang="en-US" dirty="0"/>
              <a:t>一条汇编语言指令，需要关注两个问题：</a:t>
            </a:r>
            <a:endParaRPr lang="en-US" altLang="zh-CN" dirty="0"/>
          </a:p>
          <a:p>
            <a:pPr lvl="1">
              <a:lnSpc>
                <a:spcPct val="120000"/>
              </a:lnSpc>
            </a:pPr>
            <a:r>
              <a:rPr lang="zh-CN" altLang="en-US" sz="2800" dirty="0"/>
              <a:t>该条指令将进行什么操作</a:t>
            </a:r>
            <a:endParaRPr lang="en-US" altLang="zh-CN" sz="2800" dirty="0"/>
          </a:p>
          <a:p>
            <a:pPr lvl="1">
              <a:lnSpc>
                <a:spcPct val="120000"/>
              </a:lnSpc>
            </a:pPr>
            <a:r>
              <a:rPr lang="zh-CN" altLang="en-US" sz="2800" dirty="0"/>
              <a:t>操作的对象和操作后结果的存放位置</a:t>
            </a:r>
            <a:endParaRPr lang="zh-CN" altLang="en-US" sz="2800" dirty="0"/>
          </a:p>
          <a:p>
            <a:pPr>
              <a:lnSpc>
                <a:spcPct val="120000"/>
              </a:lnSpc>
            </a:pPr>
            <a:r>
              <a:rPr lang="zh-CN" altLang="en-US" dirty="0"/>
              <a:t>操作数的寻址方式就是指寻找操作数位置的方式。</a:t>
            </a:r>
            <a:endParaRPr lang="zh-CN" altLang="en-US" dirty="0"/>
          </a:p>
          <a:p>
            <a:pPr>
              <a:lnSpc>
                <a:spcPct val="120000"/>
              </a:lnSpc>
            </a:pPr>
            <a:r>
              <a:rPr lang="zh-CN" altLang="en-US" dirty="0"/>
              <a:t>八种寻址方式：</a:t>
            </a:r>
            <a:endParaRPr lang="zh-CN" altLang="en-US" dirty="0"/>
          </a:p>
          <a:p>
            <a:pPr marL="0" indent="0">
              <a:lnSpc>
                <a:spcPct val="120000"/>
              </a:lnSpc>
              <a:buNone/>
            </a:pPr>
            <a:r>
              <a:rPr lang="zh-CN" altLang="en-US" dirty="0"/>
              <a:t>  </a:t>
            </a:r>
            <a:r>
              <a:rPr lang="en-US" altLang="zh-CN" dirty="0">
                <a:latin typeface="等线" panose="02010600030101010101" pitchFamily="2" charset="-122"/>
                <a:ea typeface="等线" panose="02010600030101010101" pitchFamily="2" charset="-122"/>
              </a:rPr>
              <a:t>•</a:t>
            </a:r>
            <a:r>
              <a:rPr lang="zh-CN" altLang="en-US" dirty="0"/>
              <a:t>立即寻址 </a:t>
            </a:r>
            <a:r>
              <a:rPr lang="en-US" altLang="zh-CN" dirty="0">
                <a:latin typeface="等线" panose="02010600030101010101" pitchFamily="2" charset="-122"/>
                <a:ea typeface="等线" panose="02010600030101010101" pitchFamily="2" charset="-122"/>
              </a:rPr>
              <a:t>•</a:t>
            </a:r>
            <a:r>
              <a:rPr lang="zh-CN" altLang="en-US" dirty="0"/>
              <a:t>寄存器寻址 </a:t>
            </a:r>
            <a:r>
              <a:rPr lang="en-US" altLang="zh-CN" dirty="0">
                <a:latin typeface="等线" panose="02010600030101010101" pitchFamily="2" charset="-122"/>
                <a:ea typeface="等线" panose="02010600030101010101" pitchFamily="2" charset="-122"/>
              </a:rPr>
              <a:t>•</a:t>
            </a:r>
            <a:r>
              <a:rPr lang="zh-CN" altLang="en-US" dirty="0"/>
              <a:t>直接寻址      </a:t>
            </a:r>
            <a:r>
              <a:rPr lang="en-US" altLang="zh-CN" dirty="0">
                <a:latin typeface="等线" panose="02010600030101010101" pitchFamily="2" charset="-122"/>
                <a:ea typeface="等线" panose="02010600030101010101" pitchFamily="2" charset="-122"/>
              </a:rPr>
              <a:t>•</a:t>
            </a:r>
            <a:r>
              <a:rPr lang="zh-CN" altLang="en-US" dirty="0"/>
              <a:t>寄存器间接寻址</a:t>
            </a:r>
            <a:endParaRPr lang="zh-CN" altLang="en-US" dirty="0"/>
          </a:p>
          <a:p>
            <a:pPr marL="0" indent="0" algn="l">
              <a:lnSpc>
                <a:spcPct val="120000"/>
              </a:lnSpc>
              <a:buNone/>
            </a:pPr>
            <a:r>
              <a:rPr lang="zh-CN" altLang="en-US" dirty="0"/>
              <a:t>  </a:t>
            </a:r>
            <a:r>
              <a:rPr lang="en-US" altLang="zh-CN" dirty="0">
                <a:latin typeface="等线" panose="02010600030101010101" pitchFamily="2" charset="-122"/>
                <a:ea typeface="等线" panose="02010600030101010101" pitchFamily="2" charset="-122"/>
              </a:rPr>
              <a:t>•</a:t>
            </a:r>
            <a:r>
              <a:rPr lang="zh-CN" altLang="en-US" dirty="0"/>
              <a:t>基址寻址 </a:t>
            </a:r>
            <a:r>
              <a:rPr lang="en-US" altLang="zh-CN" dirty="0">
                <a:latin typeface="等线" panose="02010600030101010101" pitchFamily="2" charset="-122"/>
                <a:ea typeface="等线" panose="02010600030101010101" pitchFamily="2" charset="-122"/>
              </a:rPr>
              <a:t>•</a:t>
            </a:r>
            <a:r>
              <a:rPr lang="zh-CN" altLang="en-US" dirty="0"/>
              <a:t>变址寻址   </a:t>
            </a:r>
            <a:r>
              <a:rPr lang="en-US" altLang="zh-CN" dirty="0">
                <a:latin typeface="等线" panose="02010600030101010101" pitchFamily="2" charset="-122"/>
                <a:ea typeface="等线" panose="02010600030101010101" pitchFamily="2" charset="-122"/>
              </a:rPr>
              <a:t>•</a:t>
            </a:r>
            <a:r>
              <a:rPr lang="zh-CN" altLang="en-US" dirty="0"/>
              <a:t>基址变址寻址  </a:t>
            </a:r>
            <a:r>
              <a:rPr lang="en-US" altLang="zh-CN" dirty="0">
                <a:latin typeface="等线" panose="02010600030101010101" pitchFamily="2" charset="-122"/>
                <a:ea typeface="等线" panose="02010600030101010101" pitchFamily="2" charset="-122"/>
              </a:rPr>
              <a:t>•</a:t>
            </a:r>
            <a:r>
              <a:rPr lang="zh-CN" altLang="en-US" b="0" i="0" u="none" strike="noStrike" baseline="0" dirty="0">
                <a:solidFill>
                  <a:srgbClr val="000000"/>
                </a:solidFill>
              </a:rPr>
              <a:t>固定寻址</a:t>
            </a:r>
            <a:endParaRPr lang="zh-CN" altLang="en-US" b="0" i="0" u="none" strike="noStrike" baseline="0" dirty="0">
              <a:solidFill>
                <a:srgbClr val="000000"/>
              </a:solidFill>
            </a:endParaRPr>
          </a:p>
          <a:p>
            <a:pPr marL="0" indent="0">
              <a:buNone/>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立即寻址</a:t>
            </a:r>
            <a:endParaRPr lang="zh-CN" altLang="en-US" dirty="0"/>
          </a:p>
        </p:txBody>
      </p:sp>
      <p:sp>
        <p:nvSpPr>
          <p:cNvPr id="3" name="内容占位符 2"/>
          <p:cNvSpPr>
            <a:spLocks noGrp="1"/>
          </p:cNvSpPr>
          <p:nvPr>
            <p:ph idx="1"/>
          </p:nvPr>
        </p:nvSpPr>
        <p:spPr/>
        <p:txBody>
          <a:bodyPr/>
          <a:lstStyle/>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zh-CN" b="0" i="0" u="none" strike="noStrike" kern="1200" cap="none" spc="0" normalizeH="0" baseline="0" noProof="0" dirty="0">
                <a:ln>
                  <a:noFill/>
                </a:ln>
                <a:solidFill>
                  <a:srgbClr val="000000"/>
                </a:solidFill>
                <a:effectLst/>
                <a:uLnTx/>
                <a:uFillTx/>
                <a:cs typeface="+mn-cs"/>
              </a:rPr>
              <a:t>操作数包含在指令中，这种操作数称为</a:t>
            </a:r>
            <a:r>
              <a:rPr kumimoji="0" lang="zh-CN" altLang="zh-CN" b="0" i="0" u="none" strike="noStrike" kern="1200" cap="none" spc="0" normalizeH="0" baseline="0" noProof="0" dirty="0">
                <a:ln>
                  <a:noFill/>
                </a:ln>
                <a:solidFill>
                  <a:srgbClr val="FF0066"/>
                </a:solidFill>
                <a:effectLst/>
                <a:uLnTx/>
                <a:uFillTx/>
                <a:cs typeface="+mn-cs"/>
              </a:rPr>
              <a:t>立即数</a:t>
            </a:r>
            <a:endParaRPr kumimoji="0" lang="zh-CN" altLang="zh-CN" b="0" i="0" u="none" strike="noStrike" kern="1200" cap="none" spc="0" normalizeH="0" baseline="0" noProof="0" dirty="0">
              <a:ln>
                <a:noFill/>
              </a:ln>
              <a:solidFill>
                <a:srgbClr val="FF0066"/>
              </a:solidFill>
              <a:effectLst/>
              <a:uLnTx/>
              <a:uFillTx/>
              <a:cs typeface="+mn-cs"/>
            </a:endParaRPr>
          </a:p>
          <a:p>
            <a:pPr marL="533400" marR="0" lvl="1" indent="27178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800" b="0" i="0" u="none" strike="noStrike" kern="1200" cap="none" spc="0" normalizeH="0" baseline="0" noProof="0" dirty="0">
                <a:ln>
                  <a:noFill/>
                </a:ln>
                <a:solidFill>
                  <a:srgbClr val="000000"/>
                </a:solidFill>
                <a:effectLst/>
                <a:uLnTx/>
                <a:uFillTx/>
                <a:latin typeface="+mn-ea"/>
                <a:cs typeface="+mn-cs"/>
              </a:rPr>
              <a:t>可以是8位数值（00H～FFH）</a:t>
            </a:r>
            <a:endParaRPr kumimoji="0" lang="zh-CN" altLang="zh-CN" sz="2800" b="0" i="0" u="none" strike="noStrike" kern="1200" cap="none" spc="0" normalizeH="0" baseline="0" noProof="0" dirty="0">
              <a:ln>
                <a:noFill/>
              </a:ln>
              <a:solidFill>
                <a:srgbClr val="000000"/>
              </a:solidFill>
              <a:effectLst/>
              <a:uLnTx/>
              <a:uFillTx/>
              <a:latin typeface="+mn-ea"/>
              <a:cs typeface="+mn-cs"/>
            </a:endParaRPr>
          </a:p>
          <a:p>
            <a:pPr marL="533400" marR="0" lvl="1" indent="27178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800" b="0" i="0" u="none" strike="noStrike" kern="1200" cap="none" spc="0" normalizeH="0" baseline="0" noProof="0" dirty="0">
                <a:ln>
                  <a:noFill/>
                </a:ln>
                <a:solidFill>
                  <a:srgbClr val="000000"/>
                </a:solidFill>
                <a:effectLst/>
                <a:uLnTx/>
                <a:uFillTx/>
                <a:latin typeface="+mn-ea"/>
                <a:cs typeface="+mn-cs"/>
              </a:rPr>
              <a:t>也可以是16位数值（0000H～</a:t>
            </a:r>
            <a:r>
              <a:rPr kumimoji="0" lang="zh-CN" altLang="zh-CN" sz="2800" b="0" i="0" u="none" strike="noStrike" kern="1200" cap="none" spc="0" normalizeH="0" baseline="0" noProof="0">
                <a:ln>
                  <a:noFill/>
                </a:ln>
                <a:solidFill>
                  <a:srgbClr val="000000"/>
                </a:solidFill>
                <a:effectLst/>
                <a:uLnTx/>
                <a:uFillTx/>
                <a:latin typeface="+mn-ea"/>
                <a:cs typeface="+mn-cs"/>
              </a:rPr>
              <a:t>FFFFH）</a:t>
            </a:r>
            <a:r>
              <a:rPr kumimoji="0" lang="zh-CN" altLang="en-US" sz="2800" b="0" i="0" u="none" strike="noStrike" kern="1200" cap="none" spc="0" normalizeH="0" baseline="0" noProof="0">
                <a:ln>
                  <a:noFill/>
                </a:ln>
                <a:solidFill>
                  <a:srgbClr val="000000"/>
                </a:solidFill>
                <a:effectLst/>
                <a:uLnTx/>
                <a:uFillTx/>
                <a:latin typeface="+mn-ea"/>
                <a:cs typeface="+mn-cs"/>
              </a:rPr>
              <a:t>，但规定立即数只能作为原操作数。</a:t>
            </a:r>
            <a:endParaRPr kumimoji="0" lang="zh-CN" altLang="zh-CN" sz="2800" b="0" i="0" u="none" strike="noStrike" kern="1200" cap="none" spc="0" normalizeH="0" baseline="0" noProof="0" dirty="0">
              <a:ln>
                <a:noFill/>
              </a:ln>
              <a:solidFill>
                <a:srgbClr val="000000"/>
              </a:solidFill>
              <a:effectLst/>
              <a:uLnTx/>
              <a:uFillTx/>
              <a:latin typeface="+mn-ea"/>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zh-CN" b="0" i="0" u="none" strike="noStrike" kern="1200" cap="none" spc="0" normalizeH="0" baseline="0" noProof="0" dirty="0">
                <a:ln>
                  <a:noFill/>
                </a:ln>
                <a:solidFill>
                  <a:srgbClr val="000000"/>
                </a:solidFill>
                <a:effectLst/>
                <a:uLnTx/>
                <a:uFillTx/>
                <a:cs typeface="+mn-cs"/>
              </a:rPr>
              <a:t>MOV AL，80H；将80H送入AL </a:t>
            </a:r>
            <a:endParaRPr kumimoji="0" lang="zh-CN" altLang="zh-CN" b="0" i="0" u="none" strike="noStrike" kern="1200" cap="none" spc="0" normalizeH="0" baseline="0" noProof="0" dirty="0">
              <a:ln>
                <a:noFill/>
              </a:ln>
              <a:solidFill>
                <a:srgbClr val="000000"/>
              </a:solidFill>
              <a:effectLst/>
              <a:uLnTx/>
              <a:uFillTx/>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b="0" i="0" u="none" strike="noStrike" kern="1200" cap="none" spc="0" normalizeH="0" baseline="0" noProof="0" dirty="0">
                <a:ln>
                  <a:noFill/>
                </a:ln>
                <a:solidFill>
                  <a:srgbClr val="000000"/>
                </a:solidFill>
                <a:effectLst/>
                <a:uLnTx/>
                <a:uFillTx/>
                <a:cs typeface="+mn-cs"/>
              </a:rPr>
              <a:t>    MOV AX，306AH；将306AH送入AX</a:t>
            </a:r>
            <a:endParaRPr kumimoji="0" lang="zh-CN" altLang="zh-CN" b="0" i="0" u="none" strike="noStrike" kern="1200" cap="none" spc="0" normalizeH="0" baseline="0" noProof="0" dirty="0">
              <a:ln>
                <a:noFill/>
              </a:ln>
              <a:solidFill>
                <a:srgbClr val="000000"/>
              </a:solidFill>
              <a:effectLst/>
              <a:uLnTx/>
              <a:uFillTx/>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zh-CN" b="0" i="0" u="none" strike="noStrike" kern="1200" cap="none" spc="0" normalizeH="0" baseline="0" noProof="0" dirty="0">
                <a:ln>
                  <a:noFill/>
                </a:ln>
                <a:solidFill>
                  <a:srgbClr val="000000"/>
                </a:solidFill>
                <a:effectLst/>
                <a:uLnTx/>
                <a:uFillTx/>
                <a:cs typeface="+mn-cs"/>
              </a:rPr>
              <a:t>立即数寻址方式常用来给寄存器赋值。</a:t>
            </a:r>
            <a:endParaRPr kumimoji="0" lang="zh-CN" altLang="zh-CN" b="0" i="0" u="none" strike="noStrike" kern="1200" cap="none" spc="0" normalizeH="0" baseline="0" noProof="0" dirty="0">
              <a:ln>
                <a:noFill/>
              </a:ln>
              <a:solidFill>
                <a:srgbClr val="000000"/>
              </a:solidFill>
              <a:effectLst/>
              <a:uLnTx/>
              <a:uFillTx/>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zh-CN" b="0" i="0" u="none" strike="noStrike" kern="1200" cap="none" spc="0" normalizeH="0" baseline="0" noProof="0" dirty="0">
                <a:ln>
                  <a:noFill/>
                </a:ln>
                <a:solidFill>
                  <a:srgbClr val="000000"/>
                </a:solidFill>
                <a:effectLst/>
                <a:uLnTx/>
                <a:uFillTx/>
                <a:cs typeface="+mn-cs"/>
              </a:rPr>
              <a:t>操作数直接在指令中取得，不需要使用另外的总线周期，执行时间短、速度快。</a:t>
            </a:r>
            <a:endParaRPr kumimoji="0" lang="zh-CN" altLang="zh-CN" b="0" i="0" u="none" strike="noStrike" kern="1200" cap="none" spc="0" normalizeH="0" baseline="0" noProof="0" dirty="0">
              <a:ln>
                <a:noFill/>
              </a:ln>
              <a:solidFill>
                <a:srgbClr val="000000"/>
              </a:solidFill>
              <a:effectLst/>
              <a:uLnTx/>
              <a:uFillTx/>
              <a:cs typeface="+mn-cs"/>
            </a:endParaRPr>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寄存器寻址</a:t>
            </a:r>
            <a:endParaRPr lang="zh-CN" altLang="en-US" dirty="0"/>
          </a:p>
        </p:txBody>
      </p:sp>
      <p:sp>
        <p:nvSpPr>
          <p:cNvPr id="3" name="内容占位符 2"/>
          <p:cNvSpPr>
            <a:spLocks noGrp="1"/>
          </p:cNvSpPr>
          <p:nvPr>
            <p:ph idx="1"/>
          </p:nvPr>
        </p:nvSpPr>
        <p:spPr/>
        <p:txBody>
          <a:bodyPr>
            <a:normAutofit/>
          </a:bodyPr>
          <a:lstStyle/>
          <a:p>
            <a:pPr>
              <a:lnSpc>
                <a:spcPct val="90000"/>
              </a:lnSpc>
              <a:buFont typeface="Wingdings" panose="05000000000000000000" pitchFamily="2" charset="2"/>
              <a:buChar char="Ø"/>
            </a:pPr>
            <a:r>
              <a:rPr lang="zh-CN" altLang="zh-CN" b="0" dirty="0"/>
              <a:t>操作数在CPU的内部寄存器中：</a:t>
            </a:r>
            <a:endParaRPr lang="zh-CN" altLang="zh-CN" b="0" dirty="0"/>
          </a:p>
          <a:p>
            <a:pPr lvl="1">
              <a:lnSpc>
                <a:spcPct val="90000"/>
              </a:lnSpc>
            </a:pPr>
            <a:r>
              <a:rPr lang="zh-CN" altLang="zh-CN" sz="2800" b="0" dirty="0">
                <a:latin typeface="+mn-ea"/>
              </a:rPr>
              <a:t>8位寄存器：AH、AL、BH、BL、CH、CL、DH、DL</a:t>
            </a:r>
            <a:endParaRPr lang="zh-CN" altLang="zh-CN" sz="2800" b="0" dirty="0">
              <a:latin typeface="+mn-ea"/>
            </a:endParaRPr>
          </a:p>
          <a:p>
            <a:pPr lvl="1">
              <a:lnSpc>
                <a:spcPct val="90000"/>
              </a:lnSpc>
            </a:pPr>
            <a:r>
              <a:rPr lang="zh-CN" altLang="zh-CN" sz="2800" b="0" dirty="0">
                <a:latin typeface="+mn-ea"/>
              </a:rPr>
              <a:t>16位寄存器：AX、BX、CX、DX、SI、DI、BP、SP</a:t>
            </a:r>
            <a:endParaRPr lang="zh-CN" altLang="zh-CN" sz="2800" b="0" dirty="0">
              <a:latin typeface="+mn-ea"/>
            </a:endParaRPr>
          </a:p>
          <a:p>
            <a:pPr lvl="1">
              <a:lnSpc>
                <a:spcPct val="90000"/>
              </a:lnSpc>
            </a:pPr>
            <a:r>
              <a:rPr lang="zh-CN" altLang="zh-CN" sz="2800" b="0" dirty="0">
                <a:latin typeface="+mn-ea"/>
              </a:rPr>
              <a:t>4个段寄存器：CS、DS、SS、ES</a:t>
            </a:r>
            <a:endParaRPr lang="zh-CN" altLang="zh-CN" sz="2800" b="0" dirty="0">
              <a:latin typeface="+mn-ea"/>
            </a:endParaRPr>
          </a:p>
          <a:p>
            <a:pPr>
              <a:lnSpc>
                <a:spcPct val="90000"/>
              </a:lnSpc>
              <a:buFont typeface="Wingdings" panose="05000000000000000000" pitchFamily="2" charset="2"/>
              <a:buChar char="Ø"/>
            </a:pPr>
            <a:r>
              <a:rPr lang="zh-CN" altLang="zh-CN" b="0" dirty="0"/>
              <a:t>MOV  AL，BL；将BL的内容传送到AL中</a:t>
            </a:r>
            <a:endParaRPr lang="zh-CN" altLang="zh-CN" b="0" dirty="0"/>
          </a:p>
          <a:p>
            <a:pPr>
              <a:lnSpc>
                <a:spcPct val="90000"/>
              </a:lnSpc>
              <a:buFont typeface="Wingdings" panose="05000000000000000000" pitchFamily="2" charset="2"/>
              <a:buNone/>
            </a:pPr>
            <a:r>
              <a:rPr lang="zh-CN" altLang="zh-CN" b="0" dirty="0"/>
              <a:t>  MOV  BX，AX；将AX的内容传送到BX中</a:t>
            </a:r>
            <a:endParaRPr lang="zh-CN" altLang="zh-CN" b="0" dirty="0"/>
          </a:p>
          <a:p>
            <a:pPr>
              <a:lnSpc>
                <a:spcPct val="90000"/>
              </a:lnSpc>
              <a:buFont typeface="Wingdings" panose="05000000000000000000" pitchFamily="2" charset="2"/>
              <a:buChar char="Ø"/>
            </a:pPr>
            <a:r>
              <a:rPr lang="zh-CN" altLang="zh-CN" b="0" dirty="0"/>
              <a:t>采用寄存器寻址的指令在执行时，操作数就在CPU中，不需要访问存储器来取得操作数，执行速度快。另外寄存器名比内存地址短，指令所占内存空间少。</a:t>
            </a:r>
            <a:r>
              <a:rPr lang="zh-CN" altLang="zh-CN" dirty="0"/>
              <a:t> </a:t>
            </a:r>
            <a:endParaRPr lang="zh-CN" altLang="zh-CN"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直接寻址</a:t>
            </a:r>
            <a:endParaRPr lang="zh-CN" altLang="en-US" dirty="0"/>
          </a:p>
        </p:txBody>
      </p:sp>
      <p:sp>
        <p:nvSpPr>
          <p:cNvPr id="3" name="内容占位符 2"/>
          <p:cNvSpPr>
            <a:spLocks noGrp="1"/>
          </p:cNvSpPr>
          <p:nvPr>
            <p:ph idx="1"/>
          </p:nvPr>
        </p:nvSpPr>
        <p:spPr/>
        <p:txBody>
          <a:bodyPr>
            <a:normAutofit/>
          </a:bodyPr>
          <a:lstStyle/>
          <a:p>
            <a:pPr>
              <a:lnSpc>
                <a:spcPct val="90000"/>
              </a:lnSpc>
            </a:pPr>
            <a:r>
              <a:rPr lang="zh-CN" altLang="zh-CN" sz="2800" dirty="0">
                <a:solidFill>
                  <a:schemeClr val="folHlink"/>
                </a:solidFill>
              </a:rPr>
              <a:t>有效地址EA (Effective Address)</a:t>
            </a:r>
            <a:r>
              <a:rPr lang="zh-CN" altLang="zh-CN" sz="2800" b="0" dirty="0"/>
              <a:t>：操作数的偏移地址。</a:t>
            </a:r>
            <a:endParaRPr lang="zh-CN" altLang="zh-CN" sz="2800" b="0" dirty="0"/>
          </a:p>
          <a:p>
            <a:pPr>
              <a:lnSpc>
                <a:spcPct val="90000"/>
              </a:lnSpc>
            </a:pPr>
            <a:r>
              <a:rPr lang="zh-CN" altLang="zh-CN" sz="2800" b="0" dirty="0"/>
              <a:t>EA可通过不同的寻址方式来得到。</a:t>
            </a:r>
            <a:r>
              <a:rPr lang="zh-CN" altLang="zh-CN" sz="2800" b="0" dirty="0">
                <a:solidFill>
                  <a:schemeClr val="hlink"/>
                </a:solidFill>
              </a:rPr>
              <a:t>直接寻址方式的有效地址在指令中直接给出</a:t>
            </a:r>
            <a:r>
              <a:rPr lang="zh-CN" altLang="zh-CN" sz="2800" b="0" dirty="0"/>
              <a:t>。</a:t>
            </a:r>
            <a:endParaRPr lang="zh-CN" altLang="zh-CN" sz="2800" b="0" dirty="0"/>
          </a:p>
          <a:p>
            <a:pPr>
              <a:lnSpc>
                <a:spcPct val="90000"/>
              </a:lnSpc>
            </a:pPr>
            <a:r>
              <a:rPr lang="zh-CN" altLang="zh-CN" sz="2800" b="0" dirty="0">
                <a:solidFill>
                  <a:srgbClr val="FF0066"/>
                </a:solidFill>
              </a:rPr>
              <a:t>默认的</a:t>
            </a:r>
            <a:r>
              <a:rPr lang="zh-CN" altLang="zh-CN" sz="2800" b="0" dirty="0"/>
              <a:t>段基址在DS段寄存器，可使用</a:t>
            </a:r>
            <a:r>
              <a:rPr lang="zh-CN" altLang="zh-CN" sz="2800" b="0" dirty="0">
                <a:solidFill>
                  <a:srgbClr val="FF0066"/>
                </a:solidFill>
              </a:rPr>
              <a:t>段前缀</a:t>
            </a:r>
            <a:r>
              <a:rPr lang="zh-CN" altLang="zh-CN" sz="2800" b="0" dirty="0"/>
              <a:t>改变。</a:t>
            </a:r>
            <a:endParaRPr lang="zh-CN" altLang="zh-CN" sz="2800" b="0" dirty="0"/>
          </a:p>
          <a:p>
            <a:pPr>
              <a:lnSpc>
                <a:spcPct val="90000"/>
              </a:lnSpc>
            </a:pPr>
            <a:r>
              <a:rPr lang="zh-CN" altLang="zh-CN" sz="2800" b="0" dirty="0"/>
              <a:t>用方括号包含有效地址，如：MOV AX，[1000H]。</a:t>
            </a:r>
            <a:endParaRPr lang="zh-CN" altLang="zh-CN" sz="2800" b="0" dirty="0"/>
          </a:p>
          <a:p>
            <a:pPr>
              <a:lnSpc>
                <a:spcPct val="90000"/>
              </a:lnSpc>
            </a:pPr>
            <a:r>
              <a:rPr lang="zh-CN" altLang="zh-CN" sz="2800" b="0" dirty="0"/>
              <a:t>如果有效地址是以符号地址形式提供，则可不加方括号。</a:t>
            </a:r>
            <a:endParaRPr lang="zh-CN" altLang="zh-CN" sz="2800" b="0" dirty="0"/>
          </a:p>
          <a:p>
            <a:pPr marL="0" indent="0">
              <a:lnSpc>
                <a:spcPct val="90000"/>
              </a:lnSpc>
              <a:buFont typeface="Wingdings" panose="05000000000000000000" pitchFamily="2" charset="2"/>
              <a:buNone/>
            </a:pPr>
            <a:r>
              <a:rPr lang="zh-CN" altLang="zh-CN" sz="2800" b="0" dirty="0"/>
              <a:t>  MOV AX，BUFA；</a:t>
            </a:r>
            <a:r>
              <a:rPr lang="zh-CN" altLang="en-US" sz="2800" b="0" dirty="0"/>
              <a:t>默认为</a:t>
            </a:r>
            <a:r>
              <a:rPr lang="en-US" altLang="zh-CN" sz="2800" b="0" dirty="0"/>
              <a:t>DS</a:t>
            </a:r>
            <a:r>
              <a:rPr lang="zh-CN" altLang="en-US" sz="2800" b="0" dirty="0"/>
              <a:t>数据段</a:t>
            </a:r>
            <a:endParaRPr lang="zh-CN" altLang="zh-CN" sz="2800" b="0" dirty="0"/>
          </a:p>
          <a:p>
            <a:pPr marL="0" indent="0">
              <a:lnSpc>
                <a:spcPct val="90000"/>
              </a:lnSpc>
              <a:buFont typeface="Wingdings" panose="05000000000000000000" pitchFamily="2" charset="2"/>
              <a:buNone/>
            </a:pPr>
            <a:r>
              <a:rPr lang="zh-CN" altLang="zh-CN" sz="2800" b="0" dirty="0"/>
              <a:t>  MOV AX，ES:BUFA</a:t>
            </a:r>
            <a:r>
              <a:rPr lang="zh-CN" altLang="en-US" sz="2800" b="0" dirty="0"/>
              <a:t>；加跨段前缀，</a:t>
            </a:r>
            <a:r>
              <a:rPr lang="en-US" altLang="zh-CN" sz="2800" b="0" dirty="0"/>
              <a:t>BUFA</a:t>
            </a:r>
            <a:r>
              <a:rPr lang="zh-CN" altLang="en-US" sz="2800" b="0" dirty="0"/>
              <a:t>变量在附加段中</a:t>
            </a:r>
            <a:endParaRPr lang="zh-CN" altLang="zh-CN" sz="2800" b="0"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endParaRPr lang="zh-CN" altLang="en-US" dirty="0"/>
          </a:p>
        </p:txBody>
      </p:sp>
      <p:sp>
        <p:nvSpPr>
          <p:cNvPr id="5" name="Text Box 11"/>
          <p:cNvSpPr txBox="1">
            <a:spLocks noGrp="1" noChangeArrowheads="1"/>
          </p:cNvSpPr>
          <p:nvPr>
            <p:ph idx="1"/>
          </p:nvPr>
        </p:nvSpPr>
        <p:spPr bwMode="auto">
          <a:xfrm>
            <a:off x="838200" y="1631963"/>
            <a:ext cx="10515600" cy="1082348"/>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zh-CN" dirty="0">
                <a:latin typeface="Times New Roman" panose="02020603050405020304" pitchFamily="18" charset="0"/>
              </a:rPr>
              <a:t>已知： (DS)=2000H ，(21000H)=12H， (21001H)=34H。</a:t>
            </a:r>
            <a:endParaRPr lang="zh-CN" altLang="zh-CN" dirty="0">
              <a:latin typeface="Times New Roman" panose="02020603050405020304" pitchFamily="18" charset="0"/>
            </a:endParaRPr>
          </a:p>
          <a:p>
            <a:pPr marL="0" indent="0">
              <a:lnSpc>
                <a:spcPct val="100000"/>
              </a:lnSpc>
              <a:buNone/>
            </a:pPr>
            <a:r>
              <a:rPr lang="en-US" altLang="zh-CN" dirty="0">
                <a:latin typeface="Times New Roman" panose="02020603050405020304" pitchFamily="18" charset="0"/>
              </a:rPr>
              <a:t>   </a:t>
            </a:r>
            <a:r>
              <a:rPr lang="zh-CN" altLang="zh-CN" dirty="0">
                <a:latin typeface="Times New Roman" panose="02020603050405020304" pitchFamily="18" charset="0"/>
              </a:rPr>
              <a:t>试给出指令</a:t>
            </a:r>
            <a:r>
              <a:rPr lang="zh-CN" altLang="zh-CN" dirty="0"/>
              <a:t> </a:t>
            </a:r>
            <a:r>
              <a:rPr lang="zh-CN" altLang="zh-CN" dirty="0">
                <a:latin typeface="Times New Roman" panose="02020603050405020304" pitchFamily="18" charset="0"/>
              </a:rPr>
              <a:t>MOV AX，[1000H]执行后AX的内容。</a:t>
            </a:r>
            <a:endParaRPr lang="zh-CN" altLang="zh-CN" dirty="0">
              <a:latin typeface="Times New Roman" panose="02020603050405020304" pitchFamily="18" charset="0"/>
            </a:endParaRPr>
          </a:p>
        </p:txBody>
      </p:sp>
      <p:grpSp>
        <p:nvGrpSpPr>
          <p:cNvPr id="6" name="Group 3"/>
          <p:cNvGrpSpPr/>
          <p:nvPr/>
        </p:nvGrpSpPr>
        <p:grpSpPr bwMode="auto">
          <a:xfrm>
            <a:off x="1090981" y="3119123"/>
            <a:ext cx="4948237" cy="471488"/>
            <a:chOff x="0" y="0"/>
            <a:chExt cx="3117" cy="297"/>
          </a:xfrm>
        </p:grpSpPr>
        <p:sp>
          <p:nvSpPr>
            <p:cNvPr id="7" name="Text Box 4"/>
            <p:cNvSpPr txBox="1">
              <a:spLocks noChangeArrowheads="1"/>
            </p:cNvSpPr>
            <p:nvPr/>
          </p:nvSpPr>
          <p:spPr bwMode="auto">
            <a:xfrm>
              <a:off x="0" y="0"/>
              <a:ext cx="1420"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段基址：2000H</a:t>
              </a:r>
              <a:endParaRPr lang="zh-CN" altLang="zh-CN">
                <a:latin typeface="Times New Roman" panose="02020603050405020304" pitchFamily="18" charset="0"/>
              </a:endParaRPr>
            </a:p>
          </p:txBody>
        </p:sp>
        <p:sp>
          <p:nvSpPr>
            <p:cNvPr id="8" name="Text Box 5"/>
            <p:cNvSpPr txBox="1">
              <a:spLocks noChangeArrowheads="1"/>
            </p:cNvSpPr>
            <p:nvPr/>
          </p:nvSpPr>
          <p:spPr bwMode="auto">
            <a:xfrm>
              <a:off x="1471" y="7"/>
              <a:ext cx="1646"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dirty="0">
                  <a:latin typeface="Times New Roman" panose="02020603050405020304" pitchFamily="18" charset="0"/>
                </a:rPr>
                <a:t>有效地址：1000H</a:t>
              </a:r>
              <a:endParaRPr lang="zh-CN" altLang="zh-CN" dirty="0">
                <a:latin typeface="Times New Roman" panose="02020603050405020304" pitchFamily="18" charset="0"/>
              </a:endParaRPr>
            </a:p>
          </p:txBody>
        </p:sp>
      </p:grpSp>
      <p:sp>
        <p:nvSpPr>
          <p:cNvPr id="9" name="Text Box 6"/>
          <p:cNvSpPr txBox="1">
            <a:spLocks noChangeArrowheads="1"/>
          </p:cNvSpPr>
          <p:nvPr/>
        </p:nvSpPr>
        <p:spPr bwMode="auto">
          <a:xfrm>
            <a:off x="2051418" y="4478023"/>
            <a:ext cx="2711450" cy="460375"/>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物理地址：21000H</a:t>
            </a:r>
            <a:endParaRPr lang="zh-CN" altLang="zh-CN">
              <a:latin typeface="Times New Roman" panose="02020603050405020304" pitchFamily="18" charset="0"/>
            </a:endParaRPr>
          </a:p>
        </p:txBody>
      </p:sp>
      <p:sp>
        <p:nvSpPr>
          <p:cNvPr id="10" name="AutoShape 7"/>
          <p:cNvSpPr/>
          <p:nvPr/>
        </p:nvSpPr>
        <p:spPr bwMode="auto">
          <a:xfrm>
            <a:off x="8556993" y="4589148"/>
            <a:ext cx="152400" cy="609600"/>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1" name="AutoShape 8"/>
          <p:cNvSpPr>
            <a:spLocks noChangeArrowheads="1"/>
          </p:cNvSpPr>
          <p:nvPr/>
        </p:nvSpPr>
        <p:spPr bwMode="auto">
          <a:xfrm>
            <a:off x="4920031" y="4676461"/>
            <a:ext cx="1384300" cy="131762"/>
          </a:xfrm>
          <a:prstGeom prst="rightArrow">
            <a:avLst>
              <a:gd name="adj1" fmla="val 50000"/>
              <a:gd name="adj2" fmla="val 262652"/>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2" name="AutoShape 9"/>
          <p:cNvSpPr>
            <a:spLocks noChangeArrowheads="1"/>
          </p:cNvSpPr>
          <p:nvPr/>
        </p:nvSpPr>
        <p:spPr bwMode="auto">
          <a:xfrm>
            <a:off x="8795118" y="4859023"/>
            <a:ext cx="566738" cy="77788"/>
          </a:xfrm>
          <a:prstGeom prst="rightArrow">
            <a:avLst>
              <a:gd name="adj1" fmla="val 50000"/>
              <a:gd name="adj2" fmla="val 182142"/>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3" name="Text Box 10"/>
          <p:cNvSpPr txBox="1">
            <a:spLocks noChangeArrowheads="1"/>
          </p:cNvSpPr>
          <p:nvPr/>
        </p:nvSpPr>
        <p:spPr bwMode="auto">
          <a:xfrm>
            <a:off x="9341218" y="4671698"/>
            <a:ext cx="64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AX</a:t>
            </a:r>
            <a:endParaRPr lang="zh-CN" altLang="zh-CN">
              <a:latin typeface="Times New Roman" panose="02020603050405020304" pitchFamily="18" charset="0"/>
            </a:endParaRPr>
          </a:p>
        </p:txBody>
      </p:sp>
      <p:sp>
        <p:nvSpPr>
          <p:cNvPr id="14" name="Rectangle 12"/>
          <p:cNvSpPr>
            <a:spLocks noChangeArrowheads="1"/>
          </p:cNvSpPr>
          <p:nvPr/>
        </p:nvSpPr>
        <p:spPr bwMode="auto">
          <a:xfrm>
            <a:off x="7393356" y="3152461"/>
            <a:ext cx="1055687" cy="3038475"/>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5" name="Line 13"/>
          <p:cNvSpPr>
            <a:spLocks noChangeShapeType="1"/>
          </p:cNvSpPr>
          <p:nvPr/>
        </p:nvSpPr>
        <p:spPr bwMode="auto">
          <a:xfrm>
            <a:off x="7391768" y="3490598"/>
            <a:ext cx="1046163"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4"/>
          <p:cNvSpPr>
            <a:spLocks noChangeShapeType="1"/>
          </p:cNvSpPr>
          <p:nvPr/>
        </p:nvSpPr>
        <p:spPr bwMode="auto">
          <a:xfrm>
            <a:off x="7396531" y="3828736"/>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5"/>
          <p:cNvSpPr>
            <a:spLocks noChangeShapeType="1"/>
          </p:cNvSpPr>
          <p:nvPr/>
        </p:nvSpPr>
        <p:spPr bwMode="auto">
          <a:xfrm>
            <a:off x="7396531" y="4495486"/>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6"/>
          <p:cNvSpPr>
            <a:spLocks noChangeShapeType="1"/>
          </p:cNvSpPr>
          <p:nvPr/>
        </p:nvSpPr>
        <p:spPr bwMode="auto">
          <a:xfrm>
            <a:off x="7396531" y="5828986"/>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7"/>
          <p:cNvSpPr>
            <a:spLocks noChangeShapeType="1"/>
          </p:cNvSpPr>
          <p:nvPr/>
        </p:nvSpPr>
        <p:spPr bwMode="auto">
          <a:xfrm>
            <a:off x="7396531" y="5262248"/>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8"/>
          <p:cNvSpPr>
            <a:spLocks noChangeShapeType="1"/>
          </p:cNvSpPr>
          <p:nvPr/>
        </p:nvSpPr>
        <p:spPr bwMode="auto">
          <a:xfrm>
            <a:off x="7396531" y="488442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19"/>
          <p:cNvSpPr txBox="1">
            <a:spLocks noChangeArrowheads="1"/>
          </p:cNvSpPr>
          <p:nvPr/>
        </p:nvSpPr>
        <p:spPr bwMode="auto">
          <a:xfrm>
            <a:off x="6240831" y="310642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20000H</a:t>
            </a:r>
            <a:endParaRPr lang="zh-CN" altLang="zh-CN">
              <a:latin typeface="Times New Roman" panose="02020603050405020304" pitchFamily="18" charset="0"/>
            </a:endParaRPr>
          </a:p>
        </p:txBody>
      </p:sp>
      <p:sp>
        <p:nvSpPr>
          <p:cNvPr id="22" name="Text Box 20"/>
          <p:cNvSpPr txBox="1">
            <a:spLocks noChangeArrowheads="1"/>
          </p:cNvSpPr>
          <p:nvPr/>
        </p:nvSpPr>
        <p:spPr bwMode="auto">
          <a:xfrm>
            <a:off x="7326681" y="2707961"/>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数据段</a:t>
            </a:r>
            <a:endParaRPr lang="zh-CN" altLang="zh-CN">
              <a:solidFill>
                <a:srgbClr val="FF0066"/>
              </a:solidFill>
              <a:latin typeface="Times New Roman" panose="02020603050405020304" pitchFamily="18" charset="0"/>
            </a:endParaRPr>
          </a:p>
        </p:txBody>
      </p:sp>
      <p:sp>
        <p:nvSpPr>
          <p:cNvPr id="23" name="Text Box 21"/>
          <p:cNvSpPr txBox="1">
            <a:spLocks noChangeArrowheads="1"/>
          </p:cNvSpPr>
          <p:nvPr/>
        </p:nvSpPr>
        <p:spPr bwMode="auto">
          <a:xfrm>
            <a:off x="6163043" y="5760723"/>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2FFFFH</a:t>
            </a:r>
            <a:endParaRPr lang="zh-CN" altLang="zh-CN">
              <a:latin typeface="Times New Roman" panose="02020603050405020304" pitchFamily="18" charset="0"/>
            </a:endParaRPr>
          </a:p>
        </p:txBody>
      </p:sp>
      <p:sp>
        <p:nvSpPr>
          <p:cNvPr id="24" name="Line 22"/>
          <p:cNvSpPr>
            <a:spLocks noChangeShapeType="1"/>
          </p:cNvSpPr>
          <p:nvPr/>
        </p:nvSpPr>
        <p:spPr bwMode="auto">
          <a:xfrm>
            <a:off x="7937868" y="3936686"/>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23"/>
          <p:cNvSpPr>
            <a:spLocks noChangeShapeType="1"/>
          </p:cNvSpPr>
          <p:nvPr/>
        </p:nvSpPr>
        <p:spPr bwMode="auto">
          <a:xfrm>
            <a:off x="7947393" y="5317811"/>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4"/>
          <p:cNvSpPr txBox="1">
            <a:spLocks noChangeArrowheads="1"/>
          </p:cNvSpPr>
          <p:nvPr/>
        </p:nvSpPr>
        <p:spPr bwMode="auto">
          <a:xfrm>
            <a:off x="6250356" y="446532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21000H</a:t>
            </a:r>
            <a:endParaRPr lang="zh-CN" altLang="zh-CN">
              <a:latin typeface="Times New Roman" panose="02020603050405020304" pitchFamily="18" charset="0"/>
            </a:endParaRPr>
          </a:p>
        </p:txBody>
      </p:sp>
      <p:sp>
        <p:nvSpPr>
          <p:cNvPr id="27" name="Text Box 25"/>
          <p:cNvSpPr txBox="1">
            <a:spLocks noChangeArrowheads="1"/>
          </p:cNvSpPr>
          <p:nvPr/>
        </p:nvSpPr>
        <p:spPr bwMode="auto">
          <a:xfrm>
            <a:off x="6239243" y="486537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21001H</a:t>
            </a:r>
            <a:endParaRPr lang="zh-CN" altLang="zh-CN">
              <a:latin typeface="Times New Roman" panose="02020603050405020304" pitchFamily="18" charset="0"/>
            </a:endParaRPr>
          </a:p>
        </p:txBody>
      </p:sp>
      <p:sp>
        <p:nvSpPr>
          <p:cNvPr id="28" name="Text Box 26"/>
          <p:cNvSpPr txBox="1">
            <a:spLocks noChangeArrowheads="1"/>
          </p:cNvSpPr>
          <p:nvPr/>
        </p:nvSpPr>
        <p:spPr bwMode="auto">
          <a:xfrm>
            <a:off x="7534643" y="4479611"/>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29" name="Text Box 27"/>
          <p:cNvSpPr txBox="1">
            <a:spLocks noChangeArrowheads="1"/>
          </p:cNvSpPr>
          <p:nvPr/>
        </p:nvSpPr>
        <p:spPr bwMode="auto">
          <a:xfrm>
            <a:off x="7553693" y="4847911"/>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30" name="Text Box 28"/>
          <p:cNvSpPr txBox="1">
            <a:spLocks noChangeArrowheads="1"/>
          </p:cNvSpPr>
          <p:nvPr/>
        </p:nvSpPr>
        <p:spPr bwMode="auto">
          <a:xfrm>
            <a:off x="7364781" y="6246498"/>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grpSp>
        <p:nvGrpSpPr>
          <p:cNvPr id="31" name="Group 29"/>
          <p:cNvGrpSpPr/>
          <p:nvPr/>
        </p:nvGrpSpPr>
        <p:grpSpPr bwMode="auto">
          <a:xfrm>
            <a:off x="2418131" y="3695386"/>
            <a:ext cx="2112962" cy="781050"/>
            <a:chOff x="0" y="0"/>
            <a:chExt cx="1331" cy="492"/>
          </a:xfrm>
        </p:grpSpPr>
        <p:sp>
          <p:nvSpPr>
            <p:cNvPr id="32" name="Line 30"/>
            <p:cNvSpPr>
              <a:spLocks noChangeShapeType="1"/>
            </p:cNvSpPr>
            <p:nvPr/>
          </p:nvSpPr>
          <p:spPr bwMode="auto">
            <a:xfrm>
              <a:off x="0" y="0"/>
              <a:ext cx="0" cy="192"/>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31"/>
            <p:cNvSpPr>
              <a:spLocks noChangeShapeType="1"/>
            </p:cNvSpPr>
            <p:nvPr/>
          </p:nvSpPr>
          <p:spPr bwMode="auto">
            <a:xfrm>
              <a:off x="1" y="192"/>
              <a:ext cx="1330" cy="0"/>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32"/>
            <p:cNvSpPr>
              <a:spLocks noChangeShapeType="1"/>
            </p:cNvSpPr>
            <p:nvPr/>
          </p:nvSpPr>
          <p:spPr bwMode="auto">
            <a:xfrm flipV="1">
              <a:off x="1331" y="14"/>
              <a:ext cx="0" cy="178"/>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33"/>
            <p:cNvSpPr>
              <a:spLocks noChangeShapeType="1"/>
            </p:cNvSpPr>
            <p:nvPr/>
          </p:nvSpPr>
          <p:spPr bwMode="auto">
            <a:xfrm>
              <a:off x="597" y="190"/>
              <a:ext cx="0" cy="302"/>
            </a:xfrm>
            <a:prstGeom prst="line">
              <a:avLst/>
            </a:prstGeom>
            <a:noFill/>
            <a:ln w="38100" cmpd="sng">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 name="Text Box 34"/>
          <p:cNvSpPr txBox="1">
            <a:spLocks noChangeArrowheads="1"/>
          </p:cNvSpPr>
          <p:nvPr/>
        </p:nvSpPr>
        <p:spPr bwMode="auto">
          <a:xfrm>
            <a:off x="1351331" y="5825811"/>
            <a:ext cx="3852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latin typeface="Times New Roman" panose="02020603050405020304" pitchFamily="18" charset="0"/>
              </a:rPr>
              <a:t>指令执行后，(AX)=3412H。</a:t>
            </a:r>
            <a:endParaRPr lang="zh-CN" altLang="zh-CN" b="1">
              <a:solidFill>
                <a:schemeClr val="hlink"/>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ppt_x</p:attrName>
                                        </p:attrNameLst>
                                      </p:cBhvr>
                                      <p:tavLst>
                                        <p:tav tm="0">
                                          <p:val>
                                            <p:strVal val="#ppt_x"/>
                                          </p:val>
                                        </p:tav>
                                        <p:tav tm="100000">
                                          <p:val>
                                            <p:strVal val="#ppt_x"/>
                                          </p:val>
                                        </p:tav>
                                      </p:tavLst>
                                    </p:anim>
                                    <p:anim calcmode="lin" valueType="num">
                                      <p:cBhvr>
                                        <p:cTn id="14" dur="500" fill="hold"/>
                                        <p:tgtEl>
                                          <p:spTgt spid="31"/>
                                        </p:tgtEl>
                                        <p:attrNameLst>
                                          <p:attrName>ppt_y</p:attrName>
                                        </p:attrNameLst>
                                      </p:cBhvr>
                                      <p:tavLst>
                                        <p:tav tm="0">
                                          <p:val>
                                            <p:strVal val="#ppt_y-#ppt_h/2"/>
                                          </p:val>
                                        </p:tav>
                                        <p:tav tm="100000">
                                          <p:val>
                                            <p:strVal val="#ppt_y"/>
                                          </p:val>
                                        </p:tav>
                                      </p:tavLst>
                                    </p:anim>
                                    <p:anim calcmode="lin" valueType="num">
                                      <p:cBhvr>
                                        <p:cTn id="15" dur="500" fill="hold"/>
                                        <p:tgtEl>
                                          <p:spTgt spid="31"/>
                                        </p:tgtEl>
                                        <p:attrNameLst>
                                          <p:attrName>ppt_w</p:attrName>
                                        </p:attrNameLst>
                                      </p:cBhvr>
                                      <p:tavLst>
                                        <p:tav tm="0">
                                          <p:val>
                                            <p:strVal val="#ppt_w"/>
                                          </p:val>
                                        </p:tav>
                                        <p:tav tm="100000">
                                          <p:val>
                                            <p:strVal val="#ppt_w"/>
                                          </p:val>
                                        </p:tav>
                                      </p:tavLst>
                                    </p:anim>
                                    <p:anim calcmode="lin" valueType="num">
                                      <p:cBhvr>
                                        <p:cTn id="16"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ppt_x</p:attrName>
                                        </p:attrNameLst>
                                      </p:cBhvr>
                                      <p:tavLst>
                                        <p:tav tm="0">
                                          <p:val>
                                            <p:strVal val="#ppt_x-#ppt_w/2"/>
                                          </p:val>
                                        </p:tav>
                                        <p:tav tm="100000">
                                          <p:val>
                                            <p:strVal val="#ppt_x"/>
                                          </p:val>
                                        </p:tav>
                                      </p:tavLst>
                                    </p:anim>
                                    <p:anim calcmode="lin" valueType="num">
                                      <p:cBhvr>
                                        <p:cTn id="28" dur="500" fill="hold"/>
                                        <p:tgtEl>
                                          <p:spTgt spid="11"/>
                                        </p:tgtEl>
                                        <p:attrNameLst>
                                          <p:attrName>ppt_y</p:attrName>
                                        </p:attrNameLst>
                                      </p:cBhvr>
                                      <p:tavLst>
                                        <p:tav tm="0">
                                          <p:val>
                                            <p:strVal val="#ppt_y"/>
                                          </p:val>
                                        </p:tav>
                                        <p:tav tm="100000">
                                          <p:val>
                                            <p:strVal val="#ppt_y"/>
                                          </p:val>
                                        </p:tav>
                                      </p:tavLst>
                                    </p:anim>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ppt_x</p:attrName>
                                        </p:attrNameLst>
                                      </p:cBhvr>
                                      <p:tavLst>
                                        <p:tav tm="0">
                                          <p:val>
                                            <p:strVal val="#ppt_x-#ppt_w/2"/>
                                          </p:val>
                                        </p:tav>
                                        <p:tav tm="100000">
                                          <p:val>
                                            <p:strVal val="#ppt_x"/>
                                          </p:val>
                                        </p:tav>
                                      </p:tavLst>
                                    </p:anim>
                                    <p:anim calcmode="lin" valueType="num">
                                      <p:cBhvr>
                                        <p:cTn id="36" dur="500" fill="hold"/>
                                        <p:tgtEl>
                                          <p:spTgt spid="10"/>
                                        </p:tgtEl>
                                        <p:attrNameLst>
                                          <p:attrName>ppt_y</p:attrName>
                                        </p:attrNameLst>
                                      </p:cBhvr>
                                      <p:tavLst>
                                        <p:tav tm="0">
                                          <p:val>
                                            <p:strVal val="#ppt_y"/>
                                          </p:val>
                                        </p:tav>
                                        <p:tav tm="100000">
                                          <p:val>
                                            <p:strVal val="#ppt_y"/>
                                          </p:val>
                                        </p:tav>
                                      </p:tavLst>
                                    </p:anim>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strVal val="#ppt_h"/>
                                          </p:val>
                                        </p:tav>
                                        <p:tav tm="100000">
                                          <p:val>
                                            <p:strVal val="#ppt_h"/>
                                          </p:val>
                                        </p:tav>
                                      </p:tavLst>
                                    </p:anim>
                                  </p:childTnLst>
                                </p:cTn>
                              </p:par>
                            </p:childTnLst>
                          </p:cTn>
                        </p:par>
                        <p:par>
                          <p:cTn id="39" fill="hold">
                            <p:stCondLst>
                              <p:cond delay="500"/>
                            </p:stCondLst>
                            <p:childTnLst>
                              <p:par>
                                <p:cTn id="40" presetID="17"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ppt_x</p:attrName>
                                        </p:attrNameLst>
                                      </p:cBhvr>
                                      <p:tavLst>
                                        <p:tav tm="0">
                                          <p:val>
                                            <p:strVal val="#ppt_x-#ppt_w/2"/>
                                          </p:val>
                                        </p:tav>
                                        <p:tav tm="100000">
                                          <p:val>
                                            <p:strVal val="#ppt_x"/>
                                          </p:val>
                                        </p:tav>
                                      </p:tavLst>
                                    </p:anim>
                                    <p:anim calcmode="lin" valueType="num">
                                      <p:cBhvr>
                                        <p:cTn id="43" dur="500" fill="hold"/>
                                        <p:tgtEl>
                                          <p:spTgt spid="12"/>
                                        </p:tgtEl>
                                        <p:attrNameLst>
                                          <p:attrName>ppt_y</p:attrName>
                                        </p:attrNameLst>
                                      </p:cBhvr>
                                      <p:tavLst>
                                        <p:tav tm="0">
                                          <p:val>
                                            <p:strVal val="#ppt_y"/>
                                          </p:val>
                                        </p:tav>
                                        <p:tav tm="100000">
                                          <p:val>
                                            <p:strVal val="#ppt_y"/>
                                          </p:val>
                                        </p:tav>
                                      </p:tavLst>
                                    </p:anim>
                                    <p:anim calcmode="lin" valueType="num">
                                      <p:cBhvr>
                                        <p:cTn id="44" dur="500" fill="hold"/>
                                        <p:tgtEl>
                                          <p:spTgt spid="12"/>
                                        </p:tgtEl>
                                        <p:attrNameLst>
                                          <p:attrName>ppt_w</p:attrName>
                                        </p:attrNameLst>
                                      </p:cBhvr>
                                      <p:tavLst>
                                        <p:tav tm="0">
                                          <p:val>
                                            <p:fltVal val="0"/>
                                          </p:val>
                                        </p:tav>
                                        <p:tav tm="100000">
                                          <p:val>
                                            <p:strVal val="#ppt_w"/>
                                          </p:val>
                                        </p:tav>
                                      </p:tavLst>
                                    </p:anim>
                                    <p:anim calcmode="lin" valueType="num">
                                      <p:cBhvr>
                                        <p:cTn id="45" dur="500" fill="hold"/>
                                        <p:tgtEl>
                                          <p:spTgt spid="12"/>
                                        </p:tgtEl>
                                        <p:attrNameLst>
                                          <p:attrName>ppt_h</p:attrName>
                                        </p:attrNameLst>
                                      </p:cBhvr>
                                      <p:tavLst>
                                        <p:tav tm="0">
                                          <p:val>
                                            <p:strVal val="#ppt_h"/>
                                          </p:val>
                                        </p:tav>
                                        <p:tav tm="100000">
                                          <p:val>
                                            <p:strVal val="#ppt_h"/>
                                          </p:val>
                                        </p:tav>
                                      </p:tavLst>
                                    </p:anim>
                                  </p:childTnLst>
                                </p:cTn>
                              </p:par>
                            </p:childTnLst>
                          </p:cTn>
                        </p:par>
                        <p:par>
                          <p:cTn id="46" fill="hold">
                            <p:stCondLst>
                              <p:cond delay="1000"/>
                            </p:stCondLst>
                            <p:childTnLst>
                              <p:par>
                                <p:cTn id="47" presetID="2" presetClass="entr" presetSubtype="4"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slide(fromBottom)">
                                      <p:cBhvr>
                                        <p:cTn id="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autoUpdateAnimBg="0"/>
      <p:bldP spid="11" grpId="0" animBg="1" autoUpdateAnimBg="0"/>
      <p:bldP spid="12" grpId="0" animBg="1" autoUpdateAnimBg="0"/>
      <p:bldP spid="13" grpId="0" autoUpdateAnimBg="0"/>
      <p:bldP spid="3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寄存器间接寻址</a:t>
            </a:r>
            <a:endParaRPr lang="zh-CN" altLang="en-US" dirty="0"/>
          </a:p>
        </p:txBody>
      </p:sp>
      <p:sp>
        <p:nvSpPr>
          <p:cNvPr id="3" name="内容占位符 2"/>
          <p:cNvSpPr>
            <a:spLocks noGrp="1"/>
          </p:cNvSpPr>
          <p:nvPr>
            <p:ph idx="1"/>
          </p:nvPr>
        </p:nvSpPr>
        <p:spPr>
          <a:xfrm>
            <a:off x="609601" y="1719263"/>
            <a:ext cx="10058399" cy="4411662"/>
          </a:xfrm>
        </p:spPr>
        <p:txBody>
          <a:bodyPr>
            <a:normAutofit fontScale="77500" lnSpcReduction="20000"/>
          </a:bodyPr>
          <a:lstStyle/>
          <a:p>
            <a:pPr>
              <a:lnSpc>
                <a:spcPct val="80000"/>
              </a:lnSpc>
              <a:buFont typeface="Wingdings" panose="05000000000000000000" pitchFamily="2" charset="2"/>
              <a:buChar char="Ø"/>
            </a:pPr>
            <a:r>
              <a:rPr lang="zh-CN" altLang="zh-CN" sz="3300" dirty="0">
                <a:solidFill>
                  <a:schemeClr val="folHlink"/>
                </a:solidFill>
              </a:rPr>
              <a:t>有效地址存放在基址寄存器BX、BP或变址寄存器SI、DI中</a:t>
            </a:r>
            <a:r>
              <a:rPr lang="zh-CN" altLang="zh-CN" sz="3300" b="0" dirty="0"/>
              <a:t>。</a:t>
            </a:r>
            <a:endParaRPr lang="zh-CN" altLang="zh-CN" sz="3300" b="0" dirty="0"/>
          </a:p>
          <a:p>
            <a:pPr>
              <a:lnSpc>
                <a:spcPct val="80000"/>
              </a:lnSpc>
              <a:buFont typeface="Wingdings" panose="05000000000000000000" pitchFamily="2" charset="2"/>
              <a:buChar char="Ø"/>
            </a:pPr>
            <a:r>
              <a:rPr lang="zh-CN" altLang="zh-CN" sz="3300" b="0" dirty="0"/>
              <a:t>如用</a:t>
            </a:r>
            <a:r>
              <a:rPr lang="zh-CN" altLang="zh-CN" sz="3300" b="0" dirty="0">
                <a:solidFill>
                  <a:schemeClr val="hlink"/>
                </a:solidFill>
              </a:rPr>
              <a:t>BX、SI或DI</a:t>
            </a:r>
            <a:r>
              <a:rPr lang="zh-CN" altLang="zh-CN" sz="3300" b="0" dirty="0"/>
              <a:t>作为间址寄存器，则默认的段基址在</a:t>
            </a:r>
            <a:r>
              <a:rPr lang="zh-CN" altLang="zh-CN" sz="3300" b="0" dirty="0">
                <a:solidFill>
                  <a:schemeClr val="hlink"/>
                </a:solidFill>
              </a:rPr>
              <a:t>DS</a:t>
            </a:r>
            <a:r>
              <a:rPr lang="zh-CN" altLang="zh-CN" sz="3300" b="0" dirty="0"/>
              <a:t>段寄存器。</a:t>
            </a:r>
            <a:endParaRPr lang="zh-CN" altLang="zh-CN" sz="3300" b="0" dirty="0"/>
          </a:p>
          <a:p>
            <a:pPr>
              <a:lnSpc>
                <a:spcPct val="80000"/>
              </a:lnSpc>
              <a:buFont typeface="Wingdings" panose="05000000000000000000" pitchFamily="2" charset="2"/>
              <a:buChar char="Ø"/>
            </a:pPr>
            <a:r>
              <a:rPr lang="zh-CN" altLang="zh-CN" sz="3300" b="0" dirty="0"/>
              <a:t>如用</a:t>
            </a:r>
            <a:r>
              <a:rPr lang="zh-CN" altLang="zh-CN" sz="3300" b="0" dirty="0">
                <a:solidFill>
                  <a:schemeClr val="hlink"/>
                </a:solidFill>
              </a:rPr>
              <a:t>BP</a:t>
            </a:r>
            <a:r>
              <a:rPr lang="zh-CN" altLang="zh-CN" sz="3300" b="0" dirty="0"/>
              <a:t>作为间址寄存器，则默认的段基址在</a:t>
            </a:r>
            <a:r>
              <a:rPr lang="zh-CN" altLang="zh-CN" sz="3300" b="0" dirty="0">
                <a:solidFill>
                  <a:schemeClr val="hlink"/>
                </a:solidFill>
              </a:rPr>
              <a:t>SS</a:t>
            </a:r>
            <a:r>
              <a:rPr lang="zh-CN" altLang="zh-CN" sz="3300" b="0" dirty="0"/>
              <a:t>段寄存器。</a:t>
            </a:r>
            <a:endParaRPr lang="zh-CN" altLang="zh-CN" sz="3300" b="0" dirty="0"/>
          </a:p>
          <a:p>
            <a:pPr>
              <a:lnSpc>
                <a:spcPct val="80000"/>
              </a:lnSpc>
              <a:buFont typeface="Wingdings" panose="05000000000000000000" pitchFamily="2" charset="2"/>
              <a:buChar char="Ø"/>
            </a:pPr>
            <a:r>
              <a:rPr lang="zh-CN" altLang="zh-CN" sz="3300" b="0" dirty="0"/>
              <a:t>可使用段前缀改变。</a:t>
            </a:r>
            <a:endParaRPr lang="en-US" altLang="zh-CN" sz="3300" b="0" dirty="0"/>
          </a:p>
          <a:p>
            <a:pPr>
              <a:lnSpc>
                <a:spcPct val="80000"/>
              </a:lnSpc>
              <a:buFont typeface="Wingdings" panose="05000000000000000000" pitchFamily="2" charset="2"/>
              <a:buChar char="Ø"/>
            </a:pPr>
            <a:endParaRPr lang="zh-CN" altLang="zh-CN" sz="3300" b="0" dirty="0"/>
          </a:p>
          <a:p>
            <a:pPr>
              <a:lnSpc>
                <a:spcPct val="80000"/>
              </a:lnSpc>
              <a:buFont typeface="Wingdings" panose="05000000000000000000" pitchFamily="2" charset="2"/>
              <a:buChar char="Ø"/>
            </a:pPr>
            <a:r>
              <a:rPr lang="zh-CN" altLang="zh-CN" sz="3300" b="0" dirty="0"/>
              <a:t>MOV  AX，[BX] ；若(DS)=2000H，(BX)=1000H ，则将数据段</a:t>
            </a:r>
            <a:endParaRPr lang="zh-CN" altLang="zh-CN" sz="3300" b="0" dirty="0"/>
          </a:p>
          <a:p>
            <a:pPr>
              <a:lnSpc>
                <a:spcPct val="80000"/>
              </a:lnSpc>
              <a:buFont typeface="Wingdings" panose="05000000000000000000" pitchFamily="2" charset="2"/>
              <a:buNone/>
            </a:pPr>
            <a:r>
              <a:rPr lang="zh-CN" altLang="zh-CN" sz="3300" b="0" dirty="0"/>
              <a:t>                  21000H、21001H两个单元的内容送到AX中。</a:t>
            </a:r>
            <a:endParaRPr lang="en-US" altLang="zh-CN" sz="3300" b="0" dirty="0"/>
          </a:p>
          <a:p>
            <a:pPr>
              <a:lnSpc>
                <a:spcPct val="80000"/>
              </a:lnSpc>
              <a:buFont typeface="Wingdings" panose="05000000000000000000" pitchFamily="2" charset="2"/>
              <a:buNone/>
            </a:pPr>
            <a:endParaRPr lang="zh-CN" altLang="zh-CN" sz="3300" b="0" dirty="0"/>
          </a:p>
          <a:p>
            <a:pPr>
              <a:lnSpc>
                <a:spcPct val="80000"/>
              </a:lnSpc>
              <a:buFont typeface="Wingdings" panose="05000000000000000000" pitchFamily="2" charset="2"/>
              <a:buChar char="Ø"/>
            </a:pPr>
            <a:r>
              <a:rPr lang="zh-CN" altLang="zh-CN" sz="3300" b="0" dirty="0"/>
              <a:t>MOV  CX，[BP] ；若 (SS)=4000H，(BP)=1000H ，则将堆栈段</a:t>
            </a:r>
            <a:endParaRPr lang="zh-CN" altLang="zh-CN" sz="3300" b="0" dirty="0"/>
          </a:p>
          <a:p>
            <a:pPr>
              <a:lnSpc>
                <a:spcPct val="80000"/>
              </a:lnSpc>
              <a:buFont typeface="Wingdings" panose="05000000000000000000" pitchFamily="2" charset="2"/>
              <a:buNone/>
            </a:pPr>
            <a:r>
              <a:rPr lang="zh-CN" altLang="zh-CN" sz="3300" b="0" dirty="0"/>
              <a:t>                  41000H、41001H两个单元的内容送到CX中。</a:t>
            </a:r>
            <a:endParaRPr lang="en-US" altLang="zh-CN" sz="3300" b="0" dirty="0"/>
          </a:p>
          <a:p>
            <a:pPr>
              <a:lnSpc>
                <a:spcPct val="80000"/>
              </a:lnSpc>
              <a:buFont typeface="Wingdings" panose="05000000000000000000" pitchFamily="2" charset="2"/>
              <a:buNone/>
            </a:pPr>
            <a:endParaRPr lang="zh-CN" altLang="zh-CN" sz="3300" b="0" dirty="0"/>
          </a:p>
          <a:p>
            <a:pPr>
              <a:lnSpc>
                <a:spcPct val="80000"/>
              </a:lnSpc>
              <a:buFont typeface="Wingdings" panose="05000000000000000000" pitchFamily="2" charset="2"/>
              <a:buChar char="Ø"/>
            </a:pPr>
            <a:r>
              <a:rPr lang="zh-CN" altLang="zh-CN" sz="3300" b="0" dirty="0"/>
              <a:t>MOV  AX，ES:[SI] ；若(ES)=3000H，(SI)=1000H ，则将附加段</a:t>
            </a:r>
            <a:endParaRPr lang="zh-CN" altLang="zh-CN" sz="3300" b="0" dirty="0"/>
          </a:p>
          <a:p>
            <a:pPr>
              <a:lnSpc>
                <a:spcPct val="80000"/>
              </a:lnSpc>
              <a:buFont typeface="Wingdings" panose="05000000000000000000" pitchFamily="2" charset="2"/>
              <a:buNone/>
            </a:pPr>
            <a:r>
              <a:rPr lang="zh-CN" altLang="zh-CN" sz="3300" b="0" dirty="0"/>
              <a:t>                     31000H、31001H两个单元的内容送到AX中。 </a:t>
            </a:r>
            <a:endParaRPr lang="zh-CN" altLang="zh-CN" sz="3300" b="0" dirty="0"/>
          </a:p>
          <a:p>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基址寻址和变址寻址</a:t>
            </a:r>
            <a:endParaRPr lang="zh-CN" altLang="en-US" dirty="0"/>
          </a:p>
        </p:txBody>
      </p:sp>
      <p:sp>
        <p:nvSpPr>
          <p:cNvPr id="3" name="内容占位符 2"/>
          <p:cNvSpPr>
            <a:spLocks noGrp="1"/>
          </p:cNvSpPr>
          <p:nvPr>
            <p:ph idx="1"/>
          </p:nvPr>
        </p:nvSpPr>
        <p:spPr/>
        <p:txBody>
          <a:bodyPr>
            <a:noAutofit/>
          </a:bodyPr>
          <a:lstStyle/>
          <a:p>
            <a:pPr>
              <a:buFont typeface="Wingdings" panose="05000000000000000000" pitchFamily="2" charset="2"/>
              <a:buChar char="Ø"/>
            </a:pPr>
            <a:r>
              <a:rPr lang="zh-CN" altLang="zh-CN" sz="2400" b="0" dirty="0">
                <a:latin typeface="Times New Roman" panose="02020603050405020304" pitchFamily="18" charset="0"/>
                <a:ea typeface="楷体_GB2312" pitchFamily="1" charset="-122"/>
              </a:rPr>
              <a:t>有效地址由基址寄存器（BX或BP）</a:t>
            </a:r>
            <a:r>
              <a:rPr lang="zh-CN" altLang="en-US" sz="2400" dirty="0">
                <a:latin typeface="Times New Roman" panose="02020603050405020304" pitchFamily="18" charset="0"/>
                <a:ea typeface="楷体_GB2312" pitchFamily="1" charset="-122"/>
              </a:rPr>
              <a:t>或</a:t>
            </a:r>
            <a:r>
              <a:rPr lang="zh-CN" altLang="zh-CN" sz="2400" b="0" dirty="0">
                <a:latin typeface="Times New Roman" panose="02020603050405020304" pitchFamily="18" charset="0"/>
                <a:ea typeface="楷体_GB2312" pitchFamily="1" charset="-122"/>
              </a:rPr>
              <a:t>变址寄存器（SI或DI）的</a:t>
            </a:r>
            <a:r>
              <a:rPr lang="zh-CN" altLang="zh-CN" sz="2400" dirty="0">
                <a:latin typeface="Times New Roman" panose="02020603050405020304" pitchFamily="18" charset="0"/>
                <a:ea typeface="楷体_GB2312" pitchFamily="1" charset="-122"/>
              </a:rPr>
              <a:t>内容</a:t>
            </a:r>
            <a:r>
              <a:rPr lang="zh-CN" altLang="en-US" sz="2400" dirty="0">
                <a:latin typeface="Times New Roman" panose="02020603050405020304" pitchFamily="18" charset="0"/>
                <a:ea typeface="楷体_GB2312" pitchFamily="1" charset="-122"/>
              </a:rPr>
              <a:t>与指令中指定的</a:t>
            </a:r>
            <a:r>
              <a:rPr lang="zh-CN" altLang="zh-CN" sz="2400" dirty="0">
                <a:latin typeface="Times New Roman" panose="02020603050405020304" pitchFamily="18" charset="0"/>
                <a:ea typeface="楷体_GB2312" pitchFamily="1" charset="-122"/>
              </a:rPr>
              <a:t>8位或16位位移量之和构成</a:t>
            </a:r>
            <a:r>
              <a:rPr lang="zh-CN" altLang="zh-CN" sz="2400" b="0" dirty="0">
                <a:latin typeface="Times New Roman" panose="02020603050405020304" pitchFamily="18" charset="0"/>
                <a:ea typeface="楷体_GB2312" pitchFamily="1" charset="-122"/>
              </a:rPr>
              <a:t>：</a:t>
            </a:r>
            <a:endParaRPr lang="zh-CN" altLang="zh-CN" sz="2400" b="0" dirty="0">
              <a:latin typeface="Times New Roman" panose="02020603050405020304" pitchFamily="18" charset="0"/>
              <a:ea typeface="楷体_GB2312" pitchFamily="1" charset="-122"/>
            </a:endParaRPr>
          </a:p>
          <a:p>
            <a:pPr lvl="1">
              <a:buFont typeface="Wingdings" panose="05000000000000000000" pitchFamily="2" charset="2"/>
              <a:buNone/>
            </a:pPr>
            <a:r>
              <a:rPr lang="zh-CN" altLang="zh-CN" sz="2400" b="0" dirty="0">
                <a:solidFill>
                  <a:schemeClr val="hlink"/>
                </a:solidFill>
                <a:latin typeface="Times New Roman" panose="02020603050405020304" pitchFamily="18" charset="0"/>
                <a:ea typeface="楷体_GB2312" pitchFamily="1" charset="-122"/>
              </a:rPr>
              <a:t>有效地址＝BX/BP</a:t>
            </a:r>
            <a:r>
              <a:rPr lang="en-US" altLang="zh-CN" sz="2400" b="0" dirty="0">
                <a:solidFill>
                  <a:schemeClr val="hlink"/>
                </a:solidFill>
                <a:latin typeface="Times New Roman" panose="02020603050405020304" pitchFamily="18" charset="0"/>
                <a:ea typeface="楷体_GB2312" pitchFamily="1" charset="-122"/>
              </a:rPr>
              <a:t>/</a:t>
            </a:r>
            <a:r>
              <a:rPr lang="zh-CN" altLang="zh-CN" sz="2400" b="0" dirty="0">
                <a:solidFill>
                  <a:schemeClr val="hlink"/>
                </a:solidFill>
                <a:latin typeface="Times New Roman" panose="02020603050405020304" pitchFamily="18" charset="0"/>
                <a:ea typeface="楷体_GB2312" pitchFamily="1" charset="-122"/>
              </a:rPr>
              <a:t>SI/DI ＋8/16位位移量</a:t>
            </a:r>
            <a:endParaRPr lang="zh-CN" altLang="zh-CN" sz="2400" b="0" dirty="0">
              <a:solidFill>
                <a:schemeClr val="hlink"/>
              </a:solidFill>
              <a:latin typeface="Times New Roman" panose="02020603050405020304" pitchFamily="18" charset="0"/>
              <a:ea typeface="楷体_GB2312" pitchFamily="1" charset="-122"/>
            </a:endParaRPr>
          </a:p>
          <a:p>
            <a:pPr lvl="1"/>
            <a:r>
              <a:rPr lang="zh-CN" altLang="en-US" sz="2400" dirty="0"/>
              <a:t>如果寄存器为</a:t>
            </a:r>
            <a:r>
              <a:rPr lang="en-US" altLang="zh-CN" sz="2400" dirty="0"/>
              <a:t>BX</a:t>
            </a:r>
            <a:r>
              <a:rPr lang="zh-CN" altLang="en-US" sz="2400" dirty="0"/>
              <a:t>或</a:t>
            </a:r>
            <a:r>
              <a:rPr lang="en-US" altLang="zh-CN" sz="2400" dirty="0"/>
              <a:t>BP</a:t>
            </a:r>
            <a:r>
              <a:rPr lang="zh-CN" altLang="en-US" sz="2400" dirty="0"/>
              <a:t>，则为基址寻址</a:t>
            </a:r>
            <a:endParaRPr lang="zh-CN" altLang="en-US" sz="2400" dirty="0"/>
          </a:p>
          <a:p>
            <a:pPr lvl="1"/>
            <a:r>
              <a:rPr lang="zh-CN" altLang="en-US" sz="2400" dirty="0"/>
              <a:t>如果寄存器为</a:t>
            </a:r>
            <a:r>
              <a:rPr lang="en-US" altLang="zh-CN" sz="2400" dirty="0"/>
              <a:t>SI</a:t>
            </a:r>
            <a:r>
              <a:rPr lang="zh-CN" altLang="en-US" sz="2400" dirty="0"/>
              <a:t>或</a:t>
            </a:r>
            <a:r>
              <a:rPr lang="en-US" altLang="zh-CN" sz="2400" dirty="0"/>
              <a:t>DI</a:t>
            </a:r>
            <a:r>
              <a:rPr lang="zh-CN" altLang="en-US" sz="2400" dirty="0"/>
              <a:t>，则为变址寻址</a:t>
            </a:r>
            <a:endParaRPr lang="en-US" altLang="zh-CN" sz="2400" dirty="0"/>
          </a:p>
          <a:p>
            <a:pPr>
              <a:lnSpc>
                <a:spcPct val="100000"/>
              </a:lnSpc>
              <a:buFont typeface="Wingdings" panose="05000000000000000000" pitchFamily="2" charset="2"/>
              <a:buChar char="Ø"/>
            </a:pPr>
            <a:r>
              <a:rPr lang="zh-CN" altLang="en-US" sz="2400" b="0" dirty="0">
                <a:latin typeface="Times New Roman" panose="02020603050405020304" pitchFamily="18" charset="0"/>
                <a:ea typeface="楷体_GB2312" pitchFamily="1" charset="-122"/>
              </a:rPr>
              <a:t>段基址对应</a:t>
            </a:r>
            <a:r>
              <a:rPr lang="en-US" altLang="zh-CN" sz="2400" b="0" dirty="0">
                <a:latin typeface="Times New Roman" panose="02020603050405020304" pitchFamily="18" charset="0"/>
                <a:ea typeface="楷体_GB2312" pitchFamily="1" charset="-122"/>
              </a:rPr>
              <a:t>BX/SI/DI</a:t>
            </a:r>
            <a:r>
              <a:rPr lang="zh-CN" altLang="en-US" sz="2400" b="0" dirty="0">
                <a:latin typeface="Times New Roman" panose="02020603050405020304" pitchFamily="18" charset="0"/>
                <a:ea typeface="楷体_GB2312" pitchFamily="1" charset="-122"/>
              </a:rPr>
              <a:t>寄存器默认是</a:t>
            </a:r>
            <a:r>
              <a:rPr lang="en-US" altLang="zh-CN" sz="2400" b="0" dirty="0">
                <a:latin typeface="Times New Roman" panose="02020603050405020304" pitchFamily="18" charset="0"/>
                <a:ea typeface="楷体_GB2312" pitchFamily="1" charset="-122"/>
              </a:rPr>
              <a:t>DS</a:t>
            </a:r>
            <a:r>
              <a:rPr lang="zh-CN" altLang="en-US" sz="2400" b="0" dirty="0">
                <a:latin typeface="Times New Roman" panose="02020603050405020304" pitchFamily="18" charset="0"/>
                <a:ea typeface="楷体_GB2312" pitchFamily="1" charset="-122"/>
              </a:rPr>
              <a:t>，对应</a:t>
            </a:r>
            <a:r>
              <a:rPr lang="en-US" altLang="zh-CN" sz="2400" b="0" dirty="0">
                <a:latin typeface="Times New Roman" panose="02020603050405020304" pitchFamily="18" charset="0"/>
                <a:ea typeface="楷体_GB2312" pitchFamily="1" charset="-122"/>
              </a:rPr>
              <a:t>BP</a:t>
            </a:r>
            <a:r>
              <a:rPr lang="zh-CN" altLang="en-US" sz="2400" b="0" dirty="0">
                <a:latin typeface="Times New Roman" panose="02020603050405020304" pitchFamily="18" charset="0"/>
                <a:ea typeface="楷体_GB2312" pitchFamily="1" charset="-122"/>
              </a:rPr>
              <a:t>寄存器默认是</a:t>
            </a:r>
            <a:r>
              <a:rPr lang="en-US" altLang="zh-CN" sz="2400" b="0" dirty="0">
                <a:latin typeface="Times New Roman" panose="02020603050405020304" pitchFamily="18" charset="0"/>
                <a:ea typeface="楷体_GB2312" pitchFamily="1" charset="-122"/>
              </a:rPr>
              <a:t>SS</a:t>
            </a:r>
            <a:r>
              <a:rPr lang="zh-CN" altLang="en-US" sz="2400" b="0" dirty="0">
                <a:latin typeface="Times New Roman" panose="02020603050405020304" pitchFamily="18" charset="0"/>
                <a:ea typeface="楷体_GB2312" pitchFamily="1" charset="-122"/>
              </a:rPr>
              <a:t>；可用段前缀改变。</a:t>
            </a:r>
            <a:endParaRPr lang="en-US" altLang="zh-CN" sz="2400" b="0" dirty="0">
              <a:latin typeface="Times New Roman" panose="02020603050405020304" pitchFamily="18" charset="0"/>
              <a:ea typeface="楷体_GB2312" pitchFamily="1" charset="-122"/>
            </a:endParaRPr>
          </a:p>
          <a:p>
            <a:pPr>
              <a:lnSpc>
                <a:spcPct val="100000"/>
              </a:lnSpc>
              <a:buFont typeface="Wingdings" panose="05000000000000000000" pitchFamily="2" charset="2"/>
              <a:buChar char="Ø"/>
            </a:pPr>
            <a:r>
              <a:rPr lang="pt-BR" altLang="zh-CN" sz="2400" b="0" dirty="0">
                <a:latin typeface="Times New Roman" panose="02020603050405020304" pitchFamily="18" charset="0"/>
                <a:ea typeface="楷体_GB2312" pitchFamily="1" charset="-122"/>
              </a:rPr>
              <a:t>MOV AX</a:t>
            </a:r>
            <a:r>
              <a:rPr lang="zh-CN" altLang="pt-BR" sz="2400" b="0" dirty="0">
                <a:latin typeface="Times New Roman" panose="02020603050405020304" pitchFamily="18" charset="0"/>
                <a:ea typeface="楷体_GB2312" pitchFamily="1" charset="-122"/>
              </a:rPr>
              <a:t>，</a:t>
            </a:r>
            <a:r>
              <a:rPr lang="pt-BR" altLang="zh-CN" sz="2400" b="0" dirty="0">
                <a:latin typeface="Times New Roman" panose="02020603050405020304" pitchFamily="18" charset="0"/>
                <a:ea typeface="楷体_GB2312" pitchFamily="1" charset="-122"/>
              </a:rPr>
              <a:t>[BP+3000H] </a:t>
            </a:r>
            <a:endParaRPr lang="pt-BR" altLang="zh-CN" sz="2400" b="0" dirty="0">
              <a:latin typeface="Times New Roman" panose="02020603050405020304" pitchFamily="18" charset="0"/>
              <a:ea typeface="楷体_GB2312" pitchFamily="1" charset="-122"/>
            </a:endParaRPr>
          </a:p>
          <a:p>
            <a:pPr>
              <a:lnSpc>
                <a:spcPct val="100000"/>
              </a:lnSpc>
              <a:buFont typeface="Wingdings" panose="05000000000000000000" pitchFamily="2" charset="2"/>
              <a:buChar char="Ø"/>
            </a:pPr>
            <a:r>
              <a:rPr lang="pt-BR" altLang="zh-CN" sz="2400" b="0" dirty="0">
                <a:latin typeface="Times New Roman" panose="02020603050405020304" pitchFamily="18" charset="0"/>
                <a:ea typeface="楷体_GB2312" pitchFamily="1" charset="-122"/>
              </a:rPr>
              <a:t>MOV AX</a:t>
            </a:r>
            <a:r>
              <a:rPr lang="zh-CN" altLang="pt-BR" sz="2400" b="0" dirty="0">
                <a:latin typeface="Times New Roman" panose="02020603050405020304" pitchFamily="18" charset="0"/>
                <a:ea typeface="楷体_GB2312" pitchFamily="1" charset="-122"/>
              </a:rPr>
              <a:t>，</a:t>
            </a:r>
            <a:r>
              <a:rPr lang="pt-BR" altLang="zh-CN" sz="2400" b="0" dirty="0">
                <a:latin typeface="Times New Roman" panose="02020603050405020304" pitchFamily="18" charset="0"/>
                <a:ea typeface="楷体_GB2312" pitchFamily="1" charset="-122"/>
              </a:rPr>
              <a:t>[SI+3000H]</a:t>
            </a:r>
            <a:endParaRPr lang="zh-CN" altLang="zh-CN" sz="2400" b="0" dirty="0">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endParaRPr lang="zh-CN" altLang="en-US" dirty="0"/>
          </a:p>
        </p:txBody>
      </p:sp>
      <p:sp>
        <p:nvSpPr>
          <p:cNvPr id="4" name="Text Box 11"/>
          <p:cNvSpPr txBox="1">
            <a:spLocks noGrp="1" noChangeArrowheads="1"/>
          </p:cNvSpPr>
          <p:nvPr>
            <p:ph idx="1"/>
          </p:nvPr>
        </p:nvSpPr>
        <p:spPr bwMode="auto">
          <a:xfrm>
            <a:off x="920750" y="1331203"/>
            <a:ext cx="10515600" cy="1328569"/>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zh-CN" sz="2400" dirty="0">
                <a:latin typeface="Times New Roman" panose="02020603050405020304" pitchFamily="18" charset="0"/>
              </a:rPr>
              <a:t>已知： (DS)=4000H ， (SI)=2000H， 内存单元(45000H)=34H， (45001H)=12H。</a:t>
            </a:r>
            <a:endParaRPr lang="zh-CN" altLang="zh-CN" sz="2400" dirty="0">
              <a:latin typeface="Times New Roman" panose="02020603050405020304" pitchFamily="18" charset="0"/>
            </a:endParaRPr>
          </a:p>
          <a:p>
            <a:pPr>
              <a:lnSpc>
                <a:spcPct val="100000"/>
              </a:lnSpc>
            </a:pPr>
            <a:r>
              <a:rPr lang="zh-CN" altLang="zh-CN" sz="2400" dirty="0">
                <a:latin typeface="Times New Roman" panose="02020603050405020304" pitchFamily="18" charset="0"/>
              </a:rPr>
              <a:t>试给出指令 MOV AX，[SI+3000H]执行后AX的内容。</a:t>
            </a:r>
            <a:endParaRPr lang="zh-CN" altLang="zh-CN" sz="2400" dirty="0">
              <a:latin typeface="Times New Roman" panose="02020603050405020304" pitchFamily="18" charset="0"/>
            </a:endParaRPr>
          </a:p>
        </p:txBody>
      </p:sp>
      <p:grpSp>
        <p:nvGrpSpPr>
          <p:cNvPr id="3" name="Group 3"/>
          <p:cNvGrpSpPr/>
          <p:nvPr/>
        </p:nvGrpSpPr>
        <p:grpSpPr bwMode="auto">
          <a:xfrm>
            <a:off x="1725613" y="3044825"/>
            <a:ext cx="4948237" cy="471488"/>
            <a:chOff x="0" y="0"/>
            <a:chExt cx="3117" cy="297"/>
          </a:xfrm>
        </p:grpSpPr>
        <p:sp>
          <p:nvSpPr>
            <p:cNvPr id="6" name="Text Box 4"/>
            <p:cNvSpPr txBox="1">
              <a:spLocks noChangeArrowheads="1"/>
            </p:cNvSpPr>
            <p:nvPr/>
          </p:nvSpPr>
          <p:spPr bwMode="auto">
            <a:xfrm>
              <a:off x="0" y="0"/>
              <a:ext cx="1420"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段基址：4000H</a:t>
              </a:r>
              <a:endParaRPr lang="zh-CN" altLang="zh-CN">
                <a:latin typeface="Times New Roman" panose="02020603050405020304" pitchFamily="18" charset="0"/>
              </a:endParaRPr>
            </a:p>
          </p:txBody>
        </p:sp>
        <p:sp>
          <p:nvSpPr>
            <p:cNvPr id="7" name="Text Box 5"/>
            <p:cNvSpPr txBox="1">
              <a:spLocks noChangeArrowheads="1"/>
            </p:cNvSpPr>
            <p:nvPr/>
          </p:nvSpPr>
          <p:spPr bwMode="auto">
            <a:xfrm>
              <a:off x="1471" y="7"/>
              <a:ext cx="1646"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有效地址：5000H</a:t>
              </a:r>
              <a:endParaRPr lang="zh-CN" altLang="zh-CN">
                <a:latin typeface="Times New Roman" panose="02020603050405020304" pitchFamily="18" charset="0"/>
              </a:endParaRPr>
            </a:p>
          </p:txBody>
        </p:sp>
      </p:grpSp>
      <p:sp>
        <p:nvSpPr>
          <p:cNvPr id="8" name="Text Box 6"/>
          <p:cNvSpPr txBox="1">
            <a:spLocks noChangeArrowheads="1"/>
          </p:cNvSpPr>
          <p:nvPr/>
        </p:nvSpPr>
        <p:spPr bwMode="auto">
          <a:xfrm>
            <a:off x="2686050" y="4405313"/>
            <a:ext cx="2711450" cy="458787"/>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物理地址：45000H</a:t>
            </a:r>
            <a:endParaRPr lang="zh-CN" altLang="zh-CN">
              <a:latin typeface="Times New Roman" panose="02020603050405020304" pitchFamily="18" charset="0"/>
            </a:endParaRPr>
          </a:p>
        </p:txBody>
      </p:sp>
      <p:sp>
        <p:nvSpPr>
          <p:cNvPr id="9" name="AutoShape 7"/>
          <p:cNvSpPr/>
          <p:nvPr/>
        </p:nvSpPr>
        <p:spPr bwMode="auto">
          <a:xfrm>
            <a:off x="9191625" y="4514850"/>
            <a:ext cx="152400" cy="609600"/>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 name="AutoShape 8"/>
          <p:cNvSpPr>
            <a:spLocks noChangeArrowheads="1"/>
          </p:cNvSpPr>
          <p:nvPr/>
        </p:nvSpPr>
        <p:spPr bwMode="auto">
          <a:xfrm>
            <a:off x="5554663" y="4613275"/>
            <a:ext cx="1384300" cy="131763"/>
          </a:xfrm>
          <a:prstGeom prst="rightArrow">
            <a:avLst>
              <a:gd name="adj1" fmla="val 50000"/>
              <a:gd name="adj2" fmla="val 262650"/>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1" name="AutoShape 9"/>
          <p:cNvSpPr>
            <a:spLocks noChangeArrowheads="1"/>
          </p:cNvSpPr>
          <p:nvPr/>
        </p:nvSpPr>
        <p:spPr bwMode="auto">
          <a:xfrm>
            <a:off x="9429750" y="4773613"/>
            <a:ext cx="566738" cy="77787"/>
          </a:xfrm>
          <a:prstGeom prst="rightArrow">
            <a:avLst>
              <a:gd name="adj1" fmla="val 50000"/>
              <a:gd name="adj2" fmla="val 182144"/>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2" name="Text Box 10"/>
          <p:cNvSpPr txBox="1">
            <a:spLocks noChangeArrowheads="1"/>
          </p:cNvSpPr>
          <p:nvPr/>
        </p:nvSpPr>
        <p:spPr bwMode="auto">
          <a:xfrm>
            <a:off x="9975850" y="4586288"/>
            <a:ext cx="64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AX</a:t>
            </a:r>
            <a:endParaRPr lang="zh-CN" altLang="zh-CN">
              <a:latin typeface="Times New Roman" panose="02020603050405020304" pitchFamily="18" charset="0"/>
            </a:endParaRPr>
          </a:p>
        </p:txBody>
      </p:sp>
      <p:sp>
        <p:nvSpPr>
          <p:cNvPr id="13" name="Rectangle 12"/>
          <p:cNvSpPr>
            <a:spLocks noChangeArrowheads="1"/>
          </p:cNvSpPr>
          <p:nvPr/>
        </p:nvSpPr>
        <p:spPr bwMode="auto">
          <a:xfrm>
            <a:off x="8027988" y="3144838"/>
            <a:ext cx="1055687" cy="3038475"/>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4" name="Line 13"/>
          <p:cNvSpPr>
            <a:spLocks noChangeShapeType="1"/>
          </p:cNvSpPr>
          <p:nvPr/>
        </p:nvSpPr>
        <p:spPr bwMode="auto">
          <a:xfrm>
            <a:off x="8026400" y="3482975"/>
            <a:ext cx="1046163"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p:cNvSpPr>
            <a:spLocks noChangeShapeType="1"/>
          </p:cNvSpPr>
          <p:nvPr/>
        </p:nvSpPr>
        <p:spPr bwMode="auto">
          <a:xfrm>
            <a:off x="8031163" y="382111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5"/>
          <p:cNvSpPr>
            <a:spLocks noChangeShapeType="1"/>
          </p:cNvSpPr>
          <p:nvPr/>
        </p:nvSpPr>
        <p:spPr bwMode="auto">
          <a:xfrm>
            <a:off x="8031163" y="448786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6"/>
          <p:cNvSpPr>
            <a:spLocks noChangeShapeType="1"/>
          </p:cNvSpPr>
          <p:nvPr/>
        </p:nvSpPr>
        <p:spPr bwMode="auto">
          <a:xfrm>
            <a:off x="8031163" y="582136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a:off x="8031163" y="5254625"/>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8031163" y="4876800"/>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Text Box 19"/>
          <p:cNvSpPr txBox="1">
            <a:spLocks noChangeArrowheads="1"/>
          </p:cNvSpPr>
          <p:nvPr/>
        </p:nvSpPr>
        <p:spPr bwMode="auto">
          <a:xfrm>
            <a:off x="6875463" y="30988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40000H</a:t>
            </a:r>
            <a:endParaRPr lang="zh-CN" altLang="zh-CN">
              <a:latin typeface="Times New Roman" panose="02020603050405020304" pitchFamily="18" charset="0"/>
            </a:endParaRPr>
          </a:p>
        </p:txBody>
      </p:sp>
      <p:sp>
        <p:nvSpPr>
          <p:cNvPr id="21" name="Text Box 20"/>
          <p:cNvSpPr txBox="1">
            <a:spLocks noChangeArrowheads="1"/>
          </p:cNvSpPr>
          <p:nvPr/>
        </p:nvSpPr>
        <p:spPr bwMode="auto">
          <a:xfrm>
            <a:off x="7961313" y="2700338"/>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数据段</a:t>
            </a:r>
            <a:endParaRPr lang="zh-CN" altLang="zh-CN">
              <a:solidFill>
                <a:srgbClr val="FF0066"/>
              </a:solidFill>
              <a:latin typeface="Times New Roman" panose="02020603050405020304" pitchFamily="18" charset="0"/>
            </a:endParaRPr>
          </a:p>
        </p:txBody>
      </p:sp>
      <p:sp>
        <p:nvSpPr>
          <p:cNvPr id="22" name="Text Box 21"/>
          <p:cNvSpPr txBox="1">
            <a:spLocks noChangeArrowheads="1"/>
          </p:cNvSpPr>
          <p:nvPr/>
        </p:nvSpPr>
        <p:spPr bwMode="auto">
          <a:xfrm>
            <a:off x="6797675" y="5753100"/>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4FFFFH</a:t>
            </a:r>
            <a:endParaRPr lang="zh-CN" altLang="zh-CN">
              <a:latin typeface="Times New Roman" panose="02020603050405020304" pitchFamily="18" charset="0"/>
            </a:endParaRPr>
          </a:p>
        </p:txBody>
      </p:sp>
      <p:sp>
        <p:nvSpPr>
          <p:cNvPr id="23" name="Line 22"/>
          <p:cNvSpPr>
            <a:spLocks noChangeShapeType="1"/>
          </p:cNvSpPr>
          <p:nvPr/>
        </p:nvSpPr>
        <p:spPr bwMode="auto">
          <a:xfrm>
            <a:off x="8572500" y="3929063"/>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3"/>
          <p:cNvSpPr>
            <a:spLocks noChangeShapeType="1"/>
          </p:cNvSpPr>
          <p:nvPr/>
        </p:nvSpPr>
        <p:spPr bwMode="auto">
          <a:xfrm>
            <a:off x="8582025" y="5310188"/>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Text Box 24"/>
          <p:cNvSpPr txBox="1">
            <a:spLocks noChangeArrowheads="1"/>
          </p:cNvSpPr>
          <p:nvPr/>
        </p:nvSpPr>
        <p:spPr bwMode="auto">
          <a:xfrm>
            <a:off x="6884988" y="44577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45000H</a:t>
            </a:r>
            <a:endParaRPr lang="zh-CN" altLang="zh-CN">
              <a:latin typeface="Times New Roman" panose="02020603050405020304" pitchFamily="18" charset="0"/>
            </a:endParaRPr>
          </a:p>
        </p:txBody>
      </p:sp>
      <p:sp>
        <p:nvSpPr>
          <p:cNvPr id="26" name="Text Box 25"/>
          <p:cNvSpPr txBox="1">
            <a:spLocks noChangeArrowheads="1"/>
          </p:cNvSpPr>
          <p:nvPr/>
        </p:nvSpPr>
        <p:spPr bwMode="auto">
          <a:xfrm>
            <a:off x="6873875" y="485775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45001H</a:t>
            </a:r>
            <a:endParaRPr lang="zh-CN" altLang="zh-CN">
              <a:latin typeface="Times New Roman" panose="02020603050405020304" pitchFamily="18" charset="0"/>
            </a:endParaRPr>
          </a:p>
        </p:txBody>
      </p:sp>
      <p:sp>
        <p:nvSpPr>
          <p:cNvPr id="27" name="Text Box 26"/>
          <p:cNvSpPr txBox="1">
            <a:spLocks noChangeArrowheads="1"/>
          </p:cNvSpPr>
          <p:nvPr/>
        </p:nvSpPr>
        <p:spPr bwMode="auto">
          <a:xfrm>
            <a:off x="8169275" y="4471988"/>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28" name="Text Box 27"/>
          <p:cNvSpPr txBox="1">
            <a:spLocks noChangeArrowheads="1"/>
          </p:cNvSpPr>
          <p:nvPr/>
        </p:nvSpPr>
        <p:spPr bwMode="auto">
          <a:xfrm>
            <a:off x="8188325" y="4840288"/>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29" name="Text Box 28"/>
          <p:cNvSpPr txBox="1">
            <a:spLocks noChangeArrowheads="1"/>
          </p:cNvSpPr>
          <p:nvPr/>
        </p:nvSpPr>
        <p:spPr bwMode="auto">
          <a:xfrm>
            <a:off x="7999413" y="6238875"/>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grpSp>
        <p:nvGrpSpPr>
          <p:cNvPr id="5" name="Group 29"/>
          <p:cNvGrpSpPr/>
          <p:nvPr/>
        </p:nvGrpSpPr>
        <p:grpSpPr bwMode="auto">
          <a:xfrm>
            <a:off x="3052763" y="3621088"/>
            <a:ext cx="2112962" cy="781050"/>
            <a:chOff x="0" y="0"/>
            <a:chExt cx="1331" cy="492"/>
          </a:xfrm>
        </p:grpSpPr>
        <p:sp>
          <p:nvSpPr>
            <p:cNvPr id="31" name="Line 30"/>
            <p:cNvSpPr>
              <a:spLocks noChangeShapeType="1"/>
            </p:cNvSpPr>
            <p:nvPr/>
          </p:nvSpPr>
          <p:spPr bwMode="auto">
            <a:xfrm>
              <a:off x="0" y="0"/>
              <a:ext cx="0" cy="192"/>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31"/>
            <p:cNvSpPr>
              <a:spLocks noChangeShapeType="1"/>
            </p:cNvSpPr>
            <p:nvPr/>
          </p:nvSpPr>
          <p:spPr bwMode="auto">
            <a:xfrm>
              <a:off x="1" y="192"/>
              <a:ext cx="1330" cy="0"/>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32"/>
            <p:cNvSpPr>
              <a:spLocks noChangeShapeType="1"/>
            </p:cNvSpPr>
            <p:nvPr/>
          </p:nvSpPr>
          <p:spPr bwMode="auto">
            <a:xfrm flipV="1">
              <a:off x="1331" y="14"/>
              <a:ext cx="0" cy="178"/>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33"/>
            <p:cNvSpPr>
              <a:spLocks noChangeShapeType="1"/>
            </p:cNvSpPr>
            <p:nvPr/>
          </p:nvSpPr>
          <p:spPr bwMode="auto">
            <a:xfrm>
              <a:off x="597" y="190"/>
              <a:ext cx="0" cy="302"/>
            </a:xfrm>
            <a:prstGeom prst="line">
              <a:avLst/>
            </a:prstGeom>
            <a:noFill/>
            <a:ln w="38100" cmpd="sng">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5" name="Text Box 34"/>
          <p:cNvSpPr txBox="1">
            <a:spLocks noChangeArrowheads="1"/>
          </p:cNvSpPr>
          <p:nvPr/>
        </p:nvSpPr>
        <p:spPr bwMode="auto">
          <a:xfrm>
            <a:off x="1985963" y="5551488"/>
            <a:ext cx="3852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latin typeface="Times New Roman" panose="02020603050405020304" pitchFamily="18" charset="0"/>
              </a:rPr>
              <a:t>指令执行后，(AX)=1234H。</a:t>
            </a:r>
            <a:endParaRPr lang="zh-CN" altLang="zh-CN" b="1">
              <a:solidFill>
                <a:schemeClr val="hlink"/>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ppt_h/2"/>
                                          </p:val>
                                        </p:tav>
                                        <p:tav tm="100000">
                                          <p:val>
                                            <p:strVal val="#ppt_y"/>
                                          </p:val>
                                        </p:tav>
                                      </p:tavLst>
                                    </p:anim>
                                    <p:anim calcmode="lin" valueType="num">
                                      <p:cBhvr>
                                        <p:cTn id="15" dur="500" fill="hold"/>
                                        <p:tgtEl>
                                          <p:spTgt spid="5"/>
                                        </p:tgtEl>
                                        <p:attrNameLst>
                                          <p:attrName>ppt_w</p:attrName>
                                        </p:attrNameLst>
                                      </p:cBhvr>
                                      <p:tavLst>
                                        <p:tav tm="0">
                                          <p:val>
                                            <p:strVal val="#ppt_w"/>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ppt_x</p:attrName>
                                        </p:attrNameLst>
                                      </p:cBhvr>
                                      <p:tavLst>
                                        <p:tav tm="0">
                                          <p:val>
                                            <p:strVal val="#ppt_x-#ppt_w/2"/>
                                          </p:val>
                                        </p:tav>
                                        <p:tav tm="100000">
                                          <p:val>
                                            <p:strVal val="#ppt_x"/>
                                          </p:val>
                                        </p:tav>
                                      </p:tavLst>
                                    </p:anim>
                                    <p:anim calcmode="lin" valueType="num">
                                      <p:cBhvr>
                                        <p:cTn id="28" dur="500" fill="hold"/>
                                        <p:tgtEl>
                                          <p:spTgt spid="10"/>
                                        </p:tgtEl>
                                        <p:attrNameLst>
                                          <p:attrName>ppt_y</p:attrName>
                                        </p:attrNameLst>
                                      </p:cBhvr>
                                      <p:tavLst>
                                        <p:tav tm="0">
                                          <p:val>
                                            <p:strVal val="#ppt_y"/>
                                          </p:val>
                                        </p:tav>
                                        <p:tav tm="100000">
                                          <p:val>
                                            <p:strVal val="#ppt_y"/>
                                          </p:val>
                                        </p:tav>
                                      </p:tavLst>
                                    </p:anim>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ppt_x</p:attrName>
                                        </p:attrNameLst>
                                      </p:cBhvr>
                                      <p:tavLst>
                                        <p:tav tm="0">
                                          <p:val>
                                            <p:strVal val="#ppt_x-#ppt_w/2"/>
                                          </p:val>
                                        </p:tav>
                                        <p:tav tm="100000">
                                          <p:val>
                                            <p:strVal val="#ppt_x"/>
                                          </p:val>
                                        </p:tav>
                                      </p:tavLst>
                                    </p:anim>
                                    <p:anim calcmode="lin" valueType="num">
                                      <p:cBhvr>
                                        <p:cTn id="36" dur="500" fill="hold"/>
                                        <p:tgtEl>
                                          <p:spTgt spid="9"/>
                                        </p:tgtEl>
                                        <p:attrNameLst>
                                          <p:attrName>ppt_y</p:attrName>
                                        </p:attrNameLst>
                                      </p:cBhvr>
                                      <p:tavLst>
                                        <p:tav tm="0">
                                          <p:val>
                                            <p:strVal val="#ppt_y"/>
                                          </p:val>
                                        </p:tav>
                                        <p:tav tm="100000">
                                          <p:val>
                                            <p:strVal val="#ppt_y"/>
                                          </p:val>
                                        </p:tav>
                                      </p:tavLst>
                                    </p:anim>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strVal val="#ppt_h"/>
                                          </p:val>
                                        </p:tav>
                                        <p:tav tm="100000">
                                          <p:val>
                                            <p:strVal val="#ppt_h"/>
                                          </p:val>
                                        </p:tav>
                                      </p:tavLst>
                                    </p:anim>
                                  </p:childTnLst>
                                </p:cTn>
                              </p:par>
                            </p:childTnLst>
                          </p:cTn>
                        </p:par>
                        <p:par>
                          <p:cTn id="39" fill="hold">
                            <p:stCondLst>
                              <p:cond delay="500"/>
                            </p:stCondLst>
                            <p:childTnLst>
                              <p:par>
                                <p:cTn id="40" presetID="17"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ppt_x</p:attrName>
                                        </p:attrNameLst>
                                      </p:cBhvr>
                                      <p:tavLst>
                                        <p:tav tm="0">
                                          <p:val>
                                            <p:strVal val="#ppt_x-#ppt_w/2"/>
                                          </p:val>
                                        </p:tav>
                                        <p:tav tm="100000">
                                          <p:val>
                                            <p:strVal val="#ppt_x"/>
                                          </p:val>
                                        </p:tav>
                                      </p:tavLst>
                                    </p:anim>
                                    <p:anim calcmode="lin" valueType="num">
                                      <p:cBhvr>
                                        <p:cTn id="43" dur="500" fill="hold"/>
                                        <p:tgtEl>
                                          <p:spTgt spid="11"/>
                                        </p:tgtEl>
                                        <p:attrNameLst>
                                          <p:attrName>ppt_y</p:attrName>
                                        </p:attrNameLst>
                                      </p:cBhvr>
                                      <p:tavLst>
                                        <p:tav tm="0">
                                          <p:val>
                                            <p:strVal val="#ppt_y"/>
                                          </p:val>
                                        </p:tav>
                                        <p:tav tm="100000">
                                          <p:val>
                                            <p:strVal val="#ppt_y"/>
                                          </p:val>
                                        </p:tav>
                                      </p:tavLst>
                                    </p:anim>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strVal val="#ppt_h"/>
                                          </p:val>
                                        </p:tav>
                                        <p:tav tm="100000">
                                          <p:val>
                                            <p:strVal val="#ppt_h"/>
                                          </p:val>
                                        </p:tav>
                                      </p:tavLst>
                                    </p:anim>
                                  </p:childTnLst>
                                </p:cTn>
                              </p:par>
                            </p:childTnLst>
                          </p:cTn>
                        </p:par>
                        <p:par>
                          <p:cTn id="46" fill="hold">
                            <p:stCondLst>
                              <p:cond delay="1000"/>
                            </p:stCondLst>
                            <p:childTnLst>
                              <p:par>
                                <p:cTn id="47" presetID="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slide(fromBottom)">
                                      <p:cBhvr>
                                        <p:cTn id="5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autoUpdateAnimBg="0"/>
      <p:bldP spid="10" grpId="0" animBg="1" autoUpdateAnimBg="0"/>
      <p:bldP spid="11" grpId="0" animBg="1" autoUpdateAnimBg="0"/>
      <p:bldP spid="12" grpId="0" autoUpdateAnimBg="0"/>
      <p:bldP spid="3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基址变址寻址</a:t>
            </a:r>
            <a:endParaRPr lang="zh-CN" altLang="en-US" dirty="0"/>
          </a:p>
        </p:txBody>
      </p:sp>
      <p:sp>
        <p:nvSpPr>
          <p:cNvPr id="3" name="内容占位符 2"/>
          <p:cNvSpPr>
            <a:spLocks noGrp="1"/>
          </p:cNvSpPr>
          <p:nvPr>
            <p:ph idx="1"/>
          </p:nvPr>
        </p:nvSpPr>
        <p:spPr/>
        <p:txBody>
          <a:bodyPr/>
          <a:lstStyle/>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有效地址由基址寄存器（BX或BP）的内容加上变址寄存器（SI或DI）的内容构成：</a:t>
            </a:r>
            <a:endParaRPr lang="zh-CN" altLang="zh-CN" sz="2800" b="0" dirty="0">
              <a:latin typeface="Times New Roman" panose="02020603050405020304" pitchFamily="18" charset="0"/>
              <a:ea typeface="楷体_GB2312" pitchFamily="1" charset="-122"/>
            </a:endParaRPr>
          </a:p>
          <a:p>
            <a:pPr lvl="1">
              <a:lnSpc>
                <a:spcPct val="90000"/>
              </a:lnSpc>
              <a:buFont typeface="Wingdings" panose="05000000000000000000" pitchFamily="2" charset="2"/>
              <a:buNone/>
            </a:pPr>
            <a:r>
              <a:rPr lang="zh-CN" altLang="zh-CN" b="0" dirty="0">
                <a:solidFill>
                  <a:schemeClr val="hlink"/>
                </a:solidFill>
                <a:latin typeface="Times New Roman" panose="02020603050405020304" pitchFamily="18" charset="0"/>
                <a:ea typeface="楷体_GB2312" pitchFamily="1" charset="-122"/>
              </a:rPr>
              <a:t>有效地址＝BX/BP＋SI/DI ＋8/16位位移量</a:t>
            </a:r>
            <a:endParaRPr lang="zh-CN" altLang="zh-CN" b="0" dirty="0">
              <a:solidFill>
                <a:schemeClr val="hlink"/>
              </a:solidFill>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段基址对应BX寄存器</a:t>
            </a:r>
            <a:r>
              <a:rPr lang="zh-CN" altLang="zh-CN" sz="2800" b="0" dirty="0">
                <a:solidFill>
                  <a:schemeClr val="hlink"/>
                </a:solidFill>
                <a:latin typeface="Times New Roman" panose="02020603050405020304" pitchFamily="18" charset="0"/>
                <a:ea typeface="楷体_GB2312" pitchFamily="1" charset="-122"/>
              </a:rPr>
              <a:t>默认是</a:t>
            </a:r>
            <a:r>
              <a:rPr lang="zh-CN" altLang="zh-CN" sz="2800" b="0" dirty="0">
                <a:latin typeface="Times New Roman" panose="02020603050405020304" pitchFamily="18" charset="0"/>
                <a:ea typeface="楷体_GB2312" pitchFamily="1" charset="-122"/>
              </a:rPr>
              <a:t>DS，对应BP寄存器</a:t>
            </a:r>
            <a:r>
              <a:rPr lang="zh-CN" altLang="zh-CN" sz="2800" b="0" dirty="0">
                <a:solidFill>
                  <a:schemeClr val="hlink"/>
                </a:solidFill>
                <a:latin typeface="Times New Roman" panose="02020603050405020304" pitchFamily="18" charset="0"/>
                <a:ea typeface="楷体_GB2312" pitchFamily="1" charset="-122"/>
              </a:rPr>
              <a:t>默认是</a:t>
            </a:r>
            <a:r>
              <a:rPr lang="zh-CN" altLang="zh-CN" sz="2800" b="0" dirty="0">
                <a:latin typeface="Times New Roman" panose="02020603050405020304" pitchFamily="18" charset="0"/>
                <a:ea typeface="楷体_GB2312" pitchFamily="1" charset="-122"/>
              </a:rPr>
              <a:t>SS；可用段前缀改变。</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该寻址方式适用于数组或表格存取。</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MOV   AX，8[BX+SI] ；默认操作数在数据段中</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BX，-6[BP+DI]；默认操作数在堆栈段中</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BX，ES:[BP+DI] ；操作数在附加段中</a:t>
            </a:r>
            <a:r>
              <a:rPr lang="zh-CN" altLang="zh-CN" sz="2800" dirty="0">
                <a:latin typeface="Times New Roman" panose="02020603050405020304" pitchFamily="18" charset="0"/>
                <a:ea typeface="楷体_GB2312" pitchFamily="1" charset="-122"/>
              </a:rPr>
              <a:t> </a:t>
            </a:r>
            <a:endParaRPr lang="zh-CN" altLang="zh-CN" sz="280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固定寻址</a:t>
            </a:r>
            <a:endParaRPr lang="zh-CN" altLang="en-US" dirty="0"/>
          </a:p>
        </p:txBody>
      </p:sp>
      <p:sp>
        <p:nvSpPr>
          <p:cNvPr id="3" name="内容占位符 2"/>
          <p:cNvSpPr>
            <a:spLocks noGrp="1"/>
          </p:cNvSpPr>
          <p:nvPr>
            <p:ph idx="1"/>
          </p:nvPr>
        </p:nvSpPr>
        <p:spPr/>
        <p:txBody>
          <a:bodyPr>
            <a:normAutofit/>
          </a:bodyPr>
          <a:lstStyle/>
          <a:p>
            <a:r>
              <a:rPr lang="zh-CN" altLang="en-US" dirty="0"/>
              <a:t>固定寻址又叫隐含寻址。</a:t>
            </a:r>
            <a:endParaRPr lang="zh-CN" altLang="en-US" dirty="0"/>
          </a:p>
          <a:p>
            <a:r>
              <a:rPr lang="zh-CN" altLang="en-US" dirty="0"/>
              <a:t>指令码中不包含指明操作数地址的部分，而其操</a:t>
            </a:r>
            <a:r>
              <a:rPr lang="zh-CN" altLang="en-US" dirty="0"/>
              <a:t>作码本身隐含地指明了操作数地址。</a:t>
            </a:r>
            <a:endParaRPr lang="zh-CN" altLang="en-US" dirty="0"/>
          </a:p>
          <a:p>
            <a:r>
              <a:rPr lang="zh-CN" altLang="en-US" dirty="0"/>
              <a:t>如：十进制调整指令</a:t>
            </a:r>
            <a:r>
              <a:rPr lang="en-US" altLang="zh-CN" dirty="0"/>
              <a:t>DAA</a:t>
            </a:r>
            <a:r>
              <a:rPr lang="zh-CN" altLang="en-US" dirty="0"/>
              <a:t>，该指令的功能是对</a:t>
            </a:r>
            <a:r>
              <a:rPr lang="en-US" altLang="zh-CN" dirty="0"/>
              <a:t>AL</a:t>
            </a:r>
            <a:r>
              <a:rPr lang="zh-CN" altLang="en-US" dirty="0"/>
              <a:t>寄存器中的内容进行十进制调整，调整后的内容仍存放到</a:t>
            </a:r>
            <a:r>
              <a:rPr lang="en-US" altLang="zh-CN" dirty="0"/>
              <a:t>AL</a:t>
            </a:r>
            <a:r>
              <a:rPr lang="zh-CN" altLang="en-US" dirty="0"/>
              <a:t>中。</a:t>
            </a:r>
            <a:endParaRPr lang="zh-CN" altLang="en-US" dirty="0"/>
          </a:p>
          <a:p>
            <a:r>
              <a:rPr lang="zh-CN" altLang="en-US" dirty="0"/>
              <a:t>隐含寻址的指令，不需要计算</a:t>
            </a:r>
            <a:r>
              <a:rPr lang="en-US" altLang="zh-CN" dirty="0"/>
              <a:t>EA</a:t>
            </a:r>
            <a:r>
              <a:rPr lang="zh-CN" altLang="en-US" dirty="0"/>
              <a:t>，执行速度快，而且大多为单字节指令。</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472566"/>
          </a:xfrm>
        </p:spPr>
        <p:txBody>
          <a:bodyPr/>
          <a:lstStyle/>
          <a:p>
            <a:pPr algn="l"/>
            <a:r>
              <a:rPr lang="zh-CN" altLang="en-US" dirty="0" smtClean="0"/>
              <a:t>例题</a:t>
            </a:r>
            <a:endParaRPr lang="zh-CN" altLang="en-US" dirty="0"/>
          </a:p>
        </p:txBody>
      </p:sp>
      <p:sp>
        <p:nvSpPr>
          <p:cNvPr id="3" name="内容占位符 2"/>
          <p:cNvSpPr>
            <a:spLocks noGrp="1"/>
          </p:cNvSpPr>
          <p:nvPr>
            <p:ph idx="1"/>
          </p:nvPr>
        </p:nvSpPr>
        <p:spPr>
          <a:xfrm>
            <a:off x="441789" y="568170"/>
            <a:ext cx="10109771" cy="2092837"/>
          </a:xfrm>
        </p:spPr>
        <p:txBody>
          <a:bodyPr/>
          <a:lstStyle/>
          <a:p>
            <a:r>
              <a:rPr lang="zh-CN" altLang="zh-CN" sz="2000" dirty="0" smtClean="0"/>
              <a:t>有关寄存器和内存单元的内容如下：</a:t>
            </a:r>
            <a:endParaRPr lang="zh-CN" altLang="zh-CN" sz="2000" dirty="0" smtClean="0"/>
          </a:p>
          <a:p>
            <a:pPr>
              <a:buNone/>
            </a:pPr>
            <a:r>
              <a:rPr lang="zh-CN" altLang="en-US" sz="2000" dirty="0" smtClean="0"/>
              <a:t>   </a:t>
            </a:r>
            <a:r>
              <a:rPr lang="en-US" altLang="zh-CN" sz="2000" dirty="0" smtClean="0"/>
              <a:t>DS=2000H</a:t>
            </a:r>
            <a:r>
              <a:rPr lang="zh-CN" altLang="zh-CN" sz="2000" dirty="0" smtClean="0"/>
              <a:t>，</a:t>
            </a:r>
            <a:r>
              <a:rPr lang="en-US" altLang="zh-CN" sz="2000" dirty="0" smtClean="0"/>
              <a:t>SS=1000H</a:t>
            </a:r>
            <a:r>
              <a:rPr lang="zh-CN" altLang="zh-CN" sz="2000" dirty="0" smtClean="0"/>
              <a:t>，</a:t>
            </a:r>
            <a:r>
              <a:rPr lang="en-US" altLang="zh-CN" sz="2000" dirty="0" smtClean="0"/>
              <a:t>BX=0BBH</a:t>
            </a:r>
            <a:r>
              <a:rPr lang="zh-CN" altLang="zh-CN" sz="2000" dirty="0" smtClean="0"/>
              <a:t>，</a:t>
            </a:r>
            <a:r>
              <a:rPr lang="en-US" altLang="zh-CN" sz="2000" dirty="0" smtClean="0"/>
              <a:t>BP=02H</a:t>
            </a:r>
            <a:r>
              <a:rPr lang="zh-CN" altLang="zh-CN" sz="2000" dirty="0" smtClean="0"/>
              <a:t>，</a:t>
            </a:r>
            <a:r>
              <a:rPr lang="en-US" altLang="zh-CN" sz="2000" dirty="0" smtClean="0"/>
              <a:t>SI=0100H</a:t>
            </a:r>
            <a:r>
              <a:rPr lang="zh-CN" altLang="zh-CN" sz="2000" dirty="0" smtClean="0"/>
              <a:t>，</a:t>
            </a:r>
            <a:r>
              <a:rPr lang="en-US" altLang="zh-CN" sz="2000" dirty="0" smtClean="0"/>
              <a:t>DI=0200H</a:t>
            </a:r>
            <a:r>
              <a:rPr lang="zh-CN" altLang="zh-CN" sz="2000" dirty="0" smtClean="0"/>
              <a:t>，（</a:t>
            </a:r>
            <a:r>
              <a:rPr lang="en-US" altLang="zh-CN" sz="2000" dirty="0" smtClean="0"/>
              <a:t>200BBH</a:t>
            </a:r>
            <a:r>
              <a:rPr lang="zh-CN" altLang="zh-CN" sz="2000" dirty="0" smtClean="0"/>
              <a:t>）</a:t>
            </a:r>
            <a:r>
              <a:rPr lang="en-US" altLang="zh-CN" sz="2000" dirty="0" smtClean="0"/>
              <a:t>=1AH</a:t>
            </a:r>
            <a:r>
              <a:rPr lang="zh-CN" altLang="zh-CN" sz="2000" dirty="0" smtClean="0"/>
              <a:t>，</a:t>
            </a:r>
            <a:r>
              <a:rPr lang="zh-CN" altLang="en-US" sz="2000" dirty="0" smtClean="0"/>
              <a:t>  </a:t>
            </a:r>
            <a:r>
              <a:rPr lang="zh-CN" altLang="zh-CN" sz="2000" dirty="0" smtClean="0">
                <a:sym typeface="+mn-ea"/>
              </a:rPr>
              <a:t>（</a:t>
            </a:r>
            <a:r>
              <a:rPr lang="en-US" altLang="zh-CN" sz="2000" dirty="0" smtClean="0">
                <a:sym typeface="+mn-ea"/>
              </a:rPr>
              <a:t>200BCH</a:t>
            </a:r>
            <a:r>
              <a:rPr lang="zh-CN" altLang="zh-CN" sz="2000" dirty="0" smtClean="0">
                <a:sym typeface="+mn-ea"/>
              </a:rPr>
              <a:t>）</a:t>
            </a:r>
            <a:r>
              <a:rPr lang="en-US" altLang="zh-CN" sz="2000" dirty="0" smtClean="0">
                <a:sym typeface="+mn-ea"/>
              </a:rPr>
              <a:t>=23H,</a:t>
            </a:r>
            <a:r>
              <a:rPr lang="zh-CN" altLang="zh-CN" sz="2000" dirty="0" smtClean="0"/>
              <a:t>（</a:t>
            </a:r>
            <a:r>
              <a:rPr lang="en-US" altLang="zh-CN" sz="2000" dirty="0" smtClean="0"/>
              <a:t>201BBH</a:t>
            </a:r>
            <a:r>
              <a:rPr lang="zh-CN" altLang="zh-CN" sz="2000" dirty="0" smtClean="0"/>
              <a:t>）</a:t>
            </a:r>
            <a:r>
              <a:rPr lang="en-US" altLang="zh-CN" sz="2000" dirty="0" smtClean="0"/>
              <a:t>=34H</a:t>
            </a:r>
            <a:r>
              <a:rPr lang="zh-CN" altLang="zh-CN" sz="2000" dirty="0" smtClean="0"/>
              <a:t>，</a:t>
            </a:r>
            <a:r>
              <a:rPr lang="zh-CN" altLang="zh-CN" sz="2000" dirty="0" smtClean="0">
                <a:sym typeface="+mn-ea"/>
              </a:rPr>
              <a:t>（</a:t>
            </a:r>
            <a:r>
              <a:rPr lang="en-US" altLang="zh-CN" sz="2000" dirty="0" smtClean="0">
                <a:sym typeface="+mn-ea"/>
              </a:rPr>
              <a:t>201BCH</a:t>
            </a:r>
            <a:r>
              <a:rPr lang="zh-CN" altLang="zh-CN" sz="2000" dirty="0" smtClean="0">
                <a:sym typeface="+mn-ea"/>
              </a:rPr>
              <a:t>）</a:t>
            </a:r>
            <a:r>
              <a:rPr lang="en-US" altLang="zh-CN" sz="2000" dirty="0" smtClean="0">
                <a:sym typeface="+mn-ea"/>
              </a:rPr>
              <a:t>=89H,</a:t>
            </a:r>
            <a:r>
              <a:rPr lang="zh-CN" altLang="zh-CN" sz="2000" dirty="0" smtClean="0"/>
              <a:t>（</a:t>
            </a:r>
            <a:r>
              <a:rPr lang="en-US" altLang="zh-CN" sz="2000" dirty="0" smtClean="0"/>
              <a:t>200CCH</a:t>
            </a:r>
            <a:r>
              <a:rPr lang="zh-CN" altLang="zh-CN" sz="2000" dirty="0" smtClean="0"/>
              <a:t>）</a:t>
            </a:r>
            <a:r>
              <a:rPr lang="en-US" altLang="zh-CN" sz="2000" dirty="0" smtClean="0"/>
              <a:t>=68H</a:t>
            </a:r>
            <a:r>
              <a:rPr lang="zh-CN" altLang="zh-CN" sz="2000" dirty="0" smtClean="0"/>
              <a:t>，（</a:t>
            </a:r>
            <a:r>
              <a:rPr lang="en-US" altLang="zh-CN" sz="2000" dirty="0" smtClean="0"/>
              <a:t>200CDH</a:t>
            </a:r>
            <a:r>
              <a:rPr lang="zh-CN" altLang="zh-CN" sz="2000" dirty="0" smtClean="0"/>
              <a:t>）</a:t>
            </a:r>
            <a:r>
              <a:rPr lang="en-US" altLang="zh-CN" sz="2000" dirty="0" smtClean="0"/>
              <a:t>=3FH</a:t>
            </a:r>
            <a:r>
              <a:rPr lang="zh-CN" altLang="zh-CN" sz="2000" dirty="0" smtClean="0"/>
              <a:t>，（</a:t>
            </a:r>
            <a:r>
              <a:rPr lang="en-US" altLang="zh-CN" sz="2000" dirty="0" smtClean="0"/>
              <a:t>10202H</a:t>
            </a:r>
            <a:r>
              <a:rPr lang="zh-CN" altLang="zh-CN" sz="2000" dirty="0" smtClean="0"/>
              <a:t>）</a:t>
            </a:r>
            <a:r>
              <a:rPr lang="en-US" altLang="zh-CN" sz="2000" dirty="0" smtClean="0"/>
              <a:t>=78H</a:t>
            </a:r>
            <a:r>
              <a:rPr lang="zh-CN" altLang="zh-CN" sz="2000" dirty="0" smtClean="0"/>
              <a:t>，（</a:t>
            </a:r>
            <a:r>
              <a:rPr lang="en-US" altLang="zh-CN" sz="2000" dirty="0" smtClean="0"/>
              <a:t>10203H</a:t>
            </a:r>
            <a:r>
              <a:rPr lang="zh-CN" altLang="zh-CN" sz="2000" dirty="0" smtClean="0"/>
              <a:t>）</a:t>
            </a:r>
            <a:r>
              <a:rPr lang="en-US" altLang="zh-CN" sz="2000" dirty="0" smtClean="0"/>
              <a:t>=67H</a:t>
            </a:r>
            <a:r>
              <a:rPr lang="zh-CN" altLang="zh-CN" sz="2000" dirty="0" smtClean="0"/>
              <a:t>，（</a:t>
            </a:r>
            <a:r>
              <a:rPr lang="en-US" altLang="zh-CN" sz="2000" dirty="0" smtClean="0"/>
              <a:t>21200H</a:t>
            </a:r>
            <a:r>
              <a:rPr lang="zh-CN" altLang="zh-CN" sz="2000" dirty="0" smtClean="0"/>
              <a:t>）</a:t>
            </a:r>
            <a:r>
              <a:rPr lang="en-US" altLang="zh-CN" sz="2000" dirty="0" smtClean="0"/>
              <a:t>=2AH</a:t>
            </a:r>
            <a:r>
              <a:rPr lang="zh-CN" altLang="zh-CN" sz="2000" dirty="0" smtClean="0"/>
              <a:t>，（</a:t>
            </a:r>
            <a:r>
              <a:rPr lang="en-US" altLang="zh-CN" sz="2000" dirty="0" smtClean="0"/>
              <a:t>21201H</a:t>
            </a:r>
            <a:r>
              <a:rPr lang="zh-CN" altLang="zh-CN" sz="2000" dirty="0" smtClean="0"/>
              <a:t>）</a:t>
            </a:r>
            <a:r>
              <a:rPr lang="en-US" altLang="zh-CN" sz="2000" dirty="0" smtClean="0"/>
              <a:t>=4CH</a:t>
            </a:r>
            <a:r>
              <a:rPr lang="zh-CN" altLang="zh-CN" sz="2000" dirty="0" smtClean="0"/>
              <a:t>，（</a:t>
            </a:r>
            <a:r>
              <a:rPr lang="en-US" altLang="zh-CN" sz="2000" dirty="0" smtClean="0"/>
              <a:t>21202H</a:t>
            </a:r>
            <a:r>
              <a:rPr lang="zh-CN" altLang="zh-CN" sz="2000" dirty="0" smtClean="0"/>
              <a:t>）</a:t>
            </a:r>
            <a:r>
              <a:rPr lang="en-US" altLang="zh-CN" sz="2000" dirty="0" smtClean="0"/>
              <a:t>=0B7H,</a:t>
            </a:r>
            <a:r>
              <a:rPr lang="zh-CN" altLang="zh-CN" sz="2000" dirty="0" smtClean="0"/>
              <a:t>（</a:t>
            </a:r>
            <a:r>
              <a:rPr lang="en-US" altLang="zh-CN" sz="2000" dirty="0" smtClean="0"/>
              <a:t>201CCH</a:t>
            </a:r>
            <a:r>
              <a:rPr lang="zh-CN" altLang="zh-CN" sz="2000" dirty="0" smtClean="0"/>
              <a:t>）</a:t>
            </a:r>
            <a:r>
              <a:rPr lang="en-US" altLang="zh-CN" sz="2000" dirty="0" smtClean="0"/>
              <a:t>=56H,</a:t>
            </a:r>
            <a:r>
              <a:rPr lang="zh-CN" altLang="zh-CN" sz="2000" dirty="0" smtClean="0"/>
              <a:t>（</a:t>
            </a:r>
            <a:r>
              <a:rPr lang="en-US" altLang="zh-CN" sz="2000" dirty="0" smtClean="0"/>
              <a:t>201CDH</a:t>
            </a:r>
            <a:r>
              <a:rPr lang="zh-CN" altLang="zh-CN" sz="2000" dirty="0" smtClean="0"/>
              <a:t>）</a:t>
            </a:r>
            <a:r>
              <a:rPr lang="en-US" altLang="zh-CN" sz="2000" dirty="0" smtClean="0"/>
              <a:t>=5BH,</a:t>
            </a:r>
            <a:r>
              <a:rPr lang="zh-CN" altLang="zh-CN" sz="2000" dirty="0" smtClean="0"/>
              <a:t>试写出下表中源操作数的寻址方式和寄存器</a:t>
            </a:r>
            <a:r>
              <a:rPr lang="en-US" altLang="zh-CN" sz="2000" dirty="0" smtClean="0"/>
              <a:t>AX</a:t>
            </a:r>
            <a:r>
              <a:rPr lang="zh-CN" altLang="zh-CN" sz="2000" dirty="0" smtClean="0"/>
              <a:t>的内容</a:t>
            </a:r>
            <a:r>
              <a:rPr lang="zh-CN" altLang="zh-CN" dirty="0" smtClean="0"/>
              <a:t>。</a:t>
            </a:r>
            <a:endParaRPr lang="en-US" altLang="zh-CN" dirty="0" smtClean="0"/>
          </a:p>
          <a:p>
            <a:endParaRPr lang="zh-CN" altLang="zh-CN"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8" name="TextBox 7"/>
          <p:cNvSpPr txBox="1"/>
          <p:nvPr/>
        </p:nvSpPr>
        <p:spPr>
          <a:xfrm>
            <a:off x="4438436" y="2743201"/>
            <a:ext cx="7078894" cy="461665"/>
          </a:xfrm>
          <a:prstGeom prst="rect">
            <a:avLst/>
          </a:prstGeom>
          <a:noFill/>
        </p:spPr>
        <p:txBody>
          <a:bodyPr wrap="square" rtlCol="0">
            <a:spAutoFit/>
          </a:bodyPr>
          <a:lstStyle/>
          <a:p>
            <a:r>
              <a:rPr lang="zh-CN" altLang="zh-CN" sz="2400" dirty="0" smtClean="0"/>
              <a:t>立即寻址</a:t>
            </a:r>
            <a:r>
              <a:rPr lang="zh-CN" altLang="en-US" sz="2400" dirty="0" smtClean="0"/>
              <a:t>   </a:t>
            </a:r>
            <a:r>
              <a:rPr lang="en-US" altLang="zh-CN" sz="2400" dirty="0" smtClean="0"/>
              <a:t>1200H</a:t>
            </a:r>
            <a:endParaRPr lang="zh-CN" altLang="en-US" sz="2400" dirty="0"/>
          </a:p>
        </p:txBody>
      </p:sp>
      <p:sp>
        <p:nvSpPr>
          <p:cNvPr id="9" name="内容占位符 2"/>
          <p:cNvSpPr txBox="1"/>
          <p:nvPr/>
        </p:nvSpPr>
        <p:spPr bwMode="auto">
          <a:xfrm>
            <a:off x="650698" y="2702103"/>
            <a:ext cx="3561707" cy="3698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1200H</a:t>
            </a:r>
            <a:endParaRPr kumimoji="0" lang="en-US"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BX</a:t>
            </a:r>
            <a:endParaRPr kumimoji="0" lang="zh-CN"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[1200H] </a:t>
            </a:r>
            <a:endParaRPr kumimoji="0" lang="zh-CN"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[BX] </a:t>
            </a:r>
            <a:endParaRPr kumimoji="0" lang="zh-CN"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[BX+11H] </a:t>
            </a:r>
            <a:endParaRPr kumimoji="0" lang="zh-CN"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[BX+SI] </a:t>
            </a:r>
            <a:endParaRPr kumimoji="0" lang="zh-CN"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[BX+SI+11H]</a:t>
            </a:r>
            <a:r>
              <a:rPr kumimoji="0" lang="en-US" altLang="zh-CN" sz="2800" b="0" i="0" u="none" strike="noStrike" kern="1200" cap="none" spc="0" normalizeH="0" baseline="0" noProof="0" dirty="0" smtClean="0">
                <a:ln>
                  <a:noFill/>
                </a:ln>
                <a:solidFill>
                  <a:schemeClr val="tx1"/>
                </a:solidFill>
                <a:effectLst/>
                <a:uLnTx/>
                <a:uFillTx/>
                <a:latin typeface="+mn-ea"/>
                <a:ea typeface="+mn-ea"/>
                <a:cs typeface="+mn-cs"/>
              </a:rPr>
              <a:t> </a:t>
            </a:r>
            <a:endParaRPr kumimoji="0" lang="zh-CN"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MOV AX</a:t>
            </a:r>
            <a:r>
              <a:rPr kumimoji="0" lang="zh-CN" altLang="zh-CN" sz="2400" b="0" i="0" u="none" strike="noStrike" kern="1200" cap="none" spc="0" normalizeH="0" baseline="0" noProof="0" dirty="0" smtClean="0">
                <a:ln>
                  <a:noFill/>
                </a:ln>
                <a:solidFill>
                  <a:schemeClr val="tx1"/>
                </a:solidFill>
                <a:effectLst/>
                <a:uLnTx/>
                <a:uFillTx/>
                <a:latin typeface="+mn-ea"/>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ea"/>
                <a:ea typeface="+mn-ea"/>
                <a:cs typeface="+mn-cs"/>
              </a:rPr>
              <a:t>[BP+DI] </a:t>
            </a:r>
            <a:endParaRPr kumimoji="0" lang="zh-CN" altLang="zh-CN" sz="2400" b="0"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Char char="u"/>
              <a:defRPr/>
            </a:pPr>
            <a:endParaRPr kumimoji="0" lang="zh-CN" altLang="zh-CN" sz="2800" b="0" i="0" u="none" strike="noStrike" kern="1200" cap="none" spc="0" normalizeH="0" baseline="0" noProof="0" dirty="0">
              <a:ln>
                <a:noFill/>
              </a:ln>
              <a:solidFill>
                <a:schemeClr val="tx1"/>
              </a:solidFill>
              <a:effectLst/>
              <a:uLnTx/>
              <a:uFillTx/>
              <a:latin typeface="+mn-ea"/>
              <a:ea typeface="+mn-ea"/>
              <a:cs typeface="+mn-cs"/>
            </a:endParaRPr>
          </a:p>
        </p:txBody>
      </p:sp>
      <p:sp>
        <p:nvSpPr>
          <p:cNvPr id="10" name="TextBox 9"/>
          <p:cNvSpPr txBox="1"/>
          <p:nvPr/>
        </p:nvSpPr>
        <p:spPr>
          <a:xfrm>
            <a:off x="4364804" y="3152455"/>
            <a:ext cx="7078894" cy="461665"/>
          </a:xfrm>
          <a:prstGeom prst="rect">
            <a:avLst/>
          </a:prstGeom>
          <a:noFill/>
        </p:spPr>
        <p:txBody>
          <a:bodyPr wrap="square" rtlCol="0">
            <a:spAutoFit/>
          </a:bodyPr>
          <a:lstStyle/>
          <a:p>
            <a:r>
              <a:rPr lang="en-US" altLang="zh-CN" sz="2400" dirty="0" smtClean="0"/>
              <a:t> </a:t>
            </a:r>
            <a:r>
              <a:rPr lang="zh-CN" altLang="zh-CN" sz="2400" dirty="0" smtClean="0"/>
              <a:t>寄存器寻址</a:t>
            </a:r>
            <a:r>
              <a:rPr lang="en-US" altLang="zh-CN" sz="2400" dirty="0" smtClean="0"/>
              <a:t>    0BBH   </a:t>
            </a:r>
            <a:endParaRPr lang="zh-CN" altLang="en-US" sz="2400" dirty="0"/>
          </a:p>
        </p:txBody>
      </p:sp>
      <p:sp>
        <p:nvSpPr>
          <p:cNvPr id="11" name="TextBox 10"/>
          <p:cNvSpPr txBox="1"/>
          <p:nvPr/>
        </p:nvSpPr>
        <p:spPr>
          <a:xfrm>
            <a:off x="4373365" y="3582257"/>
            <a:ext cx="7078894" cy="461665"/>
          </a:xfrm>
          <a:prstGeom prst="rect">
            <a:avLst/>
          </a:prstGeom>
          <a:noFill/>
        </p:spPr>
        <p:txBody>
          <a:bodyPr wrap="square" rtlCol="0">
            <a:spAutoFit/>
          </a:bodyPr>
          <a:lstStyle/>
          <a:p>
            <a:r>
              <a:rPr lang="en-US" altLang="zh-CN" sz="2400" dirty="0" smtClean="0"/>
              <a:t> </a:t>
            </a:r>
            <a:r>
              <a:rPr lang="zh-CN" altLang="en-US" sz="2400" dirty="0" smtClean="0"/>
              <a:t>直接</a:t>
            </a:r>
            <a:r>
              <a:rPr lang="zh-CN" altLang="zh-CN" sz="2400" dirty="0" smtClean="0"/>
              <a:t>寻址</a:t>
            </a:r>
            <a:r>
              <a:rPr lang="en-US" altLang="zh-CN" sz="2400" dirty="0" smtClean="0"/>
              <a:t>    4C2AH</a:t>
            </a:r>
            <a:endParaRPr lang="zh-CN" altLang="en-US" sz="2400" dirty="0"/>
          </a:p>
        </p:txBody>
      </p:sp>
      <p:sp>
        <p:nvSpPr>
          <p:cNvPr id="12" name="TextBox 11"/>
          <p:cNvSpPr txBox="1"/>
          <p:nvPr/>
        </p:nvSpPr>
        <p:spPr>
          <a:xfrm>
            <a:off x="4393917" y="3993224"/>
            <a:ext cx="7078894" cy="461665"/>
          </a:xfrm>
          <a:prstGeom prst="rect">
            <a:avLst/>
          </a:prstGeom>
          <a:noFill/>
        </p:spPr>
        <p:txBody>
          <a:bodyPr wrap="square" rtlCol="0">
            <a:spAutoFit/>
          </a:bodyPr>
          <a:lstStyle/>
          <a:p>
            <a:r>
              <a:rPr lang="en-US" altLang="zh-CN" sz="2400" dirty="0" smtClean="0"/>
              <a:t> </a:t>
            </a:r>
            <a:r>
              <a:rPr lang="zh-CN" altLang="zh-CN" sz="2400" dirty="0" smtClean="0"/>
              <a:t>寄存器</a:t>
            </a:r>
            <a:r>
              <a:rPr lang="zh-CN" altLang="en-US" sz="2400" dirty="0" smtClean="0"/>
              <a:t>间接</a:t>
            </a:r>
            <a:r>
              <a:rPr lang="zh-CN" altLang="zh-CN" sz="2400" dirty="0" smtClean="0"/>
              <a:t>寻址</a:t>
            </a:r>
            <a:r>
              <a:rPr lang="en-US" altLang="zh-CN" sz="2400" dirty="0" smtClean="0"/>
              <a:t>    231AH</a:t>
            </a:r>
            <a:endParaRPr lang="zh-CN" altLang="en-US" sz="2400" dirty="0"/>
          </a:p>
        </p:txBody>
      </p:sp>
      <p:sp>
        <p:nvSpPr>
          <p:cNvPr id="13" name="TextBox 12"/>
          <p:cNvSpPr txBox="1"/>
          <p:nvPr/>
        </p:nvSpPr>
        <p:spPr>
          <a:xfrm>
            <a:off x="4392207" y="4433296"/>
            <a:ext cx="7078894" cy="460375"/>
          </a:xfrm>
          <a:prstGeom prst="rect">
            <a:avLst/>
          </a:prstGeom>
          <a:noFill/>
        </p:spPr>
        <p:txBody>
          <a:bodyPr wrap="square" rtlCol="0">
            <a:spAutoFit/>
          </a:bodyPr>
          <a:lstStyle/>
          <a:p>
            <a:r>
              <a:rPr lang="en-US" altLang="zh-CN" sz="2400" dirty="0" smtClean="0"/>
              <a:t> </a:t>
            </a:r>
            <a:r>
              <a:rPr lang="zh-CN" altLang="en-US" sz="2400" dirty="0" smtClean="0"/>
              <a:t>基址</a:t>
            </a:r>
            <a:r>
              <a:rPr lang="zh-CN" altLang="zh-CN" sz="2400" dirty="0" smtClean="0"/>
              <a:t>寻址</a:t>
            </a:r>
            <a:r>
              <a:rPr lang="en-US" altLang="zh-CN" sz="2400" dirty="0" smtClean="0"/>
              <a:t>    3F68H</a:t>
            </a:r>
            <a:endParaRPr lang="zh-CN" altLang="en-US" sz="2400" dirty="0"/>
          </a:p>
        </p:txBody>
      </p:sp>
      <p:sp>
        <p:nvSpPr>
          <p:cNvPr id="14" name="TextBox 13"/>
          <p:cNvSpPr txBox="1"/>
          <p:nvPr/>
        </p:nvSpPr>
        <p:spPr>
          <a:xfrm>
            <a:off x="4462413" y="4945291"/>
            <a:ext cx="7078894" cy="461665"/>
          </a:xfrm>
          <a:prstGeom prst="rect">
            <a:avLst/>
          </a:prstGeom>
          <a:noFill/>
        </p:spPr>
        <p:txBody>
          <a:bodyPr wrap="square" rtlCol="0">
            <a:spAutoFit/>
          </a:bodyPr>
          <a:lstStyle/>
          <a:p>
            <a:r>
              <a:rPr lang="zh-CN" altLang="zh-CN" sz="2400" dirty="0" smtClean="0"/>
              <a:t>基址变址寻址</a:t>
            </a:r>
            <a:r>
              <a:rPr lang="zh-CN" altLang="en-US" sz="2400" dirty="0" smtClean="0"/>
              <a:t>     </a:t>
            </a:r>
            <a:r>
              <a:rPr lang="en-US" altLang="zh-CN" sz="2400" dirty="0" smtClean="0"/>
              <a:t>8934H</a:t>
            </a:r>
            <a:endParaRPr lang="zh-CN" altLang="en-US" sz="2400" dirty="0"/>
          </a:p>
        </p:txBody>
      </p:sp>
      <p:sp>
        <p:nvSpPr>
          <p:cNvPr id="15" name="TextBox 14"/>
          <p:cNvSpPr txBox="1"/>
          <p:nvPr/>
        </p:nvSpPr>
        <p:spPr>
          <a:xfrm>
            <a:off x="4460702" y="5385367"/>
            <a:ext cx="7078894" cy="461665"/>
          </a:xfrm>
          <a:prstGeom prst="rect">
            <a:avLst/>
          </a:prstGeom>
          <a:noFill/>
        </p:spPr>
        <p:txBody>
          <a:bodyPr wrap="square" rtlCol="0">
            <a:spAutoFit/>
          </a:bodyPr>
          <a:lstStyle/>
          <a:p>
            <a:r>
              <a:rPr lang="zh-CN" altLang="zh-CN" sz="2400" dirty="0" smtClean="0"/>
              <a:t>基址变址寻址</a:t>
            </a:r>
            <a:r>
              <a:rPr lang="zh-CN" altLang="en-US" sz="2400" dirty="0" smtClean="0"/>
              <a:t>     </a:t>
            </a:r>
            <a:r>
              <a:rPr lang="en-US" altLang="zh-CN" sz="2400" dirty="0" smtClean="0"/>
              <a:t>5B56H</a:t>
            </a:r>
            <a:endParaRPr lang="zh-CN" altLang="en-US" sz="2400" dirty="0"/>
          </a:p>
        </p:txBody>
      </p:sp>
      <p:sp>
        <p:nvSpPr>
          <p:cNvPr id="16" name="TextBox 15"/>
          <p:cNvSpPr txBox="1"/>
          <p:nvPr/>
        </p:nvSpPr>
        <p:spPr>
          <a:xfrm>
            <a:off x="4438444" y="5815169"/>
            <a:ext cx="7078894" cy="461665"/>
          </a:xfrm>
          <a:prstGeom prst="rect">
            <a:avLst/>
          </a:prstGeom>
          <a:noFill/>
        </p:spPr>
        <p:txBody>
          <a:bodyPr wrap="square" rtlCol="0">
            <a:spAutoFit/>
          </a:bodyPr>
          <a:lstStyle/>
          <a:p>
            <a:r>
              <a:rPr lang="zh-CN" altLang="zh-CN" sz="2400" dirty="0" smtClean="0"/>
              <a:t>基址变址寻址</a:t>
            </a:r>
            <a:r>
              <a:rPr lang="zh-CN" altLang="en-US" sz="2400" dirty="0" smtClean="0"/>
              <a:t>     </a:t>
            </a:r>
            <a:r>
              <a:rPr lang="en-US" altLang="zh-CN" sz="2400" dirty="0" smtClean="0"/>
              <a:t>6778H</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13" grpId="0"/>
      <p:bldP spid="14" grpId="0"/>
      <p:bldP spid="15"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en-US" dirty="0"/>
              <a:t>指令系统</a:t>
            </a:r>
            <a:br>
              <a:rPr lang="zh-CN" altLang="en-US" dirty="0"/>
            </a:br>
            <a:r>
              <a:rPr lang="en-US" altLang="zh-CN" sz="2800" dirty="0"/>
              <a:t>3.3.1</a:t>
            </a:r>
            <a:r>
              <a:rPr lang="zh-CN" altLang="en-US" sz="2800" dirty="0"/>
              <a:t>数据传送类指令</a:t>
            </a:r>
            <a:endParaRPr lang="zh-CN" altLang="en-US" sz="2800" dirty="0"/>
          </a:p>
        </p:txBody>
      </p:sp>
      <p:sp>
        <p:nvSpPr>
          <p:cNvPr id="3" name="内容占位符 2"/>
          <p:cNvSpPr>
            <a:spLocks noGrp="1"/>
          </p:cNvSpPr>
          <p:nvPr>
            <p:ph idx="1"/>
          </p:nvPr>
        </p:nvSpPr>
        <p:spPr/>
        <p:txBody>
          <a:bodyPr/>
          <a:lstStyle/>
          <a:p>
            <a:pPr>
              <a:lnSpc>
                <a:spcPct val="8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数据传送是计算机中最基本、最重要的一种操作,传送指令也是最常使用的一类指令。</a:t>
            </a:r>
            <a:endParaRPr lang="zh-CN" altLang="en-US"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Char char="Ø"/>
            </a:pPr>
            <a:r>
              <a:rPr lang="zh-CN" altLang="en-US" sz="2800" b="0" dirty="0">
                <a:solidFill>
                  <a:schemeClr val="hlink"/>
                </a:solidFill>
                <a:latin typeface="Times New Roman" panose="02020603050405020304" pitchFamily="18" charset="0"/>
                <a:ea typeface="楷体_GB2312" pitchFamily="1" charset="-122"/>
              </a:rPr>
              <a:t>除标志寄存器传送指令外，均不影响标志位。</a:t>
            </a:r>
            <a:endParaRPr lang="zh-CN" altLang="en-US" sz="2800" b="0" dirty="0">
              <a:solidFill>
                <a:schemeClr val="hlink"/>
              </a:solidFill>
              <a:latin typeface="Times New Roman" panose="02020603050405020304" pitchFamily="18" charset="0"/>
              <a:ea typeface="楷体_GB2312" pitchFamily="1" charset="-122"/>
            </a:endParaRPr>
          </a:p>
          <a:p>
            <a:pPr>
              <a:lnSpc>
                <a:spcPct val="8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本小节内容：</a:t>
            </a:r>
            <a:endParaRPr lang="zh-CN" altLang="en-US" sz="2800"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通用数据传送指令</a:t>
            </a:r>
            <a:endParaRPr lang="zh-CN" altLang="en-US"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标志寄存器传送指令</a:t>
            </a:r>
            <a:endParaRPr lang="zh-CN" altLang="en-US"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目标地址传送指令</a:t>
            </a:r>
            <a:endParaRPr lang="zh-CN" altLang="en-US"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输入/输出指令</a:t>
            </a:r>
            <a:endParaRPr lang="zh-CN" altLang="en-US"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通用数据传送指令</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None/>
            </a:pPr>
            <a:r>
              <a:rPr lang="zh-CN" altLang="en-US" b="0" dirty="0">
                <a:latin typeface="楷体_GB2312" pitchFamily="1" charset="-122"/>
                <a:ea typeface="楷体_GB2312" pitchFamily="1" charset="-122"/>
              </a:rPr>
              <a:t>包括：</a:t>
            </a:r>
            <a:endParaRPr lang="zh-CN" altLang="en-US" b="0" dirty="0">
              <a:latin typeface="楷体_GB2312" pitchFamily="1" charset="-122"/>
              <a:ea typeface="楷体_GB2312" pitchFamily="1" charset="-122"/>
            </a:endParaRPr>
          </a:p>
          <a:p>
            <a:pPr lvl="1"/>
            <a:r>
              <a:rPr lang="zh-CN" altLang="en-US" sz="3200" b="0" dirty="0">
                <a:latin typeface="楷体_GB2312" pitchFamily="1" charset="-122"/>
                <a:ea typeface="楷体_GB2312" pitchFamily="1" charset="-122"/>
              </a:rPr>
              <a:t>MOV传送指令</a:t>
            </a:r>
            <a:endParaRPr lang="zh-CN" altLang="en-US" sz="3200" b="0" dirty="0">
              <a:latin typeface="楷体_GB2312" pitchFamily="1" charset="-122"/>
              <a:ea typeface="楷体_GB2312" pitchFamily="1" charset="-122"/>
            </a:endParaRPr>
          </a:p>
          <a:p>
            <a:pPr lvl="1"/>
            <a:r>
              <a:rPr lang="zh-CN" altLang="en-US" sz="3200" b="0" dirty="0">
                <a:latin typeface="楷体_GB2312" pitchFamily="1" charset="-122"/>
                <a:ea typeface="楷体_GB2312" pitchFamily="1" charset="-122"/>
              </a:rPr>
              <a:t>XCHG交换指令</a:t>
            </a:r>
            <a:endParaRPr lang="zh-CN" altLang="en-US" sz="3200" b="0" dirty="0">
              <a:latin typeface="楷体_GB2312" pitchFamily="1" charset="-122"/>
              <a:ea typeface="楷体_GB2312" pitchFamily="1" charset="-122"/>
            </a:endParaRPr>
          </a:p>
          <a:p>
            <a:pPr lvl="1"/>
            <a:r>
              <a:rPr lang="zh-CN" altLang="en-US" sz="3200" b="0" dirty="0">
                <a:latin typeface="楷体_GB2312" pitchFamily="1" charset="-122"/>
                <a:ea typeface="楷体_GB2312" pitchFamily="1" charset="-122"/>
              </a:rPr>
              <a:t>XLAT换码指令</a:t>
            </a:r>
            <a:endParaRPr lang="zh-CN" altLang="en-US" sz="3200" b="0" dirty="0">
              <a:latin typeface="楷体_GB2312" pitchFamily="1" charset="-122"/>
              <a:ea typeface="楷体_GB2312" pitchFamily="1" charset="-122"/>
            </a:endParaRPr>
          </a:p>
          <a:p>
            <a:pPr lvl="1"/>
            <a:r>
              <a:rPr lang="zh-CN" altLang="en-US" sz="3200" b="0" dirty="0">
                <a:latin typeface="楷体_GB2312" pitchFamily="1" charset="-122"/>
                <a:ea typeface="楷体_GB2312" pitchFamily="1" charset="-122"/>
              </a:rPr>
              <a:t>堆栈操作指令</a:t>
            </a:r>
            <a:endParaRPr lang="zh-CN" altLang="en-US" sz="3200" b="0" dirty="0">
              <a:latin typeface="楷体_GB2312" pitchFamily="1" charset="-122"/>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MOV</a:t>
            </a:r>
            <a:r>
              <a:rPr lang="zh-CN" altLang="en-US" dirty="0"/>
              <a:t>传送指令</a:t>
            </a:r>
            <a:endParaRPr lang="zh-CN" altLang="en-US" dirty="0"/>
          </a:p>
        </p:txBody>
      </p:sp>
      <p:sp>
        <p:nvSpPr>
          <p:cNvPr id="3" name="内容占位符 2"/>
          <p:cNvSpPr>
            <a:spLocks noGrp="1"/>
          </p:cNvSpPr>
          <p:nvPr>
            <p:ph idx="1"/>
          </p:nvPr>
        </p:nvSpPr>
        <p:spPr/>
        <p:txBody>
          <a:bodyPr>
            <a:normAutofit/>
          </a:bodyPr>
          <a:lstStyle/>
          <a:p>
            <a:pPr>
              <a:lnSpc>
                <a:spcPct val="90000"/>
              </a:lnSpc>
              <a:buFont typeface="Wingdings" panose="05000000000000000000" pitchFamily="2" charset="2"/>
              <a:buChar char="Ø"/>
            </a:pPr>
            <a:r>
              <a:rPr lang="zh-CN" altLang="zh-CN" sz="2800" dirty="0">
                <a:latin typeface="Times New Roman" panose="02020603050405020304" pitchFamily="18" charset="0"/>
              </a:rPr>
              <a:t>格式：  MOV  OPD，OPS</a:t>
            </a:r>
            <a:r>
              <a:rPr lang="zh-CN" altLang="zh-CN" sz="2800" dirty="0">
                <a:latin typeface="Times New Roman" panose="02020603050405020304" pitchFamily="18" charset="0"/>
                <a:ea typeface="楷体_GB2312" pitchFamily="1" charset="-122"/>
              </a:rPr>
              <a:t> </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en-US" sz="2800" b="0" dirty="0"/>
              <a:t>功能：在寄存器之间、寄存器与存储器之间进行数据传送，还可以将立即数送入寄存器或内存。</a:t>
            </a:r>
            <a:r>
              <a:rPr lang="zh-CN" altLang="zh-CN" sz="2800" b="0" dirty="0"/>
              <a:t>MOV  AL，BL；将寄存器BL的内容传送到寄存器AL中。</a:t>
            </a:r>
            <a:endParaRPr lang="en-US" altLang="zh-CN" dirty="0"/>
          </a:p>
          <a:p>
            <a:pPr>
              <a:lnSpc>
                <a:spcPct val="90000"/>
              </a:lnSpc>
              <a:buFont typeface="Wingdings" panose="05000000000000000000" pitchFamily="2" charset="2"/>
              <a:buChar char="Ø"/>
            </a:pPr>
            <a:r>
              <a:rPr lang="zh-CN" altLang="zh-CN" b="0" dirty="0"/>
              <a:t>MOV  [DI]， AX；将寄存器AX的内容传送到DI和DI+1所</a:t>
            </a:r>
            <a:br>
              <a:rPr lang="zh-CN" altLang="zh-CN" b="0" dirty="0"/>
            </a:br>
            <a:r>
              <a:rPr lang="zh-CN" altLang="zh-CN" b="0" dirty="0"/>
              <a:t>                指的内存字单元中。</a:t>
            </a:r>
            <a:endParaRPr lang="zh-CN" altLang="zh-CN" b="0" dirty="0"/>
          </a:p>
          <a:p>
            <a:pPr algn="l">
              <a:lnSpc>
                <a:spcPct val="90000"/>
              </a:lnSpc>
              <a:buFont typeface="Wingdings" panose="05000000000000000000" pitchFamily="2" charset="2"/>
              <a:buChar char="Ø"/>
            </a:pPr>
            <a:r>
              <a:rPr lang="zh-CN" altLang="zh-CN" sz="2800" b="0" dirty="0"/>
              <a:t>MOV  CX，[1000H]；将数据段中偏移地址1000H和1001H</a:t>
            </a:r>
            <a:br>
              <a:rPr lang="zh-CN" altLang="zh-CN" sz="2800" b="0" dirty="0"/>
            </a:br>
            <a:r>
              <a:rPr lang="zh-CN" altLang="zh-CN" sz="2800" b="0" dirty="0"/>
              <a:t>                  单元的内容送CX中。</a:t>
            </a:r>
            <a:endParaRPr lang="zh-CN" altLang="zh-CN" sz="2800" b="0" dirty="0"/>
          </a:p>
          <a:p>
            <a:pPr algn="l">
              <a:lnSpc>
                <a:spcPct val="90000"/>
              </a:lnSpc>
              <a:buFont typeface="Wingdings" panose="05000000000000000000" pitchFamily="2" charset="2"/>
              <a:buChar char="Ø"/>
            </a:pPr>
            <a:r>
              <a:rPr lang="zh-CN" altLang="zh-CN" sz="2800" b="0" dirty="0"/>
              <a:t>MOV  BL，40；将立即数40传送到寄存器BL。 </a:t>
            </a:r>
            <a:endParaRPr lang="zh-CN" altLang="zh-CN" sz="2800" dirty="0"/>
          </a:p>
          <a:p>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MOV</a:t>
            </a:r>
            <a:r>
              <a:rPr lang="zh-CN" altLang="en-US" dirty="0"/>
              <a:t>传送指令</a:t>
            </a:r>
            <a:endParaRPr lang="zh-CN" altLang="en-US" dirty="0"/>
          </a:p>
        </p:txBody>
      </p:sp>
      <p:sp>
        <p:nvSpPr>
          <p:cNvPr id="3" name="内容占位符 2"/>
          <p:cNvSpPr>
            <a:spLocks noGrp="1"/>
          </p:cNvSpPr>
          <p:nvPr>
            <p:ph idx="1"/>
          </p:nvPr>
        </p:nvSpPr>
        <p:spPr/>
        <p:txBody>
          <a:bodyPr>
            <a:normAutofit/>
          </a:bodyPr>
          <a:lstStyle/>
          <a:p>
            <a:r>
              <a:rPr lang="en-US" altLang="zh-CN" dirty="0"/>
              <a:t>MOV</a:t>
            </a:r>
            <a:r>
              <a:rPr lang="zh-CN" altLang="en-US" dirty="0"/>
              <a:t>指令使用时的注意点：</a:t>
            </a:r>
            <a:endParaRPr lang="en-US" altLang="zh-CN" dirty="0"/>
          </a:p>
          <a:p>
            <a:pPr lvl="1"/>
            <a:r>
              <a:rPr lang="zh-CN" altLang="zh-CN" dirty="0">
                <a:latin typeface="+mn-ea"/>
              </a:rPr>
              <a:t>立即数、CS和IP不能作为目的操作数。</a:t>
            </a:r>
            <a:endParaRPr lang="en-US" altLang="zh-CN" dirty="0">
              <a:latin typeface="+mn-ea"/>
            </a:endParaRPr>
          </a:p>
          <a:p>
            <a:pPr lvl="1"/>
            <a:r>
              <a:rPr lang="zh-CN" altLang="zh-CN" dirty="0">
                <a:latin typeface="+mn-ea"/>
              </a:rPr>
              <a:t>两个段寄存器之间不能相互传送数据</a:t>
            </a:r>
            <a:r>
              <a:rPr lang="zh-CN" altLang="zh-CN" dirty="0" smtClean="0">
                <a:latin typeface="+mn-ea"/>
              </a:rPr>
              <a:t>。</a:t>
            </a:r>
            <a:r>
              <a:rPr lang="zh-CN" altLang="en-US" dirty="0" smtClean="0">
                <a:latin typeface="+mn-ea"/>
              </a:rPr>
              <a:t>（</a:t>
            </a:r>
            <a:r>
              <a:rPr lang="en-US" altLang="zh-CN" dirty="0" smtClean="0">
                <a:latin typeface="+mn-ea"/>
              </a:rPr>
              <a:t>AX)</a:t>
            </a:r>
            <a:endParaRPr lang="zh-CN" altLang="zh-CN" dirty="0">
              <a:latin typeface="+mn-ea"/>
            </a:endParaRPr>
          </a:p>
          <a:p>
            <a:pPr lvl="1"/>
            <a:r>
              <a:rPr lang="zh-CN" altLang="zh-CN" dirty="0">
                <a:latin typeface="+mn-ea"/>
              </a:rPr>
              <a:t>两个存储单元之间不能直接传送</a:t>
            </a:r>
            <a:r>
              <a:rPr lang="zh-CN" altLang="zh-CN" dirty="0" smtClean="0">
                <a:latin typeface="+mn-ea"/>
              </a:rPr>
              <a:t>。</a:t>
            </a:r>
            <a:r>
              <a:rPr lang="zh-CN" altLang="en-US" dirty="0" smtClean="0">
                <a:latin typeface="+mn-ea"/>
              </a:rPr>
              <a:t> （</a:t>
            </a:r>
            <a:r>
              <a:rPr lang="en-US" altLang="zh-CN" dirty="0" smtClean="0">
                <a:latin typeface="+mn-ea"/>
              </a:rPr>
              <a:t>AX)</a:t>
            </a:r>
            <a:endParaRPr lang="zh-CN" altLang="zh-CN" dirty="0">
              <a:latin typeface="+mn-ea"/>
            </a:endParaRPr>
          </a:p>
          <a:p>
            <a:pPr lvl="1"/>
            <a:r>
              <a:rPr lang="zh-CN" altLang="zh-CN" dirty="0">
                <a:latin typeface="+mn-ea"/>
              </a:rPr>
              <a:t>不能将立即数直接传送到段寄存器</a:t>
            </a:r>
            <a:r>
              <a:rPr lang="zh-CN" altLang="zh-CN" dirty="0" smtClean="0">
                <a:latin typeface="+mn-ea"/>
              </a:rPr>
              <a:t>。</a:t>
            </a:r>
            <a:r>
              <a:rPr lang="zh-CN" altLang="en-US" dirty="0" smtClean="0">
                <a:latin typeface="+mn-ea"/>
              </a:rPr>
              <a:t> （</a:t>
            </a:r>
            <a:r>
              <a:rPr lang="en-US" altLang="zh-CN" dirty="0" smtClean="0">
                <a:latin typeface="+mn-ea"/>
              </a:rPr>
              <a:t>AX)</a:t>
            </a:r>
            <a:endParaRPr lang="zh-CN" altLang="zh-CN" dirty="0">
              <a:latin typeface="+mn-ea"/>
            </a:endParaRPr>
          </a:p>
          <a:p>
            <a:pPr lvl="1"/>
            <a:r>
              <a:rPr lang="zh-CN" altLang="zh-CN" dirty="0">
                <a:latin typeface="+mn-ea"/>
              </a:rPr>
              <a:t>两个操作数的类型和长度必须一致。</a:t>
            </a:r>
            <a:endParaRPr lang="zh-CN" altLang="zh-CN" dirty="0">
              <a:latin typeface="+mn-ea"/>
            </a:endParaRPr>
          </a:p>
          <a:p>
            <a:pPr lvl="1"/>
            <a:r>
              <a:rPr lang="en-US" altLang="zh-CN" dirty="0"/>
              <a:t>MOV BX,AL  </a:t>
            </a:r>
            <a:r>
              <a:rPr lang="zh-CN" altLang="en-US" dirty="0" smtClean="0"/>
              <a:t>类型不一致 </a:t>
            </a:r>
            <a:endParaRPr lang="en-US" altLang="zh-CN" dirty="0" smtClean="0"/>
          </a:p>
          <a:p>
            <a:pPr lvl="1"/>
            <a:r>
              <a:rPr lang="en-US" altLang="zh-CN" dirty="0" smtClean="0"/>
              <a:t>MOV AL,256 </a:t>
            </a:r>
            <a:r>
              <a:rPr lang="zh-CN" altLang="en-US" smtClean="0"/>
              <a:t> 长度不一致</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XCHG(exchange)</a:t>
            </a:r>
            <a:r>
              <a:rPr lang="zh-CN" altLang="en-US" dirty="0" smtClean="0"/>
              <a:t>指令</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dirty="0">
                <a:latin typeface="Times New Roman" panose="02020603050405020304" pitchFamily="18" charset="0"/>
              </a:rPr>
              <a:t>格式：XCHG  OPD，OPS</a:t>
            </a:r>
            <a:endParaRPr lang="zh-CN" altLang="zh-CN" dirty="0">
              <a:latin typeface="Times New Roman" panose="02020603050405020304" pitchFamily="18" charset="0"/>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操作数的类型可以为字节或字。</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交换只能在通用寄存器之间、通用寄存器与存储器之间进行。</a:t>
            </a:r>
            <a:endParaRPr lang="zh-CN" altLang="zh-CN" b="0" dirty="0">
              <a:latin typeface="Times New Roman" panose="02020603050405020304" pitchFamily="18" charset="0"/>
              <a:ea typeface="楷体_GB2312" pitchFamily="1" charset="-122"/>
            </a:endParaRPr>
          </a:p>
          <a:p>
            <a:pPr marL="0" indent="0">
              <a:buNone/>
            </a:pP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XCHG  AX，BX；AX和BX的内容互换</a:t>
            </a:r>
            <a:endParaRPr lang="en-US" altLang="zh-CN" b="0" dirty="0">
              <a:latin typeface="Times New Roman" panose="02020603050405020304" pitchFamily="18" charset="0"/>
              <a:ea typeface="楷体_GB2312" pitchFamily="1" charset="-122"/>
            </a:endParaRPr>
          </a:p>
          <a:p>
            <a:pPr marL="0" indent="0">
              <a:buNone/>
            </a:pP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XCHG  AX，</a:t>
            </a:r>
            <a:r>
              <a:rPr lang="en-US" altLang="zh-CN" b="0" dirty="0">
                <a:latin typeface="Times New Roman" panose="02020603050405020304" pitchFamily="18" charset="0"/>
                <a:ea typeface="楷体_GB2312" pitchFamily="1" charset="-122"/>
              </a:rPr>
              <a:t>[SI]</a:t>
            </a:r>
            <a:r>
              <a:rPr lang="zh-CN" altLang="zh-CN" b="0" dirty="0">
                <a:latin typeface="Times New Roman" panose="02020603050405020304" pitchFamily="18" charset="0"/>
                <a:ea typeface="楷体_GB2312" pitchFamily="1" charset="-122"/>
              </a:rPr>
              <a:t>；</a:t>
            </a:r>
            <a:endParaRPr lang="en-US" altLang="zh-CN" b="0" dirty="0">
              <a:latin typeface="Times New Roman" panose="02020603050405020304" pitchFamily="18" charset="0"/>
              <a:ea typeface="楷体_GB2312" pitchFamily="1" charset="-122"/>
            </a:endParaRPr>
          </a:p>
          <a:p>
            <a:pPr marL="0" indent="0">
              <a:buNone/>
            </a:pP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XLAT(translate)</a:t>
            </a:r>
            <a:r>
              <a:rPr lang="zh-CN" altLang="en-US" dirty="0" smtClean="0"/>
              <a:t>码</a:t>
            </a:r>
            <a:r>
              <a:rPr lang="zh-CN" altLang="en-US" dirty="0"/>
              <a:t>指令</a:t>
            </a:r>
            <a:endParaRPr lang="zh-CN" altLang="en-US" dirty="0"/>
          </a:p>
        </p:txBody>
      </p:sp>
      <p:sp>
        <p:nvSpPr>
          <p:cNvPr id="3" name="内容占位符 2"/>
          <p:cNvSpPr>
            <a:spLocks noGrp="1"/>
          </p:cNvSpPr>
          <p:nvPr>
            <p:ph idx="1"/>
          </p:nvPr>
        </p:nvSpPr>
        <p:spPr/>
        <p:txBody>
          <a:bodyPr>
            <a:normAutofit/>
          </a:bodyPr>
          <a:lstStyle/>
          <a:p>
            <a:pPr>
              <a:buClr>
                <a:schemeClr val="folHlink"/>
              </a:buClr>
              <a:buSzPct val="60000"/>
              <a:buFont typeface="Wingdings" panose="05000000000000000000" pitchFamily="2" charset="2"/>
              <a:buChar char="Ø"/>
            </a:pPr>
            <a:r>
              <a:rPr lang="zh-CN" altLang="zh-CN" sz="2800" b="1" dirty="0">
                <a:latin typeface="Times New Roman" panose="02020603050405020304" pitchFamily="18" charset="0"/>
                <a:ea typeface="宋体" panose="02010600030101010101" pitchFamily="2" charset="-122"/>
              </a:rPr>
              <a:t>格式： XLAT   或   XLAT 表首址</a:t>
            </a:r>
            <a:endParaRPr lang="zh-CN" altLang="zh-CN" sz="2800" b="1" dirty="0">
              <a:latin typeface="Times New Roman" panose="02020603050405020304" pitchFamily="18" charset="0"/>
              <a:ea typeface="宋体" panose="02010600030101010101" pitchFamily="2" charset="-122"/>
            </a:endParaRPr>
          </a:p>
          <a:p>
            <a:pPr>
              <a:buClr>
                <a:schemeClr val="folHlink"/>
              </a:buClr>
              <a:buSzPct val="60000"/>
              <a:buFont typeface="Wingdings" panose="05000000000000000000" pitchFamily="2" charset="2"/>
              <a:buChar char="Ø"/>
            </a:pPr>
            <a:r>
              <a:rPr lang="zh-CN" altLang="zh-CN" sz="2800" dirty="0">
                <a:latin typeface="Times New Roman" panose="02020603050405020304" pitchFamily="18" charset="0"/>
              </a:rPr>
              <a:t>功能：使AL中的值变换为内存表格中的对应值。</a:t>
            </a:r>
            <a:endParaRPr lang="zh-CN" altLang="zh-CN" sz="2800" dirty="0">
              <a:latin typeface="Times New Roman" panose="02020603050405020304" pitchFamily="18" charset="0"/>
            </a:endParaRPr>
          </a:p>
          <a:p>
            <a:pPr>
              <a:buClr>
                <a:schemeClr val="folHlink"/>
              </a:buClr>
              <a:buSzPct val="60000"/>
              <a:buFont typeface="Wingdings" panose="05000000000000000000" pitchFamily="2" charset="2"/>
              <a:buChar char="Ø"/>
            </a:pPr>
            <a:r>
              <a:rPr lang="zh-CN" altLang="zh-CN" sz="2800" dirty="0">
                <a:latin typeface="Times New Roman" panose="02020603050405020304" pitchFamily="18" charset="0"/>
              </a:rPr>
              <a:t>它是一条隐含寻址方式的指令。</a:t>
            </a:r>
            <a:endParaRPr lang="zh-CN" altLang="zh-CN" sz="2800" dirty="0">
              <a:latin typeface="Times New Roman" panose="02020603050405020304" pitchFamily="18" charset="0"/>
            </a:endParaRPr>
          </a:p>
          <a:p>
            <a:pPr>
              <a:buClr>
                <a:schemeClr val="folHlink"/>
              </a:buClr>
              <a:buSzPct val="60000"/>
              <a:buFont typeface="Wingdings" panose="05000000000000000000" pitchFamily="2" charset="2"/>
              <a:buChar char="Ø"/>
            </a:pPr>
            <a:r>
              <a:rPr lang="zh-CN" altLang="zh-CN" sz="2800" dirty="0">
                <a:latin typeface="Times New Roman" panose="02020603050405020304" pitchFamily="18" charset="0"/>
              </a:rPr>
              <a:t>将</a:t>
            </a:r>
            <a:r>
              <a:rPr lang="zh-CN" altLang="zh-CN" sz="2800" dirty="0">
                <a:solidFill>
                  <a:schemeClr val="hlink"/>
                </a:solidFill>
                <a:latin typeface="Times New Roman" panose="02020603050405020304" pitchFamily="18" charset="0"/>
              </a:rPr>
              <a:t>数据段</a:t>
            </a:r>
            <a:r>
              <a:rPr lang="zh-CN" altLang="zh-CN" sz="2800" dirty="0">
                <a:latin typeface="Times New Roman" panose="02020603050405020304" pitchFamily="18" charset="0"/>
              </a:rPr>
              <a:t>内有效地址为(BX)+(AL)的内存字节单元中数据送入AL。</a:t>
            </a:r>
            <a:endParaRPr lang="zh-CN" altLang="zh-CN" sz="2800" dirty="0">
              <a:latin typeface="Times New Roman" panose="02020603050405020304" pitchFamily="18" charset="0"/>
            </a:endParaRPr>
          </a:p>
          <a:p>
            <a:pPr>
              <a:buClr>
                <a:schemeClr val="folHlink"/>
              </a:buClr>
              <a:buSzPct val="60000"/>
              <a:buFont typeface="Wingdings" panose="05000000000000000000" pitchFamily="2" charset="2"/>
              <a:buChar char="Ø"/>
            </a:pPr>
            <a:r>
              <a:rPr lang="zh-CN" altLang="zh-CN" sz="2800" dirty="0">
                <a:solidFill>
                  <a:schemeClr val="hlink"/>
                </a:solidFill>
                <a:latin typeface="Times New Roman" panose="02020603050405020304" pitchFamily="18" charset="0"/>
              </a:rPr>
              <a:t>该指令常用来查表</a:t>
            </a:r>
            <a:r>
              <a:rPr lang="zh-CN" altLang="zh-CN" sz="2800" dirty="0">
                <a:latin typeface="Times New Roman" panose="02020603050405020304" pitchFamily="18" charset="0"/>
              </a:rPr>
              <a:t>，即将表头地址赋予BX，再将需求的表内位移地址赋予AL，最后运用XLAT指令即可以将该地址处的表值送到AL。</a:t>
            </a:r>
            <a:r>
              <a:rPr lang="zh-CN" altLang="zh-CN" sz="2800" b="1" dirty="0">
                <a:latin typeface="Times New Roman" panose="02020603050405020304" pitchFamily="18" charset="0"/>
              </a:rPr>
              <a:t> </a:t>
            </a:r>
            <a:endParaRPr lang="zh-CN" altLang="zh-CN" sz="2800" dirty="0">
              <a:latin typeface="Times New Roman" panose="02020603050405020304" pitchFamily="18" charset="0"/>
            </a:endParaRPr>
          </a:p>
          <a:p>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XLAT</a:t>
            </a:r>
            <a:r>
              <a:rPr lang="zh-CN" altLang="en-US" dirty="0"/>
              <a:t>换码指令的功能图</a:t>
            </a:r>
            <a:endParaRPr lang="zh-CN" altLang="en-US" dirty="0"/>
          </a:p>
        </p:txBody>
      </p:sp>
      <p:sp>
        <p:nvSpPr>
          <p:cNvPr id="4" name="Rectangle 3"/>
          <p:cNvSpPr>
            <a:spLocks noChangeArrowheads="1"/>
          </p:cNvSpPr>
          <p:nvPr/>
        </p:nvSpPr>
        <p:spPr bwMode="auto">
          <a:xfrm>
            <a:off x="5834063" y="2671763"/>
            <a:ext cx="1055687" cy="2854325"/>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5" name="Line 4"/>
          <p:cNvSpPr>
            <a:spLocks noChangeShapeType="1"/>
          </p:cNvSpPr>
          <p:nvPr/>
        </p:nvSpPr>
        <p:spPr bwMode="auto">
          <a:xfrm>
            <a:off x="5832475" y="3009900"/>
            <a:ext cx="1046163"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Line 5"/>
          <p:cNvSpPr>
            <a:spLocks noChangeShapeType="1"/>
          </p:cNvSpPr>
          <p:nvPr/>
        </p:nvSpPr>
        <p:spPr bwMode="auto">
          <a:xfrm>
            <a:off x="5837238" y="3348038"/>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6"/>
          <p:cNvSpPr>
            <a:spLocks noChangeShapeType="1"/>
          </p:cNvSpPr>
          <p:nvPr/>
        </p:nvSpPr>
        <p:spPr bwMode="auto">
          <a:xfrm>
            <a:off x="5837238" y="4014788"/>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7"/>
          <p:cNvSpPr>
            <a:spLocks noChangeShapeType="1"/>
          </p:cNvSpPr>
          <p:nvPr/>
        </p:nvSpPr>
        <p:spPr bwMode="auto">
          <a:xfrm>
            <a:off x="5837238" y="5159375"/>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p:cNvSpPr>
            <a:spLocks noChangeShapeType="1"/>
          </p:cNvSpPr>
          <p:nvPr/>
        </p:nvSpPr>
        <p:spPr bwMode="auto">
          <a:xfrm>
            <a:off x="5837238" y="4403725"/>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Text Box 9"/>
          <p:cNvSpPr txBox="1">
            <a:spLocks noChangeArrowheads="1"/>
          </p:cNvSpPr>
          <p:nvPr/>
        </p:nvSpPr>
        <p:spPr bwMode="auto">
          <a:xfrm>
            <a:off x="5767388" y="1916113"/>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数据段</a:t>
            </a:r>
            <a:endParaRPr lang="zh-CN" altLang="zh-CN">
              <a:solidFill>
                <a:srgbClr val="FF0066"/>
              </a:solidFill>
              <a:latin typeface="Times New Roman" panose="02020603050405020304" pitchFamily="18" charset="0"/>
            </a:endParaRPr>
          </a:p>
        </p:txBody>
      </p:sp>
      <p:sp>
        <p:nvSpPr>
          <p:cNvPr id="11" name="Line 10"/>
          <p:cNvSpPr>
            <a:spLocks noChangeShapeType="1"/>
          </p:cNvSpPr>
          <p:nvPr/>
        </p:nvSpPr>
        <p:spPr bwMode="auto">
          <a:xfrm>
            <a:off x="6378575" y="3455988"/>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6388100" y="4559300"/>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Text Box 12"/>
          <p:cNvSpPr txBox="1">
            <a:spLocks noChangeArrowheads="1"/>
          </p:cNvSpPr>
          <p:nvPr/>
        </p:nvSpPr>
        <p:spPr bwMode="auto">
          <a:xfrm>
            <a:off x="5805488" y="572135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sp>
        <p:nvSpPr>
          <p:cNvPr id="14" name="Line 13"/>
          <p:cNvSpPr>
            <a:spLocks noChangeShapeType="1"/>
          </p:cNvSpPr>
          <p:nvPr/>
        </p:nvSpPr>
        <p:spPr bwMode="auto">
          <a:xfrm flipV="1">
            <a:off x="5834063" y="2443163"/>
            <a:ext cx="0" cy="219075"/>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p:cNvSpPr>
            <a:spLocks noChangeShapeType="1"/>
          </p:cNvSpPr>
          <p:nvPr/>
        </p:nvSpPr>
        <p:spPr bwMode="auto">
          <a:xfrm flipV="1">
            <a:off x="6889750" y="2443163"/>
            <a:ext cx="0" cy="219075"/>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5"/>
          <p:cNvSpPr>
            <a:spLocks noChangeShapeType="1"/>
          </p:cNvSpPr>
          <p:nvPr/>
        </p:nvSpPr>
        <p:spPr bwMode="auto">
          <a:xfrm>
            <a:off x="5832475" y="5513388"/>
            <a:ext cx="0" cy="22860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6"/>
          <p:cNvSpPr>
            <a:spLocks noChangeShapeType="1"/>
          </p:cNvSpPr>
          <p:nvPr/>
        </p:nvSpPr>
        <p:spPr bwMode="auto">
          <a:xfrm>
            <a:off x="6889750" y="5513388"/>
            <a:ext cx="0" cy="21748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AutoShape 17"/>
          <p:cNvSpPr/>
          <p:nvPr/>
        </p:nvSpPr>
        <p:spPr bwMode="auto">
          <a:xfrm>
            <a:off x="6921500" y="2835275"/>
            <a:ext cx="217488" cy="2493963"/>
          </a:xfrm>
          <a:prstGeom prst="rightBrace">
            <a:avLst>
              <a:gd name="adj1" fmla="val 95559"/>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9" name="Text Box 18"/>
          <p:cNvSpPr txBox="1">
            <a:spLocks noChangeArrowheads="1"/>
          </p:cNvSpPr>
          <p:nvPr/>
        </p:nvSpPr>
        <p:spPr bwMode="auto">
          <a:xfrm>
            <a:off x="7194550" y="38623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chemeClr val="accent1"/>
                </a:solidFill>
                <a:latin typeface="Times New Roman" panose="02020603050405020304" pitchFamily="18" charset="0"/>
              </a:rPr>
              <a:t>表</a:t>
            </a:r>
            <a:endParaRPr lang="zh-CN" altLang="zh-CN">
              <a:solidFill>
                <a:schemeClr val="accent1"/>
              </a:solidFill>
              <a:latin typeface="Times New Roman" panose="02020603050405020304" pitchFamily="18" charset="0"/>
            </a:endParaRPr>
          </a:p>
        </p:txBody>
      </p:sp>
      <p:sp>
        <p:nvSpPr>
          <p:cNvPr id="20" name="Text Box 19"/>
          <p:cNvSpPr txBox="1">
            <a:spLocks noChangeArrowheads="1"/>
          </p:cNvSpPr>
          <p:nvPr/>
        </p:nvSpPr>
        <p:spPr bwMode="auto">
          <a:xfrm>
            <a:off x="4057650" y="2586038"/>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BX</a:t>
            </a:r>
            <a:endParaRPr lang="zh-CN" altLang="zh-CN">
              <a:latin typeface="Times New Roman" panose="02020603050405020304" pitchFamily="18" charset="0"/>
            </a:endParaRPr>
          </a:p>
        </p:txBody>
      </p:sp>
      <p:sp>
        <p:nvSpPr>
          <p:cNvPr id="21" name="Line 20"/>
          <p:cNvSpPr>
            <a:spLocks noChangeShapeType="1"/>
          </p:cNvSpPr>
          <p:nvPr/>
        </p:nvSpPr>
        <p:spPr bwMode="auto">
          <a:xfrm>
            <a:off x="4767263" y="2814638"/>
            <a:ext cx="957262"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Text Box 21"/>
          <p:cNvSpPr txBox="1">
            <a:spLocks noChangeArrowheads="1"/>
          </p:cNvSpPr>
          <p:nvPr/>
        </p:nvSpPr>
        <p:spPr bwMode="auto">
          <a:xfrm>
            <a:off x="4064000" y="3324225"/>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AL</a:t>
            </a:r>
            <a:endParaRPr lang="zh-CN" altLang="zh-CN">
              <a:latin typeface="Times New Roman" panose="02020603050405020304" pitchFamily="18" charset="0"/>
            </a:endParaRPr>
          </a:p>
        </p:txBody>
      </p:sp>
      <p:sp>
        <p:nvSpPr>
          <p:cNvPr id="23" name="Text Box 22"/>
          <p:cNvSpPr txBox="1">
            <a:spLocks noChangeArrowheads="1"/>
          </p:cNvSpPr>
          <p:nvPr/>
        </p:nvSpPr>
        <p:spPr bwMode="auto">
          <a:xfrm>
            <a:off x="3570288" y="3311525"/>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t>
            </a:r>
            <a:endParaRPr lang="zh-CN" altLang="zh-CN">
              <a:latin typeface="Times New Roman" panose="02020603050405020304" pitchFamily="18" charset="0"/>
            </a:endParaRPr>
          </a:p>
        </p:txBody>
      </p:sp>
      <p:sp>
        <p:nvSpPr>
          <p:cNvPr id="24" name="Line 23"/>
          <p:cNvSpPr>
            <a:spLocks noChangeShapeType="1"/>
          </p:cNvSpPr>
          <p:nvPr/>
        </p:nvSpPr>
        <p:spPr bwMode="auto">
          <a:xfrm>
            <a:off x="3471863" y="3927475"/>
            <a:ext cx="1295400"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Text Box 24"/>
          <p:cNvSpPr txBox="1">
            <a:spLocks noChangeArrowheads="1"/>
          </p:cNvSpPr>
          <p:nvPr/>
        </p:nvSpPr>
        <p:spPr bwMode="auto">
          <a:xfrm>
            <a:off x="3490913" y="3967163"/>
            <a:ext cx="125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BX+AL</a:t>
            </a:r>
            <a:endParaRPr lang="zh-CN" altLang="zh-CN">
              <a:latin typeface="Times New Roman" panose="02020603050405020304" pitchFamily="18" charset="0"/>
            </a:endParaRPr>
          </a:p>
        </p:txBody>
      </p:sp>
      <p:sp>
        <p:nvSpPr>
          <p:cNvPr id="26" name="Line 25"/>
          <p:cNvSpPr>
            <a:spLocks noChangeShapeType="1"/>
          </p:cNvSpPr>
          <p:nvPr/>
        </p:nvSpPr>
        <p:spPr bwMode="auto">
          <a:xfrm>
            <a:off x="6365875" y="4217988"/>
            <a:ext cx="1133475" cy="314325"/>
          </a:xfrm>
          <a:prstGeom prst="line">
            <a:avLst/>
          </a:prstGeom>
          <a:noFill/>
          <a:ln w="38100" cmpd="sng">
            <a:solidFill>
              <a:schemeClr val="hlink"/>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26"/>
          <p:cNvSpPr>
            <a:spLocks noChangeShapeType="1"/>
          </p:cNvSpPr>
          <p:nvPr/>
        </p:nvSpPr>
        <p:spPr bwMode="auto">
          <a:xfrm>
            <a:off x="4843463" y="4195763"/>
            <a:ext cx="903287" cy="0"/>
          </a:xfrm>
          <a:prstGeom prst="line">
            <a:avLst/>
          </a:prstGeom>
          <a:noFill/>
          <a:ln w="38100" cmpd="sng">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27"/>
          <p:cNvSpPr txBox="1">
            <a:spLocks noChangeArrowheads="1"/>
          </p:cNvSpPr>
          <p:nvPr/>
        </p:nvSpPr>
        <p:spPr bwMode="auto">
          <a:xfrm>
            <a:off x="7415213" y="4365625"/>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AL</a:t>
            </a:r>
            <a:endParaRPr lang="zh-CN" altLang="zh-CN">
              <a:latin typeface="Times New Roman" panose="02020603050405020304" pitchFamily="18" charset="0"/>
            </a:endParaRPr>
          </a:p>
        </p:txBody>
      </p:sp>
      <p:sp>
        <p:nvSpPr>
          <p:cNvPr id="29" name="AutoShape 28"/>
          <p:cNvSpPr/>
          <p:nvPr/>
        </p:nvSpPr>
        <p:spPr bwMode="auto">
          <a:xfrm>
            <a:off x="5595938" y="2889250"/>
            <a:ext cx="174625" cy="1230313"/>
          </a:xfrm>
          <a:prstGeom prst="leftBrace">
            <a:avLst>
              <a:gd name="adj1" fmla="val 58712"/>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0" name="Line 29"/>
          <p:cNvSpPr>
            <a:spLocks noChangeShapeType="1"/>
          </p:cNvSpPr>
          <p:nvPr/>
        </p:nvSpPr>
        <p:spPr bwMode="auto">
          <a:xfrm>
            <a:off x="4811713" y="3509963"/>
            <a:ext cx="728662" cy="0"/>
          </a:xfrm>
          <a:prstGeom prst="line">
            <a:avLst/>
          </a:prstGeom>
          <a:noFill/>
          <a:ln w="38100" cmpd="sng">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7" presetClass="entr" presetSubtype="8"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ppt_x</p:attrName>
                                        </p:attrNameLst>
                                      </p:cBhvr>
                                      <p:tavLst>
                                        <p:tav tm="0">
                                          <p:val>
                                            <p:strVal val="#ppt_x-#ppt_w/2"/>
                                          </p:val>
                                        </p:tav>
                                        <p:tav tm="100000">
                                          <p:val>
                                            <p:strVal val="#ppt_x"/>
                                          </p:val>
                                        </p:tav>
                                      </p:tavLst>
                                    </p:anim>
                                    <p:anim calcmode="lin" valueType="num">
                                      <p:cBhvr>
                                        <p:cTn id="13" dur="500" fill="hold"/>
                                        <p:tgtEl>
                                          <p:spTgt spid="21"/>
                                        </p:tgtEl>
                                        <p:attrNameLst>
                                          <p:attrName>ppt_y</p:attrName>
                                        </p:attrNameLst>
                                      </p:cBhvr>
                                      <p:tavLst>
                                        <p:tav tm="0">
                                          <p:val>
                                            <p:strVal val="#ppt_y"/>
                                          </p:val>
                                        </p:tav>
                                        <p:tav tm="100000">
                                          <p:val>
                                            <p:strVal val="#ppt_y"/>
                                          </p:val>
                                        </p:tav>
                                      </p:tavLst>
                                    </p:anim>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500" fill="hold"/>
                                        <p:tgtEl>
                                          <p:spTgt spid="29"/>
                                        </p:tgtEl>
                                        <p:attrNameLst>
                                          <p:attrName>ppt_x</p:attrName>
                                        </p:attrNameLst>
                                      </p:cBhvr>
                                      <p:tavLst>
                                        <p:tav tm="0">
                                          <p:val>
                                            <p:strVal val="#ppt_x"/>
                                          </p:val>
                                        </p:tav>
                                        <p:tav tm="100000">
                                          <p:val>
                                            <p:strVal val="#ppt_x"/>
                                          </p:val>
                                        </p:tav>
                                      </p:tavLst>
                                    </p:anim>
                                    <p:anim calcmode="lin" valueType="num">
                                      <p:cBhvr additive="base">
                                        <p:cTn id="21" dur="500" fill="hold"/>
                                        <p:tgtEl>
                                          <p:spTgt spid="29"/>
                                        </p:tgtEl>
                                        <p:attrNameLst>
                                          <p:attrName>ppt_y</p:attrName>
                                        </p:attrNameLst>
                                      </p:cBhvr>
                                      <p:tavLst>
                                        <p:tav tm="0">
                                          <p:val>
                                            <p:strVal val="1+#ppt_h/2"/>
                                          </p:val>
                                        </p:tav>
                                        <p:tav tm="100000">
                                          <p:val>
                                            <p:strVal val="#ppt_y"/>
                                          </p:val>
                                        </p:tav>
                                      </p:tavLst>
                                    </p:anim>
                                  </p:childTnLst>
                                </p:cTn>
                              </p:par>
                            </p:childTnLst>
                          </p:cTn>
                        </p:par>
                        <p:par>
                          <p:cTn id="22" fill="hold">
                            <p:stCondLst>
                              <p:cond delay="500"/>
                            </p:stCondLst>
                            <p:childTnLst>
                              <p:par>
                                <p:cTn id="23" presetID="17" presetClass="entr" presetSubtype="2"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p:cTn id="25" dur="500" fill="hold"/>
                                        <p:tgtEl>
                                          <p:spTgt spid="30"/>
                                        </p:tgtEl>
                                        <p:attrNameLst>
                                          <p:attrName>ppt_x</p:attrName>
                                        </p:attrNameLst>
                                      </p:cBhvr>
                                      <p:tavLst>
                                        <p:tav tm="0">
                                          <p:val>
                                            <p:strVal val="#ppt_x+#ppt_w/2"/>
                                          </p:val>
                                        </p:tav>
                                        <p:tav tm="100000">
                                          <p:val>
                                            <p:strVal val="#ppt_x"/>
                                          </p:val>
                                        </p:tav>
                                      </p:tavLst>
                                    </p:anim>
                                    <p:anim calcmode="lin" valueType="num">
                                      <p:cBhvr>
                                        <p:cTn id="26" dur="500" fill="hold"/>
                                        <p:tgtEl>
                                          <p:spTgt spid="30"/>
                                        </p:tgtEl>
                                        <p:attrNameLst>
                                          <p:attrName>ppt_y</p:attrName>
                                        </p:attrNameLst>
                                      </p:cBhvr>
                                      <p:tavLst>
                                        <p:tav tm="0">
                                          <p:val>
                                            <p:strVal val="#ppt_y"/>
                                          </p:val>
                                        </p:tav>
                                        <p:tav tm="100000">
                                          <p:val>
                                            <p:strVal val="#ppt_y"/>
                                          </p:val>
                                        </p:tav>
                                      </p:tavLst>
                                    </p:anim>
                                    <p:anim calcmode="lin" valueType="num">
                                      <p:cBhvr>
                                        <p:cTn id="27" dur="500" fill="hold"/>
                                        <p:tgtEl>
                                          <p:spTgt spid="30"/>
                                        </p:tgtEl>
                                        <p:attrNameLst>
                                          <p:attrName>ppt_w</p:attrName>
                                        </p:attrNameLst>
                                      </p:cBhvr>
                                      <p:tavLst>
                                        <p:tav tm="0">
                                          <p:val>
                                            <p:fltVal val="0"/>
                                          </p:val>
                                        </p:tav>
                                        <p:tav tm="100000">
                                          <p:val>
                                            <p:strVal val="#ppt_w"/>
                                          </p:val>
                                        </p:tav>
                                      </p:tavLst>
                                    </p:anim>
                                    <p:anim calcmode="lin" valueType="num">
                                      <p:cBhvr>
                                        <p:cTn id="28" dur="500" fill="hold"/>
                                        <p:tgtEl>
                                          <p:spTgt spid="30"/>
                                        </p:tgtEl>
                                        <p:attrNameLst>
                                          <p:attrName>ppt_h</p:attrName>
                                        </p:attrNameLst>
                                      </p:cBhvr>
                                      <p:tavLst>
                                        <p:tav tm="0">
                                          <p:val>
                                            <p:strVal val="#ppt_h"/>
                                          </p:val>
                                        </p:tav>
                                        <p:tav tm="100000">
                                          <p:val>
                                            <p:strVal val="#ppt_h"/>
                                          </p:val>
                                        </p:tav>
                                      </p:tavLst>
                                    </p:anim>
                                  </p:childTnLst>
                                </p:cTn>
                              </p:par>
                            </p:childTnLst>
                          </p:cTn>
                        </p:par>
                        <p:par>
                          <p:cTn id="29" fill="hold">
                            <p:stCondLst>
                              <p:cond delay="1000"/>
                            </p:stCondLst>
                            <p:childTnLst>
                              <p:par>
                                <p:cTn id="30" presetID="2" presetClass="entr" presetSubtype="4"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fill="hold"/>
                                        <p:tgtEl>
                                          <p:spTgt spid="22"/>
                                        </p:tgtEl>
                                        <p:attrNameLst>
                                          <p:attrName>ppt_x</p:attrName>
                                        </p:attrNameLst>
                                      </p:cBhvr>
                                      <p:tavLst>
                                        <p:tav tm="0">
                                          <p:val>
                                            <p:strVal val="#ppt_x"/>
                                          </p:val>
                                        </p:tav>
                                        <p:tav tm="100000">
                                          <p:val>
                                            <p:strVal val="#ppt_x"/>
                                          </p:val>
                                        </p:tav>
                                      </p:tavLst>
                                    </p:anim>
                                    <p:anim calcmode="lin" valueType="num">
                                      <p:cBhvr additive="base">
                                        <p:cTn id="3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ppt_x"/>
                                          </p:val>
                                        </p:tav>
                                        <p:tav tm="100000">
                                          <p:val>
                                            <p:strVal val="#ppt_x"/>
                                          </p:val>
                                        </p:tav>
                                      </p:tavLst>
                                    </p:anim>
                                    <p:anim calcmode="lin" valueType="num">
                                      <p:cBhvr additive="base">
                                        <p:cTn id="39" dur="500" fill="hold"/>
                                        <p:tgtEl>
                                          <p:spTgt spid="23"/>
                                        </p:tgtEl>
                                        <p:attrNameLst>
                                          <p:attrName>ppt_y</p:attrName>
                                        </p:attrNameLst>
                                      </p:cBhvr>
                                      <p:tavLst>
                                        <p:tav tm="0">
                                          <p:val>
                                            <p:strVal val="1+#ppt_h/2"/>
                                          </p:val>
                                        </p:tav>
                                        <p:tav tm="100000">
                                          <p:val>
                                            <p:strVal val="#ppt_y"/>
                                          </p:val>
                                        </p:tav>
                                      </p:tavLst>
                                    </p:anim>
                                  </p:childTnLst>
                                </p:cTn>
                              </p:par>
                            </p:childTnLst>
                          </p:cTn>
                        </p:par>
                        <p:par>
                          <p:cTn id="40" fill="hold">
                            <p:stCondLst>
                              <p:cond delay="500"/>
                            </p:stCondLst>
                            <p:childTnLst>
                              <p:par>
                                <p:cTn id="41" presetID="2" presetClass="entr" presetSubtype="4"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par>
                          <p:cTn id="45" fill="hold">
                            <p:stCondLst>
                              <p:cond delay="1000"/>
                            </p:stCondLst>
                            <p:childTnLst>
                              <p:par>
                                <p:cTn id="46" presetID="2" presetClass="entr" presetSubtype="4"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fill="hold"/>
                                        <p:tgtEl>
                                          <p:spTgt spid="25"/>
                                        </p:tgtEl>
                                        <p:attrNameLst>
                                          <p:attrName>ppt_x</p:attrName>
                                        </p:attrNameLst>
                                      </p:cBhvr>
                                      <p:tavLst>
                                        <p:tav tm="0">
                                          <p:val>
                                            <p:strVal val="#ppt_x"/>
                                          </p:val>
                                        </p:tav>
                                        <p:tav tm="100000">
                                          <p:val>
                                            <p:strVal val="#ppt_x"/>
                                          </p:val>
                                        </p:tav>
                                      </p:tavLst>
                                    </p:anim>
                                    <p:anim calcmode="lin" valueType="num">
                                      <p:cBhvr additive="base">
                                        <p:cTn id="49" dur="500" fill="hold"/>
                                        <p:tgtEl>
                                          <p:spTgt spid="25"/>
                                        </p:tgtEl>
                                        <p:attrNameLst>
                                          <p:attrName>ppt_y</p:attrName>
                                        </p:attrNameLst>
                                      </p:cBhvr>
                                      <p:tavLst>
                                        <p:tav tm="0">
                                          <p:val>
                                            <p:strVal val="1+#ppt_h/2"/>
                                          </p:val>
                                        </p:tav>
                                        <p:tav tm="100000">
                                          <p:val>
                                            <p:strVal val="#ppt_y"/>
                                          </p:val>
                                        </p:tav>
                                      </p:tavLst>
                                    </p:anim>
                                  </p:childTnLst>
                                </p:cTn>
                              </p:par>
                            </p:childTnLst>
                          </p:cTn>
                        </p:par>
                        <p:par>
                          <p:cTn id="50" fill="hold">
                            <p:stCondLst>
                              <p:cond delay="1500"/>
                            </p:stCondLst>
                            <p:childTnLst>
                              <p:par>
                                <p:cTn id="51" presetID="17" presetClass="entr" presetSubtype="8"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p:cTn id="53" dur="500" fill="hold"/>
                                        <p:tgtEl>
                                          <p:spTgt spid="27"/>
                                        </p:tgtEl>
                                        <p:attrNameLst>
                                          <p:attrName>ppt_x</p:attrName>
                                        </p:attrNameLst>
                                      </p:cBhvr>
                                      <p:tavLst>
                                        <p:tav tm="0">
                                          <p:val>
                                            <p:strVal val="#ppt_x-#ppt_w/2"/>
                                          </p:val>
                                        </p:tav>
                                        <p:tav tm="100000">
                                          <p:val>
                                            <p:strVal val="#ppt_x"/>
                                          </p:val>
                                        </p:tav>
                                      </p:tavLst>
                                    </p:anim>
                                    <p:anim calcmode="lin" valueType="num">
                                      <p:cBhvr>
                                        <p:cTn id="54" dur="500" fill="hold"/>
                                        <p:tgtEl>
                                          <p:spTgt spid="27"/>
                                        </p:tgtEl>
                                        <p:attrNameLst>
                                          <p:attrName>ppt_y</p:attrName>
                                        </p:attrNameLst>
                                      </p:cBhvr>
                                      <p:tavLst>
                                        <p:tav tm="0">
                                          <p:val>
                                            <p:strVal val="#ppt_y"/>
                                          </p:val>
                                        </p:tav>
                                        <p:tav tm="100000">
                                          <p:val>
                                            <p:strVal val="#ppt_y"/>
                                          </p:val>
                                        </p:tav>
                                      </p:tavLst>
                                    </p:anim>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7" presetClass="entr" presetSubtype="1"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p:cTn id="61" dur="500" fill="hold"/>
                                        <p:tgtEl>
                                          <p:spTgt spid="26"/>
                                        </p:tgtEl>
                                        <p:attrNameLst>
                                          <p:attrName>ppt_x</p:attrName>
                                        </p:attrNameLst>
                                      </p:cBhvr>
                                      <p:tavLst>
                                        <p:tav tm="0">
                                          <p:val>
                                            <p:strVal val="#ppt_x"/>
                                          </p:val>
                                        </p:tav>
                                        <p:tav tm="100000">
                                          <p:val>
                                            <p:strVal val="#ppt_x"/>
                                          </p:val>
                                        </p:tav>
                                      </p:tavLst>
                                    </p:anim>
                                    <p:anim calcmode="lin" valueType="num">
                                      <p:cBhvr>
                                        <p:cTn id="62" dur="500" fill="hold"/>
                                        <p:tgtEl>
                                          <p:spTgt spid="26"/>
                                        </p:tgtEl>
                                        <p:attrNameLst>
                                          <p:attrName>ppt_y</p:attrName>
                                        </p:attrNameLst>
                                      </p:cBhvr>
                                      <p:tavLst>
                                        <p:tav tm="0">
                                          <p:val>
                                            <p:strVal val="#ppt_y-#ppt_h/2"/>
                                          </p:val>
                                        </p:tav>
                                        <p:tav tm="100000">
                                          <p:val>
                                            <p:strVal val="#ppt_y"/>
                                          </p:val>
                                        </p:tav>
                                      </p:tavLst>
                                    </p:anim>
                                    <p:anim calcmode="lin" valueType="num">
                                      <p:cBhvr>
                                        <p:cTn id="63" dur="500" fill="hold"/>
                                        <p:tgtEl>
                                          <p:spTgt spid="26"/>
                                        </p:tgtEl>
                                        <p:attrNameLst>
                                          <p:attrName>ppt_w</p:attrName>
                                        </p:attrNameLst>
                                      </p:cBhvr>
                                      <p:tavLst>
                                        <p:tav tm="0">
                                          <p:val>
                                            <p:strVal val="#ppt_w"/>
                                          </p:val>
                                        </p:tav>
                                        <p:tav tm="100000">
                                          <p:val>
                                            <p:strVal val="#ppt_w"/>
                                          </p:val>
                                        </p:tav>
                                      </p:tavLst>
                                    </p:anim>
                                    <p:anim calcmode="lin" valueType="num">
                                      <p:cBhvr>
                                        <p:cTn id="64" dur="500" fill="hold"/>
                                        <p:tgtEl>
                                          <p:spTgt spid="26"/>
                                        </p:tgtEl>
                                        <p:attrNameLst>
                                          <p:attrName>ppt_h</p:attrName>
                                        </p:attrNameLst>
                                      </p:cBhvr>
                                      <p:tavLst>
                                        <p:tav tm="0">
                                          <p:val>
                                            <p:fltVal val="0"/>
                                          </p:val>
                                        </p:tav>
                                        <p:tav tm="100000">
                                          <p:val>
                                            <p:strVal val="#ppt_h"/>
                                          </p:val>
                                        </p:tav>
                                      </p:tavLst>
                                    </p:anim>
                                  </p:childTnLst>
                                </p:cTn>
                              </p:par>
                            </p:childTnLst>
                          </p:cTn>
                        </p:par>
                        <p:par>
                          <p:cTn id="65" fill="hold">
                            <p:stCondLst>
                              <p:cond delay="500"/>
                            </p:stCondLst>
                            <p:childTnLst>
                              <p:par>
                                <p:cTn id="66" presetID="2" presetClass="entr" presetSubtype="4" fill="hold" grpId="0" nodeType="afterEffect">
                                  <p:stCondLst>
                                    <p:cond delay="0"/>
                                  </p:stCondLst>
                                  <p:childTnLst>
                                    <p:set>
                                      <p:cBhvr>
                                        <p:cTn id="67" dur="1" fill="hold">
                                          <p:stCondLst>
                                            <p:cond delay="0"/>
                                          </p:stCondLst>
                                        </p:cTn>
                                        <p:tgtEl>
                                          <p:spTgt spid="28"/>
                                        </p:tgtEl>
                                        <p:attrNameLst>
                                          <p:attrName>style.visibility</p:attrName>
                                        </p:attrNameLst>
                                      </p:cBhvr>
                                      <p:to>
                                        <p:strVal val="visible"/>
                                      </p:to>
                                    </p:set>
                                    <p:anim calcmode="lin" valueType="num">
                                      <p:cBhvr additive="base">
                                        <p:cTn id="68" dur="500" fill="hold"/>
                                        <p:tgtEl>
                                          <p:spTgt spid="28"/>
                                        </p:tgtEl>
                                        <p:attrNameLst>
                                          <p:attrName>ppt_x</p:attrName>
                                        </p:attrNameLst>
                                      </p:cBhvr>
                                      <p:tavLst>
                                        <p:tav tm="0">
                                          <p:val>
                                            <p:strVal val="#ppt_x"/>
                                          </p:val>
                                        </p:tav>
                                        <p:tav tm="100000">
                                          <p:val>
                                            <p:strVal val="#ppt_x"/>
                                          </p:val>
                                        </p:tav>
                                      </p:tavLst>
                                    </p:anim>
                                    <p:anim calcmode="lin" valueType="num">
                                      <p:cBhvr additive="base">
                                        <p:cTn id="6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utoUpdateAnimBg="0"/>
      <p:bldP spid="22" grpId="0" autoUpdateAnimBg="0"/>
      <p:bldP spid="23" grpId="0" autoUpdateAnimBg="0"/>
      <p:bldP spid="25" grpId="0" autoUpdateAnimBg="0"/>
      <p:bldP spid="28" grpId="0" autoUpdateAnimBg="0"/>
      <p:bldP spid="29"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PUSH</a:t>
            </a:r>
            <a:r>
              <a:rPr lang="zh-CN" altLang="en-US" dirty="0"/>
              <a:t>入栈指令与</a:t>
            </a:r>
            <a:r>
              <a:rPr lang="en-US" altLang="zh-CN" dirty="0"/>
              <a:t>POP</a:t>
            </a:r>
            <a:r>
              <a:rPr lang="zh-CN" altLang="en-US" dirty="0"/>
              <a:t>出栈指令</a:t>
            </a:r>
            <a:endParaRPr lang="zh-CN" altLang="en-US" dirty="0"/>
          </a:p>
        </p:txBody>
      </p:sp>
      <p:sp>
        <p:nvSpPr>
          <p:cNvPr id="3" name="内容占位符 2"/>
          <p:cNvSpPr>
            <a:spLocks noGrp="1"/>
          </p:cNvSpPr>
          <p:nvPr>
            <p:ph idx="1"/>
          </p:nvPr>
        </p:nvSpPr>
        <p:spPr/>
        <p:txBody>
          <a:bodyPr/>
          <a:lstStyle/>
          <a:p>
            <a:r>
              <a:rPr lang="zh-CN" altLang="en-US" dirty="0"/>
              <a:t>堆栈是一个“后进先出</a:t>
            </a:r>
            <a:r>
              <a:rPr lang="en-US" altLang="zh-CN" dirty="0"/>
              <a:t>LIFO”</a:t>
            </a:r>
            <a:r>
              <a:rPr lang="zh-CN" altLang="en-US" dirty="0"/>
              <a:t>（或“先进后出</a:t>
            </a:r>
            <a:r>
              <a:rPr lang="en-US" altLang="zh-CN" dirty="0"/>
              <a:t>FILO”</a:t>
            </a:r>
            <a:r>
              <a:rPr lang="zh-CN" altLang="en-US" dirty="0"/>
              <a:t>）的主存区域，位于堆栈段中；</a:t>
            </a:r>
            <a:r>
              <a:rPr lang="en-US" altLang="zh-CN" dirty="0"/>
              <a:t>SS</a:t>
            </a:r>
            <a:r>
              <a:rPr lang="zh-CN" altLang="en-US" dirty="0"/>
              <a:t>段寄存器记录其段基址。</a:t>
            </a:r>
            <a:endParaRPr lang="zh-CN" altLang="en-US" dirty="0"/>
          </a:p>
          <a:p>
            <a:r>
              <a:rPr lang="zh-CN" altLang="en-US" dirty="0"/>
              <a:t>栈顶：堆栈的存取操作都发生在栈顶，用</a:t>
            </a:r>
            <a:r>
              <a:rPr lang="en-US" altLang="zh-CN" dirty="0"/>
              <a:t>SP</a:t>
            </a:r>
            <a:r>
              <a:rPr lang="zh-CN" altLang="en-US" dirty="0"/>
              <a:t>指定。</a:t>
            </a:r>
            <a:endParaRPr lang="zh-CN" altLang="en-US" dirty="0"/>
          </a:p>
          <a:p>
            <a:r>
              <a:rPr lang="zh-CN" altLang="en-US" dirty="0"/>
              <a:t>堆栈的指令包括：</a:t>
            </a:r>
            <a:endParaRPr lang="en-US" altLang="zh-CN" dirty="0"/>
          </a:p>
          <a:p>
            <a:pPr lvl="1"/>
            <a:r>
              <a:rPr lang="en-US" altLang="zh-CN" dirty="0"/>
              <a:t>PUSH</a:t>
            </a:r>
            <a:endParaRPr lang="en-US" altLang="zh-CN" dirty="0"/>
          </a:p>
          <a:p>
            <a:pPr lvl="1"/>
            <a:r>
              <a:rPr lang="en-US" altLang="zh-CN" dirty="0"/>
              <a:t>POP</a:t>
            </a: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入栈指令</a:t>
            </a:r>
            <a:r>
              <a:rPr lang="en-US" altLang="zh-CN" dirty="0"/>
              <a:t>PUSH</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en-US" dirty="0">
                <a:latin typeface="Times New Roman" panose="02020603050405020304" pitchFamily="18" charset="0"/>
              </a:rPr>
              <a:t>格式：</a:t>
            </a:r>
            <a:r>
              <a:rPr lang="en-US" altLang="zh-CN" dirty="0">
                <a:latin typeface="Times New Roman" panose="02020603050405020304" pitchFamily="18" charset="0"/>
              </a:rPr>
              <a:t>PUSH  OPS</a:t>
            </a:r>
            <a:endParaRPr lang="en-US" altLang="zh-CN" dirty="0">
              <a:latin typeface="Times New Roman" panose="02020603050405020304" pitchFamily="18" charset="0"/>
            </a:endParaRPr>
          </a:p>
          <a:p>
            <a:pPr>
              <a:buFont typeface="Wingdings" panose="05000000000000000000" pitchFamily="2" charset="2"/>
              <a:buChar char="Ø"/>
            </a:pPr>
            <a:r>
              <a:rPr lang="zh-CN" altLang="en-US" dirty="0">
                <a:latin typeface="Times New Roman" panose="02020603050405020304" pitchFamily="18" charset="0"/>
              </a:rPr>
              <a:t>功能：修改指针：</a:t>
            </a:r>
            <a:r>
              <a:rPr lang="en-US" altLang="zh-CN" dirty="0">
                <a:latin typeface="Times New Roman" panose="02020603050405020304" pitchFamily="18" charset="0"/>
              </a:rPr>
              <a:t>(SP)-2→SP</a:t>
            </a:r>
            <a:r>
              <a:rPr lang="zh-CN" altLang="en-US" dirty="0">
                <a:latin typeface="Times New Roman" panose="02020603050405020304" pitchFamily="18" charset="0"/>
              </a:rPr>
              <a:t>；将</a:t>
            </a:r>
            <a:r>
              <a:rPr lang="en-US" altLang="zh-CN" dirty="0">
                <a:latin typeface="Times New Roman" panose="02020603050405020304" pitchFamily="18" charset="0"/>
              </a:rPr>
              <a:t>OPS</a:t>
            </a:r>
            <a:r>
              <a:rPr lang="zh-CN" altLang="en-US" dirty="0">
                <a:latin typeface="Times New Roman" panose="02020603050405020304" pitchFamily="18" charset="0"/>
              </a:rPr>
              <a:t>指定的寄存器、段寄存器或存储器中的一个字数据压入堆栈的顶部。</a:t>
            </a:r>
            <a:endParaRPr lang="zh-CN" altLang="en-US" dirty="0">
              <a:latin typeface="Times New Roman" panose="02020603050405020304" pitchFamily="18" charset="0"/>
            </a:endParaRPr>
          </a:p>
          <a:p>
            <a:pPr>
              <a:buFont typeface="Wingdings" panose="05000000000000000000" pitchFamily="2" charset="2"/>
              <a:buChar char="Ø"/>
            </a:pPr>
            <a:r>
              <a:rPr lang="en-US" altLang="zh-CN" dirty="0">
                <a:latin typeface="Times New Roman" panose="02020603050405020304" pitchFamily="18" charset="0"/>
              </a:rPr>
              <a:t>PUSH</a:t>
            </a:r>
            <a:r>
              <a:rPr lang="zh-CN" altLang="en-US" dirty="0">
                <a:latin typeface="Times New Roman" panose="02020603050405020304" pitchFamily="18" charset="0"/>
              </a:rPr>
              <a:t>指令在使用时应该注意：</a:t>
            </a:r>
            <a:endParaRPr lang="en-US" altLang="zh-CN" dirty="0">
              <a:latin typeface="Times New Roman" panose="02020603050405020304" pitchFamily="18" charset="0"/>
            </a:endParaRPr>
          </a:p>
          <a:p>
            <a:pPr lvl="1"/>
            <a:r>
              <a:rPr lang="zh-CN" altLang="en-US" dirty="0">
                <a:latin typeface="Times New Roman" panose="02020603050405020304" pitchFamily="18" charset="0"/>
              </a:rPr>
              <a:t>源操作数只能是</a:t>
            </a:r>
            <a:r>
              <a:rPr lang="en-US" altLang="zh-CN" dirty="0">
                <a:latin typeface="Times New Roman" panose="02020603050405020304" pitchFamily="18" charset="0"/>
              </a:rPr>
              <a:t>16</a:t>
            </a:r>
            <a:r>
              <a:rPr lang="zh-CN" altLang="en-US" dirty="0">
                <a:latin typeface="Times New Roman" panose="02020603050405020304" pitchFamily="18" charset="0"/>
              </a:rPr>
              <a:t>位，而不能是</a:t>
            </a:r>
            <a:r>
              <a:rPr lang="en-US" altLang="zh-CN" dirty="0">
                <a:latin typeface="Times New Roman" panose="02020603050405020304" pitchFamily="18" charset="0"/>
              </a:rPr>
              <a:t>8</a:t>
            </a:r>
            <a:r>
              <a:rPr lang="zh-CN" altLang="en-US" dirty="0">
                <a:latin typeface="Times New Roman" panose="02020603050405020304" pitchFamily="18" charset="0"/>
              </a:rPr>
              <a:t>位的。</a:t>
            </a:r>
            <a:endParaRPr lang="en-US" altLang="zh-CN" dirty="0">
              <a:latin typeface="Times New Roman" panose="02020603050405020304" pitchFamily="18" charset="0"/>
            </a:endParaRPr>
          </a:p>
          <a:p>
            <a:pPr lvl="1"/>
            <a:r>
              <a:rPr lang="zh-CN" altLang="en-US" dirty="0">
                <a:latin typeface="Times New Roman" panose="02020603050405020304" pitchFamily="18" charset="0"/>
              </a:rPr>
              <a:t>源操作数不能为立即数。 </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749300" y="847725"/>
            <a:ext cx="10515600" cy="1325563"/>
          </a:xfrm>
        </p:spPr>
        <p:txBody>
          <a:bodyPr/>
          <a:lstStyle/>
          <a:p>
            <a:pPr marL="0" indent="0" algn="l">
              <a:buFont typeface="Wingdings" panose="05000000000000000000" pitchFamily="2" charset="2"/>
              <a:buNone/>
            </a:pPr>
            <a:r>
              <a:rPr lang="zh-CN" altLang="zh-CN" b="0" dirty="0">
                <a:latin typeface="Times New Roman" panose="02020603050405020304" pitchFamily="18" charset="0"/>
                <a:ea typeface="楷体_GB2312" pitchFamily="1" charset="-122"/>
              </a:rPr>
              <a:t>例：假设在指令执行前，(SP)=1000H；(AX)= 1234H。试分析PUSH  AX指令的执行结果。</a:t>
            </a:r>
            <a:endParaRPr lang="zh-CN" altLang="zh-CN" dirty="0"/>
          </a:p>
        </p:txBody>
      </p:sp>
      <p:sp>
        <p:nvSpPr>
          <p:cNvPr id="5" name="AutoShape 4"/>
          <p:cNvSpPr/>
          <p:nvPr/>
        </p:nvSpPr>
        <p:spPr bwMode="auto">
          <a:xfrm>
            <a:off x="7448550" y="4019550"/>
            <a:ext cx="230188" cy="468313"/>
          </a:xfrm>
          <a:prstGeom prst="rightBrace">
            <a:avLst>
              <a:gd name="adj1" fmla="val 1695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6" name="Text Box 5"/>
          <p:cNvSpPr txBox="1">
            <a:spLocks noChangeArrowheads="1"/>
          </p:cNvSpPr>
          <p:nvPr/>
        </p:nvSpPr>
        <p:spPr bwMode="auto">
          <a:xfrm>
            <a:off x="3749675" y="4633913"/>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7" name="Line 6"/>
          <p:cNvSpPr>
            <a:spLocks noChangeShapeType="1"/>
          </p:cNvSpPr>
          <p:nvPr/>
        </p:nvSpPr>
        <p:spPr bwMode="auto">
          <a:xfrm>
            <a:off x="4425950" y="4862513"/>
            <a:ext cx="957263"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8" name="Group 7"/>
          <p:cNvGrpSpPr/>
          <p:nvPr/>
        </p:nvGrpSpPr>
        <p:grpSpPr bwMode="auto">
          <a:xfrm>
            <a:off x="5300663" y="2416175"/>
            <a:ext cx="2166937" cy="3581400"/>
            <a:chOff x="0" y="0"/>
            <a:chExt cx="1365" cy="2256"/>
          </a:xfrm>
        </p:grpSpPr>
        <p:sp>
          <p:nvSpPr>
            <p:cNvPr id="9" name="Rectangle 8"/>
            <p:cNvSpPr>
              <a:spLocks noChangeArrowheads="1"/>
            </p:cNvSpPr>
            <p:nvPr/>
          </p:nvSpPr>
          <p:spPr bwMode="auto">
            <a:xfrm>
              <a:off x="668" y="427"/>
              <a:ext cx="665" cy="1427"/>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 name="Line 9"/>
            <p:cNvSpPr>
              <a:spLocks noChangeShapeType="1"/>
            </p:cNvSpPr>
            <p:nvPr/>
          </p:nvSpPr>
          <p:spPr bwMode="auto">
            <a:xfrm>
              <a:off x="667" y="65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670" y="90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670" y="116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p:cNvSpPr>
              <a:spLocks noChangeShapeType="1"/>
            </p:cNvSpPr>
            <p:nvPr/>
          </p:nvSpPr>
          <p:spPr bwMode="auto">
            <a:xfrm>
              <a:off x="677" y="162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p:cNvSpPr>
              <a:spLocks noChangeShapeType="1"/>
            </p:cNvSpPr>
            <p:nvPr/>
          </p:nvSpPr>
          <p:spPr bwMode="auto">
            <a:xfrm>
              <a:off x="677" y="140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4"/>
            <p:cNvSpPr txBox="1">
              <a:spLocks noChangeArrowheads="1"/>
            </p:cNvSpPr>
            <p:nvPr/>
          </p:nvSpPr>
          <p:spPr bwMode="auto">
            <a:xfrm>
              <a:off x="626" y="0"/>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堆栈段</a:t>
              </a:r>
              <a:endParaRPr lang="zh-CN" altLang="zh-CN">
                <a:solidFill>
                  <a:srgbClr val="FF0066"/>
                </a:solidFill>
                <a:latin typeface="Times New Roman" panose="02020603050405020304" pitchFamily="18" charset="0"/>
              </a:endParaRPr>
            </a:p>
          </p:txBody>
        </p:sp>
        <p:sp>
          <p:nvSpPr>
            <p:cNvPr id="16" name="Text Box 15"/>
            <p:cNvSpPr txBox="1">
              <a:spLocks noChangeArrowheads="1"/>
            </p:cNvSpPr>
            <p:nvPr/>
          </p:nvSpPr>
          <p:spPr bwMode="auto">
            <a:xfrm>
              <a:off x="631" y="1968"/>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sp>
          <p:nvSpPr>
            <p:cNvPr id="17" name="Line 16"/>
            <p:cNvSpPr>
              <a:spLocks noChangeShapeType="1"/>
            </p:cNvSpPr>
            <p:nvPr/>
          </p:nvSpPr>
          <p:spPr bwMode="auto">
            <a:xfrm flipV="1">
              <a:off x="668"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flipV="1">
              <a:off x="1333"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667" y="1846"/>
              <a:ext cx="0" cy="14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p:cNvSpPr>
              <a:spLocks noChangeShapeType="1"/>
            </p:cNvSpPr>
            <p:nvPr/>
          </p:nvSpPr>
          <p:spPr bwMode="auto">
            <a:xfrm>
              <a:off x="1333" y="1846"/>
              <a:ext cx="0" cy="13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p:cNvSpPr txBox="1">
              <a:spLocks noChangeArrowheads="1"/>
            </p:cNvSpPr>
            <p:nvPr/>
          </p:nvSpPr>
          <p:spPr bwMode="auto">
            <a:xfrm>
              <a:off x="21" y="1395"/>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1000H</a:t>
              </a:r>
              <a:endParaRPr lang="zh-CN" altLang="zh-CN">
                <a:latin typeface="Times New Roman" panose="02020603050405020304" pitchFamily="18" charset="0"/>
              </a:endParaRPr>
            </a:p>
          </p:txBody>
        </p:sp>
        <p:sp>
          <p:nvSpPr>
            <p:cNvPr id="22" name="Text Box 21"/>
            <p:cNvSpPr txBox="1">
              <a:spLocks noChangeArrowheads="1"/>
            </p:cNvSpPr>
            <p:nvPr/>
          </p:nvSpPr>
          <p:spPr bwMode="auto">
            <a:xfrm>
              <a:off x="0" y="116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0FFFH</a:t>
              </a:r>
              <a:endParaRPr lang="zh-CN" altLang="zh-CN">
                <a:latin typeface="Times New Roman" panose="02020603050405020304" pitchFamily="18" charset="0"/>
              </a:endParaRPr>
            </a:p>
          </p:txBody>
        </p:sp>
        <p:sp>
          <p:nvSpPr>
            <p:cNvPr id="23" name="Text Box 22"/>
            <p:cNvSpPr txBox="1">
              <a:spLocks noChangeArrowheads="1"/>
            </p:cNvSpPr>
            <p:nvPr/>
          </p:nvSpPr>
          <p:spPr bwMode="auto">
            <a:xfrm>
              <a:off x="0" y="913"/>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0FFEH</a:t>
              </a:r>
              <a:endParaRPr lang="zh-CN" altLang="zh-CN">
                <a:latin typeface="Times New Roman" panose="02020603050405020304" pitchFamily="18" charset="0"/>
              </a:endParaRPr>
            </a:p>
          </p:txBody>
        </p:sp>
      </p:grpSp>
      <p:sp>
        <p:nvSpPr>
          <p:cNvPr id="24" name="Text Box 23"/>
          <p:cNvSpPr txBox="1">
            <a:spLocks noChangeArrowheads="1"/>
          </p:cNvSpPr>
          <p:nvPr/>
        </p:nvSpPr>
        <p:spPr bwMode="auto">
          <a:xfrm>
            <a:off x="3779838" y="3913188"/>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25" name="Line 24"/>
          <p:cNvSpPr>
            <a:spLocks noChangeShapeType="1"/>
          </p:cNvSpPr>
          <p:nvPr/>
        </p:nvSpPr>
        <p:spPr bwMode="auto">
          <a:xfrm>
            <a:off x="4392613" y="4130675"/>
            <a:ext cx="957262" cy="0"/>
          </a:xfrm>
          <a:prstGeom prst="line">
            <a:avLst/>
          </a:prstGeom>
          <a:noFill/>
          <a:ln w="38100" cmpd="sng">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p:cNvSpPr txBox="1">
            <a:spLocks noChangeArrowheads="1"/>
          </p:cNvSpPr>
          <p:nvPr/>
        </p:nvSpPr>
        <p:spPr bwMode="auto">
          <a:xfrm>
            <a:off x="8764588" y="4030663"/>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AX</a:t>
            </a:r>
            <a:endParaRPr lang="zh-CN" altLang="zh-CN">
              <a:latin typeface="Times New Roman" panose="02020603050405020304" pitchFamily="18" charset="0"/>
            </a:endParaRPr>
          </a:p>
        </p:txBody>
      </p:sp>
      <p:sp>
        <p:nvSpPr>
          <p:cNvPr id="27" name="Line 26"/>
          <p:cNvSpPr>
            <a:spLocks noChangeShapeType="1"/>
          </p:cNvSpPr>
          <p:nvPr/>
        </p:nvSpPr>
        <p:spPr bwMode="auto">
          <a:xfrm>
            <a:off x="7743825" y="4270375"/>
            <a:ext cx="957263" cy="0"/>
          </a:xfrm>
          <a:prstGeom prst="line">
            <a:avLst/>
          </a:prstGeom>
          <a:noFill/>
          <a:ln w="38100" cmpd="sng">
            <a:solidFill>
              <a:schemeClr val="folHlink"/>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27"/>
          <p:cNvSpPr txBox="1">
            <a:spLocks noChangeArrowheads="1"/>
          </p:cNvSpPr>
          <p:nvPr/>
        </p:nvSpPr>
        <p:spPr bwMode="auto">
          <a:xfrm>
            <a:off x="4570413" y="3679825"/>
            <a:ext cx="47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rPr>
              <a:t>①</a:t>
            </a:r>
            <a:endParaRPr lang="zh-CN" altLang="zh-CN" b="1">
              <a:solidFill>
                <a:schemeClr val="hlink"/>
              </a:solidFill>
            </a:endParaRPr>
          </a:p>
        </p:txBody>
      </p:sp>
      <p:sp>
        <p:nvSpPr>
          <p:cNvPr id="29" name="Text Box 28"/>
          <p:cNvSpPr txBox="1">
            <a:spLocks noChangeArrowheads="1"/>
          </p:cNvSpPr>
          <p:nvPr/>
        </p:nvSpPr>
        <p:spPr bwMode="auto">
          <a:xfrm>
            <a:off x="8074025" y="3800475"/>
            <a:ext cx="477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folHlink"/>
                </a:solidFill>
              </a:rPr>
              <a:t>②</a:t>
            </a:r>
            <a:endParaRPr lang="zh-CN" altLang="zh-CN" b="1">
              <a:solidFill>
                <a:schemeClr val="folHlink"/>
              </a:solidFill>
            </a:endParaRPr>
          </a:p>
        </p:txBody>
      </p:sp>
      <p:sp>
        <p:nvSpPr>
          <p:cNvPr id="30" name="Text Box 29"/>
          <p:cNvSpPr txBox="1">
            <a:spLocks noChangeArrowheads="1"/>
          </p:cNvSpPr>
          <p:nvPr/>
        </p:nvSpPr>
        <p:spPr bwMode="auto">
          <a:xfrm>
            <a:off x="6469063" y="4256088"/>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31" name="Text Box 30"/>
          <p:cNvSpPr txBox="1">
            <a:spLocks noChangeArrowheads="1"/>
          </p:cNvSpPr>
          <p:nvPr/>
        </p:nvSpPr>
        <p:spPr bwMode="auto">
          <a:xfrm>
            <a:off x="6486525" y="3836988"/>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 presetClass="exit" presetSubtype="0" fill="hold" nodeType="afterEffect">
                                  <p:stCondLst>
                                    <p:cond delay="0"/>
                                  </p:stCondLst>
                                  <p:childTnLst>
                                    <p:set>
                                      <p:cBhvr>
                                        <p:cTn id="9" dur="1" fill="hold">
                                          <p:stCondLst>
                                            <p:cond delay="0"/>
                                          </p:stCondLst>
                                        </p:cTn>
                                        <p:tgtEl>
                                          <p:spTgt spid="7"/>
                                        </p:tgtEl>
                                        <p:attrNameLst>
                                          <p:attrName>style.visibility</p:attrName>
                                        </p:attrNameLst>
                                      </p:cBhvr>
                                      <p:to>
                                        <p:strVal val="hidden"/>
                                      </p:to>
                                    </p:set>
                                  </p:childTnLst>
                                </p:cTn>
                              </p:par>
                            </p:childTnLst>
                          </p:cTn>
                        </p:par>
                        <p:par>
                          <p:cTn id="10" fill="hold">
                            <p:stCondLst>
                              <p:cond delay="0"/>
                            </p:stCondLst>
                            <p:childTnLst>
                              <p:par>
                                <p:cTn id="11" presetID="2" presetClass="entr" presetSubtype="4"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17"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p:cTn id="23" dur="500" fill="hold"/>
                                        <p:tgtEl>
                                          <p:spTgt spid="25"/>
                                        </p:tgtEl>
                                        <p:attrNameLst>
                                          <p:attrName>ppt_x</p:attrName>
                                        </p:attrNameLst>
                                      </p:cBhvr>
                                      <p:tavLst>
                                        <p:tav tm="0">
                                          <p:val>
                                            <p:strVal val="#ppt_x-#ppt_w/2"/>
                                          </p:val>
                                        </p:tav>
                                        <p:tav tm="100000">
                                          <p:val>
                                            <p:strVal val="#ppt_x"/>
                                          </p:val>
                                        </p:tav>
                                      </p:tavLst>
                                    </p:anim>
                                    <p:anim calcmode="lin" valueType="num">
                                      <p:cBhvr>
                                        <p:cTn id="24" dur="500" fill="hold"/>
                                        <p:tgtEl>
                                          <p:spTgt spid="25"/>
                                        </p:tgtEl>
                                        <p:attrNameLst>
                                          <p:attrName>ppt_y</p:attrName>
                                        </p:attrNameLst>
                                      </p:cBhvr>
                                      <p:tavLst>
                                        <p:tav tm="0">
                                          <p:val>
                                            <p:strVal val="#ppt_y"/>
                                          </p:val>
                                        </p:tav>
                                        <p:tav tm="100000">
                                          <p:val>
                                            <p:strVal val="#ppt_y"/>
                                          </p:val>
                                        </p:tav>
                                      </p:tavLst>
                                    </p:anim>
                                    <p:anim calcmode="lin" valueType="num">
                                      <p:cBhvr>
                                        <p:cTn id="25" dur="500" fill="hold"/>
                                        <p:tgtEl>
                                          <p:spTgt spid="25"/>
                                        </p:tgtEl>
                                        <p:attrNameLst>
                                          <p:attrName>ppt_w</p:attrName>
                                        </p:attrNameLst>
                                      </p:cBhvr>
                                      <p:tavLst>
                                        <p:tav tm="0">
                                          <p:val>
                                            <p:fltVal val="0"/>
                                          </p:val>
                                        </p:tav>
                                        <p:tav tm="100000">
                                          <p:val>
                                            <p:strVal val="#ppt_w"/>
                                          </p:val>
                                        </p:tav>
                                      </p:tavLst>
                                    </p:anim>
                                    <p:anim calcmode="lin" valueType="num">
                                      <p:cBhvr>
                                        <p:cTn id="26"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 calcmode="lin" valueType="num">
                                      <p:cBhvr additive="base">
                                        <p:cTn id="36" dur="500" fill="hold"/>
                                        <p:tgtEl>
                                          <p:spTgt spid="26"/>
                                        </p:tgtEl>
                                        <p:attrNameLst>
                                          <p:attrName>ppt_x</p:attrName>
                                        </p:attrNameLst>
                                      </p:cBhvr>
                                      <p:tavLst>
                                        <p:tav tm="0">
                                          <p:val>
                                            <p:strVal val="#ppt_x"/>
                                          </p:val>
                                        </p:tav>
                                        <p:tav tm="100000">
                                          <p:val>
                                            <p:strVal val="#ppt_x"/>
                                          </p:val>
                                        </p:tav>
                                      </p:tavLst>
                                    </p:anim>
                                    <p:anim calcmode="lin" valueType="num">
                                      <p:cBhvr additive="base">
                                        <p:cTn id="37" dur="500" fill="hold"/>
                                        <p:tgtEl>
                                          <p:spTgt spid="26"/>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ID="17" presetClass="entr" presetSubtype="2" fill="hold" nodeType="after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500" fill="hold"/>
                                        <p:tgtEl>
                                          <p:spTgt spid="27"/>
                                        </p:tgtEl>
                                        <p:attrNameLst>
                                          <p:attrName>ppt_x</p:attrName>
                                        </p:attrNameLst>
                                      </p:cBhvr>
                                      <p:tavLst>
                                        <p:tav tm="0">
                                          <p:val>
                                            <p:strVal val="#ppt_x+#ppt_w/2"/>
                                          </p:val>
                                        </p:tav>
                                        <p:tav tm="100000">
                                          <p:val>
                                            <p:strVal val="#ppt_x"/>
                                          </p:val>
                                        </p:tav>
                                      </p:tavLst>
                                    </p:anim>
                                    <p:anim calcmode="lin" valueType="num">
                                      <p:cBhvr>
                                        <p:cTn id="42" dur="500" fill="hold"/>
                                        <p:tgtEl>
                                          <p:spTgt spid="27"/>
                                        </p:tgtEl>
                                        <p:attrNameLst>
                                          <p:attrName>ppt_y</p:attrName>
                                        </p:attrNameLst>
                                      </p:cBhvr>
                                      <p:tavLst>
                                        <p:tav tm="0">
                                          <p:val>
                                            <p:strVal val="#ppt_y"/>
                                          </p:val>
                                        </p:tav>
                                        <p:tav tm="100000">
                                          <p:val>
                                            <p:strVal val="#ppt_y"/>
                                          </p:val>
                                        </p:tav>
                                      </p:tavLst>
                                    </p:anim>
                                    <p:anim calcmode="lin" valueType="num">
                                      <p:cBhvr>
                                        <p:cTn id="43" dur="500" fill="hold"/>
                                        <p:tgtEl>
                                          <p:spTgt spid="27"/>
                                        </p:tgtEl>
                                        <p:attrNameLst>
                                          <p:attrName>ppt_w</p:attrName>
                                        </p:attrNameLst>
                                      </p:cBhvr>
                                      <p:tavLst>
                                        <p:tav tm="0">
                                          <p:val>
                                            <p:fltVal val="0"/>
                                          </p:val>
                                        </p:tav>
                                        <p:tav tm="100000">
                                          <p:val>
                                            <p:strVal val="#ppt_w"/>
                                          </p:val>
                                        </p:tav>
                                      </p:tavLst>
                                    </p:anim>
                                    <p:anim calcmode="lin" valueType="num">
                                      <p:cBhvr>
                                        <p:cTn id="44" dur="500" fill="hold"/>
                                        <p:tgtEl>
                                          <p:spTgt spid="27"/>
                                        </p:tgtEl>
                                        <p:attrNameLst>
                                          <p:attrName>ppt_h</p:attrName>
                                        </p:attrNameLst>
                                      </p:cBhvr>
                                      <p:tavLst>
                                        <p:tav tm="0">
                                          <p:val>
                                            <p:strVal val="#ppt_h"/>
                                          </p:val>
                                        </p:tav>
                                        <p:tav tm="100000">
                                          <p:val>
                                            <p:strVal val="#ppt_h"/>
                                          </p:val>
                                        </p:tav>
                                      </p:tavLst>
                                    </p:anim>
                                  </p:childTnLst>
                                </p:cTn>
                              </p:par>
                            </p:childTnLst>
                          </p:cTn>
                        </p:par>
                        <p:par>
                          <p:cTn id="45" fill="hold">
                            <p:stCondLst>
                              <p:cond delay="1500"/>
                            </p:stCondLst>
                            <p:childTnLst>
                              <p:par>
                                <p:cTn id="46" presetID="2" presetClass="entr" presetSubtype="4" fill="hold" grpId="0"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additive="base">
                                        <p:cTn id="48" dur="500" fill="hold"/>
                                        <p:tgtEl>
                                          <p:spTgt spid="5"/>
                                        </p:tgtEl>
                                        <p:attrNameLst>
                                          <p:attrName>ppt_x</p:attrName>
                                        </p:attrNameLst>
                                      </p:cBhvr>
                                      <p:tavLst>
                                        <p:tav tm="0">
                                          <p:val>
                                            <p:strVal val="#ppt_x"/>
                                          </p:val>
                                        </p:tav>
                                        <p:tav tm="100000">
                                          <p:val>
                                            <p:strVal val="#ppt_x"/>
                                          </p:val>
                                        </p:tav>
                                      </p:tavLst>
                                    </p:anim>
                                    <p:anim calcmode="lin" valueType="num">
                                      <p:cBhvr additive="base">
                                        <p:cTn id="49" dur="500" fill="hold"/>
                                        <p:tgtEl>
                                          <p:spTgt spid="5"/>
                                        </p:tgtEl>
                                        <p:attrNameLst>
                                          <p:attrName>ppt_y</p:attrName>
                                        </p:attrNameLst>
                                      </p:cBhvr>
                                      <p:tavLst>
                                        <p:tav tm="0">
                                          <p:val>
                                            <p:strVal val="1+#ppt_h/2"/>
                                          </p:val>
                                        </p:tav>
                                        <p:tav tm="100000">
                                          <p:val>
                                            <p:strVal val="#ppt_y"/>
                                          </p:val>
                                        </p:tav>
                                      </p:tavLst>
                                    </p:anim>
                                  </p:childTnLst>
                                </p:cTn>
                              </p:par>
                            </p:childTnLst>
                          </p:cTn>
                        </p:par>
                        <p:par>
                          <p:cTn id="50" fill="hold">
                            <p:stCondLst>
                              <p:cond delay="2000"/>
                            </p:stCondLst>
                            <p:childTnLst>
                              <p:par>
                                <p:cTn id="51" presetID="2" presetClass="entr" presetSubtype="4"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additive="base">
                                        <p:cTn id="53" dur="500" fill="hold"/>
                                        <p:tgtEl>
                                          <p:spTgt spid="30"/>
                                        </p:tgtEl>
                                        <p:attrNameLst>
                                          <p:attrName>ppt_x</p:attrName>
                                        </p:attrNameLst>
                                      </p:cBhvr>
                                      <p:tavLst>
                                        <p:tav tm="0">
                                          <p:val>
                                            <p:strVal val="#ppt_x"/>
                                          </p:val>
                                        </p:tav>
                                        <p:tav tm="100000">
                                          <p:val>
                                            <p:strVal val="#ppt_x"/>
                                          </p:val>
                                        </p:tav>
                                      </p:tavLst>
                                    </p:anim>
                                    <p:anim calcmode="lin" valueType="num">
                                      <p:cBhvr additive="base">
                                        <p:cTn id="54" dur="500" fill="hold"/>
                                        <p:tgtEl>
                                          <p:spTgt spid="3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utoUpdateAnimBg="0"/>
      <p:bldP spid="24" grpId="0" autoUpdateAnimBg="0"/>
      <p:bldP spid="26" grpId="0" autoUpdateAnimBg="0"/>
      <p:bldP spid="28" grpId="0" autoUpdateAnimBg="0"/>
      <p:bldP spid="29" grpId="0" autoUpdateAnimBg="0"/>
      <p:bldP spid="30" grpId="0" autoUpdateAnimBg="0"/>
      <p:bldP spid="3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出栈指令</a:t>
            </a:r>
            <a:r>
              <a:rPr lang="en-US" altLang="zh-CN" dirty="0"/>
              <a:t>POP</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POP OPD</a:t>
            </a:r>
            <a:endParaRPr lang="en-US" altLang="zh-CN" dirty="0"/>
          </a:p>
          <a:p>
            <a:r>
              <a:rPr lang="zh-CN" altLang="en-US" dirty="0"/>
              <a:t>功能：将栈顶的一个字数据送至</a:t>
            </a:r>
            <a:r>
              <a:rPr lang="en-US" altLang="zh-CN" dirty="0"/>
              <a:t>OPD</a:t>
            </a:r>
            <a:r>
              <a:rPr lang="zh-CN" altLang="en-US" dirty="0"/>
              <a:t>指明的寄存器、段寄存器</a:t>
            </a:r>
            <a:r>
              <a:rPr lang="en-US" altLang="zh-CN" dirty="0"/>
              <a:t>(CS</a:t>
            </a:r>
            <a:r>
              <a:rPr lang="zh-CN" altLang="en-US" dirty="0"/>
              <a:t>除外</a:t>
            </a:r>
            <a:r>
              <a:rPr lang="en-US" altLang="zh-CN" dirty="0"/>
              <a:t>)</a:t>
            </a:r>
            <a:r>
              <a:rPr lang="zh-CN" altLang="en-US" dirty="0"/>
              <a:t>或存储器中；修改指针：</a:t>
            </a:r>
            <a:r>
              <a:rPr lang="en-US" altLang="zh-CN" dirty="0"/>
              <a:t>(SP)+2→SP</a:t>
            </a:r>
            <a:r>
              <a:rPr lang="zh-CN" altLang="en-US" dirty="0"/>
              <a:t>。</a:t>
            </a:r>
            <a:endParaRPr lang="zh-CN" altLang="en-US" dirty="0"/>
          </a:p>
          <a:p>
            <a:r>
              <a:rPr lang="en-US" altLang="zh-CN" dirty="0"/>
              <a:t>POP</a:t>
            </a:r>
            <a:r>
              <a:rPr lang="zh-CN" altLang="en-US" dirty="0"/>
              <a:t>指令在使用时应该注意：</a:t>
            </a:r>
            <a:endParaRPr lang="en-US" altLang="zh-CN" dirty="0"/>
          </a:p>
          <a:p>
            <a:pPr lvl="1"/>
            <a:r>
              <a:rPr lang="zh-CN" altLang="en-US" dirty="0"/>
              <a:t>目的操作数只能是</a:t>
            </a:r>
            <a:r>
              <a:rPr lang="en-US" altLang="zh-CN" dirty="0"/>
              <a:t>16</a:t>
            </a:r>
            <a:r>
              <a:rPr lang="zh-CN" altLang="en-US" dirty="0"/>
              <a:t>位，而不能是</a:t>
            </a:r>
            <a:r>
              <a:rPr lang="en-US" altLang="zh-CN" dirty="0"/>
              <a:t>8</a:t>
            </a:r>
            <a:r>
              <a:rPr lang="zh-CN" altLang="en-US" dirty="0"/>
              <a:t>位的。</a:t>
            </a:r>
            <a:endParaRPr lang="en-US" altLang="zh-CN" dirty="0"/>
          </a:p>
          <a:p>
            <a:pPr lvl="1"/>
            <a:r>
              <a:rPr lang="zh-CN" altLang="en-US" dirty="0"/>
              <a:t>立即数、</a:t>
            </a:r>
            <a:r>
              <a:rPr lang="en-US" altLang="zh-CN" dirty="0"/>
              <a:t>CS</a:t>
            </a:r>
            <a:r>
              <a:rPr lang="zh-CN" altLang="en-US" dirty="0"/>
              <a:t>不能作为目的操作数。</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698500" y="479425"/>
            <a:ext cx="10515600" cy="1325563"/>
          </a:xfrm>
        </p:spPr>
        <p:txBody>
          <a:bodyPr/>
          <a:lstStyle/>
          <a:p>
            <a:pPr marL="0" indent="0" algn="l">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例：假设在指令执行前，(SP)=0FFEH，(BX)=2004H，并且堆栈段栈顶(0FFEH)单元内存放34H，(0FFFH)单元内存放12H。试分析POP  BX指令的执行结果。</a:t>
            </a:r>
            <a:endParaRPr lang="zh-CN" altLang="zh-CN" sz="2800" dirty="0"/>
          </a:p>
        </p:txBody>
      </p:sp>
      <p:sp>
        <p:nvSpPr>
          <p:cNvPr id="5" name="AutoShape 4"/>
          <p:cNvSpPr/>
          <p:nvPr/>
        </p:nvSpPr>
        <p:spPr bwMode="auto">
          <a:xfrm>
            <a:off x="6800850" y="3705225"/>
            <a:ext cx="230188" cy="468313"/>
          </a:xfrm>
          <a:prstGeom prst="rightBrace">
            <a:avLst>
              <a:gd name="adj1" fmla="val 1695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6" name="Text Box 5"/>
          <p:cNvSpPr txBox="1">
            <a:spLocks noChangeArrowheads="1"/>
          </p:cNvSpPr>
          <p:nvPr/>
        </p:nvSpPr>
        <p:spPr bwMode="auto">
          <a:xfrm>
            <a:off x="3101975" y="4319588"/>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7" name="Line 6"/>
          <p:cNvSpPr>
            <a:spLocks noChangeShapeType="1"/>
          </p:cNvSpPr>
          <p:nvPr/>
        </p:nvSpPr>
        <p:spPr bwMode="auto">
          <a:xfrm>
            <a:off x="3713163" y="3797300"/>
            <a:ext cx="957262"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8" name="Group 7"/>
          <p:cNvGrpSpPr/>
          <p:nvPr/>
        </p:nvGrpSpPr>
        <p:grpSpPr bwMode="auto">
          <a:xfrm>
            <a:off x="4652963" y="2101850"/>
            <a:ext cx="2166937" cy="3581400"/>
            <a:chOff x="0" y="0"/>
            <a:chExt cx="1365" cy="2256"/>
          </a:xfrm>
        </p:grpSpPr>
        <p:sp>
          <p:nvSpPr>
            <p:cNvPr id="9" name="Rectangle 8"/>
            <p:cNvSpPr>
              <a:spLocks noChangeArrowheads="1"/>
            </p:cNvSpPr>
            <p:nvPr/>
          </p:nvSpPr>
          <p:spPr bwMode="auto">
            <a:xfrm>
              <a:off x="668" y="427"/>
              <a:ext cx="665" cy="1427"/>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 name="Line 9"/>
            <p:cNvSpPr>
              <a:spLocks noChangeShapeType="1"/>
            </p:cNvSpPr>
            <p:nvPr/>
          </p:nvSpPr>
          <p:spPr bwMode="auto">
            <a:xfrm>
              <a:off x="667" y="65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670" y="90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670" y="116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p:cNvSpPr>
              <a:spLocks noChangeShapeType="1"/>
            </p:cNvSpPr>
            <p:nvPr/>
          </p:nvSpPr>
          <p:spPr bwMode="auto">
            <a:xfrm>
              <a:off x="677" y="162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p:cNvSpPr>
              <a:spLocks noChangeShapeType="1"/>
            </p:cNvSpPr>
            <p:nvPr/>
          </p:nvSpPr>
          <p:spPr bwMode="auto">
            <a:xfrm>
              <a:off x="677" y="140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4"/>
            <p:cNvSpPr txBox="1">
              <a:spLocks noChangeArrowheads="1"/>
            </p:cNvSpPr>
            <p:nvPr/>
          </p:nvSpPr>
          <p:spPr bwMode="auto">
            <a:xfrm>
              <a:off x="626" y="0"/>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堆栈段</a:t>
              </a:r>
              <a:endParaRPr lang="zh-CN" altLang="zh-CN">
                <a:solidFill>
                  <a:srgbClr val="FF0066"/>
                </a:solidFill>
                <a:latin typeface="Times New Roman" panose="02020603050405020304" pitchFamily="18" charset="0"/>
              </a:endParaRPr>
            </a:p>
          </p:txBody>
        </p:sp>
        <p:sp>
          <p:nvSpPr>
            <p:cNvPr id="16" name="Text Box 15"/>
            <p:cNvSpPr txBox="1">
              <a:spLocks noChangeArrowheads="1"/>
            </p:cNvSpPr>
            <p:nvPr/>
          </p:nvSpPr>
          <p:spPr bwMode="auto">
            <a:xfrm>
              <a:off x="631" y="1968"/>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sp>
          <p:nvSpPr>
            <p:cNvPr id="17" name="Line 16"/>
            <p:cNvSpPr>
              <a:spLocks noChangeShapeType="1"/>
            </p:cNvSpPr>
            <p:nvPr/>
          </p:nvSpPr>
          <p:spPr bwMode="auto">
            <a:xfrm flipV="1">
              <a:off x="668"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flipV="1">
              <a:off x="1333"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667" y="1846"/>
              <a:ext cx="0" cy="14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p:cNvSpPr>
              <a:spLocks noChangeShapeType="1"/>
            </p:cNvSpPr>
            <p:nvPr/>
          </p:nvSpPr>
          <p:spPr bwMode="auto">
            <a:xfrm>
              <a:off x="1333" y="1846"/>
              <a:ext cx="0" cy="13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p:cNvSpPr txBox="1">
              <a:spLocks noChangeArrowheads="1"/>
            </p:cNvSpPr>
            <p:nvPr/>
          </p:nvSpPr>
          <p:spPr bwMode="auto">
            <a:xfrm>
              <a:off x="21" y="1395"/>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1000H</a:t>
              </a:r>
              <a:endParaRPr lang="zh-CN" altLang="zh-CN">
                <a:latin typeface="Times New Roman" panose="02020603050405020304" pitchFamily="18" charset="0"/>
              </a:endParaRPr>
            </a:p>
          </p:txBody>
        </p:sp>
        <p:sp>
          <p:nvSpPr>
            <p:cNvPr id="22" name="Text Box 21"/>
            <p:cNvSpPr txBox="1">
              <a:spLocks noChangeArrowheads="1"/>
            </p:cNvSpPr>
            <p:nvPr/>
          </p:nvSpPr>
          <p:spPr bwMode="auto">
            <a:xfrm>
              <a:off x="0" y="116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0FFFH</a:t>
              </a:r>
              <a:endParaRPr lang="zh-CN" altLang="zh-CN">
                <a:latin typeface="Times New Roman" panose="02020603050405020304" pitchFamily="18" charset="0"/>
              </a:endParaRPr>
            </a:p>
          </p:txBody>
        </p:sp>
        <p:sp>
          <p:nvSpPr>
            <p:cNvPr id="23" name="Text Box 22"/>
            <p:cNvSpPr txBox="1">
              <a:spLocks noChangeArrowheads="1"/>
            </p:cNvSpPr>
            <p:nvPr/>
          </p:nvSpPr>
          <p:spPr bwMode="auto">
            <a:xfrm>
              <a:off x="0" y="913"/>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0FFEH</a:t>
              </a:r>
              <a:endParaRPr lang="zh-CN" altLang="zh-CN">
                <a:latin typeface="Times New Roman" panose="02020603050405020304" pitchFamily="18" charset="0"/>
              </a:endParaRPr>
            </a:p>
          </p:txBody>
        </p:sp>
      </p:grpSp>
      <p:sp>
        <p:nvSpPr>
          <p:cNvPr id="24" name="Text Box 23"/>
          <p:cNvSpPr txBox="1">
            <a:spLocks noChangeArrowheads="1"/>
          </p:cNvSpPr>
          <p:nvPr/>
        </p:nvSpPr>
        <p:spPr bwMode="auto">
          <a:xfrm>
            <a:off x="3132138" y="3598863"/>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25" name="Line 24"/>
          <p:cNvSpPr>
            <a:spLocks noChangeShapeType="1"/>
          </p:cNvSpPr>
          <p:nvPr/>
        </p:nvSpPr>
        <p:spPr bwMode="auto">
          <a:xfrm>
            <a:off x="7119938" y="3949700"/>
            <a:ext cx="957262" cy="0"/>
          </a:xfrm>
          <a:prstGeom prst="line">
            <a:avLst/>
          </a:prstGeom>
          <a:noFill/>
          <a:ln w="38100" cmpd="sng">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p:cNvSpPr txBox="1">
            <a:spLocks noChangeArrowheads="1"/>
          </p:cNvSpPr>
          <p:nvPr/>
        </p:nvSpPr>
        <p:spPr bwMode="auto">
          <a:xfrm>
            <a:off x="8083550" y="3716338"/>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BX</a:t>
            </a:r>
            <a:endParaRPr lang="zh-CN" altLang="zh-CN">
              <a:latin typeface="Times New Roman" panose="02020603050405020304" pitchFamily="18" charset="0"/>
            </a:endParaRPr>
          </a:p>
        </p:txBody>
      </p:sp>
      <p:sp>
        <p:nvSpPr>
          <p:cNvPr id="27" name="Line 26"/>
          <p:cNvSpPr>
            <a:spLocks noChangeShapeType="1"/>
          </p:cNvSpPr>
          <p:nvPr/>
        </p:nvSpPr>
        <p:spPr bwMode="auto">
          <a:xfrm>
            <a:off x="3721100" y="4532313"/>
            <a:ext cx="957263" cy="0"/>
          </a:xfrm>
          <a:prstGeom prst="line">
            <a:avLst/>
          </a:prstGeom>
          <a:noFill/>
          <a:ln w="38100" cmpd="sng">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27"/>
          <p:cNvSpPr txBox="1">
            <a:spLocks noChangeArrowheads="1"/>
          </p:cNvSpPr>
          <p:nvPr/>
        </p:nvSpPr>
        <p:spPr bwMode="auto">
          <a:xfrm>
            <a:off x="7383463" y="3492500"/>
            <a:ext cx="47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rPr>
              <a:t>①</a:t>
            </a:r>
            <a:endParaRPr lang="zh-CN" altLang="zh-CN" b="1">
              <a:solidFill>
                <a:schemeClr val="hlink"/>
              </a:solidFill>
            </a:endParaRPr>
          </a:p>
        </p:txBody>
      </p:sp>
      <p:sp>
        <p:nvSpPr>
          <p:cNvPr id="29" name="Text Box 28"/>
          <p:cNvSpPr txBox="1">
            <a:spLocks noChangeArrowheads="1"/>
          </p:cNvSpPr>
          <p:nvPr/>
        </p:nvSpPr>
        <p:spPr bwMode="auto">
          <a:xfrm>
            <a:off x="3954463" y="4086225"/>
            <a:ext cx="47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folHlink"/>
                </a:solidFill>
              </a:rPr>
              <a:t>②</a:t>
            </a:r>
            <a:endParaRPr lang="zh-CN" altLang="zh-CN" b="1">
              <a:solidFill>
                <a:schemeClr val="folHlink"/>
              </a:solidFill>
            </a:endParaRPr>
          </a:p>
        </p:txBody>
      </p:sp>
      <p:sp>
        <p:nvSpPr>
          <p:cNvPr id="30" name="Text Box 29"/>
          <p:cNvSpPr txBox="1">
            <a:spLocks noChangeArrowheads="1"/>
          </p:cNvSpPr>
          <p:nvPr/>
        </p:nvSpPr>
        <p:spPr bwMode="auto">
          <a:xfrm>
            <a:off x="5821363" y="3941763"/>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31" name="Text Box 30"/>
          <p:cNvSpPr txBox="1">
            <a:spLocks noChangeArrowheads="1"/>
          </p:cNvSpPr>
          <p:nvPr/>
        </p:nvSpPr>
        <p:spPr bwMode="auto">
          <a:xfrm>
            <a:off x="5838825" y="3522663"/>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32" name="Text Box 31"/>
          <p:cNvSpPr txBox="1">
            <a:spLocks noChangeArrowheads="1"/>
          </p:cNvSpPr>
          <p:nvPr/>
        </p:nvSpPr>
        <p:spPr bwMode="auto">
          <a:xfrm>
            <a:off x="8631238" y="3724275"/>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=1234H</a:t>
            </a:r>
            <a:endParaRPr lang="zh-CN"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17" presetClass="entr" presetSubtype="8" fill="hold"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ppt_x</p:attrName>
                                        </p:attrNameLst>
                                      </p:cBhvr>
                                      <p:tavLst>
                                        <p:tav tm="0">
                                          <p:val>
                                            <p:strVal val="#ppt_x-#ppt_w/2"/>
                                          </p:val>
                                        </p:tav>
                                        <p:tav tm="100000">
                                          <p:val>
                                            <p:strVal val="#ppt_x"/>
                                          </p:val>
                                        </p:tav>
                                      </p:tavLst>
                                    </p:anim>
                                    <p:anim calcmode="lin" valueType="num">
                                      <p:cBhvr>
                                        <p:cTn id="18" dur="500" fill="hold"/>
                                        <p:tgtEl>
                                          <p:spTgt spid="25"/>
                                        </p:tgtEl>
                                        <p:attrNameLst>
                                          <p:attrName>ppt_y</p:attrName>
                                        </p:attrNameLst>
                                      </p:cBhvr>
                                      <p:tavLst>
                                        <p:tav tm="0">
                                          <p:val>
                                            <p:strVal val="#ppt_y"/>
                                          </p:val>
                                        </p:tav>
                                        <p:tav tm="100000">
                                          <p:val>
                                            <p:strVal val="#ppt_y"/>
                                          </p:val>
                                        </p:tav>
                                      </p:tavLst>
                                    </p:anim>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childTnLst>
                                </p:cTn>
                              </p:par>
                            </p:childTnLst>
                          </p:cTn>
                        </p:par>
                        <p:par>
                          <p:cTn id="21" fill="hold">
                            <p:stCondLst>
                              <p:cond delay="1500"/>
                            </p:stCondLst>
                            <p:childTnLst>
                              <p:par>
                                <p:cTn id="22" presetID="2" presetClass="entr" presetSubtype="4"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additive="base">
                                        <p:cTn id="24" dur="500" fill="hold"/>
                                        <p:tgtEl>
                                          <p:spTgt spid="26"/>
                                        </p:tgtEl>
                                        <p:attrNameLst>
                                          <p:attrName>ppt_x</p:attrName>
                                        </p:attrNameLst>
                                      </p:cBhvr>
                                      <p:tavLst>
                                        <p:tav tm="0">
                                          <p:val>
                                            <p:strVal val="#ppt_x"/>
                                          </p:val>
                                        </p:tav>
                                        <p:tav tm="100000">
                                          <p:val>
                                            <p:strVal val="#ppt_x"/>
                                          </p:val>
                                        </p:tav>
                                      </p:tavLst>
                                    </p:anim>
                                    <p:anim calcmode="lin" valueType="num">
                                      <p:cBhvr additive="base">
                                        <p:cTn id="25" dur="500" fill="hold"/>
                                        <p:tgtEl>
                                          <p:spTgt spid="26"/>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hidden"/>
                                      </p:to>
                                    </p:set>
                                  </p:childTnLst>
                                </p:cTn>
                              </p:par>
                            </p:childTnLst>
                          </p:cTn>
                        </p:par>
                        <p:par>
                          <p:cTn id="35" fill="hold">
                            <p:stCondLst>
                              <p:cond delay="0"/>
                            </p:stCondLst>
                            <p:childTnLst>
                              <p:par>
                                <p:cTn id="36" presetID="1" presetClass="exit" presetSubtype="0" fill="hold" nodeType="afterEffect">
                                  <p:stCondLst>
                                    <p:cond delay="0"/>
                                  </p:stCondLst>
                                  <p:childTnLst>
                                    <p:set>
                                      <p:cBhvr>
                                        <p:cTn id="37" dur="1" fill="hold">
                                          <p:stCondLst>
                                            <p:cond delay="0"/>
                                          </p:stCondLst>
                                        </p:cTn>
                                        <p:tgtEl>
                                          <p:spTgt spid="7"/>
                                        </p:tgtEl>
                                        <p:attrNameLst>
                                          <p:attrName>style.visibility</p:attrName>
                                        </p:attrNameLst>
                                      </p:cBhvr>
                                      <p:to>
                                        <p:strVal val="hidden"/>
                                      </p:to>
                                    </p:set>
                                  </p:childTnLst>
                                </p:cTn>
                              </p:par>
                            </p:childTnLst>
                          </p:cTn>
                        </p:par>
                        <p:par>
                          <p:cTn id="38" fill="hold">
                            <p:stCondLst>
                              <p:cond delay="0"/>
                            </p:stCondLst>
                            <p:childTnLst>
                              <p:par>
                                <p:cTn id="39" presetID="2" presetClass="entr" presetSubtype="4"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2" presetClass="entr" presetSubtype="4"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additive="base">
                                        <p:cTn id="46" dur="500" fill="hold"/>
                                        <p:tgtEl>
                                          <p:spTgt spid="6"/>
                                        </p:tgtEl>
                                        <p:attrNameLst>
                                          <p:attrName>ppt_x</p:attrName>
                                        </p:attrNameLst>
                                      </p:cBhvr>
                                      <p:tavLst>
                                        <p:tav tm="0">
                                          <p:val>
                                            <p:strVal val="#ppt_x"/>
                                          </p:val>
                                        </p:tav>
                                        <p:tav tm="100000">
                                          <p:val>
                                            <p:strVal val="#ppt_x"/>
                                          </p:val>
                                        </p:tav>
                                      </p:tavLst>
                                    </p:anim>
                                    <p:anim calcmode="lin" valueType="num">
                                      <p:cBhvr additive="base">
                                        <p:cTn id="47" dur="500" fill="hold"/>
                                        <p:tgtEl>
                                          <p:spTgt spid="6"/>
                                        </p:tgtEl>
                                        <p:attrNameLst>
                                          <p:attrName>ppt_y</p:attrName>
                                        </p:attrNameLst>
                                      </p:cBhvr>
                                      <p:tavLst>
                                        <p:tav tm="0">
                                          <p:val>
                                            <p:strVal val="1+#ppt_h/2"/>
                                          </p:val>
                                        </p:tav>
                                        <p:tav tm="100000">
                                          <p:val>
                                            <p:strVal val="#ppt_y"/>
                                          </p:val>
                                        </p:tav>
                                      </p:tavLst>
                                    </p:anim>
                                  </p:childTnLst>
                                </p:cTn>
                              </p:par>
                            </p:childTnLst>
                          </p:cTn>
                        </p:par>
                        <p:par>
                          <p:cTn id="48" fill="hold">
                            <p:stCondLst>
                              <p:cond delay="1000"/>
                            </p:stCondLst>
                            <p:childTnLst>
                              <p:par>
                                <p:cTn id="49" presetID="17" presetClass="entr" presetSubtype="8" fill="hold" nodeType="after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p:cTn id="51" dur="500" fill="hold"/>
                                        <p:tgtEl>
                                          <p:spTgt spid="27"/>
                                        </p:tgtEl>
                                        <p:attrNameLst>
                                          <p:attrName>ppt_x</p:attrName>
                                        </p:attrNameLst>
                                      </p:cBhvr>
                                      <p:tavLst>
                                        <p:tav tm="0">
                                          <p:val>
                                            <p:strVal val="#ppt_x-#ppt_w/2"/>
                                          </p:val>
                                        </p:tav>
                                        <p:tav tm="100000">
                                          <p:val>
                                            <p:strVal val="#ppt_x"/>
                                          </p:val>
                                        </p:tav>
                                      </p:tavLst>
                                    </p:anim>
                                    <p:anim calcmode="lin" valueType="num">
                                      <p:cBhvr>
                                        <p:cTn id="52" dur="500" fill="hold"/>
                                        <p:tgtEl>
                                          <p:spTgt spid="27"/>
                                        </p:tgtEl>
                                        <p:attrNameLst>
                                          <p:attrName>ppt_y</p:attrName>
                                        </p:attrNameLst>
                                      </p:cBhvr>
                                      <p:tavLst>
                                        <p:tav tm="0">
                                          <p:val>
                                            <p:strVal val="#ppt_y"/>
                                          </p:val>
                                        </p:tav>
                                        <p:tav tm="100000">
                                          <p:val>
                                            <p:strVal val="#ppt_y"/>
                                          </p:val>
                                        </p:tav>
                                      </p:tavLst>
                                    </p:anim>
                                    <p:anim calcmode="lin" valueType="num">
                                      <p:cBhvr>
                                        <p:cTn id="53" dur="500" fill="hold"/>
                                        <p:tgtEl>
                                          <p:spTgt spid="27"/>
                                        </p:tgtEl>
                                        <p:attrNameLst>
                                          <p:attrName>ppt_w</p:attrName>
                                        </p:attrNameLst>
                                      </p:cBhvr>
                                      <p:tavLst>
                                        <p:tav tm="0">
                                          <p:val>
                                            <p:fltVal val="0"/>
                                          </p:val>
                                        </p:tav>
                                        <p:tav tm="100000">
                                          <p:val>
                                            <p:strVal val="#ppt_w"/>
                                          </p:val>
                                        </p:tav>
                                      </p:tavLst>
                                    </p:anim>
                                    <p:anim calcmode="lin" valueType="num">
                                      <p:cBhvr>
                                        <p:cTn id="54" dur="500" fill="hold"/>
                                        <p:tgtEl>
                                          <p:spTgt spid="2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utoUpdateAnimBg="0"/>
      <p:bldP spid="24" grpId="0" autoUpdateAnimBg="0"/>
      <p:bldP spid="26" grpId="0" autoUpdateAnimBg="0"/>
      <p:bldP spid="28" grpId="0" autoUpdateAnimBg="0"/>
      <p:bldP spid="29" grpId="0" autoUpdateAnimBg="0"/>
      <p:bldP spid="3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标志寄存器传送指令 </a:t>
            </a:r>
            <a:endParaRPr lang="zh-CN" altLang="en-US" dirty="0"/>
          </a:p>
        </p:txBody>
      </p:sp>
      <p:sp>
        <p:nvSpPr>
          <p:cNvPr id="3" name="内容占位符 2"/>
          <p:cNvSpPr>
            <a:spLocks noGrp="1"/>
          </p:cNvSpPr>
          <p:nvPr>
            <p:ph idx="1"/>
          </p:nvPr>
        </p:nvSpPr>
        <p:spPr>
          <a:xfrm>
            <a:off x="421240" y="1719263"/>
            <a:ext cx="10246761" cy="4411662"/>
          </a:xfrm>
        </p:spPr>
        <p:txBody>
          <a:bodyPr/>
          <a:lstStyle/>
          <a:p>
            <a:r>
              <a:rPr lang="en-US" altLang="zh-CN" dirty="0" smtClean="0"/>
              <a:t>LAHF(load AH from flag)</a:t>
            </a:r>
            <a:r>
              <a:rPr lang="zh-CN" altLang="en-US" dirty="0" smtClean="0"/>
              <a:t>指令</a:t>
            </a:r>
            <a:r>
              <a:rPr lang="zh-CN" altLang="en-US" dirty="0"/>
              <a:t>：将标志寄存器</a:t>
            </a:r>
            <a:r>
              <a:rPr lang="en-US" altLang="zh-CN" dirty="0"/>
              <a:t>FR</a:t>
            </a:r>
            <a:r>
              <a:rPr lang="zh-CN" altLang="en-US" dirty="0"/>
              <a:t>的低</a:t>
            </a:r>
            <a:r>
              <a:rPr lang="en-US" altLang="zh-CN" dirty="0"/>
              <a:t>8</a:t>
            </a:r>
            <a:r>
              <a:rPr lang="zh-CN" altLang="en-US" dirty="0"/>
              <a:t>位传送到</a:t>
            </a:r>
            <a:r>
              <a:rPr lang="en-US" altLang="zh-CN" dirty="0"/>
              <a:t>AH</a:t>
            </a:r>
            <a:r>
              <a:rPr lang="zh-CN" altLang="en-US" dirty="0"/>
              <a:t>中。</a:t>
            </a:r>
            <a:endParaRPr lang="zh-CN" altLang="en-US" dirty="0"/>
          </a:p>
          <a:p>
            <a:r>
              <a:rPr lang="en-US" altLang="zh-CN" dirty="0" smtClean="0"/>
              <a:t>SAHF(save AH to flag)</a:t>
            </a:r>
            <a:r>
              <a:rPr lang="zh-CN" altLang="en-US" dirty="0" smtClean="0"/>
              <a:t>指令</a:t>
            </a:r>
            <a:r>
              <a:rPr lang="zh-CN" altLang="en-US" dirty="0"/>
              <a:t>：将</a:t>
            </a:r>
            <a:r>
              <a:rPr lang="en-US" altLang="zh-CN" dirty="0"/>
              <a:t>AH</a:t>
            </a:r>
            <a:r>
              <a:rPr lang="zh-CN" altLang="en-US" dirty="0"/>
              <a:t>的内容送到标志寄存器</a:t>
            </a:r>
            <a:r>
              <a:rPr lang="en-US" altLang="zh-CN" dirty="0"/>
              <a:t>FR</a:t>
            </a:r>
            <a:r>
              <a:rPr lang="zh-CN" altLang="en-US" dirty="0"/>
              <a:t>的低</a:t>
            </a:r>
            <a:r>
              <a:rPr lang="en-US" altLang="zh-CN" dirty="0"/>
              <a:t>8</a:t>
            </a:r>
            <a:r>
              <a:rPr lang="zh-CN" altLang="en-US" dirty="0"/>
              <a:t>位。</a:t>
            </a:r>
            <a:endParaRPr lang="zh-CN" altLang="en-US" dirty="0"/>
          </a:p>
          <a:p>
            <a:r>
              <a:rPr lang="en-US" altLang="zh-CN" dirty="0" smtClean="0"/>
              <a:t>PUSHF(push flag)</a:t>
            </a:r>
            <a:r>
              <a:rPr lang="zh-CN" altLang="en-US" dirty="0" smtClean="0"/>
              <a:t>指令</a:t>
            </a:r>
            <a:r>
              <a:rPr lang="zh-CN" altLang="en-US" dirty="0"/>
              <a:t>：将</a:t>
            </a:r>
            <a:r>
              <a:rPr lang="en-US" altLang="zh-CN" dirty="0"/>
              <a:t>16</a:t>
            </a:r>
            <a:r>
              <a:rPr lang="zh-CN" altLang="en-US" dirty="0"/>
              <a:t>位标志寄存器</a:t>
            </a:r>
            <a:r>
              <a:rPr lang="en-US" altLang="zh-CN" dirty="0"/>
              <a:t>FR</a:t>
            </a:r>
            <a:r>
              <a:rPr lang="zh-CN" altLang="en-US" dirty="0"/>
              <a:t>内容进栈保存。</a:t>
            </a:r>
            <a:endParaRPr lang="zh-CN" altLang="en-US" dirty="0"/>
          </a:p>
          <a:p>
            <a:r>
              <a:rPr lang="en-US" altLang="zh-CN" dirty="0" smtClean="0"/>
              <a:t>POPF(pop flag)</a:t>
            </a:r>
            <a:r>
              <a:rPr lang="zh-CN" altLang="en-US" dirty="0" smtClean="0"/>
              <a:t>指令</a:t>
            </a:r>
            <a:r>
              <a:rPr lang="zh-CN" altLang="en-US" dirty="0"/>
              <a:t>：将当前栈顶两个字节内容弹出送到标志寄存器</a:t>
            </a:r>
            <a:r>
              <a:rPr lang="en-US" altLang="zh-CN" dirty="0"/>
              <a:t>FR</a:t>
            </a:r>
            <a:r>
              <a:rPr lang="zh-CN" altLang="en-US" dirty="0"/>
              <a:t>中。</a:t>
            </a: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目标地址传送指令</a:t>
            </a:r>
            <a:endParaRPr lang="zh-CN" altLang="en-US" dirty="0"/>
          </a:p>
        </p:txBody>
      </p:sp>
      <p:sp>
        <p:nvSpPr>
          <p:cNvPr id="3" name="内容占位符 2"/>
          <p:cNvSpPr>
            <a:spLocks noGrp="1"/>
          </p:cNvSpPr>
          <p:nvPr>
            <p:ph idx="1"/>
          </p:nvPr>
        </p:nvSpPr>
        <p:spPr/>
        <p:txBody>
          <a:bodyPr/>
          <a:lstStyle/>
          <a:p>
            <a:r>
              <a:rPr lang="zh-CN" altLang="en-US" dirty="0"/>
              <a:t>取偏移地址指令</a:t>
            </a:r>
            <a:r>
              <a:rPr lang="en-US" altLang="zh-CN" dirty="0" smtClean="0"/>
              <a:t>LEA(load effective address)</a:t>
            </a:r>
            <a:endParaRPr lang="en-US" altLang="zh-CN" dirty="0"/>
          </a:p>
          <a:p>
            <a:r>
              <a:rPr lang="zh-CN" altLang="en-US" dirty="0"/>
              <a:t>传送偏移地址及数据段首址指令</a:t>
            </a:r>
            <a:r>
              <a:rPr lang="en-US" altLang="zh-CN" dirty="0" smtClean="0"/>
              <a:t>LDS(load DS)</a:t>
            </a:r>
            <a:endParaRPr lang="en-US" altLang="zh-CN" dirty="0"/>
          </a:p>
          <a:p>
            <a:r>
              <a:rPr lang="zh-CN" altLang="en-US" dirty="0"/>
              <a:t>传送偏移地址及附加段首址指令</a:t>
            </a:r>
            <a:r>
              <a:rPr lang="en-US" altLang="zh-CN" dirty="0" smtClean="0"/>
              <a:t>LES(load ES)</a:t>
            </a:r>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取偏移地址指令</a:t>
            </a:r>
            <a:r>
              <a:rPr lang="en-US" altLang="zh-CN" dirty="0"/>
              <a:t>LEA</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LEA  OPD</a:t>
            </a:r>
            <a:r>
              <a:rPr lang="zh-CN" altLang="en-US" dirty="0"/>
              <a:t>，</a:t>
            </a:r>
            <a:r>
              <a:rPr lang="en-US" altLang="zh-CN" dirty="0"/>
              <a:t>OPS</a:t>
            </a:r>
            <a:endParaRPr lang="en-US" altLang="zh-CN" dirty="0"/>
          </a:p>
          <a:p>
            <a:r>
              <a:rPr lang="zh-CN" altLang="en-US" dirty="0"/>
              <a:t>功能：将源操作数的偏移地址送到目的操作数。</a:t>
            </a:r>
            <a:endParaRPr lang="zh-CN" altLang="en-US" dirty="0"/>
          </a:p>
          <a:p>
            <a:r>
              <a:rPr lang="zh-CN" altLang="en-US" dirty="0"/>
              <a:t>该指令不影响标志位，源操作数必须是存储器操作数，目的操作数必须是</a:t>
            </a:r>
            <a:r>
              <a:rPr lang="en-US" altLang="zh-CN" dirty="0"/>
              <a:t>16</a:t>
            </a:r>
            <a:r>
              <a:rPr lang="zh-CN" altLang="en-US" dirty="0"/>
              <a:t>位通用寄存器。</a:t>
            </a:r>
            <a:endParaRPr lang="en-US" altLang="zh-CN" dirty="0"/>
          </a:p>
          <a:p>
            <a:pPr lvl="1"/>
            <a:r>
              <a:rPr lang="en-US" altLang="zh-CN" dirty="0"/>
              <a:t>LEA SI</a:t>
            </a:r>
            <a:r>
              <a:rPr lang="zh-CN" altLang="en-US" dirty="0"/>
              <a:t>，</a:t>
            </a:r>
            <a:r>
              <a:rPr lang="en-US" altLang="zh-CN" dirty="0"/>
              <a:t>TABLE</a:t>
            </a:r>
            <a:r>
              <a:rPr lang="zh-CN" altLang="en-US" dirty="0"/>
              <a:t>；</a:t>
            </a:r>
            <a:r>
              <a:rPr lang="en-US" altLang="zh-CN" dirty="0"/>
              <a:t>TABLE</a:t>
            </a:r>
            <a:r>
              <a:rPr lang="zh-CN" altLang="en-US" dirty="0"/>
              <a:t>为存储器操作数的符号地址</a:t>
            </a:r>
            <a:endParaRPr lang="en-US" altLang="zh-CN" dirty="0"/>
          </a:p>
          <a:p>
            <a:pPr lvl="1"/>
            <a:r>
              <a:rPr lang="en-US" altLang="zh-CN" dirty="0"/>
              <a:t>=MOV SI,OFFSET </a:t>
            </a:r>
            <a:r>
              <a:rPr lang="en-US" altLang="zh-CN" dirty="0" smtClean="0"/>
              <a:t>TABLE</a:t>
            </a:r>
            <a:r>
              <a:rPr lang="zh-CN" altLang="en-US" dirty="0" smtClean="0"/>
              <a:t>；</a:t>
            </a:r>
            <a:r>
              <a:rPr lang="en-US" altLang="zh-CN" dirty="0" smtClean="0"/>
              <a:t>OFFSET </a:t>
            </a:r>
            <a:r>
              <a:rPr lang="zh-CN" altLang="en-US" dirty="0" smtClean="0"/>
              <a:t>取偏移地址运算符</a:t>
            </a:r>
            <a:endParaRPr lang="en-US" altLang="zh-CN" dirty="0"/>
          </a:p>
          <a:p>
            <a:pPr lvl="1"/>
            <a:r>
              <a:rPr lang="en-US" altLang="zh-CN" dirty="0"/>
              <a:t>LEA </a:t>
            </a:r>
            <a:r>
              <a:rPr lang="en-US" altLang="zh-CN" dirty="0" smtClean="0"/>
              <a:t> AX</a:t>
            </a:r>
            <a:r>
              <a:rPr lang="zh-CN" altLang="en-US" dirty="0"/>
              <a:t>，</a:t>
            </a:r>
            <a:r>
              <a:rPr lang="en-US" altLang="zh-CN" dirty="0"/>
              <a:t>[SI]</a:t>
            </a:r>
            <a:r>
              <a:rPr lang="zh-CN" altLang="en-US" dirty="0"/>
              <a:t>；该指令等效于</a:t>
            </a:r>
            <a:r>
              <a:rPr lang="en-US" altLang="zh-CN" dirty="0"/>
              <a:t>MOV AX</a:t>
            </a:r>
            <a:r>
              <a:rPr lang="zh-CN" altLang="en-US" dirty="0"/>
              <a:t>，</a:t>
            </a:r>
            <a:r>
              <a:rPr lang="en-US" altLang="zh-CN" dirty="0"/>
              <a:t>SI</a:t>
            </a:r>
            <a:r>
              <a:rPr lang="zh-CN" altLang="en-US" dirty="0"/>
              <a:t>指令，与</a:t>
            </a:r>
            <a:r>
              <a:rPr lang="en-US" altLang="zh-CN" dirty="0"/>
              <a:t>MOV AX</a:t>
            </a:r>
            <a:r>
              <a:rPr lang="zh-CN" altLang="en-US" dirty="0"/>
              <a:t>，</a:t>
            </a:r>
            <a:r>
              <a:rPr lang="en-US" altLang="zh-CN" dirty="0"/>
              <a:t>[SI] </a:t>
            </a:r>
            <a:r>
              <a:rPr lang="zh-CN" altLang="en-US" dirty="0"/>
              <a:t>指令的效果不同，注意区别</a:t>
            </a:r>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传送偏移地址及段首址指令</a:t>
            </a:r>
            <a:r>
              <a:rPr lang="en-US" altLang="zh-CN" dirty="0"/>
              <a:t>LDS</a:t>
            </a:r>
            <a:r>
              <a:rPr lang="zh-CN" altLang="en-US" dirty="0"/>
              <a:t>、</a:t>
            </a:r>
            <a:r>
              <a:rPr lang="en-US" altLang="zh-CN" dirty="0"/>
              <a:t>LES</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zh-CN" altLang="en-US" dirty="0"/>
              <a:t>格式：</a:t>
            </a:r>
            <a:r>
              <a:rPr lang="en-US" altLang="zh-CN" dirty="0"/>
              <a:t>LDS</a:t>
            </a:r>
            <a:r>
              <a:rPr lang="zh-CN" altLang="en-US" dirty="0"/>
              <a:t> </a:t>
            </a:r>
            <a:r>
              <a:rPr lang="en-US" altLang="zh-CN" dirty="0"/>
              <a:t>OPD</a:t>
            </a:r>
            <a:r>
              <a:rPr lang="zh-CN" altLang="en-US" dirty="0"/>
              <a:t>，</a:t>
            </a:r>
            <a:r>
              <a:rPr lang="en-US" altLang="zh-CN" dirty="0"/>
              <a:t>OPS</a:t>
            </a:r>
            <a:endParaRPr lang="en-US" altLang="zh-CN" dirty="0"/>
          </a:p>
          <a:p>
            <a:pPr>
              <a:lnSpc>
                <a:spcPct val="120000"/>
              </a:lnSpc>
            </a:pPr>
            <a:r>
              <a:rPr lang="zh-CN" altLang="en-US" dirty="0"/>
              <a:t>功能：从源操作数所指定的存储单元中取出某变量的地址指针</a:t>
            </a:r>
            <a:r>
              <a:rPr lang="en-US" altLang="zh-CN" dirty="0"/>
              <a:t>(</a:t>
            </a:r>
            <a:r>
              <a:rPr lang="zh-CN" altLang="en-US" dirty="0"/>
              <a:t>共</a:t>
            </a:r>
            <a:r>
              <a:rPr lang="en-US" altLang="zh-CN" dirty="0"/>
              <a:t>4</a:t>
            </a:r>
            <a:r>
              <a:rPr lang="zh-CN" altLang="en-US" dirty="0"/>
              <a:t>个字节</a:t>
            </a:r>
            <a:r>
              <a:rPr lang="en-US" altLang="zh-CN" dirty="0"/>
              <a:t>)</a:t>
            </a:r>
            <a:r>
              <a:rPr lang="zh-CN" altLang="en-US" dirty="0"/>
              <a:t>，将低地址两个字节</a:t>
            </a:r>
            <a:r>
              <a:rPr lang="en-US" altLang="zh-CN" dirty="0"/>
              <a:t>(</a:t>
            </a:r>
            <a:r>
              <a:rPr lang="zh-CN" altLang="en-US" dirty="0"/>
              <a:t>偏移量</a:t>
            </a:r>
            <a:r>
              <a:rPr lang="en-US" altLang="zh-CN" dirty="0"/>
              <a:t>)</a:t>
            </a:r>
            <a:r>
              <a:rPr lang="zh-CN" altLang="en-US" dirty="0"/>
              <a:t>送到目的操作数，将高地址两个字节</a:t>
            </a:r>
            <a:r>
              <a:rPr lang="en-US" altLang="zh-CN" dirty="0"/>
              <a:t>(</a:t>
            </a:r>
            <a:r>
              <a:rPr lang="zh-CN" altLang="en-US" dirty="0"/>
              <a:t>段首址</a:t>
            </a:r>
            <a:r>
              <a:rPr lang="en-US" altLang="zh-CN" dirty="0"/>
              <a:t>)</a:t>
            </a:r>
            <a:r>
              <a:rPr lang="zh-CN" altLang="en-US" dirty="0"/>
              <a:t>送到</a:t>
            </a:r>
            <a:r>
              <a:rPr lang="en-US" altLang="zh-CN" dirty="0"/>
              <a:t>DS</a:t>
            </a:r>
            <a:r>
              <a:rPr lang="zh-CN" altLang="en-US" dirty="0"/>
              <a:t>中。</a:t>
            </a:r>
            <a:endParaRPr lang="zh-CN" altLang="en-US" dirty="0"/>
          </a:p>
          <a:p>
            <a:pPr>
              <a:lnSpc>
                <a:spcPct val="120000"/>
              </a:lnSpc>
            </a:pPr>
            <a:r>
              <a:rPr lang="zh-CN" altLang="en-US" dirty="0"/>
              <a:t>格式：</a:t>
            </a:r>
            <a:r>
              <a:rPr lang="en-US" altLang="zh-CN" dirty="0"/>
              <a:t>LES</a:t>
            </a:r>
            <a:r>
              <a:rPr lang="zh-CN" altLang="en-US" dirty="0"/>
              <a:t> </a:t>
            </a:r>
            <a:r>
              <a:rPr lang="en-US" altLang="zh-CN" dirty="0"/>
              <a:t>OPD</a:t>
            </a:r>
            <a:r>
              <a:rPr lang="zh-CN" altLang="en-US" dirty="0"/>
              <a:t>，</a:t>
            </a:r>
            <a:r>
              <a:rPr lang="en-US" altLang="zh-CN" dirty="0"/>
              <a:t>OPS</a:t>
            </a:r>
            <a:endParaRPr lang="en-US" altLang="zh-CN" dirty="0"/>
          </a:p>
          <a:p>
            <a:pPr>
              <a:lnSpc>
                <a:spcPct val="120000"/>
              </a:lnSpc>
            </a:pPr>
            <a:r>
              <a:rPr lang="zh-CN" altLang="en-US" dirty="0"/>
              <a:t>功能：从源操作数所指定的存储单元中取出某变量的地址指针</a:t>
            </a:r>
            <a:r>
              <a:rPr lang="en-US" altLang="zh-CN" dirty="0"/>
              <a:t>(</a:t>
            </a:r>
            <a:r>
              <a:rPr lang="zh-CN" altLang="en-US" dirty="0"/>
              <a:t>共</a:t>
            </a:r>
            <a:r>
              <a:rPr lang="en-US" altLang="zh-CN" dirty="0"/>
              <a:t>4</a:t>
            </a:r>
            <a:r>
              <a:rPr lang="zh-CN" altLang="en-US" dirty="0"/>
              <a:t>个字节</a:t>
            </a:r>
            <a:r>
              <a:rPr lang="en-US" altLang="zh-CN" dirty="0"/>
              <a:t>)</a:t>
            </a:r>
            <a:r>
              <a:rPr lang="zh-CN" altLang="en-US" dirty="0"/>
              <a:t>，将低地址两个字节</a:t>
            </a:r>
            <a:r>
              <a:rPr lang="en-US" altLang="zh-CN" dirty="0"/>
              <a:t>(</a:t>
            </a:r>
            <a:r>
              <a:rPr lang="zh-CN" altLang="en-US" dirty="0"/>
              <a:t>偏移量</a:t>
            </a:r>
            <a:r>
              <a:rPr lang="en-US" altLang="zh-CN" dirty="0"/>
              <a:t>)</a:t>
            </a:r>
            <a:r>
              <a:rPr lang="zh-CN" altLang="en-US" dirty="0"/>
              <a:t>送到目的操作数，将高地址两个字节</a:t>
            </a:r>
            <a:r>
              <a:rPr lang="en-US" altLang="zh-CN" dirty="0"/>
              <a:t>(</a:t>
            </a:r>
            <a:r>
              <a:rPr lang="zh-CN" altLang="en-US" dirty="0"/>
              <a:t>段首址</a:t>
            </a:r>
            <a:r>
              <a:rPr lang="en-US" altLang="zh-CN" dirty="0"/>
              <a:t>)</a:t>
            </a:r>
            <a:r>
              <a:rPr lang="zh-CN" altLang="en-US" dirty="0"/>
              <a:t>送到</a:t>
            </a:r>
            <a:r>
              <a:rPr lang="en-US" altLang="zh-CN" dirty="0"/>
              <a:t>ES</a:t>
            </a:r>
            <a:r>
              <a:rPr lang="zh-CN" altLang="en-US" dirty="0"/>
              <a:t>中。</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7100" y="492125"/>
            <a:ext cx="10515600" cy="1400175"/>
          </a:xfrm>
        </p:spPr>
        <p:txBody>
          <a:bodyPr/>
          <a:lstStyle/>
          <a:p>
            <a:r>
              <a:rPr lang="zh-CN" altLang="en-US" dirty="0"/>
              <a:t>例：设某双字存储单元的偏移地址为</a:t>
            </a:r>
            <a:r>
              <a:rPr lang="en-US" altLang="zh-CN" dirty="0"/>
              <a:t>3000H</a:t>
            </a:r>
            <a:r>
              <a:rPr lang="zh-CN" altLang="en-US" dirty="0"/>
              <a:t>，双字数据为</a:t>
            </a:r>
            <a:r>
              <a:rPr lang="en-US" altLang="zh-CN" dirty="0"/>
              <a:t>12345678H</a:t>
            </a:r>
            <a:r>
              <a:rPr lang="zh-CN" altLang="en-US" dirty="0"/>
              <a:t>，试分析</a:t>
            </a:r>
            <a:r>
              <a:rPr lang="en-US" altLang="zh-CN" dirty="0"/>
              <a:t>LDS  SI</a:t>
            </a:r>
            <a:r>
              <a:rPr lang="zh-CN" altLang="en-US" dirty="0"/>
              <a:t>，</a:t>
            </a:r>
            <a:r>
              <a:rPr lang="en-US" altLang="zh-CN" dirty="0"/>
              <a:t>[3000H]</a:t>
            </a:r>
            <a:r>
              <a:rPr lang="zh-CN" altLang="en-US" dirty="0"/>
              <a:t>指令的执行结果。</a:t>
            </a:r>
            <a:endParaRPr lang="zh-CN" altLang="en-US" dirty="0"/>
          </a:p>
          <a:p>
            <a:endParaRPr lang="zh-CN" altLang="en-US" dirty="0"/>
          </a:p>
        </p:txBody>
      </p:sp>
      <p:sp>
        <p:nvSpPr>
          <p:cNvPr id="4" name="AutoShape 4"/>
          <p:cNvSpPr/>
          <p:nvPr/>
        </p:nvSpPr>
        <p:spPr bwMode="auto">
          <a:xfrm>
            <a:off x="5689600" y="3678238"/>
            <a:ext cx="230188" cy="468312"/>
          </a:xfrm>
          <a:prstGeom prst="rightBrace">
            <a:avLst>
              <a:gd name="adj1" fmla="val 1695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5" name="Line 5"/>
          <p:cNvSpPr>
            <a:spLocks noChangeShapeType="1"/>
          </p:cNvSpPr>
          <p:nvPr/>
        </p:nvSpPr>
        <p:spPr bwMode="auto">
          <a:xfrm>
            <a:off x="6008688" y="3922713"/>
            <a:ext cx="957262" cy="0"/>
          </a:xfrm>
          <a:prstGeom prst="line">
            <a:avLst/>
          </a:prstGeom>
          <a:noFill/>
          <a:ln w="38100" cmpd="sng">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Text Box 6"/>
          <p:cNvSpPr txBox="1">
            <a:spLocks noChangeArrowheads="1"/>
          </p:cNvSpPr>
          <p:nvPr/>
        </p:nvSpPr>
        <p:spPr bwMode="auto">
          <a:xfrm>
            <a:off x="6972300" y="3689350"/>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DS</a:t>
            </a:r>
            <a:endParaRPr lang="zh-CN" altLang="zh-CN">
              <a:latin typeface="Times New Roman" panose="02020603050405020304" pitchFamily="18" charset="0"/>
            </a:endParaRPr>
          </a:p>
        </p:txBody>
      </p:sp>
      <p:grpSp>
        <p:nvGrpSpPr>
          <p:cNvPr id="7" name="Group 7"/>
          <p:cNvGrpSpPr/>
          <p:nvPr/>
        </p:nvGrpSpPr>
        <p:grpSpPr bwMode="auto">
          <a:xfrm>
            <a:off x="3562350" y="2133600"/>
            <a:ext cx="2146300" cy="3581400"/>
            <a:chOff x="0" y="0"/>
            <a:chExt cx="1352" cy="2256"/>
          </a:xfrm>
        </p:grpSpPr>
        <p:sp>
          <p:nvSpPr>
            <p:cNvPr id="8" name="Text Box 8"/>
            <p:cNvSpPr txBox="1">
              <a:spLocks noChangeArrowheads="1"/>
            </p:cNvSpPr>
            <p:nvPr/>
          </p:nvSpPr>
          <p:spPr bwMode="auto">
            <a:xfrm>
              <a:off x="618" y="1968"/>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grpSp>
          <p:nvGrpSpPr>
            <p:cNvPr id="9" name="Group 9"/>
            <p:cNvGrpSpPr/>
            <p:nvPr/>
          </p:nvGrpSpPr>
          <p:grpSpPr bwMode="auto">
            <a:xfrm>
              <a:off x="0" y="0"/>
              <a:ext cx="1323" cy="1990"/>
              <a:chOff x="0" y="0"/>
              <a:chExt cx="1323" cy="1990"/>
            </a:xfrm>
          </p:grpSpPr>
          <p:sp>
            <p:nvSpPr>
              <p:cNvPr id="10" name="Rectangle 10"/>
              <p:cNvSpPr>
                <a:spLocks noChangeArrowheads="1"/>
              </p:cNvSpPr>
              <p:nvPr/>
            </p:nvSpPr>
            <p:spPr bwMode="auto">
              <a:xfrm>
                <a:off x="655" y="427"/>
                <a:ext cx="665" cy="1427"/>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1" name="Line 11"/>
              <p:cNvSpPr>
                <a:spLocks noChangeShapeType="1"/>
              </p:cNvSpPr>
              <p:nvPr/>
            </p:nvSpPr>
            <p:spPr bwMode="auto">
              <a:xfrm>
                <a:off x="654" y="65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2"/>
              <p:cNvSpPr>
                <a:spLocks noChangeShapeType="1"/>
              </p:cNvSpPr>
              <p:nvPr/>
            </p:nvSpPr>
            <p:spPr bwMode="auto">
              <a:xfrm>
                <a:off x="657" y="90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3"/>
              <p:cNvSpPr>
                <a:spLocks noChangeShapeType="1"/>
              </p:cNvSpPr>
              <p:nvPr/>
            </p:nvSpPr>
            <p:spPr bwMode="auto">
              <a:xfrm>
                <a:off x="657" y="116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4"/>
              <p:cNvSpPr>
                <a:spLocks noChangeShapeType="1"/>
              </p:cNvSpPr>
              <p:nvPr/>
            </p:nvSpPr>
            <p:spPr bwMode="auto">
              <a:xfrm>
                <a:off x="664" y="162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5"/>
              <p:cNvSpPr>
                <a:spLocks noChangeShapeType="1"/>
              </p:cNvSpPr>
              <p:nvPr/>
            </p:nvSpPr>
            <p:spPr bwMode="auto">
              <a:xfrm>
                <a:off x="664" y="140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Text Box 16"/>
              <p:cNvSpPr txBox="1">
                <a:spLocks noChangeArrowheads="1"/>
              </p:cNvSpPr>
              <p:nvPr/>
            </p:nvSpPr>
            <p:spPr bwMode="auto">
              <a:xfrm>
                <a:off x="613" y="0"/>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数据段</a:t>
                </a:r>
                <a:endParaRPr lang="zh-CN" altLang="zh-CN">
                  <a:solidFill>
                    <a:srgbClr val="FF0066"/>
                  </a:solidFill>
                  <a:latin typeface="Times New Roman" panose="02020603050405020304" pitchFamily="18" charset="0"/>
                </a:endParaRPr>
              </a:p>
            </p:txBody>
          </p:sp>
          <p:sp>
            <p:nvSpPr>
              <p:cNvPr id="17" name="Line 17"/>
              <p:cNvSpPr>
                <a:spLocks noChangeShapeType="1"/>
              </p:cNvSpPr>
              <p:nvPr/>
            </p:nvSpPr>
            <p:spPr bwMode="auto">
              <a:xfrm flipV="1">
                <a:off x="655"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8"/>
              <p:cNvSpPr>
                <a:spLocks noChangeShapeType="1"/>
              </p:cNvSpPr>
              <p:nvPr/>
            </p:nvSpPr>
            <p:spPr bwMode="auto">
              <a:xfrm flipV="1">
                <a:off x="1320"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9"/>
              <p:cNvSpPr>
                <a:spLocks noChangeShapeType="1"/>
              </p:cNvSpPr>
              <p:nvPr/>
            </p:nvSpPr>
            <p:spPr bwMode="auto">
              <a:xfrm>
                <a:off x="654" y="1846"/>
                <a:ext cx="0" cy="14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20"/>
              <p:cNvSpPr>
                <a:spLocks noChangeShapeType="1"/>
              </p:cNvSpPr>
              <p:nvPr/>
            </p:nvSpPr>
            <p:spPr bwMode="auto">
              <a:xfrm>
                <a:off x="1320" y="1846"/>
                <a:ext cx="0" cy="13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1"/>
              <p:cNvSpPr txBox="1">
                <a:spLocks noChangeArrowheads="1"/>
              </p:cNvSpPr>
              <p:nvPr/>
            </p:nvSpPr>
            <p:spPr bwMode="auto">
              <a:xfrm>
                <a:off x="8" y="394"/>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3000H</a:t>
                </a:r>
                <a:endParaRPr lang="zh-CN" altLang="zh-CN">
                  <a:latin typeface="Times New Roman" panose="02020603050405020304" pitchFamily="18" charset="0"/>
                </a:endParaRPr>
              </a:p>
            </p:txBody>
          </p:sp>
          <p:sp>
            <p:nvSpPr>
              <p:cNvPr id="22" name="Text Box 22"/>
              <p:cNvSpPr txBox="1">
                <a:spLocks noChangeArrowheads="1"/>
              </p:cNvSpPr>
              <p:nvPr/>
            </p:nvSpPr>
            <p:spPr bwMode="auto">
              <a:xfrm>
                <a:off x="723" y="1136"/>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23" name="Text Box 23"/>
              <p:cNvSpPr txBox="1">
                <a:spLocks noChangeArrowheads="1"/>
              </p:cNvSpPr>
              <p:nvPr/>
            </p:nvSpPr>
            <p:spPr bwMode="auto">
              <a:xfrm>
                <a:off x="734" y="893"/>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24" name="Text Box 24"/>
              <p:cNvSpPr txBox="1">
                <a:spLocks noChangeArrowheads="1"/>
              </p:cNvSpPr>
              <p:nvPr/>
            </p:nvSpPr>
            <p:spPr bwMode="auto">
              <a:xfrm>
                <a:off x="0" y="64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3001H</a:t>
                </a:r>
                <a:endParaRPr lang="zh-CN" altLang="zh-CN">
                  <a:latin typeface="Times New Roman" panose="02020603050405020304" pitchFamily="18" charset="0"/>
                </a:endParaRPr>
              </a:p>
            </p:txBody>
          </p:sp>
          <p:sp>
            <p:nvSpPr>
              <p:cNvPr id="25" name="Text Box 25"/>
              <p:cNvSpPr txBox="1">
                <a:spLocks noChangeArrowheads="1"/>
              </p:cNvSpPr>
              <p:nvPr/>
            </p:nvSpPr>
            <p:spPr bwMode="auto">
              <a:xfrm>
                <a:off x="8" y="901"/>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3002H</a:t>
                </a:r>
                <a:endParaRPr lang="zh-CN" altLang="zh-CN">
                  <a:latin typeface="Times New Roman" panose="02020603050405020304" pitchFamily="18" charset="0"/>
                </a:endParaRPr>
              </a:p>
            </p:txBody>
          </p:sp>
          <p:sp>
            <p:nvSpPr>
              <p:cNvPr id="26" name="Text Box 26"/>
              <p:cNvSpPr txBox="1">
                <a:spLocks noChangeArrowheads="1"/>
              </p:cNvSpPr>
              <p:nvPr/>
            </p:nvSpPr>
            <p:spPr bwMode="auto">
              <a:xfrm>
                <a:off x="2" y="1147"/>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3003H</a:t>
                </a:r>
                <a:endParaRPr lang="zh-CN" altLang="zh-CN">
                  <a:latin typeface="Times New Roman" panose="02020603050405020304" pitchFamily="18" charset="0"/>
                </a:endParaRPr>
              </a:p>
            </p:txBody>
          </p:sp>
          <p:sp>
            <p:nvSpPr>
              <p:cNvPr id="27" name="Text Box 27"/>
              <p:cNvSpPr txBox="1">
                <a:spLocks noChangeArrowheads="1"/>
              </p:cNvSpPr>
              <p:nvPr/>
            </p:nvSpPr>
            <p:spPr bwMode="auto">
              <a:xfrm>
                <a:off x="732" y="638"/>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56H</a:t>
                </a:r>
                <a:endParaRPr lang="zh-CN" altLang="zh-CN">
                  <a:latin typeface="Times New Roman" panose="02020603050405020304" pitchFamily="18" charset="0"/>
                </a:endParaRPr>
              </a:p>
            </p:txBody>
          </p:sp>
          <p:sp>
            <p:nvSpPr>
              <p:cNvPr id="28" name="Text Box 28"/>
              <p:cNvSpPr txBox="1">
                <a:spLocks noChangeArrowheads="1"/>
              </p:cNvSpPr>
              <p:nvPr/>
            </p:nvSpPr>
            <p:spPr bwMode="auto">
              <a:xfrm>
                <a:off x="739" y="392"/>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78H</a:t>
                </a:r>
                <a:endParaRPr lang="zh-CN" altLang="zh-CN">
                  <a:latin typeface="Times New Roman" panose="02020603050405020304" pitchFamily="18" charset="0"/>
                </a:endParaRPr>
              </a:p>
            </p:txBody>
          </p:sp>
        </p:grpSp>
      </p:grpSp>
      <p:sp>
        <p:nvSpPr>
          <p:cNvPr id="29" name="AutoShape 29"/>
          <p:cNvSpPr/>
          <p:nvPr/>
        </p:nvSpPr>
        <p:spPr bwMode="auto">
          <a:xfrm>
            <a:off x="5699125" y="2970213"/>
            <a:ext cx="230188" cy="468312"/>
          </a:xfrm>
          <a:prstGeom prst="rightBrace">
            <a:avLst>
              <a:gd name="adj1" fmla="val 1695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0" name="Line 30"/>
          <p:cNvSpPr>
            <a:spLocks noChangeShapeType="1"/>
          </p:cNvSpPr>
          <p:nvPr/>
        </p:nvSpPr>
        <p:spPr bwMode="auto">
          <a:xfrm>
            <a:off x="6007100" y="3213100"/>
            <a:ext cx="957263" cy="0"/>
          </a:xfrm>
          <a:prstGeom prst="line">
            <a:avLst/>
          </a:prstGeom>
          <a:noFill/>
          <a:ln w="38100" cmpd="sng">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Text Box 31"/>
          <p:cNvSpPr txBox="1">
            <a:spLocks noChangeArrowheads="1"/>
          </p:cNvSpPr>
          <p:nvPr/>
        </p:nvSpPr>
        <p:spPr bwMode="auto">
          <a:xfrm>
            <a:off x="6915150" y="2990850"/>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SI</a:t>
            </a:r>
            <a:endParaRPr lang="zh-CN" altLang="zh-CN">
              <a:latin typeface="Times New Roman" panose="02020603050405020304" pitchFamily="18" charset="0"/>
            </a:endParaRPr>
          </a:p>
        </p:txBody>
      </p:sp>
      <p:sp>
        <p:nvSpPr>
          <p:cNvPr id="32" name="Text Box 32"/>
          <p:cNvSpPr txBox="1">
            <a:spLocks noChangeArrowheads="1"/>
          </p:cNvSpPr>
          <p:nvPr/>
        </p:nvSpPr>
        <p:spPr bwMode="auto">
          <a:xfrm>
            <a:off x="7431088" y="3679825"/>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=1234H</a:t>
            </a:r>
            <a:endParaRPr lang="zh-CN" altLang="zh-CN">
              <a:latin typeface="Times New Roman" panose="02020603050405020304" pitchFamily="18" charset="0"/>
            </a:endParaRPr>
          </a:p>
        </p:txBody>
      </p:sp>
      <p:sp>
        <p:nvSpPr>
          <p:cNvPr id="33" name="Text Box 33"/>
          <p:cNvSpPr txBox="1">
            <a:spLocks noChangeArrowheads="1"/>
          </p:cNvSpPr>
          <p:nvPr/>
        </p:nvSpPr>
        <p:spPr bwMode="auto">
          <a:xfrm>
            <a:off x="7383463" y="300196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=5678H</a:t>
            </a:r>
            <a:endParaRPr lang="zh-CN"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7" presetClass="entr" presetSubtype="8" fill="hold"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ppt_x</p:attrName>
                                        </p:attrNameLst>
                                      </p:cBhvr>
                                      <p:tavLst>
                                        <p:tav tm="0">
                                          <p:val>
                                            <p:strVal val="#ppt_x-#ppt_w/2"/>
                                          </p:val>
                                        </p:tav>
                                        <p:tav tm="100000">
                                          <p:val>
                                            <p:strVal val="#ppt_x"/>
                                          </p:val>
                                        </p:tav>
                                      </p:tavLst>
                                    </p:anim>
                                    <p:anim calcmode="lin" valueType="num">
                                      <p:cBhvr>
                                        <p:cTn id="13" dur="500" fill="hold"/>
                                        <p:tgtEl>
                                          <p:spTgt spid="30"/>
                                        </p:tgtEl>
                                        <p:attrNameLst>
                                          <p:attrName>ppt_y</p:attrName>
                                        </p:attrNameLst>
                                      </p:cBhvr>
                                      <p:tavLst>
                                        <p:tav tm="0">
                                          <p:val>
                                            <p:strVal val="#ppt_y"/>
                                          </p:val>
                                        </p:tav>
                                        <p:tav tm="100000">
                                          <p:val>
                                            <p:strVal val="#ppt_y"/>
                                          </p:val>
                                        </p:tav>
                                      </p:tavLst>
                                    </p:anim>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2" presetClass="entr" presetSubtype="4"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2" presetClass="entr" presetSubtype="4"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17" presetClass="entr" presetSubtype="8"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ppt_x</p:attrName>
                                        </p:attrNameLst>
                                      </p:cBhvr>
                                      <p:tavLst>
                                        <p:tav tm="0">
                                          <p:val>
                                            <p:strVal val="#ppt_x-#ppt_w/2"/>
                                          </p:val>
                                        </p:tav>
                                        <p:tav tm="100000">
                                          <p:val>
                                            <p:strVal val="#ppt_x"/>
                                          </p:val>
                                        </p:tav>
                                      </p:tavLst>
                                    </p:anim>
                                    <p:anim calcmode="lin" valueType="num">
                                      <p:cBhvr>
                                        <p:cTn id="30" dur="500" fill="hold"/>
                                        <p:tgtEl>
                                          <p:spTgt spid="5"/>
                                        </p:tgtEl>
                                        <p:attrNameLst>
                                          <p:attrName>ppt_y</p:attrName>
                                        </p:attrNameLst>
                                      </p:cBhvr>
                                      <p:tavLst>
                                        <p:tav tm="0">
                                          <p:val>
                                            <p:strVal val="#ppt_y"/>
                                          </p:val>
                                        </p:tav>
                                        <p:tav tm="100000">
                                          <p:val>
                                            <p:strVal val="#ppt_y"/>
                                          </p:val>
                                        </p:tav>
                                      </p:tavLst>
                                    </p:anim>
                                    <p:anim calcmode="lin" valueType="num">
                                      <p:cBhvr>
                                        <p:cTn id="31" dur="500" fill="hold"/>
                                        <p:tgtEl>
                                          <p:spTgt spid="5"/>
                                        </p:tgtEl>
                                        <p:attrNameLst>
                                          <p:attrName>ppt_w</p:attrName>
                                        </p:attrNameLst>
                                      </p:cBhvr>
                                      <p:tavLst>
                                        <p:tav tm="0">
                                          <p:val>
                                            <p:fltVal val="0"/>
                                          </p:val>
                                        </p:tav>
                                        <p:tav tm="100000">
                                          <p:val>
                                            <p:strVal val="#ppt_w"/>
                                          </p:val>
                                        </p:tav>
                                      </p:tavLst>
                                    </p:anim>
                                    <p:anim calcmode="lin" valueType="num">
                                      <p:cBhvr>
                                        <p:cTn id="32" dur="500" fill="hold"/>
                                        <p:tgtEl>
                                          <p:spTgt spid="5"/>
                                        </p:tgtEl>
                                        <p:attrNameLst>
                                          <p:attrName>ppt_h</p:attrName>
                                        </p:attrNameLst>
                                      </p:cBhvr>
                                      <p:tavLst>
                                        <p:tav tm="0">
                                          <p:val>
                                            <p:strVal val="#ppt_h"/>
                                          </p:val>
                                        </p:tav>
                                        <p:tav tm="100000">
                                          <p:val>
                                            <p:strVal val="#ppt_h"/>
                                          </p:val>
                                        </p:tav>
                                      </p:tavLst>
                                    </p:anim>
                                  </p:childTnLst>
                                </p:cTn>
                              </p:par>
                            </p:childTnLst>
                          </p:cTn>
                        </p:par>
                        <p:par>
                          <p:cTn id="33" fill="hold">
                            <p:stCondLst>
                              <p:cond delay="2500"/>
                            </p:stCondLst>
                            <p:childTnLst>
                              <p:par>
                                <p:cTn id="34" presetID="2" presetClass="entr" presetSubtype="4"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ppt_x"/>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ppt_x"/>
                                          </p:val>
                                        </p:tav>
                                        <p:tav tm="100000">
                                          <p:val>
                                            <p:strVal val="#ppt_x"/>
                                          </p:val>
                                        </p:tav>
                                      </p:tavLst>
                                    </p:anim>
                                    <p:anim calcmode="lin" valueType="num">
                                      <p:cBhvr additive="base">
                                        <p:cTn id="4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2"/>
                                        </p:tgtEl>
                                        <p:attrNameLst>
                                          <p:attrName>style.visibility</p:attrName>
                                        </p:attrNameLst>
                                      </p:cBhvr>
                                      <p:to>
                                        <p:strVal val="visible"/>
                                      </p:to>
                                    </p:set>
                                    <p:anim calcmode="lin" valueType="num">
                                      <p:cBhvr additive="base">
                                        <p:cTn id="48" dur="500" fill="hold"/>
                                        <p:tgtEl>
                                          <p:spTgt spid="32"/>
                                        </p:tgtEl>
                                        <p:attrNameLst>
                                          <p:attrName>ppt_x</p:attrName>
                                        </p:attrNameLst>
                                      </p:cBhvr>
                                      <p:tavLst>
                                        <p:tav tm="0">
                                          <p:val>
                                            <p:strVal val="#ppt_x"/>
                                          </p:val>
                                        </p:tav>
                                        <p:tav tm="100000">
                                          <p:val>
                                            <p:strVal val="#ppt_x"/>
                                          </p:val>
                                        </p:tav>
                                      </p:tavLst>
                                    </p:anim>
                                    <p:anim calcmode="lin" valueType="num">
                                      <p:cBhvr additive="base">
                                        <p:cTn id="49"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6" grpId="0" autoUpdateAnimBg="0"/>
      <p:bldP spid="29" grpId="0" animBg="1" autoUpdateAnimBg="0"/>
      <p:bldP spid="31" grpId="0" autoUpdateAnimBg="0"/>
      <p:bldP spid="32" grpId="0" autoUpdateAnimBg="0"/>
      <p:bldP spid="3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输入输出指令</a:t>
            </a:r>
            <a:endParaRPr lang="zh-CN" altLang="en-US" dirty="0"/>
          </a:p>
        </p:txBody>
      </p:sp>
      <p:sp>
        <p:nvSpPr>
          <p:cNvPr id="3" name="内容占位符 2"/>
          <p:cNvSpPr>
            <a:spLocks noGrp="1"/>
          </p:cNvSpPr>
          <p:nvPr>
            <p:ph idx="1"/>
          </p:nvPr>
        </p:nvSpPr>
        <p:spPr/>
        <p:txBody>
          <a:bodyPr>
            <a:normAutofit/>
          </a:bodyPr>
          <a:lstStyle/>
          <a:p>
            <a:r>
              <a:rPr lang="zh-CN" altLang="en-US" dirty="0"/>
              <a:t>输入</a:t>
            </a:r>
            <a:r>
              <a:rPr lang="en-US" altLang="zh-CN" dirty="0"/>
              <a:t>/</a:t>
            </a:r>
            <a:r>
              <a:rPr lang="zh-CN" altLang="en-US" dirty="0"/>
              <a:t>输出指令用于完成输入</a:t>
            </a:r>
            <a:r>
              <a:rPr lang="en-US" altLang="zh-CN" dirty="0"/>
              <a:t>/</a:t>
            </a:r>
            <a:r>
              <a:rPr lang="zh-CN" altLang="en-US" dirty="0"/>
              <a:t>输出端口与累加器</a:t>
            </a:r>
            <a:r>
              <a:rPr lang="en-US" altLang="zh-CN" dirty="0"/>
              <a:t>(AL/AX)</a:t>
            </a:r>
            <a:r>
              <a:rPr lang="zh-CN" altLang="en-US" dirty="0"/>
              <a:t>之间的数据传送，指令中给出输入</a:t>
            </a:r>
            <a:r>
              <a:rPr lang="en-US" altLang="zh-CN" dirty="0"/>
              <a:t>/</a:t>
            </a:r>
            <a:r>
              <a:rPr lang="zh-CN" altLang="en-US" dirty="0"/>
              <a:t>输出端口的地址。</a:t>
            </a:r>
            <a:endParaRPr lang="zh-CN" altLang="en-US" dirty="0"/>
          </a:p>
          <a:p>
            <a:r>
              <a:rPr lang="zh-CN" altLang="en-US" dirty="0"/>
              <a:t>包括：</a:t>
            </a:r>
            <a:endParaRPr lang="en-US" altLang="zh-CN" dirty="0"/>
          </a:p>
          <a:p>
            <a:pPr lvl="1"/>
            <a:r>
              <a:rPr lang="zh-CN" altLang="en-US" dirty="0"/>
              <a:t>输入指令</a:t>
            </a:r>
            <a:r>
              <a:rPr lang="en-US" altLang="zh-CN" dirty="0"/>
              <a:t>IN</a:t>
            </a:r>
            <a:endParaRPr lang="en-US" altLang="zh-CN" dirty="0"/>
          </a:p>
          <a:p>
            <a:pPr lvl="1"/>
            <a:r>
              <a:rPr lang="zh-CN" altLang="en-US" dirty="0"/>
              <a:t>输出指令</a:t>
            </a:r>
            <a:r>
              <a:rPr lang="en-US" altLang="zh-CN" dirty="0"/>
              <a:t>OUT</a:t>
            </a:r>
            <a:endParaRPr lang="en-US" altLang="zh-CN" dirty="0"/>
          </a:p>
          <a:p>
            <a:r>
              <a:rPr lang="zh-CN" altLang="en-US" dirty="0"/>
              <a:t>输入</a:t>
            </a:r>
            <a:r>
              <a:rPr lang="en-US" altLang="zh-CN" dirty="0"/>
              <a:t>/</a:t>
            </a:r>
            <a:r>
              <a:rPr lang="zh-CN" altLang="en-US" dirty="0"/>
              <a:t>输出指令对标志寄存器没有影响。</a:t>
            </a:r>
            <a:endParaRPr lang="zh-CN" altLang="en-US" dirty="0"/>
          </a:p>
          <a:p>
            <a:r>
              <a:rPr lang="zh-CN" altLang="en-US" dirty="0"/>
              <a:t>端口地址大于</a:t>
            </a:r>
            <a:r>
              <a:rPr lang="en-US" altLang="zh-CN" dirty="0"/>
              <a:t>255</a:t>
            </a:r>
            <a:r>
              <a:rPr lang="zh-CN" altLang="en-US" dirty="0"/>
              <a:t>时，必须用</a:t>
            </a:r>
            <a:r>
              <a:rPr lang="en-US" altLang="zh-CN" dirty="0"/>
              <a:t>DX</a:t>
            </a:r>
            <a:r>
              <a:rPr lang="zh-CN" altLang="en-US" dirty="0"/>
              <a:t>指定端口地址。</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输入指令</a:t>
            </a:r>
            <a:r>
              <a:rPr lang="en-US" altLang="zh-CN" dirty="0"/>
              <a:t>IN</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IN OPD</a:t>
            </a:r>
            <a:r>
              <a:rPr lang="zh-CN" altLang="en-US" dirty="0"/>
              <a:t>，</a:t>
            </a:r>
            <a:r>
              <a:rPr lang="en-US" altLang="zh-CN" dirty="0"/>
              <a:t>OPS</a:t>
            </a:r>
            <a:endParaRPr lang="en-US" altLang="zh-CN" dirty="0"/>
          </a:p>
          <a:p>
            <a:r>
              <a:rPr lang="zh-CN" altLang="en-US" dirty="0"/>
              <a:t>功能：从端口</a:t>
            </a:r>
            <a:r>
              <a:rPr lang="en-US" altLang="zh-CN" dirty="0"/>
              <a:t>(</a:t>
            </a:r>
            <a:r>
              <a:rPr lang="zh-CN" altLang="en-US" dirty="0"/>
              <a:t>地址为</a:t>
            </a:r>
            <a:r>
              <a:rPr lang="en-US" altLang="zh-CN" dirty="0"/>
              <a:t>n</a:t>
            </a:r>
            <a:r>
              <a:rPr lang="zh-CN" altLang="en-US" dirty="0"/>
              <a:t>或在</a:t>
            </a:r>
            <a:r>
              <a:rPr lang="en-US" altLang="zh-CN" dirty="0"/>
              <a:t>DX</a:t>
            </a:r>
            <a:r>
              <a:rPr lang="zh-CN" altLang="en-US" dirty="0"/>
              <a:t>中</a:t>
            </a:r>
            <a:r>
              <a:rPr lang="en-US" altLang="zh-CN" dirty="0"/>
              <a:t>)</a:t>
            </a:r>
            <a:r>
              <a:rPr lang="zh-CN" altLang="en-US" dirty="0"/>
              <a:t>输入８位数据到</a:t>
            </a:r>
            <a:r>
              <a:rPr lang="en-US" altLang="zh-CN" dirty="0"/>
              <a:t>AL</a:t>
            </a:r>
            <a:r>
              <a:rPr lang="zh-CN" altLang="en-US" dirty="0"/>
              <a:t>或输入</a:t>
            </a:r>
            <a:r>
              <a:rPr lang="en-US" altLang="zh-CN" dirty="0"/>
              <a:t>16</a:t>
            </a:r>
            <a:r>
              <a:rPr lang="zh-CN" altLang="en-US" dirty="0"/>
              <a:t>位数据到</a:t>
            </a:r>
            <a:r>
              <a:rPr lang="en-US" altLang="zh-CN" dirty="0"/>
              <a:t>AX</a:t>
            </a:r>
            <a:r>
              <a:rPr lang="zh-CN" altLang="en-US" dirty="0"/>
              <a:t>。</a:t>
            </a:r>
            <a:endParaRPr lang="en-US" altLang="zh-CN" dirty="0"/>
          </a:p>
          <a:p>
            <a:pPr lvl="1"/>
            <a:r>
              <a:rPr lang="en-US" altLang="zh-CN" dirty="0"/>
              <a:t>IN AL</a:t>
            </a:r>
            <a:r>
              <a:rPr lang="zh-CN" altLang="en-US" dirty="0"/>
              <a:t>，</a:t>
            </a:r>
            <a:r>
              <a:rPr lang="en-US" altLang="zh-CN" dirty="0"/>
              <a:t>40H</a:t>
            </a:r>
            <a:r>
              <a:rPr lang="zh-CN" altLang="en-US" dirty="0"/>
              <a:t>；从</a:t>
            </a:r>
            <a:r>
              <a:rPr lang="en-US" altLang="zh-CN" dirty="0"/>
              <a:t>40H</a:t>
            </a:r>
            <a:r>
              <a:rPr lang="zh-CN" altLang="en-US" dirty="0"/>
              <a:t>端口读入一个字节送</a:t>
            </a:r>
            <a:r>
              <a:rPr lang="en-US" altLang="zh-CN" dirty="0"/>
              <a:t>AL</a:t>
            </a:r>
            <a:endParaRPr lang="en-US" altLang="zh-CN" dirty="0"/>
          </a:p>
          <a:p>
            <a:pPr lvl="1"/>
            <a:r>
              <a:rPr lang="en-US" altLang="zh-CN" dirty="0"/>
              <a:t>IN AX</a:t>
            </a:r>
            <a:r>
              <a:rPr lang="zh-CN" altLang="en-US" dirty="0"/>
              <a:t>，</a:t>
            </a:r>
            <a:r>
              <a:rPr lang="en-US" altLang="zh-CN" dirty="0"/>
              <a:t>80H</a:t>
            </a:r>
            <a:r>
              <a:rPr lang="zh-CN" altLang="en-US" dirty="0"/>
              <a:t>；从</a:t>
            </a:r>
            <a:r>
              <a:rPr lang="en-US" altLang="zh-CN" dirty="0"/>
              <a:t>80H</a:t>
            </a:r>
            <a:r>
              <a:rPr lang="zh-CN" altLang="en-US" dirty="0"/>
              <a:t>端口读入一个字节送</a:t>
            </a:r>
            <a:r>
              <a:rPr lang="en-US" altLang="zh-CN" dirty="0"/>
              <a:t>AL</a:t>
            </a:r>
            <a:r>
              <a:rPr lang="zh-CN" altLang="en-US" dirty="0"/>
              <a:t>，从</a:t>
            </a:r>
            <a:r>
              <a:rPr lang="en-US" altLang="zh-CN" dirty="0"/>
              <a:t>81H</a:t>
            </a:r>
            <a:r>
              <a:rPr lang="zh-CN" altLang="en-US" dirty="0"/>
              <a:t>端口读入一个字节送</a:t>
            </a:r>
            <a:r>
              <a:rPr lang="en-US" altLang="zh-CN" dirty="0"/>
              <a:t>AH</a:t>
            </a:r>
            <a:endParaRPr lang="en-US" altLang="zh-CN" dirty="0"/>
          </a:p>
          <a:p>
            <a:pPr lvl="1"/>
            <a:r>
              <a:rPr lang="en-US" altLang="zh-CN" dirty="0"/>
              <a:t>MOV DX</a:t>
            </a:r>
            <a:r>
              <a:rPr lang="zh-CN" altLang="en-US" dirty="0"/>
              <a:t>，</a:t>
            </a:r>
            <a:r>
              <a:rPr lang="en-US" altLang="zh-CN" dirty="0"/>
              <a:t>8F00H</a:t>
            </a:r>
            <a:r>
              <a:rPr lang="zh-CN" altLang="en-US" dirty="0"/>
              <a:t>；将端口地址</a:t>
            </a:r>
            <a:r>
              <a:rPr lang="en-US" altLang="zh-CN" dirty="0"/>
              <a:t>8F00H</a:t>
            </a:r>
            <a:r>
              <a:rPr lang="zh-CN" altLang="en-US" dirty="0"/>
              <a:t>送</a:t>
            </a:r>
            <a:r>
              <a:rPr lang="en-US" altLang="zh-CN" dirty="0"/>
              <a:t>DX</a:t>
            </a:r>
            <a:endParaRPr lang="en-US" altLang="zh-CN" dirty="0"/>
          </a:p>
          <a:p>
            <a:pPr lvl="1"/>
            <a:r>
              <a:rPr lang="en-US" altLang="zh-CN" dirty="0"/>
              <a:t>IN AL</a:t>
            </a:r>
            <a:r>
              <a:rPr lang="zh-CN" altLang="en-US" dirty="0"/>
              <a:t>，</a:t>
            </a:r>
            <a:r>
              <a:rPr lang="en-US" altLang="zh-CN" dirty="0"/>
              <a:t>DX</a:t>
            </a:r>
            <a:r>
              <a:rPr lang="zh-CN" altLang="en-US" dirty="0"/>
              <a:t>；从</a:t>
            </a:r>
            <a:r>
              <a:rPr lang="en-US" altLang="zh-CN" dirty="0"/>
              <a:t>8F00H</a:t>
            </a:r>
            <a:r>
              <a:rPr lang="zh-CN" altLang="en-US" dirty="0"/>
              <a:t>端口读入一个字节送</a:t>
            </a:r>
            <a:r>
              <a:rPr lang="en-US" altLang="zh-CN" dirty="0"/>
              <a:t>AL</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输出指令</a:t>
            </a:r>
            <a:r>
              <a:rPr lang="en-US" altLang="zh-CN" dirty="0"/>
              <a:t>OUT</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OUT OPD</a:t>
            </a:r>
            <a:r>
              <a:rPr lang="zh-CN" altLang="en-US" dirty="0"/>
              <a:t>，</a:t>
            </a:r>
            <a:r>
              <a:rPr lang="en-US" altLang="zh-CN" dirty="0"/>
              <a:t>OPS</a:t>
            </a:r>
            <a:endParaRPr lang="en-US" altLang="zh-CN" dirty="0"/>
          </a:p>
          <a:p>
            <a:r>
              <a:rPr lang="zh-CN" altLang="en-US" dirty="0"/>
              <a:t>功能：从</a:t>
            </a:r>
            <a:r>
              <a:rPr lang="en-US" altLang="zh-CN" dirty="0"/>
              <a:t>AL</a:t>
            </a:r>
            <a:r>
              <a:rPr lang="zh-CN" altLang="en-US" dirty="0"/>
              <a:t>输出</a:t>
            </a:r>
            <a:r>
              <a:rPr lang="en-US" altLang="zh-CN" dirty="0"/>
              <a:t>8</a:t>
            </a:r>
            <a:r>
              <a:rPr lang="zh-CN" altLang="en-US" dirty="0"/>
              <a:t>位数据或从</a:t>
            </a:r>
            <a:r>
              <a:rPr lang="en-US" altLang="zh-CN" dirty="0"/>
              <a:t>AX</a:t>
            </a:r>
            <a:r>
              <a:rPr lang="zh-CN" altLang="en-US" dirty="0"/>
              <a:t>输出</a:t>
            </a:r>
            <a:r>
              <a:rPr lang="en-US" altLang="zh-CN" dirty="0"/>
              <a:t>16</a:t>
            </a:r>
            <a:r>
              <a:rPr lang="zh-CN" altLang="en-US" dirty="0"/>
              <a:t>位数据到端口</a:t>
            </a:r>
            <a:r>
              <a:rPr lang="en-US" altLang="zh-CN" dirty="0"/>
              <a:t>(</a:t>
            </a:r>
            <a:r>
              <a:rPr lang="zh-CN" altLang="en-US" dirty="0"/>
              <a:t>地址为</a:t>
            </a:r>
            <a:r>
              <a:rPr lang="en-US" altLang="zh-CN" dirty="0"/>
              <a:t>n</a:t>
            </a:r>
            <a:r>
              <a:rPr lang="zh-CN" altLang="en-US" dirty="0"/>
              <a:t>或在</a:t>
            </a:r>
            <a:r>
              <a:rPr lang="en-US" altLang="zh-CN" dirty="0"/>
              <a:t>DX</a:t>
            </a:r>
            <a:r>
              <a:rPr lang="zh-CN" altLang="en-US" dirty="0"/>
              <a:t>中</a:t>
            </a:r>
            <a:r>
              <a:rPr lang="en-US" altLang="zh-CN" dirty="0"/>
              <a:t>)</a:t>
            </a:r>
            <a:r>
              <a:rPr lang="zh-CN" altLang="en-US" dirty="0"/>
              <a:t>。</a:t>
            </a:r>
            <a:endParaRPr lang="en-US" altLang="zh-CN" dirty="0"/>
          </a:p>
          <a:p>
            <a:pPr lvl="1"/>
            <a:r>
              <a:rPr lang="en-US" altLang="zh-CN" dirty="0"/>
              <a:t>OUT  40H</a:t>
            </a:r>
            <a:r>
              <a:rPr lang="zh-CN" altLang="en-US" dirty="0"/>
              <a:t>，</a:t>
            </a:r>
            <a:r>
              <a:rPr lang="en-US" altLang="zh-CN" dirty="0"/>
              <a:t>AL</a:t>
            </a:r>
            <a:r>
              <a:rPr lang="zh-CN" altLang="en-US" dirty="0"/>
              <a:t>；     将</a:t>
            </a:r>
            <a:r>
              <a:rPr lang="en-US" altLang="zh-CN" dirty="0"/>
              <a:t>AL</a:t>
            </a:r>
            <a:r>
              <a:rPr lang="zh-CN" altLang="en-US" dirty="0"/>
              <a:t>内容送</a:t>
            </a:r>
            <a:r>
              <a:rPr lang="en-US" altLang="zh-CN" dirty="0"/>
              <a:t>40H</a:t>
            </a:r>
            <a:r>
              <a:rPr lang="zh-CN" altLang="en-US" dirty="0"/>
              <a:t>端口</a:t>
            </a:r>
            <a:endParaRPr lang="en-US" altLang="zh-CN" dirty="0"/>
          </a:p>
          <a:p>
            <a:pPr lvl="1"/>
            <a:r>
              <a:rPr lang="en-US" altLang="zh-CN" dirty="0"/>
              <a:t>OUT  80H</a:t>
            </a:r>
            <a:r>
              <a:rPr lang="zh-CN" altLang="en-US" dirty="0"/>
              <a:t>，</a:t>
            </a:r>
            <a:r>
              <a:rPr lang="en-US" altLang="zh-CN" dirty="0"/>
              <a:t>AX</a:t>
            </a:r>
            <a:r>
              <a:rPr lang="zh-CN" altLang="en-US" dirty="0"/>
              <a:t>；    将</a:t>
            </a:r>
            <a:r>
              <a:rPr lang="en-US" altLang="zh-CN" dirty="0"/>
              <a:t>AL</a:t>
            </a:r>
            <a:r>
              <a:rPr lang="zh-CN" altLang="en-US" dirty="0"/>
              <a:t>内容送</a:t>
            </a:r>
            <a:r>
              <a:rPr lang="en-US" altLang="zh-CN" dirty="0"/>
              <a:t>80H</a:t>
            </a:r>
            <a:r>
              <a:rPr lang="zh-CN" altLang="en-US" dirty="0"/>
              <a:t>端口，</a:t>
            </a:r>
            <a:endParaRPr lang="en-US" altLang="zh-CN" dirty="0"/>
          </a:p>
          <a:p>
            <a:pPr marL="457200" lvl="1" indent="0">
              <a:buNone/>
            </a:pPr>
            <a:r>
              <a:rPr lang="zh-CN" altLang="en-US" dirty="0"/>
              <a:t>                                       将</a:t>
            </a:r>
            <a:r>
              <a:rPr lang="en-US" altLang="zh-CN" dirty="0"/>
              <a:t>AH</a:t>
            </a:r>
            <a:r>
              <a:rPr lang="zh-CN" altLang="en-US" dirty="0"/>
              <a:t>的内容送</a:t>
            </a:r>
            <a:r>
              <a:rPr lang="en-US" altLang="zh-CN" dirty="0"/>
              <a:t>81H</a:t>
            </a:r>
            <a:r>
              <a:rPr lang="zh-CN" altLang="en-US" dirty="0"/>
              <a:t>端口</a:t>
            </a:r>
            <a:endParaRPr lang="en-US" altLang="zh-CN" dirty="0"/>
          </a:p>
          <a:p>
            <a:pPr lvl="1"/>
            <a:r>
              <a:rPr lang="en-US" altLang="zh-CN" dirty="0"/>
              <a:t>MOV  DX</a:t>
            </a:r>
            <a:r>
              <a:rPr lang="zh-CN" altLang="en-US" dirty="0"/>
              <a:t>，</a:t>
            </a:r>
            <a:r>
              <a:rPr lang="en-US" altLang="zh-CN" dirty="0"/>
              <a:t>8F00H</a:t>
            </a:r>
            <a:r>
              <a:rPr lang="zh-CN" altLang="en-US" dirty="0"/>
              <a:t>；将端口地址</a:t>
            </a:r>
            <a:r>
              <a:rPr lang="en-US" altLang="zh-CN" dirty="0"/>
              <a:t>8F00H</a:t>
            </a:r>
            <a:r>
              <a:rPr lang="zh-CN" altLang="en-US" dirty="0"/>
              <a:t>送</a:t>
            </a:r>
            <a:r>
              <a:rPr lang="en-US" altLang="zh-CN" dirty="0"/>
              <a:t>DX</a:t>
            </a:r>
            <a:endParaRPr lang="en-US" altLang="zh-CN" dirty="0"/>
          </a:p>
          <a:p>
            <a:pPr lvl="1"/>
            <a:r>
              <a:rPr lang="en-US" altLang="zh-CN" dirty="0"/>
              <a:t>OUT  DX</a:t>
            </a:r>
            <a:r>
              <a:rPr lang="zh-CN" altLang="en-US" dirty="0"/>
              <a:t>，</a:t>
            </a:r>
            <a:r>
              <a:rPr lang="en-US" altLang="zh-CN" dirty="0"/>
              <a:t>AL</a:t>
            </a:r>
            <a:r>
              <a:rPr lang="zh-CN" altLang="en-US" dirty="0"/>
              <a:t>；       将</a:t>
            </a:r>
            <a:r>
              <a:rPr lang="en-US" altLang="zh-CN" dirty="0"/>
              <a:t>AL</a:t>
            </a:r>
            <a:r>
              <a:rPr lang="zh-CN" altLang="en-US" dirty="0"/>
              <a:t>内容送</a:t>
            </a:r>
            <a:r>
              <a:rPr lang="en-US" altLang="zh-CN" dirty="0"/>
              <a:t>8F00H</a:t>
            </a:r>
            <a:r>
              <a:rPr lang="zh-CN" altLang="en-US" dirty="0"/>
              <a:t>端口</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算术运算类指令</a:t>
            </a:r>
            <a:endParaRPr lang="zh-CN" altLang="en-US" dirty="0"/>
          </a:p>
        </p:txBody>
      </p:sp>
      <p:sp>
        <p:nvSpPr>
          <p:cNvPr id="3" name="内容占位符 2"/>
          <p:cNvSpPr>
            <a:spLocks noGrp="1"/>
          </p:cNvSpPr>
          <p:nvPr>
            <p:ph idx="1"/>
          </p:nvPr>
        </p:nvSpPr>
        <p:spPr/>
        <p:txBody>
          <a:bodyPr>
            <a:normAutofit/>
          </a:bodyPr>
          <a:lstStyle/>
          <a:p>
            <a:r>
              <a:rPr lang="zh-CN" altLang="en-US" dirty="0"/>
              <a:t>加法指令</a:t>
            </a:r>
            <a:endParaRPr lang="zh-CN" altLang="en-US" dirty="0"/>
          </a:p>
          <a:p>
            <a:r>
              <a:rPr lang="zh-CN" altLang="en-US" dirty="0"/>
              <a:t>减法指令</a:t>
            </a:r>
            <a:endParaRPr lang="zh-CN" altLang="en-US" dirty="0"/>
          </a:p>
          <a:p>
            <a:r>
              <a:rPr lang="zh-CN" altLang="en-US" dirty="0"/>
              <a:t>乘法指令</a:t>
            </a:r>
            <a:endParaRPr lang="zh-CN" altLang="en-US" dirty="0"/>
          </a:p>
          <a:p>
            <a:r>
              <a:rPr lang="zh-CN" altLang="en-US" dirty="0"/>
              <a:t>符号扩展指令</a:t>
            </a:r>
            <a:endParaRPr lang="zh-CN" altLang="en-US" dirty="0"/>
          </a:p>
          <a:p>
            <a:r>
              <a:rPr lang="zh-CN" altLang="en-US" dirty="0"/>
              <a:t>除运算指令</a:t>
            </a:r>
            <a:endParaRPr lang="zh-CN" altLang="en-US" dirty="0"/>
          </a:p>
          <a:p>
            <a:r>
              <a:rPr lang="zh-CN" altLang="en-US" dirty="0"/>
              <a:t>十进制调整指令</a:t>
            </a:r>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加法指令</a:t>
            </a:r>
            <a:endParaRPr lang="zh-CN" altLang="en-US" dirty="0"/>
          </a:p>
        </p:txBody>
      </p:sp>
      <p:sp>
        <p:nvSpPr>
          <p:cNvPr id="3" name="内容占位符 2"/>
          <p:cNvSpPr>
            <a:spLocks noGrp="1"/>
          </p:cNvSpPr>
          <p:nvPr>
            <p:ph idx="1"/>
          </p:nvPr>
        </p:nvSpPr>
        <p:spPr/>
        <p:txBody>
          <a:bodyPr/>
          <a:lstStyle/>
          <a:p>
            <a:r>
              <a:rPr lang="zh-CN" altLang="en-US" dirty="0"/>
              <a:t>不带进位加法指令</a:t>
            </a:r>
            <a:r>
              <a:rPr lang="en-US" altLang="zh-CN" dirty="0"/>
              <a:t>ADD</a:t>
            </a:r>
            <a:endParaRPr lang="en-US" altLang="zh-CN" dirty="0"/>
          </a:p>
          <a:p>
            <a:r>
              <a:rPr lang="zh-CN" altLang="en-US" dirty="0"/>
              <a:t>带进位加法指令</a:t>
            </a:r>
            <a:r>
              <a:rPr lang="en-US" altLang="zh-CN" dirty="0" smtClean="0"/>
              <a:t>ADC(add with carry)</a:t>
            </a:r>
            <a:endParaRPr lang="en-US" altLang="zh-CN" dirty="0"/>
          </a:p>
          <a:p>
            <a:r>
              <a:rPr lang="zh-CN" altLang="en-US" dirty="0"/>
              <a:t>加</a:t>
            </a:r>
            <a:r>
              <a:rPr lang="en-US" altLang="zh-CN" dirty="0"/>
              <a:t>1</a:t>
            </a:r>
            <a:r>
              <a:rPr lang="zh-CN" altLang="en-US" dirty="0"/>
              <a:t>指令</a:t>
            </a:r>
            <a:r>
              <a:rPr lang="en-US" altLang="zh-CN" dirty="0" smtClean="0"/>
              <a:t>INC(increase 1)</a:t>
            </a:r>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不带进位加法指令</a:t>
            </a:r>
            <a:r>
              <a:rPr lang="en-US" altLang="zh-CN" dirty="0"/>
              <a:t>ADD</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格式：ADD  OPD，OPS</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功能：OPS+OPD</a:t>
            </a:r>
            <a:r>
              <a:rPr lang="zh-CN" altLang="zh-CN" b="0" dirty="0">
                <a:latin typeface="Times New Roman" panose="02020603050405020304" pitchFamily="18" charset="0"/>
                <a:ea typeface="楷体_GB2312" pitchFamily="1" charset="-122"/>
                <a:sym typeface="Wingdings" panose="05000000000000000000" pitchFamily="2" charset="2"/>
              </a:rPr>
              <a:t></a:t>
            </a:r>
            <a:r>
              <a:rPr lang="zh-CN" altLang="zh-CN" b="0" dirty="0">
                <a:latin typeface="Times New Roman" panose="02020603050405020304" pitchFamily="18" charset="0"/>
                <a:ea typeface="楷体_GB2312" pitchFamily="1" charset="-122"/>
              </a:rPr>
              <a:t> OPD。</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影响标志位CF、AF、PF、SF、OF和ZF。</a:t>
            </a:r>
            <a:endParaRPr lang="en-US"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en-US" b="0" dirty="0">
                <a:latin typeface="Times New Roman" panose="02020603050405020304" pitchFamily="18" charset="0"/>
                <a:ea typeface="楷体_GB2312" pitchFamily="1" charset="-122"/>
              </a:rPr>
              <a:t>例：</a:t>
            </a:r>
            <a:r>
              <a:rPr lang="en-US" altLang="zh-CN" b="0" dirty="0">
                <a:latin typeface="Times New Roman" panose="02020603050405020304" pitchFamily="18" charset="0"/>
                <a:ea typeface="楷体_GB2312" pitchFamily="1" charset="-122"/>
              </a:rPr>
              <a:t>MOV  AX</a:t>
            </a:r>
            <a:r>
              <a:rPr lang="zh-CN" altLang="en-US" b="0" dirty="0">
                <a:latin typeface="Times New Roman" panose="02020603050405020304" pitchFamily="18" charset="0"/>
                <a:ea typeface="楷体_GB2312" pitchFamily="1" charset="-122"/>
              </a:rPr>
              <a:t>，</a:t>
            </a:r>
            <a:r>
              <a:rPr lang="en-US" altLang="zh-CN" b="0" dirty="0">
                <a:latin typeface="Times New Roman" panose="02020603050405020304" pitchFamily="18" charset="0"/>
                <a:ea typeface="楷体_GB2312" pitchFamily="1" charset="-122"/>
              </a:rPr>
              <a:t>X1</a:t>
            </a:r>
            <a:endParaRPr lang="en-US" altLang="zh-CN" b="0" dirty="0">
              <a:latin typeface="Times New Roman" panose="02020603050405020304" pitchFamily="18" charset="0"/>
              <a:ea typeface="楷体_GB2312" pitchFamily="1" charset="-122"/>
            </a:endParaRPr>
          </a:p>
          <a:p>
            <a:pPr marL="0" indent="0">
              <a:buNone/>
            </a:pPr>
            <a:r>
              <a:rPr lang="en-US" altLang="zh-CN" b="0" dirty="0">
                <a:latin typeface="Times New Roman" panose="02020603050405020304" pitchFamily="18" charset="0"/>
                <a:ea typeface="楷体_GB2312" pitchFamily="1" charset="-122"/>
              </a:rPr>
              <a:t>            ADD  AX</a:t>
            </a:r>
            <a:r>
              <a:rPr lang="zh-CN" altLang="en-US" b="0" dirty="0">
                <a:latin typeface="Times New Roman" panose="02020603050405020304" pitchFamily="18" charset="0"/>
                <a:ea typeface="楷体_GB2312" pitchFamily="1" charset="-122"/>
              </a:rPr>
              <a:t>，</a:t>
            </a:r>
            <a:r>
              <a:rPr lang="en-US" altLang="zh-CN" b="0" dirty="0">
                <a:latin typeface="Times New Roman" panose="02020603050405020304" pitchFamily="18" charset="0"/>
                <a:ea typeface="楷体_GB2312" pitchFamily="1" charset="-122"/>
              </a:rPr>
              <a:t>X2</a:t>
            </a:r>
            <a:endParaRPr lang="zh-CN" altLang="zh-CN" b="0" dirty="0">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带进位加法指令</a:t>
            </a:r>
            <a:r>
              <a:rPr lang="en-US" altLang="zh-CN" dirty="0"/>
              <a:t>ADC</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格式：ADC  OPD，OPS</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功能：OPS+OPD+CF </a:t>
            </a:r>
            <a:r>
              <a:rPr lang="zh-CN" altLang="zh-CN" b="0" dirty="0">
                <a:latin typeface="Times New Roman" panose="02020603050405020304" pitchFamily="18" charset="0"/>
                <a:ea typeface="楷体_GB2312" pitchFamily="1" charset="-122"/>
                <a:sym typeface="Wingdings" panose="05000000000000000000" pitchFamily="2" charset="2"/>
              </a:rPr>
              <a:t></a:t>
            </a:r>
            <a:r>
              <a:rPr lang="zh-CN" altLang="zh-CN" b="0" dirty="0">
                <a:latin typeface="Times New Roman" panose="02020603050405020304" pitchFamily="18" charset="0"/>
                <a:ea typeface="楷体_GB2312" pitchFamily="1" charset="-122"/>
              </a:rPr>
              <a:t> OPD。</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影响标志位CF、AF、PF、SF、OF和ZF。</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solidFill>
                  <a:schemeClr val="hlink"/>
                </a:solidFill>
                <a:latin typeface="Times New Roman" panose="02020603050405020304" pitchFamily="18" charset="0"/>
                <a:ea typeface="楷体_GB2312" pitchFamily="1" charset="-122"/>
              </a:rPr>
              <a:t>ADC指令常用于多字的加法</a:t>
            </a:r>
            <a:r>
              <a:rPr lang="zh-CN" altLang="zh-CN" b="0" dirty="0">
                <a:latin typeface="Times New Roman" panose="02020603050405020304" pitchFamily="18" charset="0"/>
                <a:ea typeface="楷体_GB2312" pitchFamily="1" charset="-122"/>
              </a:rPr>
              <a:t>。</a:t>
            </a:r>
            <a:r>
              <a:rPr lang="zh-CN" altLang="zh-CN" dirty="0">
                <a:latin typeface="Times New Roman" panose="02020603050405020304" pitchFamily="18" charset="0"/>
                <a:ea typeface="楷体_GB2312" pitchFamily="1" charset="-122"/>
              </a:rPr>
              <a:t> </a:t>
            </a:r>
            <a:endParaRPr lang="zh-CN" altLang="zh-CN" dirty="0">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pic>
        <p:nvPicPr>
          <p:cNvPr id="7" name="内容占位符 6"/>
          <p:cNvPicPr>
            <a:picLocks noGrp="1" noChangeAspect="1"/>
          </p:cNvPicPr>
          <p:nvPr>
            <p:ph idx="1"/>
          </p:nvPr>
        </p:nvPicPr>
        <p:blipFill>
          <a:blip r:embed="rId1" cstate="print"/>
          <a:stretch>
            <a:fillRect/>
          </a:stretch>
        </p:blipFill>
        <p:spPr>
          <a:xfrm>
            <a:off x="692458" y="825623"/>
            <a:ext cx="8877670" cy="531772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加１指令</a:t>
            </a:r>
            <a:endParaRPr lang="zh-CN" altLang="en-US" dirty="0"/>
          </a:p>
        </p:txBody>
      </p:sp>
      <p:sp>
        <p:nvSpPr>
          <p:cNvPr id="3" name="内容占位符 2"/>
          <p:cNvSpPr>
            <a:spLocks noGrp="1"/>
          </p:cNvSpPr>
          <p:nvPr>
            <p:ph idx="1"/>
          </p:nvPr>
        </p:nvSpPr>
        <p:spPr/>
        <p:txBody>
          <a:bodyPr>
            <a:normAutofit fontScale="92500"/>
          </a:bodyPr>
          <a:lstStyle/>
          <a:p>
            <a:pPr>
              <a:lnSpc>
                <a:spcPct val="110000"/>
              </a:lnSpc>
              <a:buFont typeface="Wingdings" panose="05000000000000000000" pitchFamily="2" charset="2"/>
              <a:buChar char="Ø"/>
            </a:pPr>
            <a:r>
              <a:rPr lang="zh-CN" altLang="zh-CN" sz="3000" b="0" dirty="0"/>
              <a:t>格式：INC  OPD</a:t>
            </a:r>
            <a:endParaRPr lang="zh-CN" altLang="zh-CN" sz="3000" b="0" dirty="0"/>
          </a:p>
          <a:p>
            <a:pPr>
              <a:lnSpc>
                <a:spcPct val="110000"/>
              </a:lnSpc>
              <a:buFont typeface="Wingdings" panose="05000000000000000000" pitchFamily="2" charset="2"/>
              <a:buChar char="Ø"/>
            </a:pPr>
            <a:r>
              <a:rPr lang="zh-CN" altLang="zh-CN" sz="3000" b="0" dirty="0"/>
              <a:t>功能：将目的操作数OPD的内容加１，并将结果回送到目的操作数。</a:t>
            </a:r>
            <a:endParaRPr lang="zh-CN" altLang="zh-CN" sz="3000" b="0" dirty="0"/>
          </a:p>
          <a:p>
            <a:pPr>
              <a:lnSpc>
                <a:spcPct val="110000"/>
              </a:lnSpc>
              <a:buFont typeface="Wingdings" panose="05000000000000000000" pitchFamily="2" charset="2"/>
              <a:buChar char="Ø"/>
            </a:pPr>
            <a:r>
              <a:rPr lang="zh-CN" altLang="zh-CN" sz="3000" b="0" dirty="0"/>
              <a:t>影响标志位AF、PF、SF、OF和ZF，但</a:t>
            </a:r>
            <a:r>
              <a:rPr lang="zh-CN" altLang="zh-CN" sz="3000" b="0" dirty="0">
                <a:solidFill>
                  <a:schemeClr val="hlink"/>
                </a:solidFill>
              </a:rPr>
              <a:t>不影响CF标志</a:t>
            </a:r>
            <a:r>
              <a:rPr lang="zh-CN" altLang="zh-CN" sz="3000" b="0" dirty="0"/>
              <a:t>。</a:t>
            </a:r>
            <a:endParaRPr lang="zh-CN" altLang="zh-CN" sz="3000" b="0" dirty="0"/>
          </a:p>
          <a:p>
            <a:pPr marL="0" indent="0">
              <a:lnSpc>
                <a:spcPct val="110000"/>
              </a:lnSpc>
              <a:buNone/>
            </a:pPr>
            <a:r>
              <a:rPr lang="zh-CN" altLang="en-US" sz="3000" dirty="0"/>
              <a:t>   例：</a:t>
            </a:r>
            <a:r>
              <a:rPr lang="zh-CN" altLang="zh-CN" sz="3000" b="0" dirty="0"/>
              <a:t>INC </a:t>
            </a:r>
            <a:r>
              <a:rPr lang="en-US" altLang="zh-CN" sz="3000" b="0" dirty="0"/>
              <a:t> </a:t>
            </a:r>
            <a:r>
              <a:rPr lang="zh-CN" altLang="zh-CN" sz="3000" b="0" dirty="0"/>
              <a:t> AX；</a:t>
            </a:r>
            <a:r>
              <a:rPr lang="en-US" altLang="zh-CN" sz="3000" b="0" dirty="0"/>
              <a:t>            </a:t>
            </a:r>
            <a:r>
              <a:rPr lang="zh-CN" altLang="zh-CN" sz="3000" b="0" dirty="0"/>
              <a:t>AX中内容加１，结果送回AX</a:t>
            </a:r>
            <a:endParaRPr lang="zh-CN" altLang="zh-CN" sz="3000" b="0" dirty="0"/>
          </a:p>
          <a:p>
            <a:pPr marL="0" indent="0">
              <a:lnSpc>
                <a:spcPct val="110000"/>
              </a:lnSpc>
              <a:buNone/>
            </a:pPr>
            <a:r>
              <a:rPr lang="en-US" altLang="zh-CN" sz="3000" b="0" dirty="0"/>
              <a:t>       </a:t>
            </a:r>
            <a:r>
              <a:rPr lang="zh-CN" altLang="zh-CN" sz="3000" b="0" dirty="0"/>
              <a:t>INC  </a:t>
            </a:r>
            <a:r>
              <a:rPr lang="en-US" altLang="zh-CN" sz="3000" b="0" dirty="0"/>
              <a:t>  </a:t>
            </a:r>
            <a:r>
              <a:rPr lang="zh-CN" altLang="zh-CN" sz="3000" b="0" dirty="0"/>
              <a:t>BL；</a:t>
            </a:r>
            <a:r>
              <a:rPr lang="en-US" altLang="zh-CN" sz="3000" b="0" dirty="0"/>
              <a:t>           </a:t>
            </a:r>
            <a:r>
              <a:rPr lang="zh-CN" altLang="zh-CN" sz="3000" b="0" dirty="0"/>
              <a:t>BL中内容加１，结果送回BL</a:t>
            </a:r>
            <a:endParaRPr lang="zh-CN" altLang="zh-CN" sz="3000" dirty="0"/>
          </a:p>
          <a:p>
            <a:pPr marL="0" indent="0">
              <a:lnSpc>
                <a:spcPct val="110000"/>
              </a:lnSpc>
              <a:buNone/>
            </a:pPr>
            <a:r>
              <a:rPr lang="en-US" altLang="zh-CN" sz="3000" b="0" dirty="0"/>
              <a:t>       </a:t>
            </a:r>
            <a:r>
              <a:rPr lang="zh-CN" altLang="zh-CN" sz="3000" b="0" dirty="0"/>
              <a:t>INC  </a:t>
            </a:r>
            <a:r>
              <a:rPr lang="zh-CN" altLang="zh-CN" sz="3000" b="0" dirty="0">
                <a:solidFill>
                  <a:srgbClr val="FF0000"/>
                </a:solidFill>
              </a:rPr>
              <a:t>BYTE </a:t>
            </a:r>
            <a:r>
              <a:rPr lang="en-US" altLang="zh-CN" sz="3000" b="0" dirty="0">
                <a:solidFill>
                  <a:srgbClr val="FF0000"/>
                </a:solidFill>
              </a:rPr>
              <a:t> </a:t>
            </a:r>
            <a:r>
              <a:rPr lang="zh-CN" altLang="zh-CN" sz="3000" b="0" dirty="0">
                <a:solidFill>
                  <a:srgbClr val="FF0000"/>
                </a:solidFill>
              </a:rPr>
              <a:t>PTR [SI] </a:t>
            </a:r>
            <a:r>
              <a:rPr lang="zh-CN" altLang="zh-CN" sz="3000" b="0" dirty="0"/>
              <a:t>；将SI所指内存字节单元内容加</a:t>
            </a:r>
            <a:r>
              <a:rPr lang="en-US" altLang="zh-CN" sz="3000" b="0" dirty="0"/>
              <a:t>                     </a:t>
            </a:r>
            <a:endParaRPr lang="en-US" altLang="zh-CN" sz="3000" b="0" dirty="0"/>
          </a:p>
          <a:p>
            <a:pPr marL="0" indent="0">
              <a:lnSpc>
                <a:spcPct val="110000"/>
              </a:lnSpc>
              <a:buNone/>
            </a:pPr>
            <a:r>
              <a:rPr lang="en-US" altLang="zh-CN" sz="3000" dirty="0"/>
              <a:t>            </a:t>
            </a:r>
            <a:r>
              <a:rPr lang="zh-CN" altLang="en-US" sz="3000" dirty="0" smtClean="0">
                <a:solidFill>
                  <a:srgbClr val="FF0000"/>
                </a:solidFill>
              </a:rPr>
              <a:t>类型设置运算符</a:t>
            </a:r>
            <a:r>
              <a:rPr lang="en-US" altLang="zh-CN" sz="3000" dirty="0" smtClean="0"/>
              <a:t>   </a:t>
            </a:r>
            <a:r>
              <a:rPr lang="zh-CN" altLang="zh-CN" sz="3000" b="0" dirty="0" smtClean="0"/>
              <a:t>１</a:t>
            </a:r>
            <a:r>
              <a:rPr lang="en-US" altLang="zh-CN" sz="3000" dirty="0"/>
              <a:t>,</a:t>
            </a:r>
            <a:r>
              <a:rPr lang="zh-CN" altLang="zh-CN" sz="3000" b="0" dirty="0"/>
              <a:t>并回存</a:t>
            </a:r>
            <a:r>
              <a:rPr lang="zh-CN" altLang="zh-CN" sz="2800" b="0" dirty="0">
                <a:latin typeface="Times New Roman" panose="02020603050405020304" pitchFamily="18" charset="0"/>
                <a:ea typeface="楷体_GB2312" pitchFamily="1" charset="-122"/>
              </a:rPr>
              <a:t>。 </a:t>
            </a:r>
            <a:endParaRPr lang="zh-CN" altLang="zh-CN" sz="28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减法指令</a:t>
            </a:r>
            <a:endParaRPr lang="zh-CN" altLang="en-US" dirty="0"/>
          </a:p>
        </p:txBody>
      </p:sp>
      <p:sp>
        <p:nvSpPr>
          <p:cNvPr id="3" name="内容占位符 2"/>
          <p:cNvSpPr>
            <a:spLocks noGrp="1"/>
          </p:cNvSpPr>
          <p:nvPr>
            <p:ph idx="1"/>
          </p:nvPr>
        </p:nvSpPr>
        <p:spPr/>
        <p:txBody>
          <a:bodyPr/>
          <a:lstStyle/>
          <a:p>
            <a:r>
              <a:rPr lang="zh-CN" altLang="en-US" dirty="0"/>
              <a:t>不带借位的减法指令</a:t>
            </a:r>
            <a:r>
              <a:rPr lang="en-US" altLang="zh-CN" dirty="0" smtClean="0"/>
              <a:t>SUB(</a:t>
            </a:r>
            <a:r>
              <a:rPr lang="en-US" altLang="zh-CN" dirty="0" err="1" smtClean="0"/>
              <a:t>substract</a:t>
            </a:r>
            <a:r>
              <a:rPr lang="en-US" altLang="zh-CN" dirty="0" smtClean="0"/>
              <a:t>)</a:t>
            </a:r>
            <a:endParaRPr lang="en-US" altLang="zh-CN" dirty="0"/>
          </a:p>
          <a:p>
            <a:r>
              <a:rPr lang="zh-CN" altLang="en-US" dirty="0"/>
              <a:t>带借位的减法指令</a:t>
            </a:r>
            <a:r>
              <a:rPr lang="en-US" altLang="zh-CN" dirty="0" smtClean="0"/>
              <a:t>SBB(</a:t>
            </a:r>
            <a:r>
              <a:rPr lang="en-US" altLang="zh-CN" dirty="0" err="1" smtClean="0"/>
              <a:t>substract</a:t>
            </a:r>
            <a:r>
              <a:rPr lang="en-US" altLang="zh-CN" dirty="0" smtClean="0"/>
              <a:t> with borrow)</a:t>
            </a:r>
            <a:endParaRPr lang="en-US" altLang="zh-CN" dirty="0" smtClean="0"/>
          </a:p>
          <a:p>
            <a:r>
              <a:rPr lang="zh-CN" altLang="en-US" dirty="0" smtClean="0"/>
              <a:t>减</a:t>
            </a:r>
            <a:r>
              <a:rPr lang="en-US" altLang="zh-CN" dirty="0"/>
              <a:t>1</a:t>
            </a:r>
            <a:r>
              <a:rPr lang="zh-CN" altLang="en-US" dirty="0"/>
              <a:t>指令</a:t>
            </a:r>
            <a:r>
              <a:rPr lang="en-US" altLang="zh-CN" dirty="0" smtClean="0"/>
              <a:t>DEC(decrease 1)</a:t>
            </a:r>
            <a:endParaRPr lang="en-US" altLang="zh-CN" dirty="0"/>
          </a:p>
          <a:p>
            <a:r>
              <a:rPr lang="zh-CN" altLang="en-US" dirty="0"/>
              <a:t>比较指令</a:t>
            </a:r>
            <a:r>
              <a:rPr lang="en-US" altLang="zh-CN" dirty="0" smtClean="0"/>
              <a:t>CMP(compare)</a:t>
            </a:r>
            <a:endParaRPr lang="en-US" altLang="zh-CN" dirty="0"/>
          </a:p>
          <a:p>
            <a:r>
              <a:rPr lang="zh-CN" altLang="en-US" dirty="0"/>
              <a:t>求补指令</a:t>
            </a:r>
            <a:r>
              <a:rPr lang="en-US" altLang="zh-CN" dirty="0" smtClean="0"/>
              <a:t>NEG(negative)</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不带借位的减法指令</a:t>
            </a:r>
            <a:r>
              <a:rPr lang="en-US" altLang="zh-CN" dirty="0"/>
              <a:t>SUB</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zh-CN" b="0" dirty="0"/>
              <a:t>格式：SUB  OPD，OPS</a:t>
            </a:r>
            <a:endParaRPr lang="zh-CN" altLang="zh-CN" b="0" dirty="0"/>
          </a:p>
          <a:p>
            <a:pPr>
              <a:buFont typeface="Wingdings" panose="05000000000000000000" pitchFamily="2" charset="2"/>
              <a:buChar char="Ø"/>
            </a:pPr>
            <a:r>
              <a:rPr lang="zh-CN" altLang="zh-CN" b="0" dirty="0"/>
              <a:t>功能：OPD-OPS</a:t>
            </a:r>
            <a:r>
              <a:rPr lang="zh-CN" altLang="zh-CN" b="0" dirty="0">
                <a:sym typeface="Wingdings" panose="05000000000000000000" pitchFamily="2" charset="2"/>
              </a:rPr>
              <a:t></a:t>
            </a:r>
            <a:r>
              <a:rPr lang="zh-CN" altLang="zh-CN" b="0" dirty="0"/>
              <a:t> OPD</a:t>
            </a:r>
            <a:endParaRPr lang="zh-CN" altLang="zh-CN" b="0" dirty="0"/>
          </a:p>
          <a:p>
            <a:pPr>
              <a:buFont typeface="Wingdings" panose="05000000000000000000" pitchFamily="2" charset="2"/>
              <a:buChar char="Ø"/>
            </a:pPr>
            <a:r>
              <a:rPr lang="zh-CN" altLang="zh-CN" b="0" dirty="0"/>
              <a:t>结果影响标志位CF、AF、PF、SF、OF和ZF。</a:t>
            </a:r>
            <a:endParaRPr lang="zh-CN" altLang="zh-CN" b="0" dirty="0"/>
          </a:p>
          <a:p>
            <a:pPr marL="0" indent="0">
              <a:buNone/>
            </a:pPr>
            <a:r>
              <a:rPr lang="zh-CN" altLang="en-US" b="0" i="0" u="none" strike="noStrike" baseline="0" dirty="0">
                <a:solidFill>
                  <a:srgbClr val="000000"/>
                </a:solidFill>
              </a:rPr>
              <a:t>    </a:t>
            </a:r>
            <a:endParaRPr lang="en-US" altLang="zh-CN" b="0" i="0" u="none" strike="noStrike" baseline="0" dirty="0">
              <a:solidFill>
                <a:srgbClr val="000000"/>
              </a:solidFill>
            </a:endParaRPr>
          </a:p>
          <a:p>
            <a:pPr marL="0" indent="0">
              <a:buNone/>
            </a:pPr>
            <a:r>
              <a:rPr lang="en-US" altLang="zh-CN" dirty="0">
                <a:solidFill>
                  <a:srgbClr val="000000"/>
                </a:solidFill>
              </a:rPr>
              <a:t>      </a:t>
            </a:r>
            <a:r>
              <a:rPr lang="zh-CN" altLang="en-US" b="0" i="0" u="none" strike="noStrike" baseline="0" dirty="0">
                <a:solidFill>
                  <a:srgbClr val="000000"/>
                </a:solidFill>
              </a:rPr>
              <a:t>例：</a:t>
            </a:r>
            <a:r>
              <a:rPr lang="zh-CN" altLang="zh-CN" b="0" dirty="0"/>
              <a:t>SUB  BX，CX；</a:t>
            </a:r>
            <a:r>
              <a:rPr lang="en-US" altLang="zh-CN" b="0" dirty="0"/>
              <a:t>  </a:t>
            </a:r>
            <a:r>
              <a:rPr lang="zh-CN" altLang="zh-CN" b="0" dirty="0"/>
              <a:t>BX的内容减去CX的内容，</a:t>
            </a:r>
            <a:endParaRPr lang="en-US" altLang="zh-CN" b="0" dirty="0"/>
          </a:p>
          <a:p>
            <a:pPr marL="0" indent="0">
              <a:buNone/>
            </a:pPr>
            <a:r>
              <a:rPr lang="en-US" altLang="zh-CN" dirty="0"/>
              <a:t>                         </a:t>
            </a:r>
            <a:r>
              <a:rPr lang="zh-CN" altLang="zh-CN" b="0" dirty="0"/>
              <a:t>结果放入BX　</a:t>
            </a:r>
            <a:endParaRPr lang="zh-CN" altLang="zh-CN" b="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带借位的减法指令</a:t>
            </a:r>
            <a:r>
              <a:rPr lang="en-US" altLang="zh-CN" dirty="0"/>
              <a:t>SBB</a:t>
            </a:r>
            <a:endParaRPr lang="zh-CN" altLang="en-US" dirty="0"/>
          </a:p>
        </p:txBody>
      </p:sp>
      <p:sp>
        <p:nvSpPr>
          <p:cNvPr id="3" name="内容占位符 2"/>
          <p:cNvSpPr>
            <a:spLocks noGrp="1"/>
          </p:cNvSpPr>
          <p:nvPr>
            <p:ph idx="1"/>
          </p:nvPr>
        </p:nvSpPr>
        <p:spPr/>
        <p:txBody>
          <a:bodyPr/>
          <a:lstStyle/>
          <a:p>
            <a:pPr>
              <a:lnSpc>
                <a:spcPct val="80000"/>
              </a:lnSpc>
              <a:buFont typeface="Wingdings" panose="05000000000000000000" pitchFamily="2" charset="2"/>
              <a:buChar char="Ø"/>
            </a:pPr>
            <a:r>
              <a:rPr lang="zh-CN" altLang="zh-CN" b="0" dirty="0">
                <a:latin typeface="Times New Roman" panose="02020603050405020304" pitchFamily="18" charset="0"/>
                <a:ea typeface="楷体_GB2312" pitchFamily="1" charset="-122"/>
              </a:rPr>
              <a:t>格式：SBB  OPD，OPS</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功能：OPD-OPS-CF</a:t>
            </a:r>
            <a:r>
              <a:rPr lang="zh-CN" altLang="zh-CN" b="0" dirty="0">
                <a:latin typeface="Times New Roman" panose="02020603050405020304" pitchFamily="18" charset="0"/>
                <a:ea typeface="楷体_GB2312" pitchFamily="1" charset="-122"/>
                <a:sym typeface="Wingdings" panose="05000000000000000000" pitchFamily="2" charset="2"/>
              </a:rPr>
              <a:t></a:t>
            </a:r>
            <a:r>
              <a:rPr lang="zh-CN" altLang="zh-CN" b="0" dirty="0">
                <a:latin typeface="Times New Roman" panose="02020603050405020304" pitchFamily="18" charset="0"/>
                <a:ea typeface="楷体_GB2312" pitchFamily="1" charset="-122"/>
              </a:rPr>
              <a:t>OPD</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结果影响标志位CF、AF、PF、SF、OF和ZF。 </a:t>
            </a:r>
            <a:endParaRPr lang="zh-CN" altLang="zh-CN" b="0" dirty="0">
              <a:latin typeface="Times New Roman" panose="02020603050405020304" pitchFamily="18" charset="0"/>
              <a:ea typeface="楷体_GB2312" pitchFamily="1" charset="-122"/>
            </a:endParaRPr>
          </a:p>
          <a:p>
            <a:pPr algn="l"/>
            <a:r>
              <a:rPr lang="zh-CN" altLang="en-US" b="0" dirty="0">
                <a:latin typeface="Times New Roman" panose="02020603050405020304" pitchFamily="18" charset="0"/>
                <a:ea typeface="楷体_GB2312" pitchFamily="1" charset="-122"/>
              </a:rPr>
              <a:t>例：</a:t>
            </a:r>
            <a:r>
              <a:rPr lang="zh-CN" altLang="zh-CN" b="0" dirty="0">
                <a:latin typeface="Times New Roman" panose="02020603050405020304" pitchFamily="18" charset="0"/>
                <a:ea typeface="楷体_GB2312" pitchFamily="1" charset="-122"/>
              </a:rPr>
              <a:t>SBB  [SI]，AL；SI所指字节单元内容减AL的</a:t>
            </a:r>
            <a:br>
              <a:rPr lang="zh-CN" altLang="zh-CN" b="0" dirty="0">
                <a:latin typeface="Times New Roman" panose="02020603050405020304" pitchFamily="18" charset="0"/>
                <a:ea typeface="楷体_GB2312" pitchFamily="1" charset="-122"/>
              </a:rPr>
            </a:br>
            <a:r>
              <a:rPr lang="zh-CN" altLang="zh-CN" b="0" dirty="0">
                <a:latin typeface="Times New Roman" panose="02020603050405020304" pitchFamily="18" charset="0"/>
                <a:ea typeface="楷体_GB2312" pitchFamily="1" charset="-122"/>
              </a:rPr>
              <a:t>                             </a:t>
            </a: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值，再减CF，结果存回原内</a:t>
            </a:r>
            <a:br>
              <a:rPr lang="zh-CN" altLang="zh-CN" b="0" dirty="0">
                <a:latin typeface="Times New Roman" panose="02020603050405020304" pitchFamily="18" charset="0"/>
                <a:ea typeface="楷体_GB2312" pitchFamily="1" charset="-122"/>
              </a:rPr>
            </a:br>
            <a:r>
              <a:rPr lang="zh-CN" altLang="zh-CN" b="0" dirty="0">
                <a:latin typeface="Times New Roman" panose="02020603050405020304" pitchFamily="18" charset="0"/>
                <a:ea typeface="楷体_GB2312" pitchFamily="1" charset="-122"/>
              </a:rPr>
              <a:t>                             </a:t>
            </a: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存单元</a:t>
            </a:r>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减１指令</a:t>
            </a:r>
            <a:r>
              <a:rPr lang="en-US" altLang="zh-CN" dirty="0"/>
              <a:t>DEC</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格式：DEC  OPD</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功能：将目的操作数OPD的内容减１，并将结果回送到目的操作数。</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影响标志位AF、PF、SF、OF和ZF，但</a:t>
            </a:r>
            <a:r>
              <a:rPr lang="zh-CN" altLang="zh-CN" b="0" dirty="0">
                <a:solidFill>
                  <a:schemeClr val="hlink"/>
                </a:solidFill>
                <a:latin typeface="Times New Roman" panose="02020603050405020304" pitchFamily="18" charset="0"/>
                <a:ea typeface="楷体_GB2312" pitchFamily="1" charset="-122"/>
              </a:rPr>
              <a:t>不影响CF标志</a:t>
            </a:r>
            <a:r>
              <a:rPr lang="zh-CN" altLang="zh-CN" b="0" dirty="0">
                <a:latin typeface="Times New Roman" panose="02020603050405020304" pitchFamily="18" charset="0"/>
                <a:ea typeface="楷体_GB2312" pitchFamily="1" charset="-122"/>
              </a:rPr>
              <a:t>。</a:t>
            </a:r>
            <a:endParaRPr lang="zh-CN" altLang="zh-CN" b="0" dirty="0">
              <a:latin typeface="Times New Roman" panose="02020603050405020304" pitchFamily="18" charset="0"/>
              <a:ea typeface="楷体_GB2312" pitchFamily="1" charset="-122"/>
            </a:endParaRPr>
          </a:p>
          <a:p>
            <a:pPr marL="0" indent="0" algn="l">
              <a:buNone/>
            </a:pPr>
            <a:r>
              <a:rPr lang="zh-CN" altLang="en-US" b="0" dirty="0">
                <a:latin typeface="Times New Roman" panose="02020603050405020304" pitchFamily="18" charset="0"/>
                <a:ea typeface="楷体_GB2312" pitchFamily="1" charset="-122"/>
              </a:rPr>
              <a:t>    例：</a:t>
            </a:r>
            <a:r>
              <a:rPr lang="zh-CN" altLang="zh-CN" b="0" dirty="0">
                <a:latin typeface="Times New Roman" panose="02020603050405020304" pitchFamily="18" charset="0"/>
                <a:ea typeface="楷体_GB2312" pitchFamily="1" charset="-122"/>
              </a:rPr>
              <a:t>DEC  AX；AX的内容减１，结果送回AX。 </a:t>
            </a:r>
            <a:endParaRPr lang="zh-CN" altLang="zh-CN" b="0" dirty="0">
              <a:latin typeface="Times New Roman" panose="02020603050405020304" pitchFamily="18" charset="0"/>
              <a:ea typeface="楷体_GB2312" pitchFamily="1" charset="-122"/>
            </a:endParaRPr>
          </a:p>
          <a:p>
            <a:pPr marL="0" indent="0" algn="l">
              <a:buNone/>
            </a:pP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DEC  CL；CL的内容减１，结果送回CL。</a:t>
            </a:r>
            <a:r>
              <a:rPr lang="zh-CN" altLang="zh-CN" dirty="0">
                <a:latin typeface="Times New Roman" panose="02020603050405020304" pitchFamily="18" charset="0"/>
                <a:ea typeface="楷体_GB2312" pitchFamily="1" charset="-122"/>
              </a:rPr>
              <a:t> </a:t>
            </a:r>
            <a:endParaRPr lang="zh-CN" altLang="zh-CN"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比较指令</a:t>
            </a:r>
            <a:r>
              <a:rPr lang="en-US" altLang="zh-CN" dirty="0"/>
              <a:t>CMP</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CMP</a:t>
            </a:r>
            <a:r>
              <a:rPr lang="zh-CN" altLang="en-US" dirty="0"/>
              <a:t> </a:t>
            </a:r>
            <a:r>
              <a:rPr lang="en-US" altLang="zh-CN" dirty="0"/>
              <a:t>OPD</a:t>
            </a:r>
            <a:r>
              <a:rPr lang="zh-CN" altLang="en-US" dirty="0"/>
              <a:t>，</a:t>
            </a:r>
            <a:r>
              <a:rPr lang="en-US" altLang="zh-CN" dirty="0"/>
              <a:t>OPS</a:t>
            </a:r>
            <a:endParaRPr lang="en-US" altLang="zh-CN" dirty="0"/>
          </a:p>
          <a:p>
            <a:r>
              <a:rPr lang="zh-CN" altLang="en-US" dirty="0"/>
              <a:t>功能：目的操作数</a:t>
            </a:r>
            <a:r>
              <a:rPr lang="en-US" altLang="zh-CN" dirty="0"/>
              <a:t>OPD</a:t>
            </a:r>
            <a:r>
              <a:rPr lang="zh-CN" altLang="en-US" dirty="0"/>
              <a:t>减去源操作数</a:t>
            </a:r>
            <a:r>
              <a:rPr lang="en-US" altLang="zh-CN" dirty="0"/>
              <a:t>OPS</a:t>
            </a:r>
            <a:r>
              <a:rPr lang="zh-CN" altLang="en-US" dirty="0"/>
              <a:t>，结果不回送。</a:t>
            </a:r>
            <a:endParaRPr lang="zh-CN" altLang="en-US" dirty="0"/>
          </a:p>
          <a:p>
            <a:r>
              <a:rPr lang="zh-CN" altLang="en-US" dirty="0"/>
              <a:t>影响标志位</a:t>
            </a:r>
            <a:r>
              <a:rPr lang="en-US" altLang="zh-CN" dirty="0"/>
              <a:t>CF</a:t>
            </a:r>
            <a:r>
              <a:rPr lang="zh-CN" altLang="en-US" dirty="0"/>
              <a:t>、</a:t>
            </a:r>
            <a:r>
              <a:rPr lang="en-US" altLang="zh-CN" dirty="0"/>
              <a:t>AF</a:t>
            </a:r>
            <a:r>
              <a:rPr lang="zh-CN" altLang="en-US" dirty="0"/>
              <a:t>、</a:t>
            </a:r>
            <a:r>
              <a:rPr lang="en-US" altLang="zh-CN" dirty="0"/>
              <a:t>PF</a:t>
            </a:r>
            <a:r>
              <a:rPr lang="zh-CN" altLang="en-US" dirty="0"/>
              <a:t>、</a:t>
            </a:r>
            <a:r>
              <a:rPr lang="en-US" altLang="zh-CN" dirty="0"/>
              <a:t>SF</a:t>
            </a:r>
            <a:r>
              <a:rPr lang="zh-CN" altLang="en-US" dirty="0"/>
              <a:t>、</a:t>
            </a:r>
            <a:r>
              <a:rPr lang="en-US" altLang="zh-CN" dirty="0"/>
              <a:t>OF</a:t>
            </a:r>
            <a:r>
              <a:rPr lang="zh-CN" altLang="en-US" dirty="0"/>
              <a:t>和</a:t>
            </a:r>
            <a:r>
              <a:rPr lang="en-US" altLang="zh-CN" dirty="0"/>
              <a:t>ZF</a:t>
            </a:r>
            <a:r>
              <a:rPr lang="zh-CN" altLang="en-US" dirty="0"/>
              <a:t>。</a:t>
            </a:r>
            <a:endParaRPr lang="zh-CN" altLang="en-US" dirty="0"/>
          </a:p>
          <a:p>
            <a:r>
              <a:rPr lang="zh-CN" altLang="en-US" dirty="0"/>
              <a:t>例：</a:t>
            </a:r>
            <a:r>
              <a:rPr lang="en-US" altLang="zh-CN" dirty="0"/>
              <a:t>CMP</a:t>
            </a:r>
            <a:r>
              <a:rPr lang="zh-CN" altLang="en-US" dirty="0"/>
              <a:t> </a:t>
            </a:r>
            <a:r>
              <a:rPr lang="en-US" altLang="zh-CN" dirty="0"/>
              <a:t>AL</a:t>
            </a:r>
            <a:r>
              <a:rPr lang="zh-CN" altLang="en-US" dirty="0"/>
              <a:t>，</a:t>
            </a:r>
            <a:r>
              <a:rPr lang="en-US" altLang="zh-CN" dirty="0"/>
              <a:t>09H</a:t>
            </a:r>
            <a:r>
              <a:rPr lang="zh-CN" altLang="en-US" dirty="0"/>
              <a:t>；将</a:t>
            </a:r>
            <a:r>
              <a:rPr lang="en-US" altLang="zh-CN" dirty="0"/>
              <a:t>AL</a:t>
            </a:r>
            <a:r>
              <a:rPr lang="zh-CN" altLang="en-US" dirty="0"/>
              <a:t>的内容和</a:t>
            </a:r>
            <a:r>
              <a:rPr lang="en-US" altLang="zh-CN" dirty="0"/>
              <a:t>09H</a:t>
            </a:r>
            <a:r>
              <a:rPr lang="zh-CN" altLang="en-US" dirty="0"/>
              <a:t>比较，结果影响标志位</a:t>
            </a:r>
            <a:endParaRPr lang="en-US" altLang="zh-CN" dirty="0"/>
          </a:p>
          <a:p>
            <a:pPr marL="0" indent="0">
              <a:buNone/>
            </a:pPr>
            <a:r>
              <a:rPr lang="en-US" altLang="zh-CN" dirty="0"/>
              <a:t>                 </a:t>
            </a:r>
            <a:r>
              <a:rPr lang="zh-CN" altLang="en-US" dirty="0"/>
              <a:t>可以根据标志位的变化，来判断比较结果。</a:t>
            </a:r>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比较指令</a:t>
            </a:r>
            <a:r>
              <a:rPr lang="en-US" altLang="zh-CN" dirty="0"/>
              <a:t>CMP</a:t>
            </a:r>
            <a:endParaRPr lang="zh-CN" altLang="en-US" dirty="0"/>
          </a:p>
        </p:txBody>
      </p:sp>
      <p:sp>
        <p:nvSpPr>
          <p:cNvPr id="3" name="内容占位符 2"/>
          <p:cNvSpPr>
            <a:spLocks noGrp="1"/>
          </p:cNvSpPr>
          <p:nvPr>
            <p:ph idx="1"/>
          </p:nvPr>
        </p:nvSpPr>
        <p:spPr/>
        <p:txBody>
          <a:bodyPr>
            <a:normAutofit/>
          </a:bodyPr>
          <a:lstStyle/>
          <a:p>
            <a:pPr algn="l"/>
            <a:endParaRPr lang="zh-CN" altLang="en-US" sz="1800" b="0" i="0" u="none" strike="noStrike" baseline="0" dirty="0">
              <a:solidFill>
                <a:srgbClr val="000000"/>
              </a:solidFill>
              <a:latin typeface="楷体" panose="02010609060101010101" pitchFamily="49" charset="-122"/>
              <a:ea typeface="楷体" panose="02010609060101010101" pitchFamily="49" charset="-122"/>
            </a:endParaRPr>
          </a:p>
          <a:p>
            <a:pPr>
              <a:lnSpc>
                <a:spcPct val="110000"/>
              </a:lnSpc>
            </a:pPr>
            <a:r>
              <a:rPr lang="zh-CN" altLang="en-US" b="0" i="0" u="none" strike="noStrike" baseline="0" dirty="0">
                <a:solidFill>
                  <a:srgbClr val="000000"/>
                </a:solidFill>
              </a:rPr>
              <a:t>通过</a:t>
            </a:r>
            <a:r>
              <a:rPr lang="en-US" altLang="zh-CN" b="0" i="0" u="none" strike="noStrike" baseline="0" dirty="0">
                <a:solidFill>
                  <a:srgbClr val="000000"/>
                </a:solidFill>
              </a:rPr>
              <a:t>ZF</a:t>
            </a:r>
            <a:r>
              <a:rPr lang="zh-CN" altLang="en-US" b="0" i="0" u="none" strike="noStrike" baseline="0" dirty="0">
                <a:solidFill>
                  <a:srgbClr val="000000"/>
                </a:solidFill>
              </a:rPr>
              <a:t>的值来判断两数是否相等。若</a:t>
            </a:r>
            <a:r>
              <a:rPr lang="en-US" altLang="zh-CN" b="1" i="0" u="none" strike="noStrike" baseline="0" dirty="0">
                <a:solidFill>
                  <a:srgbClr val="000000"/>
                </a:solidFill>
              </a:rPr>
              <a:t>ZF=1</a:t>
            </a:r>
            <a:r>
              <a:rPr lang="zh-CN" altLang="en-US" b="0" i="0" u="none" strike="noStrike" baseline="0" dirty="0">
                <a:solidFill>
                  <a:srgbClr val="000000"/>
                </a:solidFill>
              </a:rPr>
              <a:t>，说明两数相等；否则，两数不等。</a:t>
            </a:r>
            <a:endParaRPr lang="zh-CN" altLang="en-US" b="0" i="0" u="none" strike="noStrike" baseline="0" dirty="0">
              <a:solidFill>
                <a:srgbClr val="000000"/>
              </a:solidFill>
            </a:endParaRPr>
          </a:p>
          <a:p>
            <a:pPr>
              <a:lnSpc>
                <a:spcPct val="110000"/>
              </a:lnSpc>
            </a:pPr>
            <a:r>
              <a:rPr lang="zh-CN" altLang="en-US" b="0" i="0" u="none" strike="noStrike" baseline="0" dirty="0">
                <a:solidFill>
                  <a:srgbClr val="000000"/>
                </a:solidFill>
              </a:rPr>
              <a:t>通过</a:t>
            </a:r>
            <a:r>
              <a:rPr lang="en-US" altLang="zh-CN" b="0" i="0" u="none" strike="noStrike" baseline="0" dirty="0">
                <a:solidFill>
                  <a:srgbClr val="000000"/>
                </a:solidFill>
              </a:rPr>
              <a:t>CF</a:t>
            </a:r>
            <a:r>
              <a:rPr lang="zh-CN" altLang="en-US" b="0" i="0" u="none" strike="noStrike" baseline="0" dirty="0">
                <a:solidFill>
                  <a:srgbClr val="000000"/>
                </a:solidFill>
              </a:rPr>
              <a:t>、</a:t>
            </a:r>
            <a:r>
              <a:rPr lang="en-US" altLang="zh-CN" b="0" i="0" u="none" strike="noStrike" baseline="0" dirty="0">
                <a:solidFill>
                  <a:srgbClr val="000000"/>
                </a:solidFill>
              </a:rPr>
              <a:t>OF</a:t>
            </a:r>
            <a:r>
              <a:rPr lang="zh-CN" altLang="en-US" b="0" i="0" u="none" strike="noStrike" baseline="0" dirty="0">
                <a:solidFill>
                  <a:srgbClr val="000000"/>
                </a:solidFill>
              </a:rPr>
              <a:t>和</a:t>
            </a:r>
            <a:r>
              <a:rPr lang="en-US" altLang="zh-CN" b="0" i="0" u="none" strike="noStrike" baseline="0" dirty="0">
                <a:solidFill>
                  <a:srgbClr val="000000"/>
                </a:solidFill>
              </a:rPr>
              <a:t>SF</a:t>
            </a:r>
            <a:r>
              <a:rPr lang="zh-CN" altLang="en-US" b="0" i="0" u="none" strike="noStrike" baseline="0" dirty="0">
                <a:solidFill>
                  <a:srgbClr val="000000"/>
                </a:solidFill>
              </a:rPr>
              <a:t>的变化来判断无符号数或有符号数的大小：</a:t>
            </a:r>
            <a:endParaRPr lang="en-US" altLang="zh-CN" b="0" i="0" u="none" strike="noStrike" baseline="0" dirty="0">
              <a:solidFill>
                <a:srgbClr val="000000"/>
              </a:solidFill>
            </a:endParaRPr>
          </a:p>
          <a:p>
            <a:pPr lvl="1">
              <a:lnSpc>
                <a:spcPct val="110000"/>
              </a:lnSpc>
            </a:pPr>
            <a:r>
              <a:rPr lang="zh-CN" altLang="en-US" b="0" i="0" u="none" strike="noStrike" baseline="0" dirty="0">
                <a:solidFill>
                  <a:srgbClr val="000000"/>
                </a:solidFill>
              </a:rPr>
              <a:t>对于无符号数，如</a:t>
            </a:r>
            <a:r>
              <a:rPr lang="en-US" altLang="zh-CN" b="0" i="0" u="none" strike="noStrike" baseline="0" dirty="0">
                <a:solidFill>
                  <a:srgbClr val="000000"/>
                </a:solidFill>
              </a:rPr>
              <a:t>CF=0</a:t>
            </a:r>
            <a:r>
              <a:rPr lang="zh-CN" altLang="en-US" b="0" i="0" u="none" strike="noStrike" baseline="0" dirty="0">
                <a:solidFill>
                  <a:srgbClr val="000000"/>
                </a:solidFill>
              </a:rPr>
              <a:t>，则目的操作数﹥源操作数，如</a:t>
            </a:r>
            <a:r>
              <a:rPr lang="en-US" altLang="zh-CN" b="0" i="0" u="none" strike="noStrike" baseline="0" dirty="0">
                <a:solidFill>
                  <a:srgbClr val="000000"/>
                </a:solidFill>
              </a:rPr>
              <a:t>CF=1</a:t>
            </a:r>
            <a:r>
              <a:rPr lang="zh-CN" altLang="en-US" b="0" i="0" u="none" strike="noStrike" baseline="0" dirty="0">
                <a:solidFill>
                  <a:srgbClr val="000000"/>
                </a:solidFill>
              </a:rPr>
              <a:t>，则目的操作数＜源操作数。</a:t>
            </a:r>
            <a:endParaRPr lang="en-US" altLang="zh-CN" dirty="0">
              <a:solidFill>
                <a:srgbClr val="000000"/>
              </a:solidFill>
            </a:endParaRPr>
          </a:p>
          <a:p>
            <a:pPr lvl="1">
              <a:lnSpc>
                <a:spcPct val="110000"/>
              </a:lnSpc>
            </a:pPr>
            <a:r>
              <a:rPr lang="zh-CN" altLang="en-US" b="0" i="0" u="none" strike="noStrike" baseline="0" dirty="0">
                <a:solidFill>
                  <a:srgbClr val="000000"/>
                </a:solidFill>
              </a:rPr>
              <a:t>对于有符号数，如</a:t>
            </a:r>
            <a:r>
              <a:rPr lang="en-US" altLang="zh-CN" b="0" i="0" u="none" strike="noStrike" baseline="0" dirty="0">
                <a:solidFill>
                  <a:srgbClr val="000000"/>
                </a:solidFill>
              </a:rPr>
              <a:t>OF=SF</a:t>
            </a:r>
            <a:r>
              <a:rPr lang="zh-CN" altLang="en-US" b="0" i="0" u="none" strike="noStrike" baseline="0" dirty="0">
                <a:solidFill>
                  <a:srgbClr val="000000"/>
                </a:solidFill>
              </a:rPr>
              <a:t>，则目的操作数比源操作数大；如</a:t>
            </a:r>
            <a:r>
              <a:rPr lang="en-US" altLang="zh-CN" b="0" i="0" u="none" strike="noStrike" baseline="0" dirty="0">
                <a:solidFill>
                  <a:srgbClr val="000000"/>
                </a:solidFill>
              </a:rPr>
              <a:t>OF≠SF</a:t>
            </a:r>
            <a:r>
              <a:rPr lang="zh-CN" altLang="en-US" b="0" i="0" u="none" strike="noStrike" baseline="0" dirty="0">
                <a:solidFill>
                  <a:srgbClr val="000000"/>
                </a:solidFill>
              </a:rPr>
              <a:t>，则目的操作数比源操作数小。 </a:t>
            </a:r>
            <a:endParaRPr lang="zh-CN" altLang="en-US" b="0" i="0" u="none" strike="noStrike" baseline="0" dirty="0">
              <a:solidFill>
                <a:srgbClr val="00000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求补指令</a:t>
            </a:r>
            <a:r>
              <a:rPr lang="en-US" altLang="zh-CN" dirty="0"/>
              <a:t>NEG</a:t>
            </a:r>
            <a:endParaRPr lang="zh-CN" altLang="en-US" dirty="0"/>
          </a:p>
        </p:txBody>
      </p:sp>
      <p:sp>
        <p:nvSpPr>
          <p:cNvPr id="3" name="内容占位符 2"/>
          <p:cNvSpPr>
            <a:spLocks noGrp="1"/>
          </p:cNvSpPr>
          <p:nvPr>
            <p:ph idx="1"/>
          </p:nvPr>
        </p:nvSpPr>
        <p:spPr/>
        <p:txBody>
          <a:bodyPr>
            <a:normAutofit/>
          </a:bodyPr>
          <a:lstStyle/>
          <a:p>
            <a:pPr>
              <a:lnSpc>
                <a:spcPct val="80000"/>
              </a:lnSpc>
              <a:buFont typeface="Wingdings" panose="05000000000000000000" pitchFamily="2" charset="2"/>
              <a:buChar char="Ø"/>
            </a:pPr>
            <a:r>
              <a:rPr lang="zh-CN" altLang="zh-CN" b="0" dirty="0">
                <a:latin typeface="Times New Roman" panose="02020603050405020304" pitchFamily="18" charset="0"/>
                <a:ea typeface="楷体_GB2312" pitchFamily="1" charset="-122"/>
              </a:rPr>
              <a:t>格式：NEG  OPD</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功能：由目的操作数OPD求补，将其结果送回目的操作数。实际做0-OPD</a:t>
            </a:r>
            <a:r>
              <a:rPr lang="zh-CN" altLang="zh-CN" b="0" dirty="0">
                <a:latin typeface="Times New Roman" panose="02020603050405020304" pitchFamily="18" charset="0"/>
                <a:ea typeface="楷体_GB2312" pitchFamily="1" charset="-122"/>
                <a:sym typeface="Wingdings" panose="05000000000000000000" pitchFamily="2" charset="2"/>
              </a:rPr>
              <a:t></a:t>
            </a:r>
            <a:r>
              <a:rPr lang="zh-CN" altLang="zh-CN" b="0" dirty="0">
                <a:latin typeface="Times New Roman" panose="02020603050405020304" pitchFamily="18" charset="0"/>
                <a:ea typeface="楷体_GB2312" pitchFamily="1" charset="-122"/>
              </a:rPr>
              <a:t>OPD运算。</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影响标志位CF、AF、PF、SF、OF和ZF。 </a:t>
            </a:r>
            <a:endParaRPr lang="en-US" altLang="zh-CN" b="0" dirty="0">
              <a:latin typeface="Times New Roman" panose="02020603050405020304" pitchFamily="18" charset="0"/>
              <a:ea typeface="楷体_GB2312" pitchFamily="1" charset="-122"/>
            </a:endParaRPr>
          </a:p>
          <a:p>
            <a:pPr lvl="1">
              <a:buFont typeface="Wingdings" panose="05000000000000000000" pitchFamily="2" charset="2"/>
              <a:buChar char="Ø"/>
            </a:pPr>
            <a:r>
              <a:rPr lang="zh-CN" altLang="zh-CN" b="0" dirty="0">
                <a:latin typeface="Times New Roman" panose="02020603050405020304" pitchFamily="18" charset="0"/>
                <a:ea typeface="楷体_GB2312" pitchFamily="1" charset="-122"/>
              </a:rPr>
              <a:t>MOV  AL，05H</a:t>
            </a:r>
            <a:br>
              <a:rPr lang="zh-CN" altLang="zh-CN" b="0" dirty="0">
                <a:latin typeface="Times New Roman" panose="02020603050405020304" pitchFamily="18" charset="0"/>
                <a:ea typeface="楷体_GB2312" pitchFamily="1" charset="-122"/>
              </a:rPr>
            </a:br>
            <a:r>
              <a:rPr lang="zh-CN" altLang="zh-CN" b="0" dirty="0">
                <a:latin typeface="Times New Roman" panose="02020603050405020304" pitchFamily="18" charset="0"/>
                <a:ea typeface="楷体_GB2312" pitchFamily="1" charset="-122"/>
              </a:rPr>
              <a:t>NEG   AL；</a:t>
            </a: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(AL)=0FBH（</a:t>
            </a:r>
            <a:r>
              <a:rPr lang="zh-CN" altLang="zh-CN" b="0" dirty="0">
                <a:latin typeface="Times New Roman" panose="02020603050405020304" pitchFamily="18" charset="0"/>
                <a:ea typeface="楷体_GB2312" pitchFamily="1" charset="-122"/>
              </a:rPr>
              <a:t>补码），CF=1</a:t>
            </a:r>
            <a:endParaRPr lang="en-US" altLang="zh-CN" b="0" dirty="0">
              <a:latin typeface="Times New Roman" panose="02020603050405020304" pitchFamily="18" charset="0"/>
              <a:ea typeface="楷体_GB2312" pitchFamily="1" charset="-122"/>
            </a:endParaRPr>
          </a:p>
          <a:p>
            <a:pPr lvl="1">
              <a:buFont typeface="Wingdings" panose="05000000000000000000" pitchFamily="2" charset="2"/>
              <a:buChar char="Ø"/>
            </a:pPr>
            <a:r>
              <a:rPr lang="zh-CN" altLang="zh-CN" b="0" dirty="0">
                <a:latin typeface="Times New Roman" panose="02020603050405020304" pitchFamily="18" charset="0"/>
                <a:ea typeface="楷体_GB2312" pitchFamily="1" charset="-122"/>
              </a:rPr>
              <a:t>MOV  AL，-05H</a:t>
            </a:r>
            <a:br>
              <a:rPr lang="zh-CN" altLang="zh-CN" b="0" dirty="0">
                <a:latin typeface="Times New Roman" panose="02020603050405020304" pitchFamily="18" charset="0"/>
                <a:ea typeface="楷体_GB2312" pitchFamily="1" charset="-122"/>
              </a:rPr>
            </a:br>
            <a:r>
              <a:rPr lang="zh-CN" altLang="zh-CN" b="0" dirty="0">
                <a:latin typeface="Times New Roman" panose="02020603050405020304" pitchFamily="18" charset="0"/>
                <a:ea typeface="楷体_GB2312" pitchFamily="1" charset="-122"/>
              </a:rPr>
              <a:t>NEG   AL；</a:t>
            </a:r>
            <a:r>
              <a:rPr lang="en-US" altLang="zh-CN" b="0" dirty="0">
                <a:latin typeface="Times New Roman" panose="02020603050405020304" pitchFamily="18" charset="0"/>
                <a:ea typeface="楷体_GB2312" pitchFamily="1" charset="-122"/>
              </a:rPr>
              <a:t>              </a:t>
            </a:r>
            <a:r>
              <a:rPr lang="zh-CN" altLang="zh-CN" b="0" dirty="0">
                <a:latin typeface="Times New Roman" panose="02020603050405020304" pitchFamily="18" charset="0"/>
                <a:ea typeface="楷体_GB2312" pitchFamily="1" charset="-122"/>
              </a:rPr>
              <a:t>(AL)=05H，CF=1</a:t>
            </a:r>
            <a:r>
              <a:rPr lang="zh-CN" altLang="zh-CN" dirty="0">
                <a:latin typeface="Times New Roman" panose="02020603050405020304" pitchFamily="18" charset="0"/>
                <a:ea typeface="楷体_GB2312" pitchFamily="1" charset="-122"/>
              </a:rPr>
              <a:t> </a:t>
            </a:r>
            <a:endParaRPr lang="zh-CN" altLang="zh-CN"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乘法指令</a:t>
            </a:r>
            <a:endParaRPr lang="zh-CN" altLang="en-US" dirty="0"/>
          </a:p>
        </p:txBody>
      </p:sp>
      <p:sp>
        <p:nvSpPr>
          <p:cNvPr id="3" name="内容占位符 2"/>
          <p:cNvSpPr>
            <a:spLocks noGrp="1"/>
          </p:cNvSpPr>
          <p:nvPr>
            <p:ph idx="1"/>
          </p:nvPr>
        </p:nvSpPr>
        <p:spPr>
          <a:xfrm>
            <a:off x="838200" y="1616076"/>
            <a:ext cx="10515600" cy="1946275"/>
          </a:xfrm>
        </p:spPr>
        <p:txBody>
          <a:bodyPr>
            <a:normAutofit fontScale="92500" lnSpcReduction="20000"/>
          </a:bodyPr>
          <a:lstStyle/>
          <a:p>
            <a:pPr marL="0" indent="0">
              <a:lnSpc>
                <a:spcPct val="120000"/>
              </a:lnSpc>
              <a:buNone/>
            </a:pPr>
            <a:r>
              <a:rPr lang="zh-CN" altLang="en-US" dirty="0">
                <a:solidFill>
                  <a:srgbClr val="7030A0"/>
                </a:solidFill>
              </a:rPr>
              <a:t>无符号数乘法指令</a:t>
            </a:r>
            <a:r>
              <a:rPr lang="en-US" altLang="zh-CN" dirty="0" smtClean="0">
                <a:solidFill>
                  <a:srgbClr val="7030A0"/>
                </a:solidFill>
              </a:rPr>
              <a:t>MUL(multiplication)</a:t>
            </a:r>
            <a:endParaRPr lang="en-US" altLang="zh-CN" dirty="0">
              <a:solidFill>
                <a:srgbClr val="7030A0"/>
              </a:solidFill>
            </a:endParaRPr>
          </a:p>
          <a:p>
            <a:pPr>
              <a:lnSpc>
                <a:spcPct val="120000"/>
              </a:lnSpc>
              <a:buFont typeface="Wingdings" panose="05000000000000000000" pitchFamily="2" charset="2"/>
              <a:buChar char="Ø"/>
            </a:pPr>
            <a:r>
              <a:rPr lang="zh-CN" altLang="zh-CN" b="0" dirty="0">
                <a:latin typeface="Times New Roman" panose="02020603050405020304" pitchFamily="18" charset="0"/>
                <a:ea typeface="楷体_GB2312" pitchFamily="1" charset="-122"/>
              </a:rPr>
              <a:t>格式：  MUL  OPS</a:t>
            </a:r>
            <a:endParaRPr lang="zh-CN" altLang="zh-CN" b="0" dirty="0">
              <a:latin typeface="Times New Roman" panose="02020603050405020304" pitchFamily="18" charset="0"/>
              <a:ea typeface="楷体_GB2312" pitchFamily="1" charset="-122"/>
            </a:endParaRPr>
          </a:p>
          <a:p>
            <a:pPr algn="l">
              <a:lnSpc>
                <a:spcPct val="120000"/>
              </a:lnSpc>
              <a:buFont typeface="Wingdings" panose="05000000000000000000" pitchFamily="2" charset="2"/>
              <a:buChar char="Ø"/>
            </a:pPr>
            <a:r>
              <a:rPr lang="zh-CN" altLang="zh-CN" b="0" dirty="0">
                <a:latin typeface="Times New Roman" panose="02020603050405020304" pitchFamily="18" charset="0"/>
                <a:ea typeface="楷体_GB2312" pitchFamily="1" charset="-122"/>
              </a:rPr>
              <a:t>功能： 字节乘法： (AL)×(OPS)→AX</a:t>
            </a:r>
            <a:br>
              <a:rPr lang="zh-CN" altLang="zh-CN" b="0" dirty="0">
                <a:latin typeface="Times New Roman" panose="02020603050405020304" pitchFamily="18" charset="0"/>
                <a:ea typeface="楷体_GB2312" pitchFamily="1" charset="-122"/>
              </a:rPr>
            </a:br>
            <a:r>
              <a:rPr lang="zh-CN" altLang="zh-CN" b="0" dirty="0">
                <a:latin typeface="Times New Roman" panose="02020603050405020304" pitchFamily="18" charset="0"/>
                <a:ea typeface="楷体_GB2312" pitchFamily="1" charset="-122"/>
              </a:rPr>
              <a:t>             字乘法：     (AX)×(OPS)→(DX，AX)</a:t>
            </a:r>
            <a:endParaRPr lang="zh-CN" altLang="zh-CN" b="0" dirty="0">
              <a:latin typeface="Times New Roman" panose="02020603050405020304" pitchFamily="18" charset="0"/>
              <a:ea typeface="楷体_GB2312" pitchFamily="1" charset="-122"/>
            </a:endParaRPr>
          </a:p>
          <a:p>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90850" y="3562351"/>
            <a:ext cx="5695950" cy="241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520825" y="6155292"/>
            <a:ext cx="8635999" cy="461665"/>
          </a:xfrm>
          <a:prstGeom prst="rect">
            <a:avLst/>
          </a:prstGeom>
          <a:noFill/>
        </p:spPr>
        <p:txBody>
          <a:bodyPr wrap="square">
            <a:spAutoFit/>
          </a:bodyPr>
          <a:lstStyle/>
          <a:p>
            <a:r>
              <a:rPr lang="zh-CN" altLang="en-US" sz="2400" b="0" i="0" u="none" strike="noStrike" baseline="0" dirty="0">
                <a:solidFill>
                  <a:srgbClr val="C00000"/>
                </a:solidFill>
                <a:latin typeface="楷体" panose="02010609060101010101" pitchFamily="49" charset="-122"/>
                <a:ea typeface="楷体" panose="02010609060101010101" pitchFamily="49" charset="-122"/>
              </a:rPr>
              <a:t>注意：</a:t>
            </a:r>
            <a:r>
              <a:rPr lang="en-US" altLang="zh-CN" sz="2400" b="1" i="0" u="none" strike="noStrike" baseline="0" dirty="0">
                <a:solidFill>
                  <a:srgbClr val="C00000"/>
                </a:solidFill>
                <a:latin typeface="Times New Roman" panose="02020603050405020304" pitchFamily="18" charset="0"/>
                <a:ea typeface="楷体" panose="02010609060101010101" pitchFamily="49" charset="-122"/>
              </a:rPr>
              <a:t>OPS</a:t>
            </a:r>
            <a:r>
              <a:rPr lang="zh-CN" altLang="en-US" sz="2400" b="0" i="0" u="none" strike="noStrike" baseline="0" dirty="0">
                <a:solidFill>
                  <a:srgbClr val="C00000"/>
                </a:solidFill>
                <a:latin typeface="楷体" panose="02010609060101010101" pitchFamily="49" charset="-122"/>
                <a:ea typeface="楷体" panose="02010609060101010101" pitchFamily="49" charset="-122"/>
              </a:rPr>
              <a:t>不能是立即数、</a:t>
            </a:r>
            <a:r>
              <a:rPr lang="en-US" altLang="zh-CN" sz="2400" b="1" i="0" u="none" strike="noStrike" baseline="0" dirty="0">
                <a:solidFill>
                  <a:srgbClr val="C00000"/>
                </a:solidFill>
                <a:latin typeface="Times New Roman" panose="02020603050405020304" pitchFamily="18" charset="0"/>
                <a:ea typeface="楷体" panose="02010609060101010101" pitchFamily="49" charset="-122"/>
              </a:rPr>
              <a:t>MUL</a:t>
            </a:r>
            <a:r>
              <a:rPr lang="zh-CN" altLang="en-US" sz="2400" b="0" i="0" u="none" strike="noStrike" baseline="0" dirty="0">
                <a:solidFill>
                  <a:srgbClr val="C00000"/>
                </a:solidFill>
                <a:latin typeface="楷体" panose="02010609060101010101" pitchFamily="49" charset="-122"/>
                <a:ea typeface="楷体" panose="02010609060101010101" pitchFamily="49" charset="-122"/>
              </a:rPr>
              <a:t>指令只影响</a:t>
            </a:r>
            <a:r>
              <a:rPr lang="en-US" altLang="zh-CN" sz="2400" b="1" i="0" u="none" strike="noStrike" baseline="0" dirty="0">
                <a:solidFill>
                  <a:srgbClr val="C00000"/>
                </a:solidFill>
                <a:latin typeface="Times New Roman" panose="02020603050405020304" pitchFamily="18" charset="0"/>
                <a:ea typeface="楷体" panose="02010609060101010101" pitchFamily="49" charset="-122"/>
              </a:rPr>
              <a:t>CF</a:t>
            </a:r>
            <a:r>
              <a:rPr lang="zh-CN" altLang="en-US" sz="2400" b="0" i="0" u="none" strike="noStrike" baseline="0" dirty="0">
                <a:solidFill>
                  <a:srgbClr val="C00000"/>
                </a:solidFill>
                <a:latin typeface="楷体" panose="02010609060101010101" pitchFamily="49" charset="-122"/>
                <a:ea typeface="楷体" panose="02010609060101010101" pitchFamily="49" charset="-122"/>
              </a:rPr>
              <a:t>、</a:t>
            </a:r>
            <a:r>
              <a:rPr lang="en-US" altLang="zh-CN" sz="2400" b="1" i="0" u="none" strike="noStrike" baseline="0" dirty="0">
                <a:solidFill>
                  <a:srgbClr val="C00000"/>
                </a:solidFill>
                <a:latin typeface="Times New Roman" panose="02020603050405020304" pitchFamily="18" charset="0"/>
                <a:ea typeface="楷体" panose="02010609060101010101" pitchFamily="49" charset="-122"/>
              </a:rPr>
              <a:t>OF</a:t>
            </a:r>
            <a:r>
              <a:rPr lang="zh-CN" altLang="en-US" sz="2400" b="0" i="0" u="none" strike="noStrike" baseline="0" dirty="0">
                <a:solidFill>
                  <a:srgbClr val="C00000"/>
                </a:solidFill>
                <a:latin typeface="楷体" panose="02010609060101010101" pitchFamily="49" charset="-122"/>
                <a:ea typeface="楷体" panose="02010609060101010101" pitchFamily="49" charset="-122"/>
              </a:rPr>
              <a:t>标志</a:t>
            </a:r>
            <a:r>
              <a:rPr lang="zh-CN" altLang="en-US" sz="1800" b="0" i="0" u="none" strike="noStrike" baseline="0" dirty="0">
                <a:solidFill>
                  <a:srgbClr val="000000"/>
                </a:solidFill>
                <a:latin typeface="楷体" panose="02010609060101010101" pitchFamily="49" charset="-122"/>
                <a:ea typeface="楷体" panose="02010609060101010101" pitchFamily="49" charset="-122"/>
              </a:rPr>
              <a:t>。</a:t>
            </a:r>
            <a:endParaRPr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对于字节乘法，若</a:t>
            </a:r>
            <a:r>
              <a:rPr lang="en-US" altLang="zh-CN" dirty="0"/>
              <a:t>AH≠0</a:t>
            </a:r>
            <a:r>
              <a:rPr lang="zh-CN" altLang="en-US" dirty="0"/>
              <a:t>，则</a:t>
            </a:r>
            <a:r>
              <a:rPr lang="en-US" altLang="zh-CN" dirty="0"/>
              <a:t>CF=1</a:t>
            </a:r>
            <a:r>
              <a:rPr lang="zh-CN" altLang="en-US" dirty="0"/>
              <a:t>，</a:t>
            </a:r>
            <a:r>
              <a:rPr lang="en-US" altLang="zh-CN" dirty="0"/>
              <a:t>OF=1</a:t>
            </a:r>
            <a:r>
              <a:rPr lang="zh-CN" altLang="en-US" dirty="0"/>
              <a:t>；否则</a:t>
            </a:r>
            <a:r>
              <a:rPr lang="en-US" altLang="zh-CN" dirty="0"/>
              <a:t>CF=0</a:t>
            </a:r>
            <a:r>
              <a:rPr lang="zh-CN" altLang="en-US" dirty="0"/>
              <a:t>，</a:t>
            </a:r>
            <a:r>
              <a:rPr lang="en-US" altLang="zh-CN" dirty="0"/>
              <a:t>OF=0</a:t>
            </a:r>
            <a:r>
              <a:rPr lang="zh-CN" altLang="en-US" dirty="0"/>
              <a:t>。</a:t>
            </a:r>
            <a:endParaRPr lang="zh-CN" altLang="en-US" dirty="0"/>
          </a:p>
          <a:p>
            <a:r>
              <a:rPr lang="zh-CN" altLang="en-US" dirty="0"/>
              <a:t>对于字乘法，若</a:t>
            </a:r>
            <a:r>
              <a:rPr lang="en-US" altLang="zh-CN" dirty="0"/>
              <a:t>DX≠0</a:t>
            </a:r>
            <a:r>
              <a:rPr lang="zh-CN" altLang="en-US" dirty="0"/>
              <a:t>，则</a:t>
            </a:r>
            <a:r>
              <a:rPr lang="en-US" altLang="zh-CN" dirty="0"/>
              <a:t>CF=1</a:t>
            </a:r>
            <a:r>
              <a:rPr lang="zh-CN" altLang="en-US" dirty="0"/>
              <a:t>，</a:t>
            </a:r>
            <a:r>
              <a:rPr lang="en-US" altLang="zh-CN" dirty="0"/>
              <a:t>OF=1</a:t>
            </a:r>
            <a:r>
              <a:rPr lang="zh-CN" altLang="en-US" dirty="0"/>
              <a:t>；否则</a:t>
            </a:r>
            <a:r>
              <a:rPr lang="en-US" altLang="zh-CN" dirty="0"/>
              <a:t>CF=0</a:t>
            </a:r>
            <a:r>
              <a:rPr lang="zh-CN" altLang="en-US" dirty="0"/>
              <a:t>，</a:t>
            </a:r>
            <a:r>
              <a:rPr lang="en-US" altLang="zh-CN" dirty="0"/>
              <a:t>OF=0</a:t>
            </a:r>
            <a:r>
              <a:rPr lang="zh-CN" altLang="en-US" dirty="0"/>
              <a:t>。</a:t>
            </a:r>
            <a:endParaRPr lang="zh-CN" altLang="en-US" dirty="0"/>
          </a:p>
          <a:p>
            <a:pPr marL="0" indent="0">
              <a:buNone/>
            </a:pP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乘法指令</a:t>
            </a:r>
            <a:endParaRPr lang="zh-CN" altLang="en-US" dirty="0"/>
          </a:p>
        </p:txBody>
      </p:sp>
      <p:sp>
        <p:nvSpPr>
          <p:cNvPr id="3" name="内容占位符 2"/>
          <p:cNvSpPr>
            <a:spLocks noGrp="1"/>
          </p:cNvSpPr>
          <p:nvPr>
            <p:ph idx="1"/>
          </p:nvPr>
        </p:nvSpPr>
        <p:spPr/>
        <p:txBody>
          <a:bodyPr/>
          <a:lstStyle/>
          <a:p>
            <a:pPr marL="0" indent="0">
              <a:buNone/>
            </a:pPr>
            <a:r>
              <a:rPr lang="zh-CN" altLang="en-US" b="0" dirty="0">
                <a:solidFill>
                  <a:srgbClr val="7030A0"/>
                </a:solidFill>
                <a:latin typeface="Times New Roman" panose="02020603050405020304" pitchFamily="18" charset="0"/>
                <a:ea typeface="楷体_GB2312" pitchFamily="1" charset="-122"/>
              </a:rPr>
              <a:t>有符号数乘法</a:t>
            </a:r>
            <a:r>
              <a:rPr lang="zh-CN" altLang="en-US" b="0" dirty="0" smtClean="0">
                <a:solidFill>
                  <a:srgbClr val="7030A0"/>
                </a:solidFill>
                <a:latin typeface="Times New Roman" panose="02020603050405020304" pitchFamily="18" charset="0"/>
                <a:ea typeface="楷体_GB2312" pitchFamily="1" charset="-122"/>
              </a:rPr>
              <a:t>指令</a:t>
            </a:r>
            <a:r>
              <a:rPr lang="en-US" altLang="zh-CN" b="0" dirty="0" smtClean="0">
                <a:solidFill>
                  <a:srgbClr val="7030A0"/>
                </a:solidFill>
                <a:latin typeface="Times New Roman" panose="02020603050405020304" pitchFamily="18" charset="0"/>
                <a:ea typeface="楷体_GB2312" pitchFamily="1" charset="-122"/>
              </a:rPr>
              <a:t>IMUL</a:t>
            </a:r>
            <a:r>
              <a:rPr lang="en-US" altLang="zh-CN" dirty="0" smtClean="0">
                <a:solidFill>
                  <a:srgbClr val="7030A0"/>
                </a:solidFill>
              </a:rPr>
              <a:t>(integer multiplication)</a:t>
            </a:r>
            <a:endParaRPr lang="en-US" altLang="zh-CN" dirty="0" smtClean="0">
              <a:solidFill>
                <a:srgbClr val="7030A0"/>
              </a:solidFill>
            </a:endParaRPr>
          </a:p>
          <a:p>
            <a:pPr marL="0" indent="0">
              <a:buNone/>
            </a:pPr>
            <a:r>
              <a:rPr lang="zh-CN" altLang="zh-CN" b="0" dirty="0" smtClean="0">
                <a:latin typeface="Times New Roman" panose="02020603050405020304" pitchFamily="18" charset="0"/>
                <a:ea typeface="楷体_GB2312" pitchFamily="1" charset="-122"/>
              </a:rPr>
              <a:t>格式</a:t>
            </a:r>
            <a:r>
              <a:rPr lang="zh-CN" altLang="zh-CN" b="0" dirty="0">
                <a:latin typeface="Times New Roman" panose="02020603050405020304" pitchFamily="18" charset="0"/>
                <a:ea typeface="楷体_GB2312" pitchFamily="1" charset="-122"/>
              </a:rPr>
              <a:t>：IMUL  OPS</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功能：字节乘法： (AL)×(OPS)→AX</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字乘法：   (AX)×(OPS)→(DX，AX)</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IMUL指令的使用注意事项同MUL指令</a:t>
            </a:r>
            <a:endParaRPr lang="zh-CN" alt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符号扩展指令</a:t>
            </a:r>
            <a:endParaRPr lang="zh-CN" altLang="en-US" dirty="0"/>
          </a:p>
        </p:txBody>
      </p:sp>
      <p:sp>
        <p:nvSpPr>
          <p:cNvPr id="3" name="内容占位符 2"/>
          <p:cNvSpPr>
            <a:spLocks noGrp="1"/>
          </p:cNvSpPr>
          <p:nvPr>
            <p:ph idx="1"/>
          </p:nvPr>
        </p:nvSpPr>
        <p:spPr/>
        <p:txBody>
          <a:bodyPr>
            <a:normAutofit/>
          </a:bodyPr>
          <a:lstStyle/>
          <a:p>
            <a:r>
              <a:rPr lang="zh-CN" altLang="en-US" dirty="0"/>
              <a:t>将字节扩展为字指令</a:t>
            </a:r>
            <a:r>
              <a:rPr lang="en-US" altLang="zh-CN" dirty="0" smtClean="0"/>
              <a:t>CBW(change byte to word)</a:t>
            </a:r>
            <a:endParaRPr lang="en-US" altLang="zh-CN" dirty="0"/>
          </a:p>
          <a:p>
            <a:r>
              <a:rPr lang="zh-CN" altLang="en-US" dirty="0"/>
              <a:t>格式：</a:t>
            </a:r>
            <a:r>
              <a:rPr lang="en-US" altLang="zh-CN" dirty="0"/>
              <a:t>CBW</a:t>
            </a:r>
            <a:endParaRPr lang="en-US" altLang="zh-CN" dirty="0"/>
          </a:p>
          <a:p>
            <a:r>
              <a:rPr lang="zh-CN" altLang="en-US" dirty="0"/>
              <a:t>功能：将</a:t>
            </a:r>
            <a:r>
              <a:rPr lang="en-US" altLang="zh-CN" dirty="0"/>
              <a:t>AL</a:t>
            </a:r>
            <a:r>
              <a:rPr lang="zh-CN" altLang="en-US" dirty="0"/>
              <a:t>的内容从字节扩展为字，存放到</a:t>
            </a:r>
            <a:r>
              <a:rPr lang="en-US" altLang="zh-CN" dirty="0"/>
              <a:t>AX</a:t>
            </a:r>
            <a:r>
              <a:rPr lang="zh-CN" altLang="en-US" dirty="0"/>
              <a:t>。</a:t>
            </a:r>
            <a:endParaRPr lang="zh-CN" altLang="en-US" dirty="0"/>
          </a:p>
          <a:p>
            <a:r>
              <a:rPr lang="zh-CN" altLang="en-US" dirty="0"/>
              <a:t>若</a:t>
            </a:r>
            <a:r>
              <a:rPr lang="en-US" altLang="zh-CN" dirty="0"/>
              <a:t>AL</a:t>
            </a:r>
            <a:r>
              <a:rPr lang="zh-CN" altLang="en-US" dirty="0"/>
              <a:t>中数据的最高位为</a:t>
            </a:r>
            <a:r>
              <a:rPr lang="en-US" altLang="zh-CN" dirty="0"/>
              <a:t>0</a:t>
            </a:r>
            <a:r>
              <a:rPr lang="zh-CN" altLang="en-US" dirty="0"/>
              <a:t>，则</a:t>
            </a:r>
            <a:r>
              <a:rPr lang="en-US" altLang="zh-CN" dirty="0"/>
              <a:t>(AH)=00H</a:t>
            </a:r>
            <a:r>
              <a:rPr lang="zh-CN" altLang="en-US" dirty="0"/>
              <a:t>；</a:t>
            </a:r>
            <a:endParaRPr lang="zh-CN" altLang="en-US" dirty="0"/>
          </a:p>
          <a:p>
            <a:pPr marL="0" indent="0">
              <a:buNone/>
            </a:pPr>
            <a:r>
              <a:rPr lang="zh-CN" altLang="en-US" dirty="0"/>
              <a:t>  若</a:t>
            </a:r>
            <a:r>
              <a:rPr lang="en-US" altLang="zh-CN" dirty="0"/>
              <a:t>AL</a:t>
            </a:r>
            <a:r>
              <a:rPr lang="zh-CN" altLang="en-US" dirty="0"/>
              <a:t>中数据的最高位为</a:t>
            </a:r>
            <a:r>
              <a:rPr lang="en-US" altLang="zh-CN" dirty="0"/>
              <a:t>1</a:t>
            </a:r>
            <a:r>
              <a:rPr lang="zh-CN" altLang="en-US" dirty="0"/>
              <a:t>，则</a:t>
            </a:r>
            <a:r>
              <a:rPr lang="en-US" altLang="zh-CN" dirty="0"/>
              <a:t>(AH)=0FFH</a:t>
            </a:r>
            <a:r>
              <a:rPr lang="zh-CN" altLang="en-US" dirty="0"/>
              <a:t>。</a:t>
            </a:r>
            <a:endParaRPr lang="zh-CN" altLang="en-US" dirty="0"/>
          </a:p>
          <a:p>
            <a:r>
              <a:rPr lang="zh-CN" altLang="en-US" dirty="0"/>
              <a:t>该指令不影响标志位。</a:t>
            </a:r>
            <a:endParaRPr lang="zh-CN" altLang="en-US" dirty="0"/>
          </a:p>
        </p:txBody>
      </p:sp>
      <p:sp>
        <p:nvSpPr>
          <p:cNvPr id="4" name="矩形 3"/>
          <p:cNvSpPr/>
          <p:nvPr/>
        </p:nvSpPr>
        <p:spPr>
          <a:xfrm>
            <a:off x="687917" y="5019346"/>
            <a:ext cx="7728334" cy="830997"/>
          </a:xfrm>
          <a:prstGeom prst="rect">
            <a:avLst/>
          </a:prstGeom>
        </p:spPr>
        <p:txBody>
          <a:bodyPr wrap="none">
            <a:spAutoFit/>
          </a:bodyPr>
          <a:lstStyle/>
          <a:p>
            <a:r>
              <a:rPr lang="zh-CN" altLang="en-US" sz="2400" dirty="0" smtClean="0"/>
              <a:t>例 </a:t>
            </a:r>
            <a:r>
              <a:rPr lang="en-US" altLang="zh-CN" sz="2400" dirty="0" smtClean="0"/>
              <a:t>3.9</a:t>
            </a:r>
            <a:r>
              <a:rPr lang="zh-CN" altLang="en-US" sz="2400" dirty="0" smtClean="0"/>
              <a:t> </a:t>
            </a:r>
            <a:r>
              <a:rPr lang="en-US" altLang="zh-CN" sz="2400" dirty="0" smtClean="0"/>
              <a:t>MOV</a:t>
            </a:r>
            <a:r>
              <a:rPr lang="zh-CN" altLang="en-US" sz="2400" dirty="0" smtClean="0"/>
              <a:t> </a:t>
            </a:r>
            <a:r>
              <a:rPr lang="en-US" altLang="zh-CN" sz="2400" dirty="0" smtClean="0"/>
              <a:t>AL</a:t>
            </a:r>
            <a:r>
              <a:rPr lang="en-US" altLang="zh-CN" sz="2400" dirty="0" smtClean="0"/>
              <a:t>,-</a:t>
            </a:r>
            <a:r>
              <a:rPr lang="en-US" altLang="zh-CN" sz="2400" dirty="0" smtClean="0"/>
              <a:t>7</a:t>
            </a:r>
            <a:r>
              <a:rPr lang="zh-CN" altLang="en-US" sz="2400" dirty="0" smtClean="0"/>
              <a:t>       原</a:t>
            </a:r>
            <a:r>
              <a:rPr lang="zh-CN" altLang="en-US" sz="2400" dirty="0" smtClean="0"/>
              <a:t>码：</a:t>
            </a:r>
            <a:r>
              <a:rPr lang="en-US" altLang="zh-CN" sz="2400" dirty="0" smtClean="0"/>
              <a:t>10000111</a:t>
            </a:r>
            <a:r>
              <a:rPr lang="zh-CN" altLang="en-US" sz="2400" dirty="0" smtClean="0"/>
              <a:t> 补码：</a:t>
            </a:r>
            <a:r>
              <a:rPr lang="en-US" altLang="zh-CN" sz="2400" dirty="0" smtClean="0"/>
              <a:t>11111001</a:t>
            </a:r>
            <a:endParaRPr lang="en-US" altLang="zh-CN" sz="2400" dirty="0" smtClean="0"/>
          </a:p>
          <a:p>
            <a:r>
              <a:rPr lang="zh-CN" altLang="en-US" sz="2400" dirty="0" smtClean="0"/>
              <a:t>           </a:t>
            </a:r>
            <a:r>
              <a:rPr lang="en-US" altLang="zh-CN" sz="2400" dirty="0" smtClean="0"/>
              <a:t>CBW</a:t>
            </a:r>
            <a:r>
              <a:rPr lang="zh-CN" altLang="en-US" sz="2400" dirty="0" smtClean="0"/>
              <a:t>                执行</a:t>
            </a:r>
            <a:r>
              <a:rPr lang="zh-CN" altLang="en-US" sz="2400" dirty="0" smtClean="0"/>
              <a:t>后</a:t>
            </a:r>
            <a:r>
              <a:rPr lang="en-US" altLang="zh-CN" sz="2400" dirty="0" smtClean="0"/>
              <a:t>,(AX)=0FFF9H</a:t>
            </a:r>
            <a:endParaRPr lang="zh-CN" altLang="en-US" sz="24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符号扩展指令</a:t>
            </a:r>
            <a:endParaRPr lang="zh-CN" altLang="en-US" dirty="0"/>
          </a:p>
        </p:txBody>
      </p:sp>
      <p:sp>
        <p:nvSpPr>
          <p:cNvPr id="3" name="内容占位符 2"/>
          <p:cNvSpPr>
            <a:spLocks noGrp="1"/>
          </p:cNvSpPr>
          <p:nvPr>
            <p:ph idx="1"/>
          </p:nvPr>
        </p:nvSpPr>
        <p:spPr/>
        <p:txBody>
          <a:bodyPr>
            <a:normAutofit/>
          </a:bodyPr>
          <a:lstStyle/>
          <a:p>
            <a:r>
              <a:rPr lang="zh-CN" altLang="en-US" dirty="0" smtClean="0"/>
              <a:t>将字扩展为双字指令</a:t>
            </a:r>
            <a:r>
              <a:rPr lang="en-US" altLang="zh-CN" dirty="0" smtClean="0"/>
              <a:t>CWD(change word to double word)</a:t>
            </a:r>
            <a:endParaRPr lang="en-US" altLang="zh-CN" dirty="0" smtClean="0"/>
          </a:p>
          <a:p>
            <a:r>
              <a:rPr lang="zh-CN" altLang="en-US" dirty="0" smtClean="0"/>
              <a:t>格式：</a:t>
            </a:r>
            <a:r>
              <a:rPr lang="en-US" altLang="zh-CN" dirty="0" smtClean="0"/>
              <a:t>CWD</a:t>
            </a:r>
            <a:endParaRPr lang="en-US" altLang="zh-CN" dirty="0" smtClean="0"/>
          </a:p>
          <a:p>
            <a:r>
              <a:rPr lang="zh-CN" altLang="en-US" dirty="0" smtClean="0"/>
              <a:t>功能：将</a:t>
            </a:r>
            <a:r>
              <a:rPr lang="en-US" altLang="zh-CN" dirty="0" smtClean="0"/>
              <a:t>AX</a:t>
            </a:r>
            <a:r>
              <a:rPr lang="zh-CN" altLang="en-US" dirty="0" smtClean="0"/>
              <a:t>的内容从字扩展为双字，存放到</a:t>
            </a:r>
            <a:r>
              <a:rPr lang="en-US" altLang="zh-CN" dirty="0" smtClean="0"/>
              <a:t>DX</a:t>
            </a:r>
            <a:r>
              <a:rPr lang="zh-CN" altLang="en-US" dirty="0" smtClean="0"/>
              <a:t>、</a:t>
            </a:r>
            <a:r>
              <a:rPr lang="en-US" altLang="zh-CN" dirty="0" smtClean="0"/>
              <a:t>AX</a:t>
            </a:r>
            <a:r>
              <a:rPr lang="zh-CN" altLang="en-US" dirty="0" smtClean="0"/>
              <a:t>。</a:t>
            </a:r>
            <a:endParaRPr lang="zh-CN" altLang="en-US" dirty="0" smtClean="0"/>
          </a:p>
          <a:p>
            <a:r>
              <a:rPr lang="zh-CN" altLang="en-US" dirty="0" smtClean="0"/>
              <a:t>若</a:t>
            </a:r>
            <a:r>
              <a:rPr lang="en-US" altLang="zh-CN" dirty="0" smtClean="0"/>
              <a:t>AX</a:t>
            </a:r>
            <a:r>
              <a:rPr lang="zh-CN" altLang="en-US" dirty="0" smtClean="0"/>
              <a:t>中数据的最高位为</a:t>
            </a:r>
            <a:r>
              <a:rPr lang="en-US" altLang="zh-CN" dirty="0" smtClean="0"/>
              <a:t>0</a:t>
            </a:r>
            <a:r>
              <a:rPr lang="zh-CN" altLang="en-US" dirty="0" smtClean="0"/>
              <a:t>，则</a:t>
            </a:r>
            <a:r>
              <a:rPr lang="en-US" altLang="zh-CN" dirty="0" smtClean="0"/>
              <a:t>(DX)=0000H</a:t>
            </a:r>
            <a:r>
              <a:rPr lang="zh-CN" altLang="en-US" dirty="0" smtClean="0"/>
              <a:t>；</a:t>
            </a:r>
            <a:endParaRPr lang="zh-CN" altLang="en-US" dirty="0" smtClean="0"/>
          </a:p>
          <a:p>
            <a:pPr marL="0" indent="0">
              <a:buNone/>
            </a:pPr>
            <a:r>
              <a:rPr lang="zh-CN" altLang="en-US" dirty="0" smtClean="0"/>
              <a:t>  若</a:t>
            </a:r>
            <a:r>
              <a:rPr lang="en-US" altLang="zh-CN" dirty="0" smtClean="0"/>
              <a:t>AX</a:t>
            </a:r>
            <a:r>
              <a:rPr lang="zh-CN" altLang="en-US" dirty="0" smtClean="0"/>
              <a:t>中数据的最高位为</a:t>
            </a:r>
            <a:r>
              <a:rPr lang="en-US" altLang="zh-CN" dirty="0" smtClean="0"/>
              <a:t>1</a:t>
            </a:r>
            <a:r>
              <a:rPr lang="zh-CN" altLang="en-US" dirty="0" smtClean="0"/>
              <a:t>，则</a:t>
            </a:r>
            <a:r>
              <a:rPr lang="en-US" altLang="zh-CN" dirty="0" smtClean="0"/>
              <a:t>(DX)=0FFFFH</a:t>
            </a:r>
            <a:r>
              <a:rPr lang="zh-CN" altLang="en-US" dirty="0" smtClean="0"/>
              <a:t>。</a:t>
            </a:r>
            <a:endParaRPr lang="zh-CN" altLang="en-US" dirty="0" smtClean="0"/>
          </a:p>
          <a:p>
            <a:r>
              <a:rPr lang="zh-CN" altLang="en-US" dirty="0" smtClean="0"/>
              <a:t>该指令不影响标志位。</a:t>
            </a:r>
            <a:endParaRPr lang="zh-CN" altLang="en-US" dirty="0"/>
          </a:p>
        </p:txBody>
      </p:sp>
      <p:sp>
        <p:nvSpPr>
          <p:cNvPr id="5" name="矩形 4"/>
          <p:cNvSpPr/>
          <p:nvPr/>
        </p:nvSpPr>
        <p:spPr>
          <a:xfrm>
            <a:off x="1004046" y="5128273"/>
            <a:ext cx="10076329" cy="1200329"/>
          </a:xfrm>
          <a:prstGeom prst="rect">
            <a:avLst/>
          </a:prstGeom>
        </p:spPr>
        <p:txBody>
          <a:bodyPr wrap="square">
            <a:spAutoFit/>
          </a:bodyPr>
          <a:lstStyle/>
          <a:p>
            <a:r>
              <a:rPr lang="zh-CN" altLang="en-US" sz="2400" dirty="0" smtClean="0"/>
              <a:t>例</a:t>
            </a:r>
            <a:r>
              <a:rPr lang="en-US" altLang="zh-CN" sz="2400" dirty="0" smtClean="0"/>
              <a:t>3.10</a:t>
            </a:r>
            <a:r>
              <a:rPr lang="zh-CN" altLang="en-US" sz="2400" dirty="0" smtClean="0"/>
              <a:t> </a:t>
            </a:r>
            <a:r>
              <a:rPr lang="en-US" altLang="zh-CN" sz="2400" dirty="0" smtClean="0"/>
              <a:t>MOV DX,0</a:t>
            </a:r>
            <a:endParaRPr lang="en-US" altLang="zh-CN" sz="2400" dirty="0" smtClean="0"/>
          </a:p>
          <a:p>
            <a:r>
              <a:rPr lang="zh-CN" altLang="en-US" sz="2400" dirty="0" smtClean="0"/>
              <a:t>           </a:t>
            </a:r>
            <a:r>
              <a:rPr lang="en-US" altLang="zh-CN" sz="2400" dirty="0" smtClean="0"/>
              <a:t>MOV </a:t>
            </a:r>
            <a:r>
              <a:rPr lang="en-US" altLang="zh-CN" sz="2400" dirty="0" smtClean="0"/>
              <a:t>AX, </a:t>
            </a:r>
            <a:r>
              <a:rPr lang="en-US" altLang="zh-CN" sz="2400" dirty="0" smtClean="0"/>
              <a:t>OFFABH</a:t>
            </a:r>
            <a:endParaRPr lang="en-US" altLang="zh-CN" sz="2400" dirty="0" smtClean="0"/>
          </a:p>
          <a:p>
            <a:r>
              <a:rPr lang="zh-CN" altLang="en-US" sz="2400" dirty="0" smtClean="0"/>
              <a:t>           </a:t>
            </a:r>
            <a:r>
              <a:rPr lang="en-US" altLang="zh-CN" sz="2400" dirty="0" smtClean="0"/>
              <a:t>CWD</a:t>
            </a:r>
            <a:r>
              <a:rPr lang="zh-CN" altLang="en-US" sz="2400" dirty="0" smtClean="0"/>
              <a:t>                            指令</a:t>
            </a:r>
            <a:r>
              <a:rPr lang="zh-CN" altLang="en-US" sz="2400" dirty="0" smtClean="0"/>
              <a:t>执行后</a:t>
            </a:r>
            <a:r>
              <a:rPr lang="en-US" altLang="zh-CN" sz="2400" dirty="0" smtClean="0"/>
              <a:t>,(DX)=0FFFFH;(AX)=0FFABH</a:t>
            </a:r>
            <a:r>
              <a:rPr lang="zh-CN" altLang="en-US" sz="2400" dirty="0" smtClean="0"/>
              <a:t>。</a:t>
            </a:r>
            <a:endParaRPr lang="zh-CN" altLang="en-US" sz="24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除法运算指令</a:t>
            </a:r>
            <a:endParaRPr lang="zh-CN" altLang="en-US" dirty="0"/>
          </a:p>
        </p:txBody>
      </p:sp>
      <p:sp>
        <p:nvSpPr>
          <p:cNvPr id="3" name="内容占位符 2"/>
          <p:cNvSpPr>
            <a:spLocks noGrp="1"/>
          </p:cNvSpPr>
          <p:nvPr>
            <p:ph idx="1"/>
          </p:nvPr>
        </p:nvSpPr>
        <p:spPr/>
        <p:txBody>
          <a:bodyPr/>
          <a:lstStyle/>
          <a:p>
            <a:pPr marL="0" indent="0">
              <a:lnSpc>
                <a:spcPct val="100000"/>
              </a:lnSpc>
              <a:buNone/>
            </a:pPr>
            <a:r>
              <a:rPr lang="zh-CN" altLang="en-US" sz="2800" b="0" dirty="0">
                <a:solidFill>
                  <a:srgbClr val="7030A0"/>
                </a:solidFill>
              </a:rPr>
              <a:t>无符号数除法指令</a:t>
            </a:r>
            <a:r>
              <a:rPr lang="en-US" altLang="zh-CN" sz="2800" b="0" dirty="0" smtClean="0">
                <a:solidFill>
                  <a:srgbClr val="7030A0"/>
                </a:solidFill>
              </a:rPr>
              <a:t>DIV(divide)</a:t>
            </a:r>
            <a:endParaRPr lang="en-US" altLang="zh-CN" sz="2800" b="0" dirty="0">
              <a:solidFill>
                <a:srgbClr val="7030A0"/>
              </a:solidFill>
            </a:endParaRPr>
          </a:p>
          <a:p>
            <a:pPr>
              <a:lnSpc>
                <a:spcPct val="100000"/>
              </a:lnSpc>
              <a:buFont typeface="Wingdings" panose="05000000000000000000" pitchFamily="2" charset="2"/>
              <a:buChar char="Ø"/>
            </a:pPr>
            <a:r>
              <a:rPr lang="zh-CN" altLang="zh-CN" sz="2800" b="0" dirty="0"/>
              <a:t>格式：DIV  OPS</a:t>
            </a:r>
            <a:endParaRPr lang="zh-CN" altLang="zh-CN" sz="2800" b="0" dirty="0"/>
          </a:p>
          <a:p>
            <a:pPr algn="l">
              <a:lnSpc>
                <a:spcPct val="100000"/>
              </a:lnSpc>
              <a:buFont typeface="Wingdings" panose="05000000000000000000" pitchFamily="2" charset="2"/>
              <a:buChar char="Ø"/>
            </a:pPr>
            <a:r>
              <a:rPr lang="zh-CN" altLang="zh-CN" sz="2800" b="0" dirty="0"/>
              <a:t>功能：</a:t>
            </a:r>
            <a:endParaRPr lang="zh-CN" altLang="zh-CN" sz="2800" b="0" dirty="0"/>
          </a:p>
          <a:p>
            <a:pPr algn="l">
              <a:lnSpc>
                <a:spcPct val="100000"/>
              </a:lnSpc>
              <a:buFont typeface="Wingdings" panose="05000000000000000000" pitchFamily="2" charset="2"/>
              <a:buNone/>
            </a:pPr>
            <a:r>
              <a:rPr lang="zh-CN" altLang="zh-CN" sz="2800" b="0" dirty="0"/>
              <a:t>     字节除法：(AX)/(OPS)→AL(商)，AH(余数)    </a:t>
            </a:r>
            <a:endParaRPr lang="zh-CN" altLang="zh-CN" sz="2800" b="0" dirty="0"/>
          </a:p>
          <a:p>
            <a:pPr>
              <a:lnSpc>
                <a:spcPct val="100000"/>
              </a:lnSpc>
              <a:buFont typeface="Wingdings" panose="05000000000000000000" pitchFamily="2" charset="2"/>
              <a:buNone/>
            </a:pPr>
            <a:r>
              <a:rPr lang="zh-CN" altLang="zh-CN" sz="2800" b="0" dirty="0"/>
              <a:t>     字除法： (DX，AX)/ (OPS)→AX(商)，DX(余数)</a:t>
            </a:r>
            <a:endParaRPr lang="zh-CN" altLang="zh-CN" sz="2800" b="0" dirty="0"/>
          </a:p>
        </p:txBody>
      </p:sp>
      <p:pic>
        <p:nvPicPr>
          <p:cNvPr id="5" name="图片 4"/>
          <p:cNvPicPr>
            <a:picLocks noChangeAspect="1"/>
          </p:cNvPicPr>
          <p:nvPr/>
        </p:nvPicPr>
        <p:blipFill>
          <a:blip r:embed="rId1" cstate="print"/>
          <a:stretch>
            <a:fillRect/>
          </a:stretch>
        </p:blipFill>
        <p:spPr>
          <a:xfrm>
            <a:off x="1364512" y="4562022"/>
            <a:ext cx="2124881" cy="1062440"/>
          </a:xfrm>
          <a:prstGeom prst="rect">
            <a:avLst/>
          </a:prstGeom>
        </p:spPr>
      </p:pic>
      <p:pic>
        <p:nvPicPr>
          <p:cNvPr id="7" name="图片 6"/>
          <p:cNvPicPr>
            <a:picLocks noChangeAspect="1"/>
          </p:cNvPicPr>
          <p:nvPr/>
        </p:nvPicPr>
        <p:blipFill>
          <a:blip r:embed="rId2" cstate="print"/>
          <a:stretch>
            <a:fillRect/>
          </a:stretch>
        </p:blipFill>
        <p:spPr>
          <a:xfrm>
            <a:off x="1866463" y="5578107"/>
            <a:ext cx="1497301" cy="706113"/>
          </a:xfrm>
          <a:prstGeom prst="rect">
            <a:avLst/>
          </a:prstGeom>
        </p:spPr>
      </p:pic>
      <p:pic>
        <p:nvPicPr>
          <p:cNvPr id="9" name="图片 8"/>
          <p:cNvPicPr>
            <a:picLocks noChangeAspect="1"/>
          </p:cNvPicPr>
          <p:nvPr/>
        </p:nvPicPr>
        <p:blipFill>
          <a:blip r:embed="rId3" cstate="print"/>
          <a:stretch>
            <a:fillRect/>
          </a:stretch>
        </p:blipFill>
        <p:spPr>
          <a:xfrm>
            <a:off x="5228600" y="4562022"/>
            <a:ext cx="1233398" cy="1687357"/>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图示</a:t>
            </a:r>
            <a:endParaRPr lang="zh-CN" altLang="en-US" dirty="0"/>
          </a:p>
        </p:txBody>
      </p:sp>
      <p:pic>
        <p:nvPicPr>
          <p:cNvPr id="4" name="Picture 4"/>
          <p:cNvPicPr>
            <a:picLocks noGrp="1" noChangeAspect="1" noChangeArrowheads="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1619421" y="1596112"/>
            <a:ext cx="8953158" cy="246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854200" y="4490958"/>
            <a:ext cx="9182100" cy="1200329"/>
          </a:xfrm>
          <a:prstGeom prst="rect">
            <a:avLst/>
          </a:prstGeom>
          <a:noFill/>
        </p:spPr>
        <p:txBody>
          <a:bodyPr wrap="square">
            <a:spAutoFit/>
          </a:bodyPr>
          <a:lstStyle/>
          <a:p>
            <a:r>
              <a:rPr lang="en-US" altLang="zh-CN" sz="2400" dirty="0">
                <a:solidFill>
                  <a:srgbClr val="C00000"/>
                </a:solidFill>
                <a:latin typeface="黑体" panose="02010609060101010101" pitchFamily="49" charset="-122"/>
                <a:ea typeface="黑体" panose="02010609060101010101" pitchFamily="49" charset="-122"/>
              </a:rPr>
              <a:t>DIV</a:t>
            </a:r>
            <a:r>
              <a:rPr lang="zh-CN" altLang="en-US" sz="2400" dirty="0">
                <a:solidFill>
                  <a:srgbClr val="C00000"/>
                </a:solidFill>
                <a:latin typeface="黑体" panose="02010609060101010101" pitchFamily="49" charset="-122"/>
                <a:ea typeface="黑体" panose="02010609060101010101" pitchFamily="49" charset="-122"/>
              </a:rPr>
              <a:t>指令在使用应该注意：</a:t>
            </a:r>
            <a:endParaRPr lang="en-US" altLang="zh-CN" sz="2400" dirty="0">
              <a:solidFill>
                <a:srgbClr val="C00000"/>
              </a:solidFill>
              <a:latin typeface="黑体" panose="02010609060101010101" pitchFamily="49" charset="-122"/>
              <a:ea typeface="黑体" panose="02010609060101010101" pitchFamily="49" charset="-122"/>
            </a:endParaRPr>
          </a:p>
          <a:p>
            <a:r>
              <a:rPr lang="en-US" altLang="zh-CN" sz="2400" dirty="0">
                <a:latin typeface="黑体" panose="02010609060101010101" pitchFamily="49" charset="-122"/>
                <a:ea typeface="黑体" panose="02010609060101010101" pitchFamily="49" charset="-122"/>
              </a:rPr>
              <a:t>  OPS</a:t>
            </a:r>
            <a:r>
              <a:rPr lang="zh-CN" altLang="en-US" sz="2400" dirty="0">
                <a:latin typeface="黑体" panose="02010609060101010101" pitchFamily="49" charset="-122"/>
                <a:ea typeface="黑体" panose="02010609060101010101" pitchFamily="49" charset="-122"/>
              </a:rPr>
              <a:t>不能是立即数。</a:t>
            </a:r>
            <a:endParaRPr lang="en-US" altLang="zh-CN" sz="2400" dirty="0">
              <a:latin typeface="黑体" panose="02010609060101010101" pitchFamily="49" charset="-122"/>
              <a:ea typeface="黑体" panose="02010609060101010101" pitchFamily="49" charset="-122"/>
            </a:endParaRPr>
          </a:p>
          <a:p>
            <a:r>
              <a:rPr lang="zh-CN" altLang="en-US" sz="2400" dirty="0">
                <a:latin typeface="黑体" panose="02010609060101010101" pitchFamily="49" charset="-122"/>
                <a:ea typeface="黑体" panose="02010609060101010101" pitchFamily="49" charset="-122"/>
              </a:rPr>
              <a:t>  除法指令不影响标志位，除</a:t>
            </a:r>
            <a:r>
              <a:rPr lang="en-US" altLang="zh-CN" sz="2400" dirty="0">
                <a:latin typeface="黑体" panose="02010609060101010101" pitchFamily="49" charset="-122"/>
                <a:ea typeface="黑体" panose="02010609060101010101" pitchFamily="49" charset="-122"/>
              </a:rPr>
              <a:t>0</a:t>
            </a:r>
            <a:r>
              <a:rPr lang="zh-CN" altLang="en-US" sz="2400" dirty="0">
                <a:latin typeface="黑体" panose="02010609060101010101" pitchFamily="49" charset="-122"/>
                <a:ea typeface="黑体" panose="02010609060101010101" pitchFamily="49" charset="-122"/>
              </a:rPr>
              <a:t>会导致结果溢出，产生溢出中断。</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除法运算指令</a:t>
            </a:r>
            <a:endParaRPr lang="zh-CN" altLang="en-US" dirty="0"/>
          </a:p>
        </p:txBody>
      </p:sp>
      <p:sp>
        <p:nvSpPr>
          <p:cNvPr id="3" name="内容占位符 2"/>
          <p:cNvSpPr>
            <a:spLocks noGrp="1"/>
          </p:cNvSpPr>
          <p:nvPr>
            <p:ph idx="1"/>
          </p:nvPr>
        </p:nvSpPr>
        <p:spPr/>
        <p:txBody>
          <a:bodyPr/>
          <a:lstStyle/>
          <a:p>
            <a:pPr marL="0" indent="0">
              <a:lnSpc>
                <a:spcPct val="100000"/>
              </a:lnSpc>
              <a:buNone/>
            </a:pPr>
            <a:r>
              <a:rPr lang="zh-CN" altLang="en-US" dirty="0">
                <a:solidFill>
                  <a:srgbClr val="7030A0"/>
                </a:solidFill>
              </a:rPr>
              <a:t>有符号数除法指令</a:t>
            </a:r>
            <a:r>
              <a:rPr lang="en-US" altLang="zh-CN" dirty="0" smtClean="0">
                <a:solidFill>
                  <a:srgbClr val="7030A0"/>
                </a:solidFill>
              </a:rPr>
              <a:t>IDIV(integer divide)</a:t>
            </a:r>
            <a:endParaRPr lang="en-US" altLang="zh-CN" dirty="0">
              <a:solidFill>
                <a:srgbClr val="7030A0"/>
              </a:solidFill>
            </a:endParaRPr>
          </a:p>
          <a:p>
            <a:pPr>
              <a:lnSpc>
                <a:spcPct val="100000"/>
              </a:lnSpc>
              <a:buFont typeface="Wingdings" panose="05000000000000000000" pitchFamily="2" charset="2"/>
              <a:buChar char="Ø"/>
            </a:pPr>
            <a:r>
              <a:rPr lang="zh-CN" altLang="zh-CN" sz="2800" b="0" dirty="0"/>
              <a:t>格式：IDIV  OPS</a:t>
            </a:r>
            <a:endParaRPr lang="zh-CN" altLang="zh-CN" sz="2800" b="0" dirty="0"/>
          </a:p>
          <a:p>
            <a:pPr algn="l">
              <a:lnSpc>
                <a:spcPct val="100000"/>
              </a:lnSpc>
              <a:buFont typeface="Wingdings" panose="05000000000000000000" pitchFamily="2" charset="2"/>
              <a:buChar char="Ø"/>
            </a:pPr>
            <a:r>
              <a:rPr lang="zh-CN" altLang="zh-CN" sz="2800" b="0" dirty="0"/>
              <a:t>功能：</a:t>
            </a:r>
            <a:endParaRPr lang="zh-CN" altLang="zh-CN" sz="2800" b="0" dirty="0"/>
          </a:p>
          <a:p>
            <a:pPr algn="l">
              <a:lnSpc>
                <a:spcPct val="100000"/>
              </a:lnSpc>
              <a:buFont typeface="Wingdings" panose="05000000000000000000" pitchFamily="2" charset="2"/>
              <a:buNone/>
            </a:pPr>
            <a:r>
              <a:rPr lang="zh-CN" altLang="zh-CN" sz="2800" b="0" dirty="0"/>
              <a:t>     字节除法： (AX)/(OPS)→AL(商)，</a:t>
            </a:r>
            <a:r>
              <a:rPr lang="en-US" altLang="zh-CN" sz="2800" b="0" dirty="0"/>
              <a:t>  </a:t>
            </a:r>
            <a:r>
              <a:rPr lang="zh-CN" altLang="zh-CN" sz="2800" b="0" dirty="0"/>
              <a:t>AH(余数)</a:t>
            </a:r>
            <a:endParaRPr lang="zh-CN" altLang="zh-CN" sz="2800" b="0" dirty="0"/>
          </a:p>
          <a:p>
            <a:pPr>
              <a:lnSpc>
                <a:spcPct val="100000"/>
              </a:lnSpc>
              <a:buFont typeface="Wingdings" panose="05000000000000000000" pitchFamily="2" charset="2"/>
              <a:buNone/>
            </a:pPr>
            <a:r>
              <a:rPr lang="zh-CN" altLang="zh-CN" sz="2800" b="0" dirty="0"/>
              <a:t>     字除法： (DX，AX)/ (OPS)→AX(商)，DX(余数)</a:t>
            </a:r>
            <a:r>
              <a:rPr lang="zh-CN" altLang="zh-CN" sz="2800" dirty="0"/>
              <a:t> </a:t>
            </a:r>
            <a:endParaRPr lang="zh-CN" altLang="zh-CN" sz="2800" dirty="0"/>
          </a:p>
          <a:p>
            <a:pPr marL="0" indent="0">
              <a:buNone/>
            </a:pPr>
            <a:endParaRPr lang="zh-CN" alt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十进制调整指令</a:t>
            </a:r>
            <a:endParaRPr lang="zh-CN" altLang="en-US" dirty="0"/>
          </a:p>
        </p:txBody>
      </p:sp>
      <p:sp>
        <p:nvSpPr>
          <p:cNvPr id="3" name="内容占位符 2"/>
          <p:cNvSpPr>
            <a:spLocks noGrp="1"/>
          </p:cNvSpPr>
          <p:nvPr>
            <p:ph idx="1"/>
          </p:nvPr>
        </p:nvSpPr>
        <p:spPr/>
        <p:txBody>
          <a:bodyPr/>
          <a:lstStyle/>
          <a:p>
            <a:r>
              <a:rPr lang="zh-CN" altLang="en-US" dirty="0"/>
              <a:t>加法的</a:t>
            </a:r>
            <a:r>
              <a:rPr lang="en-US" altLang="zh-CN" dirty="0"/>
              <a:t>BCD</a:t>
            </a:r>
            <a:r>
              <a:rPr lang="zh-CN" altLang="en-US" dirty="0"/>
              <a:t>码调整指令（</a:t>
            </a:r>
            <a:r>
              <a:rPr lang="en-US" altLang="zh-CN" dirty="0"/>
              <a:t>DAA</a:t>
            </a:r>
            <a:r>
              <a:rPr lang="zh-CN" altLang="en-US" dirty="0"/>
              <a:t>、</a:t>
            </a:r>
            <a:r>
              <a:rPr lang="en-US" altLang="zh-CN" dirty="0"/>
              <a:t>AAA</a:t>
            </a:r>
            <a:r>
              <a:rPr lang="zh-CN" altLang="en-US" dirty="0"/>
              <a:t>）</a:t>
            </a:r>
            <a:endParaRPr lang="zh-CN" altLang="en-US" dirty="0"/>
          </a:p>
          <a:p>
            <a:r>
              <a:rPr lang="zh-CN" altLang="en-US" dirty="0"/>
              <a:t>减法的</a:t>
            </a:r>
            <a:r>
              <a:rPr lang="en-US" altLang="zh-CN" dirty="0"/>
              <a:t>BCD</a:t>
            </a:r>
            <a:r>
              <a:rPr lang="zh-CN" altLang="en-US" dirty="0"/>
              <a:t>码调整指令（</a:t>
            </a:r>
            <a:r>
              <a:rPr lang="en-US" altLang="zh-CN" dirty="0"/>
              <a:t>DAS</a:t>
            </a:r>
            <a:r>
              <a:rPr lang="zh-CN" altLang="en-US" dirty="0"/>
              <a:t>、</a:t>
            </a:r>
            <a:r>
              <a:rPr lang="en-US" altLang="zh-CN" dirty="0"/>
              <a:t>AAS</a:t>
            </a:r>
            <a:r>
              <a:rPr lang="zh-CN" altLang="en-US" dirty="0"/>
              <a:t>）</a:t>
            </a:r>
            <a:endParaRPr lang="zh-CN" altLang="en-US" dirty="0"/>
          </a:p>
          <a:p>
            <a:r>
              <a:rPr lang="zh-CN" altLang="en-US" dirty="0"/>
              <a:t>乘法的非压缩</a:t>
            </a:r>
            <a:r>
              <a:rPr lang="en-US" altLang="zh-CN" dirty="0"/>
              <a:t>BCD</a:t>
            </a:r>
            <a:r>
              <a:rPr lang="zh-CN" altLang="en-US" dirty="0"/>
              <a:t>码调整指令</a:t>
            </a:r>
            <a:r>
              <a:rPr lang="en-US" altLang="zh-CN" dirty="0"/>
              <a:t>AAM</a:t>
            </a:r>
            <a:endParaRPr lang="en-US" altLang="zh-CN" dirty="0"/>
          </a:p>
          <a:p>
            <a:r>
              <a:rPr lang="zh-CN" altLang="en-US" dirty="0"/>
              <a:t>除法的非压缩</a:t>
            </a:r>
            <a:r>
              <a:rPr lang="en-US" altLang="zh-CN" dirty="0"/>
              <a:t>BCD</a:t>
            </a:r>
            <a:r>
              <a:rPr lang="zh-CN" altLang="en-US" dirty="0"/>
              <a:t>码调整指令</a:t>
            </a:r>
            <a:r>
              <a:rPr lang="en-US" altLang="zh-CN" dirty="0"/>
              <a:t>AAD</a:t>
            </a:r>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压缩</a:t>
            </a:r>
            <a:r>
              <a:rPr lang="en-US" altLang="zh-CN" dirty="0"/>
              <a:t>BCD</a:t>
            </a:r>
            <a:r>
              <a:rPr lang="zh-CN" altLang="en-US" dirty="0"/>
              <a:t>码的加法调整指令</a:t>
            </a:r>
            <a:r>
              <a:rPr lang="en-US" altLang="zh-CN" dirty="0"/>
              <a:t>DAA</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80000"/>
              </a:lnSpc>
              <a:buFont typeface="Wingdings" panose="05000000000000000000" pitchFamily="2" charset="2"/>
              <a:buChar char="Ø"/>
            </a:pPr>
            <a:r>
              <a:rPr lang="zh-CN" altLang="en-US" dirty="0"/>
              <a:t>格式：</a:t>
            </a:r>
            <a:r>
              <a:rPr lang="en-US" altLang="zh-CN" dirty="0" smtClean="0"/>
              <a:t>DAA(</a:t>
            </a:r>
            <a:r>
              <a:rPr lang="en-US" altLang="zh-CN" dirty="0" err="1" smtClean="0"/>
              <a:t>dicimal</a:t>
            </a:r>
            <a:r>
              <a:rPr lang="en-US" altLang="zh-CN" dirty="0" smtClean="0"/>
              <a:t> add with adjust)</a:t>
            </a:r>
            <a:endParaRPr lang="en-US" altLang="zh-CN" dirty="0"/>
          </a:p>
          <a:p>
            <a:pPr>
              <a:lnSpc>
                <a:spcPct val="80000"/>
              </a:lnSpc>
              <a:buFont typeface="Wingdings" panose="05000000000000000000" pitchFamily="2" charset="2"/>
              <a:buChar char="Ø"/>
            </a:pPr>
            <a:r>
              <a:rPr lang="zh-CN" altLang="en-US" dirty="0"/>
              <a:t>功能：将</a:t>
            </a:r>
            <a:r>
              <a:rPr lang="en-US" altLang="zh-CN" dirty="0"/>
              <a:t>AL</a:t>
            </a:r>
            <a:r>
              <a:rPr lang="zh-CN" altLang="en-US" dirty="0"/>
              <a:t>中二进制加法运算的结果调整为两位压缩</a:t>
            </a:r>
            <a:r>
              <a:rPr lang="en-US" altLang="zh-CN" dirty="0"/>
              <a:t>BCD</a:t>
            </a:r>
            <a:r>
              <a:rPr lang="zh-CN" altLang="en-US" dirty="0"/>
              <a:t>码，结果仍保留在</a:t>
            </a:r>
            <a:r>
              <a:rPr lang="en-US" altLang="zh-CN" dirty="0"/>
              <a:t>AL</a:t>
            </a:r>
            <a:r>
              <a:rPr lang="zh-CN" altLang="en-US" dirty="0"/>
              <a:t>中。</a:t>
            </a:r>
            <a:endParaRPr lang="en-US" altLang="zh-CN" dirty="0"/>
          </a:p>
          <a:p>
            <a:pPr lvl="1">
              <a:lnSpc>
                <a:spcPct val="80000"/>
              </a:lnSpc>
            </a:pPr>
            <a:r>
              <a:rPr lang="zh-CN" altLang="en-US" dirty="0"/>
              <a:t>若</a:t>
            </a:r>
            <a:r>
              <a:rPr lang="en-US" altLang="zh-CN" dirty="0"/>
              <a:t>AL</a:t>
            </a:r>
            <a:r>
              <a:rPr lang="zh-CN" altLang="en-US" dirty="0"/>
              <a:t>的低</a:t>
            </a:r>
            <a:r>
              <a:rPr lang="en-US" altLang="zh-CN" dirty="0"/>
              <a:t>4</a:t>
            </a:r>
            <a:r>
              <a:rPr lang="zh-CN" altLang="en-US" dirty="0"/>
              <a:t>位大于</a:t>
            </a:r>
            <a:r>
              <a:rPr lang="en-US" altLang="zh-CN" dirty="0"/>
              <a:t>9</a:t>
            </a:r>
            <a:r>
              <a:rPr lang="zh-CN" altLang="en-US" dirty="0"/>
              <a:t>，则</a:t>
            </a:r>
            <a:r>
              <a:rPr lang="en-US" altLang="zh-CN" dirty="0"/>
              <a:t>AL</a:t>
            </a:r>
            <a:r>
              <a:rPr lang="zh-CN" altLang="en-US" dirty="0"/>
              <a:t>的内容加</a:t>
            </a:r>
            <a:r>
              <a:rPr lang="en-US" altLang="zh-CN" dirty="0"/>
              <a:t>06H, </a:t>
            </a:r>
            <a:r>
              <a:rPr lang="zh-CN" altLang="en-US" dirty="0"/>
              <a:t>并</a:t>
            </a:r>
            <a:r>
              <a:rPr lang="en-US" altLang="zh-CN" dirty="0"/>
              <a:t>AF</a:t>
            </a:r>
            <a:r>
              <a:rPr lang="zh-CN" altLang="en-US" dirty="0"/>
              <a:t>位置</a:t>
            </a:r>
            <a:r>
              <a:rPr lang="en-US" altLang="zh-CN" dirty="0"/>
              <a:t>1</a:t>
            </a:r>
            <a:r>
              <a:rPr lang="zh-CN" altLang="en-US" dirty="0"/>
              <a:t>；</a:t>
            </a:r>
            <a:endParaRPr lang="en-US" altLang="zh-CN" dirty="0"/>
          </a:p>
          <a:p>
            <a:pPr lvl="1">
              <a:lnSpc>
                <a:spcPct val="80000"/>
              </a:lnSpc>
            </a:pPr>
            <a:r>
              <a:rPr lang="zh-CN" altLang="en-US" dirty="0"/>
              <a:t>若</a:t>
            </a:r>
            <a:r>
              <a:rPr lang="en-US" altLang="zh-CN" dirty="0"/>
              <a:t>AL</a:t>
            </a:r>
            <a:r>
              <a:rPr lang="zh-CN" altLang="en-US" dirty="0"/>
              <a:t>的高</a:t>
            </a:r>
            <a:r>
              <a:rPr lang="en-US" altLang="zh-CN" dirty="0"/>
              <a:t>4</a:t>
            </a:r>
            <a:r>
              <a:rPr lang="zh-CN" altLang="en-US" dirty="0"/>
              <a:t>位大于</a:t>
            </a:r>
            <a:r>
              <a:rPr lang="en-US" altLang="zh-CN" dirty="0"/>
              <a:t>9</a:t>
            </a:r>
            <a:r>
              <a:rPr lang="zh-CN" altLang="en-US" dirty="0"/>
              <a:t>，则</a:t>
            </a:r>
            <a:r>
              <a:rPr lang="en-US" altLang="zh-CN" dirty="0"/>
              <a:t>AL</a:t>
            </a:r>
            <a:r>
              <a:rPr lang="zh-CN" altLang="en-US" dirty="0"/>
              <a:t>的内容加</a:t>
            </a:r>
            <a:r>
              <a:rPr lang="en-US" altLang="zh-CN" dirty="0"/>
              <a:t>60H, </a:t>
            </a:r>
            <a:r>
              <a:rPr lang="zh-CN" altLang="en-US" dirty="0"/>
              <a:t>并</a:t>
            </a:r>
            <a:r>
              <a:rPr lang="en-US" altLang="zh-CN" dirty="0"/>
              <a:t>CF</a:t>
            </a:r>
            <a:r>
              <a:rPr lang="zh-CN" altLang="en-US" dirty="0"/>
              <a:t>位置</a:t>
            </a:r>
            <a:r>
              <a:rPr lang="en-US" altLang="zh-CN" dirty="0"/>
              <a:t>1</a:t>
            </a:r>
            <a:r>
              <a:rPr lang="zh-CN" altLang="en-US" dirty="0"/>
              <a:t>；</a:t>
            </a:r>
            <a:endParaRPr lang="en-US" altLang="zh-CN" dirty="0"/>
          </a:p>
          <a:p>
            <a:pPr lvl="1">
              <a:lnSpc>
                <a:spcPct val="80000"/>
              </a:lnSpc>
            </a:pPr>
            <a:r>
              <a:rPr lang="zh-CN" altLang="en-US" dirty="0"/>
              <a:t>若</a:t>
            </a:r>
            <a:r>
              <a:rPr lang="en-US" altLang="zh-CN" dirty="0"/>
              <a:t>AF=1</a:t>
            </a:r>
            <a:r>
              <a:rPr lang="zh-CN" altLang="en-US" dirty="0"/>
              <a:t>，则低</a:t>
            </a:r>
            <a:r>
              <a:rPr lang="en-US" altLang="zh-CN" dirty="0"/>
              <a:t>4</a:t>
            </a:r>
            <a:r>
              <a:rPr lang="zh-CN" altLang="en-US" dirty="0"/>
              <a:t>位要加</a:t>
            </a:r>
            <a:r>
              <a:rPr lang="en-US" altLang="zh-CN" dirty="0"/>
              <a:t>6</a:t>
            </a:r>
            <a:r>
              <a:rPr lang="zh-CN" altLang="en-US" dirty="0"/>
              <a:t>；若</a:t>
            </a:r>
            <a:r>
              <a:rPr lang="en-US" altLang="zh-CN" dirty="0"/>
              <a:t>CF=1</a:t>
            </a:r>
            <a:r>
              <a:rPr lang="zh-CN" altLang="en-US" dirty="0"/>
              <a:t>，则高</a:t>
            </a:r>
            <a:r>
              <a:rPr lang="en-US" altLang="zh-CN" dirty="0"/>
              <a:t>4</a:t>
            </a:r>
            <a:r>
              <a:rPr lang="zh-CN" altLang="en-US" dirty="0"/>
              <a:t>位要加</a:t>
            </a:r>
            <a:r>
              <a:rPr lang="en-US" altLang="zh-CN" dirty="0"/>
              <a:t>6</a:t>
            </a:r>
            <a:r>
              <a:rPr lang="zh-CN" altLang="en-US" dirty="0"/>
              <a:t>。</a:t>
            </a:r>
            <a:endParaRPr lang="zh-CN" altLang="en-US" dirty="0"/>
          </a:p>
          <a:p>
            <a:pPr>
              <a:lnSpc>
                <a:spcPct val="80000"/>
              </a:lnSpc>
              <a:buFont typeface="Wingdings" panose="05000000000000000000" pitchFamily="2" charset="2"/>
              <a:buChar char="Ø"/>
            </a:pPr>
            <a:r>
              <a:rPr lang="zh-CN" altLang="en-US" dirty="0"/>
              <a:t>例如：</a:t>
            </a:r>
            <a:r>
              <a:rPr lang="en-US" altLang="zh-CN" dirty="0"/>
              <a:t>MOV BL</a:t>
            </a:r>
            <a:r>
              <a:rPr lang="zh-CN" altLang="en-US" dirty="0"/>
              <a:t>，</a:t>
            </a:r>
            <a:r>
              <a:rPr lang="en-US" altLang="zh-CN" dirty="0"/>
              <a:t>35H</a:t>
            </a:r>
            <a:endParaRPr lang="en-US" altLang="zh-CN" dirty="0"/>
          </a:p>
          <a:p>
            <a:pPr marL="0" indent="0">
              <a:lnSpc>
                <a:spcPct val="80000"/>
              </a:lnSpc>
              <a:buNone/>
            </a:pPr>
            <a:r>
              <a:rPr lang="en-US" altLang="zh-CN" dirty="0"/>
              <a:t>        MOV AL</a:t>
            </a:r>
            <a:r>
              <a:rPr lang="zh-CN" altLang="en-US" dirty="0"/>
              <a:t>，</a:t>
            </a:r>
            <a:r>
              <a:rPr lang="en-US" altLang="zh-CN" dirty="0"/>
              <a:t>56H</a:t>
            </a:r>
            <a:endParaRPr lang="en-US" altLang="zh-CN" dirty="0"/>
          </a:p>
          <a:p>
            <a:pPr marL="0" indent="0">
              <a:lnSpc>
                <a:spcPct val="80000"/>
              </a:lnSpc>
              <a:buNone/>
            </a:pPr>
            <a:r>
              <a:rPr lang="en-US" altLang="zh-CN" dirty="0"/>
              <a:t>        ADD AL</a:t>
            </a:r>
            <a:r>
              <a:rPr lang="zh-CN" altLang="en-US" dirty="0"/>
              <a:t>，</a:t>
            </a:r>
            <a:r>
              <a:rPr lang="en-US" altLang="zh-CN" dirty="0"/>
              <a:t>BL</a:t>
            </a:r>
            <a:endParaRPr lang="en-US" altLang="zh-CN" dirty="0"/>
          </a:p>
          <a:p>
            <a:pPr marL="0" indent="0">
              <a:lnSpc>
                <a:spcPct val="80000"/>
              </a:lnSpc>
              <a:buNone/>
            </a:pPr>
            <a:r>
              <a:rPr lang="en-US" altLang="zh-CN" dirty="0"/>
              <a:t>        DAA</a:t>
            </a:r>
            <a:endParaRPr lang="en-US" altLang="zh-CN" dirty="0"/>
          </a:p>
          <a:p>
            <a:pPr marL="0" indent="0">
              <a:lnSpc>
                <a:spcPct val="80000"/>
              </a:lnSpc>
              <a:buNone/>
            </a:pPr>
            <a:r>
              <a:rPr lang="zh-CN" altLang="en-US" dirty="0"/>
              <a:t>   上述指令序列执行后，</a:t>
            </a:r>
            <a:r>
              <a:rPr lang="en-US" altLang="zh-CN" dirty="0"/>
              <a:t>(AL)=91H </a:t>
            </a:r>
            <a:r>
              <a:rPr lang="zh-CN" altLang="en-US" dirty="0"/>
              <a:t>，</a:t>
            </a:r>
            <a:r>
              <a:rPr lang="en-US" altLang="zh-CN" dirty="0"/>
              <a:t>CF=0</a:t>
            </a:r>
            <a:r>
              <a:rPr lang="zh-CN" altLang="en-US" dirty="0"/>
              <a:t>，</a:t>
            </a:r>
            <a:r>
              <a:rPr lang="en-US" altLang="zh-CN" dirty="0"/>
              <a:t>AF=1</a:t>
            </a:r>
            <a:r>
              <a:rPr lang="zh-CN" altLang="en-US" dirty="0"/>
              <a:t>。</a:t>
            </a:r>
            <a:endParaRPr lang="zh-CN" altLang="en-US" dirty="0"/>
          </a:p>
          <a:p>
            <a:pPr marL="0" indent="0">
              <a:lnSpc>
                <a:spcPct val="80000"/>
              </a:lnSpc>
              <a:buNone/>
            </a:pPr>
            <a:r>
              <a:rPr lang="zh-CN" altLang="en-US" dirty="0"/>
              <a:t>   注意：</a:t>
            </a:r>
            <a:r>
              <a:rPr lang="en-US" altLang="zh-CN" dirty="0"/>
              <a:t>DAA</a:t>
            </a:r>
            <a:r>
              <a:rPr lang="zh-CN" altLang="en-US" dirty="0"/>
              <a:t>一般紧跟在</a:t>
            </a:r>
            <a:r>
              <a:rPr lang="en-US" altLang="zh-CN" dirty="0"/>
              <a:t>ADD</a:t>
            </a:r>
            <a:r>
              <a:rPr lang="zh-CN" altLang="en-US" dirty="0"/>
              <a:t>或</a:t>
            </a:r>
            <a:r>
              <a:rPr lang="en-US" altLang="zh-CN" dirty="0"/>
              <a:t>ADC</a:t>
            </a:r>
            <a:r>
              <a:rPr lang="zh-CN" altLang="en-US" dirty="0"/>
              <a:t>指令后使用，单独使用没有意义。</a:t>
            </a:r>
            <a:endParaRPr lang="zh-CN" altLang="en-US" dirty="0"/>
          </a:p>
        </p:txBody>
      </p:sp>
      <p:grpSp>
        <p:nvGrpSpPr>
          <p:cNvPr id="8" name="Group 4"/>
          <p:cNvGrpSpPr/>
          <p:nvPr/>
        </p:nvGrpSpPr>
        <p:grpSpPr bwMode="auto">
          <a:xfrm>
            <a:off x="8963025" y="3341688"/>
            <a:ext cx="2195513" cy="1976437"/>
            <a:chOff x="0" y="0"/>
            <a:chExt cx="1440" cy="1245"/>
          </a:xfrm>
        </p:grpSpPr>
        <p:sp>
          <p:nvSpPr>
            <p:cNvPr id="9" name="AutoShape 5"/>
            <p:cNvSpPr>
              <a:spLocks noChangeArrowheads="1"/>
            </p:cNvSpPr>
            <p:nvPr/>
          </p:nvSpPr>
          <p:spPr bwMode="auto">
            <a:xfrm>
              <a:off x="0" y="0"/>
              <a:ext cx="1440" cy="1245"/>
            </a:xfrm>
            <a:prstGeom prst="wedgeRectCallout">
              <a:avLst>
                <a:gd name="adj1" fmla="val -50417"/>
                <a:gd name="adj2" fmla="val 20120"/>
              </a:avLst>
            </a:prstGeom>
            <a:solidFill>
              <a:srgbClr val="4F81BD"/>
            </a:solidFill>
            <a:ln w="19050" cmpd="sng">
              <a:solidFill>
                <a:srgbClr val="000000"/>
              </a:solidFill>
              <a:miter lim="800000"/>
            </a:ln>
          </p:spPr>
          <p:txBody>
            <a:bodyPr/>
            <a:lstStyle>
              <a:lvl1pPr marL="457200" indent="-457200">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457200" marR="0" lvl="0" indent="-45720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0011  010</a:t>
              </a:r>
              <a:r>
                <a:rPr kumimoji="0" lang="en-US"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1</a:t>
              </a:r>
              <a:endPar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endParaRPr>
            </a:p>
            <a:p>
              <a:pPr marL="457200" marR="0" lvl="0" indent="-45720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  ＋ 0101  0110</a:t>
              </a:r>
              <a:endPar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endParaRPr>
            </a:p>
            <a:p>
              <a:pPr marL="457200" marR="0" lvl="0" indent="-45720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       1000  101</a:t>
              </a:r>
              <a:r>
                <a:rPr kumimoji="0" lang="en-US"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1</a:t>
              </a:r>
              <a:endPar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endParaRPr>
            </a:p>
            <a:p>
              <a:pPr marL="457200" marR="0" lvl="0" indent="-45720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  ＋           0110</a:t>
              </a:r>
              <a:endPar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endParaRPr>
            </a:p>
            <a:p>
              <a:pPr marL="457200" marR="0" lvl="0" indent="-45720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       1001  000</a:t>
              </a:r>
              <a:r>
                <a:rPr kumimoji="0" lang="en-US"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1</a:t>
              </a:r>
              <a:endParaRPr kumimoji="0" lang="zh-CN" altLang="zh-CN" sz="24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0" name="Line 6"/>
            <p:cNvSpPr>
              <a:spLocks noChangeShapeType="1"/>
            </p:cNvSpPr>
            <p:nvPr/>
          </p:nvSpPr>
          <p:spPr bwMode="auto">
            <a:xfrm>
              <a:off x="144" y="480"/>
              <a:ext cx="1152" cy="0"/>
            </a:xfrm>
            <a:prstGeom prst="line">
              <a:avLst/>
            </a:prstGeom>
            <a:noFill/>
            <a:ln w="9525" cmpd="sng">
              <a:solidFill>
                <a:srgbClr val="FFFFFF"/>
              </a:solidFill>
              <a:rou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0000"/>
                </a:solidFill>
                <a:effectLst/>
                <a:uLnTx/>
                <a:uFillTx/>
                <a:latin typeface="Tahoma" panose="020B0604030504040204" pitchFamily="34" charset="0"/>
                <a:ea typeface="楷体_GB2312" pitchFamily="1" charset="-122"/>
              </a:endParaRPr>
            </a:p>
          </p:txBody>
        </p:sp>
        <p:sp>
          <p:nvSpPr>
            <p:cNvPr id="11" name="Line 7"/>
            <p:cNvSpPr>
              <a:spLocks noChangeShapeType="1"/>
            </p:cNvSpPr>
            <p:nvPr/>
          </p:nvSpPr>
          <p:spPr bwMode="auto">
            <a:xfrm>
              <a:off x="192" y="960"/>
              <a:ext cx="1152" cy="0"/>
            </a:xfrm>
            <a:prstGeom prst="line">
              <a:avLst/>
            </a:prstGeom>
            <a:noFill/>
            <a:ln w="9525" cmpd="sng">
              <a:solidFill>
                <a:srgbClr val="FFFFFF"/>
              </a:solidFill>
              <a:rou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0000"/>
                </a:solidFill>
                <a:effectLst/>
                <a:uLnTx/>
                <a:uFillTx/>
                <a:latin typeface="Tahoma" panose="020B0604030504040204" pitchFamily="34" charset="0"/>
                <a:ea typeface="楷体_GB2312" pitchFamily="1"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逻辑运算指令</a:t>
            </a:r>
            <a:endParaRPr lang="zh-CN" altLang="en-US" dirty="0"/>
          </a:p>
        </p:txBody>
      </p:sp>
      <p:sp>
        <p:nvSpPr>
          <p:cNvPr id="3" name="内容占位符 2"/>
          <p:cNvSpPr>
            <a:spLocks noGrp="1"/>
          </p:cNvSpPr>
          <p:nvPr>
            <p:ph idx="1"/>
          </p:nvPr>
        </p:nvSpPr>
        <p:spPr/>
        <p:txBody>
          <a:bodyPr>
            <a:normAutofit/>
          </a:bodyPr>
          <a:lstStyle/>
          <a:p>
            <a:r>
              <a:rPr lang="zh-CN" altLang="en-US" dirty="0"/>
              <a:t>可以对字或字节按位进行逻辑运算。</a:t>
            </a:r>
            <a:endParaRPr lang="zh-CN" altLang="en-US" dirty="0"/>
          </a:p>
          <a:p>
            <a:r>
              <a:rPr lang="zh-CN" altLang="en-US" dirty="0"/>
              <a:t>包括：</a:t>
            </a:r>
            <a:endParaRPr lang="en-US" altLang="zh-CN" dirty="0"/>
          </a:p>
          <a:p>
            <a:pPr lvl="1"/>
            <a:r>
              <a:rPr lang="zh-CN" altLang="en-US" dirty="0"/>
              <a:t>非运算指令</a:t>
            </a:r>
            <a:r>
              <a:rPr lang="en-US" altLang="zh-CN" dirty="0"/>
              <a:t>NOT</a:t>
            </a:r>
            <a:endParaRPr lang="en-US" altLang="zh-CN" dirty="0"/>
          </a:p>
          <a:p>
            <a:pPr lvl="1"/>
            <a:r>
              <a:rPr lang="zh-CN" altLang="en-US" dirty="0"/>
              <a:t>与运算指令</a:t>
            </a:r>
            <a:r>
              <a:rPr lang="en-US" altLang="zh-CN" dirty="0"/>
              <a:t>AND</a:t>
            </a:r>
            <a:endParaRPr lang="en-US" altLang="zh-CN" dirty="0"/>
          </a:p>
          <a:p>
            <a:pPr lvl="1"/>
            <a:r>
              <a:rPr lang="zh-CN" altLang="en-US" dirty="0"/>
              <a:t>测试指令</a:t>
            </a:r>
            <a:r>
              <a:rPr lang="en-US" altLang="zh-CN" dirty="0"/>
              <a:t>TEST</a:t>
            </a:r>
            <a:endParaRPr lang="en-US" altLang="zh-CN" dirty="0"/>
          </a:p>
          <a:p>
            <a:pPr lvl="1"/>
            <a:r>
              <a:rPr lang="zh-CN" altLang="en-US" dirty="0"/>
              <a:t>或运算指令</a:t>
            </a:r>
            <a:r>
              <a:rPr lang="en-US" altLang="zh-CN" dirty="0"/>
              <a:t>OR</a:t>
            </a:r>
            <a:endParaRPr lang="en-US" altLang="zh-CN" dirty="0"/>
          </a:p>
          <a:p>
            <a:pPr lvl="1"/>
            <a:r>
              <a:rPr lang="zh-CN" altLang="en-US" dirty="0"/>
              <a:t>异或运算指令</a:t>
            </a:r>
            <a:r>
              <a:rPr lang="en-US" altLang="zh-CN" dirty="0"/>
              <a:t>XOR</a:t>
            </a:r>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非运算指令</a:t>
            </a:r>
            <a:r>
              <a:rPr lang="en-US" altLang="zh-CN" dirty="0"/>
              <a:t>NOT</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a:t>NOT</a:t>
            </a:r>
            <a:r>
              <a:rPr lang="zh-CN" altLang="en-US" dirty="0"/>
              <a:t> </a:t>
            </a:r>
            <a:r>
              <a:rPr lang="en-US" altLang="zh-CN" dirty="0"/>
              <a:t>OPD</a:t>
            </a:r>
            <a:endParaRPr lang="en-US" altLang="zh-CN" dirty="0"/>
          </a:p>
          <a:p>
            <a:r>
              <a:rPr lang="zh-CN" altLang="en-US" dirty="0"/>
              <a:t>功能：将目的操作数的内容按位取反后，再送回目的操作数。</a:t>
            </a:r>
            <a:endParaRPr lang="zh-CN" altLang="en-US" dirty="0"/>
          </a:p>
          <a:p>
            <a:r>
              <a:rPr lang="zh-CN" altLang="en-US" dirty="0"/>
              <a:t>该指令不影响标志位。</a:t>
            </a:r>
            <a:endParaRPr lang="zh-C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与运算指令</a:t>
            </a:r>
            <a:r>
              <a:rPr lang="en-US" altLang="zh-CN" dirty="0"/>
              <a:t>AND</a:t>
            </a:r>
            <a:endParaRPr lang="zh-CN" altLang="en-US" dirty="0"/>
          </a:p>
        </p:txBody>
      </p:sp>
      <p:sp>
        <p:nvSpPr>
          <p:cNvPr id="3" name="内容占位符 2"/>
          <p:cNvSpPr>
            <a:spLocks noGrp="1"/>
          </p:cNvSpPr>
          <p:nvPr>
            <p:ph idx="1"/>
          </p:nvPr>
        </p:nvSpPr>
        <p:spPr/>
        <p:txBody>
          <a:bodyPr/>
          <a:lstStyle/>
          <a:p>
            <a:pPr>
              <a:lnSpc>
                <a:spcPct val="80000"/>
              </a:lnSpc>
              <a:buFont typeface="Wingdings" panose="05000000000000000000" pitchFamily="2" charset="2"/>
              <a:buChar char="Ø"/>
            </a:pPr>
            <a:r>
              <a:rPr lang="zh-CN" altLang="en-US" sz="2800" b="0" dirty="0"/>
              <a:t>格式：AND  OPD，OPS</a:t>
            </a:r>
            <a:endParaRPr lang="zh-CN" altLang="en-US" sz="2800" b="0" dirty="0"/>
          </a:p>
          <a:p>
            <a:pPr>
              <a:lnSpc>
                <a:spcPct val="80000"/>
              </a:lnSpc>
              <a:buFont typeface="Wingdings" panose="05000000000000000000" pitchFamily="2" charset="2"/>
              <a:buChar char="Ø"/>
            </a:pPr>
            <a:r>
              <a:rPr lang="zh-CN" altLang="en-US" sz="2800" b="0" dirty="0"/>
              <a:t>功能：将目的操作数的内容与源操作数按位相与，结果送回目的操作数。</a:t>
            </a:r>
            <a:endParaRPr lang="zh-CN" altLang="en-US" sz="2800" b="0" dirty="0"/>
          </a:p>
          <a:p>
            <a:pPr>
              <a:lnSpc>
                <a:spcPct val="80000"/>
              </a:lnSpc>
              <a:buFont typeface="Wingdings" panose="05000000000000000000" pitchFamily="2" charset="2"/>
              <a:buChar char="Ø"/>
            </a:pPr>
            <a:r>
              <a:rPr lang="zh-CN" altLang="en-US" sz="2800" b="0" dirty="0"/>
              <a:t>影响标志位SF、ZF、PF，使OF=0，CF=0，对AF无定义。</a:t>
            </a:r>
            <a:endParaRPr lang="zh-CN" altLang="en-US" sz="2800" b="0" dirty="0"/>
          </a:p>
          <a:p>
            <a:pPr>
              <a:lnSpc>
                <a:spcPct val="80000"/>
              </a:lnSpc>
              <a:buFont typeface="Wingdings" panose="05000000000000000000" pitchFamily="2" charset="2"/>
              <a:buChar char="Ø"/>
            </a:pPr>
            <a:r>
              <a:rPr lang="zh-CN" altLang="en-US" sz="2800" b="0" dirty="0"/>
              <a:t>例如： AND   AL，0FH</a:t>
            </a:r>
            <a:endParaRPr lang="zh-CN" altLang="en-US" sz="2800" b="0" dirty="0"/>
          </a:p>
          <a:p>
            <a:pPr>
              <a:lnSpc>
                <a:spcPct val="80000"/>
              </a:lnSpc>
              <a:buFont typeface="Wingdings" panose="05000000000000000000" pitchFamily="2" charset="2"/>
              <a:buNone/>
            </a:pPr>
            <a:r>
              <a:rPr lang="zh-CN" altLang="en-US" sz="2800" b="0" dirty="0"/>
              <a:t>        　　执行前：(AL) =39H</a:t>
            </a:r>
            <a:endParaRPr lang="zh-CN" altLang="en-US" sz="2800" b="0" dirty="0"/>
          </a:p>
          <a:p>
            <a:pPr>
              <a:lnSpc>
                <a:spcPct val="80000"/>
              </a:lnSpc>
              <a:buFont typeface="Wingdings" panose="05000000000000000000" pitchFamily="2" charset="2"/>
              <a:buNone/>
            </a:pPr>
            <a:r>
              <a:rPr lang="zh-CN" altLang="en-US" sz="2800" b="0" dirty="0"/>
              <a:t>        　　执行后：(AL) =09H</a:t>
            </a:r>
            <a:endParaRPr lang="zh-CN" altLang="en-US" sz="2800" b="0" dirty="0"/>
          </a:p>
          <a:p>
            <a:pPr>
              <a:lnSpc>
                <a:spcPct val="80000"/>
              </a:lnSpc>
              <a:buFont typeface="Wingdings" panose="05000000000000000000" pitchFamily="2" charset="2"/>
              <a:buChar char="Ø"/>
            </a:pPr>
            <a:r>
              <a:rPr lang="zh-CN" altLang="en-US" sz="2800" b="0" dirty="0"/>
              <a:t>AND指令常用于屏蔽不需要的位，上例中将AL高4位屏蔽，取得低4 位。 </a:t>
            </a:r>
            <a:endParaRPr lang="zh-CN" altLang="en-US" sz="2800" dirty="0"/>
          </a:p>
          <a:p>
            <a:endParaRPr lang="zh-CN" altLang="en-US" dirty="0"/>
          </a:p>
        </p:txBody>
      </p:sp>
      <p:pic>
        <p:nvPicPr>
          <p:cNvPr id="4" name="图片 3"/>
          <p:cNvPicPr>
            <a:picLocks noChangeAspect="1"/>
          </p:cNvPicPr>
          <p:nvPr/>
        </p:nvPicPr>
        <p:blipFill>
          <a:blip r:embed="rId1" cstate="print"/>
          <a:stretch>
            <a:fillRect/>
          </a:stretch>
        </p:blipFill>
        <p:spPr>
          <a:xfrm>
            <a:off x="7923080" y="3429000"/>
            <a:ext cx="2064068" cy="112855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测试指令</a:t>
            </a:r>
            <a:r>
              <a:rPr lang="en-US" altLang="zh-CN" dirty="0"/>
              <a:t>TEST</a:t>
            </a:r>
            <a:endParaRPr lang="zh-CN" altLang="en-US" dirty="0"/>
          </a:p>
        </p:txBody>
      </p:sp>
      <p:sp>
        <p:nvSpPr>
          <p:cNvPr id="3" name="内容占位符 2"/>
          <p:cNvSpPr>
            <a:spLocks noGrp="1"/>
          </p:cNvSpPr>
          <p:nvPr>
            <p:ph idx="1"/>
          </p:nvPr>
        </p:nvSpPr>
        <p:spPr/>
        <p:txBody>
          <a:bodyPr>
            <a:normAutofit/>
          </a:bodyPr>
          <a:lstStyle/>
          <a:p>
            <a:pPr>
              <a:lnSpc>
                <a:spcPct val="80000"/>
              </a:lnSpc>
              <a:buFont typeface="Wingdings" panose="05000000000000000000" pitchFamily="2" charset="2"/>
              <a:buChar char="Ø"/>
            </a:pPr>
            <a:r>
              <a:rPr lang="zh-CN" altLang="zh-CN" sz="2800" b="0" dirty="0"/>
              <a:t>格式：TEST  OPD，OPS</a:t>
            </a:r>
            <a:endParaRPr lang="zh-CN" altLang="zh-CN" sz="2800" b="0" dirty="0"/>
          </a:p>
          <a:p>
            <a:pPr>
              <a:lnSpc>
                <a:spcPct val="80000"/>
              </a:lnSpc>
              <a:buFont typeface="Wingdings" panose="05000000000000000000" pitchFamily="2" charset="2"/>
              <a:buChar char="Ø"/>
            </a:pPr>
            <a:r>
              <a:rPr lang="zh-CN" altLang="zh-CN" sz="2800" b="0" dirty="0"/>
              <a:t>功能：将目的操作数的内容与源操作数按位相与，但</a:t>
            </a:r>
            <a:r>
              <a:rPr lang="zh-CN" altLang="zh-CN" sz="2800" b="0" dirty="0">
                <a:solidFill>
                  <a:schemeClr val="hlink"/>
                </a:solidFill>
              </a:rPr>
              <a:t>结果不送回目的操作数</a:t>
            </a:r>
            <a:r>
              <a:rPr lang="zh-CN" altLang="zh-CN" sz="2800" b="0" dirty="0"/>
              <a:t>。</a:t>
            </a:r>
            <a:endParaRPr lang="zh-CN" altLang="zh-CN" sz="2800" b="0" dirty="0"/>
          </a:p>
          <a:p>
            <a:pPr>
              <a:lnSpc>
                <a:spcPct val="80000"/>
              </a:lnSpc>
              <a:buFont typeface="Wingdings" panose="05000000000000000000" pitchFamily="2" charset="2"/>
              <a:buChar char="Ø"/>
            </a:pPr>
            <a:r>
              <a:rPr lang="zh-CN" altLang="zh-CN" sz="2800" b="0" dirty="0"/>
              <a:t>影响标志位SF、ZF、PF，使OF=0，CF=0，对AF无定义。</a:t>
            </a:r>
            <a:endParaRPr lang="zh-CN" altLang="zh-CN" sz="2800" b="0" dirty="0"/>
          </a:p>
          <a:p>
            <a:pPr>
              <a:lnSpc>
                <a:spcPct val="80000"/>
              </a:lnSpc>
              <a:buFont typeface="Wingdings" panose="05000000000000000000" pitchFamily="2" charset="2"/>
              <a:buChar char="Ø"/>
            </a:pPr>
            <a:r>
              <a:rPr lang="zh-CN" altLang="zh-CN" sz="2800" b="0" dirty="0"/>
              <a:t>例子： TEST  AL，80H</a:t>
            </a:r>
            <a:endParaRPr lang="zh-CN" altLang="zh-CN" sz="2800" b="0" dirty="0"/>
          </a:p>
          <a:p>
            <a:pPr>
              <a:lnSpc>
                <a:spcPct val="80000"/>
              </a:lnSpc>
              <a:buFont typeface="Wingdings" panose="05000000000000000000" pitchFamily="2" charset="2"/>
              <a:buNone/>
            </a:pPr>
            <a:r>
              <a:rPr lang="zh-CN" altLang="zh-CN" sz="2800" b="0" dirty="0"/>
              <a:t>                 执行前：(AL) =39H</a:t>
            </a:r>
            <a:endParaRPr lang="zh-CN" altLang="zh-CN" sz="2800" b="0" dirty="0"/>
          </a:p>
          <a:p>
            <a:pPr>
              <a:lnSpc>
                <a:spcPct val="80000"/>
              </a:lnSpc>
              <a:buFont typeface="Wingdings" panose="05000000000000000000" pitchFamily="2" charset="2"/>
              <a:buNone/>
            </a:pPr>
            <a:r>
              <a:rPr lang="zh-CN" altLang="zh-CN" sz="2800" b="0" dirty="0"/>
              <a:t>                 执行后： ZF=1</a:t>
            </a:r>
            <a:endParaRPr lang="zh-CN" altLang="zh-CN" sz="2800" b="0" dirty="0"/>
          </a:p>
          <a:p>
            <a:pPr>
              <a:lnSpc>
                <a:spcPct val="80000"/>
              </a:lnSpc>
              <a:buFont typeface="Wingdings" panose="05000000000000000000" pitchFamily="2" charset="2"/>
              <a:buChar char="Ø"/>
            </a:pPr>
            <a:r>
              <a:rPr lang="zh-CN" altLang="zh-CN" sz="2800" b="0" dirty="0">
                <a:solidFill>
                  <a:schemeClr val="hlink"/>
                </a:solidFill>
              </a:rPr>
              <a:t>该指令可以用于判断目的操作数的某个数位是否1</a:t>
            </a:r>
            <a:r>
              <a:rPr lang="zh-CN" altLang="zh-CN" sz="2800" b="0" dirty="0"/>
              <a:t>。上例中可以根据ZF=1，判断出AL内容的最高位为零</a:t>
            </a:r>
            <a:endParaRPr lang="zh-CN" altLang="en-US" dirty="0"/>
          </a:p>
        </p:txBody>
      </p:sp>
      <p:pic>
        <p:nvPicPr>
          <p:cNvPr id="4" name="图片 3"/>
          <p:cNvPicPr>
            <a:picLocks noChangeAspect="1"/>
          </p:cNvPicPr>
          <p:nvPr/>
        </p:nvPicPr>
        <p:blipFill>
          <a:blip r:embed="rId1" cstate="print"/>
          <a:stretch>
            <a:fillRect/>
          </a:stretch>
        </p:blipFill>
        <p:spPr>
          <a:xfrm>
            <a:off x="7946819" y="3429000"/>
            <a:ext cx="2108019" cy="1159411"/>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或运算指令</a:t>
            </a:r>
            <a:r>
              <a:rPr lang="en-US" altLang="zh-CN" dirty="0"/>
              <a:t>OR</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OR</a:t>
            </a:r>
            <a:r>
              <a:rPr lang="zh-CN" altLang="en-US" dirty="0"/>
              <a:t> </a:t>
            </a:r>
            <a:r>
              <a:rPr lang="en-US" altLang="zh-CN" dirty="0"/>
              <a:t>OPD</a:t>
            </a:r>
            <a:r>
              <a:rPr lang="zh-CN" altLang="en-US" dirty="0"/>
              <a:t>，</a:t>
            </a:r>
            <a:r>
              <a:rPr lang="en-US" altLang="zh-CN" dirty="0"/>
              <a:t>OPS</a:t>
            </a:r>
            <a:endParaRPr lang="en-US" altLang="zh-CN" dirty="0"/>
          </a:p>
          <a:p>
            <a:r>
              <a:rPr lang="zh-CN" altLang="en-US" dirty="0"/>
              <a:t>功能：将目的操作数的内容与源操作数按位相或，结果送回目的操作数。影响标志位</a:t>
            </a:r>
            <a:r>
              <a:rPr lang="en-US" altLang="zh-CN" dirty="0"/>
              <a:t>SF</a:t>
            </a:r>
            <a:r>
              <a:rPr lang="zh-CN" altLang="en-US" dirty="0"/>
              <a:t>、</a:t>
            </a:r>
            <a:r>
              <a:rPr lang="en-US" altLang="zh-CN" dirty="0"/>
              <a:t>ZF</a:t>
            </a:r>
            <a:r>
              <a:rPr lang="zh-CN" altLang="en-US" dirty="0"/>
              <a:t>、</a:t>
            </a:r>
            <a:r>
              <a:rPr lang="en-US" altLang="zh-CN" dirty="0"/>
              <a:t>PF</a:t>
            </a:r>
            <a:r>
              <a:rPr lang="zh-CN" altLang="en-US" dirty="0"/>
              <a:t>，使</a:t>
            </a:r>
            <a:r>
              <a:rPr lang="en-US" altLang="zh-CN" dirty="0"/>
              <a:t>OF=0</a:t>
            </a:r>
            <a:r>
              <a:rPr lang="zh-CN" altLang="en-US" dirty="0"/>
              <a:t>，</a:t>
            </a:r>
            <a:r>
              <a:rPr lang="en-US" altLang="zh-CN" dirty="0"/>
              <a:t>CF=0</a:t>
            </a:r>
            <a:r>
              <a:rPr lang="zh-CN" altLang="en-US" dirty="0"/>
              <a:t>，对</a:t>
            </a:r>
            <a:r>
              <a:rPr lang="en-US" altLang="zh-CN" dirty="0"/>
              <a:t>AF</a:t>
            </a:r>
            <a:r>
              <a:rPr lang="zh-CN" altLang="en-US" dirty="0"/>
              <a:t>无定义。</a:t>
            </a:r>
            <a:endParaRPr lang="zh-CN" altLang="en-US" dirty="0"/>
          </a:p>
          <a:p>
            <a:r>
              <a:rPr lang="zh-CN" altLang="en-US" dirty="0"/>
              <a:t>例</a:t>
            </a:r>
            <a:r>
              <a:rPr lang="en-US" altLang="zh-CN" dirty="0"/>
              <a:t>3</a:t>
            </a:r>
            <a:r>
              <a:rPr lang="zh-CN" altLang="en-US" dirty="0"/>
              <a:t>：</a:t>
            </a:r>
            <a:r>
              <a:rPr lang="en-US" altLang="zh-CN" dirty="0"/>
              <a:t>OR</a:t>
            </a:r>
            <a:r>
              <a:rPr lang="zh-CN" altLang="en-US" dirty="0"/>
              <a:t> </a:t>
            </a:r>
            <a:r>
              <a:rPr lang="en-US" altLang="zh-CN" dirty="0"/>
              <a:t>AL</a:t>
            </a:r>
            <a:r>
              <a:rPr lang="zh-CN" altLang="en-US" dirty="0"/>
              <a:t>，</a:t>
            </a:r>
            <a:r>
              <a:rPr lang="en-US" altLang="zh-CN" dirty="0"/>
              <a:t>55H</a:t>
            </a:r>
            <a:r>
              <a:rPr lang="zh-CN" altLang="en-US" dirty="0"/>
              <a:t>；</a:t>
            </a:r>
            <a:endParaRPr lang="zh-CN" altLang="en-US" dirty="0"/>
          </a:p>
          <a:p>
            <a:pPr marL="0" indent="0">
              <a:buNone/>
            </a:pPr>
            <a:r>
              <a:rPr lang="zh-CN" altLang="en-US" dirty="0"/>
              <a:t>       执行前：</a:t>
            </a:r>
            <a:r>
              <a:rPr lang="en-US" altLang="zh-CN" dirty="0"/>
              <a:t>(AL)=49H</a:t>
            </a:r>
            <a:endParaRPr lang="en-US" altLang="zh-CN" dirty="0"/>
          </a:p>
          <a:p>
            <a:pPr marL="0" indent="0">
              <a:buNone/>
            </a:pPr>
            <a:r>
              <a:rPr lang="zh-CN" altLang="en-US" dirty="0"/>
              <a:t>       执行后：</a:t>
            </a:r>
            <a:r>
              <a:rPr lang="en-US" altLang="zh-CN" dirty="0"/>
              <a:t>(AL)=5DH</a:t>
            </a:r>
            <a:endParaRPr lang="en-US" altLang="zh-CN" dirty="0"/>
          </a:p>
          <a:p>
            <a:r>
              <a:rPr lang="zh-CN" altLang="en-US" dirty="0"/>
              <a:t>该指令常用来将目的操作数的某一位或几位置</a:t>
            </a:r>
            <a:r>
              <a:rPr lang="en-US" altLang="zh-CN" dirty="0"/>
              <a:t>1</a:t>
            </a:r>
            <a:r>
              <a:rPr lang="zh-CN" altLang="en-US" dirty="0"/>
              <a:t>。</a:t>
            </a:r>
            <a:endParaRPr lang="zh-CN" altLang="en-US" dirty="0"/>
          </a:p>
        </p:txBody>
      </p:sp>
      <p:pic>
        <p:nvPicPr>
          <p:cNvPr id="4" name="图片 3"/>
          <p:cNvPicPr>
            <a:picLocks noChangeAspect="1"/>
          </p:cNvPicPr>
          <p:nvPr/>
        </p:nvPicPr>
        <p:blipFill>
          <a:blip r:embed="rId1" cstate="print"/>
          <a:stretch>
            <a:fillRect/>
          </a:stretch>
        </p:blipFill>
        <p:spPr>
          <a:xfrm>
            <a:off x="6780071" y="3429000"/>
            <a:ext cx="2784315" cy="1588091"/>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异或运算指令</a:t>
            </a:r>
            <a:r>
              <a:rPr lang="en-US" altLang="zh-CN" dirty="0"/>
              <a:t>XOR</a:t>
            </a:r>
            <a:endParaRPr lang="zh-CN" altLang="en-US" dirty="0"/>
          </a:p>
        </p:txBody>
      </p:sp>
      <p:sp>
        <p:nvSpPr>
          <p:cNvPr id="3" name="内容占位符 2"/>
          <p:cNvSpPr>
            <a:spLocks noGrp="1"/>
          </p:cNvSpPr>
          <p:nvPr>
            <p:ph idx="1"/>
          </p:nvPr>
        </p:nvSpPr>
        <p:spPr/>
        <p:txBody>
          <a:bodyPr>
            <a:noAutofit/>
          </a:bodyPr>
          <a:lstStyle/>
          <a:p>
            <a:pPr>
              <a:lnSpc>
                <a:spcPct val="120000"/>
              </a:lnSpc>
            </a:pPr>
            <a:r>
              <a:rPr lang="zh-CN" altLang="en-US" dirty="0"/>
              <a:t>格式：</a:t>
            </a:r>
            <a:r>
              <a:rPr lang="en-US" altLang="zh-CN" dirty="0"/>
              <a:t>XOR</a:t>
            </a:r>
            <a:r>
              <a:rPr lang="zh-CN" altLang="en-US" dirty="0"/>
              <a:t> </a:t>
            </a:r>
            <a:r>
              <a:rPr lang="en-US" altLang="zh-CN" dirty="0"/>
              <a:t>OPD</a:t>
            </a:r>
            <a:r>
              <a:rPr lang="zh-CN" altLang="en-US" dirty="0"/>
              <a:t>，</a:t>
            </a:r>
            <a:r>
              <a:rPr lang="en-US" altLang="zh-CN" dirty="0"/>
              <a:t>OPS</a:t>
            </a:r>
            <a:endParaRPr lang="en-US" altLang="zh-CN" dirty="0"/>
          </a:p>
          <a:p>
            <a:pPr>
              <a:lnSpc>
                <a:spcPct val="120000"/>
              </a:lnSpc>
            </a:pPr>
            <a:r>
              <a:rPr lang="zh-CN" altLang="en-US" dirty="0"/>
              <a:t>功能：将目的操作数的内容与源操作数按位异或，结果送回目的操作数。影响标志位</a:t>
            </a:r>
            <a:r>
              <a:rPr lang="en-US" altLang="zh-CN" dirty="0"/>
              <a:t>SF</a:t>
            </a:r>
            <a:r>
              <a:rPr lang="zh-CN" altLang="en-US" dirty="0"/>
              <a:t>、</a:t>
            </a:r>
            <a:r>
              <a:rPr lang="en-US" altLang="zh-CN" dirty="0"/>
              <a:t>ZF</a:t>
            </a:r>
            <a:r>
              <a:rPr lang="zh-CN" altLang="en-US" dirty="0"/>
              <a:t>、</a:t>
            </a:r>
            <a:r>
              <a:rPr lang="en-US" altLang="zh-CN" dirty="0"/>
              <a:t>PF</a:t>
            </a:r>
            <a:r>
              <a:rPr lang="zh-CN" altLang="en-US" dirty="0"/>
              <a:t>，使</a:t>
            </a:r>
            <a:r>
              <a:rPr lang="en-US" altLang="zh-CN" dirty="0"/>
              <a:t>OF=0</a:t>
            </a:r>
            <a:r>
              <a:rPr lang="zh-CN" altLang="en-US" dirty="0"/>
              <a:t>，</a:t>
            </a:r>
            <a:r>
              <a:rPr lang="en-US" altLang="zh-CN" dirty="0"/>
              <a:t>CF=0</a:t>
            </a:r>
            <a:r>
              <a:rPr lang="zh-CN" altLang="en-US" dirty="0"/>
              <a:t>，对</a:t>
            </a:r>
            <a:r>
              <a:rPr lang="en-US" altLang="zh-CN" dirty="0"/>
              <a:t>AF</a:t>
            </a:r>
            <a:r>
              <a:rPr lang="zh-CN" altLang="en-US" dirty="0"/>
              <a:t>无定义。</a:t>
            </a:r>
            <a:endParaRPr lang="zh-CN" altLang="en-US" dirty="0"/>
          </a:p>
          <a:p>
            <a:pPr>
              <a:lnSpc>
                <a:spcPct val="120000"/>
              </a:lnSpc>
            </a:pPr>
            <a:r>
              <a:rPr lang="zh-CN" altLang="en-US" dirty="0"/>
              <a:t>例</a:t>
            </a:r>
            <a:r>
              <a:rPr lang="en-US" altLang="zh-CN" dirty="0"/>
              <a:t>4</a:t>
            </a:r>
            <a:r>
              <a:rPr lang="zh-CN" altLang="en-US" dirty="0"/>
              <a:t>：</a:t>
            </a:r>
            <a:r>
              <a:rPr lang="en-US" altLang="zh-CN" dirty="0"/>
              <a:t>XOR</a:t>
            </a:r>
            <a:r>
              <a:rPr lang="zh-CN" altLang="en-US" dirty="0"/>
              <a:t> </a:t>
            </a:r>
            <a:r>
              <a:rPr lang="en-US" altLang="zh-CN" dirty="0"/>
              <a:t>AL</a:t>
            </a:r>
            <a:r>
              <a:rPr lang="zh-CN" altLang="en-US" dirty="0"/>
              <a:t>，</a:t>
            </a:r>
            <a:r>
              <a:rPr lang="en-US" altLang="zh-CN" dirty="0"/>
              <a:t>01H</a:t>
            </a:r>
            <a:r>
              <a:rPr lang="zh-CN" altLang="en-US" dirty="0"/>
              <a:t>；</a:t>
            </a:r>
            <a:endParaRPr lang="zh-CN" altLang="en-US" dirty="0"/>
          </a:p>
          <a:p>
            <a:pPr marL="0" indent="0">
              <a:lnSpc>
                <a:spcPct val="120000"/>
              </a:lnSpc>
              <a:buNone/>
            </a:pPr>
            <a:r>
              <a:rPr lang="zh-CN" altLang="en-US" dirty="0"/>
              <a:t>       执行前：</a:t>
            </a:r>
            <a:r>
              <a:rPr lang="en-US" altLang="zh-CN" dirty="0"/>
              <a:t>(AL)=49H</a:t>
            </a:r>
            <a:endParaRPr lang="en-US" altLang="zh-CN" dirty="0"/>
          </a:p>
          <a:p>
            <a:pPr marL="0" indent="0">
              <a:lnSpc>
                <a:spcPct val="120000"/>
              </a:lnSpc>
              <a:buNone/>
            </a:pPr>
            <a:r>
              <a:rPr lang="zh-CN" altLang="en-US" dirty="0"/>
              <a:t>       执行后：</a:t>
            </a:r>
            <a:r>
              <a:rPr lang="en-US" altLang="zh-CN" dirty="0"/>
              <a:t>(AL)=48H</a:t>
            </a:r>
            <a:endParaRPr lang="en-US" altLang="zh-CN" dirty="0"/>
          </a:p>
          <a:p>
            <a:pPr>
              <a:lnSpc>
                <a:spcPct val="120000"/>
              </a:lnSpc>
            </a:pPr>
            <a:r>
              <a:rPr lang="zh-CN" altLang="en-US" dirty="0"/>
              <a:t>由于某个操作数和同一个数异或结果为</a:t>
            </a:r>
            <a:r>
              <a:rPr lang="en-US" altLang="zh-CN" dirty="0"/>
              <a:t>0</a:t>
            </a:r>
            <a:r>
              <a:rPr lang="zh-CN" altLang="en-US" dirty="0"/>
              <a:t>，故异或运算常被用来比较两数是否相等或初始化某数为</a:t>
            </a:r>
            <a:r>
              <a:rPr lang="en-US" altLang="zh-CN" dirty="0"/>
              <a:t>0</a:t>
            </a:r>
            <a:r>
              <a:rPr lang="zh-CN" altLang="en-US" dirty="0"/>
              <a:t>。</a:t>
            </a:r>
            <a:endParaRPr lang="zh-CN" altLang="en-US" dirty="0"/>
          </a:p>
        </p:txBody>
      </p:sp>
      <p:pic>
        <p:nvPicPr>
          <p:cNvPr id="4" name="图片 3"/>
          <p:cNvPicPr>
            <a:picLocks noChangeAspect="1"/>
          </p:cNvPicPr>
          <p:nvPr/>
        </p:nvPicPr>
        <p:blipFill>
          <a:blip r:embed="rId1" cstate="print"/>
          <a:stretch>
            <a:fillRect/>
          </a:stretch>
        </p:blipFill>
        <p:spPr>
          <a:xfrm>
            <a:off x="6868614" y="3772443"/>
            <a:ext cx="2641146" cy="1497963"/>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移位指令</a:t>
            </a:r>
            <a:endParaRPr lang="zh-CN" altLang="en-US" dirty="0"/>
          </a:p>
        </p:txBody>
      </p:sp>
      <p:sp>
        <p:nvSpPr>
          <p:cNvPr id="3" name="内容占位符 2"/>
          <p:cNvSpPr>
            <a:spLocks noGrp="1"/>
          </p:cNvSpPr>
          <p:nvPr>
            <p:ph idx="1"/>
          </p:nvPr>
        </p:nvSpPr>
        <p:spPr/>
        <p:txBody>
          <a:bodyPr/>
          <a:lstStyle/>
          <a:p>
            <a:pPr>
              <a:lnSpc>
                <a:spcPct val="90000"/>
              </a:lnSpc>
              <a:buFont typeface="Wingdings" panose="05000000000000000000" pitchFamily="2" charset="2"/>
              <a:buChar char="Ø"/>
            </a:pPr>
            <a:r>
              <a:rPr lang="zh-CN" altLang="en-US" sz="2800" b="0" dirty="0"/>
              <a:t>这组指令可以对字节或字中的各位进行算术移位和逻辑移位。</a:t>
            </a:r>
            <a:endParaRPr lang="zh-CN" altLang="en-US" sz="2800" b="0" dirty="0"/>
          </a:p>
          <a:p>
            <a:pPr>
              <a:lnSpc>
                <a:spcPct val="90000"/>
              </a:lnSpc>
              <a:buFont typeface="Wingdings" panose="05000000000000000000" pitchFamily="2" charset="2"/>
              <a:buChar char="Ø"/>
            </a:pPr>
            <a:r>
              <a:rPr lang="zh-CN" altLang="en-US" sz="2800" b="0" dirty="0"/>
              <a:t>移位次数可以是１也可以大于１。</a:t>
            </a:r>
            <a:r>
              <a:rPr lang="zh-CN" altLang="en-US" sz="2800" b="0" dirty="0">
                <a:solidFill>
                  <a:schemeClr val="hlink"/>
                </a:solidFill>
              </a:rPr>
              <a:t>若移位次数大于１时，必须将次数预先放入CL</a:t>
            </a:r>
            <a:r>
              <a:rPr lang="zh-CN" altLang="en-US" sz="2800" b="0" dirty="0"/>
              <a:t>。</a:t>
            </a:r>
            <a:endParaRPr lang="zh-CN" altLang="en-US" sz="2800" b="0" dirty="0"/>
          </a:p>
          <a:p>
            <a:pPr>
              <a:lnSpc>
                <a:spcPct val="90000"/>
              </a:lnSpc>
              <a:buFont typeface="Wingdings" panose="05000000000000000000" pitchFamily="2" charset="2"/>
              <a:buChar char="Ø"/>
            </a:pPr>
            <a:r>
              <a:rPr lang="zh-CN" altLang="en-US" sz="2800" b="0" dirty="0"/>
              <a:t>这组指令影响除AF以外的各个标志位。</a:t>
            </a:r>
            <a:endParaRPr lang="zh-CN" altLang="en-US" sz="2800" b="0" dirty="0"/>
          </a:p>
          <a:p>
            <a:pPr>
              <a:lnSpc>
                <a:spcPct val="90000"/>
              </a:lnSpc>
              <a:buFont typeface="Wingdings" panose="05000000000000000000" pitchFamily="2" charset="2"/>
              <a:buChar char="Ø"/>
            </a:pPr>
            <a:r>
              <a:rPr lang="zh-CN" altLang="en-US" sz="2800" b="0" dirty="0"/>
              <a:t>包括：</a:t>
            </a:r>
            <a:endParaRPr lang="zh-CN" altLang="en-US" sz="2800" b="0" dirty="0"/>
          </a:p>
          <a:p>
            <a:pPr lvl="1">
              <a:lnSpc>
                <a:spcPct val="90000"/>
              </a:lnSpc>
            </a:pPr>
            <a:r>
              <a:rPr lang="zh-CN" altLang="en-US" b="0" dirty="0">
                <a:latin typeface="+mn-ea"/>
              </a:rPr>
              <a:t>算术左移指令</a:t>
            </a:r>
            <a:r>
              <a:rPr lang="zh-CN" altLang="en-US" b="0" dirty="0" smtClean="0">
                <a:latin typeface="+mn-ea"/>
              </a:rPr>
              <a:t>SAL</a:t>
            </a:r>
            <a:r>
              <a:rPr lang="en-US" altLang="zh-CN" dirty="0" smtClean="0">
                <a:latin typeface="+mn-ea"/>
              </a:rPr>
              <a:t> (arithmetic shift left)</a:t>
            </a:r>
            <a:endParaRPr lang="en-US" altLang="zh-CN" dirty="0" smtClean="0">
              <a:latin typeface="+mn-ea"/>
            </a:endParaRPr>
          </a:p>
          <a:p>
            <a:pPr lvl="1">
              <a:lnSpc>
                <a:spcPct val="90000"/>
              </a:lnSpc>
            </a:pPr>
            <a:r>
              <a:rPr lang="zh-CN" altLang="en-US" b="0" dirty="0" smtClean="0">
                <a:latin typeface="+mn-ea"/>
              </a:rPr>
              <a:t>逻辑</a:t>
            </a:r>
            <a:r>
              <a:rPr lang="zh-CN" altLang="en-US" b="0" dirty="0">
                <a:latin typeface="+mn-ea"/>
              </a:rPr>
              <a:t>左移指令</a:t>
            </a:r>
            <a:r>
              <a:rPr lang="zh-CN" altLang="en-US" b="0" dirty="0" smtClean="0">
                <a:latin typeface="+mn-ea"/>
              </a:rPr>
              <a:t>SHL</a:t>
            </a:r>
            <a:r>
              <a:rPr lang="en-US" altLang="zh-CN" b="0" dirty="0" smtClean="0">
                <a:latin typeface="+mn-ea"/>
              </a:rPr>
              <a:t>(shift left)</a:t>
            </a:r>
            <a:endParaRPr lang="zh-CN" altLang="en-US" b="0" dirty="0">
              <a:latin typeface="+mn-ea"/>
            </a:endParaRPr>
          </a:p>
          <a:p>
            <a:pPr lvl="1">
              <a:lnSpc>
                <a:spcPct val="90000"/>
              </a:lnSpc>
            </a:pPr>
            <a:r>
              <a:rPr lang="zh-CN" altLang="en-US" b="0" dirty="0">
                <a:latin typeface="+mn-ea"/>
              </a:rPr>
              <a:t>算术右移指令</a:t>
            </a:r>
            <a:r>
              <a:rPr lang="zh-CN" altLang="en-US" b="0" dirty="0" smtClean="0">
                <a:latin typeface="+mn-ea"/>
              </a:rPr>
              <a:t>SAR</a:t>
            </a:r>
            <a:r>
              <a:rPr lang="en-US" altLang="zh-CN" dirty="0" smtClean="0">
                <a:latin typeface="+mn-ea"/>
              </a:rPr>
              <a:t> (arithmetic shift right)</a:t>
            </a:r>
            <a:endParaRPr lang="en-US" altLang="zh-CN" dirty="0" smtClean="0">
              <a:latin typeface="+mn-ea"/>
            </a:endParaRPr>
          </a:p>
          <a:p>
            <a:pPr lvl="1">
              <a:lnSpc>
                <a:spcPct val="90000"/>
              </a:lnSpc>
            </a:pPr>
            <a:r>
              <a:rPr lang="zh-CN" altLang="en-US" b="0" dirty="0" smtClean="0">
                <a:latin typeface="+mn-ea"/>
              </a:rPr>
              <a:t>逻辑</a:t>
            </a:r>
            <a:r>
              <a:rPr lang="zh-CN" altLang="en-US" b="0" dirty="0">
                <a:latin typeface="+mn-ea"/>
              </a:rPr>
              <a:t>右移指令</a:t>
            </a:r>
            <a:r>
              <a:rPr lang="zh-CN" altLang="en-US" b="0" dirty="0" smtClean="0">
                <a:latin typeface="+mn-ea"/>
              </a:rPr>
              <a:t>SHR</a:t>
            </a:r>
            <a:r>
              <a:rPr lang="en-US" altLang="zh-CN" b="0" dirty="0" smtClean="0">
                <a:latin typeface="+mn-ea"/>
              </a:rPr>
              <a:t>(shift right)</a:t>
            </a:r>
            <a:endParaRPr lang="zh-CN" altLang="en-US" b="0" dirty="0">
              <a:latin typeface="+mn-ea"/>
            </a:endParaRPr>
          </a:p>
          <a:p>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逻辑左移指令</a:t>
            </a:r>
            <a:r>
              <a:rPr lang="en-US" altLang="zh-CN" dirty="0"/>
              <a:t>SHL</a:t>
            </a:r>
            <a:endParaRPr lang="zh-CN" altLang="en-US" dirty="0"/>
          </a:p>
        </p:txBody>
      </p:sp>
      <p:sp>
        <p:nvSpPr>
          <p:cNvPr id="3" name="内容占位符 2"/>
          <p:cNvSpPr>
            <a:spLocks noGrp="1"/>
          </p:cNvSpPr>
          <p:nvPr>
            <p:ph idx="1"/>
          </p:nvPr>
        </p:nvSpPr>
        <p:spPr/>
        <p:txBody>
          <a:bodyPr>
            <a:normAutofit/>
          </a:bodyPr>
          <a:lstStyle/>
          <a:p>
            <a:pPr>
              <a:lnSpc>
                <a:spcPct val="120000"/>
              </a:lnSpc>
            </a:pPr>
            <a:r>
              <a:rPr lang="zh-CN" altLang="en-US" dirty="0"/>
              <a:t>格式：</a:t>
            </a:r>
            <a:r>
              <a:rPr lang="en-US" altLang="zh-CN" dirty="0"/>
              <a:t>SHL</a:t>
            </a:r>
            <a:r>
              <a:rPr lang="zh-CN" altLang="en-US" dirty="0"/>
              <a:t> </a:t>
            </a:r>
            <a:r>
              <a:rPr lang="en-US" altLang="zh-CN" dirty="0"/>
              <a:t>OPD</a:t>
            </a:r>
            <a:r>
              <a:rPr lang="zh-CN" altLang="en-US" dirty="0"/>
              <a:t>，</a:t>
            </a:r>
            <a:r>
              <a:rPr lang="en-US" altLang="zh-CN" dirty="0"/>
              <a:t>OPS</a:t>
            </a:r>
            <a:endParaRPr lang="en-US" altLang="zh-CN" dirty="0"/>
          </a:p>
          <a:p>
            <a:pPr>
              <a:lnSpc>
                <a:spcPct val="120000"/>
              </a:lnSpc>
            </a:pPr>
            <a:r>
              <a:rPr lang="zh-CN" altLang="en-US" dirty="0"/>
              <a:t>功能：</a:t>
            </a:r>
            <a:endParaRPr lang="zh-CN" altLang="en-US" dirty="0"/>
          </a:p>
          <a:p>
            <a:pPr>
              <a:lnSpc>
                <a:spcPct val="120000"/>
              </a:lnSpc>
            </a:pPr>
            <a:r>
              <a:rPr lang="zh-CN" altLang="en-US" dirty="0"/>
              <a:t>例</a:t>
            </a:r>
            <a:r>
              <a:rPr lang="en-US" altLang="zh-CN" dirty="0"/>
              <a:t>5</a:t>
            </a:r>
            <a:r>
              <a:rPr lang="zh-CN" altLang="en-US" dirty="0"/>
              <a:t>：</a:t>
            </a:r>
            <a:r>
              <a:rPr lang="en-US" altLang="zh-CN" dirty="0"/>
              <a:t>MOV    CL</a:t>
            </a:r>
            <a:r>
              <a:rPr lang="zh-CN" altLang="en-US" dirty="0"/>
              <a:t>，</a:t>
            </a:r>
            <a:r>
              <a:rPr lang="en-US" altLang="zh-CN" dirty="0"/>
              <a:t>3</a:t>
            </a:r>
            <a:endParaRPr lang="en-US" altLang="zh-CN" dirty="0"/>
          </a:p>
          <a:p>
            <a:pPr marL="0" indent="0">
              <a:lnSpc>
                <a:spcPct val="120000"/>
              </a:lnSpc>
              <a:buNone/>
            </a:pPr>
            <a:r>
              <a:rPr lang="en-US" altLang="zh-CN" dirty="0"/>
              <a:t>       SHL    AL</a:t>
            </a:r>
            <a:r>
              <a:rPr lang="zh-CN" altLang="en-US" dirty="0"/>
              <a:t>，</a:t>
            </a:r>
            <a:r>
              <a:rPr lang="en-US" altLang="zh-CN" dirty="0"/>
              <a:t>CL</a:t>
            </a:r>
            <a:endParaRPr lang="en-US" altLang="zh-CN" dirty="0"/>
          </a:p>
          <a:p>
            <a:pPr marL="0" indent="0">
              <a:lnSpc>
                <a:spcPct val="120000"/>
              </a:lnSpc>
              <a:buNone/>
            </a:pPr>
            <a:r>
              <a:rPr lang="zh-CN" altLang="en-US" dirty="0"/>
              <a:t>       执行前：</a:t>
            </a:r>
            <a:r>
              <a:rPr lang="en-US" altLang="zh-CN" dirty="0"/>
              <a:t>(AL)=01H</a:t>
            </a:r>
            <a:endParaRPr lang="en-US" altLang="zh-CN" dirty="0"/>
          </a:p>
          <a:p>
            <a:pPr marL="0" indent="0">
              <a:lnSpc>
                <a:spcPct val="120000"/>
              </a:lnSpc>
              <a:buNone/>
            </a:pPr>
            <a:r>
              <a:rPr lang="zh-CN" altLang="en-US" dirty="0"/>
              <a:t>       执行后：</a:t>
            </a:r>
            <a:r>
              <a:rPr lang="en-US" altLang="zh-CN" dirty="0"/>
              <a:t>(AL)=08H</a:t>
            </a:r>
            <a:r>
              <a:rPr lang="zh-CN" altLang="en-US" dirty="0"/>
              <a:t>，</a:t>
            </a:r>
            <a:r>
              <a:rPr lang="en-US" altLang="zh-CN" dirty="0"/>
              <a:t>CF=0</a:t>
            </a:r>
            <a:endParaRPr lang="en-US" altLang="zh-CN" dirty="0"/>
          </a:p>
          <a:p>
            <a:pPr>
              <a:lnSpc>
                <a:spcPct val="120000"/>
              </a:lnSpc>
            </a:pPr>
            <a:r>
              <a:rPr lang="zh-CN" altLang="en-US" dirty="0"/>
              <a:t>无符号数的逻辑左移一位相当于目的操作数乘</a:t>
            </a:r>
            <a:r>
              <a:rPr lang="en-US" altLang="zh-CN" dirty="0"/>
              <a:t>2</a:t>
            </a:r>
            <a:r>
              <a:rPr lang="zh-CN" altLang="en-US" dirty="0"/>
              <a:t>。</a:t>
            </a:r>
            <a:endParaRPr lang="zh-CN" altLang="en-US" dirty="0"/>
          </a:p>
        </p:txBody>
      </p:sp>
      <p:pic>
        <p:nvPicPr>
          <p:cNvPr id="4" name="图片 3"/>
          <p:cNvPicPr>
            <a:picLocks noChangeAspect="1"/>
          </p:cNvPicPr>
          <p:nvPr/>
        </p:nvPicPr>
        <p:blipFill>
          <a:blip r:embed="rId1" cstate="print"/>
          <a:stretch>
            <a:fillRect/>
          </a:stretch>
        </p:blipFill>
        <p:spPr>
          <a:xfrm>
            <a:off x="4934757" y="2183190"/>
            <a:ext cx="6320905" cy="1245810"/>
          </a:xfrm>
          <a:prstGeom prst="rect">
            <a:avLst/>
          </a:prstGeom>
        </p:spPr>
      </p:pic>
      <p:pic>
        <p:nvPicPr>
          <p:cNvPr id="5" name="图片 4"/>
          <p:cNvPicPr>
            <a:picLocks noChangeAspect="1"/>
          </p:cNvPicPr>
          <p:nvPr/>
        </p:nvPicPr>
        <p:blipFill>
          <a:blip r:embed="rId2" cstate="print"/>
          <a:stretch>
            <a:fillRect/>
          </a:stretch>
        </p:blipFill>
        <p:spPr>
          <a:xfrm>
            <a:off x="7294292" y="3821154"/>
            <a:ext cx="2816359" cy="1163279"/>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算术左移指令</a:t>
            </a:r>
            <a:r>
              <a:rPr lang="en-US" altLang="zh-CN" dirty="0" smtClean="0"/>
              <a:t>SAL</a:t>
            </a:r>
            <a:r>
              <a:rPr lang="zh-CN" altLang="en-US" dirty="0" smtClean="0"/>
              <a:t>（</a:t>
            </a:r>
            <a:r>
              <a:rPr lang="en-US" altLang="zh-CN" dirty="0" smtClean="0"/>
              <a:t>Arithmetic left shift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a:t>SAL</a:t>
            </a:r>
            <a:r>
              <a:rPr lang="zh-CN" altLang="en-US" dirty="0"/>
              <a:t> </a:t>
            </a:r>
            <a:r>
              <a:rPr lang="en-US" altLang="zh-CN" dirty="0"/>
              <a:t>OPD</a:t>
            </a:r>
            <a:r>
              <a:rPr lang="zh-CN" altLang="en-US" dirty="0"/>
              <a:t>，</a:t>
            </a:r>
            <a:r>
              <a:rPr lang="en-US" altLang="zh-CN" dirty="0"/>
              <a:t>OPS</a:t>
            </a:r>
            <a:endParaRPr lang="en-US" altLang="zh-CN" dirty="0"/>
          </a:p>
          <a:p>
            <a:r>
              <a:rPr lang="zh-CN" altLang="en-US" dirty="0"/>
              <a:t>功能：与逻辑左移指令</a:t>
            </a:r>
            <a:r>
              <a:rPr lang="en-US" altLang="zh-CN" dirty="0"/>
              <a:t>SHL</a:t>
            </a:r>
            <a:r>
              <a:rPr lang="zh-CN" altLang="en-US" dirty="0"/>
              <a:t>完全相同。</a:t>
            </a:r>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逻辑右移指令</a:t>
            </a:r>
            <a:r>
              <a:rPr lang="en-US" altLang="zh-CN" dirty="0"/>
              <a:t>SHR</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a:t>SHR</a:t>
            </a:r>
            <a:r>
              <a:rPr lang="zh-CN" altLang="en-US" dirty="0"/>
              <a:t> </a:t>
            </a:r>
            <a:r>
              <a:rPr lang="en-US" altLang="zh-CN" dirty="0"/>
              <a:t>OPD</a:t>
            </a:r>
            <a:r>
              <a:rPr lang="zh-CN" altLang="en-US" dirty="0"/>
              <a:t>，</a:t>
            </a:r>
            <a:r>
              <a:rPr lang="en-US" altLang="zh-CN" dirty="0"/>
              <a:t>OPS</a:t>
            </a:r>
            <a:endParaRPr lang="en-US" altLang="zh-CN" dirty="0"/>
          </a:p>
          <a:p>
            <a:r>
              <a:rPr lang="zh-CN" altLang="en-US" dirty="0"/>
              <a:t>功能：</a:t>
            </a:r>
            <a:endParaRPr lang="zh-CN" altLang="en-US" dirty="0"/>
          </a:p>
          <a:p>
            <a:r>
              <a:rPr lang="zh-CN" altLang="en-US" dirty="0"/>
              <a:t>例</a:t>
            </a:r>
            <a:r>
              <a:rPr lang="en-US" altLang="zh-CN" dirty="0"/>
              <a:t>6</a:t>
            </a:r>
            <a:r>
              <a:rPr lang="zh-CN" altLang="en-US" dirty="0"/>
              <a:t>：</a:t>
            </a:r>
            <a:r>
              <a:rPr lang="en-US" altLang="zh-CN" dirty="0"/>
              <a:t>SHR  AL</a:t>
            </a:r>
            <a:r>
              <a:rPr lang="zh-CN" altLang="en-US" dirty="0"/>
              <a:t>，</a:t>
            </a:r>
            <a:r>
              <a:rPr lang="en-US" altLang="zh-CN" dirty="0"/>
              <a:t>CL</a:t>
            </a:r>
            <a:endParaRPr lang="en-US" altLang="zh-CN" dirty="0"/>
          </a:p>
          <a:p>
            <a:pPr marL="0" indent="0">
              <a:buNone/>
            </a:pPr>
            <a:r>
              <a:rPr lang="zh-CN" altLang="en-US" dirty="0"/>
              <a:t>      执行前：</a:t>
            </a:r>
            <a:r>
              <a:rPr lang="en-US" altLang="zh-CN" dirty="0"/>
              <a:t>(AL)=9AH</a:t>
            </a:r>
            <a:r>
              <a:rPr lang="zh-CN" altLang="en-US" dirty="0"/>
              <a:t>，</a:t>
            </a:r>
            <a:r>
              <a:rPr lang="en-US" altLang="zh-CN" dirty="0"/>
              <a:t>(CL)=4</a:t>
            </a:r>
            <a:endParaRPr lang="en-US" altLang="zh-CN" dirty="0"/>
          </a:p>
          <a:p>
            <a:pPr marL="0" indent="0">
              <a:buNone/>
            </a:pPr>
            <a:r>
              <a:rPr lang="zh-CN" altLang="en-US" dirty="0"/>
              <a:t>      执行后：</a:t>
            </a:r>
            <a:r>
              <a:rPr lang="en-US" altLang="zh-CN" dirty="0"/>
              <a:t>(AL)=09H</a:t>
            </a:r>
            <a:r>
              <a:rPr lang="zh-CN" altLang="en-US" dirty="0"/>
              <a:t>，</a:t>
            </a:r>
            <a:r>
              <a:rPr lang="en-US" altLang="zh-CN" dirty="0"/>
              <a:t>CF=1</a:t>
            </a:r>
            <a:endParaRPr lang="zh-CN" altLang="en-US" dirty="0"/>
          </a:p>
        </p:txBody>
      </p:sp>
      <p:pic>
        <p:nvPicPr>
          <p:cNvPr id="5" name="图片 4"/>
          <p:cNvPicPr>
            <a:picLocks noChangeAspect="1"/>
          </p:cNvPicPr>
          <p:nvPr/>
        </p:nvPicPr>
        <p:blipFill>
          <a:blip r:embed="rId1" cstate="print"/>
          <a:stretch>
            <a:fillRect/>
          </a:stretch>
        </p:blipFill>
        <p:spPr>
          <a:xfrm>
            <a:off x="4258133" y="1908317"/>
            <a:ext cx="4276252" cy="961600"/>
          </a:xfrm>
          <a:prstGeom prst="rect">
            <a:avLst/>
          </a:prstGeom>
        </p:spPr>
      </p:pic>
      <p:pic>
        <p:nvPicPr>
          <p:cNvPr id="6" name="图片 5"/>
          <p:cNvPicPr>
            <a:picLocks noChangeAspect="1"/>
          </p:cNvPicPr>
          <p:nvPr/>
        </p:nvPicPr>
        <p:blipFill>
          <a:blip r:embed="rId2" cstate="print"/>
          <a:stretch>
            <a:fillRect/>
          </a:stretch>
        </p:blipFill>
        <p:spPr>
          <a:xfrm>
            <a:off x="7040607" y="3771491"/>
            <a:ext cx="3412887" cy="1296897"/>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122" y="122238"/>
            <a:ext cx="10495878" cy="792162"/>
          </a:xfrm>
        </p:spPr>
        <p:txBody>
          <a:bodyPr/>
          <a:lstStyle/>
          <a:p>
            <a:r>
              <a:rPr lang="zh-CN" altLang="en-US" dirty="0"/>
              <a:t>算术右移指令</a:t>
            </a:r>
            <a:r>
              <a:rPr lang="en-US" altLang="zh-CN" dirty="0" smtClean="0"/>
              <a:t>SAR </a:t>
            </a:r>
            <a:r>
              <a:rPr lang="zh-CN" altLang="en-US" dirty="0" smtClean="0"/>
              <a:t>（</a:t>
            </a:r>
            <a:r>
              <a:rPr lang="en-US" altLang="zh-CN" dirty="0" smtClean="0"/>
              <a:t>Arithmetic right shift</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a:t>SAR</a:t>
            </a:r>
            <a:r>
              <a:rPr lang="zh-CN" altLang="en-US" dirty="0"/>
              <a:t> </a:t>
            </a:r>
            <a:r>
              <a:rPr lang="en-US" altLang="zh-CN" dirty="0"/>
              <a:t>OPD</a:t>
            </a:r>
            <a:r>
              <a:rPr lang="zh-CN" altLang="en-US" dirty="0"/>
              <a:t>，</a:t>
            </a:r>
            <a:r>
              <a:rPr lang="en-US" altLang="zh-CN" dirty="0"/>
              <a:t>OPS</a:t>
            </a:r>
            <a:endParaRPr lang="en-US" altLang="zh-CN" dirty="0"/>
          </a:p>
          <a:p>
            <a:r>
              <a:rPr lang="zh-CN" altLang="en-US" dirty="0"/>
              <a:t>功能：</a:t>
            </a:r>
            <a:endParaRPr lang="zh-CN" altLang="en-US" dirty="0"/>
          </a:p>
          <a:p>
            <a:r>
              <a:rPr lang="zh-CN" altLang="en-US" dirty="0"/>
              <a:t>例</a:t>
            </a:r>
            <a:r>
              <a:rPr lang="en-US" altLang="zh-CN" dirty="0"/>
              <a:t>7</a:t>
            </a:r>
            <a:r>
              <a:rPr lang="zh-CN" altLang="en-US" dirty="0"/>
              <a:t>：</a:t>
            </a:r>
            <a:r>
              <a:rPr lang="en-US" altLang="zh-CN" dirty="0"/>
              <a:t>SAR  BH</a:t>
            </a:r>
            <a:r>
              <a:rPr lang="zh-CN" altLang="en-US" dirty="0"/>
              <a:t>，</a:t>
            </a:r>
            <a:r>
              <a:rPr lang="en-US" altLang="zh-CN" dirty="0"/>
              <a:t>CL</a:t>
            </a:r>
            <a:endParaRPr lang="en-US" altLang="zh-CN" dirty="0"/>
          </a:p>
          <a:p>
            <a:pPr marL="0" indent="0">
              <a:buNone/>
            </a:pPr>
            <a:r>
              <a:rPr lang="zh-CN" altLang="en-US" dirty="0"/>
              <a:t>       执行前：</a:t>
            </a:r>
            <a:r>
              <a:rPr lang="en-US" altLang="zh-CN" dirty="0"/>
              <a:t>(BH)=84H</a:t>
            </a:r>
            <a:r>
              <a:rPr lang="zh-CN" altLang="en-US" dirty="0"/>
              <a:t>，</a:t>
            </a:r>
            <a:r>
              <a:rPr lang="en-US" altLang="zh-CN" dirty="0"/>
              <a:t>(CL)=2</a:t>
            </a:r>
            <a:endParaRPr lang="en-US" altLang="zh-CN" dirty="0"/>
          </a:p>
          <a:p>
            <a:pPr marL="0" indent="0">
              <a:buNone/>
            </a:pPr>
            <a:r>
              <a:rPr lang="zh-CN" altLang="en-US" dirty="0"/>
              <a:t>       执行后：</a:t>
            </a:r>
            <a:r>
              <a:rPr lang="en-US" altLang="zh-CN" dirty="0"/>
              <a:t>(BH)=0E1H</a:t>
            </a:r>
            <a:r>
              <a:rPr lang="zh-CN" altLang="en-US" dirty="0"/>
              <a:t>，</a:t>
            </a:r>
            <a:r>
              <a:rPr lang="en-US" altLang="zh-CN" dirty="0"/>
              <a:t>CF=0</a:t>
            </a:r>
            <a:endParaRPr lang="zh-CN" altLang="en-US" dirty="0"/>
          </a:p>
        </p:txBody>
      </p:sp>
      <p:pic>
        <p:nvPicPr>
          <p:cNvPr id="5" name="图片 4"/>
          <p:cNvPicPr>
            <a:picLocks noChangeAspect="1"/>
          </p:cNvPicPr>
          <p:nvPr/>
        </p:nvPicPr>
        <p:blipFill>
          <a:blip r:embed="rId1" cstate="print"/>
          <a:stretch>
            <a:fillRect/>
          </a:stretch>
        </p:blipFill>
        <p:spPr>
          <a:xfrm>
            <a:off x="4499218" y="1828977"/>
            <a:ext cx="5389539" cy="1082287"/>
          </a:xfrm>
          <a:prstGeom prst="rect">
            <a:avLst/>
          </a:prstGeom>
        </p:spPr>
      </p:pic>
      <p:pic>
        <p:nvPicPr>
          <p:cNvPr id="6" name="图片 5"/>
          <p:cNvPicPr>
            <a:picLocks noChangeAspect="1"/>
          </p:cNvPicPr>
          <p:nvPr/>
        </p:nvPicPr>
        <p:blipFill>
          <a:blip r:embed="rId2" cstate="print"/>
          <a:stretch>
            <a:fillRect/>
          </a:stretch>
        </p:blipFill>
        <p:spPr>
          <a:xfrm>
            <a:off x="6528970" y="3785742"/>
            <a:ext cx="4398917" cy="1649594"/>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循环移位指令</a:t>
            </a:r>
            <a:endParaRPr lang="zh-CN" altLang="en-US" dirty="0"/>
          </a:p>
        </p:txBody>
      </p:sp>
      <p:sp>
        <p:nvSpPr>
          <p:cNvPr id="3" name="内容占位符 2"/>
          <p:cNvSpPr>
            <a:spLocks noGrp="1"/>
          </p:cNvSpPr>
          <p:nvPr>
            <p:ph idx="1"/>
          </p:nvPr>
        </p:nvSpPr>
        <p:spPr/>
        <p:txBody>
          <a:bodyPr/>
          <a:lstStyle/>
          <a:p>
            <a:pPr>
              <a:lnSpc>
                <a:spcPct val="80000"/>
              </a:lnSpc>
              <a:buFont typeface="Wingdings" panose="05000000000000000000" pitchFamily="2" charset="2"/>
              <a:buChar char="Ø"/>
            </a:pPr>
            <a:r>
              <a:rPr lang="zh-CN" altLang="en-US" b="0" dirty="0"/>
              <a:t>循环移位次数的设置和移位指令相同。</a:t>
            </a:r>
            <a:endParaRPr lang="zh-CN" altLang="en-US" b="0" dirty="0"/>
          </a:p>
          <a:p>
            <a:pPr>
              <a:lnSpc>
                <a:spcPct val="80000"/>
              </a:lnSpc>
              <a:buFont typeface="Wingdings" panose="05000000000000000000" pitchFamily="2" charset="2"/>
              <a:buChar char="Ø"/>
            </a:pPr>
            <a:r>
              <a:rPr lang="zh-CN" altLang="en-US" b="0" dirty="0"/>
              <a:t>这组指令只影响CF、OF标志位。</a:t>
            </a:r>
            <a:endParaRPr lang="zh-CN" altLang="en-US" b="0" dirty="0"/>
          </a:p>
          <a:p>
            <a:pPr>
              <a:lnSpc>
                <a:spcPct val="80000"/>
              </a:lnSpc>
              <a:buFont typeface="Wingdings" panose="05000000000000000000" pitchFamily="2" charset="2"/>
              <a:buChar char="Ø"/>
            </a:pPr>
            <a:r>
              <a:rPr lang="zh-CN" altLang="en-US" b="0" dirty="0"/>
              <a:t>循环移位指令常用于按位检查某单元的内容或实现某单元的半字或半字节互换等。 </a:t>
            </a:r>
            <a:endParaRPr lang="zh-CN" altLang="en-US" b="0" dirty="0"/>
          </a:p>
          <a:p>
            <a:pPr>
              <a:lnSpc>
                <a:spcPct val="80000"/>
              </a:lnSpc>
              <a:buFont typeface="Wingdings" panose="05000000000000000000" pitchFamily="2" charset="2"/>
              <a:buChar char="Ø"/>
            </a:pPr>
            <a:r>
              <a:rPr lang="zh-CN" altLang="en-US" b="0" dirty="0"/>
              <a:t>包括：</a:t>
            </a:r>
            <a:endParaRPr lang="zh-CN" altLang="en-US" b="0" dirty="0"/>
          </a:p>
          <a:p>
            <a:pPr lvl="1">
              <a:lnSpc>
                <a:spcPct val="80000"/>
              </a:lnSpc>
            </a:pPr>
            <a:r>
              <a:rPr lang="zh-CN" altLang="en-US" sz="2400" b="0" dirty="0">
                <a:latin typeface="楷体_GB2312" pitchFamily="1" charset="-122"/>
                <a:ea typeface="楷体_GB2312" pitchFamily="1" charset="-122"/>
              </a:rPr>
              <a:t>循环左移指令</a:t>
            </a:r>
            <a:r>
              <a:rPr lang="zh-CN" altLang="en-US" sz="2400" b="0" dirty="0" smtClean="0">
                <a:latin typeface="楷体_GB2312" pitchFamily="1" charset="-122"/>
                <a:ea typeface="楷体_GB2312" pitchFamily="1" charset="-122"/>
              </a:rPr>
              <a:t>ROL</a:t>
            </a:r>
            <a:r>
              <a:rPr lang="en-US" altLang="zh-CN" sz="2400" b="0" dirty="0" smtClean="0">
                <a:latin typeface="楷体_GB2312" pitchFamily="1" charset="-122"/>
                <a:ea typeface="楷体_GB2312" pitchFamily="1" charset="-122"/>
              </a:rPr>
              <a:t>(rotate left)</a:t>
            </a:r>
            <a:endParaRPr lang="zh-CN" altLang="en-US" sz="2400" b="0" dirty="0">
              <a:latin typeface="楷体_GB2312" pitchFamily="1" charset="-122"/>
              <a:ea typeface="楷体_GB2312" pitchFamily="1" charset="-122"/>
            </a:endParaRPr>
          </a:p>
          <a:p>
            <a:pPr lvl="1">
              <a:lnSpc>
                <a:spcPct val="80000"/>
              </a:lnSpc>
            </a:pPr>
            <a:r>
              <a:rPr lang="zh-CN" altLang="en-US" sz="2400" b="0" dirty="0">
                <a:latin typeface="楷体_GB2312" pitchFamily="1" charset="-122"/>
                <a:ea typeface="楷体_GB2312" pitchFamily="1" charset="-122"/>
              </a:rPr>
              <a:t>循环右移指令</a:t>
            </a:r>
            <a:r>
              <a:rPr lang="zh-CN" altLang="en-US" sz="2400" b="0" dirty="0" smtClean="0">
                <a:latin typeface="楷体_GB2312" pitchFamily="1" charset="-122"/>
                <a:ea typeface="楷体_GB2312" pitchFamily="1" charset="-122"/>
              </a:rPr>
              <a:t>ROR</a:t>
            </a:r>
            <a:r>
              <a:rPr lang="en-US" altLang="zh-CN" sz="2400" b="0" dirty="0" smtClean="0">
                <a:latin typeface="楷体_GB2312" pitchFamily="1" charset="-122"/>
                <a:ea typeface="楷体_GB2312" pitchFamily="1" charset="-122"/>
              </a:rPr>
              <a:t>(rotate right)</a:t>
            </a:r>
            <a:endParaRPr lang="zh-CN" altLang="en-US" sz="2400" b="0" dirty="0">
              <a:latin typeface="楷体_GB2312" pitchFamily="1" charset="-122"/>
              <a:ea typeface="楷体_GB2312" pitchFamily="1" charset="-122"/>
            </a:endParaRPr>
          </a:p>
          <a:p>
            <a:pPr lvl="1">
              <a:lnSpc>
                <a:spcPct val="80000"/>
              </a:lnSpc>
            </a:pPr>
            <a:r>
              <a:rPr lang="zh-CN" altLang="en-US" sz="2400" b="0" dirty="0">
                <a:latin typeface="楷体_GB2312" pitchFamily="1" charset="-122"/>
                <a:ea typeface="楷体_GB2312" pitchFamily="1" charset="-122"/>
              </a:rPr>
              <a:t>带进位的循环左移指令</a:t>
            </a:r>
            <a:r>
              <a:rPr lang="zh-CN" altLang="en-US" sz="2400" b="0" dirty="0" smtClean="0">
                <a:latin typeface="楷体_GB2312" pitchFamily="1" charset="-122"/>
                <a:ea typeface="楷体_GB2312" pitchFamily="1" charset="-122"/>
              </a:rPr>
              <a:t>RCL</a:t>
            </a:r>
            <a:r>
              <a:rPr lang="en-US" altLang="zh-CN" sz="2400" dirty="0" smtClean="0">
                <a:latin typeface="楷体_GB2312" pitchFamily="1" charset="-122"/>
                <a:ea typeface="楷体_GB2312" pitchFamily="1" charset="-122"/>
              </a:rPr>
              <a:t> (rotate left with carry)</a:t>
            </a:r>
            <a:endParaRPr lang="en-US" altLang="zh-CN" sz="2400" dirty="0" smtClean="0">
              <a:latin typeface="楷体_GB2312" pitchFamily="1" charset="-122"/>
              <a:ea typeface="楷体_GB2312" pitchFamily="1" charset="-122"/>
            </a:endParaRPr>
          </a:p>
          <a:p>
            <a:pPr lvl="1">
              <a:lnSpc>
                <a:spcPct val="80000"/>
              </a:lnSpc>
            </a:pPr>
            <a:r>
              <a:rPr lang="zh-CN" altLang="en-US" sz="2400" b="0" dirty="0" smtClean="0">
                <a:latin typeface="楷体_GB2312" pitchFamily="1" charset="-122"/>
                <a:ea typeface="楷体_GB2312" pitchFamily="1" charset="-122"/>
              </a:rPr>
              <a:t>带</a:t>
            </a:r>
            <a:r>
              <a:rPr lang="zh-CN" altLang="en-US" sz="2400" b="0" dirty="0">
                <a:latin typeface="楷体_GB2312" pitchFamily="1" charset="-122"/>
                <a:ea typeface="楷体_GB2312" pitchFamily="1" charset="-122"/>
              </a:rPr>
              <a:t>进位的循环右移指令</a:t>
            </a:r>
            <a:r>
              <a:rPr lang="zh-CN" altLang="en-US" sz="2400" b="0" dirty="0" smtClean="0">
                <a:latin typeface="楷体_GB2312" pitchFamily="1" charset="-122"/>
                <a:ea typeface="楷体_GB2312" pitchFamily="1" charset="-122"/>
              </a:rPr>
              <a:t>RCR</a:t>
            </a:r>
            <a:r>
              <a:rPr lang="en-US" altLang="zh-CN" sz="2400" dirty="0" smtClean="0">
                <a:latin typeface="楷体_GB2312" pitchFamily="1" charset="-122"/>
                <a:ea typeface="楷体_GB2312" pitchFamily="1" charset="-122"/>
              </a:rPr>
              <a:t> (rotate right with carry)</a:t>
            </a:r>
            <a:endParaRPr lang="zh-CN" altLang="en-US" sz="2400" b="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循环左移指令</a:t>
            </a:r>
            <a:r>
              <a:rPr lang="en-US" altLang="zh-CN" dirty="0"/>
              <a:t>ROL</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en-US" b="0" dirty="0">
                <a:latin typeface="Times New Roman" panose="02020603050405020304" pitchFamily="18" charset="0"/>
                <a:ea typeface="楷体_GB2312" pitchFamily="1" charset="-122"/>
              </a:rPr>
              <a:t>格式：ROL  OPD，OPS</a:t>
            </a:r>
            <a:endParaRPr lang="zh-CN" altLang="en-US"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en-US" b="0" dirty="0">
                <a:latin typeface="Times New Roman" panose="02020603050405020304" pitchFamily="18" charset="0"/>
                <a:ea typeface="楷体_GB2312" pitchFamily="1" charset="-122"/>
              </a:rPr>
              <a:t>功能：</a:t>
            </a:r>
            <a:endParaRPr lang="en-US" altLang="zh-CN" b="0" dirty="0">
              <a:latin typeface="Times New Roman" panose="02020603050405020304" pitchFamily="18" charset="0"/>
              <a:ea typeface="楷体_GB2312" pitchFamily="1" charset="-122"/>
            </a:endParaRPr>
          </a:p>
          <a:p>
            <a:pPr>
              <a:buFont typeface="Wingdings" panose="05000000000000000000" pitchFamily="2" charset="2"/>
              <a:buChar char="Ø"/>
            </a:pPr>
            <a:endParaRPr lang="en-US"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en-US" b="0" dirty="0">
                <a:latin typeface="Times New Roman" panose="02020603050405020304" pitchFamily="18" charset="0"/>
                <a:ea typeface="楷体_GB2312" pitchFamily="1" charset="-122"/>
              </a:rPr>
              <a:t>根据源操作数OPS中的移位次数，将目的操作数的内容连续进行循环左移操作。</a:t>
            </a:r>
            <a:endParaRPr lang="zh-CN" altLang="en-US"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en-US" b="0" dirty="0">
                <a:latin typeface="Times New Roman" panose="02020603050405020304" pitchFamily="18" charset="0"/>
                <a:ea typeface="楷体_GB2312" pitchFamily="1" charset="-122"/>
              </a:rPr>
              <a:t>例如：  ROL  DL，CL</a:t>
            </a:r>
            <a:endParaRPr lang="zh-CN" altLang="en-US" b="0" dirty="0">
              <a:latin typeface="Times New Roman" panose="02020603050405020304" pitchFamily="18" charset="0"/>
              <a:ea typeface="楷体_GB2312" pitchFamily="1" charset="-122"/>
            </a:endParaRPr>
          </a:p>
          <a:p>
            <a:pPr>
              <a:buFont typeface="Wingdings" panose="05000000000000000000" pitchFamily="2" charset="2"/>
              <a:buNone/>
            </a:pPr>
            <a:r>
              <a:rPr lang="zh-CN" altLang="en-US" b="0" dirty="0">
                <a:latin typeface="Times New Roman" panose="02020603050405020304" pitchFamily="18" charset="0"/>
                <a:ea typeface="楷体_GB2312" pitchFamily="1" charset="-122"/>
              </a:rPr>
              <a:t>         　　执行前：(DL) =0FAH，(CL)=4</a:t>
            </a:r>
            <a:endParaRPr lang="zh-CN" altLang="en-US" b="0" dirty="0">
              <a:latin typeface="Times New Roman" panose="02020603050405020304" pitchFamily="18" charset="0"/>
              <a:ea typeface="楷体_GB2312" pitchFamily="1" charset="-122"/>
            </a:endParaRPr>
          </a:p>
          <a:p>
            <a:pPr>
              <a:buFont typeface="Wingdings" panose="05000000000000000000" pitchFamily="2" charset="2"/>
              <a:buNone/>
            </a:pPr>
            <a:r>
              <a:rPr lang="zh-CN" altLang="en-US" b="0" dirty="0">
                <a:latin typeface="Times New Roman" panose="02020603050405020304" pitchFamily="18" charset="0"/>
                <a:ea typeface="楷体_GB2312" pitchFamily="1" charset="-122"/>
              </a:rPr>
              <a:t>　　         执行后：(DL) =0AFH，CF=1</a:t>
            </a:r>
            <a:endParaRPr lang="zh-CN" altLang="en-US" b="0" dirty="0">
              <a:latin typeface="Times New Roman" panose="02020603050405020304" pitchFamily="18" charset="0"/>
              <a:ea typeface="楷体_GB2312" pitchFamily="1" charset="-122"/>
            </a:endParaRPr>
          </a:p>
          <a:p>
            <a:endParaRPr lang="zh-CN" altLang="en-US" dirty="0"/>
          </a:p>
        </p:txBody>
      </p:sp>
      <p:pic>
        <p:nvPicPr>
          <p:cNvPr id="5" name="图片 4"/>
          <p:cNvPicPr>
            <a:picLocks noChangeAspect="1"/>
          </p:cNvPicPr>
          <p:nvPr/>
        </p:nvPicPr>
        <p:blipFill>
          <a:blip r:embed="rId1" cstate="print"/>
          <a:stretch>
            <a:fillRect/>
          </a:stretch>
        </p:blipFill>
        <p:spPr>
          <a:xfrm>
            <a:off x="2866702" y="2301154"/>
            <a:ext cx="4687425" cy="1017512"/>
          </a:xfrm>
          <a:prstGeom prst="rect">
            <a:avLst/>
          </a:prstGeom>
        </p:spPr>
      </p:pic>
      <p:pic>
        <p:nvPicPr>
          <p:cNvPr id="6" name="图片 5"/>
          <p:cNvPicPr>
            <a:picLocks noChangeAspect="1"/>
          </p:cNvPicPr>
          <p:nvPr/>
        </p:nvPicPr>
        <p:blipFill>
          <a:blip r:embed="rId2" cstate="print"/>
          <a:stretch>
            <a:fillRect/>
          </a:stretch>
        </p:blipFill>
        <p:spPr>
          <a:xfrm>
            <a:off x="7651605" y="4349932"/>
            <a:ext cx="2632710" cy="1019114"/>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循环右移指令</a:t>
            </a:r>
            <a:r>
              <a:rPr lang="en-US" altLang="zh-CN" dirty="0"/>
              <a:t>ROR</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格式：ROR  OPD，OPS</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a:t>
            </a:r>
            <a:endParaRPr lang="en-US" altLang="zh-CN" b="0" dirty="0">
              <a:latin typeface="Times New Roman" panose="02020603050405020304" pitchFamily="18" charset="0"/>
              <a:ea typeface="楷体_GB2312" pitchFamily="1" charset="-122"/>
            </a:endParaRPr>
          </a:p>
          <a:p>
            <a:pPr>
              <a:buFont typeface="Wingdings" panose="05000000000000000000" pitchFamily="2" charset="2"/>
              <a:buChar char="Ø"/>
            </a:pPr>
            <a:endParaRPr lang="en-US"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根据源操作数OPS中的移位次数，将目的操作数的内容连续进行循环右移操作。  </a:t>
            </a:r>
            <a:endParaRPr lang="zh-CN" altLang="zh-CN" b="0" dirty="0">
              <a:latin typeface="Times New Roman" panose="02020603050405020304" pitchFamily="18" charset="0"/>
              <a:ea typeface="楷体_GB2312" pitchFamily="1" charset="-122"/>
            </a:endParaRPr>
          </a:p>
        </p:txBody>
      </p:sp>
      <p:pic>
        <p:nvPicPr>
          <p:cNvPr id="5" name="图片 4"/>
          <p:cNvPicPr>
            <a:picLocks noChangeAspect="1"/>
          </p:cNvPicPr>
          <p:nvPr/>
        </p:nvPicPr>
        <p:blipFill>
          <a:blip r:embed="rId1" cstate="print"/>
          <a:stretch>
            <a:fillRect/>
          </a:stretch>
        </p:blipFill>
        <p:spPr>
          <a:xfrm>
            <a:off x="2533476" y="2219119"/>
            <a:ext cx="4391767" cy="936748"/>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带进位的循环左移指令</a:t>
            </a:r>
            <a:r>
              <a:rPr lang="en-US" altLang="zh-CN" dirty="0"/>
              <a:t>RCL</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a:t>RCL  OPD</a:t>
            </a:r>
            <a:r>
              <a:rPr lang="zh-CN" altLang="en-US" dirty="0"/>
              <a:t>，</a:t>
            </a:r>
            <a:r>
              <a:rPr lang="en-US" altLang="zh-CN" dirty="0"/>
              <a:t>OPS</a:t>
            </a:r>
            <a:endParaRPr lang="en-US" altLang="zh-CN" dirty="0"/>
          </a:p>
          <a:p>
            <a:r>
              <a:rPr lang="zh-CN" altLang="en-US" dirty="0"/>
              <a:t>功能：</a:t>
            </a:r>
            <a:endParaRPr lang="en-US" altLang="zh-CN" dirty="0"/>
          </a:p>
          <a:p>
            <a:endParaRPr lang="en-US" altLang="zh-CN" dirty="0"/>
          </a:p>
          <a:p>
            <a:endParaRPr lang="en-US" altLang="zh-CN" dirty="0"/>
          </a:p>
          <a:p>
            <a:r>
              <a:rPr lang="zh-CN" altLang="en-US" dirty="0"/>
              <a:t>根据源操作数</a:t>
            </a:r>
            <a:r>
              <a:rPr lang="en-US" altLang="zh-CN" dirty="0"/>
              <a:t>OPS</a:t>
            </a:r>
            <a:r>
              <a:rPr lang="zh-CN" altLang="en-US" dirty="0"/>
              <a:t>中的移位次数，连续对目的操作数的内容带</a:t>
            </a:r>
            <a:r>
              <a:rPr lang="en-US" altLang="zh-CN" dirty="0"/>
              <a:t>CF</a:t>
            </a:r>
            <a:r>
              <a:rPr lang="zh-CN" altLang="en-US" dirty="0"/>
              <a:t>循环左移操作。</a:t>
            </a:r>
            <a:endParaRPr lang="zh-CN" altLang="en-US" dirty="0"/>
          </a:p>
          <a:p>
            <a:endParaRPr lang="zh-CN" altLang="en-US" dirty="0"/>
          </a:p>
        </p:txBody>
      </p:sp>
      <p:pic>
        <p:nvPicPr>
          <p:cNvPr id="5" name="图片 4"/>
          <p:cNvPicPr>
            <a:picLocks noChangeAspect="1"/>
          </p:cNvPicPr>
          <p:nvPr/>
        </p:nvPicPr>
        <p:blipFill>
          <a:blip r:embed="rId1" cstate="print"/>
          <a:stretch>
            <a:fillRect/>
          </a:stretch>
        </p:blipFill>
        <p:spPr>
          <a:xfrm>
            <a:off x="2151338" y="2245807"/>
            <a:ext cx="6457737" cy="1339354"/>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带进位的循环右移指令</a:t>
            </a:r>
            <a:r>
              <a:rPr lang="en-US" altLang="zh-CN" dirty="0"/>
              <a:t>RCR</a:t>
            </a:r>
            <a:endParaRPr lang="zh-CN" altLang="en-US" dirty="0"/>
          </a:p>
        </p:txBody>
      </p:sp>
      <p:sp>
        <p:nvSpPr>
          <p:cNvPr id="3" name="内容占位符 2"/>
          <p:cNvSpPr>
            <a:spLocks noGrp="1"/>
          </p:cNvSpPr>
          <p:nvPr>
            <p:ph idx="1"/>
          </p:nvPr>
        </p:nvSpPr>
        <p:spPr>
          <a:xfrm>
            <a:off x="630150" y="1472683"/>
            <a:ext cx="10058400" cy="5082229"/>
          </a:xfrm>
        </p:spPr>
        <p:txBody>
          <a:bodyPr/>
          <a:lstStyle/>
          <a:p>
            <a:pPr>
              <a:lnSpc>
                <a:spcPct val="9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格式： RCR  OPD，OPS</a:t>
            </a:r>
            <a:endParaRPr lang="zh-CN" altLang="en-US"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功能：</a:t>
            </a:r>
            <a:endParaRPr lang="en-US"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endParaRPr lang="en-US" altLang="zh-CN"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根据源操作数OPS中的移位次数，连续对目的操作数的内容带CF循环右移操作。</a:t>
            </a:r>
            <a:endParaRPr lang="zh-CN" altLang="en-US"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例有一无符号32位二进制数存放在DX、AX，其高16位在DX，低16位在AX，以下指令序列实现对该数的除2操作。</a:t>
            </a:r>
            <a:endParaRPr lang="zh-CN" altLang="en-US"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en-US" sz="2800" b="0" dirty="0">
                <a:latin typeface="Times New Roman" panose="02020603050405020304" pitchFamily="18" charset="0"/>
                <a:ea typeface="楷体_GB2312" pitchFamily="1" charset="-122"/>
              </a:rPr>
              <a:t>  　　       SHR   DX，</a:t>
            </a:r>
            <a:r>
              <a:rPr lang="zh-CN" altLang="en-US" sz="2800" b="0" dirty="0" smtClean="0">
                <a:latin typeface="Times New Roman" panose="02020603050405020304" pitchFamily="18" charset="0"/>
                <a:ea typeface="楷体_GB2312" pitchFamily="1" charset="-122"/>
              </a:rPr>
              <a:t>1    运行后</a:t>
            </a:r>
            <a:r>
              <a:rPr lang="en-US" altLang="zh-CN" sz="2800" b="0" dirty="0" smtClean="0">
                <a:latin typeface="Times New Roman" panose="02020603050405020304" pitchFamily="18" charset="0"/>
                <a:ea typeface="楷体_GB2312" pitchFamily="1" charset="-122"/>
              </a:rPr>
              <a:t>    (DX)=002BH     CY=0</a:t>
            </a:r>
            <a:endParaRPr lang="zh-CN" altLang="en-US"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en-US" sz="2800" b="0" dirty="0">
                <a:latin typeface="Times New Roman" panose="02020603050405020304" pitchFamily="18" charset="0"/>
                <a:ea typeface="楷体_GB2312" pitchFamily="1" charset="-122"/>
              </a:rPr>
              <a:t>  　　       </a:t>
            </a:r>
            <a:r>
              <a:rPr lang="zh-CN" altLang="en-US" sz="2800" b="0" dirty="0" smtClean="0">
                <a:latin typeface="Times New Roman" panose="02020603050405020304" pitchFamily="18" charset="0"/>
                <a:ea typeface="楷体_GB2312" pitchFamily="1" charset="-122"/>
              </a:rPr>
              <a:t>RCR   </a:t>
            </a:r>
            <a:r>
              <a:rPr lang="zh-CN" altLang="en-US" sz="2800" b="0" dirty="0">
                <a:latin typeface="Times New Roman" panose="02020603050405020304" pitchFamily="18" charset="0"/>
                <a:ea typeface="楷体_GB2312" pitchFamily="1" charset="-122"/>
              </a:rPr>
              <a:t>AX，</a:t>
            </a:r>
            <a:r>
              <a:rPr lang="zh-CN" altLang="en-US" sz="2800" b="0" dirty="0" smtClean="0">
                <a:latin typeface="Times New Roman" panose="02020603050405020304" pitchFamily="18" charset="0"/>
                <a:ea typeface="楷体_GB2312" pitchFamily="1" charset="-122"/>
              </a:rPr>
              <a:t>1    </a:t>
            </a:r>
            <a:r>
              <a:rPr lang="zh-CN" altLang="en-US" dirty="0" smtClean="0">
                <a:latin typeface="Times New Roman" panose="02020603050405020304" pitchFamily="18" charset="0"/>
                <a:ea typeface="楷体_GB2312" pitchFamily="1" charset="-122"/>
                <a:sym typeface="+mn-ea"/>
              </a:rPr>
              <a:t>运行后</a:t>
            </a:r>
            <a:r>
              <a:rPr lang="en-US" altLang="zh-CN" dirty="0" smtClean="0">
                <a:latin typeface="Times New Roman" panose="02020603050405020304" pitchFamily="18" charset="0"/>
                <a:ea typeface="楷体_GB2312" pitchFamily="1" charset="-122"/>
                <a:sym typeface="+mn-ea"/>
              </a:rPr>
              <a:t>    </a:t>
            </a:r>
            <a:r>
              <a:rPr lang="en-US" altLang="zh-CN" sz="2800" b="0" dirty="0" smtClean="0">
                <a:latin typeface="Times New Roman" panose="02020603050405020304" pitchFamily="18" charset="0"/>
                <a:ea typeface="楷体_GB2312" pitchFamily="1" charset="-122"/>
              </a:rPr>
              <a:t>(AX)=003CH     CY=0</a:t>
            </a:r>
            <a:endParaRPr lang="en-US" altLang="zh-CN" sz="2800" b="0" dirty="0" smtClean="0">
              <a:latin typeface="Times New Roman" panose="02020603050405020304" pitchFamily="18" charset="0"/>
              <a:ea typeface="楷体_GB2312" pitchFamily="1" charset="-122"/>
            </a:endParaRPr>
          </a:p>
          <a:p>
            <a:pPr>
              <a:lnSpc>
                <a:spcPct val="90000"/>
              </a:lnSpc>
              <a:buNone/>
            </a:pPr>
            <a:r>
              <a:rPr lang="en-US" altLang="zh-CN" dirty="0" smtClean="0">
                <a:latin typeface="Times New Roman" panose="02020603050405020304" pitchFamily="18" charset="0"/>
                <a:ea typeface="楷体_GB2312" pitchFamily="1" charset="-122"/>
              </a:rPr>
              <a:t>    </a:t>
            </a:r>
            <a:r>
              <a:rPr lang="zh-CN" altLang="en-US" dirty="0" smtClean="0">
                <a:latin typeface="Times New Roman" panose="02020603050405020304" pitchFamily="18" charset="0"/>
                <a:ea typeface="楷体_GB2312" pitchFamily="1" charset="-122"/>
              </a:rPr>
              <a:t>设</a:t>
            </a:r>
            <a:r>
              <a:rPr lang="en-US" altLang="zh-CN" dirty="0" smtClean="0">
                <a:latin typeface="Times New Roman" panose="02020603050405020304" pitchFamily="18" charset="0"/>
                <a:ea typeface="楷体_GB2312" pitchFamily="1" charset="-122"/>
              </a:rPr>
              <a:t> (DX)=56H  (AX)=78H   00560078H     01010110    01111000</a:t>
            </a:r>
            <a:endParaRPr lang="en-US" altLang="zh-CN" dirty="0" smtClean="0">
              <a:latin typeface="Times New Roman" panose="02020603050405020304" pitchFamily="18" charset="0"/>
              <a:ea typeface="楷体_GB2312" pitchFamily="1" charset="-122"/>
            </a:endParaRPr>
          </a:p>
          <a:p>
            <a:pPr>
              <a:lnSpc>
                <a:spcPct val="90000"/>
              </a:lnSpc>
              <a:buNone/>
            </a:pPr>
            <a:r>
              <a:rPr lang="en-US" altLang="zh-CN" sz="2800" b="0" dirty="0" smtClean="0">
                <a:solidFill>
                  <a:srgbClr val="FF0000"/>
                </a:solidFill>
                <a:latin typeface="Times New Roman" panose="02020603050405020304" pitchFamily="18" charset="0"/>
                <a:ea typeface="楷体_GB2312" pitchFamily="1" charset="-122"/>
              </a:rPr>
              <a:t>                                                 002B003CH</a:t>
            </a:r>
            <a:endParaRPr lang="zh-CN" altLang="en-US" sz="2800" b="0" dirty="0">
              <a:solidFill>
                <a:srgbClr val="FF0000"/>
              </a:solidFill>
              <a:latin typeface="Times New Roman" panose="02020603050405020304" pitchFamily="18" charset="0"/>
              <a:ea typeface="楷体_GB2312" pitchFamily="1" charset="-122"/>
            </a:endParaRPr>
          </a:p>
        </p:txBody>
      </p:sp>
      <p:pic>
        <p:nvPicPr>
          <p:cNvPr id="5" name="图片 4"/>
          <p:cNvPicPr>
            <a:picLocks noChangeAspect="1"/>
          </p:cNvPicPr>
          <p:nvPr/>
        </p:nvPicPr>
        <p:blipFill>
          <a:blip r:embed="rId1" cstate="print"/>
          <a:stretch>
            <a:fillRect/>
          </a:stretch>
        </p:blipFill>
        <p:spPr>
          <a:xfrm>
            <a:off x="2750004" y="1971520"/>
            <a:ext cx="4435039" cy="893902"/>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514760"/>
          </a:xfrm>
        </p:spPr>
        <p:txBody>
          <a:bodyPr/>
          <a:lstStyle/>
          <a:p>
            <a:pPr algn="l"/>
            <a:r>
              <a:rPr lang="zh-CN" altLang="en-US" dirty="0" smtClean="0"/>
              <a:t>例题</a:t>
            </a:r>
            <a:endParaRPr lang="zh-CN" altLang="en-US" dirty="0"/>
          </a:p>
        </p:txBody>
      </p:sp>
      <p:sp>
        <p:nvSpPr>
          <p:cNvPr id="3" name="内容占位符 2"/>
          <p:cNvSpPr>
            <a:spLocks noGrp="1"/>
          </p:cNvSpPr>
          <p:nvPr>
            <p:ph idx="1"/>
          </p:nvPr>
        </p:nvSpPr>
        <p:spPr>
          <a:xfrm>
            <a:off x="599327" y="702121"/>
            <a:ext cx="4702138" cy="4866471"/>
          </a:xfrm>
        </p:spPr>
        <p:txBody>
          <a:bodyPr/>
          <a:lstStyle/>
          <a:p>
            <a:pPr>
              <a:buNone/>
            </a:pPr>
            <a:r>
              <a:rPr lang="zh-CN" altLang="zh-CN" sz="2400" dirty="0" smtClean="0"/>
              <a:t>指出下列语句的错误。</a:t>
            </a:r>
            <a:endParaRPr lang="zh-CN" altLang="zh-CN" sz="2400" dirty="0" smtClean="0"/>
          </a:p>
          <a:p>
            <a:pPr>
              <a:buNone/>
            </a:pPr>
            <a:r>
              <a:rPr lang="zh-CN" altLang="zh-CN" sz="2400" dirty="0" smtClean="0"/>
              <a:t>（</a:t>
            </a:r>
            <a:r>
              <a:rPr lang="en-US" altLang="zh-CN" sz="2400" dirty="0" smtClean="0"/>
              <a:t>1</a:t>
            </a:r>
            <a:r>
              <a:rPr lang="zh-CN" altLang="zh-CN" sz="2400" dirty="0" smtClean="0"/>
              <a:t>）</a:t>
            </a:r>
            <a:r>
              <a:rPr lang="en-US" altLang="zh-CN" sz="2400" dirty="0" smtClean="0"/>
              <a:t>MOV BL</a:t>
            </a:r>
            <a:r>
              <a:rPr lang="zh-CN" altLang="zh-CN" sz="2400" dirty="0" smtClean="0"/>
              <a:t>，</a:t>
            </a:r>
            <a:r>
              <a:rPr lang="en-US" altLang="zh-CN" sz="2400" dirty="0" smtClean="0"/>
              <a:t>[SI][DI]</a:t>
            </a:r>
            <a:endParaRPr lang="zh-CN" altLang="zh-CN" sz="2400" dirty="0" smtClean="0"/>
          </a:p>
          <a:p>
            <a:pPr>
              <a:buNone/>
            </a:pPr>
            <a:r>
              <a:rPr lang="zh-CN" altLang="zh-CN" sz="2400" dirty="0" smtClean="0"/>
              <a:t>（</a:t>
            </a:r>
            <a:r>
              <a:rPr lang="en-US" altLang="zh-CN" sz="2400" dirty="0" smtClean="0"/>
              <a:t>2</a:t>
            </a:r>
            <a:r>
              <a:rPr lang="zh-CN" altLang="zh-CN" sz="2400" dirty="0" smtClean="0"/>
              <a:t>）</a:t>
            </a:r>
            <a:r>
              <a:rPr lang="en-US" altLang="zh-CN" sz="2400" dirty="0" smtClean="0"/>
              <a:t>MOV 45H</a:t>
            </a:r>
            <a:r>
              <a:rPr lang="zh-CN" altLang="zh-CN" sz="2400" dirty="0" smtClean="0"/>
              <a:t>，</a:t>
            </a:r>
            <a:r>
              <a:rPr lang="en-US" altLang="zh-CN" sz="2400" dirty="0" smtClean="0"/>
              <a:t>AX</a:t>
            </a:r>
            <a:endParaRPr lang="zh-CN" altLang="zh-CN" sz="2400" dirty="0" smtClean="0"/>
          </a:p>
          <a:p>
            <a:pPr>
              <a:buNone/>
            </a:pPr>
            <a:r>
              <a:rPr lang="zh-CN" altLang="zh-CN" sz="2400" dirty="0" smtClean="0"/>
              <a:t>（</a:t>
            </a:r>
            <a:r>
              <a:rPr lang="en-US" altLang="zh-CN" sz="2400" dirty="0" smtClean="0"/>
              <a:t>3</a:t>
            </a:r>
            <a:r>
              <a:rPr lang="zh-CN" altLang="zh-CN" sz="2400" dirty="0" smtClean="0"/>
              <a:t>）</a:t>
            </a:r>
            <a:r>
              <a:rPr lang="en-US" altLang="zh-CN" sz="2400" dirty="0" smtClean="0"/>
              <a:t>INC  12</a:t>
            </a:r>
            <a:endParaRPr lang="zh-CN" altLang="zh-CN" sz="2400" dirty="0" smtClean="0"/>
          </a:p>
          <a:p>
            <a:pPr>
              <a:buNone/>
            </a:pPr>
            <a:r>
              <a:rPr lang="zh-CN" altLang="zh-CN" sz="2400" dirty="0" smtClean="0"/>
              <a:t>（</a:t>
            </a:r>
            <a:r>
              <a:rPr lang="en-US" altLang="zh-CN" sz="2400" dirty="0" smtClean="0"/>
              <a:t>4</a:t>
            </a:r>
            <a:r>
              <a:rPr lang="zh-CN" altLang="zh-CN" sz="2400" dirty="0" smtClean="0"/>
              <a:t>）</a:t>
            </a:r>
            <a:r>
              <a:rPr lang="en-US" altLang="zh-CN" sz="2400" dirty="0" smtClean="0"/>
              <a:t>MOV [BX]</a:t>
            </a:r>
            <a:r>
              <a:rPr lang="zh-CN" altLang="zh-CN" sz="2400" dirty="0" smtClean="0"/>
              <a:t>，</a:t>
            </a:r>
            <a:r>
              <a:rPr lang="en-US" altLang="zh-CN" sz="2400" dirty="0" smtClean="0"/>
              <a:t>[SI+BP+BUF]</a:t>
            </a:r>
            <a:endParaRPr lang="zh-CN" altLang="zh-CN" sz="2400" dirty="0" smtClean="0"/>
          </a:p>
          <a:p>
            <a:pPr>
              <a:buNone/>
            </a:pPr>
            <a:r>
              <a:rPr lang="zh-CN" altLang="zh-CN" sz="2400" dirty="0" smtClean="0"/>
              <a:t>（</a:t>
            </a:r>
            <a:r>
              <a:rPr lang="en-US" altLang="zh-CN" sz="2400" dirty="0" smtClean="0"/>
              <a:t>5</a:t>
            </a:r>
            <a:r>
              <a:rPr lang="zh-CN" altLang="zh-CN" sz="2400" dirty="0" smtClean="0"/>
              <a:t>）</a:t>
            </a:r>
            <a:r>
              <a:rPr lang="en-US" altLang="zh-CN" sz="2400" dirty="0" smtClean="0"/>
              <a:t>MOV BL</a:t>
            </a:r>
            <a:r>
              <a:rPr lang="zh-CN" altLang="zh-CN" sz="2400" dirty="0" smtClean="0"/>
              <a:t>，</a:t>
            </a:r>
            <a:r>
              <a:rPr lang="en-US" altLang="zh-CN" sz="2400" dirty="0" smtClean="0"/>
              <a:t>AX</a:t>
            </a:r>
            <a:endParaRPr lang="zh-CN" altLang="zh-CN" sz="2400" dirty="0" smtClean="0"/>
          </a:p>
          <a:p>
            <a:pPr>
              <a:buNone/>
            </a:pPr>
            <a:r>
              <a:rPr lang="zh-CN" altLang="zh-CN" sz="2400" dirty="0" smtClean="0"/>
              <a:t>（</a:t>
            </a:r>
            <a:r>
              <a:rPr lang="en-US" altLang="zh-CN" sz="2400" dirty="0" smtClean="0"/>
              <a:t>6</a:t>
            </a:r>
            <a:r>
              <a:rPr lang="zh-CN" altLang="zh-CN" sz="2400" dirty="0" smtClean="0"/>
              <a:t>）</a:t>
            </a:r>
            <a:r>
              <a:rPr lang="en-US" altLang="zh-CN" sz="2400" dirty="0" smtClean="0"/>
              <a:t>MOV CS</a:t>
            </a:r>
            <a:r>
              <a:rPr lang="zh-CN" altLang="zh-CN" sz="2400" dirty="0" smtClean="0"/>
              <a:t>，</a:t>
            </a:r>
            <a:r>
              <a:rPr lang="en-US" altLang="zh-CN" sz="2400" dirty="0" smtClean="0"/>
              <a:t>AX</a:t>
            </a:r>
            <a:endParaRPr lang="zh-CN" altLang="zh-CN" sz="2400" dirty="0" smtClean="0"/>
          </a:p>
          <a:p>
            <a:pPr>
              <a:buNone/>
            </a:pPr>
            <a:r>
              <a:rPr lang="zh-CN" altLang="zh-CN" sz="2400" dirty="0" smtClean="0"/>
              <a:t>（</a:t>
            </a:r>
            <a:r>
              <a:rPr lang="en-US" altLang="zh-CN" sz="2400" dirty="0" smtClean="0"/>
              <a:t>7</a:t>
            </a:r>
            <a:r>
              <a:rPr lang="zh-CN" altLang="zh-CN" sz="2400" dirty="0" smtClean="0"/>
              <a:t>）</a:t>
            </a:r>
            <a:r>
              <a:rPr lang="en-US" altLang="zh-CN" sz="2400" dirty="0" smtClean="0"/>
              <a:t>OUT 240H</a:t>
            </a:r>
            <a:r>
              <a:rPr lang="zh-CN" altLang="zh-CN" sz="2400" dirty="0" smtClean="0"/>
              <a:t>，</a:t>
            </a:r>
            <a:r>
              <a:rPr lang="en-US" altLang="zh-CN" sz="2400" dirty="0" smtClean="0"/>
              <a:t>AL</a:t>
            </a:r>
            <a:endParaRPr lang="zh-CN" altLang="zh-CN" sz="2400" dirty="0" smtClean="0"/>
          </a:p>
          <a:p>
            <a:pPr>
              <a:buNone/>
            </a:pPr>
            <a:r>
              <a:rPr lang="zh-CN" altLang="zh-CN" sz="2400" dirty="0" smtClean="0"/>
              <a:t>（</a:t>
            </a:r>
            <a:r>
              <a:rPr lang="en-US" altLang="zh-CN" sz="2400" dirty="0" smtClean="0"/>
              <a:t>8</a:t>
            </a:r>
            <a:r>
              <a:rPr lang="zh-CN" altLang="zh-CN" sz="2400" dirty="0" smtClean="0"/>
              <a:t>）</a:t>
            </a:r>
            <a:r>
              <a:rPr lang="en-US" altLang="zh-CN" sz="2400" dirty="0" smtClean="0"/>
              <a:t>MOV SS</a:t>
            </a:r>
            <a:r>
              <a:rPr lang="zh-CN" altLang="zh-CN" sz="2400" dirty="0" smtClean="0"/>
              <a:t>，</a:t>
            </a:r>
            <a:r>
              <a:rPr lang="en-US" altLang="zh-CN" sz="2400" dirty="0" smtClean="0"/>
              <a:t>2000H</a:t>
            </a:r>
            <a:endParaRPr lang="zh-CN" altLang="zh-CN" sz="2400" dirty="0" smtClean="0"/>
          </a:p>
          <a:p>
            <a:pPr>
              <a:buNone/>
            </a:pPr>
            <a:r>
              <a:rPr lang="zh-CN" altLang="zh-CN" sz="2400" dirty="0" smtClean="0"/>
              <a:t>（</a:t>
            </a:r>
            <a:r>
              <a:rPr lang="en-US" altLang="zh-CN" sz="2400" dirty="0" smtClean="0"/>
              <a:t>9</a:t>
            </a:r>
            <a:r>
              <a:rPr lang="zh-CN" altLang="zh-CN" sz="2400" dirty="0" smtClean="0"/>
              <a:t>）</a:t>
            </a:r>
            <a:r>
              <a:rPr lang="en-US" altLang="zh-CN" sz="2400" dirty="0" smtClean="0"/>
              <a:t>LEA BX</a:t>
            </a:r>
            <a:r>
              <a:rPr lang="zh-CN" altLang="zh-CN" sz="2400" dirty="0" smtClean="0"/>
              <a:t>，</a:t>
            </a:r>
            <a:r>
              <a:rPr lang="en-US" altLang="zh-CN" sz="2400" dirty="0" smtClean="0"/>
              <a:t>AX</a:t>
            </a:r>
            <a:endParaRPr lang="zh-CN" altLang="zh-CN" sz="2400" dirty="0" smtClean="0"/>
          </a:p>
          <a:p>
            <a:pPr>
              <a:buNone/>
            </a:pPr>
            <a:r>
              <a:rPr lang="zh-CN" altLang="zh-CN" sz="2400" dirty="0" smtClean="0"/>
              <a:t>（</a:t>
            </a:r>
            <a:r>
              <a:rPr lang="en-US" altLang="zh-CN" sz="2400" dirty="0" smtClean="0"/>
              <a:t>10</a:t>
            </a:r>
            <a:r>
              <a:rPr lang="zh-CN" altLang="zh-CN" sz="2400" dirty="0" smtClean="0"/>
              <a:t>）</a:t>
            </a:r>
            <a:r>
              <a:rPr lang="en-US" altLang="zh-CN" sz="2400" dirty="0" smtClean="0"/>
              <a:t>XCHG AL</a:t>
            </a:r>
            <a:r>
              <a:rPr lang="zh-CN" altLang="zh-CN" sz="2400" dirty="0" smtClean="0"/>
              <a:t>，</a:t>
            </a:r>
            <a:r>
              <a:rPr lang="en-US" altLang="zh-CN" sz="2400" dirty="0" smtClean="0"/>
              <a:t>78H</a:t>
            </a:r>
            <a:endParaRPr lang="zh-CN" altLang="zh-CN" sz="2400" dirty="0" smtClean="0"/>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
        <p:nvSpPr>
          <p:cNvPr id="1027" name="Rectangle 3"/>
          <p:cNvSpPr>
            <a:spLocks noChangeArrowheads="1"/>
          </p:cNvSpPr>
          <p:nvPr/>
        </p:nvSpPr>
        <p:spPr bwMode="auto">
          <a:xfrm>
            <a:off x="4726108" y="1189569"/>
            <a:ext cx="4681591" cy="46166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2400"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不允许同时使用变址寄存器</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2" name="Rectangle 3"/>
          <p:cNvSpPr>
            <a:spLocks noChangeArrowheads="1"/>
          </p:cNvSpPr>
          <p:nvPr/>
        </p:nvSpPr>
        <p:spPr bwMode="auto">
          <a:xfrm>
            <a:off x="4734670" y="1598824"/>
            <a:ext cx="4681591" cy="46166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4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目的操作数不能是立即数</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4763782" y="2069723"/>
            <a:ext cx="4681591" cy="461665"/>
          </a:xfrm>
          <a:prstGeom prst="rect">
            <a:avLst/>
          </a:prstGeom>
          <a:noFill/>
          <a:ln w="9525">
            <a:noFill/>
            <a:miter lim="800000"/>
          </a:ln>
          <a:effectLst/>
        </p:spPr>
        <p:txBody>
          <a:bodyPr vert="horz" wrap="square" lIns="91440" tIns="45720" rIns="91440" bIns="45720" numCol="1" anchor="ctr" anchorCtr="0" compatLnSpc="1">
            <a:spAutoFit/>
          </a:bodyPr>
          <a:lstStyle/>
          <a:p>
            <a:pPr lvl="0" fontAlgn="base">
              <a:spcBef>
                <a:spcPct val="0"/>
              </a:spcBef>
              <a:spcAft>
                <a:spcPct val="0"/>
              </a:spcAft>
            </a:pPr>
            <a:r>
              <a:rPr lang="zh-CN" altLang="zh-CN" sz="2400" dirty="0" smtClean="0"/>
              <a:t>操作数不能是立即数</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4" name="Rectangle 3"/>
          <p:cNvSpPr>
            <a:spLocks noChangeArrowheads="1"/>
          </p:cNvSpPr>
          <p:nvPr/>
        </p:nvSpPr>
        <p:spPr bwMode="auto">
          <a:xfrm>
            <a:off x="4792895" y="2478977"/>
            <a:ext cx="4681591" cy="461665"/>
          </a:xfrm>
          <a:prstGeom prst="rect">
            <a:avLst/>
          </a:prstGeom>
          <a:noFill/>
          <a:ln w="9525">
            <a:noFill/>
            <a:miter lim="800000"/>
          </a:ln>
          <a:effectLst/>
        </p:spPr>
        <p:txBody>
          <a:bodyPr vert="horz" wrap="square" lIns="91440" tIns="45720" rIns="91440" bIns="45720" numCol="1" anchor="ctr" anchorCtr="0" compatLnSpc="1">
            <a:spAutoFit/>
          </a:bodyPr>
          <a:lstStyle/>
          <a:p>
            <a:pPr lvl="0" fontAlgn="base">
              <a:spcBef>
                <a:spcPct val="0"/>
              </a:spcBef>
              <a:spcAft>
                <a:spcPct val="0"/>
              </a:spcAft>
            </a:pPr>
            <a:r>
              <a:rPr lang="zh-CN" altLang="zh-CN" sz="2400" dirty="0" smtClean="0"/>
              <a:t>两个操作数不能同是存储单元</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3"/>
          <p:cNvSpPr>
            <a:spLocks noChangeArrowheads="1"/>
          </p:cNvSpPr>
          <p:nvPr/>
        </p:nvSpPr>
        <p:spPr bwMode="auto">
          <a:xfrm>
            <a:off x="4801456" y="2908779"/>
            <a:ext cx="4681591" cy="461665"/>
          </a:xfrm>
          <a:prstGeom prst="rect">
            <a:avLst/>
          </a:prstGeom>
          <a:noFill/>
          <a:ln w="9525">
            <a:noFill/>
            <a:miter lim="800000"/>
          </a:ln>
          <a:effectLst/>
        </p:spPr>
        <p:txBody>
          <a:bodyPr vert="horz" wrap="square" lIns="91440" tIns="45720" rIns="91440" bIns="45720" numCol="1" anchor="ctr" anchorCtr="0" compatLnSpc="1">
            <a:spAutoFit/>
          </a:bodyPr>
          <a:lstStyle/>
          <a:p>
            <a:pPr lvl="0" fontAlgn="base">
              <a:spcBef>
                <a:spcPct val="0"/>
              </a:spcBef>
              <a:spcAft>
                <a:spcPct val="0"/>
              </a:spcAft>
            </a:pPr>
            <a:r>
              <a:rPr lang="zh-CN" altLang="zh-CN" sz="2400" dirty="0" smtClean="0"/>
              <a:t>操作数不匹配</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3"/>
          <p:cNvSpPr>
            <a:spLocks noChangeArrowheads="1"/>
          </p:cNvSpPr>
          <p:nvPr/>
        </p:nvSpPr>
        <p:spPr bwMode="auto">
          <a:xfrm>
            <a:off x="4789473" y="3379677"/>
            <a:ext cx="4681591" cy="461665"/>
          </a:xfrm>
          <a:prstGeom prst="rect">
            <a:avLst/>
          </a:prstGeom>
          <a:noFill/>
          <a:ln w="9525">
            <a:noFill/>
            <a:miter lim="800000"/>
          </a:ln>
          <a:effectLst/>
        </p:spPr>
        <p:txBody>
          <a:bodyPr vert="horz" wrap="square" lIns="91440" tIns="45720" rIns="91440" bIns="45720" numCol="1" anchor="ctr" anchorCtr="0" compatLnSpc="1">
            <a:spAutoFit/>
          </a:bodyPr>
          <a:lstStyle/>
          <a:p>
            <a:pPr lvl="0" fontAlgn="base">
              <a:spcBef>
                <a:spcPct val="0"/>
              </a:spcBef>
              <a:spcAft>
                <a:spcPct val="0"/>
              </a:spcAft>
            </a:pPr>
            <a:r>
              <a:rPr lang="en-US" altLang="zh-CN" sz="2400" dirty="0" smtClean="0"/>
              <a:t>CS</a:t>
            </a:r>
            <a:r>
              <a:rPr lang="zh-CN" altLang="zh-CN" sz="2400" dirty="0" smtClean="0"/>
              <a:t>不能作为目的操作数</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3"/>
          <p:cNvSpPr>
            <a:spLocks noChangeArrowheads="1"/>
          </p:cNvSpPr>
          <p:nvPr/>
        </p:nvSpPr>
        <p:spPr bwMode="auto">
          <a:xfrm>
            <a:off x="4756916" y="3857426"/>
            <a:ext cx="7417942" cy="461665"/>
          </a:xfrm>
          <a:prstGeom prst="rect">
            <a:avLst/>
          </a:prstGeom>
          <a:noFill/>
          <a:ln w="9525">
            <a:noFill/>
            <a:miter lim="800000"/>
          </a:ln>
          <a:effectLst/>
        </p:spPr>
        <p:txBody>
          <a:bodyPr vert="horz" wrap="square" lIns="91440" tIns="45720" rIns="91440" bIns="45720" numCol="1" anchor="ctr" anchorCtr="0" compatLnSpc="1">
            <a:spAutoFit/>
          </a:bodyPr>
          <a:lstStyle/>
          <a:p>
            <a:r>
              <a:rPr lang="zh-CN" altLang="zh-CN" sz="2400" dirty="0" smtClean="0"/>
              <a:t>端口号大于</a:t>
            </a:r>
            <a:r>
              <a:rPr lang="en-US" altLang="zh-CN" sz="2400" dirty="0" smtClean="0"/>
              <a:t>FFH</a:t>
            </a:r>
            <a:r>
              <a:rPr lang="zh-CN" altLang="zh-CN" sz="2400" dirty="0" smtClean="0"/>
              <a:t>时，必须先将端口号放入</a:t>
            </a:r>
            <a:r>
              <a:rPr lang="en-US" altLang="zh-CN" sz="2400" dirty="0" smtClean="0"/>
              <a:t>DX</a:t>
            </a:r>
            <a:r>
              <a:rPr lang="zh-CN" altLang="zh-CN" sz="2400" dirty="0" smtClean="0"/>
              <a:t>寄存器中</a:t>
            </a:r>
            <a:endParaRPr lang="zh-CN" altLang="zh-CN" sz="2400" dirty="0"/>
          </a:p>
        </p:txBody>
      </p:sp>
      <p:sp>
        <p:nvSpPr>
          <p:cNvPr id="18" name="Rectangle 3"/>
          <p:cNvSpPr>
            <a:spLocks noChangeArrowheads="1"/>
          </p:cNvSpPr>
          <p:nvPr/>
        </p:nvSpPr>
        <p:spPr bwMode="auto">
          <a:xfrm>
            <a:off x="4582275" y="4235857"/>
            <a:ext cx="7438490" cy="461665"/>
          </a:xfrm>
          <a:prstGeom prst="rect">
            <a:avLst/>
          </a:prstGeom>
          <a:noFill/>
          <a:ln w="9525">
            <a:noFill/>
            <a:miter lim="800000"/>
          </a:ln>
          <a:effectLst/>
        </p:spPr>
        <p:txBody>
          <a:bodyPr vert="horz" wrap="square" lIns="91440" tIns="45720" rIns="91440" bIns="45720" numCol="1" anchor="ctr" anchorCtr="0" compatLnSpc="1">
            <a:spAutoFit/>
          </a:bodyPr>
          <a:lstStyle/>
          <a:p>
            <a:r>
              <a:rPr lang="zh-CN" altLang="zh-CN" sz="2400" dirty="0" smtClean="0"/>
              <a:t>段寄存器不能用立即数来赋值，可改成</a:t>
            </a:r>
            <a:r>
              <a:rPr lang="en-US" altLang="zh-CN" sz="2400" dirty="0" smtClean="0"/>
              <a:t>MOV </a:t>
            </a:r>
            <a:r>
              <a:rPr lang="zh-CN" altLang="en-US" sz="2400" dirty="0" smtClean="0"/>
              <a:t> </a:t>
            </a:r>
            <a:r>
              <a:rPr lang="en-US" altLang="zh-CN" sz="2400" dirty="0" smtClean="0"/>
              <a:t>SS</a:t>
            </a:r>
            <a:r>
              <a:rPr lang="zh-CN" altLang="zh-CN" sz="2400" dirty="0" smtClean="0"/>
              <a:t>，</a:t>
            </a:r>
            <a:r>
              <a:rPr lang="en-US" altLang="zh-CN" sz="2400" dirty="0" smtClean="0"/>
              <a:t>AX</a:t>
            </a:r>
            <a:endParaRPr lang="zh-CN" altLang="zh-CN" sz="2400" dirty="0"/>
          </a:p>
        </p:txBody>
      </p:sp>
      <p:sp>
        <p:nvSpPr>
          <p:cNvPr id="19" name="Rectangle 3"/>
          <p:cNvSpPr>
            <a:spLocks noChangeArrowheads="1"/>
          </p:cNvSpPr>
          <p:nvPr/>
        </p:nvSpPr>
        <p:spPr bwMode="auto">
          <a:xfrm>
            <a:off x="4161034" y="4717030"/>
            <a:ext cx="7787811" cy="461665"/>
          </a:xfrm>
          <a:prstGeom prst="rect">
            <a:avLst/>
          </a:prstGeom>
          <a:noFill/>
          <a:ln w="9525">
            <a:noFill/>
            <a:miter lim="800000"/>
          </a:ln>
          <a:effectLst/>
        </p:spPr>
        <p:txBody>
          <a:bodyPr vert="horz" wrap="square" lIns="91440" tIns="45720" rIns="91440" bIns="45720" numCol="1" anchor="ctr" anchorCtr="0" compatLnSpc="1">
            <a:spAutoFit/>
          </a:bodyPr>
          <a:lstStyle/>
          <a:p>
            <a:r>
              <a:rPr lang="zh-CN" altLang="zh-CN" sz="2400" dirty="0" smtClean="0"/>
              <a:t>源操作数必须是</a:t>
            </a:r>
            <a:r>
              <a:rPr lang="zh-CN" altLang="en-US" sz="2400" dirty="0" smtClean="0"/>
              <a:t>存储器操作数</a:t>
            </a:r>
            <a:r>
              <a:rPr lang="zh-CN" altLang="zh-CN" sz="2400" dirty="0" smtClean="0"/>
              <a:t>，如</a:t>
            </a:r>
            <a:r>
              <a:rPr lang="en-US" altLang="zh-CN" sz="2400" dirty="0" smtClean="0"/>
              <a:t>LEA BX</a:t>
            </a:r>
            <a:r>
              <a:rPr lang="zh-CN" altLang="zh-CN" sz="2400" dirty="0" smtClean="0"/>
              <a:t>，</a:t>
            </a:r>
            <a:r>
              <a:rPr lang="en-US" altLang="zh-CN" sz="2400" dirty="0" smtClean="0"/>
              <a:t>BUFFER</a:t>
            </a:r>
            <a:endParaRPr lang="zh-CN" altLang="zh-CN" sz="2400" dirty="0"/>
          </a:p>
        </p:txBody>
      </p:sp>
      <p:sp>
        <p:nvSpPr>
          <p:cNvPr id="20" name="Rectangle 3"/>
          <p:cNvSpPr>
            <a:spLocks noChangeArrowheads="1"/>
          </p:cNvSpPr>
          <p:nvPr/>
        </p:nvSpPr>
        <p:spPr bwMode="auto">
          <a:xfrm>
            <a:off x="4830566" y="5167380"/>
            <a:ext cx="7013603" cy="461665"/>
          </a:xfrm>
          <a:prstGeom prst="rect">
            <a:avLst/>
          </a:prstGeom>
          <a:noFill/>
          <a:ln w="9525">
            <a:noFill/>
            <a:miter lim="800000"/>
          </a:ln>
          <a:effectLst/>
        </p:spPr>
        <p:txBody>
          <a:bodyPr vert="horz" wrap="square" lIns="91440" tIns="45720" rIns="91440" bIns="45720" numCol="1" anchor="ctr" anchorCtr="0" compatLnSpc="1">
            <a:spAutoFit/>
          </a:bodyPr>
          <a:lstStyle/>
          <a:p>
            <a:pPr lvl="0" fontAlgn="base">
              <a:spcBef>
                <a:spcPct val="0"/>
              </a:spcBef>
              <a:spcAft>
                <a:spcPct val="0"/>
              </a:spcAft>
            </a:pPr>
            <a:r>
              <a:rPr lang="zh-CN" altLang="zh-CN" sz="2400" dirty="0" smtClean="0"/>
              <a:t>交换指令不能对立即数</a:t>
            </a:r>
            <a:r>
              <a:rPr lang="zh-CN" altLang="zh-CN" sz="2400" dirty="0" smtClean="0"/>
              <a:t>操作</a:t>
            </a:r>
            <a:r>
              <a:rPr lang="en-US" altLang="zh-CN" sz="2400" dirty="0" smtClean="0"/>
              <a:t>,</a:t>
            </a:r>
            <a:r>
              <a:rPr kumimoji="0" lang="zh-CN" sz="24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操作数</a:t>
            </a:r>
            <a:r>
              <a:rPr kumimoji="0" lang="zh-CN" sz="24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不能是立即数</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blinds(horizontal)">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linds(horizontal)">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blinds(horizontal)">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linds(horizontal)">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p:bldP spid="12" grpId="0"/>
      <p:bldP spid="13" grpId="0"/>
      <p:bldP spid="14" grpId="0"/>
      <p:bldP spid="15" grpId="0"/>
      <p:bldP spid="16" grpId="0"/>
      <p:bldP spid="17" grpId="0"/>
      <p:bldP spid="18" grpId="0"/>
      <p:bldP spid="19" grpId="0"/>
      <p:bldP spid="2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串操作类指令概述</a:t>
            </a:r>
            <a:endParaRPr lang="zh-CN" altLang="en-US" dirty="0"/>
          </a:p>
        </p:txBody>
      </p:sp>
      <p:sp>
        <p:nvSpPr>
          <p:cNvPr id="3" name="内容占位符 2"/>
          <p:cNvSpPr>
            <a:spLocks noGrp="1"/>
          </p:cNvSpPr>
          <p:nvPr>
            <p:ph idx="1"/>
          </p:nvPr>
        </p:nvSpPr>
        <p:spPr/>
        <p:txBody>
          <a:bodyPr>
            <a:normAutofit fontScale="92500"/>
          </a:bodyPr>
          <a:lstStyle/>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字符串是指存储器中顺序存放的类型相同的字节或字的序列。</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串操作是指对串中每个元素都执行同样的操作。</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规定一个字符串的长度最长不能超过64K字节。</a:t>
            </a:r>
            <a:endParaRPr lang="zh-CN" altLang="zh-CN" sz="2800" b="0" dirty="0">
              <a:latin typeface="Times New Roman" panose="02020603050405020304" pitchFamily="18" charset="0"/>
              <a:ea typeface="楷体_GB2312" pitchFamily="1" charset="-122"/>
            </a:endParaRPr>
          </a:p>
          <a:p>
            <a:pPr algn="l">
              <a:lnSpc>
                <a:spcPct val="90000"/>
              </a:lnSpc>
              <a:buFont typeface="Wingdings" panose="05000000000000000000" pitchFamily="2" charset="2"/>
              <a:buChar char="Ø"/>
            </a:pPr>
            <a:r>
              <a:rPr lang="zh-CN" altLang="zh-CN" sz="2800" b="0" dirty="0">
                <a:solidFill>
                  <a:schemeClr val="hlink"/>
                </a:solidFill>
                <a:latin typeface="Times New Roman" panose="02020603050405020304" pitchFamily="18" charset="0"/>
                <a:ea typeface="楷体_GB2312" pitchFamily="1" charset="-122"/>
              </a:rPr>
              <a:t>源串存放在数据段，用SI提供源串的偏移地址。</a:t>
            </a:r>
            <a:endParaRPr lang="zh-CN" altLang="zh-CN" sz="2800" b="0" dirty="0">
              <a:solidFill>
                <a:schemeClr val="hlink"/>
              </a:solidFill>
              <a:latin typeface="Times New Roman" panose="02020603050405020304" pitchFamily="18" charset="0"/>
              <a:ea typeface="楷体_GB2312" pitchFamily="1" charset="-122"/>
            </a:endParaRPr>
          </a:p>
          <a:p>
            <a:pPr algn="l">
              <a:lnSpc>
                <a:spcPct val="90000"/>
              </a:lnSpc>
              <a:buFont typeface="Wingdings" panose="05000000000000000000" pitchFamily="2" charset="2"/>
              <a:buNone/>
            </a:pPr>
            <a:r>
              <a:rPr lang="zh-CN" altLang="zh-CN" sz="2800" b="0" dirty="0">
                <a:solidFill>
                  <a:schemeClr val="hlink"/>
                </a:solidFill>
                <a:latin typeface="Times New Roman" panose="02020603050405020304" pitchFamily="18" charset="0"/>
                <a:ea typeface="楷体_GB2312" pitchFamily="1" charset="-122"/>
              </a:rPr>
              <a:t>    目的串存放在附加段，用DI提供目的串的偏移地址。</a:t>
            </a:r>
            <a:endParaRPr lang="zh-CN" altLang="zh-CN" sz="2800" b="0" dirty="0">
              <a:solidFill>
                <a:schemeClr val="hlink"/>
              </a:solidFill>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当方向标志DF=0：地址指针SI、DI自动加1(字节串)或2(字串) </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当方向标志DF=1：地址指针SI、DI自动减1(字节串)或2(字串)</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串操作指令前不加重复前缀，串操作只执行一次。</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如重复执行串操作，可以用CX存放重复的次数，每重复执行一次，CX内容减1。当CX内容减为0时，串操作停止。</a:t>
            </a:r>
            <a:endParaRPr lang="zh-CN" altLang="zh-CN" sz="2800" dirty="0"/>
          </a:p>
          <a:p>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重复指令前缀 </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None/>
            </a:pPr>
            <a:r>
              <a:rPr lang="zh-CN" altLang="en-US" b="0" dirty="0"/>
              <a:t>重复前缀是写在串操作指令前，用于说明串操作的反复执行。</a:t>
            </a:r>
            <a:endParaRPr lang="en-US" altLang="zh-CN" b="0" dirty="0"/>
          </a:p>
          <a:p>
            <a:pPr>
              <a:buFont typeface="Wingdings" panose="05000000000000000000" pitchFamily="2" charset="2"/>
              <a:buNone/>
            </a:pPr>
            <a:r>
              <a:rPr lang="zh-CN" altLang="en-US" b="0" dirty="0"/>
              <a:t>包括：</a:t>
            </a:r>
            <a:endParaRPr lang="zh-CN" altLang="en-US" b="0" dirty="0"/>
          </a:p>
          <a:p>
            <a:pPr lvl="1"/>
            <a:r>
              <a:rPr lang="zh-CN" altLang="en-US" sz="2800" b="0" dirty="0">
                <a:latin typeface="+mn-ea"/>
              </a:rPr>
              <a:t>无条件重复前缀</a:t>
            </a:r>
            <a:r>
              <a:rPr lang="zh-CN" altLang="en-US" sz="2800" b="0" dirty="0" smtClean="0">
                <a:latin typeface="+mn-ea"/>
              </a:rPr>
              <a:t>REP</a:t>
            </a:r>
            <a:r>
              <a:rPr lang="en-US" altLang="zh-CN" sz="2800" b="0" dirty="0" smtClean="0">
                <a:latin typeface="+mn-ea"/>
              </a:rPr>
              <a:t>(repeat)</a:t>
            </a:r>
            <a:endParaRPr lang="zh-CN" altLang="en-US" sz="2800" b="0" dirty="0">
              <a:latin typeface="+mn-ea"/>
            </a:endParaRPr>
          </a:p>
          <a:p>
            <a:pPr lvl="1"/>
            <a:r>
              <a:rPr lang="zh-CN" altLang="en-US" sz="2800" b="0" dirty="0">
                <a:latin typeface="+mn-ea"/>
              </a:rPr>
              <a:t>相等/为零重复前缀</a:t>
            </a:r>
            <a:r>
              <a:rPr lang="zh-CN" altLang="en-US" sz="2800" b="0" dirty="0" smtClean="0">
                <a:latin typeface="+mn-ea"/>
              </a:rPr>
              <a:t>REPE</a:t>
            </a:r>
            <a:r>
              <a:rPr lang="en-US" altLang="zh-CN" sz="2800" b="0" dirty="0" smtClean="0">
                <a:latin typeface="+mn-ea"/>
              </a:rPr>
              <a:t>(repeat when </a:t>
            </a:r>
            <a:r>
              <a:rPr lang="en-US" altLang="zh-CN" sz="2800" b="0" dirty="0" err="1" smtClean="0">
                <a:latin typeface="+mn-ea"/>
              </a:rPr>
              <a:t>eqal</a:t>
            </a:r>
            <a:r>
              <a:rPr lang="en-US" altLang="zh-CN" sz="2800" b="0" dirty="0" smtClean="0">
                <a:latin typeface="+mn-ea"/>
              </a:rPr>
              <a:t>)</a:t>
            </a:r>
            <a:r>
              <a:rPr lang="zh-CN" altLang="en-US" sz="2800" b="0" dirty="0" smtClean="0">
                <a:latin typeface="+mn-ea"/>
              </a:rPr>
              <a:t>/REPZ</a:t>
            </a:r>
            <a:r>
              <a:rPr lang="en-US" altLang="zh-CN" sz="2800" b="0" dirty="0" smtClean="0">
                <a:latin typeface="+mn-ea"/>
              </a:rPr>
              <a:t>(repeat when zero flag)</a:t>
            </a:r>
            <a:endParaRPr lang="zh-CN" altLang="en-US" sz="2800" b="0" dirty="0">
              <a:latin typeface="+mn-ea"/>
            </a:endParaRPr>
          </a:p>
          <a:p>
            <a:pPr lvl="1"/>
            <a:r>
              <a:rPr lang="zh-CN" altLang="en-US" sz="2800" b="0" dirty="0">
                <a:latin typeface="+mn-ea"/>
              </a:rPr>
              <a:t>不相等/不为零重复前缀</a:t>
            </a:r>
            <a:r>
              <a:rPr lang="zh-CN" altLang="en-US" sz="2800" b="0" dirty="0" smtClean="0">
                <a:latin typeface="+mn-ea"/>
              </a:rPr>
              <a:t>REPNE</a:t>
            </a:r>
            <a:r>
              <a:rPr lang="en-US" altLang="zh-CN" sz="2800" b="0" dirty="0" smtClean="0">
                <a:latin typeface="+mn-ea"/>
              </a:rPr>
              <a:t>(repeat when not </a:t>
            </a:r>
            <a:r>
              <a:rPr lang="en-US" altLang="zh-CN" sz="2800" b="0" dirty="0" err="1" smtClean="0">
                <a:latin typeface="+mn-ea"/>
              </a:rPr>
              <a:t>eaqal</a:t>
            </a:r>
            <a:r>
              <a:rPr lang="en-US" altLang="zh-CN" sz="2800" b="0" dirty="0" smtClean="0">
                <a:latin typeface="+mn-ea"/>
              </a:rPr>
              <a:t>)</a:t>
            </a:r>
            <a:r>
              <a:rPr lang="zh-CN" altLang="en-US" sz="2800" b="0" dirty="0" smtClean="0">
                <a:latin typeface="+mn-ea"/>
              </a:rPr>
              <a:t>/</a:t>
            </a:r>
            <a:r>
              <a:rPr lang="zh-CN" altLang="en-US" sz="2800" b="0" dirty="0">
                <a:latin typeface="+mn-ea"/>
              </a:rPr>
              <a:t>REPNZ</a:t>
            </a:r>
            <a:endParaRPr lang="zh-CN" altLang="en-US" sz="2800" b="0" dirty="0">
              <a:latin typeface="+mn-ea"/>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无条件重复前缀</a:t>
            </a:r>
            <a:r>
              <a:rPr lang="en-US" altLang="zh-CN" dirty="0"/>
              <a:t>REP</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格式：REP</a:t>
            </a:r>
            <a:endParaRPr lang="zh-CN" altLang="zh-CN" sz="2800"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功能：用于一个串操作指令的前缀，每重复执行一次串操作指令，CX的内容减1，直到(CX)=0 为止。</a:t>
            </a:r>
            <a:endParaRPr lang="zh-CN" altLang="zh-CN" sz="2800"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执行步骤如下：</a:t>
            </a:r>
            <a:endParaRPr lang="zh-CN" altLang="zh-CN" sz="2800"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sz="2800" b="0" dirty="0">
                <a:latin typeface="Times New Roman" panose="02020603050405020304" pitchFamily="18" charset="0"/>
                <a:ea typeface="楷体_GB2312" pitchFamily="1" charset="-122"/>
              </a:rPr>
              <a:t>①先判断CX的内容，如(CX)=0，则串操作停止，否则执行第②步； </a:t>
            </a:r>
            <a:endParaRPr lang="zh-CN" altLang="zh-CN" sz="2800"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sz="2800" b="0" dirty="0">
                <a:latin typeface="Times New Roman" panose="02020603050405020304" pitchFamily="18" charset="0"/>
                <a:ea typeface="楷体_GB2312" pitchFamily="1" charset="-122"/>
              </a:rPr>
              <a:t>②(CX)-1→CX ；</a:t>
            </a:r>
            <a:endParaRPr lang="zh-CN" altLang="zh-CN" sz="2800"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sz="2800" b="0" dirty="0">
                <a:latin typeface="Times New Roman" panose="02020603050405020304" pitchFamily="18" charset="0"/>
                <a:ea typeface="楷体_GB2312" pitchFamily="1" charset="-122"/>
              </a:rPr>
              <a:t>③执行其后的串操作指令，转第①步。 </a:t>
            </a:r>
            <a:endParaRPr lang="zh-CN" altLang="zh-CN" sz="28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相等</a:t>
            </a:r>
            <a:r>
              <a:rPr lang="en-US" altLang="zh-CN" dirty="0"/>
              <a:t>/</a:t>
            </a:r>
            <a:r>
              <a:rPr lang="zh-CN" altLang="en-US" dirty="0"/>
              <a:t>为零重复前缀</a:t>
            </a:r>
            <a:r>
              <a:rPr lang="en-US" altLang="zh-CN" dirty="0"/>
              <a:t>REPE/REPZ</a:t>
            </a:r>
            <a:endParaRPr lang="zh-CN" altLang="en-US" dirty="0"/>
          </a:p>
        </p:txBody>
      </p:sp>
      <p:sp>
        <p:nvSpPr>
          <p:cNvPr id="3" name="内容占位符 2"/>
          <p:cNvSpPr>
            <a:spLocks noGrp="1"/>
          </p:cNvSpPr>
          <p:nvPr>
            <p:ph idx="1"/>
          </p:nvPr>
        </p:nvSpPr>
        <p:spPr>
          <a:xfrm>
            <a:off x="838200" y="1825625"/>
            <a:ext cx="10957560" cy="4351338"/>
          </a:xfrm>
        </p:spPr>
        <p:txBody>
          <a:bodyPr>
            <a:normAutofit/>
          </a:bodyPr>
          <a:lstStyle/>
          <a:p>
            <a:pPr>
              <a:lnSpc>
                <a:spcPct val="110000"/>
              </a:lnSpc>
              <a:buFont typeface="Wingdings" panose="05000000000000000000" pitchFamily="2" charset="2"/>
              <a:buChar char="Ø"/>
            </a:pPr>
            <a:r>
              <a:rPr lang="zh-CN" altLang="zh-CN" sz="2800" b="0" dirty="0"/>
              <a:t>格式：REPE/REPZ</a:t>
            </a:r>
            <a:endParaRPr lang="zh-CN" altLang="zh-CN" sz="2800" b="0" dirty="0"/>
          </a:p>
          <a:p>
            <a:pPr>
              <a:lnSpc>
                <a:spcPct val="110000"/>
              </a:lnSpc>
              <a:buFont typeface="Wingdings" panose="05000000000000000000" pitchFamily="2" charset="2"/>
              <a:buChar char="Ø"/>
            </a:pPr>
            <a:r>
              <a:rPr lang="zh-CN" altLang="zh-CN" sz="2800" b="0" dirty="0"/>
              <a:t>功能：用于一个串操作指令的前缀，每重复执行一次串操作指令，CX的内容减1，直到(CX)=0 或ZF=0为止。</a:t>
            </a:r>
            <a:endParaRPr lang="zh-CN" altLang="zh-CN" sz="2800" b="0" dirty="0"/>
          </a:p>
          <a:p>
            <a:pPr>
              <a:lnSpc>
                <a:spcPct val="110000"/>
              </a:lnSpc>
              <a:buFont typeface="Wingdings" panose="05000000000000000000" pitchFamily="2" charset="2"/>
              <a:buChar char="Ø"/>
            </a:pPr>
            <a:r>
              <a:rPr lang="zh-CN" altLang="zh-CN" sz="2800" b="0" dirty="0"/>
              <a:t>执行步骤如下：</a:t>
            </a:r>
            <a:endParaRPr lang="zh-CN" altLang="zh-CN" sz="2800" b="0" dirty="0"/>
          </a:p>
          <a:p>
            <a:pPr>
              <a:lnSpc>
                <a:spcPct val="110000"/>
              </a:lnSpc>
              <a:buFont typeface="Wingdings" panose="05000000000000000000" pitchFamily="2" charset="2"/>
              <a:buNone/>
            </a:pPr>
            <a:r>
              <a:rPr lang="zh-CN" altLang="zh-CN" sz="2800" b="0" dirty="0"/>
              <a:t>①先判断CX的内容，如(CX)=0或ZF=0，则串操作停止，否则执行第②步； </a:t>
            </a:r>
            <a:endParaRPr lang="zh-CN" altLang="zh-CN" sz="2800" b="0" dirty="0"/>
          </a:p>
          <a:p>
            <a:pPr>
              <a:lnSpc>
                <a:spcPct val="110000"/>
              </a:lnSpc>
              <a:buFont typeface="Wingdings" panose="05000000000000000000" pitchFamily="2" charset="2"/>
              <a:buNone/>
            </a:pPr>
            <a:r>
              <a:rPr lang="zh-CN" altLang="zh-CN" sz="2800" b="0" dirty="0"/>
              <a:t>②(CX)-1→CX ；</a:t>
            </a:r>
            <a:endParaRPr lang="zh-CN" altLang="zh-CN" sz="2800" b="0" dirty="0"/>
          </a:p>
          <a:p>
            <a:pPr>
              <a:lnSpc>
                <a:spcPct val="110000"/>
              </a:lnSpc>
              <a:buFont typeface="Wingdings" panose="05000000000000000000" pitchFamily="2" charset="2"/>
              <a:buNone/>
            </a:pPr>
            <a:r>
              <a:rPr lang="zh-CN" altLang="zh-CN" sz="2800" b="0" dirty="0"/>
              <a:t>③执行其后的串操作指令，转第①步。 </a:t>
            </a:r>
            <a:endParaRPr lang="zh-CN" altLang="zh-CN" sz="2800" b="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不相等</a:t>
            </a:r>
            <a:r>
              <a:rPr lang="en-US" altLang="zh-CN" dirty="0"/>
              <a:t>/</a:t>
            </a:r>
            <a:r>
              <a:rPr lang="zh-CN" altLang="en-US" dirty="0"/>
              <a:t>不为零重复前缀</a:t>
            </a:r>
            <a:r>
              <a:rPr lang="en-US" altLang="zh-CN" dirty="0"/>
              <a:t>REPNE/REPNZ</a:t>
            </a:r>
            <a:endParaRPr lang="zh-CN" altLang="en-US" dirty="0"/>
          </a:p>
        </p:txBody>
      </p:sp>
      <p:sp>
        <p:nvSpPr>
          <p:cNvPr id="3" name="内容占位符 2"/>
          <p:cNvSpPr>
            <a:spLocks noGrp="1"/>
          </p:cNvSpPr>
          <p:nvPr>
            <p:ph idx="1"/>
          </p:nvPr>
        </p:nvSpPr>
        <p:spPr>
          <a:xfrm>
            <a:off x="838199" y="1825625"/>
            <a:ext cx="10853058" cy="4351338"/>
          </a:xfrm>
        </p:spPr>
        <p:txBody>
          <a:bodyPr>
            <a:normAutofit/>
          </a:bodyPr>
          <a:lstStyle/>
          <a:p>
            <a:pPr>
              <a:lnSpc>
                <a:spcPct val="110000"/>
              </a:lnSpc>
              <a:buFont typeface="Wingdings" panose="05000000000000000000" pitchFamily="2" charset="2"/>
              <a:buChar char="Ø"/>
            </a:pPr>
            <a:r>
              <a:rPr lang="zh-CN" altLang="zh-CN" sz="2800" b="0" dirty="0"/>
              <a:t>格式：REPNE/REPNZ</a:t>
            </a:r>
            <a:endParaRPr lang="zh-CN" altLang="zh-CN" sz="2800" b="0" dirty="0"/>
          </a:p>
          <a:p>
            <a:pPr>
              <a:lnSpc>
                <a:spcPct val="110000"/>
              </a:lnSpc>
              <a:buFont typeface="Wingdings" panose="05000000000000000000" pitchFamily="2" charset="2"/>
              <a:buChar char="Ø"/>
            </a:pPr>
            <a:r>
              <a:rPr lang="zh-CN" altLang="zh-CN" sz="2800" b="0" dirty="0"/>
              <a:t>功能：用于一个串操作指令的前缀，每重复执行一次串操作指令，CX的内容减1，直到(CX)=0 或ZF=1为止。</a:t>
            </a:r>
            <a:endParaRPr lang="zh-CN" altLang="zh-CN" sz="2800" b="0" dirty="0"/>
          </a:p>
          <a:p>
            <a:pPr>
              <a:lnSpc>
                <a:spcPct val="110000"/>
              </a:lnSpc>
              <a:buFont typeface="Wingdings" panose="05000000000000000000" pitchFamily="2" charset="2"/>
              <a:buChar char="Ø"/>
            </a:pPr>
            <a:r>
              <a:rPr lang="zh-CN" altLang="zh-CN" sz="2800" b="0" dirty="0"/>
              <a:t>执行步骤如下：</a:t>
            </a:r>
            <a:endParaRPr lang="zh-CN" altLang="zh-CN" sz="2800" b="0" dirty="0"/>
          </a:p>
          <a:p>
            <a:pPr>
              <a:lnSpc>
                <a:spcPct val="110000"/>
              </a:lnSpc>
              <a:buFont typeface="Wingdings" panose="05000000000000000000" pitchFamily="2" charset="2"/>
              <a:buNone/>
            </a:pPr>
            <a:r>
              <a:rPr lang="zh-CN" altLang="zh-CN" sz="2800" b="0" dirty="0"/>
              <a:t>①先判断CX的内容，如(CX)=0或ZF=1，则串操作停止，否则执行第②步； </a:t>
            </a:r>
            <a:endParaRPr lang="zh-CN" altLang="zh-CN" sz="2800" b="0" dirty="0"/>
          </a:p>
          <a:p>
            <a:pPr>
              <a:lnSpc>
                <a:spcPct val="110000"/>
              </a:lnSpc>
              <a:buFont typeface="Wingdings" panose="05000000000000000000" pitchFamily="2" charset="2"/>
              <a:buNone/>
            </a:pPr>
            <a:r>
              <a:rPr lang="zh-CN" altLang="zh-CN" sz="2800" b="0" dirty="0"/>
              <a:t>②(CX)-1→CX ；</a:t>
            </a:r>
            <a:endParaRPr lang="zh-CN" altLang="zh-CN" sz="2800" b="0" dirty="0"/>
          </a:p>
          <a:p>
            <a:pPr>
              <a:lnSpc>
                <a:spcPct val="110000"/>
              </a:lnSpc>
              <a:buFont typeface="Wingdings" panose="05000000000000000000" pitchFamily="2" charset="2"/>
              <a:buNone/>
            </a:pPr>
            <a:r>
              <a:rPr lang="zh-CN" altLang="zh-CN" sz="2800" b="0" dirty="0"/>
              <a:t>③执行其后的串操作指令，转第①步。 </a:t>
            </a:r>
            <a:endParaRPr lang="zh-CN" altLang="zh-CN" sz="2800" b="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字串传送指令 </a:t>
            </a:r>
            <a:endParaRPr lang="zh-CN" altLang="en-US" dirty="0"/>
          </a:p>
        </p:txBody>
      </p:sp>
      <p:sp>
        <p:nvSpPr>
          <p:cNvPr id="3" name="内容占位符 2"/>
          <p:cNvSpPr>
            <a:spLocks noGrp="1"/>
          </p:cNvSpPr>
          <p:nvPr>
            <p:ph idx="1"/>
          </p:nvPr>
        </p:nvSpPr>
        <p:spPr/>
        <p:txBody>
          <a:bodyPr>
            <a:normAutofit/>
          </a:bodyPr>
          <a:lstStyle/>
          <a:p>
            <a:pPr>
              <a:lnSpc>
                <a:spcPct val="110000"/>
              </a:lnSpc>
              <a:buFont typeface="Wingdings" panose="05000000000000000000" pitchFamily="2" charset="2"/>
              <a:buChar char="Ø"/>
            </a:pPr>
            <a:r>
              <a:rPr lang="zh-CN" altLang="zh-CN" dirty="0"/>
              <a:t>格式：</a:t>
            </a:r>
            <a:r>
              <a:rPr lang="zh-CN" altLang="zh-CN" dirty="0" smtClean="0"/>
              <a:t>MOVSB</a:t>
            </a:r>
            <a:r>
              <a:rPr lang="en-US" altLang="zh-CN" dirty="0" smtClean="0"/>
              <a:t>(move string byte)</a:t>
            </a:r>
            <a:r>
              <a:rPr lang="zh-CN" altLang="zh-CN" dirty="0" smtClean="0"/>
              <a:t>/MOVSW</a:t>
            </a:r>
            <a:r>
              <a:rPr lang="en-US" altLang="zh-CN" dirty="0" smtClean="0"/>
              <a:t>(move string word)</a:t>
            </a:r>
            <a:endParaRPr lang="zh-CN" altLang="zh-CN" dirty="0"/>
          </a:p>
          <a:p>
            <a:pPr>
              <a:lnSpc>
                <a:spcPct val="110000"/>
              </a:lnSpc>
              <a:buFont typeface="Wingdings" panose="05000000000000000000" pitchFamily="2" charset="2"/>
              <a:buChar char="Ø"/>
            </a:pPr>
            <a:r>
              <a:rPr lang="zh-CN" altLang="zh-CN" b="0" dirty="0"/>
              <a:t>功能：将数据段中由(DS:SI)指向的源串的一个字节(字)传送到附加段由(ES:DI)指向的目的串中，且相应修改地址指针，使其指向下一个字节(字)。</a:t>
            </a:r>
            <a:endParaRPr lang="zh-CN" altLang="zh-CN" b="0" dirty="0"/>
          </a:p>
          <a:p>
            <a:endParaRPr lang="zh-CN" alt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字串传送指令</a:t>
            </a:r>
            <a:endParaRPr lang="zh-CN" altLang="en-US" dirty="0"/>
          </a:p>
        </p:txBody>
      </p:sp>
      <p:sp>
        <p:nvSpPr>
          <p:cNvPr id="3" name="内容占位符 2"/>
          <p:cNvSpPr>
            <a:spLocks noGrp="1"/>
          </p:cNvSpPr>
          <p:nvPr>
            <p:ph idx="1"/>
          </p:nvPr>
        </p:nvSpPr>
        <p:spPr/>
        <p:txBody>
          <a:bodyPr/>
          <a:lstStyle/>
          <a:p>
            <a:r>
              <a:rPr lang="zh-CN" altLang="en-US" dirty="0"/>
              <a:t>例：将内存单元数据段偏移地址</a:t>
            </a:r>
            <a:r>
              <a:rPr lang="en-US" altLang="zh-CN" dirty="0"/>
              <a:t>3100H</a:t>
            </a:r>
            <a:r>
              <a:rPr lang="zh-CN" altLang="en-US" dirty="0"/>
              <a:t>开始的</a:t>
            </a:r>
            <a:r>
              <a:rPr lang="en-US" altLang="zh-CN" dirty="0"/>
              <a:t>100</a:t>
            </a:r>
            <a:r>
              <a:rPr lang="zh-CN" altLang="en-US" dirty="0"/>
              <a:t>个字节传送到附加段偏移地址</a:t>
            </a:r>
            <a:r>
              <a:rPr lang="en-US" altLang="zh-CN" dirty="0"/>
              <a:t>2800H</a:t>
            </a:r>
            <a:r>
              <a:rPr lang="zh-CN" altLang="en-US" dirty="0"/>
              <a:t>开始的内存单元。</a:t>
            </a:r>
            <a:endParaRPr lang="en-US" altLang="zh-CN" dirty="0"/>
          </a:p>
          <a:p>
            <a:pPr>
              <a:lnSpc>
                <a:spcPct val="80000"/>
              </a:lnSpc>
              <a:buFont typeface="Wingdings" panose="05000000000000000000" pitchFamily="2" charset="2"/>
              <a:buNone/>
            </a:pPr>
            <a:r>
              <a:rPr lang="en-US" altLang="zh-CN" sz="2800" b="0" dirty="0">
                <a:latin typeface="Times New Roman" panose="02020603050405020304" pitchFamily="18" charset="0"/>
                <a:ea typeface="楷体_GB2312" pitchFamily="1" charset="-122"/>
              </a:rPr>
              <a:t>               </a:t>
            </a:r>
            <a:r>
              <a:rPr lang="zh-CN" altLang="zh-CN" sz="2800" b="0" dirty="0">
                <a:latin typeface="Times New Roman" panose="02020603050405020304" pitchFamily="18" charset="0"/>
                <a:ea typeface="楷体_GB2312" pitchFamily="1" charset="-122"/>
              </a:rPr>
              <a:t>CLD</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SI，3100H</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DI，2800H</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CX，100</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REP   </a:t>
            </a:r>
            <a:r>
              <a:rPr lang="en-US" altLang="zh-CN" sz="2800" b="0" dirty="0">
                <a:latin typeface="Times New Roman" panose="02020603050405020304" pitchFamily="18" charset="0"/>
                <a:ea typeface="楷体_GB2312" pitchFamily="1" charset="-122"/>
              </a:rPr>
              <a:t>  </a:t>
            </a:r>
            <a:r>
              <a:rPr lang="zh-CN" altLang="zh-CN" sz="2800" b="0" dirty="0">
                <a:latin typeface="Times New Roman" panose="02020603050405020304" pitchFamily="18" charset="0"/>
                <a:ea typeface="楷体_GB2312" pitchFamily="1" charset="-122"/>
              </a:rPr>
              <a:t>MOVSB </a:t>
            </a:r>
            <a:endParaRPr lang="zh-CN" altLang="zh-CN" sz="2800" b="0" dirty="0">
              <a:latin typeface="Times New Roman" panose="02020603050405020304" pitchFamily="18" charset="0"/>
              <a:ea typeface="楷体_GB2312" pitchFamily="1" charset="-122"/>
            </a:endParaRPr>
          </a:p>
          <a:p>
            <a:endParaRPr lang="zh-CN" altLang="en-US" dirty="0"/>
          </a:p>
        </p:txBody>
      </p:sp>
      <p:pic>
        <p:nvPicPr>
          <p:cNvPr id="4" name="图片 3"/>
          <p:cNvPicPr>
            <a:picLocks noChangeAspect="1"/>
          </p:cNvPicPr>
          <p:nvPr/>
        </p:nvPicPr>
        <p:blipFill>
          <a:blip r:embed="rId1" cstate="print"/>
          <a:stretch>
            <a:fillRect/>
          </a:stretch>
        </p:blipFill>
        <p:spPr>
          <a:xfrm>
            <a:off x="5776727" y="2965862"/>
            <a:ext cx="4733925" cy="2486025"/>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字串比较指令</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smtClean="0"/>
              <a:t>CMPSB/CMPSW(compare string)</a:t>
            </a:r>
            <a:endParaRPr lang="en-US" altLang="zh-CN" dirty="0"/>
          </a:p>
          <a:p>
            <a:r>
              <a:rPr lang="zh-CN" altLang="en-US" dirty="0"/>
              <a:t>功能：将数据段中由</a:t>
            </a:r>
            <a:r>
              <a:rPr lang="en-US" altLang="zh-CN" dirty="0"/>
              <a:t>(DS:SI)</a:t>
            </a:r>
            <a:r>
              <a:rPr lang="zh-CN" altLang="en-US" dirty="0"/>
              <a:t>指向源串的一个字节</a:t>
            </a:r>
            <a:r>
              <a:rPr lang="en-US" altLang="zh-CN" dirty="0"/>
              <a:t>(</a:t>
            </a:r>
            <a:r>
              <a:rPr lang="zh-CN" altLang="en-US" dirty="0"/>
              <a:t>字</a:t>
            </a:r>
            <a:r>
              <a:rPr lang="en-US" altLang="zh-CN" dirty="0"/>
              <a:t>)</a:t>
            </a:r>
            <a:r>
              <a:rPr lang="zh-CN" altLang="en-US" dirty="0"/>
              <a:t>减去附加段由</a:t>
            </a:r>
            <a:r>
              <a:rPr lang="en-US" altLang="zh-CN" dirty="0"/>
              <a:t>(ES:DI)</a:t>
            </a:r>
            <a:r>
              <a:rPr lang="zh-CN" altLang="en-US" dirty="0"/>
              <a:t>指向的目的串的一个字节</a:t>
            </a:r>
            <a:r>
              <a:rPr lang="en-US" altLang="zh-CN" dirty="0"/>
              <a:t>(</a:t>
            </a:r>
            <a:r>
              <a:rPr lang="zh-CN" altLang="en-US" dirty="0"/>
              <a:t>字</a:t>
            </a:r>
            <a:r>
              <a:rPr lang="en-US" altLang="zh-CN" dirty="0"/>
              <a:t>)</a:t>
            </a:r>
            <a:r>
              <a:rPr lang="zh-CN" altLang="en-US" dirty="0"/>
              <a:t>，不回送结果，只根据结果影响标志位，并相应修改地址指针，使其指向下一个字节</a:t>
            </a:r>
            <a:r>
              <a:rPr lang="en-US" altLang="zh-CN" dirty="0"/>
              <a:t>(</a:t>
            </a:r>
            <a:r>
              <a:rPr lang="zh-CN" altLang="en-US" dirty="0"/>
              <a:t>字</a:t>
            </a:r>
            <a:r>
              <a:rPr lang="en-US" altLang="zh-CN" dirty="0"/>
              <a:t>)</a:t>
            </a:r>
            <a:r>
              <a:rPr lang="zh-CN" altLang="en-US" dirty="0"/>
              <a:t>。</a:t>
            </a:r>
            <a:endParaRPr lang="zh-CN" altLang="en-US" dirty="0"/>
          </a:p>
        </p:txBody>
      </p:sp>
      <p:sp>
        <p:nvSpPr>
          <p:cNvPr id="4" name="文本框 3"/>
          <p:cNvSpPr txBox="1"/>
          <p:nvPr/>
        </p:nvSpPr>
        <p:spPr>
          <a:xfrm>
            <a:off x="6343650" y="7286625"/>
            <a:ext cx="4064000" cy="36830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字串比较指令</a:t>
            </a:r>
            <a:endParaRPr lang="zh-CN" altLang="en-US" dirty="0"/>
          </a:p>
        </p:txBody>
      </p:sp>
      <p:sp>
        <p:nvSpPr>
          <p:cNvPr id="3" name="内容占位符 2"/>
          <p:cNvSpPr>
            <a:spLocks noGrp="1"/>
          </p:cNvSpPr>
          <p:nvPr>
            <p:ph idx="1"/>
          </p:nvPr>
        </p:nvSpPr>
        <p:spPr>
          <a:xfrm>
            <a:off x="838200" y="1825625"/>
            <a:ext cx="5418909" cy="4351338"/>
          </a:xfrm>
        </p:spPr>
        <p:txBody>
          <a:bodyPr/>
          <a:lstStyle/>
          <a:p>
            <a:r>
              <a:rPr lang="zh-CN" altLang="en-US" dirty="0"/>
              <a:t>例：检查内存单元数据段</a:t>
            </a:r>
            <a:r>
              <a:rPr lang="en-US" altLang="zh-CN" dirty="0"/>
              <a:t>2200H</a:t>
            </a:r>
            <a:r>
              <a:rPr lang="zh-CN" altLang="en-US" dirty="0"/>
              <a:t>开始的</a:t>
            </a:r>
            <a:r>
              <a:rPr lang="en-US" altLang="zh-CN" dirty="0"/>
              <a:t>50</a:t>
            </a:r>
            <a:r>
              <a:rPr lang="zh-CN" altLang="en-US" dirty="0"/>
              <a:t>个字节与附加段</a:t>
            </a:r>
            <a:r>
              <a:rPr lang="en-US" altLang="zh-CN" dirty="0"/>
              <a:t>3200H</a:t>
            </a:r>
            <a:r>
              <a:rPr lang="zh-CN" altLang="en-US" dirty="0"/>
              <a:t>开始的</a:t>
            </a:r>
            <a:r>
              <a:rPr lang="en-US" altLang="zh-CN" dirty="0"/>
              <a:t>50</a:t>
            </a:r>
            <a:r>
              <a:rPr lang="zh-CN" altLang="en-US" dirty="0"/>
              <a:t>个字节是否对应相等。如相等，则</a:t>
            </a:r>
            <a:r>
              <a:rPr lang="en-US" altLang="zh-CN" dirty="0"/>
              <a:t>BX=0</a:t>
            </a:r>
            <a:r>
              <a:rPr lang="zh-CN" altLang="en-US" dirty="0"/>
              <a:t>；若不相等，</a:t>
            </a:r>
            <a:r>
              <a:rPr lang="en-US" altLang="zh-CN" dirty="0"/>
              <a:t>BX</a:t>
            </a:r>
            <a:r>
              <a:rPr lang="zh-CN" altLang="en-US" dirty="0"/>
              <a:t>指向第一个不相等的字节单元。</a:t>
            </a:r>
            <a:r>
              <a:rPr lang="en-US" altLang="zh-CN" dirty="0"/>
              <a:t>AL</a:t>
            </a:r>
            <a:r>
              <a:rPr lang="zh-CN" altLang="en-US" dirty="0"/>
              <a:t>存放第一个不相等的源串内容。</a:t>
            </a:r>
            <a:endParaRPr lang="zh-CN" altLang="en-US" dirty="0"/>
          </a:p>
        </p:txBody>
      </p:sp>
      <p:sp>
        <p:nvSpPr>
          <p:cNvPr id="4" name="Text Box 4"/>
          <p:cNvSpPr txBox="1">
            <a:spLocks noChangeArrowheads="1"/>
          </p:cNvSpPr>
          <p:nvPr/>
        </p:nvSpPr>
        <p:spPr bwMode="auto">
          <a:xfrm>
            <a:off x="6724968" y="1696267"/>
            <a:ext cx="3787775" cy="4511675"/>
          </a:xfrm>
          <a:prstGeom prst="rect">
            <a:avLst/>
          </a:prstGeom>
          <a:noFill/>
          <a:ln w="38100" cmpd="dbl">
            <a:solidFill>
              <a:schemeClr val="fo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zh-CN" sz="2400" dirty="0">
                <a:latin typeface="Times New Roman" panose="02020603050405020304" pitchFamily="18" charset="0"/>
              </a:rPr>
              <a:t>         CLD</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MOV  SI，2200H</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MOV  DI，3200H</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MOV  CX，50</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REPE  CMPSB</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JZ     LP1</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DEC   SI</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MOV  BX，SI</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MOV  AL，[SI]</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JMP   LP2</a:t>
            </a:r>
            <a:endParaRPr lang="zh-CN" altLang="zh-CN" sz="2400" dirty="0">
              <a:latin typeface="Times New Roman" panose="02020603050405020304" pitchFamily="18" charset="0"/>
            </a:endParaRPr>
          </a:p>
          <a:p>
            <a:r>
              <a:rPr lang="zh-CN" altLang="zh-CN" sz="2400" dirty="0">
                <a:latin typeface="Times New Roman" panose="02020603050405020304" pitchFamily="18" charset="0"/>
              </a:rPr>
              <a:t> LP1:MOV  BX，0</a:t>
            </a:r>
            <a:endParaRPr lang="zh-CN" altLang="zh-CN" sz="2400" dirty="0">
              <a:latin typeface="Times New Roman" panose="02020603050405020304" pitchFamily="18" charset="0"/>
            </a:endParaRPr>
          </a:p>
          <a:p>
            <a:r>
              <a:rPr lang="zh-CN" altLang="zh-CN" sz="2400" b="1" dirty="0">
                <a:latin typeface="Times New Roman" panose="02020603050405020304" pitchFamily="18" charset="0"/>
              </a:rPr>
              <a:t> </a:t>
            </a:r>
            <a:r>
              <a:rPr lang="zh-CN" altLang="zh-CN" sz="2400" dirty="0">
                <a:latin typeface="Times New Roman" panose="02020603050405020304" pitchFamily="18" charset="0"/>
              </a:rPr>
              <a:t>LP2</a:t>
            </a:r>
            <a:r>
              <a:rPr lang="zh-CN" altLang="zh-CN" dirty="0">
                <a:latin typeface="Times New Roman" panose="02020603050405020304" pitchFamily="18" charset="0"/>
              </a:rPr>
              <a:t>: </a:t>
            </a:r>
            <a:endParaRPr lang="zh-CN"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字串检索指令</a:t>
            </a:r>
            <a:endParaRPr lang="zh-CN" altLang="en-US" dirty="0"/>
          </a:p>
        </p:txBody>
      </p:sp>
      <p:sp>
        <p:nvSpPr>
          <p:cNvPr id="3" name="内容占位符 2"/>
          <p:cNvSpPr>
            <a:spLocks noGrp="1"/>
          </p:cNvSpPr>
          <p:nvPr>
            <p:ph idx="1"/>
          </p:nvPr>
        </p:nvSpPr>
        <p:spPr/>
        <p:txBody>
          <a:bodyPr>
            <a:normAutofit/>
          </a:bodyPr>
          <a:lstStyle/>
          <a:p>
            <a:pPr>
              <a:lnSpc>
                <a:spcPct val="100000"/>
              </a:lnSpc>
              <a:buFont typeface="Wingdings" panose="05000000000000000000" pitchFamily="2" charset="2"/>
              <a:buChar char="Ø"/>
            </a:pPr>
            <a:r>
              <a:rPr lang="zh-CN" altLang="zh-CN" dirty="0"/>
              <a:t>格式：SCASB/</a:t>
            </a:r>
            <a:r>
              <a:rPr lang="zh-CN" altLang="zh-CN" dirty="0" smtClean="0"/>
              <a:t>SCASW</a:t>
            </a:r>
            <a:r>
              <a:rPr lang="en-US" altLang="zh-CN" dirty="0" smtClean="0"/>
              <a:t>(scan string)</a:t>
            </a:r>
            <a:endParaRPr lang="zh-CN" altLang="zh-CN" dirty="0"/>
          </a:p>
          <a:p>
            <a:pPr>
              <a:lnSpc>
                <a:spcPct val="100000"/>
              </a:lnSpc>
              <a:buFont typeface="Wingdings" panose="05000000000000000000" pitchFamily="2" charset="2"/>
              <a:buChar char="Ø"/>
            </a:pPr>
            <a:r>
              <a:rPr lang="zh-CN" altLang="zh-CN" b="0" dirty="0"/>
              <a:t>功能：将AL(AX)的内容减去附加段由(ES:DI)指向的目的串的一个字节(字)，不回送结果，只根据结果影响标志位，并相应修改地址指针，使其指向下一个字节(字)。</a:t>
            </a:r>
            <a:endParaRPr lang="zh-CN" altLang="zh-CN" b="0" dirty="0"/>
          </a:p>
          <a:p>
            <a:pPr>
              <a:lnSpc>
                <a:spcPct val="100000"/>
              </a:lnSpc>
              <a:buFont typeface="Wingdings" panose="05000000000000000000" pitchFamily="2" charset="2"/>
              <a:buNone/>
            </a:pPr>
            <a:r>
              <a:rPr lang="zh-CN" altLang="zh-CN" b="0" dirty="0"/>
              <a:t>           </a:t>
            </a:r>
            <a:endParaRPr lang="zh-CN" altLang="zh-CN"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0080"/>
            <a:ext cx="9612086" cy="5831741"/>
          </a:xfrm>
        </p:spPr>
        <p:txBody>
          <a:bodyPr>
            <a:noAutofit/>
          </a:bodyPr>
          <a:lstStyle/>
          <a:p>
            <a:pPr>
              <a:lnSpc>
                <a:spcPct val="100000"/>
              </a:lnSpc>
              <a:buNone/>
            </a:pPr>
            <a:r>
              <a:rPr lang="zh-CN" altLang="zh-CN" b="0" dirty="0"/>
              <a:t>例：在内存附加段首地址为4300H起的100个字节中，查找是否有“*”，如有， 则将偏移地址送BX ，否则BX=0。  </a:t>
            </a:r>
            <a:endParaRPr lang="en-US" altLang="zh-CN" b="0" dirty="0"/>
          </a:p>
          <a:p>
            <a:pPr>
              <a:lnSpc>
                <a:spcPct val="100000"/>
              </a:lnSpc>
              <a:buFont typeface="Wingdings" panose="05000000000000000000" pitchFamily="2" charset="2"/>
              <a:buNone/>
            </a:pPr>
            <a:r>
              <a:rPr lang="en-US" altLang="zh-CN" sz="2400" b="0" dirty="0"/>
              <a:t>           </a:t>
            </a:r>
            <a:r>
              <a:rPr lang="zh-CN" altLang="zh-CN" sz="2400" b="0" dirty="0"/>
              <a:t>CLD</a:t>
            </a:r>
            <a:endParaRPr lang="zh-CN" altLang="zh-CN" sz="2400" b="0" dirty="0"/>
          </a:p>
          <a:p>
            <a:pPr>
              <a:lnSpc>
                <a:spcPct val="100000"/>
              </a:lnSpc>
              <a:buFont typeface="Wingdings" panose="05000000000000000000" pitchFamily="2" charset="2"/>
              <a:buNone/>
            </a:pPr>
            <a:r>
              <a:rPr lang="zh-CN" altLang="zh-CN" sz="2400" b="0" dirty="0"/>
              <a:t>           MOV  DI，4300H</a:t>
            </a:r>
            <a:endParaRPr lang="zh-CN" altLang="zh-CN" sz="2400" b="0" dirty="0"/>
          </a:p>
          <a:p>
            <a:pPr>
              <a:lnSpc>
                <a:spcPct val="100000"/>
              </a:lnSpc>
              <a:buFont typeface="Wingdings" panose="05000000000000000000" pitchFamily="2" charset="2"/>
              <a:buNone/>
            </a:pPr>
            <a:r>
              <a:rPr lang="zh-CN" altLang="zh-CN" sz="2400" b="0" dirty="0"/>
              <a:t>           MOV  AL，</a:t>
            </a:r>
            <a:r>
              <a:rPr lang="zh-CN" altLang="zh-CN" sz="2400" b="0" dirty="0" smtClean="0"/>
              <a:t>‘*’</a:t>
            </a:r>
            <a:endParaRPr lang="en-US" altLang="zh-CN" sz="2400" b="0" dirty="0" smtClean="0"/>
          </a:p>
          <a:p>
            <a:pPr>
              <a:lnSpc>
                <a:spcPct val="100000"/>
              </a:lnSpc>
              <a:buFont typeface="Wingdings" panose="05000000000000000000" pitchFamily="2" charset="2"/>
              <a:buNone/>
            </a:pPr>
            <a:r>
              <a:rPr lang="en-US" altLang="zh-CN" sz="2400" dirty="0" smtClean="0"/>
              <a:t>           MOV CX,100</a:t>
            </a:r>
            <a:endParaRPr lang="zh-CN" altLang="zh-CN" sz="2400" b="0" dirty="0"/>
          </a:p>
          <a:p>
            <a:pPr>
              <a:lnSpc>
                <a:spcPct val="100000"/>
              </a:lnSpc>
              <a:buFont typeface="Wingdings" panose="05000000000000000000" pitchFamily="2" charset="2"/>
              <a:buNone/>
            </a:pPr>
            <a:r>
              <a:rPr lang="zh-CN" altLang="zh-CN" sz="2400" b="0" dirty="0"/>
              <a:t>           REPNZ  SCASB</a:t>
            </a:r>
            <a:endParaRPr lang="zh-CN" altLang="zh-CN" sz="2400" b="0" dirty="0"/>
          </a:p>
          <a:p>
            <a:pPr>
              <a:lnSpc>
                <a:spcPct val="100000"/>
              </a:lnSpc>
              <a:buFont typeface="Wingdings" panose="05000000000000000000" pitchFamily="2" charset="2"/>
              <a:buNone/>
            </a:pPr>
            <a:r>
              <a:rPr lang="zh-CN" altLang="zh-CN" sz="2400" b="0" dirty="0"/>
              <a:t>           JNZ   LP1</a:t>
            </a:r>
            <a:endParaRPr lang="zh-CN" altLang="zh-CN" sz="2400" b="0" dirty="0"/>
          </a:p>
          <a:p>
            <a:pPr>
              <a:lnSpc>
                <a:spcPct val="100000"/>
              </a:lnSpc>
              <a:buFont typeface="Wingdings" panose="05000000000000000000" pitchFamily="2" charset="2"/>
              <a:buNone/>
            </a:pPr>
            <a:r>
              <a:rPr lang="zh-CN" altLang="zh-CN" sz="2400" b="0" dirty="0"/>
              <a:t>           DEC  DI </a:t>
            </a:r>
            <a:endParaRPr lang="zh-CN" altLang="zh-CN" sz="2400" b="0" dirty="0"/>
          </a:p>
          <a:p>
            <a:pPr>
              <a:lnSpc>
                <a:spcPct val="100000"/>
              </a:lnSpc>
              <a:buFont typeface="Wingdings" panose="05000000000000000000" pitchFamily="2" charset="2"/>
              <a:buNone/>
            </a:pPr>
            <a:r>
              <a:rPr lang="zh-CN" altLang="zh-CN" sz="2400" b="0" dirty="0"/>
              <a:t>           MOV  BX，DI  ；找到“*”，偏移地址送BX</a:t>
            </a:r>
            <a:endParaRPr lang="zh-CN" altLang="zh-CN" sz="2400" b="0" dirty="0"/>
          </a:p>
          <a:p>
            <a:pPr>
              <a:lnSpc>
                <a:spcPct val="100000"/>
              </a:lnSpc>
              <a:buFont typeface="Wingdings" panose="05000000000000000000" pitchFamily="2" charset="2"/>
              <a:buNone/>
            </a:pPr>
            <a:r>
              <a:rPr lang="zh-CN" altLang="zh-CN" sz="2400" b="0" dirty="0"/>
              <a:t>           JMP  LP2</a:t>
            </a:r>
            <a:endParaRPr lang="zh-CN" altLang="zh-CN" sz="2400" b="0" dirty="0"/>
          </a:p>
          <a:p>
            <a:pPr>
              <a:lnSpc>
                <a:spcPct val="100000"/>
              </a:lnSpc>
              <a:buFont typeface="Wingdings" panose="05000000000000000000" pitchFamily="2" charset="2"/>
              <a:buNone/>
            </a:pPr>
            <a:r>
              <a:rPr lang="en-US" altLang="zh-CN" sz="2400" b="0" dirty="0"/>
              <a:t>        </a:t>
            </a:r>
            <a:r>
              <a:rPr lang="zh-CN" altLang="zh-CN" sz="2400" b="0" dirty="0"/>
              <a:t>LP1：MOV BX，0     ；未找到</a:t>
            </a:r>
            <a:endParaRPr lang="zh-CN" altLang="zh-CN" sz="2400" b="0" dirty="0"/>
          </a:p>
          <a:p>
            <a:pPr>
              <a:lnSpc>
                <a:spcPct val="100000"/>
              </a:lnSpc>
              <a:buFont typeface="Wingdings" panose="05000000000000000000" pitchFamily="2" charset="2"/>
              <a:buNone/>
            </a:pPr>
            <a:r>
              <a:rPr lang="en-US" altLang="zh-CN" sz="2400" b="0" dirty="0"/>
              <a:t>        </a:t>
            </a:r>
            <a:r>
              <a:rPr lang="zh-CN" altLang="zh-CN" sz="2400" b="0" dirty="0"/>
              <a:t>LP2：</a:t>
            </a:r>
            <a:r>
              <a:rPr lang="zh-CN" altLang="zh-CN" sz="2400" dirty="0"/>
              <a:t> </a:t>
            </a:r>
            <a:endParaRPr lang="zh-CN" altLang="zh-CN" sz="2400"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字串读出指令</a:t>
            </a:r>
            <a:endParaRPr lang="zh-CN" altLang="en-US" dirty="0"/>
          </a:p>
        </p:txBody>
      </p:sp>
      <p:sp>
        <p:nvSpPr>
          <p:cNvPr id="3" name="内容占位符 2"/>
          <p:cNvSpPr>
            <a:spLocks noGrp="1"/>
          </p:cNvSpPr>
          <p:nvPr>
            <p:ph idx="1"/>
          </p:nvPr>
        </p:nvSpPr>
        <p:spPr>
          <a:xfrm>
            <a:off x="609601" y="1719263"/>
            <a:ext cx="9828809" cy="4411662"/>
          </a:xfrm>
        </p:spPr>
        <p:txBody>
          <a:bodyPr/>
          <a:lstStyle/>
          <a:p>
            <a:r>
              <a:rPr lang="zh-CN" altLang="en-US" dirty="0"/>
              <a:t>格式：</a:t>
            </a:r>
            <a:r>
              <a:rPr lang="en-US" altLang="zh-CN" dirty="0" smtClean="0"/>
              <a:t>LODSB/LODSW(load string)</a:t>
            </a:r>
            <a:endParaRPr lang="en-US" altLang="zh-CN" dirty="0"/>
          </a:p>
          <a:p>
            <a:r>
              <a:rPr lang="zh-CN" altLang="en-US" dirty="0"/>
              <a:t>功能：将数据段中由</a:t>
            </a:r>
            <a:r>
              <a:rPr lang="en-US" altLang="zh-CN" dirty="0"/>
              <a:t>(DS:SI)</a:t>
            </a:r>
            <a:r>
              <a:rPr lang="zh-CN" altLang="en-US" dirty="0"/>
              <a:t>指向源串的一个字节</a:t>
            </a:r>
            <a:r>
              <a:rPr lang="en-US" altLang="zh-CN" dirty="0"/>
              <a:t>(</a:t>
            </a:r>
            <a:r>
              <a:rPr lang="zh-CN" altLang="en-US" dirty="0"/>
              <a:t>字</a:t>
            </a:r>
            <a:r>
              <a:rPr lang="en-US" altLang="zh-CN" dirty="0"/>
              <a:t>)</a:t>
            </a:r>
            <a:r>
              <a:rPr lang="zh-CN" altLang="en-US" dirty="0"/>
              <a:t>读出，放入</a:t>
            </a:r>
            <a:r>
              <a:rPr lang="en-US" altLang="zh-CN" dirty="0"/>
              <a:t>AL(AX)</a:t>
            </a:r>
            <a:r>
              <a:rPr lang="zh-CN" altLang="en-US" dirty="0"/>
              <a:t>中，并相应修改地址指针，使其指向下一个字节</a:t>
            </a:r>
            <a:r>
              <a:rPr lang="en-US" altLang="zh-CN" dirty="0"/>
              <a:t>(</a:t>
            </a:r>
            <a:r>
              <a:rPr lang="zh-CN" altLang="en-US" dirty="0"/>
              <a:t>字</a:t>
            </a:r>
            <a:r>
              <a:rPr lang="en-US" altLang="zh-CN" dirty="0"/>
              <a:t>)</a:t>
            </a:r>
            <a:r>
              <a:rPr lang="zh-CN" altLang="en-US" dirty="0"/>
              <a:t>。</a:t>
            </a:r>
            <a:endParaRPr lang="zh-CN" altLang="en-US" dirty="0"/>
          </a:p>
          <a:p>
            <a:r>
              <a:rPr lang="en-US" altLang="zh-CN" dirty="0"/>
              <a:t>LODS</a:t>
            </a:r>
            <a:r>
              <a:rPr lang="zh-CN" altLang="en-US" dirty="0"/>
              <a:t>指令一般不与重复前缀指令连用。</a:t>
            </a:r>
            <a:endParaRPr lang="zh-CN" alt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数据字节串</a:t>
            </a:r>
            <a:r>
              <a:rPr lang="en-US" altLang="zh-CN" dirty="0"/>
              <a:t>/</a:t>
            </a:r>
            <a:r>
              <a:rPr lang="zh-CN" altLang="en-US" dirty="0"/>
              <a:t>字串写入指令</a:t>
            </a:r>
            <a:endParaRPr lang="zh-CN" altLang="en-US" dirty="0"/>
          </a:p>
        </p:txBody>
      </p:sp>
      <p:sp>
        <p:nvSpPr>
          <p:cNvPr id="3" name="内容占位符 2"/>
          <p:cNvSpPr>
            <a:spLocks noGrp="1"/>
          </p:cNvSpPr>
          <p:nvPr>
            <p:ph idx="1"/>
          </p:nvPr>
        </p:nvSpPr>
        <p:spPr>
          <a:xfrm>
            <a:off x="609601" y="1719263"/>
            <a:ext cx="9911937" cy="4411662"/>
          </a:xfrm>
        </p:spPr>
        <p:txBody>
          <a:bodyPr>
            <a:noAutofit/>
          </a:bodyPr>
          <a:lstStyle/>
          <a:p>
            <a:pPr>
              <a:lnSpc>
                <a:spcPct val="100000"/>
              </a:lnSpc>
              <a:buFont typeface="Wingdings" panose="05000000000000000000" pitchFamily="2" charset="2"/>
              <a:buChar char="Ø"/>
            </a:pPr>
            <a:r>
              <a:rPr lang="zh-CN" altLang="en-US" sz="2400" dirty="0"/>
              <a:t>格式：STOSB/</a:t>
            </a:r>
            <a:r>
              <a:rPr lang="zh-CN" altLang="en-US" sz="2400" dirty="0" smtClean="0"/>
              <a:t>STOSW</a:t>
            </a:r>
            <a:r>
              <a:rPr lang="en-US" altLang="zh-CN" sz="2400" dirty="0" smtClean="0"/>
              <a:t>(store string)</a:t>
            </a:r>
            <a:endParaRPr lang="zh-CN" altLang="en-US" sz="2400" dirty="0"/>
          </a:p>
          <a:p>
            <a:pPr>
              <a:lnSpc>
                <a:spcPct val="100000"/>
              </a:lnSpc>
              <a:buFont typeface="Wingdings" panose="05000000000000000000" pitchFamily="2" charset="2"/>
              <a:buChar char="Ø"/>
            </a:pPr>
            <a:r>
              <a:rPr lang="zh-CN" altLang="en-US" sz="2400" b="0" dirty="0"/>
              <a:t>功能：将AL(AX)的内容写入附加段中由(ES:DI)指向的目的串一个字节(字)中，并相应修改地址指针，使其指向下一个字节(字)。</a:t>
            </a:r>
            <a:endParaRPr lang="zh-CN" altLang="en-US" sz="2400" b="0" dirty="0"/>
          </a:p>
          <a:p>
            <a:pPr>
              <a:lnSpc>
                <a:spcPct val="100000"/>
              </a:lnSpc>
              <a:buFont typeface="Wingdings" panose="05000000000000000000" pitchFamily="2" charset="2"/>
              <a:buChar char="Ø"/>
            </a:pPr>
            <a:r>
              <a:rPr lang="zh-CN" altLang="en-US" sz="2400" b="0" dirty="0"/>
              <a:t>例：将内存数据段首地址为1800H起的100个字节清零。</a:t>
            </a:r>
            <a:endParaRPr lang="zh-CN" altLang="en-US" sz="2400" b="0" dirty="0"/>
          </a:p>
          <a:p>
            <a:pPr>
              <a:lnSpc>
                <a:spcPct val="100000"/>
              </a:lnSpc>
              <a:buFont typeface="Wingdings" panose="05000000000000000000" pitchFamily="2" charset="2"/>
              <a:buNone/>
            </a:pPr>
            <a:r>
              <a:rPr lang="zh-CN" altLang="en-US" sz="2400" b="0" dirty="0"/>
              <a:t>　           CLD</a:t>
            </a:r>
            <a:endParaRPr lang="zh-CN" altLang="en-US" sz="2400" b="0" dirty="0"/>
          </a:p>
          <a:p>
            <a:pPr>
              <a:lnSpc>
                <a:spcPct val="100000"/>
              </a:lnSpc>
              <a:buFont typeface="Wingdings" panose="05000000000000000000" pitchFamily="2" charset="2"/>
              <a:buNone/>
            </a:pPr>
            <a:r>
              <a:rPr lang="zh-CN" altLang="en-US" sz="2400" b="0" dirty="0"/>
              <a:t>             MOV DI，1800H</a:t>
            </a:r>
            <a:endParaRPr lang="zh-CN" altLang="en-US" sz="2400" b="0" dirty="0"/>
          </a:p>
          <a:p>
            <a:pPr>
              <a:lnSpc>
                <a:spcPct val="100000"/>
              </a:lnSpc>
              <a:buFont typeface="Wingdings" panose="05000000000000000000" pitchFamily="2" charset="2"/>
              <a:buNone/>
            </a:pPr>
            <a:r>
              <a:rPr lang="zh-CN" altLang="en-US" sz="2400" b="0" dirty="0"/>
              <a:t>             MOV CX，100</a:t>
            </a:r>
            <a:endParaRPr lang="zh-CN" altLang="en-US" sz="2400" b="0" dirty="0"/>
          </a:p>
          <a:p>
            <a:pPr>
              <a:lnSpc>
                <a:spcPct val="100000"/>
              </a:lnSpc>
              <a:buFont typeface="Wingdings" panose="05000000000000000000" pitchFamily="2" charset="2"/>
              <a:buNone/>
            </a:pPr>
            <a:r>
              <a:rPr lang="zh-CN" altLang="en-US" sz="2400" b="0" dirty="0"/>
              <a:t>             XOR AL，AL </a:t>
            </a:r>
            <a:endParaRPr lang="zh-CN" altLang="en-US" sz="2400" b="0" dirty="0"/>
          </a:p>
          <a:p>
            <a:pPr>
              <a:lnSpc>
                <a:spcPct val="100000"/>
              </a:lnSpc>
              <a:buFont typeface="Wingdings" panose="05000000000000000000" pitchFamily="2" charset="2"/>
              <a:buNone/>
            </a:pPr>
            <a:r>
              <a:rPr lang="zh-CN" altLang="en-US" sz="2400" b="0" dirty="0"/>
              <a:t>             REP  STOSB</a:t>
            </a:r>
            <a:endParaRPr lang="en-US" altLang="zh-CN" sz="2400" b="0" dirty="0"/>
          </a:p>
          <a:p>
            <a:pPr>
              <a:lnSpc>
                <a:spcPct val="100000"/>
              </a:lnSpc>
              <a:buFont typeface="Wingdings" panose="05000000000000000000" pitchFamily="2" charset="2"/>
              <a:buNone/>
            </a:pPr>
            <a:r>
              <a:rPr lang="en-US" altLang="zh-CN" sz="2400" b="0" dirty="0">
                <a:solidFill>
                  <a:srgbClr val="FF0000"/>
                </a:solidFill>
                <a:latin typeface="Times New Roman" panose="02020603050405020304" pitchFamily="18" charset="0"/>
                <a:ea typeface="楷体_GB2312" pitchFamily="1" charset="-122"/>
              </a:rPr>
              <a:t>                              STOS</a:t>
            </a:r>
            <a:r>
              <a:rPr lang="zh-CN" altLang="en-US" sz="2400" b="0" dirty="0">
                <a:solidFill>
                  <a:srgbClr val="FF0000"/>
                </a:solidFill>
                <a:latin typeface="Times New Roman" panose="02020603050405020304" pitchFamily="18" charset="0"/>
                <a:ea typeface="楷体_GB2312" pitchFamily="1" charset="-122"/>
              </a:rPr>
              <a:t>指令与</a:t>
            </a:r>
            <a:r>
              <a:rPr lang="en-US" altLang="zh-CN" sz="2400" b="0" dirty="0">
                <a:solidFill>
                  <a:srgbClr val="FF0000"/>
                </a:solidFill>
                <a:latin typeface="Times New Roman" panose="02020603050405020304" pitchFamily="18" charset="0"/>
                <a:ea typeface="楷体_GB2312" pitchFamily="1" charset="-122"/>
              </a:rPr>
              <a:t>REP</a:t>
            </a:r>
            <a:r>
              <a:rPr lang="zh-CN" altLang="en-US" sz="2400" b="0" dirty="0">
                <a:solidFill>
                  <a:srgbClr val="FF0000"/>
                </a:solidFill>
                <a:latin typeface="Times New Roman" panose="02020603050405020304" pitchFamily="18" charset="0"/>
                <a:ea typeface="楷体_GB2312" pitchFamily="1" charset="-122"/>
              </a:rPr>
              <a:t>重复前缀连用可实现批量写入功能。</a:t>
            </a:r>
            <a:endParaRPr lang="zh-CN" altLang="en-US" sz="2400" b="0" dirty="0">
              <a:solidFill>
                <a:srgbClr val="FF0000"/>
              </a:solidFill>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控制转移类指令</a:t>
            </a:r>
            <a:endParaRPr lang="zh-CN" altLang="en-US" dirty="0"/>
          </a:p>
        </p:txBody>
      </p:sp>
      <p:sp>
        <p:nvSpPr>
          <p:cNvPr id="3" name="内容占位符 2"/>
          <p:cNvSpPr>
            <a:spLocks noGrp="1"/>
          </p:cNvSpPr>
          <p:nvPr>
            <p:ph idx="1"/>
          </p:nvPr>
        </p:nvSpPr>
        <p:spPr/>
        <p:txBody>
          <a:bodyPr/>
          <a:lstStyle/>
          <a:p>
            <a:pPr>
              <a:lnSpc>
                <a:spcPct val="90000"/>
              </a:lnSpc>
              <a:buFont typeface="Wingdings" panose="05000000000000000000" pitchFamily="2" charset="2"/>
              <a:buChar char="Ø"/>
            </a:pPr>
            <a:r>
              <a:rPr lang="zh-CN" altLang="en-US" sz="2800" b="0" dirty="0">
                <a:latin typeface="楷体_GB2312" pitchFamily="1" charset="-122"/>
                <a:ea typeface="楷体_GB2312" pitchFamily="1" charset="-122"/>
              </a:rPr>
              <a:t>控制转移指令用来控制程序的执行流程。</a:t>
            </a:r>
            <a:endParaRPr lang="zh-CN" altLang="en-US" sz="2800" b="0" dirty="0">
              <a:latin typeface="楷体_GB2312" pitchFamily="1" charset="-122"/>
              <a:ea typeface="楷体_GB2312" pitchFamily="1" charset="-122"/>
            </a:endParaRPr>
          </a:p>
          <a:p>
            <a:pPr>
              <a:lnSpc>
                <a:spcPct val="90000"/>
              </a:lnSpc>
              <a:buFont typeface="Wingdings" panose="05000000000000000000" pitchFamily="2" charset="2"/>
              <a:buChar char="Ø"/>
            </a:pPr>
            <a:r>
              <a:rPr lang="zh-CN" altLang="en-US" sz="2800" b="0" dirty="0">
                <a:solidFill>
                  <a:schemeClr val="hlink"/>
                </a:solidFill>
                <a:latin typeface="楷体_GB2312" pitchFamily="1" charset="-122"/>
                <a:ea typeface="楷体_GB2312" pitchFamily="1" charset="-122"/>
              </a:rPr>
              <a:t>程序执行顺序的改变实际上是通过修改代码段寄存器CS和指令指针IP的内容来实现的</a:t>
            </a:r>
            <a:r>
              <a:rPr lang="zh-CN" altLang="en-US" sz="2800" b="0" dirty="0">
                <a:latin typeface="楷体_GB2312" pitchFamily="1" charset="-122"/>
                <a:ea typeface="楷体_GB2312" pitchFamily="1" charset="-122"/>
              </a:rPr>
              <a:t>。</a:t>
            </a:r>
            <a:endParaRPr lang="zh-CN" altLang="en-US" sz="2800" b="0" dirty="0">
              <a:latin typeface="楷体_GB2312" pitchFamily="1" charset="-122"/>
              <a:ea typeface="楷体_GB2312" pitchFamily="1" charset="-122"/>
            </a:endParaRPr>
          </a:p>
          <a:p>
            <a:pPr>
              <a:lnSpc>
                <a:spcPct val="90000"/>
              </a:lnSpc>
              <a:buFont typeface="Wingdings" panose="05000000000000000000" pitchFamily="2" charset="2"/>
              <a:buChar char="Ø"/>
            </a:pPr>
            <a:r>
              <a:rPr lang="zh-CN" altLang="en-US" sz="2800" b="0" dirty="0">
                <a:latin typeface="楷体_GB2312" pitchFamily="1" charset="-122"/>
                <a:ea typeface="楷体_GB2312" pitchFamily="1" charset="-122"/>
              </a:rPr>
              <a:t>包括：</a:t>
            </a:r>
            <a:endParaRPr lang="zh-CN" altLang="en-US" sz="2800"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无条件转移指令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条件转移指令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循环转移指令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子程序调用和返回指令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中断和中断返回指令</a:t>
            </a:r>
            <a:endParaRPr lang="zh-CN" altLang="en-US" b="0" dirty="0">
              <a:latin typeface="楷体_GB2312" pitchFamily="1" charset="-122"/>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无条件转移指令</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en-US" sz="2800" b="0" dirty="0">
                <a:ea typeface="楷体_GB2312" pitchFamily="1" charset="-122"/>
              </a:rPr>
              <a:t>无条件地转移到指令指定的地址去执行从该地址开始的指令。</a:t>
            </a:r>
            <a:endParaRPr lang="zh-CN" altLang="en-US" sz="2800" b="0" dirty="0">
              <a:ea typeface="楷体_GB2312" pitchFamily="1" charset="-122"/>
            </a:endParaRPr>
          </a:p>
          <a:p>
            <a:pPr>
              <a:buFont typeface="Wingdings" panose="05000000000000000000" pitchFamily="2" charset="2"/>
              <a:buChar char="Ø"/>
            </a:pPr>
            <a:r>
              <a:rPr lang="zh-CN" altLang="en-US" sz="2800" b="0" dirty="0">
                <a:ea typeface="楷体_GB2312" pitchFamily="1" charset="-122"/>
              </a:rPr>
              <a:t>包括：</a:t>
            </a:r>
            <a:endParaRPr lang="zh-CN" altLang="en-US" sz="2800" b="0" dirty="0">
              <a:ea typeface="楷体_GB2312" pitchFamily="1" charset="-122"/>
            </a:endParaRPr>
          </a:p>
          <a:p>
            <a:pPr lvl="1"/>
            <a:r>
              <a:rPr lang="zh-CN" altLang="en-US" b="0" dirty="0">
                <a:ea typeface="楷体_GB2312" pitchFamily="1" charset="-122"/>
              </a:rPr>
              <a:t>段内直接短转移</a:t>
            </a:r>
            <a:endParaRPr lang="zh-CN" altLang="en-US" b="0" dirty="0">
              <a:ea typeface="楷体_GB2312" pitchFamily="1" charset="-122"/>
            </a:endParaRPr>
          </a:p>
          <a:p>
            <a:pPr lvl="1"/>
            <a:r>
              <a:rPr lang="zh-CN" altLang="en-US" b="0" dirty="0">
                <a:ea typeface="楷体_GB2312" pitchFamily="1" charset="-122"/>
              </a:rPr>
              <a:t>段内直接转移</a:t>
            </a:r>
            <a:endParaRPr lang="zh-CN" altLang="en-US" b="0" dirty="0">
              <a:ea typeface="楷体_GB2312" pitchFamily="1" charset="-122"/>
            </a:endParaRPr>
          </a:p>
          <a:p>
            <a:pPr lvl="1"/>
            <a:r>
              <a:rPr lang="zh-CN" altLang="en-US" b="0" dirty="0">
                <a:ea typeface="楷体_GB2312" pitchFamily="1" charset="-122"/>
              </a:rPr>
              <a:t>段内间接转移</a:t>
            </a:r>
            <a:endParaRPr lang="zh-CN" altLang="en-US" b="0" dirty="0">
              <a:ea typeface="楷体_GB2312" pitchFamily="1" charset="-122"/>
            </a:endParaRPr>
          </a:p>
          <a:p>
            <a:pPr lvl="1"/>
            <a:r>
              <a:rPr lang="zh-CN" altLang="en-US" b="0" dirty="0">
                <a:ea typeface="楷体_GB2312" pitchFamily="1" charset="-122"/>
              </a:rPr>
              <a:t>段间直接转移</a:t>
            </a:r>
            <a:endParaRPr lang="zh-CN" altLang="en-US" b="0" dirty="0">
              <a:ea typeface="楷体_GB2312" pitchFamily="1" charset="-122"/>
            </a:endParaRPr>
          </a:p>
          <a:p>
            <a:pPr lvl="1"/>
            <a:r>
              <a:rPr lang="zh-CN" altLang="en-US" b="0" dirty="0">
                <a:ea typeface="楷体_GB2312" pitchFamily="1" charset="-122"/>
              </a:rPr>
              <a:t>段间间接转移</a:t>
            </a:r>
            <a:endParaRPr lang="zh-CN" altLang="en-US" b="0" dirty="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段内直接转移</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段内直接短转移</a:t>
            </a:r>
            <a:endParaRPr lang="zh-CN" altLang="en-US" dirty="0"/>
          </a:p>
          <a:p>
            <a:r>
              <a:rPr lang="zh-CN" altLang="en-US" dirty="0"/>
              <a:t>格式：</a:t>
            </a:r>
            <a:r>
              <a:rPr lang="en-US" altLang="zh-CN" dirty="0"/>
              <a:t>JMP</a:t>
            </a:r>
            <a:r>
              <a:rPr lang="zh-CN" altLang="en-US" dirty="0"/>
              <a:t> </a:t>
            </a:r>
            <a:r>
              <a:rPr lang="en-US" altLang="zh-CN" dirty="0"/>
              <a:t>SHORT</a:t>
            </a:r>
            <a:r>
              <a:rPr lang="zh-CN" altLang="en-US" dirty="0"/>
              <a:t>目标标号</a:t>
            </a:r>
            <a:endParaRPr lang="zh-CN" altLang="en-US" dirty="0"/>
          </a:p>
          <a:p>
            <a:r>
              <a:rPr lang="zh-CN" altLang="en-US" dirty="0"/>
              <a:t>目标地址与</a:t>
            </a:r>
            <a:r>
              <a:rPr lang="en-US" altLang="zh-CN" dirty="0"/>
              <a:t>JMP</a:t>
            </a:r>
            <a:r>
              <a:rPr lang="zh-CN" altLang="en-US" dirty="0"/>
              <a:t>指令的下一条指令地址之差在</a:t>
            </a:r>
            <a:r>
              <a:rPr lang="en-US" altLang="zh-CN" dirty="0"/>
              <a:t>-128</a:t>
            </a:r>
            <a:r>
              <a:rPr lang="zh-CN" altLang="en-US" dirty="0"/>
              <a:t>～</a:t>
            </a:r>
            <a:r>
              <a:rPr lang="en-US" altLang="zh-CN" dirty="0"/>
              <a:t>+127</a:t>
            </a:r>
            <a:r>
              <a:rPr lang="zh-CN" altLang="en-US" dirty="0"/>
              <a:t>字节之间。</a:t>
            </a:r>
            <a:endParaRPr lang="zh-CN" altLang="en-US" dirty="0"/>
          </a:p>
          <a:p>
            <a:pPr marL="0" indent="0">
              <a:buNone/>
            </a:pPr>
            <a:r>
              <a:rPr lang="zh-CN" altLang="en-US" dirty="0"/>
              <a:t>段内直接转移</a:t>
            </a:r>
            <a:endParaRPr lang="zh-CN" altLang="en-US" dirty="0"/>
          </a:p>
          <a:p>
            <a:r>
              <a:rPr lang="zh-CN" altLang="en-US" dirty="0"/>
              <a:t>格式：</a:t>
            </a:r>
            <a:r>
              <a:rPr lang="en-US" altLang="zh-CN" dirty="0"/>
              <a:t>JMP</a:t>
            </a:r>
            <a:r>
              <a:rPr lang="zh-CN" altLang="en-US" dirty="0"/>
              <a:t> （</a:t>
            </a:r>
            <a:r>
              <a:rPr lang="en-US" altLang="zh-CN" dirty="0"/>
              <a:t>NEAR</a:t>
            </a:r>
            <a:r>
              <a:rPr lang="zh-CN" altLang="en-US" dirty="0"/>
              <a:t> </a:t>
            </a:r>
            <a:r>
              <a:rPr lang="en-US" altLang="zh-CN" dirty="0"/>
              <a:t>PTR</a:t>
            </a:r>
            <a:r>
              <a:rPr lang="zh-CN" altLang="en-US" dirty="0"/>
              <a:t>） 目标标号</a:t>
            </a:r>
            <a:endParaRPr lang="zh-CN" altLang="en-US" dirty="0"/>
          </a:p>
          <a:p>
            <a:r>
              <a:rPr lang="zh-CN" altLang="en-US" dirty="0"/>
              <a:t>功能：转移的范围扩大到</a:t>
            </a:r>
            <a:r>
              <a:rPr lang="en-US" altLang="zh-CN" dirty="0"/>
              <a:t>-32768</a:t>
            </a:r>
            <a:r>
              <a:rPr lang="zh-CN" altLang="en-US" dirty="0"/>
              <a:t>～</a:t>
            </a:r>
            <a:r>
              <a:rPr lang="en-US" altLang="zh-CN" dirty="0"/>
              <a:t>+32767</a:t>
            </a:r>
            <a:r>
              <a:rPr lang="zh-CN" altLang="en-US" dirty="0"/>
              <a:t>字节之间。</a:t>
            </a:r>
            <a:endParaRPr lang="zh-CN" alt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段内间接转移</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格式：JMP  WORD PTR OPD </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功能：转移到OPD所指定的目标地址去执行程序。</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OPD只能是16位寄存器或两个连续存储的内存字节单元。转移范围为64KB。</a:t>
            </a:r>
            <a:endParaRPr lang="zh-CN" altLang="zh-CN" b="0" dirty="0">
              <a:latin typeface="Times New Roman" panose="02020603050405020304" pitchFamily="18" charset="0"/>
              <a:ea typeface="楷体_GB2312" pitchFamily="1" charset="-122"/>
            </a:endParaRPr>
          </a:p>
          <a:p>
            <a:r>
              <a:rPr lang="zh-CN" altLang="en-US" dirty="0" smtClean="0"/>
              <a:t>例如：</a:t>
            </a:r>
            <a:r>
              <a:rPr lang="en-US" altLang="zh-CN" dirty="0" smtClean="0"/>
              <a:t>JMP DX</a:t>
            </a:r>
            <a:endParaRPr lang="zh-CN" altLang="en-US" dirty="0"/>
          </a:p>
        </p:txBody>
      </p:sp>
      <p:pic>
        <p:nvPicPr>
          <p:cNvPr id="2050" name="Picture 2"/>
          <p:cNvPicPr>
            <a:picLocks noChangeAspect="1" noChangeArrowheads="1"/>
          </p:cNvPicPr>
          <p:nvPr/>
        </p:nvPicPr>
        <p:blipFill>
          <a:blip r:embed="rId1" cstate="print"/>
          <a:srcRect/>
          <a:stretch>
            <a:fillRect/>
          </a:stretch>
        </p:blipFill>
        <p:spPr bwMode="auto">
          <a:xfrm>
            <a:off x="857025" y="4351244"/>
            <a:ext cx="9144000" cy="952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段间直接转移</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格式：JMP  FAR  PTR 目标标号</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功能：将目标标号所在的段基址送CS，将目标标号相对所在段的段内偏移地址送IP。</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可以转移范围为1MB。</a:t>
            </a: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段间间接转移</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格式：JMP  DWORD  PTR  OPD</a:t>
            </a:r>
            <a:endParaRPr lang="zh-CN" altLang="en-US" sz="2800"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功能：目的操作数为双字，将目的操作数的第一个字送IP，将目的操作数的第二个字送CS。</a:t>
            </a:r>
            <a:endParaRPr lang="zh-CN" altLang="en-US" sz="2800" b="0" dirty="0">
              <a:latin typeface="Times New Roman" panose="02020603050405020304" pitchFamily="18" charset="0"/>
              <a:ea typeface="楷体_GB2312" pitchFamily="1" charset="-122"/>
            </a:endParaRPr>
          </a:p>
          <a:p>
            <a:pPr>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可以转移范围为1MB。</a:t>
            </a:r>
            <a:endParaRPr lang="zh-CN" altLang="en-US" sz="28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段间间接转移举例</a:t>
            </a:r>
            <a:endParaRPr lang="zh-CN" altLang="en-US" dirty="0"/>
          </a:p>
        </p:txBody>
      </p:sp>
      <p:sp>
        <p:nvSpPr>
          <p:cNvPr id="3" name="内容占位符 2"/>
          <p:cNvSpPr>
            <a:spLocks noGrp="1"/>
          </p:cNvSpPr>
          <p:nvPr>
            <p:ph idx="1"/>
          </p:nvPr>
        </p:nvSpPr>
        <p:spPr/>
        <p:txBody>
          <a:bodyPr/>
          <a:lstStyle/>
          <a:p>
            <a:pPr>
              <a:lnSpc>
                <a:spcPct val="100000"/>
              </a:lnSpc>
              <a:buFont typeface="Wingdings" panose="05000000000000000000" pitchFamily="2" charset="2"/>
              <a:buChar char="Ø"/>
            </a:pPr>
            <a:r>
              <a:rPr lang="zh-CN" altLang="en-US" sz="2800" b="0" dirty="0"/>
              <a:t>例如：  JMP  DWORD  PTR[BX]</a:t>
            </a:r>
            <a:endParaRPr lang="zh-CN" altLang="en-US" sz="2800" b="0" dirty="0"/>
          </a:p>
          <a:p>
            <a:pPr algn="l">
              <a:lnSpc>
                <a:spcPct val="100000"/>
              </a:lnSpc>
              <a:buFont typeface="Wingdings" panose="05000000000000000000" pitchFamily="2" charset="2"/>
              <a:buNone/>
            </a:pPr>
            <a:r>
              <a:rPr lang="zh-CN" altLang="en-US" sz="2800" b="0" dirty="0"/>
              <a:t>  执行前：(BX) =2000H，(DS)=5000H，(52000H)=0200H，(52002H)=0400H</a:t>
            </a:r>
            <a:endParaRPr lang="en-US" altLang="zh-CN" sz="2800" b="0" dirty="0"/>
          </a:p>
          <a:p>
            <a:pPr algn="l">
              <a:lnSpc>
                <a:spcPct val="100000"/>
              </a:lnSpc>
              <a:buFont typeface="Wingdings" panose="05000000000000000000" pitchFamily="2" charset="2"/>
              <a:buNone/>
            </a:pPr>
            <a:r>
              <a:rPr lang="zh-CN" altLang="en-US" sz="2800" b="0" dirty="0">
                <a:latin typeface="Times New Roman" panose="02020603050405020304" pitchFamily="18" charset="0"/>
                <a:ea typeface="楷体_GB2312" pitchFamily="1" charset="-122"/>
              </a:rPr>
              <a:t>                                                  执行后：(IP) =0200H，</a:t>
            </a:r>
            <a:endParaRPr lang="en-US" altLang="zh-CN" sz="2800" b="0" dirty="0">
              <a:latin typeface="Times New Roman" panose="02020603050405020304" pitchFamily="18" charset="0"/>
              <a:ea typeface="楷体_GB2312" pitchFamily="1" charset="-122"/>
            </a:endParaRPr>
          </a:p>
          <a:p>
            <a:pPr algn="l">
              <a:lnSpc>
                <a:spcPct val="100000"/>
              </a:lnSpc>
              <a:buFont typeface="Wingdings" panose="05000000000000000000" pitchFamily="2" charset="2"/>
              <a:buNone/>
            </a:pPr>
            <a:r>
              <a:rPr lang="en-US" altLang="zh-CN" dirty="0">
                <a:latin typeface="Times New Roman" panose="02020603050405020304" pitchFamily="18" charset="0"/>
                <a:ea typeface="楷体_GB2312" pitchFamily="1" charset="-122"/>
              </a:rPr>
              <a:t>                                                                   </a:t>
            </a:r>
            <a:r>
              <a:rPr lang="zh-CN" altLang="en-US" sz="2800" b="0" dirty="0">
                <a:latin typeface="Times New Roman" panose="02020603050405020304" pitchFamily="18" charset="0"/>
                <a:ea typeface="楷体_GB2312" pitchFamily="1" charset="-122"/>
              </a:rPr>
              <a:t>(CS)=0400H，</a:t>
            </a:r>
            <a:endParaRPr lang="en-US" altLang="zh-CN" sz="2800" b="0" dirty="0">
              <a:latin typeface="Times New Roman" panose="02020603050405020304" pitchFamily="18" charset="0"/>
              <a:ea typeface="楷体_GB2312" pitchFamily="1" charset="-122"/>
            </a:endParaRPr>
          </a:p>
          <a:p>
            <a:pPr algn="l">
              <a:lnSpc>
                <a:spcPct val="100000"/>
              </a:lnSpc>
              <a:buFont typeface="Wingdings" panose="05000000000000000000" pitchFamily="2" charset="2"/>
              <a:buNone/>
            </a:pPr>
            <a:r>
              <a:rPr lang="en-US" altLang="zh-CN" dirty="0">
                <a:latin typeface="Times New Roman" panose="02020603050405020304" pitchFamily="18" charset="0"/>
                <a:ea typeface="楷体_GB2312" pitchFamily="1" charset="-122"/>
              </a:rPr>
              <a:t>                                                  </a:t>
            </a:r>
            <a:r>
              <a:rPr lang="zh-CN" altLang="en-US" sz="2800" b="0" dirty="0">
                <a:latin typeface="Times New Roman" panose="02020603050405020304" pitchFamily="18" charset="0"/>
                <a:ea typeface="楷体_GB2312" pitchFamily="1" charset="-122"/>
              </a:rPr>
              <a:t>CPU转到地址为04200H单元执行程</a:t>
            </a:r>
            <a:endParaRPr lang="en-US" altLang="zh-CN" sz="2800" b="0" dirty="0">
              <a:latin typeface="Times New Roman" panose="02020603050405020304" pitchFamily="18" charset="0"/>
              <a:ea typeface="楷体_GB2312" pitchFamily="1" charset="-122"/>
            </a:endParaRPr>
          </a:p>
          <a:p>
            <a:pPr algn="l">
              <a:lnSpc>
                <a:spcPct val="100000"/>
              </a:lnSpc>
              <a:buFont typeface="Wingdings" panose="05000000000000000000" pitchFamily="2" charset="2"/>
              <a:buNone/>
            </a:pPr>
            <a:r>
              <a:rPr lang="en-US" altLang="zh-CN" dirty="0">
                <a:latin typeface="Times New Roman" panose="02020603050405020304" pitchFamily="18" charset="0"/>
                <a:ea typeface="楷体_GB2312" pitchFamily="1" charset="-122"/>
              </a:rPr>
              <a:t>                                                     </a:t>
            </a:r>
            <a:r>
              <a:rPr lang="zh-CN" altLang="en-US" sz="2800" b="0" dirty="0">
                <a:latin typeface="Times New Roman" panose="02020603050405020304" pitchFamily="18" charset="0"/>
                <a:ea typeface="楷体_GB2312" pitchFamily="1" charset="-122"/>
              </a:rPr>
              <a:t>序。</a:t>
            </a:r>
            <a:endParaRPr lang="zh-CN" altLang="en-US" sz="2800" b="0" dirty="0"/>
          </a:p>
          <a:p>
            <a:endParaRPr lang="zh-CN" altLang="en-US" dirty="0"/>
          </a:p>
        </p:txBody>
      </p:sp>
      <p:pic>
        <p:nvPicPr>
          <p:cNvPr id="5" name="图片 4"/>
          <p:cNvPicPr>
            <a:picLocks noChangeAspect="1"/>
          </p:cNvPicPr>
          <p:nvPr/>
        </p:nvPicPr>
        <p:blipFill>
          <a:blip r:embed="rId1" cstate="print"/>
          <a:stretch>
            <a:fillRect/>
          </a:stretch>
        </p:blipFill>
        <p:spPr>
          <a:xfrm>
            <a:off x="1697003" y="3227119"/>
            <a:ext cx="3455642" cy="3063875"/>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条件转移指令</a:t>
            </a:r>
            <a:endParaRPr lang="zh-CN" altLang="en-US" dirty="0"/>
          </a:p>
        </p:txBody>
      </p:sp>
      <p:sp>
        <p:nvSpPr>
          <p:cNvPr id="3" name="内容占位符 2"/>
          <p:cNvSpPr>
            <a:spLocks noGrp="1"/>
          </p:cNvSpPr>
          <p:nvPr>
            <p:ph idx="1"/>
          </p:nvPr>
        </p:nvSpPr>
        <p:spPr/>
        <p:txBody>
          <a:bodyPr/>
          <a:lstStyle/>
          <a:p>
            <a:pPr>
              <a:lnSpc>
                <a:spcPct val="80000"/>
              </a:lnSpc>
              <a:buFont typeface="Wingdings" panose="05000000000000000000" pitchFamily="2" charset="2"/>
              <a:buChar char="Ø"/>
            </a:pPr>
            <a:r>
              <a:rPr lang="zh-CN" altLang="en-US" b="0" dirty="0">
                <a:latin typeface="楷体_GB2312" pitchFamily="1" charset="-122"/>
                <a:ea typeface="楷体_GB2312" pitchFamily="1" charset="-122"/>
              </a:rPr>
              <a:t>满足条件，则转移，不满足条件则顺序执行。</a:t>
            </a:r>
            <a:endParaRPr lang="zh-CN" altLang="en-US" b="0" dirty="0">
              <a:latin typeface="楷体_GB2312" pitchFamily="1" charset="-122"/>
              <a:ea typeface="楷体_GB2312" pitchFamily="1" charset="-122"/>
            </a:endParaRPr>
          </a:p>
          <a:p>
            <a:pPr>
              <a:lnSpc>
                <a:spcPct val="80000"/>
              </a:lnSpc>
              <a:buFont typeface="Wingdings" panose="05000000000000000000" pitchFamily="2" charset="2"/>
              <a:buChar char="Ø"/>
            </a:pPr>
            <a:r>
              <a:rPr lang="zh-CN" altLang="en-US" b="0" dirty="0">
                <a:solidFill>
                  <a:schemeClr val="hlink"/>
                </a:solidFill>
                <a:latin typeface="楷体_GB2312" pitchFamily="1" charset="-122"/>
                <a:ea typeface="楷体_GB2312" pitchFamily="1" charset="-122"/>
              </a:rPr>
              <a:t>转移范围都只有-128</a:t>
            </a:r>
            <a:r>
              <a:rPr lang="en-US" altLang="zh-CN" b="0" dirty="0">
                <a:solidFill>
                  <a:schemeClr val="hlink"/>
                </a:solidFill>
                <a:latin typeface="Times New Roman" panose="02020603050405020304" pitchFamily="18" charset="0"/>
                <a:ea typeface="楷体_GB2312" pitchFamily="1" charset="-122"/>
              </a:rPr>
              <a:t>~</a:t>
            </a:r>
            <a:r>
              <a:rPr lang="zh-CN" altLang="en-US" b="0" dirty="0">
                <a:solidFill>
                  <a:schemeClr val="hlink"/>
                </a:solidFill>
                <a:latin typeface="楷体_GB2312" pitchFamily="1" charset="-122"/>
                <a:ea typeface="楷体_GB2312" pitchFamily="1" charset="-122"/>
              </a:rPr>
              <a:t>+127个字节</a:t>
            </a:r>
            <a:r>
              <a:rPr lang="zh-CN" altLang="en-US" b="0" dirty="0">
                <a:latin typeface="楷体_GB2312" pitchFamily="1" charset="-122"/>
                <a:ea typeface="楷体_GB2312" pitchFamily="1" charset="-122"/>
              </a:rPr>
              <a:t>。所有条件转移指令对标志位均无影响。</a:t>
            </a:r>
            <a:endParaRPr lang="zh-CN" altLang="en-US" b="0" dirty="0">
              <a:latin typeface="楷体_GB2312" pitchFamily="1" charset="-122"/>
              <a:ea typeface="楷体_GB2312" pitchFamily="1" charset="-122"/>
            </a:endParaRPr>
          </a:p>
          <a:p>
            <a:pPr>
              <a:lnSpc>
                <a:spcPct val="80000"/>
              </a:lnSpc>
              <a:buFont typeface="Wingdings" panose="05000000000000000000" pitchFamily="2" charset="2"/>
              <a:buChar char="Ø"/>
            </a:pPr>
            <a:r>
              <a:rPr lang="zh-CN" altLang="en-US" b="0" dirty="0">
                <a:latin typeface="楷体_GB2312" pitchFamily="1" charset="-122"/>
                <a:ea typeface="楷体_GB2312" pitchFamily="1" charset="-122"/>
              </a:rPr>
              <a:t>包括：</a:t>
            </a:r>
            <a:endParaRPr lang="zh-CN" altLang="en-US" b="0" dirty="0">
              <a:latin typeface="楷体_GB2312" pitchFamily="1" charset="-122"/>
              <a:ea typeface="楷体_GB2312" pitchFamily="1" charset="-122"/>
            </a:endParaRPr>
          </a:p>
          <a:p>
            <a:pPr lvl="1">
              <a:lnSpc>
                <a:spcPct val="80000"/>
              </a:lnSpc>
            </a:pPr>
            <a:r>
              <a:rPr lang="zh-CN" altLang="en-US" sz="2800" b="0" dirty="0">
                <a:latin typeface="楷体_GB2312" pitchFamily="1" charset="-122"/>
                <a:ea typeface="楷体_GB2312" pitchFamily="1" charset="-122"/>
              </a:rPr>
              <a:t>单标志位转移指令</a:t>
            </a:r>
            <a:endParaRPr lang="zh-CN" altLang="en-US" sz="2800" b="0" dirty="0">
              <a:latin typeface="楷体_GB2312" pitchFamily="1" charset="-122"/>
              <a:ea typeface="楷体_GB2312" pitchFamily="1" charset="-122"/>
            </a:endParaRPr>
          </a:p>
          <a:p>
            <a:pPr lvl="1">
              <a:lnSpc>
                <a:spcPct val="80000"/>
              </a:lnSpc>
            </a:pPr>
            <a:r>
              <a:rPr lang="zh-CN" altLang="en-US" sz="2800" b="0" dirty="0">
                <a:latin typeface="楷体_GB2312" pitchFamily="1" charset="-122"/>
                <a:ea typeface="楷体_GB2312" pitchFamily="1" charset="-122"/>
              </a:rPr>
              <a:t>无符号数的条件转移指令</a:t>
            </a:r>
            <a:endParaRPr lang="zh-CN" altLang="en-US" sz="2800" b="0" dirty="0">
              <a:latin typeface="楷体_GB2312" pitchFamily="1" charset="-122"/>
              <a:ea typeface="楷体_GB2312" pitchFamily="1" charset="-122"/>
            </a:endParaRPr>
          </a:p>
          <a:p>
            <a:pPr lvl="1">
              <a:lnSpc>
                <a:spcPct val="80000"/>
              </a:lnSpc>
            </a:pPr>
            <a:r>
              <a:rPr lang="zh-CN" altLang="en-US" sz="2800" b="0" dirty="0">
                <a:latin typeface="楷体_GB2312" pitchFamily="1" charset="-122"/>
                <a:ea typeface="楷体_GB2312" pitchFamily="1" charset="-122"/>
              </a:rPr>
              <a:t>有符号数的条件转移指令</a:t>
            </a:r>
            <a:endParaRPr lang="zh-CN" altLang="en-US" sz="2800" b="0" dirty="0">
              <a:latin typeface="楷体_GB2312" pitchFamily="1" charset="-122"/>
              <a:ea typeface="楷体_GB2312" pitchFamily="1" charset="-122"/>
            </a:endParaRPr>
          </a:p>
          <a:p>
            <a:pPr lvl="1">
              <a:lnSpc>
                <a:spcPct val="80000"/>
              </a:lnSpc>
            </a:pPr>
            <a:r>
              <a:rPr lang="zh-CN" altLang="en-US" sz="2800" b="0" dirty="0">
                <a:latin typeface="楷体_GB2312" pitchFamily="1" charset="-122"/>
                <a:ea typeface="楷体_GB2312" pitchFamily="1" charset="-122"/>
              </a:rPr>
              <a:t>测试CX条件转移指令</a:t>
            </a:r>
            <a:endParaRPr lang="zh-CN" altLang="en-US" sz="2800" b="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单标志位转移指令 </a:t>
            </a:r>
            <a:endParaRPr lang="zh-CN" altLang="en-US" dirty="0"/>
          </a:p>
        </p:txBody>
      </p:sp>
      <p:pic>
        <p:nvPicPr>
          <p:cNvPr id="5" name="内容占位符 4"/>
          <p:cNvPicPr>
            <a:picLocks noGrp="1" noChangeAspect="1"/>
          </p:cNvPicPr>
          <p:nvPr>
            <p:ph idx="1"/>
          </p:nvPr>
        </p:nvPicPr>
        <p:blipFill>
          <a:blip r:embed="rId1" cstate="print"/>
          <a:stretch>
            <a:fillRect/>
          </a:stretch>
        </p:blipFill>
        <p:spPr>
          <a:xfrm>
            <a:off x="1454381" y="2051728"/>
            <a:ext cx="9283237" cy="3891871"/>
          </a:xfr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pic>
        <p:nvPicPr>
          <p:cNvPr id="1026" name="Picture 2"/>
          <p:cNvPicPr>
            <a:picLocks noGrp="1" noChangeAspect="1" noChangeArrowheads="1"/>
          </p:cNvPicPr>
          <p:nvPr>
            <p:ph idx="1"/>
          </p:nvPr>
        </p:nvPicPr>
        <p:blipFill>
          <a:blip r:embed="rId1" cstate="print"/>
          <a:srcRect/>
          <a:stretch>
            <a:fillRect/>
          </a:stretch>
        </p:blipFill>
        <p:spPr bwMode="auto">
          <a:xfrm>
            <a:off x="387658" y="620905"/>
            <a:ext cx="10058400" cy="3146086"/>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无符号数的条件转移指令 </a:t>
            </a:r>
            <a:endParaRPr lang="zh-CN" altLang="en-US" dirty="0"/>
          </a:p>
        </p:txBody>
      </p:sp>
      <p:sp>
        <p:nvSpPr>
          <p:cNvPr id="3" name="内容占位符 2"/>
          <p:cNvSpPr>
            <a:spLocks noGrp="1"/>
          </p:cNvSpPr>
          <p:nvPr>
            <p:ph idx="1"/>
          </p:nvPr>
        </p:nvSpPr>
        <p:spPr>
          <a:xfrm>
            <a:off x="838200" y="1690688"/>
            <a:ext cx="9742714" cy="4351338"/>
          </a:xfrm>
        </p:spPr>
        <p:txBody>
          <a:bodyPr/>
          <a:lstStyle/>
          <a:p>
            <a:r>
              <a:rPr lang="zh-CN" altLang="zh-CN" b="0" dirty="0">
                <a:latin typeface="楷体_GB2312" pitchFamily="1" charset="-122"/>
                <a:ea typeface="楷体_GB2312" pitchFamily="1" charset="-122"/>
              </a:rPr>
              <a:t>该组转移指令用于</a:t>
            </a:r>
            <a:r>
              <a:rPr lang="zh-CN" altLang="zh-CN" b="0" dirty="0">
                <a:solidFill>
                  <a:schemeClr val="hlink"/>
                </a:solidFill>
                <a:latin typeface="楷体_GB2312" pitchFamily="1" charset="-122"/>
                <a:ea typeface="楷体_GB2312" pitchFamily="1" charset="-122"/>
              </a:rPr>
              <a:t>无符号数</a:t>
            </a:r>
            <a:r>
              <a:rPr lang="zh-CN" altLang="zh-CN" b="0" dirty="0">
                <a:latin typeface="楷体_GB2312" pitchFamily="1" charset="-122"/>
                <a:ea typeface="楷体_GB2312" pitchFamily="1" charset="-122"/>
              </a:rPr>
              <a:t>的比较，并根据比较的结果进行转移。 </a:t>
            </a:r>
            <a:r>
              <a:rPr lang="en-US" altLang="zh-CN" b="0" dirty="0" smtClean="0">
                <a:latin typeface="楷体_GB2312" pitchFamily="1" charset="-122"/>
                <a:ea typeface="楷体_GB2312" pitchFamily="1" charset="-122"/>
              </a:rPr>
              <a:t>(above </a:t>
            </a:r>
            <a:r>
              <a:rPr lang="zh-CN" altLang="en-US" b="0" dirty="0" smtClean="0">
                <a:latin typeface="楷体_GB2312" pitchFamily="1" charset="-122"/>
                <a:ea typeface="楷体_GB2312" pitchFamily="1" charset="-122"/>
              </a:rPr>
              <a:t>，</a:t>
            </a:r>
            <a:r>
              <a:rPr lang="en-US" altLang="zh-CN" b="0" dirty="0" smtClean="0">
                <a:latin typeface="楷体_GB2312" pitchFamily="1" charset="-122"/>
                <a:ea typeface="楷体_GB2312" pitchFamily="1" charset="-122"/>
              </a:rPr>
              <a:t>blow and eqal)</a:t>
            </a:r>
            <a:endParaRPr lang="zh-CN" altLang="zh-CN" b="0" dirty="0">
              <a:latin typeface="楷体_GB2312" pitchFamily="1" charset="-122"/>
              <a:ea typeface="楷体_GB2312" pitchFamily="1" charset="-122"/>
            </a:endParaRPr>
          </a:p>
          <a:p>
            <a:endParaRPr lang="zh-CN" altLang="en-US" dirty="0"/>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2965" y="2658156"/>
            <a:ext cx="10008313" cy="1932108"/>
          </a:xfrm>
          <a:prstGeom prst="rect">
            <a:avLst/>
          </a:prstGeom>
        </p:spPr>
      </p:pic>
      <p:pic>
        <p:nvPicPr>
          <p:cNvPr id="2050" name="Picture 2"/>
          <p:cNvPicPr>
            <a:picLocks noChangeAspect="1" noChangeArrowheads="1"/>
          </p:cNvPicPr>
          <p:nvPr/>
        </p:nvPicPr>
        <p:blipFill>
          <a:blip r:embed="rId2" cstate="print"/>
          <a:srcRect/>
          <a:stretch>
            <a:fillRect/>
          </a:stretch>
        </p:blipFill>
        <p:spPr bwMode="auto">
          <a:xfrm>
            <a:off x="958788" y="4580878"/>
            <a:ext cx="8566952" cy="17045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0722" y="142043"/>
            <a:ext cx="10058400" cy="730018"/>
          </a:xfrm>
        </p:spPr>
        <p:txBody>
          <a:bodyPr/>
          <a:lstStyle/>
          <a:p>
            <a:r>
              <a:rPr lang="zh-CN" altLang="en-US" dirty="0"/>
              <a:t>有符号数的条件转移指令</a:t>
            </a:r>
            <a:endParaRPr lang="zh-CN" altLang="en-US" dirty="0"/>
          </a:p>
        </p:txBody>
      </p:sp>
      <p:sp>
        <p:nvSpPr>
          <p:cNvPr id="3" name="内容占位符 2"/>
          <p:cNvSpPr>
            <a:spLocks noGrp="1"/>
          </p:cNvSpPr>
          <p:nvPr>
            <p:ph idx="1"/>
          </p:nvPr>
        </p:nvSpPr>
        <p:spPr>
          <a:xfrm>
            <a:off x="556334" y="955783"/>
            <a:ext cx="10058400" cy="4411662"/>
          </a:xfrm>
        </p:spPr>
        <p:txBody>
          <a:bodyPr/>
          <a:lstStyle/>
          <a:p>
            <a:r>
              <a:rPr lang="zh-CN" altLang="en-US" dirty="0"/>
              <a:t>该组转移指令用于有符号数的比较，并根据比较的结果进行转移。 </a:t>
            </a:r>
            <a:r>
              <a:rPr lang="en-US" altLang="zh-CN" dirty="0" smtClean="0"/>
              <a:t>(greater, not less and not </a:t>
            </a:r>
            <a:r>
              <a:rPr lang="en-US" altLang="zh-CN" dirty="0" err="1" smtClean="0"/>
              <a:t>eqal</a:t>
            </a:r>
            <a:r>
              <a:rPr lang="zh-CN" altLang="en-US" dirty="0" smtClean="0"/>
              <a:t>）</a:t>
            </a:r>
            <a:endParaRPr lang="zh-CN" altLang="en-US" dirty="0"/>
          </a:p>
          <a:p>
            <a:endParaRPr lang="zh-CN" altLang="en-US" dirty="0"/>
          </a:p>
        </p:txBody>
      </p:sp>
      <p:pic>
        <p:nvPicPr>
          <p:cNvPr id="4" name="图片 3"/>
          <p:cNvPicPr>
            <a:picLocks noChangeAspect="1"/>
          </p:cNvPicPr>
          <p:nvPr/>
        </p:nvPicPr>
        <p:blipFill>
          <a:blip r:embed="rId1" cstate="print"/>
          <a:stretch>
            <a:fillRect/>
          </a:stretch>
        </p:blipFill>
        <p:spPr>
          <a:xfrm>
            <a:off x="793811" y="1882540"/>
            <a:ext cx="10515601" cy="2058717"/>
          </a:xfrm>
          <a:prstGeom prst="rect">
            <a:avLst/>
          </a:prstGeom>
        </p:spPr>
      </p:pic>
      <p:pic>
        <p:nvPicPr>
          <p:cNvPr id="3074" name="Picture 2"/>
          <p:cNvPicPr>
            <a:picLocks noChangeAspect="1" noChangeArrowheads="1"/>
          </p:cNvPicPr>
          <p:nvPr/>
        </p:nvPicPr>
        <p:blipFill>
          <a:blip r:embed="rId2" cstate="print"/>
          <a:srcRect/>
          <a:stretch>
            <a:fillRect/>
          </a:stretch>
        </p:blipFill>
        <p:spPr bwMode="auto">
          <a:xfrm>
            <a:off x="1229883" y="4199136"/>
            <a:ext cx="6696075" cy="1948649"/>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390619" y="6161102"/>
            <a:ext cx="9961670" cy="516802"/>
          </a:xfrm>
          <a:prstGeom prst="rect">
            <a:avLst/>
          </a:prstGeom>
          <a:noFill/>
          <a:ln w="9525">
            <a:noFill/>
            <a:miter lim="800000"/>
            <a:headEnd/>
            <a:tailEnd/>
          </a:ln>
        </p:spPr>
      </p:pic>
      <p:sp>
        <p:nvSpPr>
          <p:cNvPr id="5" name="文本框 4"/>
          <p:cNvSpPr txBox="1"/>
          <p:nvPr/>
        </p:nvSpPr>
        <p:spPr>
          <a:xfrm>
            <a:off x="7035800" y="4206875"/>
            <a:ext cx="761365" cy="368300"/>
          </a:xfrm>
          <a:prstGeom prst="rect">
            <a:avLst/>
          </a:prstGeom>
          <a:noFill/>
        </p:spPr>
        <p:txBody>
          <a:bodyPr wrap="square" rtlCol="0">
            <a:spAutoFit/>
          </a:bodyPr>
          <a:p>
            <a:r>
              <a:rPr lang="zh-CN" altLang="en-US"/>
              <a:t>补码</a:t>
            </a:r>
            <a:endParaRPr lang="zh-CN" altLang="en-US"/>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a:t>
            </a:r>
            <a:r>
              <a:rPr lang="en-US" altLang="zh-CN" dirty="0"/>
              <a:t>CX</a:t>
            </a:r>
            <a:r>
              <a:rPr lang="zh-CN" altLang="en-US" dirty="0"/>
              <a:t>条件转移指令</a:t>
            </a:r>
            <a:endParaRPr lang="zh-CN" altLang="en-US" dirty="0"/>
          </a:p>
        </p:txBody>
      </p:sp>
      <p:sp>
        <p:nvSpPr>
          <p:cNvPr id="3" name="内容占位符 2"/>
          <p:cNvSpPr>
            <a:spLocks noGrp="1"/>
          </p:cNvSpPr>
          <p:nvPr>
            <p:ph idx="1"/>
          </p:nvPr>
        </p:nvSpPr>
        <p:spPr/>
        <p:txBody>
          <a:bodyPr/>
          <a:lstStyle/>
          <a:p>
            <a:r>
              <a:rPr lang="zh-CN" altLang="en-US" dirty="0"/>
              <a:t>格式：</a:t>
            </a:r>
            <a:r>
              <a:rPr lang="en-US" altLang="zh-CN" dirty="0" smtClean="0"/>
              <a:t>JCXZ</a:t>
            </a:r>
            <a:r>
              <a:rPr lang="zh-CN" altLang="en-US" dirty="0" smtClean="0"/>
              <a:t>（</a:t>
            </a:r>
            <a:r>
              <a:rPr lang="en-US" altLang="zh-CN" dirty="0" smtClean="0"/>
              <a:t>jump when CX is zero)  </a:t>
            </a:r>
            <a:r>
              <a:rPr lang="zh-CN" altLang="en-US" dirty="0"/>
              <a:t>目标标号</a:t>
            </a:r>
            <a:endParaRPr lang="zh-CN" altLang="en-US" dirty="0"/>
          </a:p>
          <a:p>
            <a:r>
              <a:rPr lang="zh-CN" altLang="en-US" dirty="0"/>
              <a:t>功能：若</a:t>
            </a:r>
            <a:r>
              <a:rPr lang="en-US" altLang="zh-CN" dirty="0"/>
              <a:t>(CX)=0</a:t>
            </a:r>
            <a:r>
              <a:rPr lang="zh-CN" altLang="en-US" dirty="0"/>
              <a:t>，则转移到目标标号所指定地址去执行程序。</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循环转移指令</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en-US" b="0" dirty="0"/>
              <a:t>一般用它们来实现程序循环，循环的次数必须放在CX寄存器中，这组指令也不影响标志位。</a:t>
            </a:r>
            <a:endParaRPr lang="zh-CN" altLang="en-US" b="0" dirty="0"/>
          </a:p>
          <a:p>
            <a:pPr>
              <a:buFont typeface="Wingdings" panose="05000000000000000000" pitchFamily="2" charset="2"/>
              <a:buChar char="Ø"/>
            </a:pPr>
            <a:r>
              <a:rPr lang="zh-CN" altLang="en-US" b="0" dirty="0"/>
              <a:t>包括</a:t>
            </a:r>
            <a:r>
              <a:rPr lang="zh-CN" altLang="en-US" dirty="0"/>
              <a:t>：</a:t>
            </a:r>
            <a:endParaRPr lang="zh-CN" altLang="en-US" dirty="0"/>
          </a:p>
          <a:p>
            <a:pPr lvl="1"/>
            <a:r>
              <a:rPr lang="zh-CN" altLang="en-US" sz="2800" b="0" dirty="0">
                <a:latin typeface="+mn-ea"/>
              </a:rPr>
              <a:t>计数循环指令</a:t>
            </a:r>
            <a:endParaRPr lang="zh-CN" altLang="en-US" sz="2800" b="0" dirty="0">
              <a:latin typeface="+mn-ea"/>
            </a:endParaRPr>
          </a:p>
          <a:p>
            <a:pPr lvl="1"/>
            <a:r>
              <a:rPr lang="zh-CN" altLang="en-US" sz="2800" b="0" dirty="0">
                <a:latin typeface="+mn-ea"/>
              </a:rPr>
              <a:t>相等/为零计数循环指令</a:t>
            </a:r>
            <a:endParaRPr lang="zh-CN" altLang="en-US" sz="2800" b="0" dirty="0">
              <a:latin typeface="+mn-ea"/>
            </a:endParaRPr>
          </a:p>
          <a:p>
            <a:pPr lvl="1"/>
            <a:r>
              <a:rPr lang="zh-CN" altLang="en-US" sz="2800" b="0" dirty="0">
                <a:latin typeface="+mn-ea"/>
              </a:rPr>
              <a:t>不相等/不为零计数循环指令</a:t>
            </a:r>
            <a:endParaRPr lang="zh-CN" altLang="en-US" sz="2800" b="0" dirty="0">
              <a:latin typeface="+mn-ea"/>
            </a:endParaRPr>
          </a:p>
          <a:p>
            <a:endParaRPr lang="zh-CN" alt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计数循环指令</a:t>
            </a:r>
            <a:endParaRPr lang="zh-CN" altLang="en-US" dirty="0"/>
          </a:p>
        </p:txBody>
      </p:sp>
      <p:sp>
        <p:nvSpPr>
          <p:cNvPr id="3" name="内容占位符 2"/>
          <p:cNvSpPr>
            <a:spLocks noGrp="1"/>
          </p:cNvSpPr>
          <p:nvPr>
            <p:ph idx="1"/>
          </p:nvPr>
        </p:nvSpPr>
        <p:spPr/>
        <p:txBody>
          <a:bodyPr/>
          <a:lstStyle/>
          <a:p>
            <a:pPr>
              <a:lnSpc>
                <a:spcPct val="90000"/>
              </a:lnSpc>
              <a:buFont typeface="Wingdings" panose="05000000000000000000" pitchFamily="2" charset="2"/>
              <a:buChar char="Ø"/>
            </a:pPr>
            <a:r>
              <a:rPr lang="zh-CN" altLang="zh-CN" sz="2800" dirty="0"/>
              <a:t>格式： LOOP  标号</a:t>
            </a:r>
            <a:endParaRPr lang="zh-CN" altLang="zh-CN" sz="2800" dirty="0"/>
          </a:p>
          <a:p>
            <a:pPr>
              <a:lnSpc>
                <a:spcPct val="90000"/>
              </a:lnSpc>
              <a:buFont typeface="Wingdings" panose="05000000000000000000" pitchFamily="2" charset="2"/>
              <a:buChar char="Ø"/>
            </a:pPr>
            <a:r>
              <a:rPr lang="zh-CN" altLang="zh-CN" sz="2800" b="0" dirty="0"/>
              <a:t>功能：每执行一次LOOP指令，CX的内容减１，若CX≠0，则循环转移到标号所指定的目标地址去重复执行程序，直到CX=0，退出循环，接着执行LOOP指令的下一条指令。</a:t>
            </a:r>
            <a:endParaRPr lang="zh-CN" altLang="zh-CN" sz="2800" b="0" dirty="0"/>
          </a:p>
          <a:p>
            <a:pPr>
              <a:lnSpc>
                <a:spcPct val="90000"/>
              </a:lnSpc>
              <a:buFont typeface="Wingdings" panose="05000000000000000000" pitchFamily="2" charset="2"/>
              <a:buChar char="Ø"/>
            </a:pPr>
            <a:r>
              <a:rPr lang="zh-CN" altLang="zh-CN" sz="2800" b="0" dirty="0"/>
              <a:t>例：      MOV  CX，0100H；设置循环次数</a:t>
            </a:r>
            <a:endParaRPr lang="zh-CN" altLang="zh-CN" sz="2800" b="0" dirty="0"/>
          </a:p>
          <a:p>
            <a:pPr>
              <a:lnSpc>
                <a:spcPct val="90000"/>
              </a:lnSpc>
              <a:buFont typeface="Wingdings" panose="05000000000000000000" pitchFamily="2" charset="2"/>
              <a:buNone/>
            </a:pPr>
            <a:r>
              <a:rPr lang="en-US" altLang="zh-CN" sz="2800" b="0" dirty="0"/>
              <a:t>            </a:t>
            </a:r>
            <a:r>
              <a:rPr lang="zh-CN" altLang="zh-CN" sz="2800" b="0" dirty="0"/>
              <a:t>DELAY：LOOP  DELAY</a:t>
            </a:r>
            <a:endParaRPr lang="zh-CN" altLang="zh-CN" sz="2800" b="0" dirty="0"/>
          </a:p>
          <a:p>
            <a:pPr>
              <a:lnSpc>
                <a:spcPct val="90000"/>
              </a:lnSpc>
              <a:buFont typeface="Wingdings" panose="05000000000000000000" pitchFamily="2" charset="2"/>
              <a:buChar char="Ø"/>
            </a:pPr>
            <a:r>
              <a:rPr lang="zh-CN" altLang="zh-CN" sz="2800" b="0" dirty="0"/>
              <a:t>LOOP指令执行转移时，用9个时钟周期，结束循环指向下一条指令时，用5个时钟周期，程序员可以设置循环次数，来控制延迟的时间。</a:t>
            </a:r>
            <a:endParaRPr lang="zh-CN" altLang="zh-CN" sz="2800" b="0" dirty="0"/>
          </a:p>
          <a:p>
            <a:endParaRPr lang="zh-CN" alt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相等</a:t>
            </a:r>
            <a:r>
              <a:rPr lang="en-US" altLang="zh-CN" dirty="0"/>
              <a:t>/</a:t>
            </a:r>
            <a:r>
              <a:rPr lang="zh-CN" altLang="en-US" dirty="0"/>
              <a:t>为零计数循环指令</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dirty="0">
                <a:latin typeface="Times New Roman" panose="02020603050405020304" pitchFamily="18" charset="0"/>
              </a:rPr>
              <a:t>格式：LOOPE/LOOPZ  标号</a:t>
            </a:r>
            <a:endParaRPr lang="zh-CN" altLang="zh-CN" dirty="0">
              <a:latin typeface="Times New Roman" panose="02020603050405020304" pitchFamily="18" charset="0"/>
            </a:endParaRPr>
          </a:p>
          <a:p>
            <a:pPr>
              <a:buFont typeface="Wingdings" panose="05000000000000000000" pitchFamily="2" charset="2"/>
              <a:buChar char="Ø"/>
            </a:pPr>
            <a:r>
              <a:rPr lang="zh-CN" altLang="zh-CN" b="0" dirty="0"/>
              <a:t>功能：每执行一次循环指令，CX的内容减１，若CX≠0且ZF=1，则循环转移到标号所指定的目标地址去重复执行程序，否则执行循环指令的下一条指令。 </a:t>
            </a:r>
            <a:endParaRPr lang="zh-CN" altLang="zh-CN" b="0" dirty="0"/>
          </a:p>
          <a:p>
            <a:endParaRPr lang="zh-CN" alt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不相等</a:t>
            </a:r>
            <a:r>
              <a:rPr lang="en-US" altLang="zh-CN" dirty="0"/>
              <a:t>/</a:t>
            </a:r>
            <a:r>
              <a:rPr lang="zh-CN" altLang="en-US" dirty="0"/>
              <a:t>不为零计数循环指令</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Ø"/>
            </a:pPr>
            <a:r>
              <a:rPr lang="zh-CN" altLang="zh-CN" dirty="0">
                <a:latin typeface="Times New Roman" panose="02020603050405020304" pitchFamily="18" charset="0"/>
              </a:rPr>
              <a:t>格式：LOOPNE/LOOPNZ  标号</a:t>
            </a:r>
            <a:endParaRPr lang="zh-CN" altLang="zh-CN" dirty="0">
              <a:latin typeface="Times New Roman" panose="02020603050405020304" pitchFamily="18" charset="0"/>
            </a:endParaRPr>
          </a:p>
          <a:p>
            <a:pPr>
              <a:buFont typeface="Wingdings" panose="05000000000000000000" pitchFamily="2" charset="2"/>
              <a:buChar char="Ø"/>
            </a:pPr>
            <a:r>
              <a:rPr lang="zh-CN" altLang="zh-CN" b="0" dirty="0">
                <a:latin typeface="Times New Roman" panose="02020603050405020304" pitchFamily="18" charset="0"/>
                <a:ea typeface="楷体_GB2312" pitchFamily="1" charset="-122"/>
              </a:rPr>
              <a:t>功能：每执行一次循环指令，CX的内容减１，若CX≠0且ZF=0，则循环转移到标号所指定的目标地址去重复执行程序，否则执行循环指令的下一条指令。 </a:t>
            </a: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9653195" cy="716858"/>
          </a:xfrm>
        </p:spPr>
        <p:txBody>
          <a:bodyPr/>
          <a:lstStyle/>
          <a:p>
            <a:r>
              <a:rPr lang="zh-CN" altLang="en-US" dirty="0"/>
              <a:t>子程序调用和返回指令</a:t>
            </a:r>
            <a:endParaRPr lang="zh-CN" altLang="en-US" dirty="0"/>
          </a:p>
        </p:txBody>
      </p:sp>
      <p:sp>
        <p:nvSpPr>
          <p:cNvPr id="3" name="内容占位符 2"/>
          <p:cNvSpPr>
            <a:spLocks noGrp="1"/>
          </p:cNvSpPr>
          <p:nvPr>
            <p:ph idx="1"/>
          </p:nvPr>
        </p:nvSpPr>
        <p:spPr>
          <a:xfrm>
            <a:off x="577328" y="880166"/>
            <a:ext cx="10642898" cy="5977833"/>
          </a:xfrm>
        </p:spPr>
        <p:txBody>
          <a:bodyPr>
            <a:normAutofit/>
          </a:bodyPr>
          <a:lstStyle/>
          <a:p>
            <a:r>
              <a:rPr lang="zh-CN" altLang="en-US" dirty="0"/>
              <a:t>子程序调用指令</a:t>
            </a:r>
            <a:r>
              <a:rPr lang="en-US" altLang="zh-CN" dirty="0"/>
              <a:t>CALL</a:t>
            </a:r>
            <a:endParaRPr lang="en-US" altLang="zh-CN" dirty="0"/>
          </a:p>
          <a:p>
            <a:pPr lvl="1"/>
            <a:r>
              <a:rPr lang="zh-CN" altLang="en-US" dirty="0"/>
              <a:t>段内直接</a:t>
            </a:r>
            <a:r>
              <a:rPr lang="zh-CN" altLang="en-US" dirty="0" smtClean="0"/>
              <a:t>调用  </a:t>
            </a:r>
            <a:r>
              <a:rPr lang="en-US" altLang="zh-CN" dirty="0" smtClean="0"/>
              <a:t>CALL </a:t>
            </a:r>
            <a:r>
              <a:rPr lang="zh-CN" altLang="en-US" dirty="0" smtClean="0"/>
              <a:t>标号</a:t>
            </a:r>
            <a:endParaRPr lang="en-US" altLang="zh-CN" dirty="0" smtClean="0"/>
          </a:p>
          <a:p>
            <a:pPr lvl="1"/>
            <a:endParaRPr lang="en-US" altLang="zh-CN" dirty="0" smtClean="0"/>
          </a:p>
          <a:p>
            <a:pPr lvl="1"/>
            <a:endParaRPr lang="zh-CN" altLang="en-US" dirty="0"/>
          </a:p>
          <a:p>
            <a:pPr lvl="1"/>
            <a:r>
              <a:rPr lang="zh-CN" altLang="en-US" dirty="0"/>
              <a:t>段内间接</a:t>
            </a:r>
            <a:r>
              <a:rPr lang="zh-CN" altLang="en-US" dirty="0" smtClean="0"/>
              <a:t>调用  </a:t>
            </a:r>
            <a:r>
              <a:rPr lang="en-US" altLang="zh-CN" dirty="0" smtClean="0"/>
              <a:t>CALL WORD PTR OPD</a:t>
            </a:r>
            <a:endParaRPr lang="zh-CN" altLang="en-US" dirty="0"/>
          </a:p>
          <a:p>
            <a:pPr lvl="1"/>
            <a:r>
              <a:rPr lang="zh-CN" altLang="en-US" dirty="0"/>
              <a:t>段间直接</a:t>
            </a:r>
            <a:r>
              <a:rPr lang="zh-CN" altLang="en-US" dirty="0" smtClean="0"/>
              <a:t>调用 </a:t>
            </a:r>
            <a:r>
              <a:rPr lang="en-US" altLang="zh-CN" dirty="0" smtClean="0"/>
              <a:t>CALL FAR PTR </a:t>
            </a:r>
            <a:r>
              <a:rPr lang="zh-CN" altLang="en-US" dirty="0" smtClean="0"/>
              <a:t>标号</a:t>
            </a:r>
            <a:endParaRPr lang="en-US" altLang="zh-CN" dirty="0" smtClean="0"/>
          </a:p>
          <a:p>
            <a:pPr lvl="1"/>
            <a:endParaRPr lang="en-US" altLang="zh-CN" dirty="0" smtClean="0"/>
          </a:p>
          <a:p>
            <a:pPr lvl="1"/>
            <a:endParaRPr lang="zh-CN" altLang="en-US" dirty="0"/>
          </a:p>
          <a:p>
            <a:pPr lvl="1"/>
            <a:r>
              <a:rPr lang="zh-CN" altLang="en-US" dirty="0"/>
              <a:t>段间间接</a:t>
            </a:r>
            <a:r>
              <a:rPr lang="zh-CN" altLang="en-US" dirty="0" smtClean="0"/>
              <a:t>调用 </a:t>
            </a:r>
            <a:r>
              <a:rPr lang="en-US" altLang="zh-CN" dirty="0" smtClean="0"/>
              <a:t>CALL DWORD PTR OPD</a:t>
            </a:r>
            <a:endParaRPr lang="zh-CN" altLang="en-US" dirty="0"/>
          </a:p>
        </p:txBody>
      </p:sp>
      <p:pic>
        <p:nvPicPr>
          <p:cNvPr id="1026" name="Picture 2"/>
          <p:cNvPicPr>
            <a:picLocks noChangeAspect="1" noChangeArrowheads="1"/>
          </p:cNvPicPr>
          <p:nvPr/>
        </p:nvPicPr>
        <p:blipFill>
          <a:blip r:embed="rId1" cstate="print"/>
          <a:srcRect/>
          <a:stretch>
            <a:fillRect/>
          </a:stretch>
        </p:blipFill>
        <p:spPr bwMode="auto">
          <a:xfrm>
            <a:off x="142875" y="1912788"/>
            <a:ext cx="12049125" cy="923925"/>
          </a:xfrm>
          <a:prstGeom prst="rect">
            <a:avLst/>
          </a:prstGeom>
          <a:noFill/>
          <a:ln w="9525">
            <a:noFill/>
            <a:miter lim="800000"/>
            <a:headEnd/>
            <a:tailEnd/>
          </a:ln>
        </p:spPr>
      </p:pic>
      <p:pic>
        <p:nvPicPr>
          <p:cNvPr id="1027" name="Picture 3"/>
          <p:cNvPicPr>
            <a:picLocks noChangeAspect="1" noChangeArrowheads="1"/>
          </p:cNvPicPr>
          <p:nvPr/>
        </p:nvPicPr>
        <p:blipFill>
          <a:blip r:embed="rId2" cstate="print"/>
          <a:srcRect/>
          <a:stretch>
            <a:fillRect/>
          </a:stretch>
        </p:blipFill>
        <p:spPr bwMode="auto">
          <a:xfrm>
            <a:off x="152400" y="3844234"/>
            <a:ext cx="12039600" cy="847725"/>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161925" y="5291754"/>
            <a:ext cx="12030075" cy="85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5448" y="252986"/>
            <a:ext cx="10058400" cy="4411662"/>
          </a:xfrm>
        </p:spPr>
        <p:txBody>
          <a:bodyPr/>
          <a:lstStyle/>
          <a:p>
            <a:r>
              <a:rPr lang="zh-CN" altLang="en-US" dirty="0" smtClean="0"/>
              <a:t>返回指令</a:t>
            </a:r>
            <a:r>
              <a:rPr lang="en-US" altLang="zh-CN" dirty="0" smtClean="0"/>
              <a:t>RET</a:t>
            </a:r>
            <a:endParaRPr lang="en-US" altLang="zh-CN" dirty="0" smtClean="0"/>
          </a:p>
          <a:p>
            <a:pPr lvl="1"/>
            <a:r>
              <a:rPr lang="zh-CN" altLang="en-US" dirty="0" smtClean="0"/>
              <a:t>返回指令</a:t>
            </a:r>
            <a:r>
              <a:rPr lang="en-US" altLang="zh-CN" dirty="0" smtClean="0"/>
              <a:t>RET</a:t>
            </a:r>
            <a:endParaRPr lang="en-US" altLang="zh-CN" dirty="0" smtClean="0"/>
          </a:p>
          <a:p>
            <a:pPr lvl="1"/>
            <a:endParaRPr lang="en-US" altLang="zh-CN" dirty="0" smtClean="0"/>
          </a:p>
          <a:p>
            <a:pPr lvl="1"/>
            <a:endParaRPr lang="en-US" altLang="zh-CN" dirty="0" smtClean="0"/>
          </a:p>
          <a:p>
            <a:pPr lvl="1"/>
            <a:endParaRPr lang="en-US" altLang="zh-CN" dirty="0" smtClean="0"/>
          </a:p>
          <a:p>
            <a:pPr lvl="1"/>
            <a:r>
              <a:rPr lang="zh-CN" altLang="en-US" dirty="0" smtClean="0">
                <a:latin typeface="华文仿宋" panose="02010600040101010101" pitchFamily="2" charset="-122"/>
                <a:ea typeface="华文仿宋" panose="02010600040101010101" pitchFamily="2" charset="-122"/>
              </a:rPr>
              <a:t>带弹出值的返回指令</a:t>
            </a:r>
            <a:r>
              <a:rPr lang="en-US" altLang="zh-CN" dirty="0" smtClean="0">
                <a:latin typeface="华文仿宋" panose="02010600040101010101" pitchFamily="2" charset="-122"/>
                <a:ea typeface="华文仿宋" panose="02010600040101010101" pitchFamily="2" charset="-122"/>
              </a:rPr>
              <a:t>RET n    </a:t>
            </a:r>
            <a:r>
              <a:rPr lang="en-US" altLang="zh-CN" dirty="0" err="1" smtClean="0">
                <a:latin typeface="华文仿宋" panose="02010600040101010101" pitchFamily="2" charset="-122"/>
                <a:ea typeface="华文仿宋" panose="02010600040101010101" pitchFamily="2" charset="-122"/>
              </a:rPr>
              <a:t>SP+n</a:t>
            </a:r>
            <a:r>
              <a:rPr lang="en-US" altLang="zh-CN" dirty="0" smtClean="0">
                <a:latin typeface="华文仿宋" panose="02010600040101010101" pitchFamily="2" charset="-122"/>
                <a:ea typeface="华文仿宋" panose="02010600040101010101" pitchFamily="2" charset="-122"/>
              </a:rPr>
              <a:t>        SP</a:t>
            </a:r>
            <a:endParaRPr lang="zh-CN" altLang="en-US" dirty="0" smtClean="0">
              <a:latin typeface="华文仿宋" panose="02010600040101010101" pitchFamily="2" charset="-122"/>
              <a:ea typeface="华文仿宋" panose="02010600040101010101" pitchFamily="2" charset="-122"/>
            </a:endParaRPr>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cxnSp>
        <p:nvCxnSpPr>
          <p:cNvPr id="7" name="直接箭头连接符 6"/>
          <p:cNvCxnSpPr/>
          <p:nvPr/>
        </p:nvCxnSpPr>
        <p:spPr bwMode="auto">
          <a:xfrm>
            <a:off x="6368006" y="2912086"/>
            <a:ext cx="516367"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50" name="Picture 2"/>
          <p:cNvPicPr>
            <a:picLocks noChangeAspect="1" noChangeArrowheads="1"/>
          </p:cNvPicPr>
          <p:nvPr/>
        </p:nvPicPr>
        <p:blipFill>
          <a:blip r:embed="rId1" cstate="print"/>
          <a:srcRect/>
          <a:stretch>
            <a:fillRect/>
          </a:stretch>
        </p:blipFill>
        <p:spPr bwMode="auto">
          <a:xfrm>
            <a:off x="95250" y="1285048"/>
            <a:ext cx="12096750" cy="1343025"/>
          </a:xfrm>
          <a:prstGeom prst="rect">
            <a:avLst/>
          </a:prstGeom>
          <a:noFill/>
          <a:ln w="9525">
            <a:noFill/>
            <a:miter lim="800000"/>
            <a:headEnd/>
            <a:tailEnd/>
          </a:ln>
        </p:spPr>
      </p:pic>
      <p:pic>
        <p:nvPicPr>
          <p:cNvPr id="2051" name="Picture 3"/>
          <p:cNvPicPr>
            <a:picLocks noChangeAspect="1" noChangeArrowheads="1"/>
          </p:cNvPicPr>
          <p:nvPr/>
        </p:nvPicPr>
        <p:blipFill>
          <a:blip r:embed="rId2" cstate="print"/>
          <a:srcRect/>
          <a:stretch>
            <a:fillRect/>
          </a:stretch>
        </p:blipFill>
        <p:spPr bwMode="auto">
          <a:xfrm>
            <a:off x="85725" y="3258141"/>
            <a:ext cx="12106275" cy="904875"/>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177540" y="4261281"/>
            <a:ext cx="11381185" cy="15535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中断和中断返回指令</a:t>
            </a:r>
            <a:endParaRPr lang="zh-CN" altLang="en-US" dirty="0"/>
          </a:p>
        </p:txBody>
      </p:sp>
      <p:sp>
        <p:nvSpPr>
          <p:cNvPr id="3" name="内容占位符 2"/>
          <p:cNvSpPr>
            <a:spLocks noGrp="1"/>
          </p:cNvSpPr>
          <p:nvPr>
            <p:ph idx="1"/>
          </p:nvPr>
        </p:nvSpPr>
        <p:spPr/>
        <p:txBody>
          <a:bodyPr>
            <a:normAutofit/>
          </a:bodyPr>
          <a:lstStyle/>
          <a:p>
            <a:pPr marL="0" indent="0">
              <a:buFont typeface="Wingdings" panose="05000000000000000000" pitchFamily="2" charset="2"/>
              <a:buChar char="Ø"/>
            </a:pPr>
            <a:r>
              <a:rPr lang="zh-CN" altLang="en-US" b="0" dirty="0">
                <a:latin typeface="楷体_GB2312" pitchFamily="1" charset="-122"/>
                <a:ea typeface="楷体_GB2312" pitchFamily="1" charset="-122"/>
              </a:rPr>
              <a:t>中断指令：使CPU暂停执行后续指令，而转去执行相应的中断服务程序。</a:t>
            </a:r>
            <a:endParaRPr lang="zh-CN" altLang="en-US" b="0" dirty="0">
              <a:latin typeface="楷体_GB2312" pitchFamily="1" charset="-122"/>
              <a:ea typeface="楷体_GB2312" pitchFamily="1" charset="-122"/>
            </a:endParaRPr>
          </a:p>
          <a:p>
            <a:pPr marL="0" indent="0">
              <a:buFont typeface="Wingdings" panose="05000000000000000000" pitchFamily="2" charset="2"/>
              <a:buChar char="Ø"/>
            </a:pPr>
            <a:r>
              <a:rPr lang="zh-CN" altLang="en-US" b="0" dirty="0">
                <a:latin typeface="楷体_GB2312" pitchFamily="1" charset="-122"/>
                <a:ea typeface="楷体_GB2312" pitchFamily="1" charset="-122"/>
              </a:rPr>
              <a:t>中断返回指令：从中断服务程序返回主程序。</a:t>
            </a:r>
            <a:endParaRPr lang="zh-CN" altLang="en-US" b="0" dirty="0">
              <a:latin typeface="楷体_GB2312" pitchFamily="1" charset="-122"/>
              <a:ea typeface="楷体_GB2312" pitchFamily="1" charset="-122"/>
            </a:endParaRPr>
          </a:p>
          <a:p>
            <a:pPr marL="0" indent="0">
              <a:buFont typeface="Wingdings" panose="05000000000000000000" pitchFamily="2" charset="2"/>
              <a:buChar char="Ø"/>
            </a:pPr>
            <a:r>
              <a:rPr lang="zh-CN" altLang="en-US" b="0" dirty="0">
                <a:latin typeface="楷体_GB2312" pitchFamily="1" charset="-122"/>
                <a:ea typeface="楷体_GB2312" pitchFamily="1" charset="-122"/>
              </a:rPr>
              <a:t>包括：</a:t>
            </a:r>
            <a:endParaRPr lang="zh-CN" altLang="en-US" b="0" dirty="0">
              <a:latin typeface="楷体_GB2312" pitchFamily="1" charset="-122"/>
              <a:ea typeface="楷体_GB2312" pitchFamily="1" charset="-122"/>
            </a:endParaRPr>
          </a:p>
          <a:p>
            <a:pPr marL="824230" lvl="1"/>
            <a:r>
              <a:rPr lang="zh-CN" altLang="en-US" sz="3200" b="0" dirty="0">
                <a:latin typeface="楷体_GB2312" pitchFamily="1" charset="-122"/>
                <a:ea typeface="楷体_GB2312" pitchFamily="1" charset="-122"/>
              </a:rPr>
              <a:t>软中断指令</a:t>
            </a:r>
            <a:endParaRPr lang="zh-CN" altLang="en-US" sz="3200" b="0" dirty="0">
              <a:latin typeface="楷体_GB2312" pitchFamily="1" charset="-122"/>
              <a:ea typeface="楷体_GB2312" pitchFamily="1" charset="-122"/>
            </a:endParaRPr>
          </a:p>
          <a:p>
            <a:pPr marL="824230" lvl="1"/>
            <a:r>
              <a:rPr lang="zh-CN" altLang="en-US" sz="3200" b="0" dirty="0">
                <a:latin typeface="楷体_GB2312" pitchFamily="1" charset="-122"/>
                <a:ea typeface="楷体_GB2312" pitchFamily="1" charset="-122"/>
              </a:rPr>
              <a:t>中断返回指令</a:t>
            </a:r>
            <a:endParaRPr lang="zh-CN" altLang="en-US" sz="3200" b="0" dirty="0">
              <a:latin typeface="楷体_GB2312" pitchFamily="1" charset="-122"/>
              <a:ea typeface="楷体_GB2312" pitchFamily="1" charset="-122"/>
            </a:endParaRPr>
          </a:p>
          <a:p>
            <a:pPr marL="824230" lvl="1"/>
            <a:r>
              <a:rPr lang="zh-CN" altLang="en-US" sz="3200" b="0" dirty="0">
                <a:latin typeface="楷体_GB2312" pitchFamily="1" charset="-122"/>
                <a:ea typeface="楷体_GB2312" pitchFamily="1" charset="-122"/>
              </a:rPr>
              <a:t>溢出中断指令</a:t>
            </a:r>
            <a:endParaRPr lang="zh-CN" altLang="en-US" sz="3200" b="0" dirty="0">
              <a:latin typeface="楷体_GB2312" pitchFamily="1" charset="-122"/>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中断和中断返回指令</a:t>
            </a:r>
            <a:endParaRPr lang="zh-CN" altLang="en-US" dirty="0"/>
          </a:p>
        </p:txBody>
      </p:sp>
      <p:sp>
        <p:nvSpPr>
          <p:cNvPr id="3" name="内容占位符 2"/>
          <p:cNvSpPr>
            <a:spLocks noGrp="1"/>
          </p:cNvSpPr>
          <p:nvPr>
            <p:ph idx="1"/>
          </p:nvPr>
        </p:nvSpPr>
        <p:spPr/>
        <p:txBody>
          <a:bodyPr/>
          <a:lstStyle/>
          <a:p>
            <a:pPr marL="0" indent="0">
              <a:buNone/>
            </a:pPr>
            <a:r>
              <a:rPr lang="zh-CN" altLang="en-US" dirty="0"/>
              <a:t>软中断指令</a:t>
            </a:r>
            <a:endParaRPr lang="zh-CN" altLang="en-US" dirty="0"/>
          </a:p>
          <a:p>
            <a:r>
              <a:rPr lang="zh-CN" altLang="en-US" dirty="0"/>
              <a:t>格式：</a:t>
            </a:r>
            <a:r>
              <a:rPr lang="en-US" altLang="zh-CN" dirty="0"/>
              <a:t>INT</a:t>
            </a:r>
            <a:r>
              <a:rPr lang="zh-CN" altLang="en-US" dirty="0"/>
              <a:t> </a:t>
            </a:r>
            <a:r>
              <a:rPr lang="en-US" altLang="zh-CN" dirty="0"/>
              <a:t>n</a:t>
            </a:r>
            <a:endParaRPr lang="en-US" altLang="zh-CN" dirty="0"/>
          </a:p>
          <a:p>
            <a:r>
              <a:rPr lang="zh-CN" altLang="en-US" dirty="0"/>
              <a:t>功能：</a:t>
            </a:r>
            <a:r>
              <a:rPr lang="en-US" altLang="zh-CN" dirty="0"/>
              <a:t>n</a:t>
            </a:r>
            <a:r>
              <a:rPr lang="zh-CN" altLang="en-US" dirty="0"/>
              <a:t>为中断类型码，可以取</a:t>
            </a:r>
            <a:r>
              <a:rPr lang="en-US" altLang="zh-CN" dirty="0"/>
              <a:t>0</a:t>
            </a:r>
            <a:r>
              <a:rPr lang="zh-CN" altLang="en-US" dirty="0"/>
              <a:t>～</a:t>
            </a:r>
            <a:r>
              <a:rPr lang="en-US" altLang="zh-CN" dirty="0"/>
              <a:t>0FFH</a:t>
            </a:r>
            <a:r>
              <a:rPr lang="zh-CN" altLang="en-US" dirty="0"/>
              <a:t>之间的</a:t>
            </a:r>
            <a:r>
              <a:rPr lang="en-US" altLang="zh-CN" dirty="0"/>
              <a:t>256</a:t>
            </a:r>
            <a:r>
              <a:rPr lang="zh-CN" altLang="en-US" dirty="0"/>
              <a:t>个值。每个中断类型码在中断矢量表中占</a:t>
            </a:r>
            <a:r>
              <a:rPr lang="en-US" altLang="zh-CN" dirty="0"/>
              <a:t>4</a:t>
            </a:r>
            <a:r>
              <a:rPr lang="zh-CN" altLang="en-US" dirty="0"/>
              <a:t>个字节，前两个字节用来存放中断服务程序入口地址的偏移地址，后两个字节用来存放段基址。</a:t>
            </a:r>
            <a:endParaRPr lang="zh-CN" altLang="en-US" dirty="0"/>
          </a:p>
        </p:txBody>
      </p:sp>
      <p:pic>
        <p:nvPicPr>
          <p:cNvPr id="2050" name="Picture 2"/>
          <p:cNvPicPr>
            <a:picLocks noChangeAspect="1" noChangeArrowheads="1"/>
          </p:cNvPicPr>
          <p:nvPr/>
        </p:nvPicPr>
        <p:blipFill>
          <a:blip r:embed="rId1" cstate="print"/>
          <a:srcRect/>
          <a:stretch>
            <a:fillRect/>
          </a:stretch>
        </p:blipFill>
        <p:spPr bwMode="auto">
          <a:xfrm>
            <a:off x="389184" y="4671277"/>
            <a:ext cx="11058525" cy="409575"/>
          </a:xfrm>
          <a:prstGeom prst="rect">
            <a:avLst/>
          </a:prstGeom>
          <a:noFill/>
          <a:ln w="9525">
            <a:noFill/>
            <a:miter lim="800000"/>
            <a:headEnd/>
            <a:tailEnd/>
          </a:ln>
        </p:spPr>
      </p:pic>
      <p:pic>
        <p:nvPicPr>
          <p:cNvPr id="2051" name="Picture 3"/>
          <p:cNvPicPr>
            <a:picLocks noChangeAspect="1" noChangeArrowheads="1"/>
          </p:cNvPicPr>
          <p:nvPr/>
        </p:nvPicPr>
        <p:blipFill>
          <a:blip r:embed="rId2" cstate="print"/>
          <a:srcRect/>
          <a:stretch>
            <a:fillRect/>
          </a:stretch>
        </p:blipFill>
        <p:spPr bwMode="auto">
          <a:xfrm>
            <a:off x="375821" y="5120197"/>
            <a:ext cx="11461072" cy="91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中断和中断返回指令</a:t>
            </a:r>
            <a:endParaRPr lang="zh-CN" altLang="en-US" dirty="0"/>
          </a:p>
        </p:txBody>
      </p:sp>
      <p:sp>
        <p:nvSpPr>
          <p:cNvPr id="3" name="内容占位符 2"/>
          <p:cNvSpPr>
            <a:spLocks noGrp="1"/>
          </p:cNvSpPr>
          <p:nvPr>
            <p:ph idx="1"/>
          </p:nvPr>
        </p:nvSpPr>
        <p:spPr/>
        <p:txBody>
          <a:bodyPr/>
          <a:lstStyle/>
          <a:p>
            <a:pPr marL="0" indent="0">
              <a:buNone/>
            </a:pPr>
            <a:r>
              <a:rPr lang="zh-CN" altLang="en-US" dirty="0"/>
              <a:t>中断返回指令</a:t>
            </a:r>
            <a:endParaRPr lang="zh-CN" altLang="en-US" dirty="0"/>
          </a:p>
          <a:p>
            <a:r>
              <a:rPr lang="zh-CN" altLang="en-US" dirty="0"/>
              <a:t>格式：</a:t>
            </a:r>
            <a:r>
              <a:rPr lang="en-US" altLang="zh-CN" dirty="0" smtClean="0"/>
              <a:t>IRET</a:t>
            </a:r>
            <a:r>
              <a:rPr lang="zh-CN" altLang="en-US" dirty="0" smtClean="0"/>
              <a:t>（</a:t>
            </a:r>
            <a:r>
              <a:rPr lang="en-US" altLang="zh-CN" dirty="0" smtClean="0"/>
              <a:t>interrupt return)</a:t>
            </a:r>
            <a:endParaRPr lang="en-US" altLang="zh-CN" dirty="0"/>
          </a:p>
          <a:p>
            <a:r>
              <a:rPr lang="zh-CN" altLang="en-US" dirty="0"/>
              <a:t>功能：放在中断服务程序的出口处，由它从堆栈中弹出程序断点分别送</a:t>
            </a:r>
            <a:r>
              <a:rPr lang="en-US" altLang="zh-CN" dirty="0"/>
              <a:t>IP</a:t>
            </a:r>
            <a:r>
              <a:rPr lang="zh-CN" altLang="en-US" dirty="0"/>
              <a:t>、</a:t>
            </a:r>
            <a:r>
              <a:rPr lang="en-US" altLang="zh-CN" dirty="0"/>
              <a:t>CS</a:t>
            </a:r>
            <a:r>
              <a:rPr lang="zh-CN" altLang="en-US" dirty="0"/>
              <a:t>，并弹出一个字送标志寄存器</a:t>
            </a:r>
            <a:r>
              <a:rPr lang="en-US" altLang="zh-CN" dirty="0"/>
              <a:t>FR</a:t>
            </a:r>
            <a:r>
              <a:rPr lang="zh-CN" altLang="en-US" dirty="0"/>
              <a:t>，以退出中断，返回到断点处执行后续程序。</a:t>
            </a:r>
            <a:endParaRPr lang="zh-CN" altLang="en-US" dirty="0"/>
          </a:p>
          <a:p>
            <a:r>
              <a:rPr lang="zh-CN" altLang="en-US" dirty="0"/>
              <a:t>中断服务程序的最后一条指令必须是</a:t>
            </a:r>
            <a:r>
              <a:rPr lang="en-US" altLang="zh-CN" dirty="0"/>
              <a:t>IRET</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中断和中断返回指令</a:t>
            </a:r>
            <a:endParaRPr lang="zh-CN" altLang="en-US" dirty="0"/>
          </a:p>
        </p:txBody>
      </p:sp>
      <p:sp>
        <p:nvSpPr>
          <p:cNvPr id="3" name="内容占位符 2"/>
          <p:cNvSpPr>
            <a:spLocks noGrp="1"/>
          </p:cNvSpPr>
          <p:nvPr>
            <p:ph idx="1"/>
          </p:nvPr>
        </p:nvSpPr>
        <p:spPr/>
        <p:txBody>
          <a:bodyPr/>
          <a:lstStyle/>
          <a:p>
            <a:pPr marL="0" indent="0">
              <a:buNone/>
            </a:pPr>
            <a:r>
              <a:rPr lang="zh-CN" altLang="en-US" dirty="0"/>
              <a:t>溢出中断指令</a:t>
            </a:r>
            <a:endParaRPr lang="zh-CN" altLang="en-US" dirty="0"/>
          </a:p>
          <a:p>
            <a:r>
              <a:rPr lang="zh-CN" altLang="en-US" dirty="0"/>
              <a:t>格式：</a:t>
            </a:r>
            <a:r>
              <a:rPr lang="en-US" altLang="zh-CN" dirty="0" smtClean="0"/>
              <a:t>INTO(overflow interrupt)</a:t>
            </a:r>
            <a:endParaRPr lang="en-US" altLang="zh-CN" dirty="0"/>
          </a:p>
          <a:p>
            <a:r>
              <a:rPr lang="zh-CN" altLang="en-US" dirty="0"/>
              <a:t>功能：该指令为单字节指令，中断类型码为</a:t>
            </a:r>
            <a:r>
              <a:rPr lang="en-US" altLang="zh-CN" dirty="0"/>
              <a:t>4</a:t>
            </a:r>
            <a:r>
              <a:rPr lang="zh-CN" altLang="en-US" dirty="0"/>
              <a:t>，放在有符号的算术运算指令之后，仅当运算产生溢出</a:t>
            </a:r>
            <a:r>
              <a:rPr lang="en-US" altLang="zh-CN" dirty="0"/>
              <a:t>(OF=1)</a:t>
            </a:r>
            <a:r>
              <a:rPr lang="zh-CN" altLang="en-US" dirty="0"/>
              <a:t>时，即向</a:t>
            </a:r>
            <a:r>
              <a:rPr lang="en-US" altLang="zh-CN" dirty="0"/>
              <a:t>CPU</a:t>
            </a:r>
            <a:r>
              <a:rPr lang="zh-CN" altLang="en-US" dirty="0"/>
              <a:t>发出溢出中断请求。</a:t>
            </a:r>
            <a:endParaRPr lang="zh-CN" alt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处理器控制类指令</a:t>
            </a:r>
            <a:endParaRPr lang="zh-CN" altLang="en-US" dirty="0"/>
          </a:p>
        </p:txBody>
      </p:sp>
      <p:sp>
        <p:nvSpPr>
          <p:cNvPr id="3" name="内容占位符 2"/>
          <p:cNvSpPr>
            <a:spLocks noGrp="1"/>
          </p:cNvSpPr>
          <p:nvPr>
            <p:ph idx="1"/>
          </p:nvPr>
        </p:nvSpPr>
        <p:spPr>
          <a:xfrm>
            <a:off x="838199" y="1825625"/>
            <a:ext cx="9903781" cy="4351338"/>
          </a:xfrm>
        </p:spPr>
        <p:txBody>
          <a:bodyPr>
            <a:normAutofit/>
          </a:bodyPr>
          <a:lstStyle/>
          <a:p>
            <a:pPr marL="0" indent="0">
              <a:buNone/>
            </a:pPr>
            <a:r>
              <a:rPr lang="zh-CN" altLang="en-US" dirty="0"/>
              <a:t>标志位操作指令</a:t>
            </a:r>
            <a:endParaRPr lang="en-US" altLang="zh-CN" dirty="0"/>
          </a:p>
          <a:p>
            <a:pPr lvl="1"/>
            <a:r>
              <a:rPr lang="zh-CN" altLang="en-US" dirty="0"/>
              <a:t>进位位清</a:t>
            </a:r>
            <a:r>
              <a:rPr lang="en-US" altLang="zh-CN" dirty="0"/>
              <a:t>0</a:t>
            </a:r>
            <a:r>
              <a:rPr lang="zh-CN" altLang="en-US" dirty="0"/>
              <a:t>指令：</a:t>
            </a:r>
            <a:r>
              <a:rPr lang="en-US" altLang="zh-CN" dirty="0" smtClean="0"/>
              <a:t>CLC(clear carry, CF=0)</a:t>
            </a:r>
            <a:endParaRPr lang="en-US" altLang="zh-CN" dirty="0"/>
          </a:p>
          <a:p>
            <a:pPr lvl="1"/>
            <a:r>
              <a:rPr lang="zh-CN" altLang="en-US" dirty="0"/>
              <a:t>进位位求反指令：</a:t>
            </a:r>
            <a:r>
              <a:rPr lang="en-US" altLang="zh-CN" dirty="0" smtClean="0"/>
              <a:t>CMC(carry make </a:t>
            </a:r>
            <a:r>
              <a:rPr lang="en-US" altLang="zh-CN" dirty="0" err="1" smtClean="0"/>
              <a:t>chang</a:t>
            </a:r>
            <a:r>
              <a:rPr lang="en-US" altLang="zh-CN" dirty="0" smtClean="0"/>
              <a:t>)</a:t>
            </a:r>
            <a:endParaRPr lang="en-US" altLang="zh-CN" dirty="0"/>
          </a:p>
          <a:p>
            <a:pPr lvl="1"/>
            <a:r>
              <a:rPr lang="zh-CN" altLang="en-US" dirty="0"/>
              <a:t>进位位置</a:t>
            </a:r>
            <a:r>
              <a:rPr lang="en-US" altLang="zh-CN" dirty="0"/>
              <a:t>1</a:t>
            </a:r>
            <a:r>
              <a:rPr lang="zh-CN" altLang="en-US" dirty="0"/>
              <a:t>指令：</a:t>
            </a:r>
            <a:r>
              <a:rPr lang="en-US" altLang="zh-CN" dirty="0" smtClean="0"/>
              <a:t>STC(set carry, CF=1)</a:t>
            </a:r>
            <a:endParaRPr lang="en-US" altLang="zh-CN" dirty="0"/>
          </a:p>
          <a:p>
            <a:pPr lvl="1"/>
            <a:r>
              <a:rPr lang="zh-CN" altLang="en-US" dirty="0"/>
              <a:t>关中断指令：</a:t>
            </a:r>
            <a:r>
              <a:rPr lang="en-US" altLang="zh-CN" dirty="0" smtClean="0"/>
              <a:t>CLI(clear interrupt,  IF=0)</a:t>
            </a:r>
            <a:endParaRPr lang="en-US" altLang="zh-CN" dirty="0"/>
          </a:p>
          <a:p>
            <a:pPr lvl="1"/>
            <a:r>
              <a:rPr lang="zh-CN" altLang="en-US" dirty="0"/>
              <a:t>开中断指令：</a:t>
            </a:r>
            <a:r>
              <a:rPr lang="en-US" altLang="zh-CN" dirty="0" smtClean="0"/>
              <a:t>STI(set interrupt, IF=1)</a:t>
            </a:r>
            <a:endParaRPr lang="en-US" altLang="zh-CN" dirty="0"/>
          </a:p>
          <a:p>
            <a:pPr lvl="1"/>
            <a:r>
              <a:rPr lang="zh-CN" altLang="en-US" dirty="0"/>
              <a:t>方向标志清</a:t>
            </a:r>
            <a:r>
              <a:rPr lang="en-US" altLang="zh-CN" dirty="0"/>
              <a:t>0</a:t>
            </a:r>
            <a:r>
              <a:rPr lang="zh-CN" altLang="en-US" dirty="0"/>
              <a:t>指令：</a:t>
            </a:r>
            <a:r>
              <a:rPr lang="en-US" altLang="zh-CN" dirty="0" smtClean="0"/>
              <a:t>CLD(clear </a:t>
            </a:r>
            <a:r>
              <a:rPr lang="en-US" altLang="zh-CN" dirty="0" err="1" smtClean="0"/>
              <a:t>direction,DF</a:t>
            </a:r>
            <a:r>
              <a:rPr lang="en-US" altLang="zh-CN" dirty="0" smtClean="0"/>
              <a:t>=0)</a:t>
            </a:r>
            <a:endParaRPr lang="en-US" altLang="zh-CN" dirty="0"/>
          </a:p>
          <a:p>
            <a:pPr lvl="1"/>
            <a:r>
              <a:rPr lang="zh-CN" altLang="en-US" dirty="0"/>
              <a:t>方向标志置</a:t>
            </a:r>
            <a:r>
              <a:rPr lang="en-US" altLang="zh-CN" dirty="0"/>
              <a:t>1</a:t>
            </a:r>
            <a:r>
              <a:rPr lang="zh-CN" altLang="en-US" dirty="0"/>
              <a:t>指令：</a:t>
            </a:r>
            <a:r>
              <a:rPr lang="en-US" altLang="zh-CN" dirty="0" smtClean="0"/>
              <a:t>STD(set </a:t>
            </a:r>
            <a:r>
              <a:rPr lang="en-US" altLang="zh-CN" dirty="0" err="1" smtClean="0"/>
              <a:t>direction,DF</a:t>
            </a:r>
            <a:r>
              <a:rPr lang="en-US" altLang="zh-CN" dirty="0" smtClean="0"/>
              <a:t>=1)</a:t>
            </a:r>
            <a:endParaRPr lang="zh-CN" alt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8579" y="0"/>
            <a:ext cx="10058400" cy="827673"/>
          </a:xfrm>
        </p:spPr>
        <p:txBody>
          <a:bodyPr/>
          <a:lstStyle/>
          <a:p>
            <a:r>
              <a:rPr lang="zh-CN" altLang="en-US" dirty="0"/>
              <a:t>处理器控制类指令</a:t>
            </a:r>
            <a:endParaRPr lang="zh-CN" altLang="en-US" dirty="0"/>
          </a:p>
        </p:txBody>
      </p:sp>
      <p:sp>
        <p:nvSpPr>
          <p:cNvPr id="4" name="内容占位符 2"/>
          <p:cNvSpPr txBox="1"/>
          <p:nvPr/>
        </p:nvSpPr>
        <p:spPr>
          <a:xfrm>
            <a:off x="636233" y="1124115"/>
            <a:ext cx="9448800" cy="5365462"/>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外部同步指令</a:t>
            </a:r>
            <a:endParaRPr lang="en-US" altLang="zh-CN" dirty="0"/>
          </a:p>
          <a:p>
            <a:pPr lvl="1"/>
            <a:r>
              <a:rPr lang="zh-CN" altLang="en-US" dirty="0"/>
              <a:t>空操作指令</a:t>
            </a:r>
            <a:r>
              <a:rPr lang="en-US" altLang="zh-CN" dirty="0" smtClean="0"/>
              <a:t>NOP(no operation) </a:t>
            </a:r>
            <a:endParaRPr lang="en-US" altLang="zh-CN" dirty="0"/>
          </a:p>
          <a:p>
            <a:pPr lvl="1"/>
            <a:r>
              <a:rPr lang="zh-CN" altLang="en-US" dirty="0"/>
              <a:t>暂停指令</a:t>
            </a:r>
            <a:r>
              <a:rPr lang="en-US" altLang="zh-CN" dirty="0" smtClean="0"/>
              <a:t>HLT(halt)</a:t>
            </a:r>
            <a:endParaRPr lang="en-US" altLang="zh-CN" dirty="0" smtClean="0"/>
          </a:p>
          <a:p>
            <a:pPr lvl="1"/>
            <a:endParaRPr lang="en-US" altLang="zh-CN" dirty="0"/>
          </a:p>
          <a:p>
            <a:pPr lvl="1"/>
            <a:r>
              <a:rPr lang="zh-CN" altLang="en-US" dirty="0"/>
              <a:t>交权指令</a:t>
            </a:r>
            <a:r>
              <a:rPr lang="en-US" altLang="zh-CN" dirty="0" smtClean="0"/>
              <a:t>ESC</a:t>
            </a:r>
            <a:endParaRPr lang="en-US" altLang="zh-CN" dirty="0" smtClean="0"/>
          </a:p>
          <a:p>
            <a:pPr lvl="1"/>
            <a:endParaRPr lang="en-US" altLang="zh-CN" dirty="0"/>
          </a:p>
          <a:p>
            <a:pPr lvl="1"/>
            <a:endParaRPr lang="en-US" altLang="zh-CN" dirty="0" smtClean="0"/>
          </a:p>
          <a:p>
            <a:pPr lvl="1"/>
            <a:r>
              <a:rPr lang="zh-CN" altLang="en-US" dirty="0" smtClean="0"/>
              <a:t>等待</a:t>
            </a:r>
            <a:r>
              <a:rPr lang="zh-CN" altLang="en-US" dirty="0"/>
              <a:t>指令</a:t>
            </a:r>
            <a:r>
              <a:rPr lang="en-US" altLang="zh-CN" dirty="0"/>
              <a:t>WAIT</a:t>
            </a:r>
            <a:endParaRPr lang="zh-CN" altLang="en-US" dirty="0"/>
          </a:p>
        </p:txBody>
      </p:sp>
      <p:pic>
        <p:nvPicPr>
          <p:cNvPr id="3074" name="Picture 2"/>
          <p:cNvPicPr>
            <a:picLocks noChangeAspect="1" noChangeArrowheads="1"/>
          </p:cNvPicPr>
          <p:nvPr/>
        </p:nvPicPr>
        <p:blipFill>
          <a:blip r:embed="rId1" cstate="print"/>
          <a:srcRect/>
          <a:stretch>
            <a:fillRect/>
          </a:stretch>
        </p:blipFill>
        <p:spPr bwMode="auto">
          <a:xfrm>
            <a:off x="1153053" y="5430035"/>
            <a:ext cx="8994124" cy="784333"/>
          </a:xfrm>
          <a:prstGeom prst="rect">
            <a:avLst/>
          </a:prstGeom>
          <a:noFill/>
          <a:ln w="9525">
            <a:noFill/>
            <a:miter lim="800000"/>
            <a:headEnd/>
            <a:tailEnd/>
          </a:ln>
        </p:spPr>
      </p:pic>
      <p:pic>
        <p:nvPicPr>
          <p:cNvPr id="3075" name="Picture 3"/>
          <p:cNvPicPr>
            <a:picLocks noChangeAspect="1" noChangeArrowheads="1"/>
          </p:cNvPicPr>
          <p:nvPr/>
        </p:nvPicPr>
        <p:blipFill>
          <a:blip r:embed="rId2" cstate="print"/>
          <a:srcRect/>
          <a:stretch>
            <a:fillRect/>
          </a:stretch>
        </p:blipFill>
        <p:spPr bwMode="auto">
          <a:xfrm>
            <a:off x="1341960" y="2839068"/>
            <a:ext cx="6630188" cy="371475"/>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7951696" y="2787912"/>
            <a:ext cx="3627745" cy="495300"/>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1268357" y="3843147"/>
            <a:ext cx="8781165" cy="7466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16707</Words>
  <Application>WPS 演示</Application>
  <PresentationFormat>自定义</PresentationFormat>
  <Paragraphs>1168</Paragraphs>
  <Slides>112</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112</vt:i4>
      </vt:variant>
    </vt:vector>
  </HeadingPairs>
  <TitlesOfParts>
    <vt:vector size="126" baseType="lpstr">
      <vt:lpstr>Arial</vt:lpstr>
      <vt:lpstr>宋体</vt:lpstr>
      <vt:lpstr>Wingdings</vt:lpstr>
      <vt:lpstr>等线</vt:lpstr>
      <vt:lpstr>Times New Roman</vt:lpstr>
      <vt:lpstr>楷体_GB2312</vt:lpstr>
      <vt:lpstr>新宋体</vt:lpstr>
      <vt:lpstr>微软雅黑</vt:lpstr>
      <vt:lpstr>Arial Unicode MS</vt:lpstr>
      <vt:lpstr>楷体</vt:lpstr>
      <vt:lpstr>黑体</vt:lpstr>
      <vt:lpstr>Tahoma</vt:lpstr>
      <vt:lpstr>华文仿宋</vt:lpstr>
      <vt:lpstr>Network</vt:lpstr>
      <vt:lpstr>第3章  16位/32位微处理器指令系统 </vt:lpstr>
      <vt:lpstr>3.1指令的基本格式 3.1.1指令的构成</vt:lpstr>
      <vt:lpstr>3.1.2   8086/8088的指令格式</vt:lpstr>
      <vt:lpstr>3.2 8086/8088的寻址方式</vt:lpstr>
      <vt:lpstr>立即寻址</vt:lpstr>
      <vt:lpstr>寄存器寻址</vt:lpstr>
      <vt:lpstr>直接寻址</vt:lpstr>
      <vt:lpstr>例子</vt:lpstr>
      <vt:lpstr>寄存器间接寻址</vt:lpstr>
      <vt:lpstr>基址寻址和变址寻址</vt:lpstr>
      <vt:lpstr>例子</vt:lpstr>
      <vt:lpstr>基址变址寻址</vt:lpstr>
      <vt:lpstr>固定寻址</vt:lpstr>
      <vt:lpstr>例题</vt:lpstr>
      <vt:lpstr>3.3 指令系统 3.3.1数据传送类指令</vt:lpstr>
      <vt:lpstr>1.通用数据传送指令</vt:lpstr>
      <vt:lpstr>MOV传送指令</vt:lpstr>
      <vt:lpstr>MOV传送指令</vt:lpstr>
      <vt:lpstr>XCHG(exchange)指令</vt:lpstr>
      <vt:lpstr>XLAT(translate)码指令</vt:lpstr>
      <vt:lpstr>XLAT换码指令的功能图</vt:lpstr>
      <vt:lpstr>PUSH入栈指令与POP出栈指令</vt:lpstr>
      <vt:lpstr>入栈指令PUSH</vt:lpstr>
      <vt:lpstr>PowerPoint 演示文稿</vt:lpstr>
      <vt:lpstr>出栈指令POP</vt:lpstr>
      <vt:lpstr>PowerPoint 演示文稿</vt:lpstr>
      <vt:lpstr>标志寄存器传送指令 </vt:lpstr>
      <vt:lpstr>目标地址传送指令</vt:lpstr>
      <vt:lpstr>取偏移地址指令LEA</vt:lpstr>
      <vt:lpstr>传送偏移地址及段首址指令LDS、LES</vt:lpstr>
      <vt:lpstr>PowerPoint 演示文稿</vt:lpstr>
      <vt:lpstr>输入输出指令</vt:lpstr>
      <vt:lpstr>输入指令IN</vt:lpstr>
      <vt:lpstr>输出指令OUT</vt:lpstr>
      <vt:lpstr>算术运算类指令</vt:lpstr>
      <vt:lpstr>加法指令</vt:lpstr>
      <vt:lpstr>不带进位加法指令ADD</vt:lpstr>
      <vt:lpstr>带进位加法指令ADC</vt:lpstr>
      <vt:lpstr>PowerPoint 演示文稿</vt:lpstr>
      <vt:lpstr>加１指令</vt:lpstr>
      <vt:lpstr>减法指令</vt:lpstr>
      <vt:lpstr>不带借位的减法指令SUB</vt:lpstr>
      <vt:lpstr>带借位的减法指令SBB</vt:lpstr>
      <vt:lpstr>减１指令DEC</vt:lpstr>
      <vt:lpstr>比较指令CMP</vt:lpstr>
      <vt:lpstr>比较指令CMP</vt:lpstr>
      <vt:lpstr>求补指令NEG</vt:lpstr>
      <vt:lpstr>乘法指令</vt:lpstr>
      <vt:lpstr>PowerPoint 演示文稿</vt:lpstr>
      <vt:lpstr>乘法指令</vt:lpstr>
      <vt:lpstr>符号扩展指令</vt:lpstr>
      <vt:lpstr>符号扩展指令</vt:lpstr>
      <vt:lpstr>除法运算指令</vt:lpstr>
      <vt:lpstr>图示</vt:lpstr>
      <vt:lpstr>除法运算指令</vt:lpstr>
      <vt:lpstr>十进制调整指令</vt:lpstr>
      <vt:lpstr>压缩BCD码的加法调整指令DAA</vt:lpstr>
      <vt:lpstr>逻辑运算指令</vt:lpstr>
      <vt:lpstr>非运算指令NOT</vt:lpstr>
      <vt:lpstr>与运算指令AND</vt:lpstr>
      <vt:lpstr>测试指令TEST</vt:lpstr>
      <vt:lpstr>或运算指令OR</vt:lpstr>
      <vt:lpstr>异或运算指令XOR</vt:lpstr>
      <vt:lpstr>移位指令</vt:lpstr>
      <vt:lpstr>逻辑左移指令SHL</vt:lpstr>
      <vt:lpstr>算术左移指令SAL（Arithmetic left shift）</vt:lpstr>
      <vt:lpstr>逻辑右移指令SHR</vt:lpstr>
      <vt:lpstr>算术右移指令SAR （Arithmetic right shift）</vt:lpstr>
      <vt:lpstr>循环移位指令</vt:lpstr>
      <vt:lpstr>循环左移指令ROL</vt:lpstr>
      <vt:lpstr>循环右移指令ROR</vt:lpstr>
      <vt:lpstr>带进位的循环左移指令RCL</vt:lpstr>
      <vt:lpstr>带进位的循环右移指令RCR</vt:lpstr>
      <vt:lpstr>例题</vt:lpstr>
      <vt:lpstr>串操作类指令概述</vt:lpstr>
      <vt:lpstr>重复指令前缀 </vt:lpstr>
      <vt:lpstr>无条件重复前缀REP</vt:lpstr>
      <vt:lpstr>相等/为零重复前缀REPE/REPZ</vt:lpstr>
      <vt:lpstr>不相等/不为零重复前缀REPNE/REPNZ</vt:lpstr>
      <vt:lpstr>数据字节串/字串传送指令 </vt:lpstr>
      <vt:lpstr>数据字节串/字串传送指令</vt:lpstr>
      <vt:lpstr>数据字节串/字串比较指令</vt:lpstr>
      <vt:lpstr>数据字节串/字串比较指令</vt:lpstr>
      <vt:lpstr>数据字节串/字串检索指令</vt:lpstr>
      <vt:lpstr>PowerPoint 演示文稿</vt:lpstr>
      <vt:lpstr>数据字节串/字串读出指令</vt:lpstr>
      <vt:lpstr>数据字节串/字串写入指令</vt:lpstr>
      <vt:lpstr>控制转移类指令</vt:lpstr>
      <vt:lpstr>无条件转移指令</vt:lpstr>
      <vt:lpstr>段内直接转移</vt:lpstr>
      <vt:lpstr>段内间接转移</vt:lpstr>
      <vt:lpstr>段间直接转移</vt:lpstr>
      <vt:lpstr>段间间接转移</vt:lpstr>
      <vt:lpstr>段间间接转移举例</vt:lpstr>
      <vt:lpstr>条件转移指令</vt:lpstr>
      <vt:lpstr>单标志位转移指令 </vt:lpstr>
      <vt:lpstr>PowerPoint 演示文稿</vt:lpstr>
      <vt:lpstr>无符号数的条件转移指令 </vt:lpstr>
      <vt:lpstr>有符号数的条件转移指令</vt:lpstr>
      <vt:lpstr>测试CX条件转移指令</vt:lpstr>
      <vt:lpstr>循环转移指令</vt:lpstr>
      <vt:lpstr>计数循环指令</vt:lpstr>
      <vt:lpstr>相等/为零计数循环指令</vt:lpstr>
      <vt:lpstr>不相等/不为零计数循环指令</vt:lpstr>
      <vt:lpstr>子程序调用和返回指令</vt:lpstr>
      <vt:lpstr>PowerPoint 演示文稿</vt:lpstr>
      <vt:lpstr>中断和中断返回指令</vt:lpstr>
      <vt:lpstr>中断和中断返回指令</vt:lpstr>
      <vt:lpstr>中断和中断返回指令</vt:lpstr>
      <vt:lpstr>中断和中断返回指令</vt:lpstr>
      <vt:lpstr>处理器控制类指令</vt:lpstr>
      <vt:lpstr>处理器控制类指令</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165</cp:revision>
  <dcterms:created xsi:type="dcterms:W3CDTF">2021-02-04T09:02:00Z</dcterms:created>
  <dcterms:modified xsi:type="dcterms:W3CDTF">2026-03-16T12:31:26Z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1B839300D1A545AF9F2184F1BC4C5648_12</vt:lpwstr>
  </property>
  <property fmtid="{D5CDD505-2E9C-101B-9397-08002B2CF9AE}" pid="3" name="KSOProductBuildVer">
    <vt:lpwstr>2052-12.1.0.24657</vt:lpwstr>
  </property>
</Properties>
</file>