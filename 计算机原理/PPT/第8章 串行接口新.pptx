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16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0" r:id="rId17"/>
    <p:sldId id="431" r:id="rId18"/>
    <p:sldId id="43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102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9A3BD-9D4B-4A17-89AD-AB8D99722C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4F641-F5F8-49D6-AB8D-CF80F2600D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5" name="Group 8"/>
          <p:cNvGrpSpPr/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单击此处编辑母版标题样式</a:t>
            </a:r>
            <a:endParaRPr lang="en-US" altLang="zh-CN" noProof="0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CN" noProof="0"/>
              <a:t>单击此处编辑母版副标题样式</a:t>
            </a:r>
            <a:endParaRPr lang="en-US" altLang="zh-CN" noProof="0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87ED82-D1A3-45FE-80F8-86D8D28D03CD}" type="datetime1">
              <a:rPr lang="zh-CN" altLang="en-US"/>
            </a:fld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4872D5-BB51-432C-B3A3-4E481E81D3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4411662"/>
          </a:xfrm>
        </p:spPr>
        <p:txBody>
          <a:bodyPr/>
          <a:lstStyle>
            <a:lvl1pPr>
              <a:buFont typeface="Wingdings" panose="05000000000000000000" pitchFamily="2" charset="2"/>
              <a:buChar char="u"/>
              <a:defRPr sz="2800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baseline="0"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F43AE-F8FD-49EE-9553-888B016E31A5}" type="datetime1">
              <a:rPr lang="zh-CN" altLang="en-US"/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C0CD6-327D-499A-9754-0F1E4D84582B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0820B-D0F1-47EF-A8DA-9994F9F83B6C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CC5FF-F08F-495A-851B-EA259259A7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17693-7908-4A91-B471-8FEF6DA281B2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74614-4E03-4DCB-98CE-097C97818E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2CC61-C6FC-4A0D-9DB9-9F02363F5AE9}" type="datetime1">
              <a:rPr lang="zh-CN" altLang="en-US"/>
            </a:fld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CEBCD-7FCF-484B-9305-64C83D94B2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741FA-DDBC-4EA0-94D5-FBD8154C3488}" type="datetime1">
              <a:rPr lang="zh-CN" altLang="en-US"/>
            </a:fld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4A460-7B25-4553-A69A-B2BB29F6AC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63E86-D2F7-47EE-8733-36D525731CFA}" type="datetime1">
              <a:rPr lang="zh-CN" altLang="en-US"/>
            </a:fld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A3EF1-332A-4F12-8EA6-9ED17615C7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77AC4-9B6B-4955-98AD-6DB523334E40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67FF3-FD84-43F7-9698-CD5E53E22E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B7E4C-ECAE-4348-B44D-B6E27617DF07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F11EB-CA78-49BC-B922-1C8209DB6A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0FF42-8979-4AE7-AB32-AB2B478435CF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A54F1-1552-454D-8C86-18F7606D26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E9331-9EC7-4BC1-9F19-95838F0AB25F}" type="datetime1">
              <a:rPr lang="zh-CN" altLang="en-US"/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095CD-4004-401E-BA56-829390CFAA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F7F5F-45AA-4834-B66F-E424254E1B5E}" type="datetime1">
              <a:rPr lang="zh-CN" altLang="en-US"/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6D292-B2CC-4663-B63B-6660727BF5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 dirty="0" err="1"/>
              <a:t>单击此处编辑母版标题样式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101541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 err="1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 err="1"/>
              <a:t>第二级</a:t>
            </a:r>
            <a:endParaRPr lang="en-US" altLang="zh-CN" dirty="0"/>
          </a:p>
          <a:p>
            <a:pPr lvl="2"/>
            <a:r>
              <a:rPr lang="en-US" altLang="zh-CN" dirty="0" err="1"/>
              <a:t>第三级</a:t>
            </a:r>
            <a:endParaRPr lang="en-US" altLang="zh-CN" dirty="0"/>
          </a:p>
          <a:p>
            <a:pPr lvl="3"/>
            <a:r>
              <a:rPr lang="en-US" altLang="zh-CN" dirty="0" err="1"/>
              <a:t>第四级</a:t>
            </a:r>
            <a:endParaRPr lang="en-US" altLang="zh-CN" dirty="0"/>
          </a:p>
          <a:p>
            <a:pPr lvl="4"/>
            <a:r>
              <a:rPr lang="en-US" altLang="zh-CN" dirty="0" err="1"/>
              <a:t>第五级</a:t>
            </a:r>
            <a:endParaRPr lang="en-US" altLang="zh-CN" dirty="0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smtClean="0"/>
            </a:lvl1pPr>
          </a:lstStyle>
          <a:p>
            <a:pPr>
              <a:defRPr/>
            </a:pPr>
            <a:fld id="{054E35A8-292F-4AEC-B83B-BB31DB8FE108}" type="datetime1">
              <a:rPr lang="zh-CN" altLang="en-US"/>
            </a:fld>
            <a:endParaRPr lang="en-US" altLang="zh-CN"/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en-US" altLang="zh-CN"/>
              <a:t>逻辑代数基础----《数字电路》</a:t>
            </a:r>
            <a:endParaRPr lang="en-US" altLang="zh-CN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1A8543FF-F682-49C5-9892-9CF2B52A8733}" type="slidenum">
              <a:rPr lang="en-US" altLang="zh-CN"/>
            </a:fld>
            <a:endParaRPr lang="en-US" altLang="zh-CN"/>
          </a:p>
        </p:txBody>
      </p:sp>
      <p:grpSp>
        <p:nvGrpSpPr>
          <p:cNvPr id="1032" name="Group 8"/>
          <p:cNvGrpSpPr/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18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</a:t>
            </a:r>
            <a:r>
              <a:rPr lang="en-US" altLang="zh-CN" dirty="0"/>
              <a:t> </a:t>
            </a:r>
            <a:r>
              <a:rPr lang="zh-CN" altLang="en-US" dirty="0"/>
              <a:t>串行</a:t>
            </a:r>
            <a:r>
              <a:rPr lang="zh-CN" altLang="en-US" dirty="0"/>
              <a:t>接口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串行通信的基本概念</a:t>
            </a:r>
            <a:endParaRPr lang="zh-CN" altLang="en-US" dirty="0"/>
          </a:p>
          <a:p>
            <a:r>
              <a:rPr lang="zh-CN" altLang="en-US" dirty="0"/>
              <a:t>串行数据传输方式</a:t>
            </a:r>
            <a:endParaRPr lang="zh-CN" altLang="en-US" dirty="0"/>
          </a:p>
          <a:p>
            <a:r>
              <a:rPr lang="zh-CN" altLang="en-US" dirty="0"/>
              <a:t>串行通信的类型</a:t>
            </a:r>
            <a:endParaRPr lang="en-US" altLang="zh-CN" dirty="0"/>
          </a:p>
          <a:p>
            <a:r>
              <a:rPr lang="zh-CN" altLang="en-US" dirty="0"/>
              <a:t>串行接口和串行接口标准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串行通信的基本概念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zh-CN" sz="2800" dirty="0"/>
              <a:t>通信的基本方式可分为：</a:t>
            </a:r>
            <a:endParaRPr lang="zh-CN" altLang="zh-CN" sz="2800" dirty="0"/>
          </a:p>
          <a:p>
            <a:pPr lvl="1">
              <a:lnSpc>
                <a:spcPct val="90000"/>
              </a:lnSpc>
            </a:pPr>
            <a:r>
              <a:rPr lang="zh-CN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并行通信：</a:t>
            </a:r>
            <a:r>
              <a:rPr lang="zh-CN" altLang="zh-CN" sz="2800" dirty="0"/>
              <a:t>把一个字符的各数位用几根数据线同时进行传输。</a:t>
            </a:r>
            <a:endParaRPr lang="zh-CN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串行通信</a:t>
            </a:r>
            <a:r>
              <a:rPr lang="zh-CN" altLang="zh-CN" sz="2800" dirty="0">
                <a:solidFill>
                  <a:schemeClr val="hlink"/>
                </a:solidFill>
              </a:rPr>
              <a:t>：</a:t>
            </a:r>
            <a:r>
              <a:rPr lang="zh-CN" altLang="zh-CN" sz="2800" dirty="0"/>
              <a:t>数据逐位顺序传送。</a:t>
            </a:r>
            <a:endParaRPr lang="zh-CN" altLang="zh-CN" sz="2800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zh-CN" sz="2800"/>
              <a:t>优点</a:t>
            </a:r>
            <a:r>
              <a:rPr lang="zh-CN" altLang="zh-CN" sz="2800" smtClean="0"/>
              <a:t>：用于</a:t>
            </a:r>
            <a:r>
              <a:rPr lang="zh-CN" altLang="zh-CN" sz="2800" dirty="0"/>
              <a:t>通信的线路少，在远距离通信时可以极大地降低成本。</a:t>
            </a:r>
            <a:endParaRPr lang="zh-CN" altLang="zh-CN" sz="2800" dirty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/>
              <a:t>缺点：相对并行通信方式，串行通信速度较慢</a:t>
            </a:r>
            <a:endParaRPr lang="zh-CN" altLang="zh-CN" sz="2800" dirty="0"/>
          </a:p>
          <a:p>
            <a:pPr>
              <a:lnSpc>
                <a:spcPct val="90000"/>
              </a:lnSpc>
            </a:pPr>
            <a:r>
              <a:rPr lang="zh-CN" altLang="zh-CN" sz="2800" dirty="0"/>
              <a:t>PC机上一般都有两个串行异步通信接口COM1和COM2，键盘、鼠标器与主机之间也常采用串行数据传送方式。 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串行数据传输方式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671" y="1666669"/>
            <a:ext cx="7448550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583253" y="4933744"/>
            <a:ext cx="7797800" cy="863600"/>
          </a:xfrm>
          <a:prstGeom prst="rect">
            <a:avLst/>
          </a:prstGeom>
          <a:noFill/>
          <a:ln w="38100" cap="flat" cmpd="dbl">
            <a:solidFill>
              <a:srgbClr val="00E4A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170" tIns="46990" rIns="90170" bIns="4699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1" charset="-122"/>
              </a:rPr>
              <a:t>目前，在微机通信系统中，单工方式很少采用，多数是采用半双工或全双工方式。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串行通信时，数据、控制和状态信息都使用同一根信号线传送。为使通信能顺利进行，收发双方必须遵守共同的通信协议</a:t>
            </a:r>
            <a:r>
              <a:rPr lang="en-US" altLang="zh-CN" dirty="0"/>
              <a:t>(</a:t>
            </a:r>
            <a:r>
              <a:rPr lang="zh-CN" altLang="en-US" dirty="0"/>
              <a:t>通信规程</a:t>
            </a:r>
            <a:r>
              <a:rPr lang="en-US" altLang="zh-CN" dirty="0"/>
              <a:t>)</a:t>
            </a:r>
            <a:r>
              <a:rPr lang="zh-CN" altLang="en-US" dirty="0"/>
              <a:t>，才能解决传送速率、信息格式、同步方式、数据校验等问题。</a:t>
            </a:r>
            <a:endParaRPr lang="zh-CN" altLang="en-US" dirty="0"/>
          </a:p>
          <a:p>
            <a:r>
              <a:rPr lang="zh-CN" altLang="en-US" dirty="0"/>
              <a:t>根据同步方式的不同，将串行通信分为两类</a:t>
            </a:r>
            <a:r>
              <a:rPr lang="en-US" altLang="zh-CN" dirty="0"/>
              <a:t>:</a:t>
            </a:r>
            <a:endParaRPr lang="en-US" altLang="zh-CN" dirty="0"/>
          </a:p>
          <a:p>
            <a:pPr lvl="1"/>
            <a:r>
              <a:rPr lang="zh-CN" altLang="en-US" dirty="0"/>
              <a:t>异步通信</a:t>
            </a:r>
            <a:r>
              <a:rPr lang="en-US" altLang="zh-CN" dirty="0"/>
              <a:t>(asynchronous communication)</a:t>
            </a:r>
            <a:endParaRPr lang="en-US" altLang="zh-CN" dirty="0"/>
          </a:p>
          <a:p>
            <a:pPr lvl="1"/>
            <a:r>
              <a:rPr lang="zh-CN" altLang="en-US" dirty="0"/>
              <a:t>同步通信</a:t>
            </a:r>
            <a:r>
              <a:rPr lang="en-US" altLang="zh-CN" dirty="0"/>
              <a:t>(synchronous communication)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异步通信</a:t>
            </a:r>
            <a:endParaRPr lang="zh-CN" altLang="en-US" dirty="0"/>
          </a:p>
          <a:p>
            <a:r>
              <a:rPr lang="zh-CN" altLang="en-US" dirty="0"/>
              <a:t>异步通信以字符为单位</a:t>
            </a:r>
            <a:r>
              <a:rPr lang="en-US" altLang="zh-CN" dirty="0"/>
              <a:t>(character –oriented)</a:t>
            </a:r>
            <a:r>
              <a:rPr lang="zh-CN" altLang="en-US" dirty="0"/>
              <a:t>进行传输，采用起止式异步通信协议。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127" y="2462507"/>
            <a:ext cx="7918450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对话气泡: 矩形 7"/>
          <p:cNvSpPr/>
          <p:nvPr/>
        </p:nvSpPr>
        <p:spPr bwMode="auto">
          <a:xfrm>
            <a:off x="167640" y="1295400"/>
            <a:ext cx="2362200" cy="1618549"/>
          </a:xfrm>
          <a:prstGeom prst="wedgeRectCallout">
            <a:avLst>
              <a:gd name="adj1" fmla="val 41748"/>
              <a:gd name="adj2" fmla="val 7474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每个字符开始传送的标志，起始位采用逻辑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电平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对话气泡: 矩形 10"/>
          <p:cNvSpPr/>
          <p:nvPr/>
        </p:nvSpPr>
        <p:spPr bwMode="auto">
          <a:xfrm>
            <a:off x="2225974" y="4818121"/>
            <a:ext cx="3335770" cy="1618549"/>
          </a:xfrm>
          <a:prstGeom prst="wedgeRectCallout">
            <a:avLst>
              <a:gd name="adj1" fmla="val 90361"/>
              <a:gd name="adj2" fmla="val -13689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表示该字符传送结束。停止位采用逻辑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电平，可选择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1.5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对话气泡: 矩形 11"/>
          <p:cNvSpPr/>
          <p:nvPr/>
        </p:nvSpPr>
        <p:spPr bwMode="auto">
          <a:xfrm>
            <a:off x="2673849" y="154967"/>
            <a:ext cx="2705100" cy="1564073"/>
          </a:xfrm>
          <a:prstGeom prst="wedgeRectCallout">
            <a:avLst>
              <a:gd name="adj1" fmla="val 50104"/>
              <a:gd name="adj2" fmla="val 14305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数据位紧跟着起始位传送。由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个二进制位组成，低位先传送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对话气泡: 矩形 12"/>
          <p:cNvSpPr/>
          <p:nvPr/>
        </p:nvSpPr>
        <p:spPr bwMode="auto">
          <a:xfrm>
            <a:off x="5888470" y="1357756"/>
            <a:ext cx="3331730" cy="1084521"/>
          </a:xfrm>
          <a:prstGeom prst="wedgeRectCallout">
            <a:avLst>
              <a:gd name="adj1" fmla="val -38836"/>
              <a:gd name="adj2" fmla="val 8609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用于校验是否传送正确；可选择奇检验、偶校验或不传送校验位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对话气泡: 矩形 13"/>
          <p:cNvSpPr/>
          <p:nvPr/>
        </p:nvSpPr>
        <p:spPr bwMode="auto">
          <a:xfrm>
            <a:off x="8404976" y="3994710"/>
            <a:ext cx="2362200" cy="1618549"/>
          </a:xfrm>
          <a:prstGeom prst="wedgeRectCallout">
            <a:avLst>
              <a:gd name="adj1" fmla="val -89220"/>
              <a:gd name="adj2" fmla="val -9568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传送字符之间的逻辑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电平，表示没有进行传送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异步通信</a:t>
            </a:r>
            <a:endParaRPr lang="zh-CN" altLang="en-US" dirty="0"/>
          </a:p>
          <a:p>
            <a:r>
              <a:rPr lang="zh-CN" altLang="en-US" dirty="0"/>
              <a:t>异步通信的工作原理</a:t>
            </a:r>
            <a:endParaRPr lang="en-US" altLang="zh-CN" dirty="0"/>
          </a:p>
          <a:p>
            <a:pPr lvl="1"/>
            <a:r>
              <a:rPr lang="zh-CN" altLang="en-US" dirty="0"/>
              <a:t>传送开始后，接收设备不断检测传输线是否有起始位的到来，当接收到一系列的“</a:t>
            </a:r>
            <a:r>
              <a:rPr lang="en-US" altLang="zh-CN" dirty="0"/>
              <a:t>1”(</a:t>
            </a:r>
            <a:r>
              <a:rPr lang="zh-CN" altLang="en-US" dirty="0"/>
              <a:t>空闲位或停止位</a:t>
            </a:r>
            <a:r>
              <a:rPr lang="en-US" altLang="zh-CN" dirty="0"/>
              <a:t>)</a:t>
            </a:r>
            <a:r>
              <a:rPr lang="zh-CN" altLang="en-US" dirty="0"/>
              <a:t>之后，检测到第一个“</a:t>
            </a:r>
            <a:r>
              <a:rPr lang="en-US" altLang="zh-CN" dirty="0"/>
              <a:t>0”</a:t>
            </a:r>
            <a:r>
              <a:rPr lang="zh-CN" altLang="en-US" dirty="0"/>
              <a:t>，说明起始位出现，就开始接收所规定的数据位、奇偶校验位及停止位。</a:t>
            </a:r>
            <a:endParaRPr lang="en-US" altLang="zh-CN" dirty="0"/>
          </a:p>
          <a:p>
            <a:pPr lvl="1"/>
            <a:r>
              <a:rPr lang="zh-CN" altLang="en-US" dirty="0"/>
              <a:t>经过接收器处理，将停止位去掉，把数据位拼装成为一个字节数据，经校验无误，则接收完毕。</a:t>
            </a:r>
            <a:endParaRPr lang="en-US" altLang="zh-CN" dirty="0"/>
          </a:p>
          <a:p>
            <a:pPr lvl="1"/>
            <a:r>
              <a:rPr lang="zh-CN" altLang="en-US" dirty="0"/>
              <a:t>当一个字符接收完毕后，接收设备又继续监视传输线“</a:t>
            </a:r>
            <a:r>
              <a:rPr lang="en-US" altLang="zh-CN" dirty="0"/>
              <a:t>0”</a:t>
            </a:r>
            <a:r>
              <a:rPr lang="zh-CN" altLang="en-US" dirty="0"/>
              <a:t>电平的到来</a:t>
            </a:r>
            <a:r>
              <a:rPr lang="en-US" altLang="zh-CN" dirty="0"/>
              <a:t>(</a:t>
            </a:r>
            <a:r>
              <a:rPr lang="zh-CN" altLang="en-US" dirty="0"/>
              <a:t>下一个字符的开始</a:t>
            </a:r>
            <a:r>
              <a:rPr lang="en-US" altLang="zh-CN" dirty="0"/>
              <a:t>)</a:t>
            </a:r>
            <a:r>
              <a:rPr lang="zh-CN" altLang="en-US" dirty="0"/>
              <a:t>，直到全部数据接收完毕。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异步通信</a:t>
            </a:r>
            <a:endParaRPr lang="zh-CN" altLang="en-US" dirty="0"/>
          </a:p>
          <a:p>
            <a:r>
              <a:rPr lang="zh-CN" altLang="en-US" dirty="0"/>
              <a:t>异步通信的特点</a:t>
            </a:r>
            <a:endParaRPr lang="en-US" altLang="zh-CN" dirty="0"/>
          </a:p>
          <a:p>
            <a:pPr lvl="1"/>
            <a:r>
              <a:rPr lang="zh-CN" altLang="en-US" dirty="0"/>
              <a:t>优点：由于接收方通过每个字符的起始位达到字符传送的同步时钟作用，所以收</a:t>
            </a:r>
            <a:r>
              <a:rPr lang="en-US" altLang="zh-CN" dirty="0"/>
              <a:t>/</a:t>
            </a:r>
            <a:r>
              <a:rPr lang="zh-CN" altLang="en-US" dirty="0"/>
              <a:t>发双方设备较简单，实现起来方便，对各字符间的间隔长度没有限制。</a:t>
            </a:r>
            <a:endParaRPr lang="en-US" altLang="zh-CN" dirty="0"/>
          </a:p>
          <a:p>
            <a:pPr lvl="1"/>
            <a:r>
              <a:rPr lang="zh-CN" altLang="en-US" dirty="0"/>
              <a:t>缺点：每个数据要加上起始位、停止位等信息，至少要有</a:t>
            </a:r>
            <a:r>
              <a:rPr lang="en-US" altLang="zh-CN" dirty="0"/>
              <a:t>20</a:t>
            </a:r>
            <a:r>
              <a:rPr lang="zh-CN" altLang="en-US" dirty="0"/>
              <a:t>％的冗余时间，这样就降低了数据的传送速率。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4602479" cy="44116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同步通信</a:t>
            </a:r>
            <a:endParaRPr lang="zh-CN" altLang="en-US" dirty="0"/>
          </a:p>
          <a:p>
            <a:r>
              <a:rPr lang="zh-CN" altLang="en-US" dirty="0"/>
              <a:t>面向字符型的数据格式</a:t>
            </a:r>
            <a:endParaRPr lang="zh-CN" altLang="en-US" dirty="0"/>
          </a:p>
          <a:p>
            <a:r>
              <a:rPr lang="zh-CN" altLang="en-US" dirty="0"/>
              <a:t>从同步通信数据格式中可以看出，传送的数据信息越长，数据传输效率越高，故同步通信运用于要求快速、连续传输大量数据的场合。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148" y="1805305"/>
            <a:ext cx="5454891" cy="4239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波特率</a:t>
            </a:r>
            <a:endParaRPr lang="zh-CN" altLang="en-US" dirty="0"/>
          </a:p>
          <a:p>
            <a:r>
              <a:rPr lang="zh-CN" altLang="en-US" dirty="0"/>
              <a:t>串行通信的传输速率也称波特率</a:t>
            </a:r>
            <a:r>
              <a:rPr lang="en-US" altLang="zh-CN" dirty="0"/>
              <a:t>(Baud Rate)</a:t>
            </a:r>
            <a:r>
              <a:rPr lang="zh-CN" altLang="en-US" dirty="0"/>
              <a:t>，即每秒传输的二进制位数。标准波特率系列为</a:t>
            </a:r>
            <a:r>
              <a:rPr lang="en-US" altLang="zh-CN" dirty="0"/>
              <a:t>110</a:t>
            </a:r>
            <a:r>
              <a:rPr lang="zh-CN" altLang="en-US" dirty="0"/>
              <a:t>、</a:t>
            </a:r>
            <a:r>
              <a:rPr lang="en-US" altLang="zh-CN" dirty="0"/>
              <a:t>300</a:t>
            </a:r>
            <a:r>
              <a:rPr lang="zh-CN" altLang="en-US" dirty="0"/>
              <a:t>、</a:t>
            </a:r>
            <a:r>
              <a:rPr lang="en-US" altLang="zh-CN" dirty="0"/>
              <a:t>600</a:t>
            </a:r>
            <a:r>
              <a:rPr lang="zh-CN" altLang="en-US" dirty="0"/>
              <a:t>、</a:t>
            </a:r>
            <a:r>
              <a:rPr lang="en-US" altLang="zh-CN" dirty="0"/>
              <a:t>1200</a:t>
            </a:r>
            <a:r>
              <a:rPr lang="zh-CN" altLang="en-US" dirty="0"/>
              <a:t>、</a:t>
            </a:r>
            <a:r>
              <a:rPr lang="en-US" altLang="zh-CN" dirty="0"/>
              <a:t>1800</a:t>
            </a:r>
            <a:r>
              <a:rPr lang="zh-CN" altLang="en-US" dirty="0"/>
              <a:t>、</a:t>
            </a:r>
            <a:r>
              <a:rPr lang="en-US" altLang="zh-CN" dirty="0"/>
              <a:t>2400</a:t>
            </a:r>
            <a:r>
              <a:rPr lang="zh-CN" altLang="en-US" dirty="0"/>
              <a:t>、</a:t>
            </a:r>
            <a:r>
              <a:rPr lang="en-US" altLang="zh-CN" dirty="0"/>
              <a:t>4800</a:t>
            </a:r>
            <a:r>
              <a:rPr lang="zh-CN" altLang="en-US" dirty="0"/>
              <a:t>、</a:t>
            </a:r>
            <a:r>
              <a:rPr lang="en-US" altLang="zh-CN" dirty="0"/>
              <a:t>9600</a:t>
            </a:r>
            <a:r>
              <a:rPr lang="zh-CN" altLang="en-US" dirty="0"/>
              <a:t>和</a:t>
            </a:r>
            <a:r>
              <a:rPr lang="en-US" altLang="zh-CN" dirty="0"/>
              <a:t>19200</a:t>
            </a:r>
            <a:r>
              <a:rPr lang="zh-CN" altLang="en-US" dirty="0"/>
              <a:t>。现在，数据传输速率可以达到</a:t>
            </a:r>
            <a:r>
              <a:rPr lang="en-US" altLang="zh-CN" dirty="0"/>
              <a:t>115200bps</a:t>
            </a:r>
            <a:r>
              <a:rPr lang="zh-CN" altLang="en-US" dirty="0"/>
              <a:t>或更高。</a:t>
            </a:r>
            <a:endParaRPr lang="zh-CN" altLang="en-US" dirty="0"/>
          </a:p>
          <a:p>
            <a:r>
              <a:rPr lang="zh-CN" altLang="en-US" dirty="0"/>
              <a:t>例如，波特率为</a:t>
            </a:r>
            <a:r>
              <a:rPr lang="en-US" altLang="zh-CN" dirty="0"/>
              <a:t>1200</a:t>
            </a:r>
            <a:r>
              <a:rPr lang="zh-CN" altLang="en-US" dirty="0"/>
              <a:t>，对于采用</a:t>
            </a:r>
            <a:r>
              <a:rPr lang="en-US" altLang="zh-CN" dirty="0"/>
              <a:t>1</a:t>
            </a:r>
            <a:r>
              <a:rPr lang="zh-CN" altLang="en-US" dirty="0"/>
              <a:t>个停止位、不用校验的</a:t>
            </a:r>
            <a:r>
              <a:rPr lang="en-US" altLang="zh-CN" dirty="0"/>
              <a:t>8</a:t>
            </a:r>
            <a:r>
              <a:rPr lang="zh-CN" altLang="en-US" dirty="0"/>
              <a:t>位数据传送来说，一个字符共有</a:t>
            </a:r>
            <a:r>
              <a:rPr lang="en-US" altLang="zh-CN" dirty="0"/>
              <a:t>10</a:t>
            </a:r>
            <a:r>
              <a:rPr lang="zh-CN" altLang="en-US" dirty="0"/>
              <a:t>位，则每秒能传送</a:t>
            </a:r>
            <a:r>
              <a:rPr lang="en-US" altLang="zh-CN" dirty="0"/>
              <a:t>120(=1200/10)</a:t>
            </a:r>
            <a:r>
              <a:rPr lang="zh-CN" altLang="en-US" dirty="0"/>
              <a:t>个字符。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串行通信的类型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异步通信与同步通信的比较</a:t>
            </a:r>
            <a:endParaRPr lang="zh-CN" altLang="en-US" dirty="0"/>
          </a:p>
          <a:p>
            <a:r>
              <a:rPr lang="zh-CN" altLang="en-US" dirty="0"/>
              <a:t>在异步传输过程中，设每个字符对应</a:t>
            </a:r>
            <a:r>
              <a:rPr lang="en-US" altLang="zh-CN" dirty="0"/>
              <a:t>1</a:t>
            </a:r>
            <a:r>
              <a:rPr lang="zh-CN" altLang="en-US" dirty="0"/>
              <a:t>个起始位、</a:t>
            </a:r>
            <a:r>
              <a:rPr lang="en-US" altLang="zh-CN" dirty="0"/>
              <a:t>7</a:t>
            </a:r>
            <a:r>
              <a:rPr lang="zh-CN" altLang="en-US" dirty="0"/>
              <a:t>个数据位、</a:t>
            </a:r>
            <a:r>
              <a:rPr lang="en-US" altLang="zh-CN" dirty="0"/>
              <a:t>1</a:t>
            </a:r>
            <a:r>
              <a:rPr lang="zh-CN" altLang="en-US" dirty="0"/>
              <a:t>个奇</a:t>
            </a:r>
            <a:r>
              <a:rPr lang="en-US" altLang="zh-CN" dirty="0"/>
              <a:t>/</a:t>
            </a:r>
            <a:r>
              <a:rPr lang="zh-CN" altLang="en-US" dirty="0"/>
              <a:t>偶校验位和</a:t>
            </a:r>
            <a:r>
              <a:rPr lang="en-US" altLang="zh-CN" dirty="0"/>
              <a:t>1</a:t>
            </a:r>
            <a:r>
              <a:rPr lang="zh-CN" altLang="en-US" dirty="0"/>
              <a:t>个停止位，如果波特率为</a:t>
            </a:r>
            <a:r>
              <a:rPr lang="en-US" altLang="zh-CN" dirty="0"/>
              <a:t>1200</a:t>
            </a:r>
            <a:r>
              <a:rPr lang="zh-CN" altLang="en-US" dirty="0"/>
              <a:t>，则每秒钟能传输的最大字符数为</a:t>
            </a:r>
            <a:r>
              <a:rPr lang="en-US" altLang="zh-CN" dirty="0"/>
              <a:t>:1200</a:t>
            </a:r>
            <a:r>
              <a:rPr lang="zh-CN" altLang="en-US" dirty="0"/>
              <a:t>／</a:t>
            </a:r>
            <a:r>
              <a:rPr lang="en-US" altLang="zh-CN" dirty="0"/>
              <a:t>10</a:t>
            </a:r>
            <a:r>
              <a:rPr lang="zh-CN" altLang="en-US" dirty="0"/>
              <a:t>＝</a:t>
            </a:r>
            <a:r>
              <a:rPr lang="en-US" altLang="zh-CN" dirty="0"/>
              <a:t>120</a:t>
            </a:r>
            <a:r>
              <a:rPr lang="zh-CN" altLang="en-US" dirty="0"/>
              <a:t>个。</a:t>
            </a:r>
            <a:endParaRPr lang="zh-CN" altLang="en-US" dirty="0"/>
          </a:p>
          <a:p>
            <a:r>
              <a:rPr lang="zh-CN" altLang="en-US" dirty="0"/>
              <a:t>再来看一个同步传输的例子。假如也用</a:t>
            </a:r>
            <a:r>
              <a:rPr lang="en-US" altLang="zh-CN" dirty="0"/>
              <a:t>1200</a:t>
            </a:r>
            <a:r>
              <a:rPr lang="zh-CN" altLang="en-US" dirty="0"/>
              <a:t>的波特率工作，用</a:t>
            </a:r>
            <a:r>
              <a:rPr lang="en-US" altLang="zh-CN" dirty="0"/>
              <a:t>2</a:t>
            </a:r>
            <a:r>
              <a:rPr lang="zh-CN" altLang="en-US" dirty="0"/>
              <a:t>个同步字符和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CRC</a:t>
            </a:r>
            <a:r>
              <a:rPr lang="zh-CN" altLang="en-US" dirty="0"/>
              <a:t>码，设每秒钟能传输的字符数为</a:t>
            </a:r>
            <a:r>
              <a:rPr lang="en-US" altLang="zh-CN" dirty="0"/>
              <a:t>n</a:t>
            </a:r>
            <a:r>
              <a:rPr lang="zh-CN" altLang="en-US" dirty="0"/>
              <a:t>，则</a:t>
            </a:r>
            <a:r>
              <a:rPr lang="en-US" altLang="zh-CN" dirty="0"/>
              <a:t>7×(n+2+2)=1200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167</a:t>
            </a:r>
            <a:r>
              <a:rPr lang="zh-CN" altLang="en-US" dirty="0"/>
              <a:t>个。</a:t>
            </a:r>
            <a:endParaRPr lang="zh-CN" altLang="en-US" dirty="0"/>
          </a:p>
          <a:p>
            <a:r>
              <a:rPr lang="zh-CN" altLang="en-US" dirty="0"/>
              <a:t>在同样的传输速率下，同步传输实际字符传输速率要比异步传输时高。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串行接口和串行接口标准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27188"/>
            <a:ext cx="10058400" cy="44116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串行接口概述</a:t>
            </a:r>
            <a:endParaRPr lang="zh-CN" altLang="en-US" dirty="0"/>
          </a:p>
          <a:p>
            <a:r>
              <a:rPr lang="zh-CN" altLang="en-US" dirty="0"/>
              <a:t>串行通信实际上把数据一位一位地发送和接收，而计算机处理数据是并行的，它要传输的数据也是并行的，因此这就需要一个部件把并行数据与串行数据进行转换。</a:t>
            </a:r>
            <a:endParaRPr lang="zh-CN" altLang="en-US" dirty="0"/>
          </a:p>
          <a:p>
            <a:r>
              <a:rPr lang="zh-CN" altLang="en-US" dirty="0"/>
              <a:t>发送数据端：</a:t>
            </a:r>
            <a:r>
              <a:rPr lang="en-US" altLang="zh-CN" dirty="0"/>
              <a:t>CPU</a:t>
            </a:r>
            <a:r>
              <a:rPr lang="zh-CN" altLang="en-US" dirty="0"/>
              <a:t>把要传输的数据写入并入串出移位寄存器中，然后移位寄存器在同步时钟的作用下，把数据逐位移出，发送给接收端。</a:t>
            </a:r>
            <a:endParaRPr lang="zh-CN" altLang="en-US" dirty="0"/>
          </a:p>
          <a:p>
            <a:r>
              <a:rPr lang="zh-CN" altLang="en-US" dirty="0"/>
              <a:t>接收数据端：在同步时钟的作用下，将发送端送来的数据逐位移入串入并出移位寄存器，然后</a:t>
            </a:r>
            <a:r>
              <a:rPr lang="en-US" altLang="zh-CN" dirty="0"/>
              <a:t>CPU</a:t>
            </a:r>
            <a:r>
              <a:rPr lang="zh-CN" altLang="en-US" dirty="0"/>
              <a:t>把串入并出移位寄存器的数据读入</a:t>
            </a:r>
            <a:r>
              <a:rPr lang="en-US" altLang="zh-CN" dirty="0"/>
              <a:t>CPU</a:t>
            </a:r>
            <a:r>
              <a:rPr lang="zh-CN" altLang="en-US" dirty="0"/>
              <a:t>中。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串行接口和串行接口标准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7638"/>
            <a:ext cx="10744200" cy="44116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串行接口标准</a:t>
            </a:r>
            <a:r>
              <a:rPr lang="en-US" altLang="zh-CN" dirty="0"/>
              <a:t>RS-232C</a:t>
            </a:r>
            <a:endParaRPr lang="en-US" altLang="zh-CN" dirty="0"/>
          </a:p>
          <a:p>
            <a:r>
              <a:rPr lang="en-US" altLang="zh-CN" dirty="0"/>
              <a:t>RS-232C</a:t>
            </a:r>
            <a:r>
              <a:rPr lang="zh-CN" altLang="en-US" dirty="0"/>
              <a:t>是由美国电子工业协会</a:t>
            </a:r>
            <a:r>
              <a:rPr lang="en-US" altLang="zh-CN" dirty="0"/>
              <a:t>(Electronics Industries Association</a:t>
            </a:r>
            <a:r>
              <a:rPr lang="zh-CN" altLang="en-US" dirty="0"/>
              <a:t>，</a:t>
            </a:r>
            <a:r>
              <a:rPr lang="en-US" altLang="zh-CN" dirty="0"/>
              <a:t>EIA)</a:t>
            </a:r>
            <a:r>
              <a:rPr lang="zh-CN" altLang="en-US" dirty="0"/>
              <a:t>于</a:t>
            </a:r>
            <a:r>
              <a:rPr lang="en-US" altLang="zh-CN" dirty="0"/>
              <a:t>1962</a:t>
            </a:r>
            <a:r>
              <a:rPr lang="zh-CN" altLang="en-US" dirty="0"/>
              <a:t>年公布，并于</a:t>
            </a:r>
            <a:r>
              <a:rPr lang="en-US" altLang="zh-CN" dirty="0"/>
              <a:t>1969</a:t>
            </a:r>
            <a:r>
              <a:rPr lang="zh-CN" altLang="en-US" dirty="0"/>
              <a:t>年修订的一种国际通用的串行接口标准。</a:t>
            </a:r>
            <a:endParaRPr lang="zh-CN" altLang="en-US" dirty="0"/>
          </a:p>
          <a:p>
            <a:r>
              <a:rPr lang="zh-CN" altLang="en-US" dirty="0"/>
              <a:t>现已成为数据终端设备</a:t>
            </a:r>
            <a:r>
              <a:rPr lang="en-US" altLang="zh-CN" dirty="0"/>
              <a:t>DTE</a:t>
            </a:r>
            <a:r>
              <a:rPr lang="zh-CN" altLang="en-US" dirty="0"/>
              <a:t>（例如计算机）与数据通信设备</a:t>
            </a:r>
            <a:r>
              <a:rPr lang="en-US" altLang="zh-CN" dirty="0"/>
              <a:t>DCE</a:t>
            </a:r>
            <a:r>
              <a:rPr lang="zh-CN" altLang="en-US" dirty="0"/>
              <a:t>（例如调制解调器）的标准接口。</a:t>
            </a:r>
            <a:endParaRPr lang="zh-CN" altLang="en-US" dirty="0"/>
          </a:p>
          <a:p>
            <a:r>
              <a:rPr lang="zh-CN" altLang="en-US" dirty="0"/>
              <a:t>可实现远距离通信，也可近距离连接两台微机。</a:t>
            </a:r>
            <a:endParaRPr lang="zh-CN" altLang="en-US" dirty="0"/>
          </a:p>
          <a:p>
            <a:r>
              <a:rPr lang="en-US" altLang="zh-CN" dirty="0"/>
              <a:t>232C</a:t>
            </a:r>
            <a:r>
              <a:rPr lang="zh-CN" altLang="en-US" dirty="0"/>
              <a:t>接口标准使用一个</a:t>
            </a:r>
            <a:r>
              <a:rPr lang="en-US" altLang="zh-CN" dirty="0"/>
              <a:t>25</a:t>
            </a:r>
            <a:r>
              <a:rPr lang="zh-CN" altLang="en-US" dirty="0"/>
              <a:t>针连接器。绝大多数设备只使用其中</a:t>
            </a:r>
            <a:r>
              <a:rPr lang="en-US" altLang="zh-CN" dirty="0"/>
              <a:t>9</a:t>
            </a:r>
            <a:r>
              <a:rPr lang="zh-CN" altLang="en-US" dirty="0"/>
              <a:t>个信号，所以就有了</a:t>
            </a:r>
            <a:r>
              <a:rPr lang="en-US" altLang="zh-CN" dirty="0"/>
              <a:t>9</a:t>
            </a:r>
            <a:r>
              <a:rPr lang="zh-CN" altLang="en-US" dirty="0"/>
              <a:t>针连接器。</a:t>
            </a:r>
            <a:endParaRPr lang="zh-CN" altLang="en-US" dirty="0"/>
          </a:p>
          <a:p>
            <a:r>
              <a:rPr lang="en-US" altLang="zh-CN" dirty="0"/>
              <a:t>PC</a:t>
            </a:r>
            <a:r>
              <a:rPr lang="zh-CN" altLang="en-US" dirty="0"/>
              <a:t>机上的</a:t>
            </a:r>
            <a:r>
              <a:rPr lang="en-US" altLang="zh-CN" dirty="0"/>
              <a:t>COM1</a:t>
            </a:r>
            <a:r>
              <a:rPr lang="zh-CN" altLang="en-US" dirty="0"/>
              <a:t>、</a:t>
            </a:r>
            <a:r>
              <a:rPr lang="en-US" altLang="zh-CN" dirty="0"/>
              <a:t>COM2</a:t>
            </a:r>
            <a:r>
              <a:rPr lang="zh-CN" altLang="en-US" dirty="0"/>
              <a:t>接口就是</a:t>
            </a:r>
            <a:r>
              <a:rPr lang="en-US" altLang="zh-CN" dirty="0"/>
              <a:t>RS-232C</a:t>
            </a:r>
            <a:r>
              <a:rPr lang="zh-CN" altLang="en-US" dirty="0"/>
              <a:t>接口。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串行接口和串行接口标准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123502" cy="1041692"/>
          </a:xfrm>
        </p:spPr>
        <p:txBody>
          <a:bodyPr/>
          <a:lstStyle/>
          <a:p>
            <a:r>
              <a:rPr lang="en-US" altLang="zh-CN" dirty="0" smtClean="0"/>
              <a:t>RS-232C</a:t>
            </a:r>
            <a:r>
              <a:rPr lang="zh-CN" altLang="en-US" dirty="0" smtClean="0"/>
              <a:t>采用</a:t>
            </a:r>
            <a:r>
              <a:rPr lang="en-US" altLang="zh-CN" dirty="0" smtClean="0"/>
              <a:t>EIA</a:t>
            </a:r>
            <a:r>
              <a:rPr lang="zh-CN" altLang="en-US" dirty="0" smtClean="0"/>
              <a:t>电平（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/>
              <a:t>高电平</a:t>
            </a:r>
            <a:r>
              <a:rPr lang="en-US" altLang="zh-CN" dirty="0" smtClean="0"/>
              <a:t>5~15V</a:t>
            </a:r>
            <a:r>
              <a:rPr lang="zh-CN" altLang="en-US" dirty="0" smtClean="0"/>
              <a:t>，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/>
              <a:t>低电平</a:t>
            </a:r>
            <a:r>
              <a:rPr lang="en-US" altLang="zh-CN" dirty="0" smtClean="0"/>
              <a:t>-5~-15V</a:t>
            </a:r>
            <a:r>
              <a:rPr lang="zh-CN" altLang="en-US" dirty="0" smtClean="0"/>
              <a:t>，负逻辑）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985" y="2590801"/>
            <a:ext cx="7453630" cy="3124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串行接口和串行接口标准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45602"/>
            <a:ext cx="10058400" cy="457201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MODEM</a:t>
            </a:r>
            <a:r>
              <a:rPr lang="zh-CN" altLang="en-US" dirty="0"/>
              <a:t>的</a:t>
            </a:r>
            <a:r>
              <a:rPr lang="en-US" altLang="zh-CN" dirty="0"/>
              <a:t>RS-232C</a:t>
            </a:r>
            <a:r>
              <a:rPr lang="zh-CN" altLang="en-US" dirty="0"/>
              <a:t>接口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519" y="2120830"/>
            <a:ext cx="6766121" cy="4356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串行接口和串行接口标准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719263"/>
            <a:ext cx="10058400" cy="597217"/>
          </a:xfrm>
        </p:spPr>
        <p:txBody>
          <a:bodyPr/>
          <a:lstStyle/>
          <a:p>
            <a:r>
              <a:rPr lang="en-US" altLang="zh-CN" dirty="0"/>
              <a:t>RS-232C</a:t>
            </a:r>
            <a:r>
              <a:rPr lang="zh-CN" altLang="en-US" dirty="0"/>
              <a:t>的三线连接方法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872" y="2146534"/>
            <a:ext cx="5893435" cy="3644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对话气泡: 矩形 6"/>
          <p:cNvSpPr/>
          <p:nvPr/>
        </p:nvSpPr>
        <p:spPr bwMode="auto">
          <a:xfrm>
            <a:off x="2540693" y="5333791"/>
            <a:ext cx="6442709" cy="884575"/>
          </a:xfrm>
          <a:prstGeom prst="wedgeRectCallout">
            <a:avLst>
              <a:gd name="adj1" fmla="val 12032"/>
              <a:gd name="adj2" fmla="val -129840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由于通信双方并未进行联络应答，所以采用三线连接方式时，应注意传输的可靠性。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本节课讲授了：</a:t>
            </a:r>
            <a:endParaRPr lang="zh-CN" altLang="en-US" dirty="0"/>
          </a:p>
          <a:p>
            <a:r>
              <a:rPr lang="zh-CN" altLang="en-US" dirty="0"/>
              <a:t>串行通信的基本概念：串行通信和并行通信。</a:t>
            </a:r>
            <a:endParaRPr lang="zh-CN" altLang="en-US" dirty="0"/>
          </a:p>
          <a:p>
            <a:r>
              <a:rPr lang="zh-CN" altLang="en-US" dirty="0"/>
              <a:t>串行数据传输方式：单工、半双工和全双工。</a:t>
            </a:r>
            <a:endParaRPr lang="zh-CN" altLang="en-US" dirty="0"/>
          </a:p>
          <a:p>
            <a:r>
              <a:rPr lang="zh-CN" altLang="en-US" dirty="0"/>
              <a:t>串行通信的类型：异步通信和同步通信，重点讲授了起止式异步通信协议，波特率的概念。</a:t>
            </a:r>
            <a:endParaRPr lang="zh-CN" altLang="en-US" dirty="0"/>
          </a:p>
          <a:p>
            <a:r>
              <a:rPr lang="zh-CN" altLang="en-US" dirty="0"/>
              <a:t>串行接口和串行接口标准：</a:t>
            </a:r>
            <a:r>
              <a:rPr lang="en-US" altLang="zh-CN" dirty="0"/>
              <a:t>RS-232C</a:t>
            </a:r>
            <a:r>
              <a:rPr lang="zh-CN" altLang="en-US" dirty="0"/>
              <a:t>串行接口标准。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F43AE-F8FD-49EE-9553-888B016E31A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4C0CD6-327D-499A-9754-0F1E4D84582B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2209</Words>
  <Application>WPS 演示</Application>
  <PresentationFormat>自定义</PresentationFormat>
  <Paragraphs>185</Paragraphs>
  <Slides>17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Tahoma</vt:lpstr>
      <vt:lpstr>楷体_GB2312</vt:lpstr>
      <vt:lpstr>新宋体</vt:lpstr>
      <vt:lpstr>微软雅黑</vt:lpstr>
      <vt:lpstr>Arial Unicode MS</vt:lpstr>
      <vt:lpstr>等线</vt:lpstr>
      <vt:lpstr>Network</vt:lpstr>
      <vt:lpstr>串行通信基础</vt:lpstr>
      <vt:lpstr>串行通信的基本概念</vt:lpstr>
      <vt:lpstr>串行数据传输方式</vt:lpstr>
      <vt:lpstr>串行通信的类型</vt:lpstr>
      <vt:lpstr>串行通信的类型</vt:lpstr>
      <vt:lpstr>串行通信的类型</vt:lpstr>
      <vt:lpstr>串行通信的类型</vt:lpstr>
      <vt:lpstr>串行通信的类型</vt:lpstr>
      <vt:lpstr>串行通信的类型</vt:lpstr>
      <vt:lpstr>串行通信的类型</vt:lpstr>
      <vt:lpstr>串行通信的类型</vt:lpstr>
      <vt:lpstr>串行接口和串行接口标准</vt:lpstr>
      <vt:lpstr>串行接口和串行接口标准</vt:lpstr>
      <vt:lpstr>串行接口和串行接口标准</vt:lpstr>
      <vt:lpstr>串行接口和串行接口标准</vt:lpstr>
      <vt:lpstr>串行接口和串行接口标准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Jian</dc:creator>
  <cp:lastModifiedBy>杨领军</cp:lastModifiedBy>
  <cp:revision>86</cp:revision>
  <dcterms:created xsi:type="dcterms:W3CDTF">2021-02-04T09:02:00Z</dcterms:created>
  <dcterms:modified xsi:type="dcterms:W3CDTF">2025-11-07T05:23:44Z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BAB5EEA96481443486D5B0DA0F1A74B5_12</vt:lpwstr>
  </property>
  <property fmtid="{D5CDD505-2E9C-101B-9397-08002B2CF9AE}" pid="3" name="KSOProductBuildVer">
    <vt:lpwstr>2052-12.1.0.23125</vt:lpwstr>
  </property>
</Properties>
</file>