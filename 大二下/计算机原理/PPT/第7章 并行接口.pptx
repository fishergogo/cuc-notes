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8"/>
  </p:notesMasterIdLst>
  <p:sldIdLst>
    <p:sldId id="466" r:id="rId3"/>
    <p:sldId id="467" r:id="rId4"/>
    <p:sldId id="468" r:id="rId5"/>
    <p:sldId id="469" r:id="rId6"/>
    <p:sldId id="470" r:id="rId7"/>
    <p:sldId id="471" r:id="rId8"/>
    <p:sldId id="472" r:id="rId9"/>
    <p:sldId id="473" r:id="rId10"/>
    <p:sldId id="474" r:id="rId11"/>
    <p:sldId id="475" r:id="rId12"/>
    <p:sldId id="476" r:id="rId13"/>
    <p:sldId id="477" r:id="rId14"/>
    <p:sldId id="478" r:id="rId15"/>
    <p:sldId id="479" r:id="rId16"/>
    <p:sldId id="480" r:id="rId17"/>
    <p:sldId id="481" r:id="rId18"/>
    <p:sldId id="482" r:id="rId19"/>
    <p:sldId id="483" r:id="rId20"/>
    <p:sldId id="484" r:id="rId21"/>
    <p:sldId id="485" r:id="rId22"/>
    <p:sldId id="486" r:id="rId23"/>
    <p:sldId id="487" r:id="rId24"/>
    <p:sldId id="488" r:id="rId25"/>
    <p:sldId id="489" r:id="rId26"/>
    <p:sldId id="490" r:id="rId27"/>
    <p:sldId id="491" r:id="rId28"/>
    <p:sldId id="492" r:id="rId29"/>
    <p:sldId id="493" r:id="rId30"/>
    <p:sldId id="494" r:id="rId31"/>
    <p:sldId id="495" r:id="rId32"/>
    <p:sldId id="496" r:id="rId33"/>
    <p:sldId id="497" r:id="rId34"/>
    <p:sldId id="498" r:id="rId35"/>
    <p:sldId id="499" r:id="rId36"/>
    <p:sldId id="500" r:id="rId37"/>
    <p:sldId id="501" r:id="rId38"/>
    <p:sldId id="502" r:id="rId39"/>
    <p:sldId id="503" r:id="rId40"/>
    <p:sldId id="504" r:id="rId41"/>
    <p:sldId id="505" r:id="rId42"/>
    <p:sldId id="506" r:id="rId43"/>
    <p:sldId id="507" r:id="rId44"/>
    <p:sldId id="508" r:id="rId45"/>
    <p:sldId id="509" r:id="rId46"/>
    <p:sldId id="510" r:id="rId47"/>
    <p:sldId id="511" r:id="rId48"/>
    <p:sldId id="512" r:id="rId49"/>
    <p:sldId id="513" r:id="rId50"/>
    <p:sldId id="514" r:id="rId51"/>
    <p:sldId id="515" r:id="rId52"/>
    <p:sldId id="516" r:id="rId53"/>
    <p:sldId id="517" r:id="rId54"/>
    <p:sldId id="518" r:id="rId55"/>
    <p:sldId id="519" r:id="rId56"/>
    <p:sldId id="520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400" r:id="rId66"/>
    <p:sldId id="401" r:id="rId67"/>
    <p:sldId id="402" r:id="rId68"/>
    <p:sldId id="403" r:id="rId69"/>
    <p:sldId id="464" r:id="rId70"/>
    <p:sldId id="335" r:id="rId71"/>
    <p:sldId id="404" r:id="rId72"/>
    <p:sldId id="405" r:id="rId73"/>
    <p:sldId id="465" r:id="rId74"/>
    <p:sldId id="532" r:id="rId75"/>
    <p:sldId id="533" r:id="rId76"/>
    <p:sldId id="406" r:id="rId77"/>
    <p:sldId id="407" r:id="rId78"/>
    <p:sldId id="408" r:id="rId79"/>
    <p:sldId id="409" r:id="rId80"/>
    <p:sldId id="410" r:id="rId81"/>
    <p:sldId id="411" r:id="rId82"/>
    <p:sldId id="412" r:id="rId83"/>
    <p:sldId id="413" r:id="rId84"/>
    <p:sldId id="414" r:id="rId85"/>
    <p:sldId id="534" r:id="rId86"/>
    <p:sldId id="415" r:id="rId8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-102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1" Type="http://schemas.openxmlformats.org/officeDocument/2006/relationships/tableStyles" Target="tableStyles.xml"/><Relationship Id="rId90" Type="http://schemas.openxmlformats.org/officeDocument/2006/relationships/viewProps" Target="viewProps.xml"/><Relationship Id="rId9" Type="http://schemas.openxmlformats.org/officeDocument/2006/relationships/slide" Target="slides/slide7.xml"/><Relationship Id="rId89" Type="http://schemas.openxmlformats.org/officeDocument/2006/relationships/presProps" Target="presProps.xml"/><Relationship Id="rId88" Type="http://schemas.openxmlformats.org/officeDocument/2006/relationships/notesMaster" Target="notesMasters/notesMaster1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9A3BD-9D4B-4A17-89AD-AB8D99722C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4F641-F5F8-49D6-AB8D-CF80F2600D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5" name="Group 8"/>
          <p:cNvGrpSpPr/>
          <p:nvPr/>
        </p:nvGrpSpPr>
        <p:grpSpPr bwMode="auto">
          <a:xfrm>
            <a:off x="9990667" y="2992438"/>
            <a:ext cx="1784351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单击此处编辑母版标题样式</a:t>
            </a:r>
            <a:endParaRPr lang="en-US" altLang="zh-CN" noProof="0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zh-CN" noProof="0"/>
              <a:t>单击此处编辑母版副标题样式</a:t>
            </a:r>
            <a:endParaRPr lang="en-US" altLang="zh-CN" noProof="0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87ED82-D1A3-45FE-80F8-86D8D28D03CD}" type="datetime1">
              <a:rPr lang="zh-CN" altLang="en-US"/>
            </a:fld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04872D5-BB51-432C-B3A3-4E481E81D3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4411662"/>
          </a:xfrm>
        </p:spPr>
        <p:txBody>
          <a:bodyPr/>
          <a:lstStyle>
            <a:lvl1pPr>
              <a:buFont typeface="Wingdings" panose="05000000000000000000" pitchFamily="2" charset="2"/>
              <a:buChar char="u"/>
              <a:defRPr sz="2800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F43AE-F8FD-49EE-9553-888B016E31A5}" type="datetime1">
              <a:rPr lang="zh-CN" altLang="en-US"/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C0CD6-327D-499A-9754-0F1E4D84582B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0820B-D0F1-47EF-A8DA-9994F9F83B6C}" type="datetime1">
              <a:rPr lang="zh-CN" altLang="en-US"/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CC5FF-F08F-495A-851B-EA259259A7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17693-7908-4A91-B471-8FEF6DA281B2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74614-4E03-4DCB-98CE-097C97818E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2CC61-C6FC-4A0D-9DB9-9F02363F5AE9}" type="datetime1">
              <a:rPr lang="zh-CN" altLang="en-US"/>
            </a:fld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CEBCD-7FCF-484B-9305-64C83D94B2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741FA-DDBC-4EA0-94D5-FBD8154C3488}" type="datetime1">
              <a:rPr lang="zh-CN" altLang="en-US"/>
            </a:fld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4A460-7B25-4553-A69A-B2BB29F6AC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63E86-D2F7-47EE-8733-36D525731CFA}" type="datetime1">
              <a:rPr lang="zh-CN" altLang="en-US"/>
            </a:fld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A3EF1-332A-4F12-8EA6-9ED17615C7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77AC4-9B6B-4955-98AD-6DB523334E40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67FF3-FD84-43F7-9698-CD5E53E22E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B7E4C-ECAE-4348-B44D-B6E27617DF07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F11EB-CA78-49BC-B922-1C8209DB6A3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0FF42-8979-4AE7-AB32-AB2B478435CF}" type="datetime1">
              <a:rPr lang="zh-CN" altLang="en-US"/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A54F1-1552-454D-8C86-18F7606D26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E9331-9EC7-4BC1-9F19-95838F0AB25F}" type="datetime1">
              <a:rPr lang="zh-CN" altLang="en-US"/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095CD-4004-401E-BA56-829390CFAA6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F7F5F-45AA-4834-B66F-E424254E1B5E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A6D292-B2CC-4663-B63B-6660727BF5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 dirty="0" err="1"/>
              <a:t>单击此处编辑母版标题样式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101541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 err="1"/>
              <a:t>单击此处编辑母版文本样式</a:t>
            </a:r>
            <a:endParaRPr lang="en-US" altLang="zh-CN" dirty="0"/>
          </a:p>
          <a:p>
            <a:pPr lvl="1"/>
            <a:r>
              <a:rPr lang="en-US" altLang="zh-CN" dirty="0" err="1"/>
              <a:t>第二级</a:t>
            </a:r>
            <a:endParaRPr lang="en-US" altLang="zh-CN" dirty="0"/>
          </a:p>
          <a:p>
            <a:pPr lvl="2"/>
            <a:r>
              <a:rPr lang="en-US" altLang="zh-CN" dirty="0" err="1"/>
              <a:t>第三级</a:t>
            </a:r>
            <a:endParaRPr lang="en-US" altLang="zh-CN" dirty="0"/>
          </a:p>
          <a:p>
            <a:pPr lvl="3"/>
            <a:r>
              <a:rPr lang="en-US" altLang="zh-CN" dirty="0" err="1"/>
              <a:t>第四级</a:t>
            </a:r>
            <a:endParaRPr lang="en-US" altLang="zh-CN" dirty="0"/>
          </a:p>
          <a:p>
            <a:pPr lvl="4"/>
            <a:r>
              <a:rPr lang="en-US" altLang="zh-CN" dirty="0" err="1"/>
              <a:t>第五级</a:t>
            </a:r>
            <a:endParaRPr lang="en-US" altLang="zh-CN" dirty="0"/>
          </a:p>
        </p:txBody>
      </p:sp>
      <p:sp>
        <p:nvSpPr>
          <p:cNvPr id="174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smtClean="0"/>
            </a:lvl1pPr>
          </a:lstStyle>
          <a:p>
            <a:pPr>
              <a:defRPr/>
            </a:pPr>
            <a:fld id="{054E35A8-292F-4AEC-B83B-BB31DB8FE108}" type="datetime1">
              <a:rPr lang="zh-CN" altLang="en-US"/>
            </a:fld>
            <a:endParaRPr lang="en-US" altLang="zh-CN"/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1A8543FF-F682-49C5-9892-9CF2B52A8733}" type="slidenum">
              <a:rPr lang="en-US" altLang="zh-CN"/>
            </a:fld>
            <a:endParaRPr lang="en-US" altLang="zh-CN"/>
          </a:p>
        </p:txBody>
      </p:sp>
      <p:grpSp>
        <p:nvGrpSpPr>
          <p:cNvPr id="1032" name="Group 8"/>
          <p:cNvGrpSpPr/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oleObject" Target="../embeddings/oleObject2.bin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1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1" Type="http://schemas.openxmlformats.org/officeDocument/2006/relationships/image" Target="../media/image25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e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w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e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emf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e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emf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030" y="993140"/>
            <a:ext cx="9885045" cy="608965"/>
          </a:xfrm>
        </p:spPr>
        <p:txBody>
          <a:bodyPr/>
          <a:lstStyle/>
          <a:p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>
                <a:sym typeface="+mn-ea"/>
              </a:rPr>
              <a:t>7.1</a:t>
            </a:r>
            <a:r>
              <a:rPr lang="zh-CN" altLang="en-US" dirty="0">
                <a:sym typeface="+mn-ea"/>
              </a:rPr>
              <a:t>简单并行接口</a:t>
            </a:r>
            <a:br>
              <a:rPr lang="zh-CN" altLang="en-US" dirty="0">
                <a:sym typeface="+mn-ea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并行通信是指计算机与外设或与其它计算机之间的信息交换中，将一个字符的各位用若干根数据线同时进行传输的方式。实现并行通信的接口称为并行接口。</a:t>
            </a:r>
            <a:endParaRPr lang="zh-CN" altLang="en-US" dirty="0"/>
          </a:p>
          <a:p>
            <a:r>
              <a:rPr lang="zh-CN" altLang="en-US" dirty="0"/>
              <a:t>并行接口电路的实现方式：</a:t>
            </a:r>
            <a:endParaRPr lang="en-US" altLang="zh-CN" dirty="0"/>
          </a:p>
          <a:p>
            <a:pPr lvl="1"/>
            <a:r>
              <a:rPr lang="zh-CN" altLang="en-US" dirty="0"/>
              <a:t>通用</a:t>
            </a:r>
            <a:r>
              <a:rPr lang="en-US" altLang="zh-CN" dirty="0"/>
              <a:t>TTL</a:t>
            </a:r>
            <a:r>
              <a:rPr lang="zh-CN" altLang="en-US" dirty="0"/>
              <a:t>芯片：如，</a:t>
            </a:r>
            <a:r>
              <a:rPr lang="en-US" altLang="zh-CN" dirty="0"/>
              <a:t>74LS373</a:t>
            </a:r>
            <a:r>
              <a:rPr lang="zh-CN" altLang="en-US" dirty="0"/>
              <a:t>、</a:t>
            </a:r>
            <a:r>
              <a:rPr lang="en-US" altLang="zh-CN" dirty="0"/>
              <a:t>74LS244</a:t>
            </a:r>
            <a:r>
              <a:rPr lang="zh-CN" altLang="en-US" dirty="0"/>
              <a:t>和</a:t>
            </a:r>
            <a:r>
              <a:rPr lang="en-US" altLang="zh-CN" dirty="0"/>
              <a:t>74LS245</a:t>
            </a:r>
            <a:r>
              <a:rPr lang="zh-CN" altLang="en-US" dirty="0"/>
              <a:t>等；</a:t>
            </a:r>
            <a:endParaRPr lang="en-US" altLang="zh-CN" dirty="0"/>
          </a:p>
          <a:p>
            <a:pPr lvl="1"/>
            <a:r>
              <a:rPr lang="zh-CN" altLang="en-US" dirty="0"/>
              <a:t>可编程并行接口芯片：如，</a:t>
            </a:r>
            <a:r>
              <a:rPr lang="en-US" altLang="zh-CN" dirty="0"/>
              <a:t>8255A</a:t>
            </a:r>
            <a:r>
              <a:rPr lang="zh-CN" altLang="en-US" dirty="0"/>
              <a:t>、</a:t>
            </a:r>
            <a:r>
              <a:rPr lang="en-US" altLang="zh-CN" dirty="0"/>
              <a:t>8155</a:t>
            </a:r>
            <a:r>
              <a:rPr lang="zh-CN" altLang="en-US" dirty="0"/>
              <a:t>等。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简单并行接口的特点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     通常，通用的</a:t>
            </a:r>
            <a:r>
              <a:rPr lang="en-US" altLang="zh-CN" dirty="0"/>
              <a:t>TTL</a:t>
            </a:r>
            <a:r>
              <a:rPr lang="zh-CN" altLang="en-US" dirty="0"/>
              <a:t>芯片是一类不可编程的接口芯片。采用</a:t>
            </a:r>
            <a:r>
              <a:rPr lang="en-US" altLang="zh-CN" dirty="0"/>
              <a:t>TTL</a:t>
            </a:r>
            <a:r>
              <a:rPr lang="zh-CN" altLang="en-US" dirty="0"/>
              <a:t>芯片作为接口芯片，电路结构简单，但功能单一。在一般情况下，硬件电路接好后，功能固定，不易改变。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简单并行接口的种类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基本部件为</a:t>
            </a:r>
            <a:r>
              <a:rPr lang="zh-CN" altLang="en-US" dirty="0">
                <a:solidFill>
                  <a:srgbClr val="FF0000"/>
                </a:solidFill>
              </a:rPr>
              <a:t>三态缓冲器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数据锁存器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通常包括上述两种部件之一，或兼具这两种部件的接口电路都可作为简单的并行接口。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三态缓冲器接口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数据锁存器接口</a:t>
            </a:r>
            <a:endParaRPr lang="en-US" altLang="zh-CN" dirty="0"/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兼具数据锁存器和三态缓冲器的接口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三态缓冲器接口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三态门具有“通断”控制能力，可用作输入接口。由于三态门本身没有数据保持或锁存能力，三态门作为数据输入接口时，要求数据源能够将数据保持足够长的时间，直到被</a:t>
            </a:r>
            <a:r>
              <a:rPr lang="en-US" altLang="zh-CN" dirty="0"/>
              <a:t>CPU</a:t>
            </a:r>
            <a:r>
              <a:rPr lang="zh-CN" altLang="en-US" dirty="0"/>
              <a:t>读取。</a:t>
            </a:r>
            <a:endParaRPr lang="zh-CN" altLang="en-US" dirty="0"/>
          </a:p>
          <a:p>
            <a:r>
              <a:rPr lang="zh-CN" altLang="en-US" dirty="0"/>
              <a:t>常用的三态缓冲器有：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单向</a:t>
            </a:r>
            <a:r>
              <a:rPr lang="en-US" altLang="zh-CN" dirty="0"/>
              <a:t>8</a:t>
            </a:r>
            <a:r>
              <a:rPr lang="zh-CN" altLang="en-US" dirty="0"/>
              <a:t>位缓冲器</a:t>
            </a:r>
            <a:r>
              <a:rPr lang="en-US" altLang="zh-CN" dirty="0"/>
              <a:t>/</a:t>
            </a:r>
            <a:r>
              <a:rPr lang="zh-CN" altLang="en-US" dirty="0"/>
              <a:t>驱动器，如</a:t>
            </a:r>
            <a:r>
              <a:rPr lang="en-US" altLang="zh-CN" dirty="0"/>
              <a:t>74LS244</a:t>
            </a:r>
            <a:r>
              <a:rPr lang="zh-CN" altLang="en-US" dirty="0"/>
              <a:t>等；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双向</a:t>
            </a:r>
            <a:r>
              <a:rPr lang="zh-CN" altLang="en-US" dirty="0"/>
              <a:t>的</a:t>
            </a:r>
            <a:r>
              <a:rPr lang="en-US" altLang="zh-CN" dirty="0"/>
              <a:t>8</a:t>
            </a:r>
            <a:r>
              <a:rPr lang="zh-CN" altLang="en-US" dirty="0"/>
              <a:t>位总线收发器，如</a:t>
            </a:r>
            <a:r>
              <a:rPr lang="en-US" altLang="zh-CN" dirty="0"/>
              <a:t>74LS245</a:t>
            </a:r>
            <a:r>
              <a:rPr lang="zh-CN" altLang="en-US" dirty="0"/>
              <a:t>等。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74LS244</a:t>
            </a:r>
            <a:r>
              <a:rPr lang="zh-CN" altLang="en-US" dirty="0"/>
              <a:t>的逻辑功能图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25143" y="1719263"/>
            <a:ext cx="5442858" cy="4411662"/>
          </a:xfrm>
        </p:spPr>
        <p:txBody>
          <a:bodyPr/>
          <a:lstStyle/>
          <a:p>
            <a:r>
              <a:rPr lang="zh-CN" altLang="en-US" dirty="0"/>
              <a:t>由八个三态门构成。</a:t>
            </a:r>
            <a:endParaRPr lang="zh-CN" altLang="en-US" dirty="0"/>
          </a:p>
          <a:p>
            <a:r>
              <a:rPr lang="en-US" altLang="zh-CN" dirty="0"/>
              <a:t>A</a:t>
            </a:r>
            <a:r>
              <a:rPr lang="zh-CN" altLang="en-US" dirty="0"/>
              <a:t>：输入端；</a:t>
            </a:r>
            <a:endParaRPr lang="zh-CN" altLang="en-US" dirty="0"/>
          </a:p>
          <a:p>
            <a:r>
              <a:rPr lang="en-US" altLang="zh-CN" dirty="0"/>
              <a:t>Y</a:t>
            </a:r>
            <a:r>
              <a:rPr lang="zh-CN" altLang="en-US" dirty="0"/>
              <a:t>：输出端；</a:t>
            </a:r>
            <a:endParaRPr lang="zh-CN" altLang="en-US" dirty="0"/>
          </a:p>
          <a:p>
            <a:r>
              <a:rPr lang="en-US" altLang="zh-CN" dirty="0"/>
              <a:t>1G</a:t>
            </a:r>
            <a:r>
              <a:rPr lang="zh-CN" altLang="en-US" dirty="0"/>
              <a:t>、</a:t>
            </a:r>
            <a:r>
              <a:rPr lang="en-US" altLang="zh-CN" dirty="0"/>
              <a:t>2G</a:t>
            </a:r>
            <a:r>
              <a:rPr lang="zh-CN" altLang="en-US" dirty="0"/>
              <a:t>：控制端</a:t>
            </a:r>
            <a:endParaRPr lang="zh-CN" altLang="en-US" dirty="0"/>
          </a:p>
          <a:p>
            <a:r>
              <a:rPr lang="en-US" altLang="zh-CN" dirty="0"/>
              <a:t>            =0</a:t>
            </a:r>
            <a:r>
              <a:rPr lang="zh-CN" altLang="en-US" dirty="0"/>
              <a:t>，三态门导通态</a:t>
            </a:r>
            <a:endParaRPr lang="zh-CN" altLang="en-US" dirty="0"/>
          </a:p>
          <a:p>
            <a:r>
              <a:rPr lang="en-US" altLang="zh-CN" dirty="0"/>
              <a:t>            =1</a:t>
            </a:r>
            <a:r>
              <a:rPr lang="zh-CN" altLang="en-US" dirty="0"/>
              <a:t>，三态门高阻态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00052" y="2027057"/>
            <a:ext cx="2785490" cy="37960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数据锁存器接口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6560" y="1719580"/>
            <a:ext cx="11165840" cy="4411345"/>
          </a:xfrm>
        </p:spPr>
        <p:txBody>
          <a:bodyPr/>
          <a:lstStyle/>
          <a:p>
            <a:r>
              <a:rPr lang="zh-CN" altLang="en-US">
                <a:sym typeface="+mn-ea"/>
              </a:rPr>
              <a:t>数据输出接口通常采用具有信息存储能力的双稳态触发器来实现。</a:t>
            </a:r>
            <a:endParaRPr lang="zh-CN" altLang="en-US" dirty="0"/>
          </a:p>
          <a:p>
            <a:r>
              <a:rPr lang="zh-CN" altLang="en-US" dirty="0"/>
              <a:t>数据锁存器接口主要是指带有控制端的触发器和数据锁存器。</a:t>
            </a:r>
            <a:endParaRPr lang="zh-CN" altLang="en-US" dirty="0"/>
          </a:p>
          <a:p>
            <a:r>
              <a:rPr lang="zh-CN" altLang="en-US" dirty="0"/>
              <a:t>最简单的数据锁存器可用</a:t>
            </a:r>
            <a:r>
              <a:rPr lang="en-US" altLang="zh-CN" dirty="0"/>
              <a:t>D</a:t>
            </a:r>
            <a:r>
              <a:rPr lang="zh-CN" altLang="en-US" dirty="0"/>
              <a:t>触发器构成。</a:t>
            </a:r>
            <a:r>
              <a:rPr lang="zh-CN" altLang="en-US">
                <a:sym typeface="+mn-ea"/>
              </a:rPr>
              <a:t>例如，常用的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位触发器组成的</a:t>
            </a:r>
            <a:r>
              <a:rPr lang="en-US" altLang="zh-CN">
                <a:sym typeface="+mn-ea"/>
              </a:rPr>
              <a:t>74LS273</a:t>
            </a:r>
            <a:r>
              <a:rPr lang="zh-CN" altLang="en-US">
                <a:sym typeface="+mn-ea"/>
              </a:rPr>
              <a:t>芯片。 </a:t>
            </a:r>
            <a:endParaRPr lang="zh-CN" altLang="en-US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74LS273</a:t>
            </a:r>
            <a:r>
              <a:rPr lang="zh-CN" altLang="en-US" dirty="0"/>
              <a:t>的逻辑功能图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42016" y="2065338"/>
            <a:ext cx="5620988" cy="4411662"/>
          </a:xfrm>
        </p:spPr>
        <p:txBody>
          <a:bodyPr/>
          <a:lstStyle/>
          <a:p>
            <a:r>
              <a:rPr lang="zh-CN" altLang="en-US" dirty="0"/>
              <a:t>由八个</a:t>
            </a:r>
            <a:r>
              <a:rPr lang="en-US" altLang="zh-CN" dirty="0"/>
              <a:t>D</a:t>
            </a:r>
            <a:r>
              <a:rPr lang="zh-CN" altLang="en-US" dirty="0"/>
              <a:t>触发器构成。</a:t>
            </a:r>
            <a:endParaRPr lang="en-US" altLang="zh-CN" dirty="0"/>
          </a:p>
          <a:p>
            <a:pPr lvl="1"/>
            <a:r>
              <a:rPr lang="en-US" altLang="zh-CN" dirty="0"/>
              <a:t>1D~8D</a:t>
            </a:r>
            <a:r>
              <a:rPr lang="zh-CN" altLang="en-US" dirty="0"/>
              <a:t>：数据输入端；</a:t>
            </a:r>
            <a:endParaRPr lang="en-US" altLang="zh-CN" dirty="0"/>
          </a:p>
          <a:p>
            <a:pPr lvl="1"/>
            <a:r>
              <a:rPr lang="en-US" altLang="zh-CN" dirty="0"/>
              <a:t>1Q~8Q</a:t>
            </a:r>
            <a:r>
              <a:rPr lang="zh-CN" altLang="en-US" dirty="0"/>
              <a:t>：数据输出端；</a:t>
            </a:r>
            <a:endParaRPr lang="en-US" altLang="zh-CN" dirty="0"/>
          </a:p>
          <a:p>
            <a:pPr lvl="1"/>
            <a:r>
              <a:rPr lang="en-US" altLang="zh-CN" dirty="0"/>
              <a:t>    </a:t>
            </a:r>
            <a:r>
              <a:rPr lang="zh-CN" altLang="en-US" dirty="0"/>
              <a:t>：复位端，低电平有效；</a:t>
            </a:r>
            <a:endParaRPr lang="en-US" altLang="zh-CN" dirty="0"/>
          </a:p>
          <a:p>
            <a:pPr lvl="1"/>
            <a:r>
              <a:rPr lang="en-US" altLang="zh-CN" dirty="0"/>
              <a:t>CP</a:t>
            </a:r>
            <a:r>
              <a:rPr lang="zh-CN" altLang="en-US" dirty="0"/>
              <a:t>：脉冲输入端，上升沿锁存输入数据。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23801" y="1417638"/>
            <a:ext cx="2733329" cy="4517056"/>
          </a:xfrm>
          <a:prstGeom prst="rect">
            <a:avLst/>
          </a:prstGeom>
        </p:spPr>
      </p:pic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16930" y="3515360"/>
          <a:ext cx="394335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2" imgW="165100" imgH="190500" progId="Equation.KSEE3">
                  <p:embed/>
                </p:oleObj>
              </mc:Choice>
              <mc:Fallback>
                <p:oleObj name="" r:id="rId2" imgW="165100" imgH="1905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16930" y="3515360"/>
                        <a:ext cx="394335" cy="455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44065" y="1378585"/>
          <a:ext cx="274320" cy="316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4" imgW="165100" imgH="190500" progId="Equation.KSEE3">
                  <p:embed/>
                </p:oleObj>
              </mc:Choice>
              <mc:Fallback>
                <p:oleObj name="" r:id="rId4" imgW="165100" imgH="1905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44065" y="1378585"/>
                        <a:ext cx="274320" cy="316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904740" y="544004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olidFill>
                  <a:srgbClr val="FF0000"/>
                </a:solidFill>
                <a:sym typeface="+mn-ea"/>
              </a:rPr>
              <a:t>74LS273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常作为并行输出接口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兼具数据锁存器和三态缓冲器的接口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这类芯片由锁存器和三态缓冲器组合而成，是具有三态缓冲功能的数据锁存器。</a:t>
            </a:r>
            <a:endParaRPr lang="zh-CN" altLang="en-US" dirty="0"/>
          </a:p>
          <a:p>
            <a:r>
              <a:rPr lang="zh-CN" altLang="en-US">
                <a:sym typeface="+mn-ea"/>
              </a:rPr>
              <a:t>最典型的是</a:t>
            </a:r>
            <a:r>
              <a:rPr lang="en-US" altLang="zh-CN">
                <a:sym typeface="+mn-ea"/>
              </a:rPr>
              <a:t>74LS373</a:t>
            </a:r>
            <a:r>
              <a:rPr lang="zh-CN" altLang="en-US">
                <a:sym typeface="+mn-ea"/>
              </a:rPr>
              <a:t>芯片，它是具有三态缓冲功能的数据锁存器，由一个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位的锁存器和一个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位三态缓冲器构成。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74LS373</a:t>
            </a:r>
            <a:r>
              <a:rPr lang="zh-CN" altLang="en-US" dirty="0"/>
              <a:t>的逻辑功能图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90754" y="1627188"/>
            <a:ext cx="5751616" cy="4411662"/>
          </a:xfrm>
        </p:spPr>
        <p:txBody>
          <a:bodyPr/>
          <a:lstStyle/>
          <a:p>
            <a:r>
              <a:rPr lang="zh-CN" altLang="en-US" dirty="0"/>
              <a:t>由八个</a:t>
            </a:r>
            <a:r>
              <a:rPr lang="en-US" altLang="zh-CN" dirty="0"/>
              <a:t>D</a:t>
            </a:r>
            <a:r>
              <a:rPr lang="zh-CN" altLang="en-US" dirty="0"/>
              <a:t>触发器和八个三态缓冲器构成；</a:t>
            </a:r>
            <a:endParaRPr lang="en-US" altLang="zh-CN" dirty="0"/>
          </a:p>
          <a:p>
            <a:pPr lvl="1"/>
            <a:r>
              <a:rPr lang="en-US" altLang="zh-CN" dirty="0"/>
              <a:t>1D~8D</a:t>
            </a:r>
            <a:r>
              <a:rPr lang="zh-CN" altLang="en-US" dirty="0"/>
              <a:t>：数据输入端；</a:t>
            </a:r>
            <a:endParaRPr lang="en-US" altLang="zh-CN" dirty="0"/>
          </a:p>
          <a:p>
            <a:pPr lvl="1"/>
            <a:r>
              <a:rPr lang="en-US" altLang="zh-CN" dirty="0"/>
              <a:t>1Q~8Q</a:t>
            </a:r>
            <a:r>
              <a:rPr lang="zh-CN" altLang="en-US" dirty="0"/>
              <a:t>：数据输出端；</a:t>
            </a:r>
            <a:endParaRPr lang="en-US" altLang="zh-CN" dirty="0"/>
          </a:p>
          <a:p>
            <a:pPr lvl="1"/>
            <a:r>
              <a:rPr lang="en-US" altLang="zh-CN" dirty="0"/>
              <a:t>G</a:t>
            </a:r>
            <a:r>
              <a:rPr lang="zh-CN" altLang="en-US" dirty="0"/>
              <a:t>：锁存允许端。高电平时，触发器状态随</a:t>
            </a:r>
            <a:r>
              <a:rPr lang="en-US" altLang="zh-CN" dirty="0"/>
              <a:t>D</a:t>
            </a:r>
            <a:r>
              <a:rPr lang="zh-CN" altLang="en-US" dirty="0"/>
              <a:t>而变，低电平时，数据锁存。</a:t>
            </a:r>
            <a:endParaRPr lang="en-US" altLang="zh-CN" dirty="0"/>
          </a:p>
          <a:p>
            <a:pPr lvl="1"/>
            <a:r>
              <a:rPr lang="en-US" altLang="zh-CN" dirty="0"/>
              <a:t>    </a:t>
            </a:r>
            <a:r>
              <a:rPr lang="zh-CN" altLang="en-US" dirty="0"/>
              <a:t>：输出允许端，低电平有效。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05444" y="1455447"/>
            <a:ext cx="3079667" cy="4158866"/>
          </a:xfrm>
          <a:prstGeom prst="rect">
            <a:avLst/>
          </a:prstGeom>
        </p:spPr>
      </p:pic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83530" y="4810125"/>
          <a:ext cx="510540" cy="434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2" imgW="254000" imgH="215900" progId="Equation.KSEE3">
                  <p:embed/>
                </p:oleObj>
              </mc:Choice>
              <mc:Fallback>
                <p:oleObj name="" r:id="rId2" imgW="254000" imgH="2159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83530" y="4810125"/>
                        <a:ext cx="510540" cy="434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简单并行接口的应用</a:t>
            </a:r>
            <a:r>
              <a:rPr lang="en-US" altLang="zh-CN" dirty="0"/>
              <a:t>-</a:t>
            </a:r>
            <a:r>
              <a:rPr lang="zh-CN" altLang="en-US" dirty="0"/>
              <a:t>开关状态读取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4603667" cy="4411662"/>
          </a:xfrm>
        </p:spPr>
        <p:txBody>
          <a:bodyPr/>
          <a:lstStyle/>
          <a:p>
            <a:r>
              <a:rPr lang="zh-CN" altLang="en-US" dirty="0"/>
              <a:t>如图所示，为使用三态缓冲器</a:t>
            </a:r>
            <a:r>
              <a:rPr lang="en-US" altLang="zh-CN" dirty="0"/>
              <a:t>74LS244</a:t>
            </a:r>
            <a:r>
              <a:rPr lang="zh-CN" altLang="en-US" dirty="0"/>
              <a:t>构成的开关接口电路，设</a:t>
            </a:r>
            <a:r>
              <a:rPr lang="en-US" altLang="zh-CN" dirty="0"/>
              <a:t>74LS244</a:t>
            </a:r>
            <a:r>
              <a:rPr lang="zh-CN" altLang="en-US" dirty="0"/>
              <a:t>的端口地址为</a:t>
            </a:r>
            <a:r>
              <a:rPr lang="en-US" altLang="zh-CN" dirty="0"/>
              <a:t>80H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试编写程序，每隔</a:t>
            </a:r>
            <a:r>
              <a:rPr lang="en-US" altLang="zh-CN" dirty="0"/>
              <a:t>5</a:t>
            </a:r>
            <a:r>
              <a:rPr lang="zh-CN" altLang="en-US" dirty="0"/>
              <a:t>分钟检测一次开关</a:t>
            </a:r>
            <a:r>
              <a:rPr lang="en-US" altLang="zh-CN" dirty="0"/>
              <a:t>S1~S8</a:t>
            </a:r>
            <a:r>
              <a:rPr lang="zh-CN" altLang="en-US" dirty="0"/>
              <a:t>的通断状态，检测</a:t>
            </a:r>
            <a:r>
              <a:rPr lang="en-US" altLang="zh-CN" dirty="0"/>
              <a:t>100</a:t>
            </a:r>
            <a:r>
              <a:rPr lang="zh-CN" altLang="en-US" dirty="0"/>
              <a:t>次结束。将检测结果保存到以</a:t>
            </a:r>
            <a:r>
              <a:rPr lang="en-US" altLang="zh-CN" dirty="0"/>
              <a:t>2000H</a:t>
            </a:r>
            <a:r>
              <a:rPr lang="zh-CN" altLang="en-US" dirty="0"/>
              <a:t>开始的存储器中。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213268" y="1914627"/>
            <a:ext cx="5628903" cy="40209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简单并行接口的应用</a:t>
            </a:r>
            <a:r>
              <a:rPr lang="en-US" altLang="zh-CN" dirty="0"/>
              <a:t>-</a:t>
            </a:r>
            <a:r>
              <a:rPr lang="zh-CN" altLang="en-US" dirty="0"/>
              <a:t>开关状态读取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程序段：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……</a:t>
            </a:r>
            <a:endParaRPr lang="en-US" altLang="zh-CN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MOV    BX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2000H</a:t>
            </a:r>
            <a:endParaRPr lang="en-US" altLang="zh-CN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MOV     CX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100</a:t>
            </a:r>
            <a:endParaRPr lang="en-US" altLang="zh-CN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LOP:   IN    AL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80H        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80H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I/O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端口地址</a:t>
            </a:r>
            <a:endParaRPr lang="zh-CN" altLang="en-US" sz="24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MOV     [BX]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AL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；开关状态存入</a:t>
            </a:r>
            <a:endParaRPr lang="zh-CN" altLang="en-US" sz="24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INC        BX           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；修改存数地址</a:t>
            </a:r>
            <a:endParaRPr lang="zh-CN" altLang="en-US" sz="24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CALL       DELAY5M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；延时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5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分钟</a:t>
            </a:r>
            <a:endParaRPr lang="zh-CN" altLang="en-US" sz="24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LOOP   LOP</a:t>
            </a:r>
            <a:endParaRPr lang="en-US" altLang="zh-CN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……</a:t>
            </a:r>
            <a:endParaRPr lang="en-US" altLang="zh-CN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简单并行接口的应用</a:t>
            </a:r>
            <a:r>
              <a:rPr lang="en-US" altLang="zh-CN" dirty="0"/>
              <a:t>-LED</a:t>
            </a:r>
            <a:r>
              <a:rPr lang="zh-CN" altLang="en-US" dirty="0"/>
              <a:t>显示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4116778" cy="4411662"/>
          </a:xfrm>
        </p:spPr>
        <p:txBody>
          <a:bodyPr/>
          <a:lstStyle/>
          <a:p>
            <a:r>
              <a:rPr lang="zh-CN" altLang="en-US" dirty="0"/>
              <a:t>如图所示，为采用锁存器</a:t>
            </a:r>
            <a:r>
              <a:rPr lang="en-US" altLang="zh-CN" dirty="0"/>
              <a:t>74LS373</a:t>
            </a:r>
            <a:r>
              <a:rPr lang="zh-CN" altLang="en-US" dirty="0"/>
              <a:t>的</a:t>
            </a:r>
            <a:r>
              <a:rPr lang="en-US" altLang="zh-CN" dirty="0"/>
              <a:t>LED</a:t>
            </a:r>
            <a:r>
              <a:rPr lang="zh-CN" altLang="en-US" dirty="0"/>
              <a:t>接口电路，设</a:t>
            </a:r>
            <a:r>
              <a:rPr lang="en-US" altLang="zh-CN" dirty="0"/>
              <a:t>74LS373</a:t>
            </a:r>
            <a:r>
              <a:rPr lang="zh-CN" altLang="en-US" dirty="0"/>
              <a:t>的端口地址为</a:t>
            </a:r>
            <a:r>
              <a:rPr lang="en-US" altLang="zh-CN" dirty="0"/>
              <a:t>40H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试编写程序，控制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LED</a:t>
            </a:r>
            <a:r>
              <a:rPr lang="zh-CN" altLang="en-US" dirty="0"/>
              <a:t>间隔发光，每隔</a:t>
            </a:r>
            <a:r>
              <a:rPr lang="en-US" altLang="zh-CN" dirty="0"/>
              <a:t>5</a:t>
            </a:r>
            <a:r>
              <a:rPr lang="zh-CN" altLang="en-US" dirty="0"/>
              <a:t>秒钟变换发光状态</a:t>
            </a:r>
            <a:r>
              <a:rPr lang="en-US" altLang="zh-CN" dirty="0"/>
              <a:t>(</a:t>
            </a:r>
            <a:r>
              <a:rPr lang="zh-CN" altLang="en-US" dirty="0"/>
              <a:t>亮变灭，灭变亮</a:t>
            </a:r>
            <a:r>
              <a:rPr lang="en-US" altLang="zh-CN" dirty="0"/>
              <a:t>)</a:t>
            </a:r>
            <a:r>
              <a:rPr lang="zh-CN" altLang="en-US" dirty="0"/>
              <a:t>，工作</a:t>
            </a:r>
            <a:r>
              <a:rPr lang="en-US" altLang="zh-CN" dirty="0"/>
              <a:t>10</a:t>
            </a:r>
            <a:r>
              <a:rPr lang="zh-CN" altLang="en-US" dirty="0"/>
              <a:t>小时后结束。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975761" y="1865837"/>
            <a:ext cx="6073552" cy="38205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简单并行接口的应用</a:t>
            </a:r>
            <a:r>
              <a:rPr lang="en-US" altLang="zh-CN" dirty="0"/>
              <a:t>-LED</a:t>
            </a:r>
            <a:r>
              <a:rPr lang="zh-CN" altLang="en-US" dirty="0"/>
              <a:t>显示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247272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      由图可看出，输出为</a:t>
            </a:r>
            <a:r>
              <a:rPr lang="en-US" altLang="zh-CN" dirty="0"/>
              <a:t>0</a:t>
            </a:r>
            <a:r>
              <a:rPr lang="zh-CN" altLang="en-US" dirty="0"/>
              <a:t>时，</a:t>
            </a:r>
            <a:r>
              <a:rPr lang="en-US" altLang="zh-CN" dirty="0"/>
              <a:t>LED</a:t>
            </a:r>
            <a:r>
              <a:rPr lang="zh-CN" altLang="en-US" dirty="0"/>
              <a:t>亮；为</a:t>
            </a:r>
            <a:r>
              <a:rPr lang="en-US" altLang="zh-CN" dirty="0"/>
              <a:t>1</a:t>
            </a:r>
            <a:r>
              <a:rPr lang="zh-CN" altLang="en-US" dirty="0"/>
              <a:t>时，</a:t>
            </a:r>
            <a:r>
              <a:rPr lang="en-US" altLang="zh-CN" dirty="0"/>
              <a:t>LED</a:t>
            </a:r>
            <a:r>
              <a:rPr lang="zh-CN" altLang="en-US" dirty="0"/>
              <a:t>灭。由于要求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LED</a:t>
            </a:r>
            <a:r>
              <a:rPr lang="zh-CN" altLang="en-US" dirty="0"/>
              <a:t>间隔发光，输出初始值可为：</a:t>
            </a:r>
            <a:r>
              <a:rPr lang="en-US" altLang="zh-CN" dirty="0"/>
              <a:t>01010101B=55H</a:t>
            </a:r>
            <a:r>
              <a:rPr lang="zh-CN" altLang="en-US" dirty="0"/>
              <a:t>；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每隔</a:t>
            </a:r>
            <a:r>
              <a:rPr lang="en-US" altLang="zh-CN" dirty="0"/>
              <a:t>5</a:t>
            </a:r>
            <a:r>
              <a:rPr lang="zh-CN" altLang="en-US" dirty="0"/>
              <a:t>秒变换发光状态，</a:t>
            </a:r>
            <a:r>
              <a:rPr lang="en-US" altLang="zh-CN" dirty="0"/>
              <a:t>10</a:t>
            </a:r>
            <a:r>
              <a:rPr lang="zh-CN" altLang="en-US" dirty="0"/>
              <a:t>小时结束，所以需变换的次数为：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              10×60×60/5=7200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程序段如下：          </a:t>
            </a:r>
            <a:r>
              <a:rPr lang="en-US" altLang="zh-CN" dirty="0"/>
              <a:t>……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3047010" y="4180344"/>
            <a:ext cx="65245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          MOV     CX</a:t>
            </a:r>
            <a:r>
              <a:rPr lang="zh-CN" altLang="en-US" sz="2400" dirty="0"/>
              <a:t>，</a:t>
            </a:r>
            <a:r>
              <a:rPr lang="en-US" altLang="zh-CN" sz="2400" dirty="0"/>
              <a:t>7200</a:t>
            </a:r>
            <a:endParaRPr lang="en-US" altLang="zh-CN" sz="2400" dirty="0"/>
          </a:p>
          <a:p>
            <a:r>
              <a:rPr lang="en-US" altLang="zh-CN" sz="2400" dirty="0"/>
              <a:t>          MOV      AL</a:t>
            </a:r>
            <a:r>
              <a:rPr lang="zh-CN" altLang="en-US" sz="2400" dirty="0"/>
              <a:t>，</a:t>
            </a:r>
            <a:r>
              <a:rPr lang="en-US" altLang="zh-CN" sz="2400" dirty="0"/>
              <a:t>55H</a:t>
            </a:r>
            <a:endParaRPr lang="en-US" altLang="zh-CN" sz="2400" dirty="0"/>
          </a:p>
          <a:p>
            <a:r>
              <a:rPr lang="en-US" altLang="zh-CN" sz="2400" dirty="0"/>
              <a:t>LOP: OUT      40H</a:t>
            </a:r>
            <a:r>
              <a:rPr lang="zh-CN" altLang="en-US" sz="2400" dirty="0"/>
              <a:t>，</a:t>
            </a:r>
            <a:r>
              <a:rPr lang="en-US" altLang="zh-CN" sz="2400" dirty="0"/>
              <a:t>AL</a:t>
            </a:r>
            <a:r>
              <a:rPr lang="zh-CN" altLang="en-US" sz="2400" dirty="0"/>
              <a:t>；</a:t>
            </a:r>
            <a:r>
              <a:rPr lang="en-US" altLang="zh-CN" sz="2400" dirty="0"/>
              <a:t>40H</a:t>
            </a:r>
            <a:r>
              <a:rPr lang="zh-CN" altLang="en-US" sz="2400" dirty="0"/>
              <a:t>是</a:t>
            </a:r>
            <a:r>
              <a:rPr lang="en-US" altLang="zh-CN" sz="2400" dirty="0"/>
              <a:t>I/O</a:t>
            </a:r>
            <a:r>
              <a:rPr lang="zh-CN" altLang="en-US" sz="2400" dirty="0"/>
              <a:t>端口地址</a:t>
            </a:r>
            <a:endParaRPr lang="zh-CN" altLang="en-US" sz="2400" dirty="0"/>
          </a:p>
          <a:p>
            <a:r>
              <a:rPr lang="en-US" altLang="zh-CN" sz="2400" dirty="0"/>
              <a:t>          CALL     DELAY5S</a:t>
            </a:r>
            <a:r>
              <a:rPr lang="zh-CN" altLang="en-US" sz="2400" dirty="0"/>
              <a:t>；延迟</a:t>
            </a:r>
            <a:r>
              <a:rPr lang="en-US" altLang="zh-CN" sz="2400" dirty="0"/>
              <a:t>5</a:t>
            </a:r>
            <a:r>
              <a:rPr lang="zh-CN" altLang="en-US" sz="2400" dirty="0"/>
              <a:t>秒钟</a:t>
            </a:r>
            <a:endParaRPr lang="zh-CN" altLang="en-US" sz="2400" dirty="0"/>
          </a:p>
          <a:p>
            <a:r>
              <a:rPr lang="en-US" altLang="zh-CN" sz="2400" dirty="0"/>
              <a:t>          XOR      AL</a:t>
            </a:r>
            <a:r>
              <a:rPr lang="zh-CN" altLang="en-US" sz="2400" dirty="0"/>
              <a:t>，</a:t>
            </a:r>
            <a:r>
              <a:rPr lang="en-US" altLang="zh-CN" sz="2400" dirty="0"/>
              <a:t>0FFH</a:t>
            </a:r>
            <a:endParaRPr lang="en-US" altLang="zh-CN" sz="2400" dirty="0"/>
          </a:p>
          <a:p>
            <a:r>
              <a:rPr lang="en-US" altLang="zh-CN" sz="2400" dirty="0"/>
              <a:t>          LOOP   LOP</a:t>
            </a:r>
            <a:endParaRPr lang="en-US" altLang="zh-CN" sz="2400" dirty="0"/>
          </a:p>
          <a:p>
            <a:r>
              <a:rPr lang="en-US" altLang="zh-CN" sz="2400" dirty="0"/>
              <a:t>               ……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</a:t>
            </a:r>
            <a:r>
              <a:rPr lang="zh-CN" altLang="en-US" dirty="0"/>
              <a:t>可编程并行接口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8255A</a:t>
            </a:r>
            <a:r>
              <a:rPr lang="zh-CN" altLang="en-US" dirty="0"/>
              <a:t>的内部结构和引脚特性</a:t>
            </a:r>
            <a:endParaRPr lang="zh-CN" altLang="en-US" dirty="0"/>
          </a:p>
          <a:p>
            <a:r>
              <a:rPr lang="en-US" altLang="zh-CN" dirty="0"/>
              <a:t>8255A</a:t>
            </a:r>
            <a:r>
              <a:rPr lang="zh-CN" altLang="en-US" dirty="0"/>
              <a:t>的控制字</a:t>
            </a:r>
            <a:endParaRPr lang="zh-CN" altLang="en-US" dirty="0"/>
          </a:p>
          <a:p>
            <a:r>
              <a:rPr lang="en-US" altLang="zh-CN" dirty="0"/>
              <a:t>8255A</a:t>
            </a:r>
            <a:r>
              <a:rPr lang="zh-CN" altLang="en-US" dirty="0"/>
              <a:t>的工作方式</a:t>
            </a:r>
            <a:endParaRPr lang="zh-CN" altLang="en-US" dirty="0"/>
          </a:p>
          <a:p>
            <a:r>
              <a:rPr lang="en-US" altLang="zh-CN" dirty="0"/>
              <a:t>8255A</a:t>
            </a:r>
            <a:r>
              <a:rPr lang="zh-CN" altLang="en-US" dirty="0"/>
              <a:t>的编程及应用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578406"/>
          </a:xfrm>
        </p:spPr>
        <p:txBody>
          <a:bodyPr/>
          <a:lstStyle/>
          <a:p>
            <a:r>
              <a:rPr lang="en-US" altLang="zh-CN" dirty="0"/>
              <a:t>7.2.1 8255A</a:t>
            </a:r>
            <a:r>
              <a:rPr lang="zh-CN" altLang="en-US" dirty="0"/>
              <a:t>的内部结构和引脚特性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对话气泡: 矩形 6"/>
          <p:cNvSpPr/>
          <p:nvPr/>
        </p:nvSpPr>
        <p:spPr bwMode="auto">
          <a:xfrm>
            <a:off x="142043" y="709471"/>
            <a:ext cx="2700594" cy="1998218"/>
          </a:xfrm>
          <a:prstGeom prst="wedgeRectCallout">
            <a:avLst>
              <a:gd name="adj1" fmla="val 52047"/>
              <a:gd name="adj2" fmla="val 7032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 smtClean="0">
                <a:latin typeface="Arial" panose="020B0604020202020204" pitchFamily="34" charset="0"/>
                <a:ea typeface="宋体" panose="02010600030101010101" pitchFamily="2" charset="-122"/>
              </a:rPr>
              <a:t>双向三态</a:t>
            </a:r>
            <a:r>
              <a:rPr lang="en-US" altLang="zh-CN" sz="2400" dirty="0" smtClean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 smtClean="0">
                <a:latin typeface="Arial" panose="020B0604020202020204" pitchFamily="34" charset="0"/>
                <a:ea typeface="宋体" panose="02010600030101010101" pitchFamily="2" charset="-122"/>
              </a:rPr>
              <a:t>位缓冲器</a:t>
            </a:r>
            <a:endParaRPr lang="en-US" altLang="zh-CN" sz="2400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 smtClean="0">
                <a:latin typeface="Arial" panose="020B0604020202020204" pitchFamily="34" charset="0"/>
                <a:ea typeface="宋体" panose="02010600030101010101" pitchFamily="2" charset="-122"/>
              </a:rPr>
              <a:t>实现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数据发送和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接收操作。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实现控制字和状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态</a:t>
            </a:r>
            <a:r>
              <a:rPr lang="zh-CN" altLang="en-US" sz="2400" dirty="0" smtClean="0">
                <a:latin typeface="Arial" panose="020B0604020202020204" pitchFamily="34" charset="0"/>
                <a:ea typeface="宋体" panose="02010600030101010101" pitchFamily="2" charset="-122"/>
              </a:rPr>
              <a:t>字的传送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对话气泡: 矩形 7"/>
          <p:cNvSpPr/>
          <p:nvPr/>
        </p:nvSpPr>
        <p:spPr bwMode="auto">
          <a:xfrm>
            <a:off x="439387" y="4215740"/>
            <a:ext cx="1838696" cy="932936"/>
          </a:xfrm>
          <a:prstGeom prst="wedgeRectCallout">
            <a:avLst>
              <a:gd name="adj1" fmla="val 75740"/>
              <a:gd name="adj2" fmla="val -2373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控制及端口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选择线。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对话气泡: 矩形 8"/>
          <p:cNvSpPr/>
          <p:nvPr/>
        </p:nvSpPr>
        <p:spPr bwMode="auto">
          <a:xfrm>
            <a:off x="8508243" y="464040"/>
            <a:ext cx="2033545" cy="1870232"/>
          </a:xfrm>
          <a:prstGeom prst="wedgeRectCallout">
            <a:avLst>
              <a:gd name="adj1" fmla="val -89219"/>
              <a:gd name="adj2" fmla="val 2919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PA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：有一个输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入锁存器和一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个输出锁存器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缓冲器，可用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于数据双向传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输的场合。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对话气泡: 矩形 9"/>
          <p:cNvSpPr/>
          <p:nvPr/>
        </p:nvSpPr>
        <p:spPr bwMode="auto">
          <a:xfrm>
            <a:off x="8581766" y="2539406"/>
            <a:ext cx="2418175" cy="1870232"/>
          </a:xfrm>
          <a:prstGeom prst="wedgeRectCallout">
            <a:avLst>
              <a:gd name="adj1" fmla="val -89028"/>
              <a:gd name="adj2" fmla="val -1266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：有输入缓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冲器和输出锁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存器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缓冲器；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也可作为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PA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口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PB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口的控制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和状态信号使用。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对话气泡: 矩形 10"/>
          <p:cNvSpPr/>
          <p:nvPr/>
        </p:nvSpPr>
        <p:spPr bwMode="auto">
          <a:xfrm>
            <a:off x="8669607" y="4649799"/>
            <a:ext cx="2596304" cy="1449648"/>
          </a:xfrm>
          <a:prstGeom prst="wedgeRectCallout">
            <a:avLst>
              <a:gd name="adj1" fmla="val -90271"/>
              <a:gd name="adj2" fmla="val -5273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PB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：有输入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缓冲器和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输出锁存器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缓冲器，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当用于输出时，数据才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受到锁存。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928745" y="1398517"/>
            <a:ext cx="4811268" cy="3947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8255A</a:t>
            </a:r>
            <a:r>
              <a:rPr lang="zh-CN" altLang="en-US" dirty="0"/>
              <a:t>的内部结构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CN" altLang="en-US" dirty="0"/>
              <a:t>控制及端口选择信号</a:t>
            </a:r>
            <a:endParaRPr lang="en-US" altLang="zh-CN" dirty="0"/>
          </a:p>
          <a:p>
            <a:pPr marL="0" indent="0" algn="ctr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523998" y="2678978"/>
            <a:ext cx="8822357" cy="28786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8255A</a:t>
            </a:r>
            <a:r>
              <a:rPr lang="zh-CN" altLang="en-US" dirty="0"/>
              <a:t>的引脚特性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4400" y="1580171"/>
            <a:ext cx="7213600" cy="3697658"/>
          </a:xfrm>
        </p:spPr>
        <p:txBody>
          <a:bodyPr/>
          <a:lstStyle/>
          <a:p>
            <a:r>
              <a:rPr lang="en-US" altLang="zh-CN" dirty="0"/>
              <a:t>PA7 ~PA0</a:t>
            </a:r>
            <a:r>
              <a:rPr lang="zh-CN" altLang="en-US" dirty="0"/>
              <a:t>：端口</a:t>
            </a:r>
            <a:r>
              <a:rPr lang="en-US" altLang="zh-CN" dirty="0"/>
              <a:t>A</a:t>
            </a:r>
            <a:r>
              <a:rPr lang="zh-CN" altLang="en-US" dirty="0"/>
              <a:t>的数据输入</a:t>
            </a:r>
            <a:r>
              <a:rPr lang="en-US" altLang="zh-CN" dirty="0"/>
              <a:t>/</a:t>
            </a:r>
            <a:r>
              <a:rPr lang="zh-CN" altLang="en-US" dirty="0"/>
              <a:t>输出引脚， 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</a:t>
            </a:r>
            <a:r>
              <a:rPr lang="zh-CN" altLang="en-US" dirty="0"/>
              <a:t>与外设相连。</a:t>
            </a:r>
            <a:endParaRPr lang="zh-CN" altLang="en-US" dirty="0"/>
          </a:p>
          <a:p>
            <a:r>
              <a:rPr lang="en-US" altLang="zh-CN" dirty="0"/>
              <a:t>PB7 ~PB0</a:t>
            </a:r>
            <a:r>
              <a:rPr lang="zh-CN" altLang="en-US" dirty="0"/>
              <a:t>：端口</a:t>
            </a:r>
            <a:r>
              <a:rPr lang="en-US" altLang="zh-CN" dirty="0"/>
              <a:t>B</a:t>
            </a:r>
            <a:r>
              <a:rPr lang="zh-CN" altLang="en-US" dirty="0"/>
              <a:t>的数据输入</a:t>
            </a:r>
            <a:r>
              <a:rPr lang="en-US" altLang="zh-CN" dirty="0"/>
              <a:t>/</a:t>
            </a:r>
            <a:r>
              <a:rPr lang="zh-CN" altLang="en-US" dirty="0"/>
              <a:t>输出引脚，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</a:t>
            </a:r>
            <a:r>
              <a:rPr lang="zh-CN" altLang="en-US" dirty="0"/>
              <a:t>与外设相连。</a:t>
            </a:r>
            <a:endParaRPr lang="zh-CN" altLang="en-US" dirty="0"/>
          </a:p>
          <a:p>
            <a:r>
              <a:rPr lang="en-US" altLang="zh-CN" dirty="0"/>
              <a:t>PC7 ~PC0</a:t>
            </a:r>
            <a:r>
              <a:rPr lang="zh-CN" altLang="en-US" dirty="0"/>
              <a:t>：端口</a:t>
            </a:r>
            <a:r>
              <a:rPr lang="en-US" altLang="zh-CN" dirty="0"/>
              <a:t>C</a:t>
            </a:r>
            <a:r>
              <a:rPr lang="zh-CN" altLang="en-US" dirty="0"/>
              <a:t>的数据输入</a:t>
            </a:r>
            <a:r>
              <a:rPr lang="en-US" altLang="zh-CN" dirty="0"/>
              <a:t>/</a:t>
            </a:r>
            <a:r>
              <a:rPr lang="zh-CN" altLang="en-US" dirty="0"/>
              <a:t>输出引脚，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</a:t>
            </a:r>
            <a:r>
              <a:rPr lang="zh-CN" altLang="en-US" dirty="0"/>
              <a:t>与外设相连。</a:t>
            </a:r>
            <a:endParaRPr lang="zh-CN" altLang="en-US" dirty="0"/>
          </a:p>
          <a:p>
            <a:r>
              <a:rPr lang="en-US" altLang="zh-CN" dirty="0"/>
              <a:t>D7 ~D0</a:t>
            </a:r>
            <a:r>
              <a:rPr lang="zh-CN" altLang="en-US" dirty="0"/>
              <a:t>：双向三态数据线，与系统的数据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</a:t>
            </a:r>
            <a:r>
              <a:rPr lang="zh-CN" altLang="en-US" dirty="0"/>
              <a:t>总线相连。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12540" y="1788845"/>
            <a:ext cx="2841860" cy="36976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8255A</a:t>
            </a:r>
            <a:r>
              <a:rPr lang="zh-CN" altLang="en-US" dirty="0"/>
              <a:t>的引脚特性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888776" y="2246546"/>
            <a:ext cx="5017836" cy="2056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553196" y="1124486"/>
            <a:ext cx="7347638" cy="460902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05412" y="2558534"/>
            <a:ext cx="21477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A1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WR</a:t>
            </a:r>
            <a:endParaRPr lang="en-US" altLang="zh-CN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的控制作用</a:t>
            </a:r>
            <a:endParaRPr lang="zh-CN" altLang="en-US" sz="2800" dirty="0"/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498764" y="3075109"/>
            <a:ext cx="451262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auto">
          <a:xfrm>
            <a:off x="1375558" y="3075109"/>
            <a:ext cx="451262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8255A</a:t>
            </a:r>
            <a:r>
              <a:rPr lang="zh-CN" altLang="en-US" dirty="0"/>
              <a:t>与</a:t>
            </a:r>
            <a:r>
              <a:rPr lang="en-US" altLang="zh-CN" dirty="0"/>
              <a:t>8088CPU</a:t>
            </a:r>
            <a:r>
              <a:rPr lang="zh-CN" altLang="en-US" dirty="0"/>
              <a:t>的连接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1709737"/>
          </a:xfrm>
        </p:spPr>
        <p:txBody>
          <a:bodyPr/>
          <a:lstStyle/>
          <a:p>
            <a:r>
              <a:rPr lang="en-US" altLang="zh-CN" dirty="0"/>
              <a:t>8088CPU</a:t>
            </a:r>
            <a:r>
              <a:rPr lang="zh-CN" altLang="en-US" dirty="0"/>
              <a:t>的数据总线为</a:t>
            </a:r>
            <a:r>
              <a:rPr lang="en-US" altLang="zh-CN" dirty="0"/>
              <a:t>8</a:t>
            </a:r>
            <a:r>
              <a:rPr lang="zh-CN" altLang="en-US" dirty="0"/>
              <a:t>位，无论是奇地址还是偶地址读写，在一个总线周期内能完成。此时，可将</a:t>
            </a:r>
            <a:r>
              <a:rPr lang="en-US" altLang="zh-CN" dirty="0"/>
              <a:t>8255A</a:t>
            </a:r>
            <a:r>
              <a:rPr lang="zh-CN" altLang="en-US" dirty="0"/>
              <a:t>的</a:t>
            </a:r>
            <a:r>
              <a:rPr lang="en-US" altLang="zh-CN" dirty="0"/>
              <a:t>A1</a:t>
            </a:r>
            <a:r>
              <a:rPr lang="zh-CN" altLang="en-US" dirty="0"/>
              <a:t>、</a:t>
            </a:r>
            <a:r>
              <a:rPr lang="en-US" altLang="zh-CN" dirty="0"/>
              <a:t>A0</a:t>
            </a:r>
            <a:r>
              <a:rPr lang="zh-CN" altLang="en-US" dirty="0"/>
              <a:t>对应连接到</a:t>
            </a:r>
            <a:r>
              <a:rPr lang="en-US" altLang="zh-CN" dirty="0"/>
              <a:t>8088</a:t>
            </a:r>
            <a:r>
              <a:rPr lang="zh-CN" altLang="en-US" dirty="0"/>
              <a:t>地址总线的</a:t>
            </a:r>
            <a:r>
              <a:rPr lang="en-US" altLang="zh-CN" dirty="0"/>
              <a:t>A1</a:t>
            </a:r>
            <a:r>
              <a:rPr lang="zh-CN" altLang="en-US" dirty="0"/>
              <a:t>、</a:t>
            </a:r>
            <a:r>
              <a:rPr lang="en-US" altLang="zh-CN" dirty="0"/>
              <a:t>A0</a:t>
            </a:r>
            <a:r>
              <a:rPr lang="zh-CN" altLang="en-US" dirty="0"/>
              <a:t>上，</a:t>
            </a:r>
            <a:r>
              <a:rPr lang="en-US" altLang="zh-CN" dirty="0"/>
              <a:t>8255A</a:t>
            </a:r>
            <a:r>
              <a:rPr lang="zh-CN" altLang="en-US" dirty="0"/>
              <a:t>的端口地址为</a:t>
            </a:r>
            <a:r>
              <a:rPr lang="en-US" altLang="zh-CN" dirty="0"/>
              <a:t>4</a:t>
            </a:r>
            <a:r>
              <a:rPr lang="zh-CN" altLang="en-US" dirty="0"/>
              <a:t>个相邻地址。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910238" y="3999449"/>
            <a:ext cx="6371524" cy="216121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799608" y="3586250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8088</a:t>
            </a:r>
            <a:r>
              <a:rPr lang="zh-CN" altLang="en-US" dirty="0"/>
              <a:t>主机系统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170056" y="3586250"/>
            <a:ext cx="1665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8255A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8255A</a:t>
            </a:r>
            <a:r>
              <a:rPr lang="zh-CN" altLang="en-US" dirty="0"/>
              <a:t>与</a:t>
            </a:r>
            <a:r>
              <a:rPr lang="en-US" altLang="zh-CN" dirty="0"/>
              <a:t>8086CPU</a:t>
            </a:r>
            <a:r>
              <a:rPr lang="zh-CN" altLang="en-US" dirty="0"/>
              <a:t>的连接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8086CPU</a:t>
            </a:r>
            <a:r>
              <a:rPr lang="zh-CN" altLang="en-US" dirty="0"/>
              <a:t>外部数据总线为</a:t>
            </a:r>
            <a:r>
              <a:rPr lang="en-US" altLang="zh-CN" dirty="0"/>
              <a:t>16</a:t>
            </a:r>
            <a:r>
              <a:rPr lang="zh-CN" altLang="en-US" dirty="0"/>
              <a:t>位，其中数据总线的低</a:t>
            </a:r>
            <a:r>
              <a:rPr lang="en-US" altLang="zh-CN" dirty="0"/>
              <a:t>8</a:t>
            </a:r>
            <a:r>
              <a:rPr lang="zh-CN" altLang="en-US" dirty="0"/>
              <a:t>位对应一个偶地址，高</a:t>
            </a:r>
            <a:r>
              <a:rPr lang="en-US" altLang="zh-CN" dirty="0"/>
              <a:t>8</a:t>
            </a:r>
            <a:r>
              <a:rPr lang="zh-CN" altLang="en-US" dirty="0"/>
              <a:t>位对应一个奇地址。</a:t>
            </a:r>
            <a:endParaRPr lang="zh-CN" altLang="en-US" dirty="0"/>
          </a:p>
          <a:p>
            <a:r>
              <a:rPr lang="en-US" altLang="zh-CN" dirty="0"/>
              <a:t>8255A</a:t>
            </a:r>
            <a:r>
              <a:rPr lang="zh-CN" altLang="en-US" dirty="0"/>
              <a:t>与</a:t>
            </a:r>
            <a:r>
              <a:rPr lang="en-US" altLang="zh-CN" dirty="0"/>
              <a:t>8086CPU</a:t>
            </a:r>
            <a:r>
              <a:rPr lang="zh-CN" altLang="en-US" dirty="0"/>
              <a:t>相连时，若将</a:t>
            </a:r>
            <a:r>
              <a:rPr lang="en-US" altLang="zh-CN" dirty="0"/>
              <a:t>8255A</a:t>
            </a:r>
            <a:r>
              <a:rPr lang="zh-CN" altLang="en-US" dirty="0"/>
              <a:t>的数据线</a:t>
            </a:r>
            <a:r>
              <a:rPr lang="en-US" altLang="zh-CN" dirty="0"/>
              <a:t>D7~D0</a:t>
            </a:r>
            <a:r>
              <a:rPr lang="zh-CN" altLang="en-US" dirty="0"/>
              <a:t>接到</a:t>
            </a:r>
            <a:r>
              <a:rPr lang="en-US" altLang="zh-CN" dirty="0"/>
              <a:t>8086CPU</a:t>
            </a:r>
            <a:r>
              <a:rPr lang="zh-CN" altLang="en-US" dirty="0"/>
              <a:t>数据总线的低</a:t>
            </a:r>
            <a:r>
              <a:rPr lang="en-US" altLang="zh-CN" dirty="0"/>
              <a:t>8</a:t>
            </a:r>
            <a:r>
              <a:rPr lang="zh-CN" altLang="en-US" dirty="0"/>
              <a:t>位上，则要求</a:t>
            </a:r>
            <a:r>
              <a:rPr lang="en-US" altLang="zh-CN" dirty="0"/>
              <a:t>8255A</a:t>
            </a:r>
            <a:r>
              <a:rPr lang="zh-CN" altLang="en-US" dirty="0"/>
              <a:t>的端口地址为偶地址。这样，才能保证对</a:t>
            </a:r>
            <a:r>
              <a:rPr lang="en-US" altLang="zh-CN" dirty="0"/>
              <a:t>8255A</a:t>
            </a:r>
            <a:r>
              <a:rPr lang="zh-CN" altLang="en-US" dirty="0"/>
              <a:t>的端口读写操作能在一个总线周期内完成。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8255A</a:t>
            </a:r>
            <a:r>
              <a:rPr lang="zh-CN" altLang="en-US" dirty="0"/>
              <a:t>与</a:t>
            </a:r>
            <a:r>
              <a:rPr lang="en-US" altLang="zh-CN" dirty="0"/>
              <a:t>8086CPU</a:t>
            </a:r>
            <a:r>
              <a:rPr lang="zh-CN" altLang="en-US" dirty="0"/>
              <a:t>的连接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1392072"/>
          </a:xfrm>
        </p:spPr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8255A</a:t>
            </a:r>
            <a:r>
              <a:rPr lang="zh-CN" altLang="en-US" dirty="0"/>
              <a:t>的</a:t>
            </a:r>
            <a:r>
              <a:rPr lang="en-US" altLang="zh-CN" dirty="0"/>
              <a:t>A1</a:t>
            </a:r>
            <a:r>
              <a:rPr lang="zh-CN" altLang="en-US" dirty="0"/>
              <a:t>、</a:t>
            </a:r>
            <a:r>
              <a:rPr lang="en-US" altLang="zh-CN" dirty="0"/>
              <a:t>A0</a:t>
            </a:r>
            <a:r>
              <a:rPr lang="zh-CN" altLang="en-US" dirty="0"/>
              <a:t>分别与系统地址总线的</a:t>
            </a:r>
            <a:r>
              <a:rPr lang="en-US" altLang="zh-CN" dirty="0"/>
              <a:t>A2</a:t>
            </a:r>
            <a:r>
              <a:rPr lang="zh-CN" altLang="en-US" dirty="0"/>
              <a:t>、</a:t>
            </a:r>
            <a:r>
              <a:rPr lang="en-US" altLang="zh-CN" dirty="0"/>
              <a:t>A1</a:t>
            </a:r>
            <a:r>
              <a:rPr lang="zh-CN" altLang="en-US" dirty="0"/>
              <a:t>对应相连，将</a:t>
            </a:r>
            <a:r>
              <a:rPr lang="en-US" altLang="zh-CN" dirty="0"/>
              <a:t>8086</a:t>
            </a:r>
            <a:r>
              <a:rPr lang="zh-CN" altLang="en-US" dirty="0"/>
              <a:t>地址总线的</a:t>
            </a:r>
            <a:r>
              <a:rPr lang="en-US" altLang="zh-CN" dirty="0"/>
              <a:t>A0</a:t>
            </a:r>
            <a:r>
              <a:rPr lang="zh-CN" altLang="en-US" dirty="0"/>
              <a:t>总设为</a:t>
            </a:r>
            <a:r>
              <a:rPr lang="en-US" altLang="zh-CN" dirty="0"/>
              <a:t>0</a:t>
            </a:r>
            <a:r>
              <a:rPr lang="zh-CN" altLang="en-US" dirty="0"/>
              <a:t>，有</a:t>
            </a:r>
            <a:r>
              <a:rPr lang="en-US" altLang="zh-CN" dirty="0"/>
              <a:t>8255A</a:t>
            </a:r>
            <a:r>
              <a:rPr lang="zh-CN" altLang="en-US" dirty="0"/>
              <a:t>的端口地址为</a:t>
            </a:r>
            <a:r>
              <a:rPr lang="en-US" altLang="zh-CN" dirty="0"/>
              <a:t>4</a:t>
            </a:r>
            <a:r>
              <a:rPr lang="zh-CN" altLang="en-US" dirty="0"/>
              <a:t>个相邻的偶地址。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414047" y="3412960"/>
            <a:ext cx="6628618" cy="258621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14047" y="3059668"/>
            <a:ext cx="1732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8086</a:t>
            </a:r>
            <a:r>
              <a:rPr lang="zh-CN" altLang="en-US" dirty="0"/>
              <a:t>主机系统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685807" y="3077482"/>
            <a:ext cx="2544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8255A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7.2.2 </a:t>
            </a:r>
            <a:r>
              <a:rPr lang="zh-CN" altLang="en-US" dirty="0"/>
              <a:t>方式选择控制字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1392072"/>
          </a:xfrm>
        </p:spPr>
        <p:txBody>
          <a:bodyPr/>
          <a:lstStyle/>
          <a:p>
            <a:r>
              <a:rPr lang="zh-CN" altLang="en-US" dirty="0"/>
              <a:t>使</a:t>
            </a:r>
            <a:r>
              <a:rPr lang="en-US" altLang="zh-CN" dirty="0"/>
              <a:t>8255A</a:t>
            </a:r>
            <a:r>
              <a:rPr lang="zh-CN" altLang="en-US" dirty="0"/>
              <a:t>的三个数据端口工作在不同的工作方式。</a:t>
            </a:r>
            <a:endParaRPr lang="zh-CN" altLang="en-US" dirty="0"/>
          </a:p>
          <a:p>
            <a:r>
              <a:rPr lang="zh-CN" altLang="en-US" dirty="0"/>
              <a:t>方式选择控制字将</a:t>
            </a:r>
            <a:r>
              <a:rPr lang="en-US" altLang="zh-CN" dirty="0"/>
              <a:t>PA</a:t>
            </a:r>
            <a:r>
              <a:rPr lang="zh-CN" altLang="en-US" dirty="0"/>
              <a:t>、</a:t>
            </a:r>
            <a:r>
              <a:rPr lang="en-US" altLang="zh-CN" dirty="0"/>
              <a:t>PB</a:t>
            </a:r>
            <a:r>
              <a:rPr lang="zh-CN" altLang="en-US" dirty="0"/>
              <a:t>和</a:t>
            </a:r>
            <a:r>
              <a:rPr lang="en-US" altLang="zh-CN" dirty="0"/>
              <a:t>PC</a:t>
            </a:r>
            <a:r>
              <a:rPr lang="zh-CN" altLang="en-US" dirty="0"/>
              <a:t>分为两组来进行设定，即</a:t>
            </a:r>
            <a:r>
              <a:rPr lang="en-US" altLang="zh-CN" dirty="0"/>
              <a:t>PA</a:t>
            </a:r>
            <a:r>
              <a:rPr lang="zh-CN" altLang="en-US" dirty="0"/>
              <a:t>与</a:t>
            </a:r>
            <a:r>
              <a:rPr lang="en-US" altLang="zh-CN" dirty="0"/>
              <a:t>PC</a:t>
            </a:r>
            <a:r>
              <a:rPr lang="zh-CN" altLang="en-US" dirty="0"/>
              <a:t>的高</a:t>
            </a:r>
            <a:r>
              <a:rPr lang="en-US" altLang="zh-CN" dirty="0"/>
              <a:t>4</a:t>
            </a:r>
            <a:r>
              <a:rPr lang="zh-CN" altLang="en-US" dirty="0"/>
              <a:t>位作为一组；</a:t>
            </a:r>
            <a:r>
              <a:rPr lang="en-US" altLang="zh-CN" dirty="0"/>
              <a:t>PB</a:t>
            </a:r>
            <a:r>
              <a:rPr lang="zh-CN" altLang="en-US" dirty="0"/>
              <a:t>与</a:t>
            </a:r>
            <a:r>
              <a:rPr lang="en-US" altLang="zh-CN" dirty="0"/>
              <a:t>PC</a:t>
            </a:r>
            <a:r>
              <a:rPr lang="zh-CN" altLang="en-US" dirty="0"/>
              <a:t>的低</a:t>
            </a:r>
            <a:r>
              <a:rPr lang="en-US" altLang="zh-CN" dirty="0"/>
              <a:t>4</a:t>
            </a:r>
            <a:r>
              <a:rPr lang="zh-CN" altLang="en-US" dirty="0"/>
              <a:t>位作为一组。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032001" y="3404412"/>
            <a:ext cx="6446982" cy="2103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方式选择控制字格式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73742" y="1574651"/>
            <a:ext cx="911542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方式选择控制字设置举例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1295400"/>
          </a:xfrm>
        </p:spPr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8086</a:t>
            </a:r>
            <a:r>
              <a:rPr lang="zh-CN" altLang="en-US" dirty="0"/>
              <a:t>系统，设</a:t>
            </a:r>
            <a:r>
              <a:rPr lang="en-US" altLang="zh-CN" dirty="0"/>
              <a:t>8255A</a:t>
            </a:r>
            <a:r>
              <a:rPr lang="zh-CN" altLang="en-US" dirty="0"/>
              <a:t>的控制端口地址为</a:t>
            </a:r>
            <a:r>
              <a:rPr lang="en-US" altLang="zh-CN" dirty="0"/>
              <a:t>0046H</a:t>
            </a:r>
            <a:r>
              <a:rPr lang="zh-CN" altLang="en-US" dirty="0"/>
              <a:t>。要求将该</a:t>
            </a:r>
            <a:r>
              <a:rPr lang="en-US" altLang="zh-CN" dirty="0"/>
              <a:t>8255A</a:t>
            </a:r>
            <a:r>
              <a:rPr lang="zh-CN" altLang="en-US" dirty="0"/>
              <a:t>的端口</a:t>
            </a:r>
            <a:r>
              <a:rPr lang="en-US" altLang="zh-CN" dirty="0"/>
              <a:t>A</a:t>
            </a:r>
            <a:r>
              <a:rPr lang="zh-CN" altLang="en-US" dirty="0"/>
              <a:t>工作在方式</a:t>
            </a:r>
            <a:r>
              <a:rPr lang="en-US" altLang="zh-CN" dirty="0"/>
              <a:t>0</a:t>
            </a:r>
            <a:r>
              <a:rPr lang="zh-CN" altLang="en-US" dirty="0"/>
              <a:t>，作输出口；端口</a:t>
            </a:r>
            <a:r>
              <a:rPr lang="en-US" altLang="zh-CN" dirty="0"/>
              <a:t>B</a:t>
            </a:r>
            <a:r>
              <a:rPr lang="zh-CN" altLang="en-US" dirty="0"/>
              <a:t>工作在方式</a:t>
            </a:r>
            <a:r>
              <a:rPr lang="en-US" altLang="zh-CN" dirty="0"/>
              <a:t>1</a:t>
            </a:r>
            <a:r>
              <a:rPr lang="zh-CN" altLang="en-US" dirty="0"/>
              <a:t>，作输入口；端口</a:t>
            </a:r>
            <a:r>
              <a:rPr lang="en-US" altLang="zh-CN" dirty="0"/>
              <a:t>C</a:t>
            </a:r>
            <a:r>
              <a:rPr lang="zh-CN" altLang="en-US" dirty="0"/>
              <a:t>的高</a:t>
            </a:r>
            <a:r>
              <a:rPr lang="en-US" altLang="zh-CN" dirty="0"/>
              <a:t>4</a:t>
            </a:r>
            <a:r>
              <a:rPr lang="zh-CN" altLang="en-US" dirty="0"/>
              <a:t>位设为输出，低</a:t>
            </a:r>
            <a:r>
              <a:rPr lang="en-US" altLang="zh-CN" dirty="0"/>
              <a:t>4</a:t>
            </a:r>
            <a:r>
              <a:rPr lang="zh-CN" altLang="en-US" dirty="0"/>
              <a:t>位设为输出。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1505197" y="3310308"/>
            <a:ext cx="35299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要求：</a:t>
            </a:r>
            <a:r>
              <a:rPr lang="en-US" altLang="zh-CN" dirty="0"/>
              <a:t>PA</a:t>
            </a:r>
            <a:r>
              <a:rPr lang="zh-CN" altLang="en-US" dirty="0"/>
              <a:t>工作于方式</a:t>
            </a:r>
            <a:r>
              <a:rPr lang="en-US" altLang="zh-CN" dirty="0"/>
              <a:t>0</a:t>
            </a:r>
            <a:r>
              <a:rPr lang="zh-CN" altLang="en-US" dirty="0"/>
              <a:t>，输出；</a:t>
            </a:r>
            <a:endParaRPr lang="zh-CN" altLang="en-US" dirty="0"/>
          </a:p>
          <a:p>
            <a:r>
              <a:rPr lang="en-US" altLang="zh-CN" dirty="0"/>
              <a:t>           PB</a:t>
            </a:r>
            <a:r>
              <a:rPr lang="zh-CN" altLang="en-US" dirty="0"/>
              <a:t>工作于方式</a:t>
            </a:r>
            <a:r>
              <a:rPr lang="en-US" altLang="zh-CN" dirty="0"/>
              <a:t>1</a:t>
            </a:r>
            <a:r>
              <a:rPr lang="zh-CN" altLang="en-US" dirty="0"/>
              <a:t>，输入；</a:t>
            </a:r>
            <a:endParaRPr lang="zh-CN" altLang="en-US" dirty="0"/>
          </a:p>
          <a:p>
            <a:r>
              <a:rPr lang="en-US" altLang="zh-CN" dirty="0"/>
              <a:t>           PC7~4</a:t>
            </a:r>
            <a:r>
              <a:rPr lang="zh-CN" altLang="en-US" dirty="0"/>
              <a:t>，</a:t>
            </a:r>
            <a:r>
              <a:rPr lang="en-US" altLang="zh-CN" dirty="0"/>
              <a:t>PC3~0</a:t>
            </a:r>
            <a:r>
              <a:rPr lang="zh-CN" altLang="en-US" dirty="0"/>
              <a:t>，输出。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958444" y="3429000"/>
            <a:ext cx="6097978" cy="14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cs typeface="+mn-cs"/>
              </a:rPr>
              <a:t>方式选择控制字为86H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/>
                <a:cs typeface="+mn-cs"/>
              </a:rPr>
              <a:t>初始化程序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cs typeface="+mn-cs"/>
              </a:rPr>
              <a:t>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cs typeface="+mn-cs"/>
              </a:rPr>
              <a:t>    </a:t>
            </a:r>
            <a:r>
              <a:rPr kumimoji="0" lang="pt-B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cs typeface="+mn-cs"/>
              </a:rPr>
              <a:t>MOV  AL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cs typeface="+mn-cs"/>
              </a:rPr>
              <a:t>，</a:t>
            </a:r>
            <a:r>
              <a:rPr kumimoji="0" lang="pt-B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cs typeface="+mn-cs"/>
              </a:rPr>
              <a:t>86H   </a:t>
            </a:r>
            <a:endParaRPr kumimoji="0" lang="pt-B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pt-B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cs typeface="+mn-cs"/>
              </a:rPr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cs typeface="+mn-cs"/>
              </a:rPr>
              <a:t>OUT   46H，AL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19717" y="4618079"/>
            <a:ext cx="5209459" cy="8158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端口</a:t>
            </a:r>
            <a:r>
              <a:rPr lang="en-US" altLang="zh-CN" dirty="0"/>
              <a:t>C</a:t>
            </a:r>
            <a:r>
              <a:rPr lang="zh-CN" altLang="en-US" dirty="0"/>
              <a:t>置</a:t>
            </a:r>
            <a:r>
              <a:rPr lang="en-US" altLang="zh-CN" dirty="0"/>
              <a:t>1/</a:t>
            </a:r>
            <a:r>
              <a:rPr lang="zh-CN" altLang="en-US" dirty="0"/>
              <a:t>置</a:t>
            </a:r>
            <a:r>
              <a:rPr lang="en-US" altLang="zh-CN" dirty="0"/>
              <a:t>0</a:t>
            </a:r>
            <a:r>
              <a:rPr lang="zh-CN" altLang="en-US" dirty="0"/>
              <a:t>控制字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可将端口</a:t>
            </a:r>
            <a:r>
              <a:rPr lang="en-US" altLang="zh-CN" dirty="0"/>
              <a:t>C</a:t>
            </a:r>
            <a:r>
              <a:rPr lang="zh-CN" altLang="en-US" dirty="0"/>
              <a:t>的数位作为控制信号使用，以配合端口</a:t>
            </a:r>
            <a:r>
              <a:rPr lang="en-US" altLang="zh-CN" dirty="0"/>
              <a:t>A</a:t>
            </a:r>
            <a:r>
              <a:rPr lang="zh-CN" altLang="en-US" dirty="0"/>
              <a:t>或端口</a:t>
            </a:r>
            <a:r>
              <a:rPr lang="en-US" altLang="zh-CN" dirty="0"/>
              <a:t>B</a:t>
            </a:r>
            <a:r>
              <a:rPr lang="zh-CN" altLang="en-US" dirty="0"/>
              <a:t>工作。</a:t>
            </a:r>
            <a:endParaRPr lang="zh-CN" altLang="en-US" dirty="0"/>
          </a:p>
          <a:p>
            <a:r>
              <a:rPr lang="zh-CN" altLang="en-US" dirty="0"/>
              <a:t>可以设置端口</a:t>
            </a:r>
            <a:r>
              <a:rPr lang="en-US" altLang="zh-CN" dirty="0"/>
              <a:t>C</a:t>
            </a:r>
            <a:r>
              <a:rPr lang="zh-CN" altLang="en-US" dirty="0"/>
              <a:t>的某个数位为</a:t>
            </a:r>
            <a:r>
              <a:rPr lang="en-US" altLang="zh-CN" dirty="0"/>
              <a:t>1</a:t>
            </a:r>
            <a:r>
              <a:rPr lang="zh-CN" altLang="en-US" dirty="0"/>
              <a:t>或为</a:t>
            </a:r>
            <a:r>
              <a:rPr lang="en-US" altLang="zh-CN" dirty="0"/>
              <a:t>0</a:t>
            </a:r>
            <a:r>
              <a:rPr lang="zh-CN" altLang="en-US" dirty="0"/>
              <a:t>，实现信息传输过程中的信号设置要求。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端口</a:t>
            </a:r>
            <a:r>
              <a:rPr lang="en-US" altLang="zh-CN" dirty="0"/>
              <a:t>C</a:t>
            </a:r>
            <a:r>
              <a:rPr lang="zh-CN" altLang="en-US" dirty="0"/>
              <a:t>置</a:t>
            </a:r>
            <a:r>
              <a:rPr lang="en-US" altLang="zh-CN" dirty="0"/>
              <a:t>1/</a:t>
            </a:r>
            <a:r>
              <a:rPr lang="zh-CN" altLang="en-US" dirty="0"/>
              <a:t>置</a:t>
            </a:r>
            <a:r>
              <a:rPr lang="en-US" altLang="zh-CN" dirty="0"/>
              <a:t>0</a:t>
            </a:r>
            <a:r>
              <a:rPr lang="zh-CN" altLang="en-US" dirty="0"/>
              <a:t>控制字格式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328" y="2071523"/>
            <a:ext cx="7577137" cy="3725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端口</a:t>
            </a:r>
            <a:r>
              <a:rPr lang="en-US" altLang="zh-CN" dirty="0"/>
              <a:t>C</a:t>
            </a:r>
            <a:r>
              <a:rPr lang="zh-CN" altLang="en-US" dirty="0"/>
              <a:t>置</a:t>
            </a:r>
            <a:r>
              <a:rPr lang="en-US" altLang="zh-CN" dirty="0"/>
              <a:t>1/</a:t>
            </a:r>
            <a:r>
              <a:rPr lang="zh-CN" altLang="en-US" dirty="0"/>
              <a:t>置</a:t>
            </a:r>
            <a:r>
              <a:rPr lang="en-US" altLang="zh-CN" dirty="0"/>
              <a:t>0</a:t>
            </a:r>
            <a:r>
              <a:rPr lang="zh-CN" altLang="en-US" dirty="0"/>
              <a:t>控制字设置举例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553" y="1731139"/>
            <a:ext cx="10632373" cy="881433"/>
          </a:xfrm>
        </p:spPr>
        <p:txBody>
          <a:bodyPr/>
          <a:lstStyle/>
          <a:p>
            <a:r>
              <a:rPr lang="zh-CN" altLang="en-US" dirty="0"/>
              <a:t>设</a:t>
            </a:r>
            <a:r>
              <a:rPr lang="en-US" altLang="zh-CN" dirty="0"/>
              <a:t>8255A</a:t>
            </a:r>
            <a:r>
              <a:rPr lang="zh-CN" altLang="en-US" dirty="0"/>
              <a:t>的控制端口地址为</a:t>
            </a:r>
            <a:r>
              <a:rPr lang="en-US" altLang="zh-CN" dirty="0"/>
              <a:t>B0F6H</a:t>
            </a:r>
            <a:r>
              <a:rPr lang="zh-CN" altLang="en-US" dirty="0"/>
              <a:t>，要求将</a:t>
            </a:r>
            <a:r>
              <a:rPr lang="en-US" altLang="zh-CN" dirty="0"/>
              <a:t>PC6</a:t>
            </a:r>
            <a:r>
              <a:rPr lang="zh-CN" altLang="en-US" dirty="0"/>
              <a:t>置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PC3</a:t>
            </a:r>
            <a:r>
              <a:rPr lang="zh-CN" altLang="en-US" dirty="0"/>
              <a:t>置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1986313" y="3228737"/>
            <a:ext cx="29361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      …...</a:t>
            </a:r>
            <a:endParaRPr lang="en-US" altLang="zh-CN" dirty="0"/>
          </a:p>
          <a:p>
            <a:r>
              <a:rPr lang="en-US" altLang="zh-CN" dirty="0"/>
              <a:t>   MOV  DX</a:t>
            </a:r>
            <a:r>
              <a:rPr lang="zh-CN" altLang="en-US" dirty="0"/>
              <a:t>，</a:t>
            </a:r>
            <a:r>
              <a:rPr lang="en-US" altLang="zh-CN" dirty="0"/>
              <a:t>0B0F6H</a:t>
            </a:r>
            <a:endParaRPr lang="en-US" altLang="zh-CN" dirty="0"/>
          </a:p>
          <a:p>
            <a:r>
              <a:rPr lang="en-US" altLang="zh-CN" dirty="0"/>
              <a:t>   MOV  AL</a:t>
            </a:r>
            <a:r>
              <a:rPr lang="zh-CN" altLang="en-US" dirty="0"/>
              <a:t>，</a:t>
            </a:r>
            <a:r>
              <a:rPr lang="en-US" altLang="zh-CN" dirty="0"/>
              <a:t>0CH   </a:t>
            </a:r>
            <a:endParaRPr lang="en-US" altLang="zh-CN" dirty="0"/>
          </a:p>
          <a:p>
            <a:r>
              <a:rPr lang="en-US" altLang="zh-CN" dirty="0"/>
              <a:t>   OUT   DX</a:t>
            </a:r>
            <a:r>
              <a:rPr lang="zh-CN" altLang="en-US" dirty="0"/>
              <a:t>，</a:t>
            </a:r>
            <a:r>
              <a:rPr lang="en-US" altLang="zh-CN" dirty="0"/>
              <a:t>AL</a:t>
            </a:r>
            <a:endParaRPr lang="en-US" altLang="zh-CN" dirty="0"/>
          </a:p>
          <a:p>
            <a:r>
              <a:rPr lang="en-US" altLang="zh-CN" dirty="0"/>
              <a:t>   MOV  AL</a:t>
            </a:r>
            <a:r>
              <a:rPr lang="zh-CN" altLang="en-US" dirty="0"/>
              <a:t>，</a:t>
            </a:r>
            <a:r>
              <a:rPr lang="en-US" altLang="zh-CN" dirty="0"/>
              <a:t>07H   </a:t>
            </a:r>
            <a:endParaRPr lang="en-US" altLang="zh-CN" dirty="0"/>
          </a:p>
          <a:p>
            <a:r>
              <a:rPr lang="en-US" altLang="zh-CN" dirty="0"/>
              <a:t>   OUT   DX</a:t>
            </a:r>
            <a:r>
              <a:rPr lang="zh-CN" altLang="en-US" dirty="0"/>
              <a:t>，</a:t>
            </a:r>
            <a:r>
              <a:rPr lang="en-US" altLang="zh-CN" dirty="0"/>
              <a:t>AL </a:t>
            </a:r>
            <a:endParaRPr lang="en-US" altLang="zh-CN" dirty="0"/>
          </a:p>
          <a:p>
            <a:r>
              <a:rPr lang="en-US" altLang="zh-CN" dirty="0"/>
              <a:t>        ……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1136074" y="2350962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程序段：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163788" y="2458818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</a:rPr>
              <a:t>要求</a:t>
            </a:r>
            <a:r>
              <a:rPr lang="en-US" altLang="zh-CN" sz="2800" dirty="0">
                <a:solidFill>
                  <a:srgbClr val="0070C0"/>
                </a:solidFill>
              </a:rPr>
              <a:t>1</a:t>
            </a:r>
            <a:r>
              <a:rPr lang="zh-CN" altLang="en-US" sz="2800" dirty="0">
                <a:solidFill>
                  <a:srgbClr val="0070C0"/>
                </a:solidFill>
              </a:rPr>
              <a:t>：</a:t>
            </a:r>
            <a:r>
              <a:rPr lang="en-US" altLang="zh-CN" sz="2800" dirty="0">
                <a:solidFill>
                  <a:srgbClr val="0070C0"/>
                </a:solidFill>
              </a:rPr>
              <a:t>PC6</a:t>
            </a:r>
            <a:r>
              <a:rPr lang="zh-CN" altLang="en-US" sz="2800" dirty="0">
                <a:solidFill>
                  <a:srgbClr val="0070C0"/>
                </a:solidFill>
              </a:rPr>
              <a:t>置</a:t>
            </a:r>
            <a:r>
              <a:rPr lang="en-US" altLang="zh-CN" sz="2800" dirty="0">
                <a:solidFill>
                  <a:srgbClr val="0070C0"/>
                </a:solidFill>
              </a:rPr>
              <a:t>0</a:t>
            </a:r>
            <a:r>
              <a:rPr lang="zh-CN" altLang="en-US" sz="2800" dirty="0">
                <a:solidFill>
                  <a:srgbClr val="0070C0"/>
                </a:solidFill>
              </a:rPr>
              <a:t>。控制字为</a:t>
            </a:r>
            <a:r>
              <a:rPr lang="en-US" altLang="zh-CN" sz="2800" dirty="0">
                <a:solidFill>
                  <a:srgbClr val="0070C0"/>
                </a:solidFill>
              </a:rPr>
              <a:t>0CH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342255" y="3104429"/>
            <a:ext cx="5226784" cy="81678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082642" y="3982790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</a:rPr>
              <a:t>要求</a:t>
            </a:r>
            <a:r>
              <a:rPr lang="en-US" altLang="zh-CN" sz="2800" dirty="0">
                <a:solidFill>
                  <a:srgbClr val="0070C0"/>
                </a:solidFill>
              </a:rPr>
              <a:t>2</a:t>
            </a:r>
            <a:r>
              <a:rPr lang="zh-CN" altLang="en-US" sz="2800" dirty="0">
                <a:solidFill>
                  <a:srgbClr val="0070C0"/>
                </a:solidFill>
              </a:rPr>
              <a:t>：</a:t>
            </a:r>
            <a:r>
              <a:rPr lang="en-US" altLang="zh-CN" sz="2800" dirty="0">
                <a:solidFill>
                  <a:srgbClr val="0070C0"/>
                </a:solidFill>
              </a:rPr>
              <a:t>PC3</a:t>
            </a:r>
            <a:r>
              <a:rPr lang="zh-CN" altLang="en-US" sz="2800" dirty="0">
                <a:solidFill>
                  <a:srgbClr val="0070C0"/>
                </a:solidFill>
              </a:rPr>
              <a:t>置</a:t>
            </a:r>
            <a:r>
              <a:rPr lang="en-US" altLang="zh-CN" sz="2800" dirty="0">
                <a:solidFill>
                  <a:srgbClr val="0070C0"/>
                </a:solidFill>
              </a:rPr>
              <a:t>1</a:t>
            </a:r>
            <a:r>
              <a:rPr lang="zh-CN" altLang="en-US" sz="2800" dirty="0">
                <a:solidFill>
                  <a:srgbClr val="0070C0"/>
                </a:solidFill>
              </a:rPr>
              <a:t>。控制字为</a:t>
            </a:r>
            <a:r>
              <a:rPr lang="en-US" altLang="zh-CN" sz="2800" dirty="0">
                <a:solidFill>
                  <a:srgbClr val="0070C0"/>
                </a:solidFill>
              </a:rPr>
              <a:t>07H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1397" y="4665315"/>
            <a:ext cx="4962720" cy="77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7.2.3 8255A</a:t>
            </a:r>
            <a:r>
              <a:rPr lang="zh-CN" altLang="en-US" dirty="0"/>
              <a:t>的工作方式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0 —</a:t>
            </a:r>
            <a:r>
              <a:rPr lang="zh-CN" altLang="en-US" dirty="0"/>
              <a:t>基本的输入输出方式</a:t>
            </a:r>
            <a:endParaRPr lang="zh-CN" altLang="en-US" dirty="0"/>
          </a:p>
          <a:p>
            <a:r>
              <a:rPr lang="zh-CN" altLang="en-US" dirty="0"/>
              <a:t>方式</a:t>
            </a:r>
            <a:r>
              <a:rPr lang="en-US" altLang="zh-CN" dirty="0"/>
              <a:t>1 —</a:t>
            </a:r>
            <a:r>
              <a:rPr lang="zh-CN" altLang="en-US" dirty="0"/>
              <a:t>选通的输入输出方式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 —</a:t>
            </a:r>
            <a:r>
              <a:rPr lang="zh-CN" altLang="en-US" dirty="0"/>
              <a:t>双向传输方式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0</a:t>
            </a:r>
            <a:r>
              <a:rPr lang="zh-CN" altLang="en-US" dirty="0"/>
              <a:t>的工作特点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8300" y="1719580"/>
            <a:ext cx="10687050" cy="4411345"/>
          </a:xfrm>
        </p:spPr>
        <p:txBody>
          <a:bodyPr/>
          <a:lstStyle/>
          <a:p>
            <a:r>
              <a:rPr lang="zh-CN" altLang="en-US" dirty="0"/>
              <a:t>三个端口都可作为输入口，也可作为输出口，各个端口之间没有必然的联系。其中，端口</a:t>
            </a:r>
            <a:r>
              <a:rPr lang="en-US" altLang="zh-CN" dirty="0"/>
              <a:t>C</a:t>
            </a:r>
            <a:r>
              <a:rPr lang="zh-CN" altLang="en-US" dirty="0"/>
              <a:t>的高</a:t>
            </a:r>
            <a:r>
              <a:rPr lang="en-US" altLang="zh-CN" dirty="0"/>
              <a:t>4</a:t>
            </a:r>
            <a:r>
              <a:rPr lang="zh-CN" altLang="en-US" dirty="0"/>
              <a:t>位和低</a:t>
            </a:r>
            <a:r>
              <a:rPr lang="en-US" altLang="zh-CN" dirty="0"/>
              <a:t>4</a:t>
            </a:r>
            <a:r>
              <a:rPr lang="zh-CN" altLang="en-US" dirty="0"/>
              <a:t>位定义为两个独立的</a:t>
            </a:r>
            <a:r>
              <a:rPr lang="en-US" altLang="zh-CN" dirty="0"/>
              <a:t>4</a:t>
            </a:r>
            <a:r>
              <a:rPr lang="zh-CN" altLang="en-US" dirty="0"/>
              <a:t>位输入或输出口。</a:t>
            </a:r>
            <a:endParaRPr lang="zh-CN" altLang="en-US" dirty="0"/>
          </a:p>
          <a:p>
            <a:r>
              <a:rPr lang="zh-CN" altLang="en-US" dirty="0"/>
              <a:t>常用于无条件数据传送或查询方式数据传送等场合。</a:t>
            </a:r>
            <a:endParaRPr lang="en-US" altLang="zh-CN" dirty="0"/>
          </a:p>
          <a:p>
            <a:pPr lvl="1"/>
            <a:r>
              <a:rPr lang="zh-CN" altLang="en-US" dirty="0"/>
              <a:t>无条件传送方式下，可以对三个端口直接进行读写操作；</a:t>
            </a:r>
            <a:endParaRPr lang="en-US" altLang="zh-CN" dirty="0"/>
          </a:p>
          <a:p>
            <a:pPr lvl="1"/>
            <a:r>
              <a:rPr lang="zh-CN" altLang="en-US" dirty="0"/>
              <a:t>查询方式下，可以将端口</a:t>
            </a:r>
            <a:r>
              <a:rPr lang="en-US" altLang="zh-CN" dirty="0"/>
              <a:t>C</a:t>
            </a:r>
            <a:r>
              <a:rPr lang="zh-CN" altLang="en-US" dirty="0"/>
              <a:t>的部分位作为状态位或联络信号使用。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0</a:t>
            </a:r>
            <a:r>
              <a:rPr lang="zh-CN" altLang="en-US" dirty="0"/>
              <a:t>输入时序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236" y="1621624"/>
            <a:ext cx="7493268" cy="442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0</a:t>
            </a:r>
            <a:r>
              <a:rPr lang="zh-CN" altLang="en-US" dirty="0"/>
              <a:t>输出时序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625234" y="1468274"/>
            <a:ext cx="8027131" cy="47801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 smtClean="0"/>
              <a:t>1</a:t>
            </a:r>
            <a:r>
              <a:rPr lang="zh-CN" altLang="en-US" dirty="0" smtClean="0"/>
              <a:t>（选通输入输出）的</a:t>
            </a:r>
            <a:r>
              <a:rPr lang="zh-CN" altLang="en-US" dirty="0"/>
              <a:t>工作特点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端口</a:t>
            </a:r>
            <a:r>
              <a:rPr lang="en-US" altLang="zh-CN" dirty="0"/>
              <a:t>A</a:t>
            </a:r>
            <a:r>
              <a:rPr lang="zh-CN" altLang="en-US" dirty="0"/>
              <a:t>和端口</a:t>
            </a:r>
            <a:r>
              <a:rPr lang="en-US" altLang="zh-CN" dirty="0"/>
              <a:t>B</a:t>
            </a:r>
            <a:r>
              <a:rPr lang="zh-CN" altLang="en-US" dirty="0"/>
              <a:t>可分别作为数据口工作于方式</a:t>
            </a:r>
            <a:r>
              <a:rPr lang="en-US" altLang="zh-CN" dirty="0"/>
              <a:t>1</a:t>
            </a:r>
            <a:r>
              <a:rPr lang="zh-CN" altLang="en-US" dirty="0"/>
              <a:t>，它们可设置为输入或输出；</a:t>
            </a:r>
            <a:endParaRPr lang="zh-CN" altLang="en-US" dirty="0"/>
          </a:p>
          <a:p>
            <a:r>
              <a:rPr lang="zh-CN" altLang="en-US" dirty="0"/>
              <a:t>端口</a:t>
            </a:r>
            <a:r>
              <a:rPr lang="en-US" altLang="zh-CN" dirty="0"/>
              <a:t>A</a:t>
            </a:r>
            <a:r>
              <a:rPr lang="zh-CN" altLang="en-US" dirty="0"/>
              <a:t>或端口</a:t>
            </a:r>
            <a:r>
              <a:rPr lang="en-US" altLang="zh-CN" dirty="0"/>
              <a:t>B</a:t>
            </a:r>
            <a:r>
              <a:rPr lang="zh-CN" altLang="en-US" dirty="0"/>
              <a:t>中如有一个端口工作于方式</a:t>
            </a:r>
            <a:r>
              <a:rPr lang="en-US" altLang="zh-CN" dirty="0"/>
              <a:t>1</a:t>
            </a:r>
            <a:r>
              <a:rPr lang="zh-CN" altLang="en-US" dirty="0"/>
              <a:t>，则端口</a:t>
            </a:r>
            <a:r>
              <a:rPr lang="en-US" altLang="zh-CN" dirty="0"/>
              <a:t>C</a:t>
            </a:r>
            <a:r>
              <a:rPr lang="zh-CN" altLang="en-US" dirty="0"/>
              <a:t>中会有</a:t>
            </a:r>
            <a:r>
              <a:rPr lang="en-US" altLang="zh-CN" dirty="0"/>
              <a:t>3</a:t>
            </a:r>
            <a:r>
              <a:rPr lang="zh-CN" altLang="en-US" dirty="0"/>
              <a:t>位作为该端口的控制信号，此时，另外一个端口和端口</a:t>
            </a:r>
            <a:r>
              <a:rPr lang="en-US" altLang="zh-CN" dirty="0"/>
              <a:t>C</a:t>
            </a:r>
            <a:r>
              <a:rPr lang="zh-CN" altLang="en-US" dirty="0"/>
              <a:t>中的其它数位可工作于方式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端口</a:t>
            </a:r>
            <a:r>
              <a:rPr lang="en-US" altLang="zh-CN" dirty="0"/>
              <a:t>A</a:t>
            </a:r>
            <a:r>
              <a:rPr lang="zh-CN" altLang="en-US" dirty="0"/>
              <a:t>和端口</a:t>
            </a:r>
            <a:r>
              <a:rPr lang="en-US" altLang="zh-CN" dirty="0"/>
              <a:t>B</a:t>
            </a:r>
            <a:r>
              <a:rPr lang="zh-CN" altLang="en-US" dirty="0"/>
              <a:t>如都工作于方式</a:t>
            </a:r>
            <a:r>
              <a:rPr lang="en-US" altLang="zh-CN" dirty="0"/>
              <a:t>1</a:t>
            </a:r>
            <a:r>
              <a:rPr lang="zh-CN" altLang="en-US" dirty="0"/>
              <a:t>，则端口</a:t>
            </a:r>
            <a:r>
              <a:rPr lang="en-US" altLang="zh-CN" dirty="0"/>
              <a:t>C</a:t>
            </a:r>
            <a:r>
              <a:rPr lang="zh-CN" altLang="en-US" dirty="0"/>
              <a:t>中会有</a:t>
            </a:r>
            <a:r>
              <a:rPr lang="en-US" altLang="zh-CN" dirty="0"/>
              <a:t>6</a:t>
            </a:r>
            <a:r>
              <a:rPr lang="zh-CN" altLang="en-US" dirty="0"/>
              <a:t>位作为二个端口的控制信号，剩余</a:t>
            </a:r>
            <a:r>
              <a:rPr lang="en-US" altLang="zh-CN" dirty="0"/>
              <a:t>2</a:t>
            </a:r>
            <a:r>
              <a:rPr lang="zh-CN" altLang="en-US" dirty="0"/>
              <a:t>位，仍可作为输入</a:t>
            </a:r>
            <a:r>
              <a:rPr lang="en-US" altLang="zh-CN" dirty="0"/>
              <a:t>/</a:t>
            </a:r>
            <a:r>
              <a:rPr lang="zh-CN" altLang="en-US" dirty="0"/>
              <a:t>输出使用。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输入情况下的有关信号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端口输入时对应的控制信号</a:t>
            </a:r>
            <a:endParaRPr lang="zh-CN" altLang="en-US" dirty="0"/>
          </a:p>
          <a:p>
            <a:r>
              <a:rPr lang="en-US" altLang="zh-CN" dirty="0"/>
              <a:t>B</a:t>
            </a:r>
            <a:r>
              <a:rPr lang="zh-CN" altLang="en-US" dirty="0"/>
              <a:t>端口输入时对应的控制信号</a:t>
            </a:r>
            <a:endParaRPr lang="zh-CN" altLang="en-US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的输入时序</a:t>
            </a:r>
            <a:endParaRPr lang="zh-CN" altLang="en-US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的中断控制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1:A</a:t>
            </a:r>
            <a:r>
              <a:rPr lang="zh-CN" altLang="en-US" dirty="0"/>
              <a:t>端口输入时对应的控制信号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6483392" y="1425575"/>
            <a:ext cx="3832225" cy="911225"/>
          </a:xfrm>
          <a:prstGeom prst="wedgeRoundRectCallout">
            <a:avLst>
              <a:gd name="adj1" fmla="val -55176"/>
              <a:gd name="adj2" fmla="val 90940"/>
              <a:gd name="adj3" fmla="val 16667"/>
            </a:avLst>
          </a:prstGeom>
          <a:noFill/>
          <a:ln w="28575" cmpd="sng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zh-CN">
                <a:ea typeface="宋体" panose="02010600030101010101" pitchFamily="2" charset="-122"/>
              </a:rPr>
              <a:t>数据选通信号</a:t>
            </a:r>
            <a:endParaRPr lang="zh-CN" altLang="zh-CN">
              <a:ea typeface="宋体" panose="02010600030101010101" pitchFamily="2" charset="-122"/>
            </a:endParaRPr>
          </a:p>
          <a:p>
            <a:pPr algn="ctr"/>
            <a:r>
              <a:rPr lang="zh-CN" altLang="zh-CN">
                <a:ea typeface="宋体" panose="02010600030101010101" pitchFamily="2" charset="-122"/>
              </a:rPr>
              <a:t>表示外设已经准备好数据</a:t>
            </a:r>
            <a:endParaRPr lang="zh-CN" altLang="zh-CN" sz="2000">
              <a:ea typeface="宋体" panose="02010600030101010101" pitchFamily="2" charset="-122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6516730" y="3584575"/>
            <a:ext cx="3411537" cy="908050"/>
          </a:xfrm>
          <a:prstGeom prst="wedgeRoundRectCallout">
            <a:avLst>
              <a:gd name="adj1" fmla="val -55444"/>
              <a:gd name="adj2" fmla="val -72204"/>
              <a:gd name="adj3" fmla="val 16667"/>
            </a:avLst>
          </a:prstGeom>
          <a:noFill/>
          <a:ln w="28575" cmpd="sng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ea typeface="宋体" panose="02010600030101010101" pitchFamily="2" charset="-122"/>
              </a:rPr>
              <a:t>输入缓冲器满信号</a:t>
            </a:r>
            <a:endParaRPr lang="zh-CN" altLang="en-US">
              <a:ea typeface="宋体" panose="02010600030101010101" pitchFamily="2" charset="-122"/>
            </a:endParaRP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表示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口已经接收数据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6043655" y="5443538"/>
            <a:ext cx="2827337" cy="908050"/>
          </a:xfrm>
          <a:prstGeom prst="wedgeRoundRectCallout">
            <a:avLst>
              <a:gd name="adj1" fmla="val -58565"/>
              <a:gd name="adj2" fmla="val -130662"/>
              <a:gd name="adj3" fmla="val 16667"/>
            </a:avLst>
          </a:prstGeom>
          <a:noFill/>
          <a:ln w="28575" cmpd="sng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ea typeface="宋体" panose="02010600030101010101" pitchFamily="2" charset="-122"/>
              </a:rPr>
              <a:t>中断请求信号</a:t>
            </a:r>
            <a:endParaRPr lang="zh-CN" altLang="en-US">
              <a:ea typeface="宋体" panose="02010600030101010101" pitchFamily="2" charset="-122"/>
            </a:endParaRP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请求</a:t>
            </a:r>
            <a:r>
              <a:rPr lang="en-US" altLang="zh-CN">
                <a:ea typeface="宋体" panose="02010600030101010101" pitchFamily="2" charset="-122"/>
              </a:rPr>
              <a:t>CPU</a:t>
            </a:r>
            <a:r>
              <a:rPr lang="zh-CN" altLang="en-US">
                <a:ea typeface="宋体" panose="02010600030101010101" pitchFamily="2" charset="-122"/>
              </a:rPr>
              <a:t>接收数据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grpSp>
        <p:nvGrpSpPr>
          <p:cNvPr id="9" name="Group 6"/>
          <p:cNvGrpSpPr/>
          <p:nvPr/>
        </p:nvGrpSpPr>
        <p:grpSpPr bwMode="auto">
          <a:xfrm>
            <a:off x="2346367" y="1676400"/>
            <a:ext cx="4044950" cy="3276600"/>
            <a:chOff x="0" y="0"/>
            <a:chExt cx="2548" cy="2064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1344" cy="206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883" y="528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PC</a:t>
              </a:r>
              <a:r>
                <a:rPr lang="en-US" altLang="zh-CN" baseline="-25000">
                  <a:ea typeface="宋体" panose="02010600030101010101" pitchFamily="2" charset="-122"/>
                </a:rPr>
                <a:t>4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883" y="912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PC</a:t>
              </a:r>
              <a:r>
                <a:rPr lang="en-US" altLang="zh-CN" baseline="-25000">
                  <a:ea typeface="宋体" panose="02010600030101010101" pitchFamily="2" charset="-122"/>
                </a:rPr>
                <a:t>5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891" y="1632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PC</a:t>
              </a:r>
              <a:r>
                <a:rPr lang="en-US" altLang="zh-CN" baseline="-25000">
                  <a:ea typeface="宋体" panose="02010600030101010101" pitchFamily="2" charset="-122"/>
                </a:rPr>
                <a:t>3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" name="AutoShape 11"/>
            <p:cNvSpPr>
              <a:spLocks noChangeArrowheads="1"/>
            </p:cNvSpPr>
            <p:nvPr/>
          </p:nvSpPr>
          <p:spPr bwMode="auto">
            <a:xfrm flipH="1">
              <a:off x="1358" y="96"/>
              <a:ext cx="480" cy="336"/>
            </a:xfrm>
            <a:prstGeom prst="rightArrow">
              <a:avLst>
                <a:gd name="adj1" fmla="val 50000"/>
                <a:gd name="adj2" fmla="val 35714"/>
              </a:avLst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501" y="144"/>
              <a:ext cx="8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>
                  <a:ea typeface="宋体" panose="02010600030101010101" pitchFamily="2" charset="-122"/>
                </a:rPr>
                <a:t>PA</a:t>
              </a:r>
              <a:r>
                <a:rPr lang="zh-CN" altLang="zh-CN" baseline="-25000">
                  <a:ea typeface="宋体" panose="02010600030101010101" pitchFamily="2" charset="-122"/>
                </a:rPr>
                <a:t>7</a:t>
              </a:r>
              <a:r>
                <a:rPr lang="zh-CN" altLang="zh-CN">
                  <a:ea typeface="宋体" panose="02010600030101010101" pitchFamily="2" charset="-122"/>
                </a:rPr>
                <a:t>~PA</a:t>
              </a:r>
              <a:r>
                <a:rPr lang="zh-CN" altLang="zh-CN" baseline="-25000">
                  <a:ea typeface="宋体" panose="02010600030101010101" pitchFamily="2" charset="-122"/>
                </a:rPr>
                <a:t>0</a:t>
              </a:r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6" name="AutoShape 13"/>
            <p:cNvSpPr>
              <a:spLocks noChangeArrowheads="1"/>
            </p:cNvSpPr>
            <p:nvPr/>
          </p:nvSpPr>
          <p:spPr bwMode="auto">
            <a:xfrm rot="5400000">
              <a:off x="240" y="1248"/>
              <a:ext cx="384" cy="384"/>
            </a:xfrm>
            <a:prstGeom prst="flowChartDelay">
              <a:avLst/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432" y="1632"/>
              <a:ext cx="0" cy="144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H="1">
              <a:off x="432" y="1776"/>
              <a:ext cx="432" cy="0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96" y="528"/>
              <a:ext cx="528" cy="336"/>
            </a:xfrm>
            <a:prstGeom prst="rect">
              <a:avLst/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93" y="576"/>
              <a:ext cx="5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 sz="2000">
                  <a:ea typeface="宋体" panose="02010600030101010101" pitchFamily="2" charset="-122"/>
                </a:rPr>
                <a:t>INTE</a:t>
              </a:r>
              <a:r>
                <a:rPr lang="zh-CN" altLang="zh-CN" sz="2000" baseline="-25000">
                  <a:ea typeface="宋体" panose="02010600030101010101" pitchFamily="2" charset="-122"/>
                </a:rPr>
                <a:t>A</a:t>
              </a:r>
              <a:endParaRPr lang="zh-CN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336" y="864"/>
              <a:ext cx="0" cy="384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528" y="1056"/>
              <a:ext cx="336" cy="0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528" y="1056"/>
              <a:ext cx="0" cy="192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344" y="1776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1344" y="1104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 flipH="1">
              <a:off x="1344" y="720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1916" y="960"/>
              <a:ext cx="5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>
                  <a:ea typeface="宋体" panose="02010600030101010101" pitchFamily="2" charset="-122"/>
                </a:rPr>
                <a:t>IBF</a:t>
              </a:r>
              <a:r>
                <a:rPr lang="zh-CN" altLang="zh-CN" baseline="-25000">
                  <a:ea typeface="宋体" panose="02010600030101010101" pitchFamily="2" charset="-122"/>
                </a:rPr>
                <a:t>A</a:t>
              </a:r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1892" y="1632"/>
              <a:ext cx="6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>
                  <a:ea typeface="宋体" panose="02010600030101010101" pitchFamily="2" charset="-122"/>
                </a:rPr>
                <a:t>INTR</a:t>
              </a:r>
              <a:r>
                <a:rPr lang="zh-CN" altLang="zh-CN" baseline="-25000">
                  <a:ea typeface="宋体" panose="02010600030101010101" pitchFamily="2" charset="-122"/>
                </a:rPr>
                <a:t>A</a:t>
              </a:r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1890" y="576"/>
              <a:ext cx="5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>
                  <a:ea typeface="宋体" panose="02010600030101010101" pitchFamily="2" charset="-122"/>
                </a:rPr>
                <a:t>STB</a:t>
              </a:r>
              <a:r>
                <a:rPr lang="zh-CN" altLang="zh-CN" baseline="-25000">
                  <a:ea typeface="宋体" panose="02010600030101010101" pitchFamily="2" charset="-122"/>
                </a:rPr>
                <a:t>A</a:t>
              </a:r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1920" y="576"/>
              <a:ext cx="48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1" name="Group 28"/>
          <p:cNvGrpSpPr/>
          <p:nvPr/>
        </p:nvGrpSpPr>
        <p:grpSpPr bwMode="auto">
          <a:xfrm>
            <a:off x="1736767" y="3124200"/>
            <a:ext cx="2879725" cy="3016250"/>
            <a:chOff x="0" y="0"/>
            <a:chExt cx="1814" cy="1900"/>
          </a:xfrm>
        </p:grpSpPr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336" y="1594"/>
              <a:ext cx="1478" cy="306"/>
            </a:xfrm>
            <a:prstGeom prst="rect">
              <a:avLst/>
            </a:prstGeom>
            <a:noFill/>
            <a:ln w="28575" cmpd="sng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r>
                <a:rPr lang="zh-CN" altLang="zh-CN">
                  <a:ea typeface="宋体" panose="02010600030101010101" pitchFamily="2" charset="-122"/>
                </a:rPr>
                <a:t>中断允许触发器</a:t>
              </a:r>
              <a:endParaRPr lang="zh-CN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V="1">
              <a:off x="0" y="0"/>
              <a:ext cx="528" cy="1440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>
              <a:off x="0" y="1440"/>
              <a:ext cx="192" cy="96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  <p:bldP spid="8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1:B</a:t>
            </a:r>
            <a:r>
              <a:rPr lang="zh-CN" altLang="en-US" dirty="0"/>
              <a:t>端口输入时对应的控制信号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6" name="Group 3"/>
          <p:cNvGrpSpPr/>
          <p:nvPr/>
        </p:nvGrpSpPr>
        <p:grpSpPr bwMode="auto">
          <a:xfrm>
            <a:off x="1962398" y="1425575"/>
            <a:ext cx="8578850" cy="4926013"/>
            <a:chOff x="0" y="0"/>
            <a:chExt cx="5404" cy="3103"/>
          </a:xfrm>
        </p:grpSpPr>
        <p:grpSp>
          <p:nvGrpSpPr>
            <p:cNvPr id="7" name="Group 4"/>
            <p:cNvGrpSpPr/>
            <p:nvPr/>
          </p:nvGrpSpPr>
          <p:grpSpPr bwMode="auto">
            <a:xfrm>
              <a:off x="397" y="158"/>
              <a:ext cx="2544" cy="2064"/>
              <a:chOff x="0" y="0"/>
              <a:chExt cx="2544" cy="2064"/>
            </a:xfrm>
          </p:grpSpPr>
          <p:sp>
            <p:nvSpPr>
              <p:cNvPr id="15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344" cy="2064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" name="Rectangle 6"/>
              <p:cNvSpPr>
                <a:spLocks noChangeArrowheads="1"/>
              </p:cNvSpPr>
              <p:nvPr/>
            </p:nvSpPr>
            <p:spPr bwMode="auto">
              <a:xfrm>
                <a:off x="883" y="528"/>
                <a:ext cx="433" cy="306"/>
              </a:xfrm>
              <a:prstGeom prst="rect">
                <a:avLst/>
              </a:prstGeom>
              <a:solidFill>
                <a:srgbClr val="CC9900"/>
              </a:solidFill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>
                    <a:ea typeface="宋体" panose="02010600030101010101" pitchFamily="2" charset="-122"/>
                  </a:rPr>
                  <a:t>PC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2</a:t>
                </a: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7" name="Rectangle 7"/>
              <p:cNvSpPr>
                <a:spLocks noChangeArrowheads="1"/>
              </p:cNvSpPr>
              <p:nvPr/>
            </p:nvSpPr>
            <p:spPr bwMode="auto">
              <a:xfrm>
                <a:off x="883" y="912"/>
                <a:ext cx="433" cy="306"/>
              </a:xfrm>
              <a:prstGeom prst="rect">
                <a:avLst/>
              </a:prstGeom>
              <a:solidFill>
                <a:srgbClr val="CC9900"/>
              </a:solidFill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>
                    <a:ea typeface="宋体" panose="02010600030101010101" pitchFamily="2" charset="-122"/>
                  </a:rPr>
                  <a:t>PC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1</a:t>
                </a: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" name="Rectangle 8"/>
              <p:cNvSpPr>
                <a:spLocks noChangeArrowheads="1"/>
              </p:cNvSpPr>
              <p:nvPr/>
            </p:nvSpPr>
            <p:spPr bwMode="auto">
              <a:xfrm>
                <a:off x="891" y="1632"/>
                <a:ext cx="433" cy="306"/>
              </a:xfrm>
              <a:prstGeom prst="rect">
                <a:avLst/>
              </a:prstGeom>
              <a:solidFill>
                <a:srgbClr val="CC9900"/>
              </a:solidFill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>
                    <a:ea typeface="宋体" panose="02010600030101010101" pitchFamily="2" charset="-122"/>
                  </a:rPr>
                  <a:t>PC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0</a:t>
                </a: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" name="AutoShape 9"/>
              <p:cNvSpPr>
                <a:spLocks noChangeArrowheads="1"/>
              </p:cNvSpPr>
              <p:nvPr/>
            </p:nvSpPr>
            <p:spPr bwMode="auto">
              <a:xfrm flipH="1">
                <a:off x="1344" y="96"/>
                <a:ext cx="480" cy="336"/>
              </a:xfrm>
              <a:prstGeom prst="rightArrow">
                <a:avLst>
                  <a:gd name="adj1" fmla="val 50000"/>
                  <a:gd name="adj2" fmla="val 35714"/>
                </a:avLst>
              </a:prstGeom>
              <a:noFill/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" name="Text Box 10"/>
              <p:cNvSpPr txBox="1">
                <a:spLocks noChangeArrowheads="1"/>
              </p:cNvSpPr>
              <p:nvPr/>
            </p:nvSpPr>
            <p:spPr bwMode="auto">
              <a:xfrm>
                <a:off x="512" y="144"/>
                <a:ext cx="81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>
                    <a:ea typeface="宋体" panose="02010600030101010101" pitchFamily="2" charset="-122"/>
                  </a:rPr>
                  <a:t>PB</a:t>
                </a:r>
                <a:r>
                  <a:rPr lang="zh-CN" altLang="zh-CN" baseline="-25000">
                    <a:ea typeface="宋体" panose="02010600030101010101" pitchFamily="2" charset="-122"/>
                  </a:rPr>
                  <a:t>7</a:t>
                </a:r>
                <a:r>
                  <a:rPr lang="zh-CN" altLang="zh-CN">
                    <a:ea typeface="宋体" panose="02010600030101010101" pitchFamily="2" charset="-122"/>
                  </a:rPr>
                  <a:t>~PB</a:t>
                </a:r>
                <a:r>
                  <a:rPr lang="zh-CN" altLang="zh-CN" baseline="-25000">
                    <a:ea typeface="宋体" panose="02010600030101010101" pitchFamily="2" charset="-122"/>
                  </a:rPr>
                  <a:t>0</a:t>
                </a:r>
                <a:endParaRPr lang="zh-CN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21" name="AutoShape 11"/>
              <p:cNvSpPr>
                <a:spLocks noChangeArrowheads="1"/>
              </p:cNvSpPr>
              <p:nvPr/>
            </p:nvSpPr>
            <p:spPr bwMode="auto">
              <a:xfrm rot="5400000">
                <a:off x="240" y="1248"/>
                <a:ext cx="384" cy="384"/>
              </a:xfrm>
              <a:prstGeom prst="flowChartDelay">
                <a:avLst/>
              </a:prstGeom>
              <a:noFill/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" name="Line 12"/>
              <p:cNvSpPr>
                <a:spLocks noChangeShapeType="1"/>
              </p:cNvSpPr>
              <p:nvPr/>
            </p:nvSpPr>
            <p:spPr bwMode="auto">
              <a:xfrm>
                <a:off x="432" y="1632"/>
                <a:ext cx="0" cy="144"/>
              </a:xfrm>
              <a:prstGeom prst="line">
                <a:avLst/>
              </a:prstGeom>
              <a:noFill/>
              <a:ln w="28575" cmpd="sng">
                <a:solidFill>
                  <a:srgbClr val="FF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 flipH="1">
                <a:off x="432" y="1776"/>
                <a:ext cx="432" cy="0"/>
              </a:xfrm>
              <a:prstGeom prst="line">
                <a:avLst/>
              </a:prstGeom>
              <a:noFill/>
              <a:ln w="28575" cmpd="sng">
                <a:solidFill>
                  <a:srgbClr val="FF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Rectangle 14"/>
              <p:cNvSpPr>
                <a:spLocks noChangeArrowheads="1"/>
              </p:cNvSpPr>
              <p:nvPr/>
            </p:nvSpPr>
            <p:spPr bwMode="auto">
              <a:xfrm>
                <a:off x="96" y="528"/>
                <a:ext cx="528" cy="336"/>
              </a:xfrm>
              <a:prstGeom prst="rect">
                <a:avLst/>
              </a:prstGeom>
              <a:noFill/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" name="Text Box 15"/>
              <p:cNvSpPr txBox="1">
                <a:spLocks noChangeArrowheads="1"/>
              </p:cNvSpPr>
              <p:nvPr/>
            </p:nvSpPr>
            <p:spPr bwMode="auto">
              <a:xfrm>
                <a:off x="96" y="576"/>
                <a:ext cx="5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zh-CN" sz="2000">
                    <a:ea typeface="宋体" panose="02010600030101010101" pitchFamily="2" charset="-122"/>
                  </a:rPr>
                  <a:t>INTE</a:t>
                </a:r>
                <a:r>
                  <a:rPr lang="zh-CN" altLang="zh-CN" sz="2000" baseline="-25000">
                    <a:ea typeface="宋体" panose="02010600030101010101" pitchFamily="2" charset="-122"/>
                  </a:rPr>
                  <a:t>B</a:t>
                </a:r>
                <a:endParaRPr lang="zh-CN" altLang="zh-CN" sz="2000"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16"/>
              <p:cNvSpPr>
                <a:spLocks noChangeShapeType="1"/>
              </p:cNvSpPr>
              <p:nvPr/>
            </p:nvSpPr>
            <p:spPr bwMode="auto">
              <a:xfrm>
                <a:off x="336" y="864"/>
                <a:ext cx="0" cy="384"/>
              </a:xfrm>
              <a:prstGeom prst="line">
                <a:avLst/>
              </a:prstGeom>
              <a:noFill/>
              <a:ln w="28575" cmpd="sng">
                <a:solidFill>
                  <a:srgbClr val="FF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Line 17"/>
              <p:cNvSpPr>
                <a:spLocks noChangeShapeType="1"/>
              </p:cNvSpPr>
              <p:nvPr/>
            </p:nvSpPr>
            <p:spPr bwMode="auto">
              <a:xfrm>
                <a:off x="528" y="1056"/>
                <a:ext cx="336" cy="0"/>
              </a:xfrm>
              <a:prstGeom prst="line">
                <a:avLst/>
              </a:prstGeom>
              <a:noFill/>
              <a:ln w="28575" cmpd="sng">
                <a:solidFill>
                  <a:srgbClr val="FF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Line 18"/>
              <p:cNvSpPr>
                <a:spLocks noChangeShapeType="1"/>
              </p:cNvSpPr>
              <p:nvPr/>
            </p:nvSpPr>
            <p:spPr bwMode="auto">
              <a:xfrm>
                <a:off x="528" y="1056"/>
                <a:ext cx="0" cy="192"/>
              </a:xfrm>
              <a:prstGeom prst="line">
                <a:avLst/>
              </a:prstGeom>
              <a:noFill/>
              <a:ln w="28575" cmpd="sng">
                <a:solidFill>
                  <a:srgbClr val="FF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Line 19"/>
              <p:cNvSpPr>
                <a:spLocks noChangeShapeType="1"/>
              </p:cNvSpPr>
              <p:nvPr/>
            </p:nvSpPr>
            <p:spPr bwMode="auto">
              <a:xfrm>
                <a:off x="1344" y="1776"/>
                <a:ext cx="480" cy="0"/>
              </a:xfrm>
              <a:prstGeom prst="line">
                <a:avLst/>
              </a:prstGeom>
              <a:noFill/>
              <a:ln w="38100" cmpd="sng">
                <a:solidFill>
                  <a:srgbClr val="FF9933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" name="Line 20"/>
              <p:cNvSpPr>
                <a:spLocks noChangeShapeType="1"/>
              </p:cNvSpPr>
              <p:nvPr/>
            </p:nvSpPr>
            <p:spPr bwMode="auto">
              <a:xfrm>
                <a:off x="1344" y="1104"/>
                <a:ext cx="480" cy="0"/>
              </a:xfrm>
              <a:prstGeom prst="line">
                <a:avLst/>
              </a:prstGeom>
              <a:noFill/>
              <a:ln w="38100" cmpd="sng">
                <a:solidFill>
                  <a:srgbClr val="FF9933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" name="Line 21"/>
              <p:cNvSpPr>
                <a:spLocks noChangeShapeType="1"/>
              </p:cNvSpPr>
              <p:nvPr/>
            </p:nvSpPr>
            <p:spPr bwMode="auto">
              <a:xfrm flipH="1">
                <a:off x="1344" y="720"/>
                <a:ext cx="480" cy="0"/>
              </a:xfrm>
              <a:prstGeom prst="line">
                <a:avLst/>
              </a:prstGeom>
              <a:noFill/>
              <a:ln w="38100" cmpd="sng">
                <a:solidFill>
                  <a:srgbClr val="FF9933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" name="Text Box 22"/>
              <p:cNvSpPr txBox="1">
                <a:spLocks noChangeArrowheads="1"/>
              </p:cNvSpPr>
              <p:nvPr/>
            </p:nvSpPr>
            <p:spPr bwMode="auto">
              <a:xfrm>
                <a:off x="1920" y="960"/>
                <a:ext cx="49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zh-CN">
                    <a:ea typeface="宋体" panose="02010600030101010101" pitchFamily="2" charset="-122"/>
                  </a:rPr>
                  <a:t>IBF</a:t>
                </a:r>
                <a:r>
                  <a:rPr lang="zh-CN" altLang="zh-CN" baseline="-25000">
                    <a:ea typeface="宋体" panose="02010600030101010101" pitchFamily="2" charset="-122"/>
                  </a:rPr>
                  <a:t>B</a:t>
                </a:r>
                <a:endParaRPr lang="zh-CN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33" name="Text Box 23"/>
              <p:cNvSpPr txBox="1">
                <a:spLocks noChangeArrowheads="1"/>
              </p:cNvSpPr>
              <p:nvPr/>
            </p:nvSpPr>
            <p:spPr bwMode="auto">
              <a:xfrm>
                <a:off x="1895" y="1632"/>
                <a:ext cx="6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zh-CN">
                    <a:ea typeface="宋体" panose="02010600030101010101" pitchFamily="2" charset="-122"/>
                  </a:rPr>
                  <a:t>INTR</a:t>
                </a:r>
                <a:r>
                  <a:rPr lang="zh-CN" altLang="zh-CN" baseline="-25000">
                    <a:ea typeface="宋体" panose="02010600030101010101" pitchFamily="2" charset="-122"/>
                  </a:rPr>
                  <a:t>B</a:t>
                </a:r>
                <a:endParaRPr lang="zh-CN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34" name="Text Box 24"/>
              <p:cNvSpPr txBox="1">
                <a:spLocks noChangeArrowheads="1"/>
              </p:cNvSpPr>
              <p:nvPr/>
            </p:nvSpPr>
            <p:spPr bwMode="auto">
              <a:xfrm>
                <a:off x="1893" y="576"/>
                <a:ext cx="55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zh-CN">
                    <a:ea typeface="宋体" panose="02010600030101010101" pitchFamily="2" charset="-122"/>
                  </a:rPr>
                  <a:t>STB</a:t>
                </a:r>
                <a:r>
                  <a:rPr lang="zh-CN" altLang="zh-CN" baseline="-25000">
                    <a:ea typeface="宋体" panose="02010600030101010101" pitchFamily="2" charset="-122"/>
                  </a:rPr>
                  <a:t>B</a:t>
                </a:r>
                <a:endParaRPr lang="zh-CN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25"/>
              <p:cNvSpPr>
                <a:spLocks noChangeShapeType="1"/>
              </p:cNvSpPr>
              <p:nvPr/>
            </p:nvSpPr>
            <p:spPr bwMode="auto">
              <a:xfrm>
                <a:off x="1920" y="576"/>
                <a:ext cx="480" cy="0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" name="AutoShape 26"/>
            <p:cNvSpPr>
              <a:spLocks noChangeArrowheads="1"/>
            </p:cNvSpPr>
            <p:nvPr/>
          </p:nvSpPr>
          <p:spPr bwMode="auto">
            <a:xfrm>
              <a:off x="2990" y="0"/>
              <a:ext cx="2414" cy="574"/>
            </a:xfrm>
            <a:prstGeom prst="wedgeRoundRectCallout">
              <a:avLst>
                <a:gd name="adj1" fmla="val -55176"/>
                <a:gd name="adj2" fmla="val 90940"/>
                <a:gd name="adj3" fmla="val 16667"/>
              </a:avLst>
            </a:prstGeom>
            <a:noFill/>
            <a:ln w="28575" cmpd="sng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>
                  <a:ea typeface="宋体" panose="02010600030101010101" pitchFamily="2" charset="-122"/>
                </a:rPr>
                <a:t>数据选通信号</a:t>
              </a:r>
              <a:endParaRPr lang="zh-CN" altLang="zh-CN">
                <a:ea typeface="宋体" panose="02010600030101010101" pitchFamily="2" charset="-122"/>
              </a:endParaRPr>
            </a:p>
            <a:p>
              <a:pPr algn="ctr"/>
              <a:r>
                <a:rPr lang="zh-CN" altLang="zh-CN">
                  <a:ea typeface="宋体" panose="02010600030101010101" pitchFamily="2" charset="-122"/>
                </a:rPr>
                <a:t>表示外设已经准备好数据</a:t>
              </a:r>
              <a:endParaRPr lang="zh-CN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9" name="AutoShape 27"/>
            <p:cNvSpPr>
              <a:spLocks noChangeArrowheads="1"/>
            </p:cNvSpPr>
            <p:nvPr/>
          </p:nvSpPr>
          <p:spPr bwMode="auto">
            <a:xfrm>
              <a:off x="3016" y="1359"/>
              <a:ext cx="2138" cy="574"/>
            </a:xfrm>
            <a:prstGeom prst="wedgeRoundRectCallout">
              <a:avLst>
                <a:gd name="adj1" fmla="val -55454"/>
                <a:gd name="adj2" fmla="val -72125"/>
                <a:gd name="adj3" fmla="val 16667"/>
              </a:avLst>
            </a:prstGeom>
            <a:noFill/>
            <a:ln w="28575" cmpd="sng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>
                  <a:ea typeface="宋体" panose="02010600030101010101" pitchFamily="2" charset="-122"/>
                </a:rPr>
                <a:t>输入缓冲器满信号</a:t>
              </a:r>
              <a:endParaRPr lang="zh-CN" altLang="zh-CN">
                <a:ea typeface="宋体" panose="02010600030101010101" pitchFamily="2" charset="-122"/>
              </a:endParaRPr>
            </a:p>
            <a:p>
              <a:pPr algn="ctr"/>
              <a:r>
                <a:rPr lang="zh-CN" altLang="zh-CN">
                  <a:ea typeface="宋体" panose="02010600030101010101" pitchFamily="2" charset="-122"/>
                </a:rPr>
                <a:t>表示B口已经接收数据</a:t>
              </a:r>
              <a:endParaRPr lang="zh-CN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0" name="AutoShape 28"/>
            <p:cNvSpPr>
              <a:spLocks noChangeArrowheads="1"/>
            </p:cNvSpPr>
            <p:nvPr/>
          </p:nvSpPr>
          <p:spPr bwMode="auto">
            <a:xfrm>
              <a:off x="2713" y="2531"/>
              <a:ext cx="1781" cy="572"/>
            </a:xfrm>
            <a:prstGeom prst="wedgeRoundRectCallout">
              <a:avLst>
                <a:gd name="adj1" fmla="val -58565"/>
                <a:gd name="adj2" fmla="val -130662"/>
                <a:gd name="adj3" fmla="val 16667"/>
              </a:avLst>
            </a:prstGeom>
            <a:noFill/>
            <a:ln w="28575" cmpd="sng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ea typeface="宋体" panose="02010600030101010101" pitchFamily="2" charset="-122"/>
                </a:rPr>
                <a:t>中断请求信号</a:t>
              </a:r>
              <a:endParaRPr lang="zh-CN" altLang="en-US">
                <a:ea typeface="宋体" panose="02010600030101010101" pitchFamily="2" charset="-122"/>
              </a:endParaRPr>
            </a:p>
            <a:p>
              <a:pPr algn="ctr"/>
              <a:r>
                <a:rPr lang="zh-CN" altLang="en-US">
                  <a:ea typeface="宋体" panose="02010600030101010101" pitchFamily="2" charset="-122"/>
                </a:rPr>
                <a:t>请求</a:t>
              </a:r>
              <a:r>
                <a:rPr lang="en-US" altLang="zh-CN">
                  <a:ea typeface="宋体" panose="02010600030101010101" pitchFamily="2" charset="-122"/>
                </a:rPr>
                <a:t>CPU</a:t>
              </a:r>
              <a:r>
                <a:rPr lang="zh-CN" altLang="en-US">
                  <a:ea typeface="宋体" panose="02010600030101010101" pitchFamily="2" charset="-122"/>
                </a:rPr>
                <a:t>接收数据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grpSp>
          <p:nvGrpSpPr>
            <p:cNvPr id="11" name="Group 29"/>
            <p:cNvGrpSpPr/>
            <p:nvPr/>
          </p:nvGrpSpPr>
          <p:grpSpPr bwMode="auto">
            <a:xfrm>
              <a:off x="0" y="1070"/>
              <a:ext cx="1814" cy="1900"/>
              <a:chOff x="0" y="0"/>
              <a:chExt cx="1814" cy="1900"/>
            </a:xfrm>
          </p:grpSpPr>
          <p:sp>
            <p:nvSpPr>
              <p:cNvPr id="12" name="Text Box 30"/>
              <p:cNvSpPr txBox="1">
                <a:spLocks noChangeArrowheads="1"/>
              </p:cNvSpPr>
              <p:nvPr/>
            </p:nvSpPr>
            <p:spPr bwMode="auto">
              <a:xfrm>
                <a:off x="336" y="1594"/>
                <a:ext cx="1478" cy="306"/>
              </a:xfrm>
              <a:prstGeom prst="rect">
                <a:avLst/>
              </a:prstGeom>
              <a:noFill/>
              <a:ln w="28575" cmpd="sng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/>
                <a:r>
                  <a:rPr lang="zh-CN" altLang="zh-CN">
                    <a:ea typeface="宋体" panose="02010600030101010101" pitchFamily="2" charset="-122"/>
                  </a:rPr>
                  <a:t>中断允许触发器</a:t>
                </a:r>
                <a:endParaRPr lang="zh-CN" altLang="zh-CN" sz="2000"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31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528" cy="1440"/>
              </a:xfrm>
              <a:prstGeom prst="line">
                <a:avLst/>
              </a:prstGeom>
              <a:noFill/>
              <a:ln w="28575" cmpd="sng">
                <a:solidFill>
                  <a:schemeClr val="tx2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" name="Line 32"/>
              <p:cNvSpPr>
                <a:spLocks noChangeShapeType="1"/>
              </p:cNvSpPr>
              <p:nvPr/>
            </p:nvSpPr>
            <p:spPr bwMode="auto">
              <a:xfrm>
                <a:off x="0" y="1440"/>
                <a:ext cx="192" cy="96"/>
              </a:xfrm>
              <a:prstGeom prst="line">
                <a:avLst/>
              </a:prstGeom>
              <a:noFill/>
              <a:ln w="28575" cmpd="sng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的输入时序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890" y="1297297"/>
            <a:ext cx="7440374" cy="3452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040082" y="4839195"/>
            <a:ext cx="5250605" cy="1092530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 w="9525" cmpd="sng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rPr>
              <a:t>STB和IBF是外设和8255A间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rPr>
              <a:t>的一对应答联络信号，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rPr>
              <a:t>为的是可靠地输入数据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的中断控制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/>
              <a:t>8255A的中断由中断允许触发器INTE控制</a:t>
            </a:r>
            <a:endParaRPr lang="zh-CN" altLang="zh-CN" sz="2800" dirty="0"/>
          </a:p>
          <a:p>
            <a:pPr lvl="1"/>
            <a:r>
              <a:rPr lang="zh-CN" altLang="zh-CN" sz="2800" dirty="0"/>
              <a:t>置位</a:t>
            </a:r>
            <a:r>
              <a:rPr lang="zh-CN" altLang="zh-CN" sz="2800" dirty="0" smtClean="0"/>
              <a:t>：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 </a:t>
            </a:r>
            <a:r>
              <a:rPr lang="zh-CN" altLang="zh-CN" sz="2800" u="sng" dirty="0" smtClean="0"/>
              <a:t>允许中断</a:t>
            </a:r>
            <a:r>
              <a:rPr lang="zh-CN" altLang="zh-CN" sz="2800" dirty="0"/>
              <a:t>；复位</a:t>
            </a:r>
            <a:r>
              <a:rPr lang="zh-CN" altLang="zh-CN" sz="2800" dirty="0" smtClean="0"/>
              <a:t>：</a:t>
            </a:r>
            <a:r>
              <a:rPr lang="en-US" altLang="zh-CN" sz="2800" dirty="0" smtClean="0"/>
              <a:t>0</a:t>
            </a:r>
            <a:r>
              <a:rPr lang="zh-CN" altLang="en-US" sz="2800" dirty="0" smtClean="0"/>
              <a:t> </a:t>
            </a:r>
            <a:r>
              <a:rPr lang="zh-CN" altLang="zh-CN" sz="2800" u="sng" dirty="0" smtClean="0"/>
              <a:t>禁止中断</a:t>
            </a:r>
            <a:endParaRPr lang="zh-CN" altLang="zh-CN" sz="2800" u="sng" dirty="0"/>
          </a:p>
          <a:p>
            <a:r>
              <a:rPr lang="zh-CN" altLang="zh-CN" sz="2800" dirty="0"/>
              <a:t>对INTE的操作通过写入端口C的对应位实现，INTE触发器对应端口C的位是作应答联络信号的</a:t>
            </a:r>
            <a:r>
              <a:rPr lang="zh-CN" altLang="zh-CN" sz="2800" dirty="0">
                <a:solidFill>
                  <a:schemeClr val="hlink"/>
                </a:solidFill>
              </a:rPr>
              <a:t>输入信号</a:t>
            </a:r>
            <a:r>
              <a:rPr lang="zh-CN" altLang="zh-CN" sz="2800" dirty="0"/>
              <a:t>的那一位，只要对那一位置位/复位就可以控制INTE触发器。</a:t>
            </a:r>
            <a:endParaRPr lang="zh-CN" altLang="zh-CN" sz="2800" dirty="0"/>
          </a:p>
          <a:p>
            <a:r>
              <a:rPr lang="zh-CN" altLang="zh-CN" sz="2800" dirty="0"/>
              <a:t>选通输入方式下</a:t>
            </a:r>
            <a:endParaRPr lang="zh-CN" altLang="zh-CN" sz="2800" dirty="0"/>
          </a:p>
          <a:p>
            <a:pPr lvl="1"/>
            <a:r>
              <a:rPr lang="zh-CN" altLang="zh-CN" sz="2800" dirty="0"/>
              <a:t>端口A的INTE</a:t>
            </a:r>
            <a:r>
              <a:rPr lang="zh-CN" altLang="zh-CN" sz="2800" baseline="-25000" dirty="0"/>
              <a:t>A</a:t>
            </a:r>
            <a:r>
              <a:rPr lang="zh-CN" altLang="zh-CN" sz="2800" dirty="0"/>
              <a:t>对应PC</a:t>
            </a:r>
            <a:r>
              <a:rPr lang="zh-CN" altLang="zh-CN" sz="2800" baseline="-25000" dirty="0"/>
              <a:t>4</a:t>
            </a:r>
            <a:endParaRPr lang="zh-CN" altLang="zh-CN" sz="2800" baseline="-25000" dirty="0"/>
          </a:p>
          <a:p>
            <a:pPr lvl="1"/>
            <a:r>
              <a:rPr lang="zh-CN" altLang="zh-CN" sz="2800" dirty="0"/>
              <a:t>端口B的INTE</a:t>
            </a:r>
            <a:r>
              <a:rPr lang="zh-CN" altLang="zh-CN" sz="2800" baseline="-25000" dirty="0"/>
              <a:t>B</a:t>
            </a:r>
            <a:r>
              <a:rPr lang="zh-CN" altLang="zh-CN" sz="2800" dirty="0"/>
              <a:t>对应PC</a:t>
            </a:r>
            <a:r>
              <a:rPr lang="zh-CN" altLang="zh-CN" sz="2800" baseline="-25000" dirty="0"/>
              <a:t>2</a:t>
            </a:r>
            <a:endParaRPr lang="zh-CN" altLang="zh-CN" sz="280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输出情况下的有关信号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端口输出时对应的控制信号</a:t>
            </a:r>
            <a:endParaRPr lang="zh-CN" altLang="en-US" dirty="0"/>
          </a:p>
          <a:p>
            <a:r>
              <a:rPr lang="en-US" altLang="zh-CN" dirty="0"/>
              <a:t>B</a:t>
            </a:r>
            <a:r>
              <a:rPr lang="zh-CN" altLang="en-US" dirty="0"/>
              <a:t>端口输出时对应的控制信号</a:t>
            </a:r>
            <a:endParaRPr lang="zh-CN" altLang="en-US" dirty="0"/>
          </a:p>
          <a:p>
            <a:r>
              <a:rPr lang="zh-CN" altLang="en-US" dirty="0"/>
              <a:t>输出时序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1 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r>
              <a:rPr lang="zh-CN" altLang="en-US" dirty="0"/>
              <a:t>端口输出时对应的控制信号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6437413" y="1447800"/>
            <a:ext cx="3832225" cy="911225"/>
          </a:xfrm>
          <a:prstGeom prst="wedgeRoundRectCallout">
            <a:avLst>
              <a:gd name="adj1" fmla="val -55176"/>
              <a:gd name="adj2" fmla="val 90940"/>
              <a:gd name="adj3" fmla="val 16667"/>
            </a:avLst>
          </a:prstGeom>
          <a:noFill/>
          <a:ln w="28575" cmpd="sng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zh-CN">
                <a:ea typeface="宋体" panose="02010600030101010101" pitchFamily="2" charset="-122"/>
              </a:rPr>
              <a:t>外设响应信号</a:t>
            </a:r>
            <a:endParaRPr lang="zh-CN" altLang="zh-CN">
              <a:ea typeface="宋体" panose="02010600030101010101" pitchFamily="2" charset="-122"/>
            </a:endParaRPr>
          </a:p>
          <a:p>
            <a:pPr algn="ctr"/>
            <a:r>
              <a:rPr lang="zh-CN" altLang="zh-CN">
                <a:ea typeface="宋体" panose="02010600030101010101" pitchFamily="2" charset="-122"/>
              </a:rPr>
              <a:t>表示外设已经接收到数据</a:t>
            </a:r>
            <a:endParaRPr lang="zh-CN" altLang="zh-CN" sz="2000">
              <a:ea typeface="宋体" panose="02010600030101010101" pitchFamily="2" charset="-122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6513613" y="3473450"/>
            <a:ext cx="3813175" cy="908050"/>
          </a:xfrm>
          <a:prstGeom prst="wedgeRoundRectCallout">
            <a:avLst>
              <a:gd name="adj1" fmla="val -56037"/>
              <a:gd name="adj2" fmla="val -62588"/>
              <a:gd name="adj3" fmla="val 16667"/>
            </a:avLst>
          </a:prstGeom>
          <a:noFill/>
          <a:ln w="28575" cmpd="sng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ea typeface="宋体" panose="02010600030101010101" pitchFamily="2" charset="-122"/>
              </a:rPr>
              <a:t>输出缓冲器满信号</a:t>
            </a:r>
            <a:endParaRPr lang="zh-CN" altLang="en-US">
              <a:ea typeface="宋体" panose="02010600030101010101" pitchFamily="2" charset="-122"/>
            </a:endParaRP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表示</a:t>
            </a:r>
            <a:r>
              <a:rPr lang="en-US" altLang="zh-CN">
                <a:ea typeface="宋体" panose="02010600030101010101" pitchFamily="2" charset="-122"/>
              </a:rPr>
              <a:t>CPU</a:t>
            </a:r>
            <a:r>
              <a:rPr lang="zh-CN" altLang="en-US">
                <a:ea typeface="宋体" panose="02010600030101010101" pitchFamily="2" charset="-122"/>
              </a:rPr>
              <a:t>已经输出了数据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4884838" y="5532438"/>
            <a:ext cx="3484563" cy="908050"/>
          </a:xfrm>
          <a:prstGeom prst="wedgeRoundRectCallout">
            <a:avLst>
              <a:gd name="adj1" fmla="val -16773"/>
              <a:gd name="adj2" fmla="val -130662"/>
              <a:gd name="adj3" fmla="val 16667"/>
            </a:avLst>
          </a:prstGeom>
          <a:noFill/>
          <a:ln w="28575" cmpd="sng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ea typeface="宋体" panose="02010600030101010101" pitchFamily="2" charset="-122"/>
              </a:rPr>
              <a:t>中断请求信号</a:t>
            </a:r>
            <a:endParaRPr lang="zh-CN" altLang="en-US">
              <a:ea typeface="宋体" panose="02010600030101010101" pitchFamily="2" charset="-122"/>
            </a:endParaRP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请求</a:t>
            </a:r>
            <a:r>
              <a:rPr lang="en-US" altLang="zh-CN">
                <a:ea typeface="宋体" panose="02010600030101010101" pitchFamily="2" charset="-122"/>
              </a:rPr>
              <a:t>CPU</a:t>
            </a:r>
            <a:r>
              <a:rPr lang="zh-CN" altLang="en-US">
                <a:ea typeface="宋体" panose="02010600030101010101" pitchFamily="2" charset="-122"/>
              </a:rPr>
              <a:t>再次输出数据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grpSp>
        <p:nvGrpSpPr>
          <p:cNvPr id="9" name="Group 6"/>
          <p:cNvGrpSpPr/>
          <p:nvPr/>
        </p:nvGrpSpPr>
        <p:grpSpPr bwMode="auto">
          <a:xfrm>
            <a:off x="2322613" y="1676400"/>
            <a:ext cx="4044950" cy="3276600"/>
            <a:chOff x="0" y="0"/>
            <a:chExt cx="2548" cy="2064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1344" cy="206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883" y="528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PC</a:t>
              </a:r>
              <a:r>
                <a:rPr lang="en-US" altLang="zh-CN" baseline="-25000">
                  <a:ea typeface="宋体" panose="02010600030101010101" pitchFamily="2" charset="-122"/>
                </a:rPr>
                <a:t>6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883" y="912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PC</a:t>
              </a:r>
              <a:r>
                <a:rPr lang="en-US" altLang="zh-CN" baseline="-25000">
                  <a:ea typeface="宋体" panose="02010600030101010101" pitchFamily="2" charset="-122"/>
                </a:rPr>
                <a:t>7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891" y="1632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ea typeface="宋体" panose="02010600030101010101" pitchFamily="2" charset="-122"/>
                </a:rPr>
                <a:t>PC</a:t>
              </a:r>
              <a:r>
                <a:rPr lang="en-US" altLang="zh-CN" baseline="-25000">
                  <a:ea typeface="宋体" panose="02010600030101010101" pitchFamily="2" charset="-122"/>
                </a:rPr>
                <a:t>3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" name="AutoShape 11"/>
            <p:cNvSpPr>
              <a:spLocks noChangeArrowheads="1"/>
            </p:cNvSpPr>
            <p:nvPr/>
          </p:nvSpPr>
          <p:spPr bwMode="auto">
            <a:xfrm>
              <a:off x="1344" y="96"/>
              <a:ext cx="480" cy="336"/>
            </a:xfrm>
            <a:prstGeom prst="rightArrow">
              <a:avLst>
                <a:gd name="adj1" fmla="val 50000"/>
                <a:gd name="adj2" fmla="val 35714"/>
              </a:avLst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501" y="144"/>
              <a:ext cx="8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>
                  <a:ea typeface="宋体" panose="02010600030101010101" pitchFamily="2" charset="-122"/>
                </a:rPr>
                <a:t>PA</a:t>
              </a:r>
              <a:r>
                <a:rPr lang="zh-CN" altLang="zh-CN" baseline="-25000">
                  <a:ea typeface="宋体" panose="02010600030101010101" pitchFamily="2" charset="-122"/>
                </a:rPr>
                <a:t>7</a:t>
              </a:r>
              <a:r>
                <a:rPr lang="zh-CN" altLang="zh-CN">
                  <a:ea typeface="宋体" panose="02010600030101010101" pitchFamily="2" charset="-122"/>
                </a:rPr>
                <a:t>~PA</a:t>
              </a:r>
              <a:r>
                <a:rPr lang="zh-CN" altLang="zh-CN" baseline="-25000">
                  <a:ea typeface="宋体" panose="02010600030101010101" pitchFamily="2" charset="-122"/>
                </a:rPr>
                <a:t>0</a:t>
              </a:r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6" name="AutoShape 13"/>
            <p:cNvSpPr>
              <a:spLocks noChangeArrowheads="1"/>
            </p:cNvSpPr>
            <p:nvPr/>
          </p:nvSpPr>
          <p:spPr bwMode="auto">
            <a:xfrm rot="5400000">
              <a:off x="240" y="1248"/>
              <a:ext cx="384" cy="384"/>
            </a:xfrm>
            <a:prstGeom prst="flowChartDelay">
              <a:avLst/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432" y="1632"/>
              <a:ext cx="0" cy="144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H="1">
              <a:off x="432" y="1776"/>
              <a:ext cx="432" cy="0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96" y="528"/>
              <a:ext cx="528" cy="336"/>
            </a:xfrm>
            <a:prstGeom prst="rect">
              <a:avLst/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93" y="576"/>
              <a:ext cx="5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 sz="2000">
                  <a:ea typeface="宋体" panose="02010600030101010101" pitchFamily="2" charset="-122"/>
                </a:rPr>
                <a:t>INTE</a:t>
              </a:r>
              <a:r>
                <a:rPr lang="zh-CN" altLang="zh-CN" sz="2000" baseline="-25000">
                  <a:ea typeface="宋体" panose="02010600030101010101" pitchFamily="2" charset="-122"/>
                </a:rPr>
                <a:t>A</a:t>
              </a:r>
              <a:endParaRPr lang="zh-CN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336" y="864"/>
              <a:ext cx="0" cy="384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528" y="1056"/>
              <a:ext cx="336" cy="0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528" y="1056"/>
              <a:ext cx="0" cy="192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344" y="1776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1344" y="1104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 flipH="1">
              <a:off x="1344" y="720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1878" y="960"/>
              <a:ext cx="5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>
                  <a:ea typeface="宋体" panose="02010600030101010101" pitchFamily="2" charset="-122"/>
                </a:rPr>
                <a:t>OBF</a:t>
              </a:r>
              <a:r>
                <a:rPr lang="zh-CN" altLang="zh-CN" baseline="-25000">
                  <a:ea typeface="宋体" panose="02010600030101010101" pitchFamily="2" charset="-122"/>
                </a:rPr>
                <a:t>A</a:t>
              </a:r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1892" y="1632"/>
              <a:ext cx="6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>
                  <a:ea typeface="宋体" panose="02010600030101010101" pitchFamily="2" charset="-122"/>
                </a:rPr>
                <a:t>INTR</a:t>
              </a:r>
              <a:r>
                <a:rPr lang="zh-CN" altLang="zh-CN" baseline="-25000">
                  <a:ea typeface="宋体" panose="02010600030101010101" pitchFamily="2" charset="-122"/>
                </a:rPr>
                <a:t>A</a:t>
              </a:r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1863" y="576"/>
              <a:ext cx="6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zh-CN">
                  <a:ea typeface="宋体" panose="02010600030101010101" pitchFamily="2" charset="-122"/>
                </a:rPr>
                <a:t>ACK</a:t>
              </a:r>
              <a:r>
                <a:rPr lang="zh-CN" altLang="zh-CN" baseline="-25000">
                  <a:ea typeface="宋体" panose="02010600030101010101" pitchFamily="2" charset="-122"/>
                </a:rPr>
                <a:t>A</a:t>
              </a:r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1920" y="576"/>
              <a:ext cx="48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1920" y="960"/>
              <a:ext cx="480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2" name="Group 29"/>
          <p:cNvGrpSpPr/>
          <p:nvPr/>
        </p:nvGrpSpPr>
        <p:grpSpPr bwMode="auto">
          <a:xfrm>
            <a:off x="1713013" y="3124200"/>
            <a:ext cx="2879725" cy="3016250"/>
            <a:chOff x="0" y="0"/>
            <a:chExt cx="1814" cy="1900"/>
          </a:xfrm>
        </p:grpSpPr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336" y="1594"/>
              <a:ext cx="1478" cy="306"/>
            </a:xfrm>
            <a:prstGeom prst="rect">
              <a:avLst/>
            </a:prstGeom>
            <a:noFill/>
            <a:ln w="28575" cmpd="sng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r>
                <a:rPr lang="zh-CN" altLang="zh-CN">
                  <a:ea typeface="宋体" panose="02010600030101010101" pitchFamily="2" charset="-122"/>
                </a:rPr>
                <a:t>中断允许触发器</a:t>
              </a:r>
              <a:endParaRPr lang="zh-CN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V="1">
              <a:off x="0" y="0"/>
              <a:ext cx="528" cy="1440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>
              <a:off x="0" y="1440"/>
              <a:ext cx="192" cy="96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  <p:bldP spid="8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1:B</a:t>
            </a:r>
            <a:r>
              <a:rPr lang="zh-CN" altLang="en-US" dirty="0"/>
              <a:t>端口输出时对应的控制信号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6" name="Group 3"/>
          <p:cNvGrpSpPr/>
          <p:nvPr/>
        </p:nvGrpSpPr>
        <p:grpSpPr bwMode="auto">
          <a:xfrm>
            <a:off x="1546225" y="1484313"/>
            <a:ext cx="8613775" cy="4992687"/>
            <a:chOff x="0" y="0"/>
            <a:chExt cx="5426" cy="3145"/>
          </a:xfrm>
        </p:grpSpPr>
        <p:grpSp>
          <p:nvGrpSpPr>
            <p:cNvPr id="7" name="Group 4"/>
            <p:cNvGrpSpPr/>
            <p:nvPr/>
          </p:nvGrpSpPr>
          <p:grpSpPr bwMode="auto">
            <a:xfrm>
              <a:off x="466" y="172"/>
              <a:ext cx="2544" cy="2064"/>
              <a:chOff x="0" y="0"/>
              <a:chExt cx="2544" cy="2064"/>
            </a:xfrm>
          </p:grpSpPr>
          <p:sp>
            <p:nvSpPr>
              <p:cNvPr id="15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344" cy="2064"/>
              </a:xfrm>
              <a:prstGeom prst="rect">
                <a:avLst/>
              </a:prstGeom>
              <a:solidFill>
                <a:srgbClr val="FFFFFF"/>
              </a:solidFill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16" name="Rectangle 6"/>
              <p:cNvSpPr>
                <a:spLocks noChangeArrowheads="1"/>
              </p:cNvSpPr>
              <p:nvPr/>
            </p:nvSpPr>
            <p:spPr bwMode="auto">
              <a:xfrm>
                <a:off x="883" y="528"/>
                <a:ext cx="433" cy="306"/>
              </a:xfrm>
              <a:prstGeom prst="rect">
                <a:avLst/>
              </a:prstGeom>
              <a:solidFill>
                <a:srgbClr val="CC9900"/>
              </a:solidFill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PC</a:t>
                </a:r>
                <a:r>
                  <a:rPr kumimoji="0" lang="en-US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2</a:t>
                </a: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7"/>
              <p:cNvSpPr>
                <a:spLocks noChangeArrowheads="1"/>
              </p:cNvSpPr>
              <p:nvPr/>
            </p:nvSpPr>
            <p:spPr bwMode="auto">
              <a:xfrm>
                <a:off x="883" y="912"/>
                <a:ext cx="433" cy="306"/>
              </a:xfrm>
              <a:prstGeom prst="rect">
                <a:avLst/>
              </a:prstGeom>
              <a:solidFill>
                <a:srgbClr val="CC9900"/>
              </a:solidFill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PC</a:t>
                </a:r>
                <a:r>
                  <a:rPr kumimoji="0" lang="en-US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1</a:t>
                </a: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Rectangle 8"/>
              <p:cNvSpPr>
                <a:spLocks noChangeArrowheads="1"/>
              </p:cNvSpPr>
              <p:nvPr/>
            </p:nvSpPr>
            <p:spPr bwMode="auto">
              <a:xfrm>
                <a:off x="891" y="1632"/>
                <a:ext cx="433" cy="306"/>
              </a:xfrm>
              <a:prstGeom prst="rect">
                <a:avLst/>
              </a:prstGeom>
              <a:solidFill>
                <a:srgbClr val="CC9900"/>
              </a:solidFill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PC</a:t>
                </a:r>
                <a:r>
                  <a:rPr kumimoji="0" lang="en-US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0</a:t>
                </a: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AutoShape 9"/>
              <p:cNvSpPr>
                <a:spLocks noChangeArrowheads="1"/>
              </p:cNvSpPr>
              <p:nvPr/>
            </p:nvSpPr>
            <p:spPr bwMode="auto">
              <a:xfrm>
                <a:off x="1344" y="96"/>
                <a:ext cx="480" cy="336"/>
              </a:xfrm>
              <a:prstGeom prst="rightArrow">
                <a:avLst>
                  <a:gd name="adj1" fmla="val 50000"/>
                  <a:gd name="adj2" fmla="val 35714"/>
                </a:avLst>
              </a:prstGeom>
              <a:noFill/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20" name="Text Box 10"/>
              <p:cNvSpPr txBox="1">
                <a:spLocks noChangeArrowheads="1"/>
              </p:cNvSpPr>
              <p:nvPr/>
            </p:nvSpPr>
            <p:spPr bwMode="auto">
              <a:xfrm>
                <a:off x="512" y="144"/>
                <a:ext cx="81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PB</a:t>
                </a:r>
                <a:r>
                  <a:rPr kumimoji="0" lang="zh-CN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7</a:t>
                </a: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~PB</a:t>
                </a:r>
                <a:r>
                  <a:rPr kumimoji="0" lang="zh-CN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0</a:t>
                </a: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AutoShape 11"/>
              <p:cNvSpPr>
                <a:spLocks noChangeArrowheads="1"/>
              </p:cNvSpPr>
              <p:nvPr/>
            </p:nvSpPr>
            <p:spPr bwMode="auto">
              <a:xfrm rot="5400000">
                <a:off x="240" y="1248"/>
                <a:ext cx="384" cy="384"/>
              </a:xfrm>
              <a:prstGeom prst="flowChartDelay">
                <a:avLst/>
              </a:prstGeom>
              <a:noFill/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22" name="Line 12"/>
              <p:cNvSpPr>
                <a:spLocks noChangeShapeType="1"/>
              </p:cNvSpPr>
              <p:nvPr/>
            </p:nvSpPr>
            <p:spPr bwMode="auto">
              <a:xfrm>
                <a:off x="432" y="1632"/>
                <a:ext cx="0" cy="144"/>
              </a:xfrm>
              <a:prstGeom prst="line">
                <a:avLst/>
              </a:prstGeom>
              <a:noFill/>
              <a:ln w="28575" cmpd="sng">
                <a:solidFill>
                  <a:srgbClr val="FF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 flipH="1">
                <a:off x="432" y="1776"/>
                <a:ext cx="432" cy="0"/>
              </a:xfrm>
              <a:prstGeom prst="line">
                <a:avLst/>
              </a:prstGeom>
              <a:noFill/>
              <a:ln w="28575" cmpd="sng">
                <a:solidFill>
                  <a:srgbClr val="FF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24" name="Rectangle 14"/>
              <p:cNvSpPr>
                <a:spLocks noChangeArrowheads="1"/>
              </p:cNvSpPr>
              <p:nvPr/>
            </p:nvSpPr>
            <p:spPr bwMode="auto">
              <a:xfrm>
                <a:off x="96" y="528"/>
                <a:ext cx="528" cy="336"/>
              </a:xfrm>
              <a:prstGeom prst="rect">
                <a:avLst/>
              </a:prstGeom>
              <a:noFill/>
              <a:ln w="28575" cmpd="sng">
                <a:solidFill>
                  <a:srgbClr val="FF9933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25" name="Text Box 15"/>
              <p:cNvSpPr txBox="1">
                <a:spLocks noChangeArrowheads="1"/>
              </p:cNvSpPr>
              <p:nvPr/>
            </p:nvSpPr>
            <p:spPr bwMode="auto">
              <a:xfrm>
                <a:off x="96" y="576"/>
                <a:ext cx="5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INTE</a:t>
                </a:r>
                <a:r>
                  <a:rPr kumimoji="0" lang="zh-CN" altLang="zh-CN" sz="20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B</a:t>
                </a:r>
                <a:endParaRPr kumimoji="0" lang="zh-CN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Line 16"/>
              <p:cNvSpPr>
                <a:spLocks noChangeShapeType="1"/>
              </p:cNvSpPr>
              <p:nvPr/>
            </p:nvSpPr>
            <p:spPr bwMode="auto">
              <a:xfrm>
                <a:off x="336" y="864"/>
                <a:ext cx="0" cy="384"/>
              </a:xfrm>
              <a:prstGeom prst="line">
                <a:avLst/>
              </a:prstGeom>
              <a:noFill/>
              <a:ln w="28575" cmpd="sng">
                <a:solidFill>
                  <a:srgbClr val="FF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27" name="Line 17"/>
              <p:cNvSpPr>
                <a:spLocks noChangeShapeType="1"/>
              </p:cNvSpPr>
              <p:nvPr/>
            </p:nvSpPr>
            <p:spPr bwMode="auto">
              <a:xfrm>
                <a:off x="528" y="1056"/>
                <a:ext cx="336" cy="0"/>
              </a:xfrm>
              <a:prstGeom prst="line">
                <a:avLst/>
              </a:prstGeom>
              <a:noFill/>
              <a:ln w="28575" cmpd="sng">
                <a:solidFill>
                  <a:srgbClr val="FF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28" name="Line 18"/>
              <p:cNvSpPr>
                <a:spLocks noChangeShapeType="1"/>
              </p:cNvSpPr>
              <p:nvPr/>
            </p:nvSpPr>
            <p:spPr bwMode="auto">
              <a:xfrm>
                <a:off x="528" y="1056"/>
                <a:ext cx="0" cy="192"/>
              </a:xfrm>
              <a:prstGeom prst="line">
                <a:avLst/>
              </a:prstGeom>
              <a:noFill/>
              <a:ln w="28575" cmpd="sng">
                <a:solidFill>
                  <a:srgbClr val="FF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29" name="Line 19"/>
              <p:cNvSpPr>
                <a:spLocks noChangeShapeType="1"/>
              </p:cNvSpPr>
              <p:nvPr/>
            </p:nvSpPr>
            <p:spPr bwMode="auto">
              <a:xfrm>
                <a:off x="1344" y="1776"/>
                <a:ext cx="480" cy="0"/>
              </a:xfrm>
              <a:prstGeom prst="line">
                <a:avLst/>
              </a:prstGeom>
              <a:noFill/>
              <a:ln w="38100" cmpd="sng">
                <a:solidFill>
                  <a:srgbClr val="FF9933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30" name="Line 20"/>
              <p:cNvSpPr>
                <a:spLocks noChangeShapeType="1"/>
              </p:cNvSpPr>
              <p:nvPr/>
            </p:nvSpPr>
            <p:spPr bwMode="auto">
              <a:xfrm>
                <a:off x="1344" y="1104"/>
                <a:ext cx="480" cy="0"/>
              </a:xfrm>
              <a:prstGeom prst="line">
                <a:avLst/>
              </a:prstGeom>
              <a:noFill/>
              <a:ln w="38100" cmpd="sng">
                <a:solidFill>
                  <a:srgbClr val="FF9933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31" name="Line 21"/>
              <p:cNvSpPr>
                <a:spLocks noChangeShapeType="1"/>
              </p:cNvSpPr>
              <p:nvPr/>
            </p:nvSpPr>
            <p:spPr bwMode="auto">
              <a:xfrm flipH="1">
                <a:off x="1344" y="720"/>
                <a:ext cx="480" cy="0"/>
              </a:xfrm>
              <a:prstGeom prst="line">
                <a:avLst/>
              </a:prstGeom>
              <a:noFill/>
              <a:ln w="38100" cmpd="sng">
                <a:solidFill>
                  <a:srgbClr val="FF9933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32" name="Text Box 22"/>
              <p:cNvSpPr txBox="1">
                <a:spLocks noChangeArrowheads="1"/>
              </p:cNvSpPr>
              <p:nvPr/>
            </p:nvSpPr>
            <p:spPr bwMode="auto">
              <a:xfrm>
                <a:off x="1882" y="960"/>
                <a:ext cx="57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OBF</a:t>
                </a:r>
                <a:r>
                  <a:rPr kumimoji="0" lang="zh-CN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B</a:t>
                </a: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" name="Text Box 23"/>
              <p:cNvSpPr txBox="1">
                <a:spLocks noChangeArrowheads="1"/>
              </p:cNvSpPr>
              <p:nvPr/>
            </p:nvSpPr>
            <p:spPr bwMode="auto">
              <a:xfrm>
                <a:off x="1895" y="1632"/>
                <a:ext cx="6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INTR</a:t>
                </a:r>
                <a:r>
                  <a:rPr kumimoji="0" lang="zh-CN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B</a:t>
                </a: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" name="Text Box 24"/>
              <p:cNvSpPr txBox="1">
                <a:spLocks noChangeArrowheads="1"/>
              </p:cNvSpPr>
              <p:nvPr/>
            </p:nvSpPr>
            <p:spPr bwMode="auto">
              <a:xfrm>
                <a:off x="1867" y="576"/>
                <a:ext cx="60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ACK</a:t>
                </a:r>
                <a:r>
                  <a:rPr kumimoji="0" lang="zh-CN" altLang="zh-CN" sz="24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B</a:t>
                </a: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" name="Line 25"/>
              <p:cNvSpPr>
                <a:spLocks noChangeShapeType="1"/>
              </p:cNvSpPr>
              <p:nvPr/>
            </p:nvSpPr>
            <p:spPr bwMode="auto">
              <a:xfrm>
                <a:off x="1920" y="576"/>
                <a:ext cx="480" cy="0"/>
              </a:xfrm>
              <a:prstGeom prst="line">
                <a:avLst/>
              </a:prstGeom>
              <a:noFill/>
              <a:ln w="28575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36" name="Line 26"/>
              <p:cNvSpPr>
                <a:spLocks noChangeShapeType="1"/>
              </p:cNvSpPr>
              <p:nvPr/>
            </p:nvSpPr>
            <p:spPr bwMode="auto">
              <a:xfrm>
                <a:off x="1920" y="960"/>
                <a:ext cx="480" cy="0"/>
              </a:xfrm>
              <a:prstGeom prst="line">
                <a:avLst/>
              </a:prstGeom>
              <a:noFill/>
              <a:ln w="28575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</p:grpSp>
        <p:sp>
          <p:nvSpPr>
            <p:cNvPr id="8" name="AutoShape 27"/>
            <p:cNvSpPr>
              <a:spLocks noChangeArrowheads="1"/>
            </p:cNvSpPr>
            <p:nvPr/>
          </p:nvSpPr>
          <p:spPr bwMode="auto">
            <a:xfrm>
              <a:off x="2976" y="0"/>
              <a:ext cx="2414" cy="574"/>
            </a:xfrm>
            <a:prstGeom prst="wedgeRoundRectCallout">
              <a:avLst>
                <a:gd name="adj1" fmla="val -55176"/>
                <a:gd name="adj2" fmla="val 90940"/>
                <a:gd name="adj3" fmla="val 16667"/>
              </a:avLst>
            </a:prstGeom>
            <a:noFill/>
            <a:ln w="28575" cmpd="sng">
              <a:solidFill>
                <a:srgbClr val="333399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外设响应信号</a:t>
              </a: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表示外设已经接收到数据</a:t>
              </a:r>
              <a:endParaRPr kumimoji="0" lang="zh-CN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9" name="AutoShape 28"/>
            <p:cNvSpPr>
              <a:spLocks noChangeArrowheads="1"/>
            </p:cNvSpPr>
            <p:nvPr/>
          </p:nvSpPr>
          <p:spPr bwMode="auto">
            <a:xfrm>
              <a:off x="3024" y="1276"/>
              <a:ext cx="2402" cy="572"/>
            </a:xfrm>
            <a:prstGeom prst="wedgeRoundRectCallout">
              <a:avLst>
                <a:gd name="adj1" fmla="val -56028"/>
                <a:gd name="adj2" fmla="val -62542"/>
                <a:gd name="adj3" fmla="val 16667"/>
              </a:avLst>
            </a:prstGeom>
            <a:noFill/>
            <a:ln w="28575" cmpd="sng">
              <a:solidFill>
                <a:srgbClr val="333399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输出缓冲器满信号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表示</a:t>
              </a: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CPU</a:t>
              </a:r>
              <a:r>
                <a: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已经输出了数据</a:t>
              </a: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0" name="AutoShape 29"/>
            <p:cNvSpPr>
              <a:spLocks noChangeArrowheads="1"/>
            </p:cNvSpPr>
            <p:nvPr/>
          </p:nvSpPr>
          <p:spPr bwMode="auto">
            <a:xfrm>
              <a:off x="1998" y="2573"/>
              <a:ext cx="2195" cy="572"/>
            </a:xfrm>
            <a:prstGeom prst="wedgeRoundRectCallout">
              <a:avLst>
                <a:gd name="adj1" fmla="val -16773"/>
                <a:gd name="adj2" fmla="val -130662"/>
                <a:gd name="adj3" fmla="val 16667"/>
              </a:avLst>
            </a:prstGeom>
            <a:noFill/>
            <a:ln w="28575" cmpd="sng">
              <a:solidFill>
                <a:srgbClr val="333399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中断请求信号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请求</a:t>
              </a: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CPU</a:t>
              </a:r>
              <a:r>
                <a: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再次输出数据</a:t>
              </a: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11" name="Group 30"/>
            <p:cNvGrpSpPr/>
            <p:nvPr/>
          </p:nvGrpSpPr>
          <p:grpSpPr bwMode="auto">
            <a:xfrm>
              <a:off x="0" y="1056"/>
              <a:ext cx="1814" cy="1900"/>
              <a:chOff x="0" y="0"/>
              <a:chExt cx="1814" cy="1900"/>
            </a:xfrm>
          </p:grpSpPr>
          <p:sp>
            <p:nvSpPr>
              <p:cNvPr id="12" name="Text Box 31"/>
              <p:cNvSpPr txBox="1">
                <a:spLocks noChangeArrowheads="1"/>
              </p:cNvSpPr>
              <p:nvPr/>
            </p:nvSpPr>
            <p:spPr bwMode="auto">
              <a:xfrm>
                <a:off x="336" y="1594"/>
                <a:ext cx="1478" cy="306"/>
              </a:xfrm>
              <a:prstGeom prst="rect">
                <a:avLst/>
              </a:prstGeom>
              <a:noFill/>
              <a:ln w="28575" cmpd="sng">
                <a:solidFill>
                  <a:srgbClr val="333399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中断允许触发器</a:t>
                </a:r>
                <a:endParaRPr kumimoji="0" lang="zh-CN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Line 32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528" cy="1440"/>
              </a:xfrm>
              <a:prstGeom prst="line">
                <a:avLst/>
              </a:prstGeom>
              <a:noFill/>
              <a:ln w="28575" cmpd="sng">
                <a:solidFill>
                  <a:srgbClr val="333399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  <p:sp>
            <p:nvSpPr>
              <p:cNvPr id="14" name="Line 33"/>
              <p:cNvSpPr>
                <a:spLocks noChangeShapeType="1"/>
              </p:cNvSpPr>
              <p:nvPr/>
            </p:nvSpPr>
            <p:spPr bwMode="auto">
              <a:xfrm>
                <a:off x="0" y="1440"/>
                <a:ext cx="192" cy="96"/>
              </a:xfrm>
              <a:prstGeom prst="line">
                <a:avLst/>
              </a:prstGeom>
              <a:noFill/>
              <a:ln w="28575" cmpd="sng">
                <a:solidFill>
                  <a:srgbClr val="3333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just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1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输出时序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10" y="1331274"/>
            <a:ext cx="6851650" cy="331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562597" y="4730750"/>
            <a:ext cx="4663828" cy="1122673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 w="9525" cmpd="sng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rPr>
              <a:t>OBF和ACK是外设和8255A间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rPr>
              <a:t>的一对应答联络信号，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rPr>
              <a:t>为的是可靠地输出数据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 smtClean="0"/>
              <a:t>2</a:t>
            </a:r>
            <a:r>
              <a:rPr lang="zh-CN" altLang="en-US" dirty="0" smtClean="0"/>
              <a:t>（双向传输）的</a:t>
            </a:r>
            <a:r>
              <a:rPr lang="zh-CN" altLang="en-US" dirty="0"/>
              <a:t>工作特点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只适用于端口</a:t>
            </a:r>
            <a:r>
              <a:rPr lang="en-US" altLang="zh-CN" dirty="0"/>
              <a:t>A</a:t>
            </a:r>
            <a:r>
              <a:rPr lang="zh-CN" altLang="en-US" dirty="0"/>
              <a:t>；</a:t>
            </a:r>
            <a:endParaRPr lang="zh-CN" altLang="en-US" dirty="0"/>
          </a:p>
          <a:p>
            <a:r>
              <a:rPr lang="zh-CN" altLang="en-US" dirty="0"/>
              <a:t>通过</a:t>
            </a:r>
            <a:r>
              <a:rPr lang="en-US" altLang="zh-CN" dirty="0"/>
              <a:t>8255A</a:t>
            </a:r>
            <a:r>
              <a:rPr lang="zh-CN" altLang="en-US" dirty="0"/>
              <a:t>，</a:t>
            </a:r>
            <a:r>
              <a:rPr lang="en-US" altLang="zh-CN" dirty="0"/>
              <a:t>CPU</a:t>
            </a:r>
            <a:r>
              <a:rPr lang="zh-CN" altLang="en-US" dirty="0"/>
              <a:t>既可以向外设发送数据，也可以从外设接收数据，又称为双向传输方式，</a:t>
            </a:r>
            <a:endParaRPr lang="zh-CN" altLang="en-US" dirty="0"/>
          </a:p>
          <a:p>
            <a:r>
              <a:rPr lang="zh-CN" altLang="en-US" dirty="0"/>
              <a:t>端口</a:t>
            </a:r>
            <a:r>
              <a:rPr lang="en-US" altLang="zh-CN" dirty="0"/>
              <a:t>C</a:t>
            </a:r>
            <a:r>
              <a:rPr lang="zh-CN" altLang="en-US" dirty="0"/>
              <a:t>的</a:t>
            </a:r>
            <a:r>
              <a:rPr lang="en-US" altLang="zh-CN" dirty="0"/>
              <a:t>PC3~PC7</a:t>
            </a:r>
            <a:r>
              <a:rPr lang="zh-CN" altLang="en-US" dirty="0"/>
              <a:t>作为控制信号。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2:A</a:t>
            </a:r>
            <a:r>
              <a:rPr lang="zh-CN" altLang="en-US" dirty="0"/>
              <a:t>端口双向传输方式的控制信号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68883" y="1719263"/>
            <a:ext cx="6219804" cy="4411662"/>
          </a:xfrm>
        </p:spPr>
        <p:txBody>
          <a:bodyPr/>
          <a:lstStyle/>
          <a:p>
            <a:r>
              <a:rPr lang="en-US" altLang="zh-CN" sz="2400" dirty="0"/>
              <a:t>INTR</a:t>
            </a:r>
            <a:r>
              <a:rPr lang="zh-CN" altLang="en-US" sz="2400" dirty="0"/>
              <a:t>：中断请求信号，高电平有效，对应</a:t>
            </a:r>
            <a:r>
              <a:rPr lang="en-US" altLang="zh-CN" sz="2400" dirty="0"/>
              <a:t>PC3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r>
              <a:rPr lang="en-US" altLang="zh-CN" sz="2400" dirty="0"/>
              <a:t>STB</a:t>
            </a:r>
            <a:r>
              <a:rPr lang="zh-CN" altLang="en-US" sz="2400" dirty="0"/>
              <a:t>：选通信号，低电平有效，对应</a:t>
            </a:r>
            <a:r>
              <a:rPr lang="en-US" altLang="zh-CN" sz="2400" dirty="0"/>
              <a:t>PC4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r>
              <a:rPr lang="en-US" altLang="zh-CN" sz="2400" dirty="0"/>
              <a:t>IBF</a:t>
            </a:r>
            <a:r>
              <a:rPr lang="zh-CN" altLang="en-US" sz="2400" dirty="0"/>
              <a:t>：输入缓冲器满信号，高电平有效，对应</a:t>
            </a:r>
            <a:r>
              <a:rPr lang="en-US" altLang="zh-CN" sz="2400" dirty="0"/>
              <a:t>PC5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r>
              <a:rPr lang="en-US" altLang="zh-CN" sz="2400" dirty="0"/>
              <a:t>OBF</a:t>
            </a:r>
            <a:r>
              <a:rPr lang="zh-CN" altLang="en-US" sz="2400" dirty="0"/>
              <a:t>：输出缓冲器满信号，低电平有效，对应</a:t>
            </a:r>
            <a:r>
              <a:rPr lang="en-US" altLang="zh-CN" sz="2400" dirty="0"/>
              <a:t>PC7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r>
              <a:rPr lang="en-US" altLang="zh-CN" sz="2400" dirty="0"/>
              <a:t>ACK</a:t>
            </a:r>
            <a:r>
              <a:rPr lang="zh-CN" altLang="en-US" sz="2400" dirty="0"/>
              <a:t>：数据接收应答信号，低电平有效，对应</a:t>
            </a:r>
            <a:r>
              <a:rPr lang="en-US" altLang="zh-CN" sz="2400" dirty="0"/>
              <a:t>PC6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6" name="Group 3"/>
          <p:cNvGrpSpPr/>
          <p:nvPr/>
        </p:nvGrpSpPr>
        <p:grpSpPr bwMode="auto">
          <a:xfrm>
            <a:off x="646113" y="1690688"/>
            <a:ext cx="4044950" cy="4572000"/>
            <a:chOff x="0" y="0"/>
            <a:chExt cx="2548" cy="2880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344" cy="2880"/>
            </a:xfrm>
            <a:prstGeom prst="rect">
              <a:avLst/>
            </a:prstGeom>
            <a:solidFill>
              <a:srgbClr val="FFFFFF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883" y="480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PC</a:t>
              </a:r>
              <a:r>
                <a:rPr kumimoji="0" lang="en-US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883" y="864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PC</a:t>
              </a:r>
              <a:r>
                <a:rPr kumimoji="0" lang="en-US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7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891" y="2382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PC</a:t>
              </a:r>
              <a:r>
                <a:rPr kumimoji="0" lang="en-US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501" y="96"/>
              <a:ext cx="8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PA</a:t>
              </a:r>
              <a:r>
                <a:rPr kumimoji="0" lang="zh-CN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7</a:t>
              </a: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~PA</a:t>
              </a:r>
              <a:r>
                <a:rPr kumimoji="0" lang="zh-CN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2" name="AutoShape 9"/>
            <p:cNvSpPr>
              <a:spLocks noChangeArrowheads="1"/>
            </p:cNvSpPr>
            <p:nvPr/>
          </p:nvSpPr>
          <p:spPr bwMode="auto">
            <a:xfrm rot="5400000">
              <a:off x="168" y="1080"/>
              <a:ext cx="240" cy="384"/>
            </a:xfrm>
            <a:prstGeom prst="flowChartDelay">
              <a:avLst/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288" y="1392"/>
              <a:ext cx="0" cy="864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 flipH="1">
              <a:off x="432" y="2544"/>
              <a:ext cx="432" cy="0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48" y="528"/>
              <a:ext cx="480" cy="240"/>
            </a:xfrm>
            <a:prstGeom prst="rect">
              <a:avLst/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51" y="518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INTE</a:t>
              </a:r>
              <a:r>
                <a:rPr kumimoji="0" lang="zh-CN" altLang="zh-CN" sz="20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endParaRPr kumimoji="0" lang="zh-CN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192" y="768"/>
              <a:ext cx="0" cy="384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384" y="960"/>
              <a:ext cx="480" cy="0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384" y="960"/>
              <a:ext cx="0" cy="192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1344" y="2544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1344" y="1056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H="1">
              <a:off x="1344" y="672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1878" y="912"/>
              <a:ext cx="5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OBF</a:t>
              </a:r>
              <a:r>
                <a:rPr kumimoji="0" lang="zh-CN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1892" y="2400"/>
              <a:ext cx="6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INTR</a:t>
              </a:r>
              <a:r>
                <a:rPr kumimoji="0" lang="zh-CN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1863" y="528"/>
              <a:ext cx="6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ACK</a:t>
              </a:r>
              <a:r>
                <a:rPr kumimoji="0" lang="zh-CN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1920" y="528"/>
              <a:ext cx="480" cy="0"/>
            </a:xfrm>
            <a:prstGeom prst="line">
              <a:avLst/>
            </a:prstGeom>
            <a:noFill/>
            <a:ln w="28575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1920" y="912"/>
              <a:ext cx="480" cy="0"/>
            </a:xfrm>
            <a:prstGeom prst="line">
              <a:avLst/>
            </a:prstGeom>
            <a:noFill/>
            <a:ln w="28575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28" name="AutoShape 25"/>
            <p:cNvSpPr>
              <a:spLocks noChangeArrowheads="1"/>
            </p:cNvSpPr>
            <p:nvPr/>
          </p:nvSpPr>
          <p:spPr bwMode="auto">
            <a:xfrm>
              <a:off x="1392" y="96"/>
              <a:ext cx="576" cy="288"/>
            </a:xfrm>
            <a:prstGeom prst="leftRightArrow">
              <a:avLst>
                <a:gd name="adj1" fmla="val 50000"/>
                <a:gd name="adj2" fmla="val 40000"/>
              </a:avLst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>
              <a:off x="883" y="1296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PC</a:t>
              </a:r>
              <a:r>
                <a:rPr kumimoji="0" lang="en-US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883" y="1680"/>
              <a:ext cx="433" cy="306"/>
            </a:xfrm>
            <a:prstGeom prst="rect">
              <a:avLst/>
            </a:prstGeom>
            <a:solidFill>
              <a:srgbClr val="CC9900"/>
            </a:solidFill>
            <a:ln w="28575" cmpd="sng">
              <a:solidFill>
                <a:srgbClr val="FF99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PC</a:t>
              </a:r>
              <a:r>
                <a:rPr kumimoji="0" lang="en-US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1344" y="1872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32" name="Line 29"/>
            <p:cNvSpPr>
              <a:spLocks noChangeShapeType="1"/>
            </p:cNvSpPr>
            <p:nvPr/>
          </p:nvSpPr>
          <p:spPr bwMode="auto">
            <a:xfrm flipH="1">
              <a:off x="1344" y="1488"/>
              <a:ext cx="480" cy="0"/>
            </a:xfrm>
            <a:prstGeom prst="line">
              <a:avLst/>
            </a:prstGeom>
            <a:noFill/>
            <a:ln w="38100" cmpd="sng">
              <a:solidFill>
                <a:srgbClr val="FF99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1916" y="1728"/>
              <a:ext cx="5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IBF</a:t>
              </a:r>
              <a:r>
                <a:rPr kumimoji="0" lang="zh-CN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31"/>
            <p:cNvSpPr txBox="1">
              <a:spLocks noChangeArrowheads="1"/>
            </p:cNvSpPr>
            <p:nvPr/>
          </p:nvSpPr>
          <p:spPr bwMode="auto">
            <a:xfrm>
              <a:off x="1890" y="1344"/>
              <a:ext cx="5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STB</a:t>
              </a:r>
              <a:r>
                <a:rPr kumimoji="0" lang="zh-CN" altLang="zh-CN" sz="24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>
              <a:off x="1920" y="1344"/>
              <a:ext cx="480" cy="0"/>
            </a:xfrm>
            <a:prstGeom prst="line">
              <a:avLst/>
            </a:prstGeom>
            <a:noFill/>
            <a:ln w="28575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36" name="Rectangle 33"/>
            <p:cNvSpPr>
              <a:spLocks noChangeArrowheads="1"/>
            </p:cNvSpPr>
            <p:nvPr/>
          </p:nvSpPr>
          <p:spPr bwMode="auto">
            <a:xfrm>
              <a:off x="384" y="1392"/>
              <a:ext cx="432" cy="240"/>
            </a:xfrm>
            <a:prstGeom prst="rect">
              <a:avLst/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339" y="1392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INTE</a:t>
              </a:r>
              <a:r>
                <a:rPr kumimoji="0" lang="zh-CN" altLang="zh-CN" sz="20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  <a:endParaRPr kumimoji="0" lang="zh-CN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8" name="AutoShape 35"/>
            <p:cNvSpPr>
              <a:spLocks noChangeArrowheads="1"/>
            </p:cNvSpPr>
            <p:nvPr/>
          </p:nvSpPr>
          <p:spPr bwMode="auto">
            <a:xfrm rot="5400000">
              <a:off x="408" y="1848"/>
              <a:ext cx="240" cy="384"/>
            </a:xfrm>
            <a:prstGeom prst="flowChartDelay">
              <a:avLst/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624" y="1776"/>
              <a:ext cx="240" cy="0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 flipV="1">
              <a:off x="624" y="1776"/>
              <a:ext cx="0" cy="144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>
              <a:off x="432" y="1632"/>
              <a:ext cx="0" cy="288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42" name="Line 39"/>
            <p:cNvSpPr>
              <a:spLocks noChangeShapeType="1"/>
            </p:cNvSpPr>
            <p:nvPr/>
          </p:nvSpPr>
          <p:spPr bwMode="auto">
            <a:xfrm>
              <a:off x="528" y="2160"/>
              <a:ext cx="0" cy="96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43" name="AutoShape 40"/>
            <p:cNvSpPr>
              <a:spLocks noChangeArrowheads="1"/>
            </p:cNvSpPr>
            <p:nvPr/>
          </p:nvSpPr>
          <p:spPr bwMode="auto">
            <a:xfrm rot="16200000">
              <a:off x="312" y="2088"/>
              <a:ext cx="192" cy="432"/>
            </a:xfrm>
            <a:prstGeom prst="moon">
              <a:avLst>
                <a:gd name="adj" fmla="val 50000"/>
              </a:avLst>
            </a:prstGeom>
            <a:noFill/>
            <a:ln w="28575" cmpd="sng">
              <a:solidFill>
                <a:srgbClr val="FF9933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432" y="2400"/>
              <a:ext cx="0" cy="144"/>
            </a:xfrm>
            <a:prstGeom prst="line">
              <a:avLst/>
            </a:prstGeom>
            <a:noFill/>
            <a:ln w="28575" cmpd="sng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</p:grpSp>
      <p:sp>
        <p:nvSpPr>
          <p:cNvPr id="45" name="AutoShape 42"/>
          <p:cNvSpPr>
            <a:spLocks noChangeArrowheads="1"/>
          </p:cNvSpPr>
          <p:nvPr/>
        </p:nvSpPr>
        <p:spPr bwMode="auto">
          <a:xfrm>
            <a:off x="4673497" y="2482018"/>
            <a:ext cx="5083689" cy="2349579"/>
          </a:xfrm>
          <a:prstGeom prst="wedgeRoundRectCallout">
            <a:avLst>
              <a:gd name="adj1" fmla="val -50273"/>
              <a:gd name="adj2" fmla="val 90111"/>
              <a:gd name="adj3" fmla="val 16667"/>
            </a:avLst>
          </a:prstGeom>
          <a:solidFill>
            <a:srgbClr val="00B0F0"/>
          </a:solidFill>
          <a:ln w="28575" cmpd="sng">
            <a:solidFill>
              <a:srgbClr val="333399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用PC</a:t>
            </a:r>
            <a:r>
              <a:rPr kumimoji="0" lang="zh-CN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6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设置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INTE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输出中断允许）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用PC</a:t>
            </a:r>
            <a:r>
              <a:rPr kumimoji="0" lang="zh-CN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4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设置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INTE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输入中断允许）</a:t>
            </a:r>
            <a:endParaRPr kumimoji="0" lang="en-US" altLang="zh-CN" sz="24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输入和输出中断通过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或门输出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INTR</a:t>
            </a:r>
            <a:r>
              <a:rPr kumimoji="0" lang="zh-CN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信号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2:A</a:t>
            </a:r>
            <a:r>
              <a:rPr lang="zh-CN" altLang="en-US" dirty="0"/>
              <a:t>端口双向传输方式的控制信号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INTE1</a:t>
            </a:r>
            <a:r>
              <a:rPr lang="zh-CN" altLang="en-US" dirty="0"/>
              <a:t>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 输出中断允许信号。对应</a:t>
            </a:r>
            <a:r>
              <a:rPr lang="en-US" altLang="zh-CN" dirty="0"/>
              <a:t>PC6</a:t>
            </a:r>
            <a:r>
              <a:rPr lang="zh-CN" altLang="en-US" dirty="0"/>
              <a:t>，当用端口</a:t>
            </a:r>
            <a:r>
              <a:rPr lang="en-US" altLang="zh-CN" dirty="0"/>
              <a:t>C</a:t>
            </a:r>
            <a:r>
              <a:rPr lang="zh-CN" altLang="en-US" dirty="0"/>
              <a:t>置</a:t>
            </a:r>
            <a:r>
              <a:rPr lang="en-US" altLang="zh-CN" dirty="0"/>
              <a:t>1/</a:t>
            </a:r>
            <a:r>
              <a:rPr lang="zh-CN" altLang="en-US" dirty="0"/>
              <a:t>置</a:t>
            </a:r>
            <a:r>
              <a:rPr lang="en-US" altLang="zh-CN" dirty="0"/>
              <a:t>0</a:t>
            </a:r>
            <a:r>
              <a:rPr lang="zh-CN" altLang="en-US" dirty="0"/>
              <a:t>控制字将</a:t>
            </a:r>
            <a:r>
              <a:rPr lang="en-US" altLang="zh-CN" dirty="0"/>
              <a:t>PC6</a:t>
            </a:r>
            <a:r>
              <a:rPr lang="zh-CN" altLang="en-US" dirty="0"/>
              <a:t>置</a:t>
            </a:r>
            <a:r>
              <a:rPr lang="en-US" altLang="zh-CN" dirty="0"/>
              <a:t>1</a:t>
            </a:r>
            <a:r>
              <a:rPr lang="zh-CN" altLang="en-US" dirty="0"/>
              <a:t>时，则</a:t>
            </a:r>
            <a:r>
              <a:rPr lang="en-US" altLang="zh-CN" dirty="0"/>
              <a:t>INTE1=1</a:t>
            </a:r>
            <a:r>
              <a:rPr lang="zh-CN" altLang="en-US" dirty="0"/>
              <a:t>，允许</a:t>
            </a:r>
            <a:r>
              <a:rPr lang="en-US" altLang="zh-CN" dirty="0"/>
              <a:t>8255A</a:t>
            </a:r>
            <a:r>
              <a:rPr lang="zh-CN" altLang="en-US" dirty="0"/>
              <a:t>向</a:t>
            </a:r>
            <a:r>
              <a:rPr lang="en-US" altLang="zh-CN" dirty="0"/>
              <a:t>CPU</a:t>
            </a:r>
            <a:r>
              <a:rPr lang="zh-CN" altLang="en-US" dirty="0"/>
              <a:t>发出由端口</a:t>
            </a:r>
            <a:r>
              <a:rPr lang="en-US" altLang="zh-CN" dirty="0"/>
              <a:t>A</a:t>
            </a:r>
            <a:r>
              <a:rPr lang="zh-CN" altLang="en-US" dirty="0"/>
              <a:t>输出数据的中断请求信号，若</a:t>
            </a:r>
            <a:r>
              <a:rPr lang="en-US" altLang="zh-CN" dirty="0"/>
              <a:t>PC6=0</a:t>
            </a:r>
            <a:r>
              <a:rPr lang="zh-CN" altLang="en-US" dirty="0"/>
              <a:t>，则</a:t>
            </a:r>
            <a:r>
              <a:rPr lang="en-US" altLang="zh-CN" dirty="0"/>
              <a:t>INTE1=0</a:t>
            </a:r>
            <a:r>
              <a:rPr lang="zh-CN" altLang="en-US" dirty="0"/>
              <a:t>，屏蔽中断请求。</a:t>
            </a:r>
            <a:endParaRPr lang="zh-CN" altLang="en-US" dirty="0"/>
          </a:p>
          <a:p>
            <a:r>
              <a:rPr lang="en-US" altLang="zh-CN" dirty="0"/>
              <a:t>INTE2</a:t>
            </a:r>
            <a:r>
              <a:rPr lang="zh-CN" altLang="en-US" dirty="0"/>
              <a:t>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 输入中断允许信号。对应</a:t>
            </a:r>
            <a:r>
              <a:rPr lang="en-US" altLang="zh-CN" dirty="0"/>
              <a:t>PC4</a:t>
            </a:r>
            <a:r>
              <a:rPr lang="zh-CN" altLang="en-US" dirty="0"/>
              <a:t>，若</a:t>
            </a:r>
            <a:r>
              <a:rPr lang="en-US" altLang="zh-CN" dirty="0"/>
              <a:t>PC4=1</a:t>
            </a:r>
            <a:r>
              <a:rPr lang="zh-CN" altLang="en-US" dirty="0"/>
              <a:t>时，则</a:t>
            </a:r>
            <a:r>
              <a:rPr lang="en-US" altLang="zh-CN" dirty="0"/>
              <a:t>INTE2=1</a:t>
            </a:r>
            <a:r>
              <a:rPr lang="zh-CN" altLang="en-US" dirty="0"/>
              <a:t>，允许向</a:t>
            </a:r>
            <a:r>
              <a:rPr lang="en-US" altLang="zh-CN" dirty="0"/>
              <a:t>CPU</a:t>
            </a:r>
            <a:r>
              <a:rPr lang="zh-CN" altLang="en-US" dirty="0"/>
              <a:t>发出中断请求，可以通过端口</a:t>
            </a:r>
            <a:r>
              <a:rPr lang="en-US" altLang="zh-CN" dirty="0"/>
              <a:t>A</a:t>
            </a:r>
            <a:r>
              <a:rPr lang="zh-CN" altLang="en-US" dirty="0"/>
              <a:t>输入数据。若</a:t>
            </a:r>
            <a:r>
              <a:rPr lang="en-US" altLang="zh-CN" dirty="0"/>
              <a:t>PC4=0</a:t>
            </a:r>
            <a:r>
              <a:rPr lang="zh-CN" altLang="en-US" dirty="0"/>
              <a:t>，则</a:t>
            </a:r>
            <a:r>
              <a:rPr lang="en-US" altLang="zh-CN" dirty="0"/>
              <a:t>INTE2=0</a:t>
            </a:r>
            <a:r>
              <a:rPr lang="zh-CN" altLang="en-US" dirty="0"/>
              <a:t>，此时，禁止向</a:t>
            </a:r>
            <a:r>
              <a:rPr lang="en-US" altLang="zh-CN" dirty="0"/>
              <a:t>CPU</a:t>
            </a:r>
            <a:r>
              <a:rPr lang="zh-CN" altLang="en-US" dirty="0"/>
              <a:t>发出中断请求。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方式</a:t>
            </a:r>
            <a:r>
              <a:rPr lang="en-US" altLang="zh-CN" dirty="0"/>
              <a:t>2 </a:t>
            </a:r>
            <a:r>
              <a:rPr lang="zh-CN" altLang="en-US" dirty="0"/>
              <a:t>时序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109" y="1417638"/>
            <a:ext cx="8084351" cy="4884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7.2.4 8255A</a:t>
            </a:r>
            <a:r>
              <a:rPr lang="zh-CN" altLang="en-US" dirty="0"/>
              <a:t>的编程及应用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8086</a:t>
            </a:r>
            <a:r>
              <a:rPr lang="zh-CN" altLang="en-US" dirty="0"/>
              <a:t>系统通过</a:t>
            </a:r>
            <a:r>
              <a:rPr lang="en-US" altLang="zh-CN" dirty="0"/>
              <a:t>8255A</a:t>
            </a:r>
            <a:r>
              <a:rPr lang="zh-CN" altLang="en-US" dirty="0"/>
              <a:t>接口与微型打印机相连，将一批数据打印输出。打印过程采用查询方式实现数据传送。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微型打印机及其接口信号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40799" y="2065338"/>
            <a:ext cx="7524996" cy="4411662"/>
          </a:xfrm>
        </p:spPr>
        <p:txBody>
          <a:bodyPr/>
          <a:lstStyle/>
          <a:p>
            <a:r>
              <a:rPr lang="zh-CN" altLang="en-US" dirty="0"/>
              <a:t>微型打印机通常带有数据锁存器和接口信号。接口信号有：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STB</a:t>
            </a:r>
            <a:endParaRPr lang="en-US" altLang="zh-CN" dirty="0"/>
          </a:p>
          <a:p>
            <a:r>
              <a:rPr lang="en-US" altLang="zh-CN" dirty="0"/>
              <a:t>BUSY</a:t>
            </a:r>
            <a:endParaRPr lang="en-US" altLang="zh-CN" dirty="0"/>
          </a:p>
          <a:p>
            <a:r>
              <a:rPr lang="en-US" altLang="zh-CN" dirty="0"/>
              <a:t>ACK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2125683" y="3538846"/>
            <a:ext cx="60564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连接符 7"/>
          <p:cNvCxnSpPr/>
          <p:nvPr/>
        </p:nvCxnSpPr>
        <p:spPr bwMode="auto">
          <a:xfrm>
            <a:off x="2125683" y="4614554"/>
            <a:ext cx="70064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823386" y="2719094"/>
            <a:ext cx="3636712" cy="2791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微型打印机及其接口信号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STB(</a:t>
            </a:r>
            <a:r>
              <a:rPr lang="en-US" altLang="zh-CN" dirty="0" err="1"/>
              <a:t>STroBe</a:t>
            </a:r>
            <a:r>
              <a:rPr lang="en-US" altLang="zh-CN" dirty="0"/>
              <a:t>)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数据选通输入。</a:t>
            </a:r>
            <a:r>
              <a:rPr lang="en-US" altLang="zh-CN" dirty="0"/>
              <a:t>CPU</a:t>
            </a:r>
            <a:r>
              <a:rPr lang="zh-CN" altLang="en-US" dirty="0"/>
              <a:t>向打印机提供的数据选通输入，当此信号低电平后，打印机开始接收和锁存数据，并启动打印。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  该信号兼有片选和打印启动的功能。</a:t>
            </a:r>
            <a:r>
              <a:rPr lang="en-US" altLang="zh-CN" dirty="0"/>
              <a:t>CPU</a:t>
            </a:r>
            <a:r>
              <a:rPr lang="zh-CN" altLang="en-US" dirty="0"/>
              <a:t>在与打印机接口时，需要给打印机分配地址。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068779" y="1793174"/>
            <a:ext cx="62939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微型打印机及其接口信号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BUSY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打印机向</a:t>
            </a:r>
            <a:r>
              <a:rPr lang="en-US" altLang="zh-CN" dirty="0"/>
              <a:t>CPU</a:t>
            </a:r>
            <a:r>
              <a:rPr lang="zh-CN" altLang="en-US" dirty="0"/>
              <a:t>提供的状态信号。高电平表示“忙”；低电平表示“空闲”。常用于</a:t>
            </a:r>
            <a:r>
              <a:rPr lang="en-US" altLang="zh-CN" dirty="0"/>
              <a:t>CPU</a:t>
            </a:r>
            <a:r>
              <a:rPr lang="zh-CN" altLang="en-US" dirty="0"/>
              <a:t>与打印机查询方式。</a:t>
            </a:r>
            <a:endParaRPr lang="zh-CN" altLang="en-US" dirty="0"/>
          </a:p>
          <a:p>
            <a:r>
              <a:rPr lang="en-US" altLang="zh-CN" dirty="0"/>
              <a:t>ACK(</a:t>
            </a:r>
            <a:r>
              <a:rPr lang="en-US" altLang="zh-CN" dirty="0" err="1"/>
              <a:t>ACKnowledge</a:t>
            </a:r>
            <a:r>
              <a:rPr lang="en-US" altLang="zh-CN" dirty="0"/>
              <a:t>)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应答信号。打印机向</a:t>
            </a:r>
            <a:r>
              <a:rPr lang="en-US" altLang="zh-CN" dirty="0"/>
              <a:t>CPU</a:t>
            </a:r>
            <a:r>
              <a:rPr lang="zh-CN" altLang="en-US" dirty="0"/>
              <a:t>提供的应答信号，以脉冲形式提供。当打印机打印完一个字符后，</a:t>
            </a:r>
            <a:r>
              <a:rPr lang="en-US" altLang="zh-CN" dirty="0"/>
              <a:t>ACK</a:t>
            </a:r>
            <a:r>
              <a:rPr lang="zh-CN" altLang="en-US" dirty="0"/>
              <a:t>发出一个负脉冲。常用于</a:t>
            </a:r>
            <a:r>
              <a:rPr lang="en-US" altLang="zh-CN" dirty="0"/>
              <a:t>CPU</a:t>
            </a:r>
            <a:r>
              <a:rPr lang="zh-CN" altLang="en-US" dirty="0"/>
              <a:t>与打印机中断方式。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033153" y="3218213"/>
            <a:ext cx="617517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微型打印机的时序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458269" y="1829950"/>
            <a:ext cx="7031675" cy="3519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8255A</a:t>
            </a:r>
            <a:r>
              <a:rPr lang="zh-CN" altLang="en-US" sz="3200" dirty="0"/>
              <a:t>作为连接打印机的</a:t>
            </a:r>
            <a:r>
              <a:rPr lang="zh-CN" altLang="en-US" sz="3200" dirty="0" smtClean="0"/>
              <a:t>接口，工作于方式</a:t>
            </a:r>
            <a:r>
              <a:rPr lang="en-US" altLang="zh-CN" sz="3200" dirty="0" smtClean="0"/>
              <a:t>0</a:t>
            </a:r>
            <a:endParaRPr lang="zh-CN" altLang="en-US" sz="3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9520" y="1633220"/>
            <a:ext cx="7172325" cy="3590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8255A</a:t>
            </a:r>
            <a:r>
              <a:rPr lang="zh-CN" altLang="en-US" dirty="0"/>
              <a:t>作为连接打印机的接口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8255A</a:t>
            </a:r>
            <a:r>
              <a:rPr lang="zh-CN" altLang="en-US" dirty="0"/>
              <a:t>端口用途分配：</a:t>
            </a:r>
            <a:endParaRPr lang="en-US" altLang="zh-CN" dirty="0"/>
          </a:p>
          <a:p>
            <a:pPr lvl="1"/>
            <a:r>
              <a:rPr lang="zh-CN" altLang="en-US" dirty="0"/>
              <a:t>端口</a:t>
            </a:r>
            <a:r>
              <a:rPr lang="en-US" altLang="zh-CN" dirty="0"/>
              <a:t>A</a:t>
            </a:r>
            <a:r>
              <a:rPr lang="zh-CN" altLang="en-US" dirty="0"/>
              <a:t>作为传送字符的通道，工作于方式</a:t>
            </a:r>
            <a:r>
              <a:rPr lang="en-US" altLang="zh-CN" dirty="0"/>
              <a:t>0</a:t>
            </a:r>
            <a:r>
              <a:rPr lang="zh-CN" altLang="en-US" dirty="0"/>
              <a:t>，输出；</a:t>
            </a:r>
            <a:endParaRPr lang="en-US" altLang="zh-CN" dirty="0"/>
          </a:p>
          <a:p>
            <a:pPr lvl="1"/>
            <a:r>
              <a:rPr lang="zh-CN" altLang="en-US" dirty="0"/>
              <a:t>端口</a:t>
            </a:r>
            <a:r>
              <a:rPr lang="en-US" altLang="zh-CN" dirty="0"/>
              <a:t>B</a:t>
            </a:r>
            <a:r>
              <a:rPr lang="zh-CN" altLang="en-US" dirty="0"/>
              <a:t>未用；</a:t>
            </a:r>
            <a:endParaRPr lang="en-US" altLang="zh-CN" dirty="0"/>
          </a:p>
          <a:p>
            <a:pPr lvl="1"/>
            <a:r>
              <a:rPr lang="zh-CN" altLang="en-US" dirty="0"/>
              <a:t>端口</a:t>
            </a:r>
            <a:r>
              <a:rPr lang="en-US" altLang="zh-CN" dirty="0"/>
              <a:t>C</a:t>
            </a:r>
            <a:r>
              <a:rPr lang="zh-CN" altLang="en-US" dirty="0"/>
              <a:t>工作于方式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PC3</a:t>
            </a:r>
            <a:r>
              <a:rPr lang="zh-CN" altLang="en-US" dirty="0"/>
              <a:t>作为</a:t>
            </a:r>
            <a:r>
              <a:rPr lang="en-US" altLang="zh-CN" dirty="0"/>
              <a:t>BUSY</a:t>
            </a:r>
            <a:r>
              <a:rPr lang="zh-CN" altLang="en-US" dirty="0"/>
              <a:t>信号输入端，故</a:t>
            </a:r>
            <a:r>
              <a:rPr lang="en-US" altLang="zh-CN" dirty="0"/>
              <a:t>PC3~PC0</a:t>
            </a:r>
            <a:r>
              <a:rPr lang="zh-CN" altLang="en-US" dirty="0"/>
              <a:t>设置为输入方式；</a:t>
            </a:r>
            <a:r>
              <a:rPr lang="en-US" altLang="zh-CN" dirty="0"/>
              <a:t>PC6</a:t>
            </a:r>
            <a:r>
              <a:rPr lang="zh-CN" altLang="en-US" dirty="0"/>
              <a:t>作为</a:t>
            </a:r>
            <a:r>
              <a:rPr lang="en-US" altLang="zh-CN" dirty="0"/>
              <a:t>STB</a:t>
            </a:r>
            <a:r>
              <a:rPr lang="zh-CN" altLang="en-US" dirty="0"/>
              <a:t>信号输出端，故</a:t>
            </a:r>
            <a:r>
              <a:rPr lang="en-US" altLang="zh-CN" dirty="0"/>
              <a:t>PC7~PC4</a:t>
            </a:r>
            <a:r>
              <a:rPr lang="zh-CN" altLang="en-US" dirty="0"/>
              <a:t>设置为输出方式。</a:t>
            </a:r>
            <a:endParaRPr lang="zh-CN" altLang="en-US" dirty="0"/>
          </a:p>
          <a:p>
            <a:r>
              <a:rPr lang="zh-CN" altLang="en-US" dirty="0"/>
              <a:t>假设</a:t>
            </a:r>
            <a:r>
              <a:rPr lang="en-US" altLang="zh-CN" dirty="0"/>
              <a:t>8255A</a:t>
            </a:r>
            <a:r>
              <a:rPr lang="zh-CN" altLang="en-US" dirty="0"/>
              <a:t>的端口地址为：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PA</a:t>
            </a:r>
            <a:r>
              <a:rPr lang="zh-CN" altLang="en-US" dirty="0"/>
              <a:t>：</a:t>
            </a:r>
            <a:r>
              <a:rPr lang="en-US" altLang="zh-CN" dirty="0"/>
              <a:t>C000H</a:t>
            </a:r>
            <a:r>
              <a:rPr lang="zh-CN" altLang="en-US" dirty="0"/>
              <a:t>；</a:t>
            </a:r>
            <a:r>
              <a:rPr lang="en-US" altLang="zh-CN" dirty="0"/>
              <a:t>PB</a:t>
            </a:r>
            <a:r>
              <a:rPr lang="zh-CN" altLang="en-US" dirty="0"/>
              <a:t>：</a:t>
            </a:r>
            <a:r>
              <a:rPr lang="en-US" altLang="zh-CN" dirty="0"/>
              <a:t>C002H</a:t>
            </a:r>
            <a:r>
              <a:rPr lang="zh-CN" altLang="en-US" dirty="0"/>
              <a:t>；</a:t>
            </a:r>
            <a:r>
              <a:rPr lang="en-US" altLang="zh-CN" dirty="0"/>
              <a:t>PC</a:t>
            </a:r>
            <a:r>
              <a:rPr lang="zh-CN" altLang="en-US" dirty="0"/>
              <a:t>：</a:t>
            </a:r>
            <a:r>
              <a:rPr lang="en-US" altLang="zh-CN" dirty="0"/>
              <a:t>C004H</a:t>
            </a:r>
            <a:r>
              <a:rPr lang="zh-CN" altLang="en-US" dirty="0"/>
              <a:t>；控制口：</a:t>
            </a:r>
            <a:r>
              <a:rPr lang="en-US" altLang="zh-CN" dirty="0" smtClean="0"/>
              <a:t>C006H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方式控制字 ：</a:t>
            </a:r>
            <a:r>
              <a:rPr lang="en-US" altLang="zh-CN" dirty="0" smtClean="0"/>
              <a:t>10000001B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81H</a:t>
            </a:r>
            <a:r>
              <a:rPr lang="zh-CN" altLang="en-US" dirty="0" smtClean="0"/>
              <a:t>）</a:t>
            </a:r>
            <a:endParaRPr lang="zh-CN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5386388" y="3631883"/>
            <a:ext cx="539750" cy="0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打印工作过程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zh-CN" dirty="0"/>
              <a:t>当主机要往打印机输出字符时，先查询打印机忙信号</a:t>
            </a:r>
            <a:r>
              <a:rPr lang="en-US" altLang="zh-CN" dirty="0"/>
              <a:t>“BUSY”</a:t>
            </a:r>
            <a:r>
              <a:rPr lang="zh-CN" altLang="zh-CN" dirty="0"/>
              <a:t>。</a:t>
            </a:r>
            <a:endParaRPr lang="zh-CN" altLang="zh-CN" dirty="0"/>
          </a:p>
          <a:p>
            <a:pPr algn="l"/>
            <a:r>
              <a:rPr lang="zh-CN" altLang="zh-CN" dirty="0"/>
              <a:t>如果打印机正在处理一个字符或正在打印一行字符，则忙信号</a:t>
            </a:r>
            <a:r>
              <a:rPr lang="en-US" altLang="zh-CN" dirty="0"/>
              <a:t>“BUSY”</a:t>
            </a:r>
            <a:r>
              <a:rPr lang="zh-CN" altLang="zh-CN" dirty="0"/>
              <a:t>为1，反之，则忙信号</a:t>
            </a:r>
            <a:r>
              <a:rPr lang="en-US" altLang="zh-CN" dirty="0"/>
              <a:t>“BUSY”</a:t>
            </a:r>
            <a:r>
              <a:rPr lang="zh-CN" altLang="zh-CN" dirty="0"/>
              <a:t>为0。</a:t>
            </a:r>
            <a:endParaRPr lang="zh-CN" altLang="zh-CN" dirty="0"/>
          </a:p>
          <a:p>
            <a:pPr>
              <a:lnSpc>
                <a:spcPct val="90000"/>
              </a:lnSpc>
            </a:pPr>
            <a:r>
              <a:rPr lang="zh-CN" altLang="zh-CN" dirty="0"/>
              <a:t>当查询到忙信号为0时，则可通过8255A往打印机输出一个字符。此时，要将选通信号STB置成低电平，然后再使STB为高电平，这相当于在STB端输出一个负脉冲(初始状态，是高电平) 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>
              <a:lnSpc>
                <a:spcPct val="90000"/>
              </a:lnSpc>
            </a:pPr>
            <a:r>
              <a:rPr lang="zh-CN" altLang="en-US" dirty="0" smtClean="0"/>
              <a:t>打印</a:t>
            </a:r>
            <a:r>
              <a:rPr lang="zh-CN" altLang="en-US" dirty="0" smtClean="0"/>
              <a:t>的字符放到</a:t>
            </a:r>
            <a:r>
              <a:rPr lang="en-US" altLang="zh-CN" dirty="0" smtClean="0"/>
              <a:t>CL</a:t>
            </a:r>
            <a:r>
              <a:rPr lang="zh-CN" altLang="en-US" dirty="0" smtClean="0"/>
              <a:t>寄存器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4975860" y="3924300"/>
            <a:ext cx="560388" cy="0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4244340" y="4290060"/>
            <a:ext cx="560388" cy="0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9212580" y="3924300"/>
            <a:ext cx="560388" cy="0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435191"/>
            <a:ext cx="2560320" cy="1295400"/>
          </a:xfrm>
        </p:spPr>
        <p:txBody>
          <a:bodyPr/>
          <a:lstStyle/>
          <a:p>
            <a:r>
              <a:rPr lang="zh-CN" altLang="en-US" dirty="0"/>
              <a:t>打印控制程序段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2773680" y="723644"/>
            <a:ext cx="9418320" cy="5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PRINT： </a:t>
            </a:r>
            <a:r>
              <a:rPr lang="en-US" altLang="zh-CN" sz="2400" dirty="0"/>
              <a:t> </a:t>
            </a:r>
            <a:r>
              <a:rPr lang="zh-CN" altLang="zh-CN" sz="2400" dirty="0"/>
              <a:t>MOV   DX，0C006H 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MOV AL，81H</a:t>
            </a:r>
            <a:r>
              <a:rPr lang="en-US" altLang="zh-CN" sz="2400" dirty="0"/>
              <a:t>    </a:t>
            </a:r>
            <a:r>
              <a:rPr lang="zh-CN" altLang="zh-CN" sz="2400" dirty="0"/>
              <a:t>；控制字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　OUT   DX，AL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　MOV  AL，0</a:t>
            </a:r>
            <a:r>
              <a:rPr lang="zh-CN" altLang="zh-CN" sz="2400" dirty="0" smtClean="0"/>
              <a:t>DH</a:t>
            </a:r>
            <a:r>
              <a:rPr lang="zh-CN" altLang="en-US" sz="2400" dirty="0" smtClean="0"/>
              <a:t>；</a:t>
            </a:r>
            <a:r>
              <a:rPr lang="en-US" altLang="zh-CN" sz="2400" dirty="0" smtClean="0"/>
              <a:t>00001101  PC6</a:t>
            </a:r>
            <a:r>
              <a:rPr lang="zh-CN" altLang="en-US" sz="2400" dirty="0" smtClean="0"/>
              <a:t>置</a:t>
            </a:r>
            <a:r>
              <a:rPr lang="en-US" altLang="zh-CN" sz="2400" dirty="0" smtClean="0"/>
              <a:t>1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　OUT   DX，AL</a:t>
            </a:r>
            <a:r>
              <a:rPr lang="en-US" altLang="zh-CN" sz="2400" dirty="0"/>
              <a:t>     </a:t>
            </a:r>
            <a:r>
              <a:rPr lang="zh-CN" altLang="zh-CN" sz="2400" dirty="0"/>
              <a:t>；STB端送高电平 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LP：        MOV  DX，0C004</a:t>
            </a:r>
            <a:r>
              <a:rPr lang="zh-CN" altLang="zh-CN" sz="2400" dirty="0" smtClean="0"/>
              <a:t>H</a:t>
            </a:r>
            <a:r>
              <a:rPr lang="zh-CN" altLang="en-US" sz="2400" dirty="0" smtClean="0"/>
              <a:t>；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IN     AL，DX</a:t>
            </a:r>
            <a:r>
              <a:rPr lang="en-US" altLang="zh-CN" sz="2400" dirty="0"/>
              <a:t>        </a:t>
            </a:r>
            <a:r>
              <a:rPr lang="zh-CN" altLang="zh-CN" sz="2400" dirty="0"/>
              <a:t>；检测BUSY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AND   AL，08</a:t>
            </a:r>
            <a:r>
              <a:rPr lang="zh-CN" altLang="zh-CN" sz="2400" dirty="0" smtClean="0"/>
              <a:t>H</a:t>
            </a:r>
            <a:r>
              <a:rPr lang="en-US" altLang="zh-CN" sz="2400" dirty="0" smtClean="0"/>
              <a:t>     </a:t>
            </a:r>
            <a:r>
              <a:rPr lang="zh-CN" altLang="en-US" sz="2400" dirty="0" smtClean="0"/>
              <a:t>；检测</a:t>
            </a:r>
            <a:r>
              <a:rPr lang="en-US" altLang="zh-CN" sz="2400" dirty="0" smtClean="0"/>
              <a:t>PC3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JNZ    LP</a:t>
            </a:r>
            <a:r>
              <a:rPr lang="en-US" altLang="zh-CN" sz="2400" dirty="0"/>
              <a:t>             </a:t>
            </a:r>
            <a:r>
              <a:rPr lang="zh-CN" altLang="zh-CN" sz="2400" dirty="0"/>
              <a:t>；若打印机忙，则等待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MOV  AL，CL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MOV  DX，0C000H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OUT   DX，AL</a:t>
            </a:r>
            <a:r>
              <a:rPr lang="en-US" altLang="zh-CN" sz="2400" dirty="0"/>
              <a:t>   </a:t>
            </a:r>
            <a:r>
              <a:rPr lang="zh-CN" altLang="zh-CN" sz="2400" dirty="0"/>
              <a:t>； 若打印机不忙，将AL中字符送端口Ａ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MOV  DX，0C006H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MOV  AL，0</a:t>
            </a:r>
            <a:r>
              <a:rPr lang="zh-CN" altLang="zh-CN" sz="2400" dirty="0" smtClean="0"/>
              <a:t>CH</a:t>
            </a:r>
            <a:r>
              <a:rPr lang="en-US" altLang="zh-CN" sz="2400" dirty="0" smtClean="0"/>
              <a:t>      </a:t>
            </a:r>
            <a:r>
              <a:rPr lang="zh-CN" altLang="en-US" sz="2400" dirty="0" smtClean="0"/>
              <a:t>；</a:t>
            </a:r>
            <a:r>
              <a:rPr lang="en-US" altLang="zh-CN" sz="2400" dirty="0" smtClean="0"/>
              <a:t>00001100 PC6</a:t>
            </a:r>
            <a:r>
              <a:rPr lang="zh-CN" altLang="en-US" sz="2400" dirty="0" smtClean="0"/>
              <a:t>置</a:t>
            </a:r>
            <a:r>
              <a:rPr lang="en-US" altLang="zh-CN" sz="2400" dirty="0" smtClean="0"/>
              <a:t>0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OUT   DX，AL</a:t>
            </a:r>
            <a:r>
              <a:rPr lang="en-US" altLang="zh-CN" sz="2400" dirty="0"/>
              <a:t>        </a:t>
            </a:r>
            <a:r>
              <a:rPr lang="zh-CN" altLang="zh-CN" sz="2400" dirty="0"/>
              <a:t>；使STB为低电平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MOV  AL，0DH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OUT   DX，AL</a:t>
            </a:r>
            <a:r>
              <a:rPr lang="en-US" altLang="zh-CN" sz="2400" dirty="0"/>
              <a:t>         </a:t>
            </a:r>
            <a:r>
              <a:rPr lang="zh-CN" altLang="zh-CN" sz="2400" dirty="0"/>
              <a:t>；使STB为高电平</a:t>
            </a:r>
            <a:endParaRPr lang="zh-CN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400" dirty="0"/>
              <a:t>                 …    </a:t>
            </a:r>
            <a:r>
              <a:rPr lang="en-US" altLang="zh-CN" sz="2400" dirty="0"/>
              <a:t>                         </a:t>
            </a:r>
            <a:r>
              <a:rPr lang="zh-CN" altLang="zh-CN" sz="2400" dirty="0"/>
              <a:t>；后续程序段 </a:t>
            </a:r>
            <a:endParaRPr lang="zh-CN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>
                <a:sym typeface="+mn-ea"/>
              </a:rPr>
              <a:t>                         7.3 </a:t>
            </a:r>
            <a:r>
              <a:rPr lang="zh-CN" altLang="en-US" dirty="0">
                <a:sym typeface="+mn-ea"/>
              </a:rPr>
              <a:t>键盘接口</a:t>
            </a:r>
            <a:br>
              <a:rPr lang="zh-CN" altLang="en-US" dirty="0">
                <a:sym typeface="+mn-ea"/>
              </a:rPr>
            </a:br>
            <a:r>
              <a:rPr lang="zh-CN" altLang="en-US" sz="3200" dirty="0"/>
              <a:t>键盘的类型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457200"/>
          </a:xfrm>
        </p:spPr>
        <p:txBody>
          <a:bodyPr/>
          <a:lstStyle/>
          <a:p>
            <a:r>
              <a:rPr lang="zh-CN" altLang="en-US" dirty="0"/>
              <a:t>独立连接键盘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099670" y="2379452"/>
            <a:ext cx="7048003" cy="32494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                         </a:t>
            </a:r>
            <a:br>
              <a:rPr lang="zh-CN" altLang="en-US" dirty="0"/>
            </a:br>
            <a:r>
              <a:rPr lang="zh-CN" altLang="en-US" dirty="0"/>
              <a:t>键盘的类型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独立连接键盘的特点：</a:t>
            </a:r>
            <a:endParaRPr lang="zh-CN" altLang="en-US" dirty="0"/>
          </a:p>
          <a:p>
            <a:r>
              <a:rPr lang="zh-CN" altLang="en-US" dirty="0"/>
              <a:t>连线方便，编程简单；</a:t>
            </a:r>
            <a:endParaRPr lang="zh-CN" altLang="en-US" dirty="0"/>
          </a:p>
          <a:p>
            <a:r>
              <a:rPr lang="zh-CN" altLang="en-US" dirty="0"/>
              <a:t>键盘上的键较多时，引线较多，占用的</a:t>
            </a:r>
            <a:r>
              <a:rPr lang="en-US" altLang="zh-CN" dirty="0"/>
              <a:t>I/O</a:t>
            </a:r>
            <a:r>
              <a:rPr lang="zh-CN" altLang="en-US" dirty="0"/>
              <a:t>端口也多。</a:t>
            </a:r>
            <a:endParaRPr lang="zh-CN" altLang="en-US" dirty="0"/>
          </a:p>
          <a:p>
            <a:r>
              <a:rPr lang="zh-CN" altLang="en-US" dirty="0"/>
              <a:t>一般用于按键少的应用场合。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键盘的类型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798306"/>
          </a:xfrm>
        </p:spPr>
        <p:txBody>
          <a:bodyPr/>
          <a:lstStyle/>
          <a:p>
            <a:r>
              <a:rPr lang="zh-CN" altLang="en-US" dirty="0"/>
              <a:t>矩阵式键盘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398884" y="2248002"/>
            <a:ext cx="4697116" cy="376364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189846" y="2709634"/>
            <a:ext cx="36731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按键较多的场合，通常使用矩阵键盘。</a:t>
            </a:r>
            <a:endParaRPr lang="zh-CN" altLang="en-US" sz="2800" b="0" i="0" u="none" strike="noStrike" baseline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设有</a:t>
            </a:r>
            <a:r>
              <a:rPr lang="en-US" altLang="zh-CN" sz="2800" b="0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lang="en-US" altLang="zh-CN" sz="2800" b="0" i="0" u="none" strike="noStrike" baseline="0" dirty="0" err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×</a:t>
            </a:r>
            <a:r>
              <a:rPr lang="en-US" altLang="zh-CN" sz="2800" b="0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个键，采用矩阵式结构只需要</a:t>
            </a:r>
            <a:r>
              <a:rPr lang="en-US" altLang="zh-CN" sz="2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＋</a:t>
            </a:r>
            <a:r>
              <a:rPr lang="en-US" altLang="zh-CN" sz="2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条引线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矩阵式键盘的编程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编程需处理的主要问题：</a:t>
            </a:r>
            <a:endParaRPr lang="zh-CN" altLang="en-US" dirty="0"/>
          </a:p>
          <a:p>
            <a:r>
              <a:rPr lang="zh-CN" altLang="en-US" dirty="0"/>
              <a:t>按键识别</a:t>
            </a:r>
            <a:endParaRPr lang="zh-CN" altLang="en-US" dirty="0"/>
          </a:p>
          <a:p>
            <a:r>
              <a:rPr lang="zh-CN" altLang="en-US" dirty="0"/>
              <a:t>消除抖动</a:t>
            </a:r>
            <a:endParaRPr lang="zh-CN" altLang="en-US" dirty="0"/>
          </a:p>
          <a:p>
            <a:r>
              <a:rPr lang="zh-CN" altLang="en-US" dirty="0"/>
              <a:t>生成键码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33257" y="831273"/>
            <a:ext cx="5284520" cy="5299652"/>
          </a:xfrm>
        </p:spPr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r>
              <a:rPr lang="zh-CN" altLang="en-US" sz="39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“行扫描”法按键识别步骤</a:t>
            </a:r>
            <a:endParaRPr lang="en-US" altLang="zh-CN" sz="39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zh-CN" altLang="en-US" dirty="0"/>
              <a:t>每根行线上输出</a:t>
            </a:r>
            <a:r>
              <a:rPr lang="en-US" altLang="zh-CN" dirty="0"/>
              <a:t>0</a:t>
            </a:r>
            <a:r>
              <a:rPr lang="zh-CN" altLang="en-US" dirty="0"/>
              <a:t>，确定是否有键按下；</a:t>
            </a:r>
            <a:endParaRPr lang="zh-CN" altLang="en-US" dirty="0"/>
          </a:p>
          <a:p>
            <a:r>
              <a:rPr lang="zh-CN" altLang="en-US" dirty="0"/>
              <a:t>依次在每根行线上输出</a:t>
            </a:r>
            <a:r>
              <a:rPr lang="en-US" altLang="zh-CN" dirty="0"/>
              <a:t>0</a:t>
            </a:r>
            <a:r>
              <a:rPr lang="zh-CN" altLang="en-US" dirty="0"/>
              <a:t>，确定按键所在行和列的位置；</a:t>
            </a:r>
            <a:endParaRPr lang="zh-CN" altLang="en-US" dirty="0"/>
          </a:p>
          <a:p>
            <a:r>
              <a:rPr lang="zh-CN" altLang="en-US" dirty="0"/>
              <a:t>确定是否有多个键同时按下；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43346" y="1170446"/>
            <a:ext cx="4276562" cy="422095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消除抖动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47657" y="1719263"/>
            <a:ext cx="4773881" cy="4411662"/>
          </a:xfrm>
        </p:spPr>
        <p:txBody>
          <a:bodyPr/>
          <a:lstStyle/>
          <a:p>
            <a:r>
              <a:rPr lang="zh-CN" altLang="en-US" dirty="0"/>
              <a:t>产生原因：按键的机械特性导致按键抖动。</a:t>
            </a:r>
            <a:endParaRPr lang="zh-CN" altLang="en-US" dirty="0"/>
          </a:p>
          <a:p>
            <a:r>
              <a:rPr lang="zh-CN" altLang="en-US" dirty="0"/>
              <a:t>持续时间：一般为：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               5ms</a:t>
            </a:r>
            <a:r>
              <a:rPr lang="zh-CN" altLang="en-US" dirty="0"/>
              <a:t>～</a:t>
            </a:r>
            <a:r>
              <a:rPr lang="en-US" altLang="zh-CN" dirty="0"/>
              <a:t>10ms</a:t>
            </a:r>
            <a:endParaRPr lang="en-US" altLang="zh-CN" dirty="0"/>
          </a:p>
          <a:p>
            <a:r>
              <a:rPr lang="zh-CN" altLang="en-US" dirty="0"/>
              <a:t>抖动后果：按键抖动会引起一次按键被误读为多次按键。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93022" y="1719263"/>
            <a:ext cx="5219388" cy="378776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消除抖动的方法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505513"/>
            <a:ext cx="10058400" cy="4411662"/>
          </a:xfrm>
        </p:spPr>
        <p:txBody>
          <a:bodyPr/>
          <a:lstStyle/>
          <a:p>
            <a:r>
              <a:rPr lang="zh-CN" altLang="en-US" dirty="0"/>
              <a:t>硬件消抖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可采用双稳态消抖电路，即在按键输出端加</a:t>
            </a:r>
            <a:r>
              <a:rPr lang="en-US" altLang="zh-CN" dirty="0"/>
              <a:t>R-S</a:t>
            </a:r>
            <a:r>
              <a:rPr lang="zh-CN" altLang="en-US" dirty="0"/>
              <a:t>触发器或单稳态触发器构成消抖电路。</a:t>
            </a:r>
            <a:endParaRPr lang="zh-CN" altLang="en-US" dirty="0"/>
          </a:p>
          <a:p>
            <a:r>
              <a:rPr lang="zh-CN" altLang="en-US" dirty="0"/>
              <a:t>软件消抖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当检测到有按键按下时，并不立即认定此键被按下，而是在执行一个</a:t>
            </a:r>
            <a:r>
              <a:rPr lang="en-US" altLang="zh-CN" dirty="0"/>
              <a:t>10ms~20ms(</a:t>
            </a:r>
            <a:r>
              <a:rPr lang="zh-CN" altLang="en-US" dirty="0"/>
              <a:t>按照实际情况进行调整</a:t>
            </a:r>
            <a:r>
              <a:rPr lang="en-US" altLang="zh-CN" dirty="0"/>
              <a:t>)</a:t>
            </a:r>
            <a:r>
              <a:rPr lang="zh-CN" altLang="en-US" dirty="0"/>
              <a:t>的延时程序后，再确认该键是否仍然保持闭合状态，若是，则认为该键真正被按下。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en-US" dirty="0"/>
              <a:t>消除后沿抖动的方法与上述方法相同，但通常可以不对释放的后沿进行处理。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生成键码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“行扫描”法获得按键的行和列的坐标位置；</a:t>
            </a:r>
            <a:endParaRPr lang="zh-CN" altLang="en-US" dirty="0"/>
          </a:p>
          <a:p>
            <a:r>
              <a:rPr lang="zh-CN" altLang="en-US" dirty="0"/>
              <a:t>将两个坐标值进行组合可得到按键的特征码；</a:t>
            </a:r>
            <a:endParaRPr lang="zh-CN" altLang="en-US" dirty="0"/>
          </a:p>
          <a:p>
            <a:r>
              <a:rPr lang="zh-CN" altLang="en-US" dirty="0"/>
              <a:t>通过特征码查表可得到按键的键码；</a:t>
            </a:r>
            <a:endParaRPr lang="zh-CN" altLang="en-US" dirty="0"/>
          </a:p>
          <a:p>
            <a:r>
              <a:rPr lang="zh-CN" altLang="en-US" dirty="0"/>
              <a:t>键码处理。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行扫描法识别闭合键编程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程序分两步</a:t>
            </a:r>
            <a:endParaRPr lang="en-US" altLang="zh-CN" dirty="0"/>
          </a:p>
          <a:p>
            <a:r>
              <a:rPr lang="zh-CN" altLang="en-US" dirty="0"/>
              <a:t>第一步：判断是否有键按下</a:t>
            </a:r>
            <a:endParaRPr lang="zh-CN" altLang="en-US" dirty="0"/>
          </a:p>
          <a:p>
            <a:r>
              <a:rPr lang="zh-CN" altLang="en-US" dirty="0"/>
              <a:t>第二步：判断哪一个键被按下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第一步：判断是否有键按下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使输出端口各位均输出为</a:t>
            </a:r>
            <a:r>
              <a:rPr lang="en-US" altLang="zh-CN" dirty="0"/>
              <a:t>0</a:t>
            </a:r>
            <a:r>
              <a:rPr lang="zh-CN" altLang="en-US" dirty="0"/>
              <a:t>，即相当于将所有各行都接地。</a:t>
            </a:r>
            <a:endParaRPr lang="zh-CN" altLang="en-US" dirty="0"/>
          </a:p>
          <a:p>
            <a:r>
              <a:rPr lang="zh-CN" altLang="en-US" dirty="0"/>
              <a:t>然后，从输入端口读入数据。如读得的数据是</a:t>
            </a:r>
            <a:r>
              <a:rPr lang="en-US" altLang="zh-CN" dirty="0"/>
              <a:t>FFH</a:t>
            </a:r>
            <a:r>
              <a:rPr lang="zh-CN" altLang="en-US" dirty="0"/>
              <a:t>，则程序在循环中等待。如果读得的数据不是</a:t>
            </a:r>
            <a:r>
              <a:rPr lang="en-US" altLang="zh-CN" dirty="0"/>
              <a:t>FFH</a:t>
            </a:r>
            <a:r>
              <a:rPr lang="zh-CN" altLang="en-US" dirty="0"/>
              <a:t>，则说明必有列线处于低电平，从而可断定必有键被按下。此时，为了消除键的抖动，可以调用延迟程序，然后再判别具体按下的是哪个键。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第一步的程序段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2800" dirty="0"/>
              <a:t>WAIT：MOV  AL，00H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/>
              <a:t>                    MOV  DX，OUTPORT；输出端口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/>
              <a:t>                    OUT   DX，AL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/>
              <a:t>                    MOV  DX，INPORT；输入端口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/>
              <a:t>                    IN     AL，DX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/>
              <a:t>                    CMP   AL，0FFH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/>
              <a:t>                    JZ     WAIT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/>
              <a:t>     DONE：CALL  DELAY；是，则延迟20ms去抖动 </a:t>
            </a:r>
            <a:endParaRPr lang="zh-CN" altLang="zh-CN" sz="280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439" y="941636"/>
            <a:ext cx="2941122" cy="1295400"/>
          </a:xfrm>
        </p:spPr>
        <p:txBody>
          <a:bodyPr/>
          <a:lstStyle/>
          <a:p>
            <a:pPr algn="l"/>
            <a:r>
              <a:rPr lang="zh-CN" altLang="en-US" sz="2800" dirty="0"/>
              <a:t>第二步：判断哪一个键被按下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246" y="286650"/>
            <a:ext cx="5799735" cy="596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" y="2237105"/>
            <a:ext cx="4314825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22238"/>
            <a:ext cx="10058400" cy="1295400"/>
          </a:xfrm>
        </p:spPr>
        <p:txBody>
          <a:bodyPr/>
          <a:lstStyle/>
          <a:p>
            <a:r>
              <a:rPr lang="zh-CN" altLang="en-US" dirty="0"/>
              <a:t>第二步的程序段（</a:t>
            </a:r>
            <a:r>
              <a:rPr lang="en-US" altLang="zh-CN" dirty="0"/>
              <a:t>8</a:t>
            </a:r>
            <a:r>
              <a:rPr lang="zh-CN" altLang="en-US" dirty="0"/>
              <a:t>行</a:t>
            </a:r>
            <a:r>
              <a:rPr lang="en-US" altLang="zh-CN" dirty="0"/>
              <a:t>8</a:t>
            </a:r>
            <a:r>
              <a:rPr lang="zh-CN" altLang="en-US" dirty="0"/>
              <a:t>列的</a:t>
            </a:r>
            <a:r>
              <a:rPr lang="zh-CN" altLang="en-US" dirty="0"/>
              <a:t>矩阵键盘）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5280560" cy="4411662"/>
          </a:xfrm>
        </p:spPr>
        <p:txBody>
          <a:bodyPr/>
          <a:lstStyle/>
          <a:p>
            <a:r>
              <a:rPr lang="en-US" altLang="zh-CN" sz="2000" dirty="0"/>
              <a:t>PROG</a:t>
            </a:r>
            <a:r>
              <a:rPr lang="zh-CN" altLang="en-US" sz="2000" dirty="0"/>
              <a:t>：</a:t>
            </a:r>
            <a:r>
              <a:rPr lang="en-US" altLang="zh-CN" sz="2000" dirty="0"/>
              <a:t>MOV  BL</a:t>
            </a:r>
            <a:r>
              <a:rPr lang="zh-CN" altLang="en-US" sz="2000" dirty="0"/>
              <a:t>，</a:t>
            </a:r>
            <a:r>
              <a:rPr lang="en-US" altLang="zh-CN" sz="2000" dirty="0"/>
              <a:t>0</a:t>
            </a:r>
            <a:endParaRPr lang="en-US" altLang="zh-CN" sz="2000" dirty="0"/>
          </a:p>
          <a:p>
            <a:r>
              <a:rPr lang="en-US" altLang="zh-CN" sz="2000" dirty="0"/>
              <a:t>              MOV  CL</a:t>
            </a:r>
            <a:r>
              <a:rPr lang="zh-CN" altLang="en-US" sz="2000" dirty="0"/>
              <a:t>，</a:t>
            </a:r>
            <a:r>
              <a:rPr lang="en-US" altLang="zh-CN" sz="2000" dirty="0"/>
              <a:t>0FEH</a:t>
            </a:r>
            <a:endParaRPr lang="en-US" altLang="zh-CN" sz="2000" dirty="0"/>
          </a:p>
          <a:p>
            <a:r>
              <a:rPr lang="en-US" altLang="zh-CN" sz="2000" dirty="0"/>
              <a:t>              MOV  DL</a:t>
            </a:r>
            <a:r>
              <a:rPr lang="zh-CN" altLang="en-US" sz="2000" dirty="0"/>
              <a:t>，</a:t>
            </a:r>
            <a:r>
              <a:rPr lang="en-US" altLang="zh-CN" sz="2000" dirty="0"/>
              <a:t>8 </a:t>
            </a:r>
            <a:r>
              <a:rPr lang="zh-CN" altLang="en-US" sz="2000" dirty="0"/>
              <a:t>；计数值为行数</a:t>
            </a:r>
            <a:endParaRPr lang="zh-CN" altLang="en-US" sz="2000" dirty="0"/>
          </a:p>
          <a:p>
            <a:r>
              <a:rPr lang="en-US" altLang="zh-CN" sz="2000" dirty="0"/>
              <a:t>FROW</a:t>
            </a:r>
            <a:r>
              <a:rPr lang="zh-CN" altLang="en-US" sz="2000" dirty="0"/>
              <a:t>：</a:t>
            </a:r>
            <a:r>
              <a:rPr lang="en-US" altLang="zh-CN" sz="2000" dirty="0"/>
              <a:t>MOV  AL</a:t>
            </a:r>
            <a:r>
              <a:rPr lang="zh-CN" altLang="en-US" sz="2000" dirty="0"/>
              <a:t>，</a:t>
            </a:r>
            <a:r>
              <a:rPr lang="en-US" altLang="zh-CN" sz="2000" dirty="0"/>
              <a:t>CL</a:t>
            </a:r>
            <a:endParaRPr lang="en-US" altLang="zh-CN" sz="2000" dirty="0"/>
          </a:p>
          <a:p>
            <a:r>
              <a:rPr lang="en-US" altLang="zh-CN" sz="2000" dirty="0"/>
              <a:t>              OUT  ROWPORT</a:t>
            </a:r>
            <a:r>
              <a:rPr lang="zh-CN" altLang="en-US" sz="2000" dirty="0"/>
              <a:t>，</a:t>
            </a:r>
            <a:r>
              <a:rPr lang="en-US" altLang="zh-CN" sz="2000" dirty="0"/>
              <a:t>AL</a:t>
            </a:r>
            <a:endParaRPr lang="en-US" altLang="zh-CN" sz="2000" dirty="0"/>
          </a:p>
          <a:p>
            <a:r>
              <a:rPr lang="en-US" altLang="zh-CN" sz="2000" dirty="0"/>
              <a:t>               ROL  AL</a:t>
            </a:r>
            <a:r>
              <a:rPr lang="zh-CN" altLang="en-US" sz="2000" dirty="0"/>
              <a:t>，</a:t>
            </a:r>
            <a:r>
              <a:rPr lang="en-US" altLang="zh-CN" sz="2000" dirty="0"/>
              <a:t>1</a:t>
            </a:r>
            <a:endParaRPr lang="en-US" altLang="zh-CN" sz="2000" dirty="0"/>
          </a:p>
          <a:p>
            <a:r>
              <a:rPr lang="en-US" altLang="zh-CN" sz="2000" dirty="0"/>
              <a:t>               MOV  CL</a:t>
            </a:r>
            <a:r>
              <a:rPr lang="zh-CN" altLang="en-US" sz="2000" dirty="0"/>
              <a:t>，</a:t>
            </a:r>
            <a:r>
              <a:rPr lang="en-US" altLang="zh-CN" sz="2000" dirty="0"/>
              <a:t>AL</a:t>
            </a:r>
            <a:endParaRPr lang="en-US" altLang="zh-CN" sz="2000" dirty="0"/>
          </a:p>
          <a:p>
            <a:r>
              <a:rPr lang="en-US" altLang="zh-CN" sz="2000" dirty="0"/>
              <a:t>               IN    AL</a:t>
            </a:r>
            <a:r>
              <a:rPr lang="zh-CN" altLang="en-US" sz="2000" dirty="0"/>
              <a:t>，</a:t>
            </a:r>
            <a:r>
              <a:rPr lang="en-US" altLang="zh-CN" sz="2000" dirty="0"/>
              <a:t>COLPORTI</a:t>
            </a:r>
            <a:endParaRPr lang="en-US" altLang="zh-CN" sz="2000" dirty="0"/>
          </a:p>
          <a:p>
            <a:r>
              <a:rPr lang="en-US" altLang="zh-CN" sz="2000" dirty="0"/>
              <a:t>              CMP  AL</a:t>
            </a:r>
            <a:r>
              <a:rPr lang="zh-CN" altLang="en-US" sz="2000" dirty="0"/>
              <a:t>，</a:t>
            </a:r>
            <a:r>
              <a:rPr lang="en-US" altLang="zh-CN" sz="2000" dirty="0"/>
              <a:t>0FFH</a:t>
            </a:r>
            <a:endParaRPr lang="en-US" altLang="zh-CN" sz="2000" dirty="0"/>
          </a:p>
          <a:p>
            <a:r>
              <a:rPr lang="it-IT" altLang="zh-CN" sz="2000" dirty="0"/>
              <a:t>              JNZ   FCOL</a:t>
            </a:r>
            <a:endParaRPr lang="it-IT" altLang="zh-CN" sz="2000" dirty="0"/>
          </a:p>
          <a:p>
            <a:r>
              <a:rPr lang="it-IT" altLang="zh-CN" sz="2000" dirty="0"/>
              <a:t>               MOV  AL</a:t>
            </a:r>
            <a:r>
              <a:rPr lang="zh-CN" altLang="it-IT" sz="2000" dirty="0"/>
              <a:t>，</a:t>
            </a:r>
            <a:r>
              <a:rPr lang="it-IT" altLang="zh-CN" sz="2000" dirty="0"/>
              <a:t>BL</a:t>
            </a:r>
            <a:endParaRPr lang="it-IT" altLang="zh-CN" sz="2000" dirty="0"/>
          </a:p>
          <a:p>
            <a:r>
              <a:rPr lang="it-IT" altLang="zh-CN" sz="2000" dirty="0"/>
              <a:t>               ADD  AL</a:t>
            </a:r>
            <a:r>
              <a:rPr lang="zh-CN" altLang="it-IT" sz="2000" dirty="0"/>
              <a:t>，</a:t>
            </a:r>
            <a:r>
              <a:rPr lang="it-IT" altLang="zh-CN" sz="2000" dirty="0"/>
              <a:t>08H</a:t>
            </a:r>
            <a:endParaRPr lang="it-IT" altLang="zh-CN" sz="2000" dirty="0"/>
          </a:p>
          <a:p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5582393" y="1719263"/>
            <a:ext cx="5085607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MOV  BL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DEC   DL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JNZ   FROW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JMP   DONE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FCOL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RCR   AL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JNC    PROCE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INC    BL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JMP    FCOL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PROCE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…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；键命令处理程序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DONE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…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；后续处理程序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220" y="0"/>
            <a:ext cx="2850515" cy="323469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              7.4 LED</a:t>
            </a:r>
            <a:r>
              <a:rPr lang="zh-CN" altLang="en-US" dirty="0"/>
              <a:t>显示器接口</a:t>
            </a:r>
            <a:br>
              <a:rPr lang="zh-CN" altLang="en-US" dirty="0"/>
            </a:br>
            <a:r>
              <a:rPr lang="en-US" altLang="zh-CN" sz="2800" dirty="0"/>
              <a:t>7.4.1 LED</a:t>
            </a:r>
            <a:r>
              <a:rPr lang="zh-CN" altLang="en-US" sz="2800" dirty="0"/>
              <a:t>数码管的工作原理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142769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       发光二极管</a:t>
            </a:r>
            <a:r>
              <a:rPr lang="en-US" altLang="zh-CN" dirty="0"/>
              <a:t>(LED)</a:t>
            </a:r>
            <a:r>
              <a:rPr lang="zh-CN" altLang="en-US" dirty="0"/>
              <a:t>，是一种应用广泛的显示器件。许多微型机控制系统及数字化仪器中都采用</a:t>
            </a:r>
            <a:r>
              <a:rPr lang="en-US" altLang="zh-CN" dirty="0"/>
              <a:t>LED</a:t>
            </a:r>
            <a:r>
              <a:rPr lang="zh-CN" altLang="en-US" dirty="0"/>
              <a:t>作为输出部件。</a:t>
            </a:r>
            <a:r>
              <a:rPr lang="en-US" altLang="zh-CN" dirty="0"/>
              <a:t>LED</a:t>
            </a:r>
            <a:r>
              <a:rPr lang="zh-CN" altLang="en-US" dirty="0"/>
              <a:t>数码管的主要部分是七段发光管。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29071" y="3303599"/>
            <a:ext cx="2893671" cy="215085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32546" y="3990127"/>
            <a:ext cx="963454" cy="95739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05804" y="3043798"/>
            <a:ext cx="2229355" cy="2499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共阳数码管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460665" y="1543794"/>
            <a:ext cx="5449419" cy="315883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46909" y="4881254"/>
            <a:ext cx="6285518" cy="85318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30915" y="941143"/>
            <a:ext cx="2311235" cy="41771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共阴数码管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249301" y="769938"/>
            <a:ext cx="2976598" cy="536115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7548" y="1620343"/>
            <a:ext cx="4572000" cy="4054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译码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为了将一个二进制数在一个LED上显示出来，就需要将4位二进制数转换为LED的7位显示代码： </a:t>
            </a:r>
            <a:endParaRPr lang="zh-CN" altLang="zh-CN" dirty="0"/>
          </a:p>
          <a:p>
            <a:pPr lvl="1"/>
            <a:r>
              <a:rPr lang="zh-CN" altLang="zh-CN" dirty="0"/>
              <a:t>采用专用芯片进行LED段译码</a:t>
            </a:r>
            <a:endParaRPr lang="zh-CN" altLang="zh-CN" dirty="0"/>
          </a:p>
          <a:p>
            <a:pPr lvl="1"/>
            <a:r>
              <a:rPr lang="zh-CN" altLang="zh-CN" dirty="0"/>
              <a:t>软件译码法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采用专用芯片进行</a:t>
            </a:r>
            <a:r>
              <a:rPr lang="en-US" altLang="zh-CN" dirty="0"/>
              <a:t>LED</a:t>
            </a:r>
            <a:r>
              <a:rPr lang="zh-CN" altLang="en-US" dirty="0"/>
              <a:t>段译码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8354" y="1648011"/>
            <a:ext cx="10058400" cy="2484602"/>
          </a:xfrm>
        </p:spPr>
        <p:txBody>
          <a:bodyPr/>
          <a:lstStyle/>
          <a:p>
            <a:r>
              <a:rPr lang="zh-CN" altLang="en-US" dirty="0"/>
              <a:t>采用专用带驱动器的</a:t>
            </a:r>
            <a:r>
              <a:rPr lang="en-US" altLang="zh-CN" dirty="0"/>
              <a:t>LED</a:t>
            </a:r>
            <a:r>
              <a:rPr lang="zh-CN" altLang="en-US" dirty="0"/>
              <a:t>显示器段译码器，可以实现对</a:t>
            </a:r>
            <a:r>
              <a:rPr lang="en-US" altLang="zh-CN" dirty="0"/>
              <a:t>BCD</a:t>
            </a:r>
            <a:r>
              <a:rPr lang="zh-CN" altLang="en-US" dirty="0"/>
              <a:t>码的译码，但不能对大于</a:t>
            </a:r>
            <a:r>
              <a:rPr lang="en-US" altLang="zh-CN" dirty="0"/>
              <a:t>9</a:t>
            </a:r>
            <a:r>
              <a:rPr lang="zh-CN" altLang="en-US" dirty="0"/>
              <a:t>的二进制数译码。</a:t>
            </a:r>
            <a:endParaRPr lang="zh-CN" altLang="en-US" dirty="0"/>
          </a:p>
          <a:p>
            <a:r>
              <a:rPr lang="en-US" altLang="zh-CN" dirty="0"/>
              <a:t>7447</a:t>
            </a:r>
            <a:r>
              <a:rPr lang="zh-CN" altLang="en-US" dirty="0"/>
              <a:t>有</a:t>
            </a:r>
            <a:r>
              <a:rPr lang="en-US" altLang="zh-CN" dirty="0"/>
              <a:t>4</a:t>
            </a:r>
            <a:r>
              <a:rPr lang="zh-CN" altLang="en-US" dirty="0"/>
              <a:t>位输入，</a:t>
            </a:r>
            <a:r>
              <a:rPr lang="en-US" altLang="zh-CN" dirty="0"/>
              <a:t>7</a:t>
            </a:r>
            <a:r>
              <a:rPr lang="zh-CN" altLang="en-US" dirty="0"/>
              <a:t>位输出。使用时，只要将</a:t>
            </a:r>
            <a:r>
              <a:rPr lang="en-US" altLang="zh-CN" dirty="0"/>
              <a:t>7447</a:t>
            </a:r>
            <a:r>
              <a:rPr lang="zh-CN" altLang="en-US" dirty="0"/>
              <a:t>的输入端与主机系统输出端口的某</a:t>
            </a:r>
            <a:r>
              <a:rPr lang="en-US" altLang="zh-CN" dirty="0"/>
              <a:t>4</a:t>
            </a:r>
            <a:r>
              <a:rPr lang="zh-CN" altLang="en-US" dirty="0"/>
              <a:t>位相连，而</a:t>
            </a:r>
            <a:r>
              <a:rPr lang="en-US" altLang="zh-CN" dirty="0"/>
              <a:t>7447</a:t>
            </a:r>
            <a:r>
              <a:rPr lang="zh-CN" altLang="en-US" dirty="0"/>
              <a:t>的</a:t>
            </a:r>
            <a:r>
              <a:rPr lang="en-US" altLang="zh-CN" dirty="0"/>
              <a:t>7</a:t>
            </a:r>
            <a:r>
              <a:rPr lang="zh-CN" altLang="en-US" dirty="0"/>
              <a:t>位输出直接与</a:t>
            </a:r>
            <a:r>
              <a:rPr lang="en-US" altLang="zh-CN" dirty="0"/>
              <a:t>LED</a:t>
            </a:r>
            <a:r>
              <a:rPr lang="zh-CN" altLang="en-US" dirty="0"/>
              <a:t>显示器的</a:t>
            </a:r>
            <a:r>
              <a:rPr lang="en-US" altLang="zh-CN" dirty="0" err="1"/>
              <a:t>a~g</a:t>
            </a:r>
            <a:r>
              <a:rPr lang="zh-CN" altLang="en-US" dirty="0"/>
              <a:t>相接，便可以实现对</a:t>
            </a:r>
            <a:r>
              <a:rPr lang="en-US" altLang="zh-CN" dirty="0"/>
              <a:t>1</a:t>
            </a:r>
            <a:r>
              <a:rPr lang="zh-CN" altLang="en-US" dirty="0"/>
              <a:t>位</a:t>
            </a:r>
            <a:r>
              <a:rPr lang="en-US" altLang="zh-CN" dirty="0"/>
              <a:t>BCD</a:t>
            </a:r>
            <a:r>
              <a:rPr lang="zh-CN" altLang="en-US" dirty="0"/>
              <a:t>码的显示。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579" y="3966683"/>
            <a:ext cx="4884965" cy="2403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软件译码法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7638"/>
            <a:ext cx="9911938" cy="44116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/>
              <a:t>下面的程序段用来实现1位数字的LED显示。设要显示数字放在DATA单元中，而LEDADD为代码表首址。</a:t>
            </a:r>
            <a:endParaRPr lang="zh-CN" altLang="en-US" dirty="0"/>
          </a:p>
          <a:p>
            <a:pPr>
              <a:lnSpc>
                <a:spcPct val="80000"/>
              </a:lnSpc>
            </a:pPr>
            <a:r>
              <a:rPr lang="zh-CN" altLang="en-US" sz="2400" dirty="0"/>
              <a:t>DISP：   MOV BX，OFFSET DATA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MOV AL，[BX]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MOV BX，OFFSET LEDADD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XLAT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OUT  DX，AL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LEDADD   DB  40H；0的显示代码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DB  79H；1的显示代码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DB  24H；2的显示代码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….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DB  0EH；F的显示代码 </a:t>
            </a:r>
            <a:endParaRPr lang="zh-CN" altLang="en-US" sz="240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7.4.2 </a:t>
            </a:r>
            <a:r>
              <a:rPr lang="zh-CN" altLang="en-US" dirty="0" smtClean="0"/>
              <a:t>静态显示</a:t>
            </a:r>
            <a:r>
              <a:rPr lang="zh-CN" altLang="en-US" dirty="0"/>
              <a:t>与动态显示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719580"/>
            <a:ext cx="9358630" cy="4411345"/>
          </a:xfrm>
        </p:spPr>
        <p:txBody>
          <a:bodyPr/>
          <a:lstStyle/>
          <a:p>
            <a:r>
              <a:rPr lang="zh-CN" altLang="en-US" dirty="0"/>
              <a:t>静态显示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指数码管显示某一个字符时，相应的发光二极管恒定地获得送显信号。每个七段数码管由各自的一个</a:t>
            </a:r>
            <a:r>
              <a:rPr lang="en-US" altLang="zh-CN" dirty="0"/>
              <a:t>8</a:t>
            </a:r>
            <a:r>
              <a:rPr lang="zh-CN" altLang="en-US" dirty="0"/>
              <a:t>位输出口控制。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静态显示的优缺点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dirty="0"/>
              <a:t>显示稳定，在发光二极管导通电流一定的情况下，数码管亮度大；</a:t>
            </a:r>
            <a:endParaRPr lang="en-US" altLang="zh-CN" dirty="0"/>
          </a:p>
          <a:p>
            <a:pPr lvl="1"/>
            <a:r>
              <a:rPr lang="zh-CN" altLang="en-US" dirty="0"/>
              <a:t>系统在运行过程中，仅仅在需要更新显示内容时，</a:t>
            </a:r>
            <a:r>
              <a:rPr lang="en-US" altLang="zh-CN" dirty="0"/>
              <a:t>CPU</a:t>
            </a:r>
            <a:r>
              <a:rPr lang="zh-CN" altLang="en-US" dirty="0"/>
              <a:t>才执行一次显示更新子程序，</a:t>
            </a:r>
            <a:r>
              <a:rPr lang="en-US" altLang="zh-CN" dirty="0"/>
              <a:t>CPU</a:t>
            </a:r>
            <a:r>
              <a:rPr lang="zh-CN" altLang="en-US" dirty="0"/>
              <a:t>的工作效率高。</a:t>
            </a:r>
            <a:endParaRPr lang="zh-CN" altLang="en-US" dirty="0"/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/>
              <a:t>如果显示位数较多时，显示口随之增加，成本高。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静态显示与动态显示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动态显示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显示电路一位一位的依次点亮各位数码管，对于每一位数码管来说，每隔一段时间点亮一次。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若数码管的位数不大于</a:t>
            </a:r>
            <a:r>
              <a:rPr lang="en-US" altLang="zh-CN" dirty="0"/>
              <a:t>8</a:t>
            </a:r>
            <a:r>
              <a:rPr lang="zh-CN" altLang="en-US" dirty="0"/>
              <a:t>，则控制数码管公共极的电位只需要一个</a:t>
            </a:r>
            <a:r>
              <a:rPr lang="en-US" altLang="zh-CN" dirty="0"/>
              <a:t>8</a:t>
            </a:r>
            <a:r>
              <a:rPr lang="zh-CN" altLang="en-US" dirty="0"/>
              <a:t>位口</a:t>
            </a:r>
            <a:r>
              <a:rPr lang="en-US" altLang="zh-CN" dirty="0"/>
              <a:t>(</a:t>
            </a:r>
            <a:r>
              <a:rPr lang="zh-CN" altLang="en-US" dirty="0"/>
              <a:t>扫描口，又称位口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控制各位数码管所显示的字形也需要一个</a:t>
            </a:r>
            <a:r>
              <a:rPr lang="en-US" altLang="zh-CN" dirty="0"/>
              <a:t>8</a:t>
            </a:r>
            <a:r>
              <a:rPr lang="zh-CN" altLang="en-US" dirty="0"/>
              <a:t>位口</a:t>
            </a:r>
            <a:r>
              <a:rPr lang="en-US" altLang="zh-CN" dirty="0"/>
              <a:t>(</a:t>
            </a:r>
            <a:r>
              <a:rPr lang="zh-CN" altLang="en-US" dirty="0"/>
              <a:t>称为段口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多位</a:t>
            </a:r>
            <a:r>
              <a:rPr lang="en-US" altLang="zh-CN" dirty="0"/>
              <a:t>LED</a:t>
            </a:r>
            <a:r>
              <a:rPr lang="zh-CN" altLang="en-US" dirty="0"/>
              <a:t>外观图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623928" y="1894394"/>
            <a:ext cx="4944144" cy="34477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多位</a:t>
            </a:r>
            <a:r>
              <a:rPr lang="en-US" altLang="zh-CN" dirty="0"/>
              <a:t>LED</a:t>
            </a:r>
            <a:r>
              <a:rPr lang="zh-CN" altLang="en-US" dirty="0"/>
              <a:t>内部连线图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99893" y="1645534"/>
            <a:ext cx="8758507" cy="39072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动态显示原理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547570" y="1523756"/>
            <a:ext cx="7599194" cy="4318903"/>
          </a:xfrm>
          <a:prstGeom prst="rect">
            <a:avLst/>
          </a:prstGeom>
        </p:spPr>
      </p:pic>
      <p:sp>
        <p:nvSpPr>
          <p:cNvPr id="8" name="对话气泡: 矩形 7"/>
          <p:cNvSpPr/>
          <p:nvPr/>
        </p:nvSpPr>
        <p:spPr bwMode="auto">
          <a:xfrm>
            <a:off x="609600" y="1056904"/>
            <a:ext cx="1741714" cy="466852"/>
          </a:xfrm>
          <a:prstGeom prst="wedgeRectCallout">
            <a:avLst>
              <a:gd name="adj1" fmla="val 130531"/>
              <a:gd name="adj2" fmla="val 192229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位段代码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对话气泡: 矩形 8"/>
          <p:cNvSpPr/>
          <p:nvPr/>
        </p:nvSpPr>
        <p:spPr bwMode="auto">
          <a:xfrm>
            <a:off x="1712686" y="1003845"/>
            <a:ext cx="1741714" cy="466852"/>
          </a:xfrm>
          <a:prstGeom prst="wedgeRectCallout">
            <a:avLst>
              <a:gd name="adj1" fmla="val 116213"/>
              <a:gd name="adj2" fmla="val 23292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位段代码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对话气泡: 矩形 9"/>
          <p:cNvSpPr/>
          <p:nvPr/>
        </p:nvSpPr>
        <p:spPr bwMode="auto">
          <a:xfrm>
            <a:off x="2970810" y="950786"/>
            <a:ext cx="1741714" cy="466852"/>
          </a:xfrm>
          <a:prstGeom prst="wedgeRectCallout">
            <a:avLst>
              <a:gd name="adj1" fmla="val 90985"/>
              <a:gd name="adj2" fmla="val 26345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位段代码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对话气泡: 矩形 10"/>
          <p:cNvSpPr/>
          <p:nvPr/>
        </p:nvSpPr>
        <p:spPr bwMode="auto">
          <a:xfrm>
            <a:off x="6485906" y="1077334"/>
            <a:ext cx="1741714" cy="466852"/>
          </a:xfrm>
          <a:prstGeom prst="wedgeRectCallout">
            <a:avLst>
              <a:gd name="adj1" fmla="val 37122"/>
              <a:gd name="adj2" fmla="val 28889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位段代码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动态显示原理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口送段代码，</a:t>
            </a:r>
            <a:r>
              <a:rPr lang="en-US" altLang="zh-CN" dirty="0"/>
              <a:t>B</a:t>
            </a:r>
            <a:r>
              <a:rPr lang="zh-CN" altLang="en-US" dirty="0"/>
              <a:t>口送位选信号。段码虽同时到达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en-US" altLang="zh-CN" dirty="0"/>
              <a:t>LED</a:t>
            </a:r>
            <a:r>
              <a:rPr lang="zh-CN" altLang="en-US" dirty="0"/>
              <a:t>，但一次仅有一个</a:t>
            </a:r>
            <a:r>
              <a:rPr lang="en-US" altLang="zh-CN" dirty="0"/>
              <a:t>LED</a:t>
            </a:r>
            <a:r>
              <a:rPr lang="zh-CN" altLang="en-US" dirty="0"/>
              <a:t>被选中，即位线为</a:t>
            </a:r>
            <a:r>
              <a:rPr lang="en-US" altLang="zh-CN" dirty="0"/>
              <a:t>0</a:t>
            </a:r>
            <a:r>
              <a:rPr lang="zh-CN" altLang="en-US" dirty="0"/>
              <a:t>的位。</a:t>
            </a:r>
            <a:endParaRPr lang="zh-CN" altLang="en-US" dirty="0"/>
          </a:p>
          <a:p>
            <a:r>
              <a:rPr lang="zh-CN" altLang="en-US" dirty="0"/>
              <a:t>利用“视觉暂留”，每送一个字符并选中相应位线，延时一段时间，再送选下一位，循环扫描即可实现连续显示。</a:t>
            </a:r>
            <a:endParaRPr lang="zh-CN" altLang="en-US" dirty="0"/>
          </a:p>
          <a:p>
            <a:r>
              <a:rPr lang="zh-CN" altLang="en-US" dirty="0"/>
              <a:t>在实际应用时，我们需要综合显示的稳定性和亮度因素，对延时时间进行调整。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动态显示的优缺点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 显示电路简单，成本低。</a:t>
            </a:r>
            <a:endParaRPr lang="zh-CN" altLang="en-US" dirty="0"/>
          </a:p>
          <a:p>
            <a:r>
              <a:rPr lang="zh-CN" altLang="en-US" dirty="0"/>
              <a:t>缺点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显示有闪烁，编程复杂，需要刷新。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动态显示实例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下面给出动态显示预存在显示缓冲器中的“01234567”的程序段。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zh-CN" dirty="0"/>
              <a:t>设8255A的端口地址为：</a:t>
            </a:r>
            <a:endParaRPr lang="zh-CN" altLang="zh-CN" dirty="0"/>
          </a:p>
          <a:p>
            <a:pPr lvl="1"/>
            <a:r>
              <a:rPr lang="zh-CN" altLang="zh-CN" dirty="0"/>
              <a:t>Ａ端口：00C0H         B端口：00C2H</a:t>
            </a:r>
            <a:endParaRPr lang="zh-CN" altLang="zh-CN" dirty="0"/>
          </a:p>
          <a:p>
            <a:pPr lvl="1"/>
            <a:r>
              <a:rPr lang="zh-CN" altLang="zh-CN" dirty="0"/>
              <a:t>C端口：00C4H         控制口：00C6H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方式控制字为80H：Ａ组和B组均工作于方式0，Ａ、B端口为输出，C端口未用。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531735" y="1490699"/>
            <a:ext cx="1660265" cy="4318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图</a:t>
            </a:r>
            <a:r>
              <a:rPr lang="zh-CN" altLang="zh-CN"/>
              <a:t>7.29 </a:t>
            </a:r>
            <a:r>
              <a:rPr lang="zh-CN"/>
              <a:t>动态显示的接口电路</a:t>
            </a:r>
            <a:endParaRPr lang="zh-CN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0" y="1139309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84996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47901" y="1501776"/>
            <a:ext cx="7541684" cy="487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6883" y="1846262"/>
            <a:ext cx="1735117" cy="1295400"/>
          </a:xfrm>
        </p:spPr>
        <p:txBody>
          <a:bodyPr/>
          <a:lstStyle/>
          <a:p>
            <a:r>
              <a:rPr lang="zh-CN" altLang="en-US" dirty="0"/>
              <a:t>主要程序段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63189" y="152400"/>
            <a:ext cx="8304811" cy="59785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1600" dirty="0"/>
              <a:t>DISINT：  MOV   DX，00C6H 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 MOV   AL，80H；控制字，A、B端口工作于方式0，A、B口输出，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　OUT   DX，AL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DIS： MOV   BH，80H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MOV   BL，8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MOV   SI，OFFSET  DISBUF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DISLOP：MOV   AL，BH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MOV   DX，00C0H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　OUT    DX，AL；向A口送位码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MOV   DX，00C2H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MOV   AL，[SI] ；向B口送段码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OUT   DX，AL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SHR   BH，1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INC    SI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CALL  DL1MS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DEC  BL 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JNZ  DISLOP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JMP  DIS 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DL1MS：MOV  CX，022BH 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WAT：LOOP  WAT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                   RET</a:t>
            </a:r>
            <a:endParaRPr lang="zh-CN" altLang="en-US" sz="1600" dirty="0"/>
          </a:p>
          <a:p>
            <a:pPr>
              <a:lnSpc>
                <a:spcPct val="80000"/>
              </a:lnSpc>
            </a:pPr>
            <a:r>
              <a:rPr lang="zh-CN" altLang="en-US" sz="1600" dirty="0"/>
              <a:t>显示缓冲器可预先定义如下：</a:t>
            </a:r>
            <a:endParaRPr lang="zh-CN" altLang="en-US" sz="16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/>
              <a:t>       DISBUF   DB   3FH，06H，5BH，4FH，66H，6DH，7DH，07H </a:t>
            </a:r>
            <a:endParaRPr lang="zh-CN" altLang="en-US" sz="160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10787</Words>
  <Application>WPS 演示</Application>
  <PresentationFormat>自定义</PresentationFormat>
  <Paragraphs>1090</Paragraphs>
  <Slides>85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85</vt:i4>
      </vt:variant>
    </vt:vector>
  </HeadingPairs>
  <TitlesOfParts>
    <vt:vector size="100" baseType="lpstr">
      <vt:lpstr>Arial</vt:lpstr>
      <vt:lpstr>宋体</vt:lpstr>
      <vt:lpstr>Wingdings</vt:lpstr>
      <vt:lpstr>微软雅黑</vt:lpstr>
      <vt:lpstr>Arial Unicode MS</vt:lpstr>
      <vt:lpstr>等线</vt:lpstr>
      <vt:lpstr>楷体</vt:lpstr>
      <vt:lpstr>Times New Roman</vt:lpstr>
      <vt:lpstr>Times New Roman</vt:lpstr>
      <vt:lpstr>楷体_GB2312</vt:lpstr>
      <vt:lpstr>新宋体</vt:lpstr>
      <vt:lpstr>Network</vt:lpstr>
      <vt:lpstr>Equation.KSEE3</vt:lpstr>
      <vt:lpstr>Equation.KSEE3</vt:lpstr>
      <vt:lpstr>Equation.KSEE3</vt:lpstr>
      <vt:lpstr>  7.1简单并行接口 </vt:lpstr>
      <vt:lpstr>简单并行接口的特点</vt:lpstr>
      <vt:lpstr>简单并行接口的种类</vt:lpstr>
      <vt:lpstr>1. 三态缓冲器接口</vt:lpstr>
      <vt:lpstr>74LS244的逻辑功能图</vt:lpstr>
      <vt:lpstr>2. 数据锁存器接口</vt:lpstr>
      <vt:lpstr>74LS273的逻辑功能图</vt:lpstr>
      <vt:lpstr>3. 兼具数据锁存器和三态缓冲器的接口</vt:lpstr>
      <vt:lpstr>74LS373的逻辑功能图</vt:lpstr>
      <vt:lpstr>简单并行接口的应用-开关状态读取</vt:lpstr>
      <vt:lpstr>简单并行接口的应用-开关状态读取</vt:lpstr>
      <vt:lpstr>简单并行接口的应用-LED显示</vt:lpstr>
      <vt:lpstr>简单并行接口的应用-LED显示</vt:lpstr>
      <vt:lpstr>7.2 可编程并行接口</vt:lpstr>
      <vt:lpstr>7.2.1 8255A的内部结构和引脚特性</vt:lpstr>
      <vt:lpstr>8255A的内部结构</vt:lpstr>
      <vt:lpstr>8255A的引脚特性</vt:lpstr>
      <vt:lpstr>8255A的引脚特性</vt:lpstr>
      <vt:lpstr>PowerPoint 演示文稿</vt:lpstr>
      <vt:lpstr>8255A与8088CPU的连接</vt:lpstr>
      <vt:lpstr>8255A与8086CPU的连接</vt:lpstr>
      <vt:lpstr>8255A与8086CPU的连接</vt:lpstr>
      <vt:lpstr>7.2.2 方式选择控制字</vt:lpstr>
      <vt:lpstr>方式选择控制字格式</vt:lpstr>
      <vt:lpstr>方式选择控制字设置举例</vt:lpstr>
      <vt:lpstr>端口C置1/置0控制字</vt:lpstr>
      <vt:lpstr>端口C置1/置0控制字格式</vt:lpstr>
      <vt:lpstr>端口C置1/置0控制字设置举例</vt:lpstr>
      <vt:lpstr>7.2.3 8255A的工作方式</vt:lpstr>
      <vt:lpstr>方式0的工作特点</vt:lpstr>
      <vt:lpstr>方式0输入时序</vt:lpstr>
      <vt:lpstr>方式0输出时序</vt:lpstr>
      <vt:lpstr>方式1（选通输入输出）的工作特点</vt:lpstr>
      <vt:lpstr>方式1输入情况下的有关信号</vt:lpstr>
      <vt:lpstr>方式1:A端口输入时对应的控制信号</vt:lpstr>
      <vt:lpstr>方式1:B端口输入时对应的控制信号</vt:lpstr>
      <vt:lpstr>方式1的输入时序</vt:lpstr>
      <vt:lpstr>方式1的中断控制</vt:lpstr>
      <vt:lpstr>方式1输出情况下的有关信号</vt:lpstr>
      <vt:lpstr>方式1 ：A端口输出时对应的控制信号</vt:lpstr>
      <vt:lpstr>方式1:B端口输出时对应的控制信号</vt:lpstr>
      <vt:lpstr>方式1输出时序</vt:lpstr>
      <vt:lpstr>方式2（双向传输）的工作特点</vt:lpstr>
      <vt:lpstr>方式2:A端口双向传输方式的控制信号</vt:lpstr>
      <vt:lpstr>方式2:A端口双向传输方式的控制信号</vt:lpstr>
      <vt:lpstr>方式2 时序</vt:lpstr>
      <vt:lpstr>7.2.4 8255A的编程及应用</vt:lpstr>
      <vt:lpstr>微型打印机及其接口信号</vt:lpstr>
      <vt:lpstr>微型打印机及其接口信号</vt:lpstr>
      <vt:lpstr>微型打印机及其接口信号</vt:lpstr>
      <vt:lpstr>微型打印机的时序</vt:lpstr>
      <vt:lpstr>8255A作为连接打印机的接口，工作于方式0</vt:lpstr>
      <vt:lpstr>8255A作为连接打印机的接口</vt:lpstr>
      <vt:lpstr>打印工作过程</vt:lpstr>
      <vt:lpstr>打印控制程序段</vt:lpstr>
      <vt:lpstr>                         7.3 键盘接口 键盘的类型</vt:lpstr>
      <vt:lpstr>                          键盘的类型</vt:lpstr>
      <vt:lpstr>键盘的类型</vt:lpstr>
      <vt:lpstr>矩阵式键盘的编程</vt:lpstr>
      <vt:lpstr>PowerPoint 演示文稿</vt:lpstr>
      <vt:lpstr>消除抖动</vt:lpstr>
      <vt:lpstr>消除抖动的方法</vt:lpstr>
      <vt:lpstr>生成键码</vt:lpstr>
      <vt:lpstr>行扫描法识别闭合键编程</vt:lpstr>
      <vt:lpstr>第一步：判断是否有键按下</vt:lpstr>
      <vt:lpstr>第一步的程序段</vt:lpstr>
      <vt:lpstr>第二步：判断哪一个键被按下</vt:lpstr>
      <vt:lpstr>第二步的程序段（8行8列的矩阵键盘）</vt:lpstr>
      <vt:lpstr>              7.4 LED显示器接口 7.4.1 LED数码管的工作原理</vt:lpstr>
      <vt:lpstr>共阳数码管</vt:lpstr>
      <vt:lpstr>共阴数码管</vt:lpstr>
      <vt:lpstr>译码</vt:lpstr>
      <vt:lpstr>采用专用芯片进行LED段译码</vt:lpstr>
      <vt:lpstr>软件译码法</vt:lpstr>
      <vt:lpstr>7.4.2 静态显示与动态显示</vt:lpstr>
      <vt:lpstr>静态显示的优缺点</vt:lpstr>
      <vt:lpstr>静态显示与动态显示</vt:lpstr>
      <vt:lpstr>多位LED外观图</vt:lpstr>
      <vt:lpstr>多位LED内部连线图</vt:lpstr>
      <vt:lpstr>动态显示原理</vt:lpstr>
      <vt:lpstr>动态显示原理</vt:lpstr>
      <vt:lpstr>动态显示的优缺点</vt:lpstr>
      <vt:lpstr>动态显示实例</vt:lpstr>
      <vt:lpstr>图7.29 动态显示的接口电路</vt:lpstr>
      <vt:lpstr>主要程序段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Jian</dc:creator>
  <cp:lastModifiedBy>杨领军</cp:lastModifiedBy>
  <cp:revision>79</cp:revision>
  <dcterms:created xsi:type="dcterms:W3CDTF">2021-02-04T09:02:00Z</dcterms:created>
  <dcterms:modified xsi:type="dcterms:W3CDTF">2026-05-18T11:09:16Z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8161CA5413A545CAB4971A10D870B39F_12</vt:lpwstr>
  </property>
  <property fmtid="{D5CDD505-2E9C-101B-9397-08002B2CF9AE}" pid="3" name="KSOProductBuildVer">
    <vt:lpwstr>2052-12.1.0.25865</vt:lpwstr>
  </property>
</Properties>
</file>