
<file path=[Content_Types].xml><?xml version="1.0" encoding="utf-8"?>
<Types xmlns="http://schemas.openxmlformats.org/package/2006/content-types">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259" r:id="rId3"/>
    <p:sldId id="318" r:id="rId4"/>
    <p:sldId id="319" r:id="rId5"/>
    <p:sldId id="262" r:id="rId6"/>
    <p:sldId id="320" r:id="rId7"/>
    <p:sldId id="321" r:id="rId8"/>
    <p:sldId id="322" r:id="rId9"/>
    <p:sldId id="323" r:id="rId10"/>
    <p:sldId id="324" r:id="rId11"/>
    <p:sldId id="325" r:id="rId12"/>
    <p:sldId id="326" r:id="rId13"/>
    <p:sldId id="468" r:id="rId14"/>
    <p:sldId id="469" r:id="rId15"/>
    <p:sldId id="470" r:id="rId16"/>
    <p:sldId id="471" r:id="rId17"/>
    <p:sldId id="472" r:id="rId18"/>
    <p:sldId id="473" r:id="rId19"/>
    <p:sldId id="474" r:id="rId20"/>
    <p:sldId id="475" r:id="rId21"/>
    <p:sldId id="476" r:id="rId22"/>
    <p:sldId id="477" r:id="rId23"/>
    <p:sldId id="478" r:id="rId24"/>
    <p:sldId id="479" r:id="rId25"/>
    <p:sldId id="480" r:id="rId26"/>
    <p:sldId id="481" r:id="rId27"/>
    <p:sldId id="482" r:id="rId28"/>
    <p:sldId id="483" r:id="rId29"/>
    <p:sldId id="484" r:id="rId30"/>
    <p:sldId id="485" r:id="rId31"/>
    <p:sldId id="486" r:id="rId32"/>
    <p:sldId id="518" r:id="rId33"/>
    <p:sldId id="519" r:id="rId34"/>
    <p:sldId id="520" r:id="rId35"/>
    <p:sldId id="521" r:id="rId36"/>
    <p:sldId id="522" r:id="rId37"/>
    <p:sldId id="523" r:id="rId38"/>
    <p:sldId id="524" r:id="rId39"/>
    <p:sldId id="525" r:id="rId40"/>
    <p:sldId id="526" r:id="rId41"/>
    <p:sldId id="527" r:id="rId42"/>
    <p:sldId id="528" r:id="rId43"/>
    <p:sldId id="529" r:id="rId44"/>
    <p:sldId id="530" r:id="rId45"/>
    <p:sldId id="531" r:id="rId46"/>
    <p:sldId id="532" r:id="rId47"/>
    <p:sldId id="533" r:id="rId48"/>
    <p:sldId id="535" r:id="rId49"/>
    <p:sldId id="536" r:id="rId50"/>
    <p:sldId id="537" r:id="rId51"/>
    <p:sldId id="538" r:id="rId52"/>
    <p:sldId id="539" r:id="rId53"/>
    <p:sldId id="540" r:id="rId54"/>
    <p:sldId id="541" r:id="rId55"/>
    <p:sldId id="542" r:id="rId56"/>
    <p:sldId id="543" r:id="rId58"/>
    <p:sldId id="544" r:id="rId59"/>
    <p:sldId id="545" r:id="rId60"/>
    <p:sldId id="546" r:id="rId61"/>
    <p:sldId id="547" r:id="rId62"/>
    <p:sldId id="548" r:id="rId63"/>
    <p:sldId id="549" r:id="rId64"/>
    <p:sldId id="550" r:id="rId65"/>
    <p:sldId id="551" r:id="rId66"/>
    <p:sldId id="552" r:id="rId67"/>
    <p:sldId id="553" r:id="rId68"/>
    <p:sldId id="554" r:id="rId69"/>
    <p:sldId id="555" r:id="rId70"/>
    <p:sldId id="556" r:id="rId71"/>
    <p:sldId id="487" r:id="rId72"/>
    <p:sldId id="489" r:id="rId73"/>
    <p:sldId id="490" r:id="rId74"/>
    <p:sldId id="491" r:id="rId75"/>
    <p:sldId id="492" r:id="rId76"/>
    <p:sldId id="493" r:id="rId77"/>
    <p:sldId id="494" r:id="rId78"/>
    <p:sldId id="495" r:id="rId79"/>
    <p:sldId id="496" r:id="rId80"/>
    <p:sldId id="497" r:id="rId81"/>
    <p:sldId id="498" r:id="rId82"/>
    <p:sldId id="499" r:id="rId83"/>
    <p:sldId id="500" r:id="rId84"/>
    <p:sldId id="501" r:id="rId85"/>
    <p:sldId id="502" r:id="rId86"/>
    <p:sldId id="503" r:id="rId87"/>
    <p:sldId id="504" r:id="rId88"/>
    <p:sldId id="505" r:id="rId89"/>
    <p:sldId id="506" r:id="rId90"/>
    <p:sldId id="507" r:id="rId91"/>
    <p:sldId id="508" r:id="rId92"/>
    <p:sldId id="509" r:id="rId93"/>
    <p:sldId id="510" r:id="rId94"/>
    <p:sldId id="511" r:id="rId95"/>
    <p:sldId id="512" r:id="rId96"/>
    <p:sldId id="513" r:id="rId97"/>
    <p:sldId id="514" r:id="rId98"/>
    <p:sldId id="515" r:id="rId99"/>
    <p:sldId id="516" r:id="rId100"/>
    <p:sldId id="517" r:id="rId10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showGuides="1">
      <p:cViewPr varScale="1">
        <p:scale>
          <a:sx n="107" d="100"/>
          <a:sy n="107" d="100"/>
        </p:scale>
        <p:origin x="-102"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notesMaster" Target="notesMasters/notesMaster1.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79A3BD-9D4B-4A17-89AD-AB8D99722C6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4F641-F5F8-49D6-AB8D-CF80F2600D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t>中断类型</a:t>
            </a:r>
            <a:r>
              <a:rPr lang="en-US" altLang="zh-CN" sz="1200" dirty="0"/>
              <a:t>5~31</a:t>
            </a:r>
            <a:r>
              <a:rPr lang="zh-CN" altLang="zh-CN" sz="1200" dirty="0"/>
              <a:t>是</a:t>
            </a:r>
            <a:r>
              <a:rPr lang="en-US" altLang="zh-CN" sz="1200" dirty="0"/>
              <a:t>Intel</a:t>
            </a:r>
            <a:r>
              <a:rPr lang="zh-CN" altLang="zh-CN" sz="1200" dirty="0"/>
              <a:t>为微处理器后继发展而保留的微处理器专用中断类型，也属于内部中断。</a:t>
            </a:r>
            <a:endParaRPr lang="en-US" altLang="zh-CN" sz="1200" dirty="0"/>
          </a:p>
          <a:p>
            <a:r>
              <a:rPr lang="zh-CN" altLang="zh-CN" sz="1200" dirty="0"/>
              <a:t>从类型</a:t>
            </a:r>
            <a:r>
              <a:rPr lang="en-US" altLang="zh-CN" sz="1200" dirty="0"/>
              <a:t>32</a:t>
            </a:r>
            <a:r>
              <a:rPr lang="zh-CN" altLang="zh-CN" sz="1200" dirty="0"/>
              <a:t>开始直到</a:t>
            </a:r>
            <a:r>
              <a:rPr lang="en-US" altLang="zh-CN" sz="1200" dirty="0"/>
              <a:t>255</a:t>
            </a:r>
            <a:r>
              <a:rPr lang="zh-CN" altLang="zh-CN" sz="1200" dirty="0"/>
              <a:t>作为用户中断类型，这其中既包括由中断指令</a:t>
            </a:r>
            <a:r>
              <a:rPr lang="en-US" altLang="zh-CN" sz="1200" dirty="0"/>
              <a:t>INT n</a:t>
            </a:r>
            <a:r>
              <a:rPr lang="zh-CN" altLang="zh-CN" sz="1200" dirty="0"/>
              <a:t>产生的内部中断，如</a:t>
            </a:r>
            <a:r>
              <a:rPr lang="en-US" altLang="zh-CN" sz="1200" dirty="0"/>
              <a:t>INT 20H</a:t>
            </a:r>
            <a:r>
              <a:rPr lang="zh-CN" altLang="zh-CN" sz="1200" dirty="0"/>
              <a:t>、</a:t>
            </a:r>
            <a:r>
              <a:rPr lang="en-US" altLang="zh-CN" sz="1200" dirty="0"/>
              <a:t>INT 21H</a:t>
            </a:r>
            <a:r>
              <a:rPr lang="zh-CN" altLang="zh-CN" sz="1200" dirty="0"/>
              <a:t>；也包括由</a:t>
            </a:r>
            <a:r>
              <a:rPr lang="en-US" altLang="zh-CN" sz="1200" dirty="0"/>
              <a:t>INTR</a:t>
            </a:r>
            <a:r>
              <a:rPr lang="zh-CN" altLang="zh-CN" sz="1200" dirty="0"/>
              <a:t>引脚电平引起的硬件中断。硬件中断属于外部中断，</a:t>
            </a:r>
            <a:r>
              <a:rPr lang="en-US" altLang="zh-CN" sz="1200" dirty="0"/>
              <a:t>CPU</a:t>
            </a:r>
            <a:r>
              <a:rPr lang="zh-CN" altLang="zh-CN" sz="1200" dirty="0"/>
              <a:t>通过中断响应总线周期从中断控制器获得它的中断向量码。</a:t>
            </a:r>
            <a:endParaRPr lang="zh-CN" altLang="zh-CN" sz="1200"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CE19742-83F5-42F2-B950-DC671C90E644}"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CE19742-83F5-42F2-B950-DC671C90E644}"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D7C4D2-4ED7-4693-92D7-EB6058F2DBD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nvGrpSpPr>
          <p:cNvPr id="5" name="Group 8"/>
          <p:cNvGrpSpPr/>
          <p:nvPr/>
        </p:nvGrpSpPr>
        <p:grpSpPr bwMode="auto">
          <a:xfrm>
            <a:off x="9990667" y="2992438"/>
            <a:ext cx="1784351"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
        <p:nvSpPr>
          <p:cNvPr id="37" name="Line 40"/>
          <p:cNvSpPr>
            <a:spLocks noChangeShapeType="1"/>
          </p:cNvSpPr>
          <p:nvPr/>
        </p:nvSpPr>
        <p:spPr bwMode="auto">
          <a:xfrm>
            <a:off x="406400" y="2819400"/>
            <a:ext cx="109728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75107" name="Rectangle 3"/>
          <p:cNvSpPr>
            <a:spLocks noGrp="1" noChangeArrowheads="1"/>
          </p:cNvSpPr>
          <p:nvPr>
            <p:ph type="ctrTitle"/>
          </p:nvPr>
        </p:nvSpPr>
        <p:spPr>
          <a:xfrm>
            <a:off x="421217" y="466725"/>
            <a:ext cx="9042400" cy="2133600"/>
          </a:xfrm>
        </p:spPr>
        <p:txBody>
          <a:bodyPr/>
          <a:lstStyle>
            <a:lvl1pPr>
              <a:defRPr/>
            </a:lvl1pPr>
          </a:lstStyle>
          <a:p>
            <a:pPr lvl="0"/>
            <a:r>
              <a:rPr lang="en-US" altLang="zh-CN" noProof="0"/>
              <a:t>单击此处编辑母版标题样式</a:t>
            </a:r>
            <a:endParaRPr lang="en-US" altLang="zh-CN" noProof="0"/>
          </a:p>
        </p:txBody>
      </p:sp>
      <p:sp>
        <p:nvSpPr>
          <p:cNvPr id="175108" name="Rectangle 4"/>
          <p:cNvSpPr>
            <a:spLocks noGrp="1" noChangeArrowheads="1"/>
          </p:cNvSpPr>
          <p:nvPr>
            <p:ph type="subTitle" idx="1"/>
          </p:nvPr>
        </p:nvSpPr>
        <p:spPr>
          <a:xfrm>
            <a:off x="1132417" y="3049588"/>
            <a:ext cx="8331200" cy="2362200"/>
          </a:xfrm>
        </p:spPr>
        <p:txBody>
          <a:bodyPr/>
          <a:lstStyle>
            <a:lvl1pPr marL="0" indent="0" algn="ctr">
              <a:buFont typeface="Wingdings" panose="05000000000000000000" pitchFamily="2" charset="2"/>
              <a:buNone/>
              <a:defRPr/>
            </a:lvl1pPr>
          </a:lstStyle>
          <a:p>
            <a:pPr lvl="0"/>
            <a:r>
              <a:rPr lang="en-US" altLang="zh-CN" noProof="0"/>
              <a:t>单击此处编辑母版副标题样式</a:t>
            </a:r>
            <a:endParaRPr lang="en-US" altLang="zh-CN" noProof="0"/>
          </a:p>
        </p:txBody>
      </p:sp>
      <p:sp>
        <p:nvSpPr>
          <p:cNvPr id="38" name="Rectangle 5"/>
          <p:cNvSpPr>
            <a:spLocks noGrp="1" noChangeArrowheads="1"/>
          </p:cNvSpPr>
          <p:nvPr>
            <p:ph type="dt" sz="half" idx="10"/>
          </p:nvPr>
        </p:nvSpPr>
        <p:spPr/>
        <p:txBody>
          <a:bodyPr/>
          <a:lstStyle>
            <a:lvl1pPr>
              <a:defRPr smtClean="0"/>
            </a:lvl1pPr>
          </a:lstStyle>
          <a:p>
            <a:pPr>
              <a:defRPr/>
            </a:pPr>
            <a:fld id="{B987ED82-D1A3-45FE-80F8-86D8D28D03CD}" type="datetime1">
              <a:rPr lang="zh-CN" altLang="en-US"/>
            </a:fld>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F04872D5-BB51-432C-B3A3-4E481E81D33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1" y="1719263"/>
            <a:ext cx="10058400" cy="4411662"/>
          </a:xfrm>
        </p:spPr>
        <p:txBody>
          <a:bodyPr/>
          <a:lstStyle>
            <a:lvl1pPr>
              <a:buFont typeface="Wingdings" panose="05000000000000000000" pitchFamily="2" charset="2"/>
              <a:buChar char="u"/>
              <a:defRPr sz="2800"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a:defRPr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vl5pPr>
              <a:defRPr baseline="0">
                <a:latin typeface="Arial" panose="020B0604020202020204" pitchFamily="34" charset="0"/>
                <a:ea typeface="宋体" panose="02010600030101010101" pitchFamily="2"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Rectangle 5"/>
          <p:cNvSpPr>
            <a:spLocks noGrp="1" noChangeArrowheads="1"/>
          </p:cNvSpPr>
          <p:nvPr>
            <p:ph type="dt" sz="half" idx="10"/>
          </p:nvPr>
        </p:nvSpPr>
        <p:spPr/>
        <p:txBody>
          <a:bodyPr/>
          <a:lstStyle>
            <a:lvl1pPr>
              <a:defRPr/>
            </a:lvl1pPr>
          </a:lstStyle>
          <a:p>
            <a:pPr>
              <a:defRPr/>
            </a:pPr>
            <a:fld id="{FFCF43AE-F8FD-49EE-9553-888B016E31A5}" type="datetime1">
              <a:rPr lang="zh-CN" altLang="en-US"/>
            </a:fld>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F4C0CD6-327D-499A-9754-0F1E4D84582B}" type="slidenum">
              <a:rPr lang="en-US" altLang="zh-CN"/>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4630820B-D0F1-47EF-A8DA-9994F9F83B6C}"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C6CC5FF-F08F-495A-851B-EA259259A747}"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69117693-7908-4A91-B471-8FEF6DA281B2}"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55274614-4E03-4DCB-98CE-097C97818E7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fld id="{88C2CC61-C6FC-4A0D-9DB9-9F02363F5AE9}" type="datetime1">
              <a:rPr lang="zh-CN" altLang="en-US"/>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F89CEBCD-7FCF-484B-9305-64C83D94B2D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fld id="{696741FA-DDBC-4EA0-94D5-FBD8154C3488}" type="datetime1">
              <a:rPr lang="zh-CN" altLang="en-US"/>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074A460-7B25-4553-A69A-B2BB29F6AC2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9E163E86-D2F7-47EE-8733-36D525731CFA}" type="datetime1">
              <a:rPr lang="zh-CN" altLang="en-US"/>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302A3EF1-332A-4F12-8EA6-9ED17615C70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71B77AC4-9B6B-4955-98AD-6DB523334E40}"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BF467FF3-FD84-43F7-9698-CD5E53E22EED}"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12B7E4C-ECAE-4348-B44D-B6E27617DF07}"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7AF11EB-CA78-49BC-B922-1C8209DB6A3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7DA0FF42-8979-4AE7-AB32-AB2B478435C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BCA54F1-1552-454D-8C86-18F7606D260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2239"/>
            <a:ext cx="8026400" cy="600868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D76E9331-9EC7-4BC1-9F19-95838F0AB25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55095CD-4004-401E-BA56-829390CFAA6A}"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1295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BFF7F5F-45AA-4834-B66F-E424254E1B5E}"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9A6D292-B2CC-4663-B63B-6660727BF522}"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D1AB02EF-D5CD-4BA2-B04A-82AD185E921F}" type="datetime1">
              <a:rPr lang="zh-CN" altLang="en-US" smtClean="0"/>
            </a:fld>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6" name="内容占位符 2"/>
          <p:cNvSpPr>
            <a:spLocks noGrp="1"/>
          </p:cNvSpPr>
          <p:nvPr>
            <p:ph idx="1"/>
          </p:nvPr>
        </p:nvSpPr>
        <p:spPr>
          <a:xfrm>
            <a:off x="527382" y="1556792"/>
            <a:ext cx="11137237" cy="47058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106172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27"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dirty="0" err="1"/>
              <a:t>单击此处编辑母版标题样式</a:t>
            </a:r>
            <a:endParaRPr lang="en-US" altLang="zh-CN" dirty="0"/>
          </a:p>
        </p:txBody>
      </p:sp>
      <p:sp>
        <p:nvSpPr>
          <p:cNvPr id="1028" name="Rectangle 4"/>
          <p:cNvSpPr>
            <a:spLocks noGrp="1" noChangeArrowheads="1"/>
          </p:cNvSpPr>
          <p:nvPr>
            <p:ph type="body" idx="1"/>
          </p:nvPr>
        </p:nvSpPr>
        <p:spPr bwMode="auto">
          <a:xfrm>
            <a:off x="609600" y="1719263"/>
            <a:ext cx="10101541"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174085" name="Rectangle 5"/>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t" anchorCtr="0" compatLnSpc="1"/>
          <a:lstStyle>
            <a:lvl1pPr eaLnBrk="1" hangingPunct="1">
              <a:defRPr sz="1000" smtClean="0"/>
            </a:lvl1pPr>
          </a:lstStyle>
          <a:p>
            <a:pPr>
              <a:defRPr/>
            </a:pPr>
            <a:fld id="{054E35A8-292F-4AEC-B83B-BB31DB8FE108}" type="datetime1">
              <a:rPr lang="zh-CN" altLang="en-US"/>
            </a:fld>
            <a:endParaRPr lang="en-US" altLang="zh-CN"/>
          </a:p>
        </p:txBody>
      </p:sp>
      <p:sp>
        <p:nvSpPr>
          <p:cNvPr id="174086" name="Rectangle 6"/>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lstStyle>
            <a:lvl1pPr algn="ctr" eaLnBrk="1" hangingPunct="1">
              <a:defRPr sz="1000"/>
            </a:lvl1pPr>
          </a:lstStyle>
          <a:p>
            <a:pPr>
              <a:defRPr/>
            </a:pPr>
            <a:r>
              <a:rPr lang="en-US" altLang="zh-CN"/>
              <a:t>逻辑代数基础----《数字电路》</a:t>
            </a:r>
            <a:endParaRPr lang="en-US" altLang="zh-CN"/>
          </a:p>
        </p:txBody>
      </p:sp>
      <p:sp>
        <p:nvSpPr>
          <p:cNvPr id="174087" name="Rectangle 7"/>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t" anchorCtr="0" compatLnSpc="1"/>
          <a:lstStyle>
            <a:lvl1pPr algn="r" eaLnBrk="1" hangingPunct="1">
              <a:defRPr sz="1000" smtClean="0"/>
            </a:lvl1pPr>
          </a:lstStyle>
          <a:p>
            <a:pPr>
              <a:defRPr/>
            </a:pPr>
            <a:fld id="{1A8543FF-F682-49C5-9892-9CF2B52A8733}" type="slidenum">
              <a:rPr lang="en-US" altLang="zh-CN"/>
            </a:fld>
            <a:endParaRPr lang="en-US" altLang="zh-CN"/>
          </a:p>
        </p:txBody>
      </p:sp>
      <p:grpSp>
        <p:nvGrpSpPr>
          <p:cNvPr id="1032" name="Group 8"/>
          <p:cNvGrpSpPr/>
          <p:nvPr/>
        </p:nvGrpSpPr>
        <p:grpSpPr bwMode="auto">
          <a:xfrm>
            <a:off x="10871201" y="152400"/>
            <a:ext cx="1056217"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4"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5"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6"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7"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8"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9"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0"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1"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2"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3"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4"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6"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7"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8"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0"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1"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2"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4"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5"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6"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7"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8"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9"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0"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1"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2"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3"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ctr" rtl="0" eaLnBrk="0" fontAlgn="base" hangingPunct="0">
        <a:spcBef>
          <a:spcPct val="0"/>
        </a:spcBef>
        <a:spcAft>
          <a:spcPct val="0"/>
        </a:spcAft>
        <a:defRPr sz="3900" b="1" kern="1200">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2800" kern="1200">
          <a:solidFill>
            <a:schemeClr val="tx1"/>
          </a:solidFill>
          <a:latin typeface="+mn-ea"/>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e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8.w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wmf"/></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wmf"/></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wmf"/></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w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wmf"/></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wm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image" Target="../media/image2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6</a:t>
            </a:r>
            <a:r>
              <a:rPr lang="zh-CN" altLang="en-US" dirty="0"/>
              <a:t>章  输入</a:t>
            </a:r>
            <a:r>
              <a:rPr lang="en-US" altLang="zh-CN" dirty="0"/>
              <a:t>/</a:t>
            </a:r>
            <a:r>
              <a:rPr lang="zh-CN" altLang="en-US" dirty="0" smtClean="0"/>
              <a:t>输出与中断</a:t>
            </a:r>
            <a:endParaRPr lang="zh-CN" altLang="en-US" dirty="0"/>
          </a:p>
        </p:txBody>
      </p:sp>
      <p:sp>
        <p:nvSpPr>
          <p:cNvPr id="3" name="内容占位符 2"/>
          <p:cNvSpPr>
            <a:spLocks noGrp="1"/>
          </p:cNvSpPr>
          <p:nvPr>
            <p:ph idx="1"/>
          </p:nvPr>
        </p:nvSpPr>
        <p:spPr/>
        <p:txBody>
          <a:bodyPr/>
          <a:lstStyle/>
          <a:p>
            <a:r>
              <a:rPr lang="zh-CN" altLang="en-US" dirty="0"/>
              <a:t>输入</a:t>
            </a:r>
            <a:r>
              <a:rPr lang="en-US" altLang="zh-CN" dirty="0"/>
              <a:t>/</a:t>
            </a:r>
            <a:r>
              <a:rPr lang="zh-CN" altLang="en-US" dirty="0"/>
              <a:t>输出接口的功能</a:t>
            </a:r>
            <a:endParaRPr lang="zh-CN" altLang="en-US" dirty="0"/>
          </a:p>
          <a:p>
            <a:r>
              <a:rPr lang="en-US" altLang="zh-CN" dirty="0"/>
              <a:t>CPU</a:t>
            </a:r>
            <a:r>
              <a:rPr lang="zh-CN" altLang="en-US" dirty="0"/>
              <a:t>与输入</a:t>
            </a:r>
            <a:r>
              <a:rPr lang="en-US" altLang="zh-CN" dirty="0"/>
              <a:t>/</a:t>
            </a:r>
            <a:r>
              <a:rPr lang="zh-CN" altLang="en-US" dirty="0"/>
              <a:t>输出接口之间的信息</a:t>
            </a:r>
            <a:endParaRPr lang="en-US" altLang="zh-CN" dirty="0"/>
          </a:p>
          <a:p>
            <a:r>
              <a:rPr lang="zh-CN" altLang="en-US" dirty="0"/>
              <a:t>输入</a:t>
            </a:r>
            <a:r>
              <a:rPr lang="en-US" altLang="zh-CN" dirty="0"/>
              <a:t>/</a:t>
            </a:r>
            <a:r>
              <a:rPr lang="zh-CN" altLang="en-US" dirty="0"/>
              <a:t>输出端口的编址</a:t>
            </a:r>
            <a:r>
              <a:rPr lang="zh-CN" altLang="en-US" dirty="0" smtClean="0"/>
              <a:t>方式</a:t>
            </a:r>
            <a:endParaRPr lang="en-US" altLang="zh-CN" dirty="0" smtClean="0"/>
          </a:p>
          <a:p>
            <a:r>
              <a:rPr lang="zh-CN" altLang="en-US" dirty="0" smtClean="0"/>
              <a:t>中断技术</a:t>
            </a:r>
            <a:endParaRPr lang="en-US" altLang="zh-CN" dirty="0"/>
          </a:p>
          <a:p>
            <a:r>
              <a:rPr lang="zh-CN" altLang="en-US" dirty="0" smtClean="0"/>
              <a:t>中断控制器</a:t>
            </a:r>
            <a:r>
              <a:rPr lang="en-US" altLang="zh-CN" dirty="0" smtClean="0"/>
              <a:t>8259A</a:t>
            </a:r>
            <a:endParaRPr lang="en-US" altLang="zh-C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8383" y="1384660"/>
            <a:ext cx="6072414" cy="4940936"/>
          </a:xfrm>
        </p:spPr>
        <p:txBody>
          <a:bodyPr>
            <a:noAutofit/>
          </a:bodyPr>
          <a:lstStyle/>
          <a:p>
            <a:r>
              <a:rPr lang="zh-CN" altLang="en-US" dirty="0"/>
              <a:t>在</a:t>
            </a:r>
            <a:r>
              <a:rPr lang="en-US" altLang="zh-CN" dirty="0"/>
              <a:t>CPU</a:t>
            </a:r>
            <a:r>
              <a:rPr lang="zh-CN" altLang="en-US" dirty="0"/>
              <a:t>与外部设备进行信息交换时至少有两方面的困难：</a:t>
            </a:r>
            <a:endParaRPr lang="en-US" altLang="zh-CN" dirty="0"/>
          </a:p>
          <a:p>
            <a:pPr lvl="1"/>
            <a:r>
              <a:rPr lang="en-US" altLang="zh-CN" dirty="0"/>
              <a:t>CPU</a:t>
            </a:r>
            <a:r>
              <a:rPr lang="zh-CN" altLang="en-US" dirty="0"/>
              <a:t>和外设的速度差异非常大</a:t>
            </a:r>
            <a:endParaRPr lang="en-US" altLang="zh-CN" dirty="0"/>
          </a:p>
          <a:p>
            <a:pPr lvl="1"/>
            <a:r>
              <a:rPr lang="en-US" altLang="zh-CN" dirty="0"/>
              <a:t>CPU</a:t>
            </a:r>
            <a:r>
              <a:rPr lang="zh-CN" altLang="en-US" dirty="0"/>
              <a:t>不能和外设直接通过引脚连接</a:t>
            </a:r>
            <a:endParaRPr lang="zh-CN" altLang="en-US" dirty="0"/>
          </a:p>
          <a:p>
            <a:r>
              <a:rPr lang="en-US" altLang="zh-CN" dirty="0"/>
              <a:t>CPU</a:t>
            </a:r>
            <a:r>
              <a:rPr lang="zh-CN" altLang="en-US" dirty="0"/>
              <a:t>和外设之间必须要设置输入</a:t>
            </a:r>
            <a:r>
              <a:rPr lang="en-US" altLang="zh-CN" dirty="0"/>
              <a:t>/</a:t>
            </a:r>
            <a:r>
              <a:rPr lang="zh-CN" altLang="en-US" dirty="0"/>
              <a:t>输出接口</a:t>
            </a:r>
            <a:r>
              <a:rPr lang="en-US" altLang="zh-CN" dirty="0"/>
              <a:t>(I/O</a:t>
            </a:r>
            <a:r>
              <a:rPr lang="zh-CN" altLang="en-US" dirty="0"/>
              <a:t>接口</a:t>
            </a:r>
            <a:r>
              <a:rPr lang="en-US" altLang="zh-CN" dirty="0"/>
              <a:t>)</a:t>
            </a:r>
            <a:r>
              <a:rPr lang="zh-CN" altLang="en-US" dirty="0"/>
              <a:t>，作为</a:t>
            </a:r>
            <a:r>
              <a:rPr lang="en-US" altLang="zh-CN" dirty="0"/>
              <a:t>CPU</a:t>
            </a:r>
            <a:r>
              <a:rPr lang="zh-CN" altLang="en-US" dirty="0"/>
              <a:t>与外设进行信息交换的桥梁。</a:t>
            </a:r>
            <a:endParaRPr lang="zh-CN" altLang="en-US" dirty="0"/>
          </a:p>
        </p:txBody>
      </p:sp>
      <p:grpSp>
        <p:nvGrpSpPr>
          <p:cNvPr id="4" name="Group 4"/>
          <p:cNvGrpSpPr/>
          <p:nvPr/>
        </p:nvGrpSpPr>
        <p:grpSpPr bwMode="auto">
          <a:xfrm>
            <a:off x="6579689" y="2436677"/>
            <a:ext cx="3429000" cy="1676400"/>
            <a:chOff x="0" y="0"/>
            <a:chExt cx="2160" cy="1056"/>
          </a:xfrm>
        </p:grpSpPr>
        <p:sp>
          <p:nvSpPr>
            <p:cNvPr id="5" name="Rectangle 5"/>
            <p:cNvSpPr>
              <a:spLocks noChangeArrowheads="1"/>
            </p:cNvSpPr>
            <p:nvPr/>
          </p:nvSpPr>
          <p:spPr bwMode="auto">
            <a:xfrm>
              <a:off x="0" y="0"/>
              <a:ext cx="480" cy="1056"/>
            </a:xfrm>
            <a:prstGeom prst="rect">
              <a:avLst/>
            </a:prstGeom>
            <a:solidFill>
              <a:srgbClr val="FFCC99"/>
            </a:solidFill>
            <a:ln>
              <a:noFill/>
            </a:ln>
            <a:effectLst>
              <a:prstShdw prst="shdw17" dist="17961" dir="2700000">
                <a:srgbClr val="FFCC99">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zh-CN" b="1">
                  <a:effectLst>
                    <a:outerShdw blurRad="38100" dist="38100" dir="2700000" algn="tl">
                      <a:srgbClr val="FFFFFF"/>
                    </a:outerShdw>
                  </a:effectLst>
                  <a:ea typeface="宋体" panose="02010600030101010101" pitchFamily="2" charset="-122"/>
                </a:rPr>
                <a:t>CPU</a:t>
              </a:r>
              <a:endParaRPr lang="zh-CN" altLang="zh-CN" b="1">
                <a:effectLst>
                  <a:outerShdw blurRad="38100" dist="38100" dir="2700000" algn="tl">
                    <a:srgbClr val="FFFFFF"/>
                  </a:outerShdw>
                </a:effectLst>
                <a:ea typeface="宋体" panose="02010600030101010101" pitchFamily="2" charset="-122"/>
              </a:endParaRPr>
            </a:p>
          </p:txBody>
        </p:sp>
        <p:sp>
          <p:nvSpPr>
            <p:cNvPr id="6" name="Rectangle 6"/>
            <p:cNvSpPr>
              <a:spLocks noChangeArrowheads="1"/>
            </p:cNvSpPr>
            <p:nvPr/>
          </p:nvSpPr>
          <p:spPr bwMode="auto">
            <a:xfrm>
              <a:off x="1680" y="0"/>
              <a:ext cx="480" cy="1056"/>
            </a:xfrm>
            <a:prstGeom prst="rect">
              <a:avLst/>
            </a:prstGeom>
            <a:solidFill>
              <a:srgbClr val="99FFCC"/>
            </a:solidFill>
            <a:ln>
              <a:noFill/>
            </a:ln>
            <a:effectLst>
              <a:prstShdw prst="shdw17" dist="17961" dir="2700000">
                <a:srgbClr val="99FFCC">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 name="Rectangle 7"/>
            <p:cNvSpPr>
              <a:spLocks noChangeArrowheads="1"/>
            </p:cNvSpPr>
            <p:nvPr/>
          </p:nvSpPr>
          <p:spPr bwMode="auto">
            <a:xfrm>
              <a:off x="864" y="0"/>
              <a:ext cx="432" cy="1056"/>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sz="1800" b="1" dirty="0">
                  <a:effectLst>
                    <a:outerShdw blurRad="38100" dist="38100" dir="2700000" algn="tl">
                      <a:srgbClr val="FFFFFF"/>
                    </a:outerShdw>
                  </a:effectLst>
                  <a:ea typeface="宋体" panose="02010600030101010101" pitchFamily="2" charset="-122"/>
                </a:rPr>
                <a:t>接口</a:t>
              </a:r>
              <a:endParaRPr lang="zh-CN" altLang="zh-CN" sz="1800" b="1" dirty="0">
                <a:effectLst>
                  <a:outerShdw blurRad="38100" dist="38100" dir="2700000" algn="tl">
                    <a:srgbClr val="FFFFFF"/>
                  </a:outerShdw>
                </a:effectLst>
                <a:ea typeface="宋体" panose="02010600030101010101" pitchFamily="2" charset="-122"/>
              </a:endParaRPr>
            </a:p>
            <a:p>
              <a:pPr algn="ctr"/>
              <a:r>
                <a:rPr lang="zh-CN" altLang="zh-CN" sz="1800" b="1" dirty="0">
                  <a:effectLst>
                    <a:outerShdw blurRad="38100" dist="38100" dir="2700000" algn="tl">
                      <a:srgbClr val="FFFFFF"/>
                    </a:outerShdw>
                  </a:effectLst>
                  <a:ea typeface="宋体" panose="02010600030101010101" pitchFamily="2" charset="-122"/>
                </a:rPr>
                <a:t>电路</a:t>
              </a:r>
              <a:endParaRPr lang="zh-CN" altLang="zh-CN" sz="1800" b="1" dirty="0">
                <a:effectLst>
                  <a:outerShdw blurRad="38100" dist="38100" dir="2700000" algn="tl">
                    <a:srgbClr val="FFFFFF"/>
                  </a:outerShdw>
                </a:effectLst>
                <a:ea typeface="宋体" panose="02010600030101010101" pitchFamily="2" charset="-122"/>
              </a:endParaRPr>
            </a:p>
          </p:txBody>
        </p:sp>
        <p:sp>
          <p:nvSpPr>
            <p:cNvPr id="8" name="Text Box 8"/>
            <p:cNvSpPr txBox="1">
              <a:spLocks noChangeArrowheads="1"/>
            </p:cNvSpPr>
            <p:nvPr/>
          </p:nvSpPr>
          <p:spPr bwMode="auto">
            <a:xfrm>
              <a:off x="1680" y="288"/>
              <a:ext cx="480"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70000"/>
                </a:lnSpc>
                <a:spcBef>
                  <a:spcPct val="50000"/>
                </a:spcBef>
              </a:pPr>
              <a:r>
                <a:rPr lang="zh-CN" altLang="zh-CN" sz="1800" b="1">
                  <a:effectLst>
                    <a:outerShdw blurRad="38100" dist="38100" dir="2700000" algn="tl">
                      <a:srgbClr val="C0C0C0"/>
                    </a:outerShdw>
                  </a:effectLst>
                  <a:ea typeface="宋体" panose="02010600030101010101" pitchFamily="2" charset="-122"/>
                </a:rPr>
                <a:t> I/O</a:t>
              </a:r>
              <a:endParaRPr lang="zh-CN" altLang="zh-CN" sz="1800" b="1">
                <a:effectLst>
                  <a:outerShdw blurRad="38100" dist="38100" dir="2700000" algn="tl">
                    <a:srgbClr val="C0C0C0"/>
                  </a:outerShdw>
                </a:effectLst>
                <a:ea typeface="宋体" panose="02010600030101010101" pitchFamily="2" charset="-122"/>
              </a:endParaRPr>
            </a:p>
            <a:p>
              <a:pPr algn="l">
                <a:lnSpc>
                  <a:spcPct val="70000"/>
                </a:lnSpc>
                <a:spcBef>
                  <a:spcPct val="50000"/>
                </a:spcBef>
              </a:pPr>
              <a:r>
                <a:rPr lang="zh-CN" altLang="zh-CN" sz="1800" b="1">
                  <a:effectLst>
                    <a:outerShdw blurRad="38100" dist="38100" dir="2700000" algn="tl">
                      <a:srgbClr val="C0C0C0"/>
                    </a:outerShdw>
                  </a:effectLst>
                  <a:ea typeface="宋体" panose="02010600030101010101" pitchFamily="2" charset="-122"/>
                </a:rPr>
                <a:t>设备</a:t>
              </a:r>
              <a:endParaRPr lang="zh-CN" altLang="zh-CN" sz="1800" b="1">
                <a:effectLst>
                  <a:outerShdw blurRad="38100" dist="38100" dir="2700000" algn="tl">
                    <a:srgbClr val="C0C0C0"/>
                  </a:outerShdw>
                </a:effectLst>
                <a:ea typeface="宋体" panose="02010600030101010101" pitchFamily="2" charset="-122"/>
              </a:endParaRPr>
            </a:p>
          </p:txBody>
        </p:sp>
        <p:sp>
          <p:nvSpPr>
            <p:cNvPr id="9" name="Line 9"/>
            <p:cNvSpPr>
              <a:spLocks noChangeShapeType="1"/>
            </p:cNvSpPr>
            <p:nvPr/>
          </p:nvSpPr>
          <p:spPr bwMode="auto">
            <a:xfrm>
              <a:off x="480" y="480"/>
              <a:ext cx="384" cy="0"/>
            </a:xfrm>
            <a:prstGeom prst="line">
              <a:avLst/>
            </a:prstGeom>
            <a:noFill/>
            <a:ln w="76200" cmpd="tri">
              <a:solidFill>
                <a:srgbClr val="008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0"/>
            <p:cNvSpPr>
              <a:spLocks noChangeShapeType="1"/>
            </p:cNvSpPr>
            <p:nvPr/>
          </p:nvSpPr>
          <p:spPr bwMode="auto">
            <a:xfrm>
              <a:off x="1296" y="480"/>
              <a:ext cx="384" cy="0"/>
            </a:xfrm>
            <a:prstGeom prst="line">
              <a:avLst/>
            </a:prstGeom>
            <a:noFill/>
            <a:ln w="76200" cmpd="tri">
              <a:solidFill>
                <a:srgbClr val="008080"/>
              </a:solidFill>
              <a:round/>
              <a:headEnd type="triangle" w="med" len="sm"/>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 name="标题 1"/>
          <p:cNvSpPr>
            <a:spLocks noGrp="1"/>
          </p:cNvSpPr>
          <p:nvPr>
            <p:ph type="title"/>
          </p:nvPr>
        </p:nvSpPr>
        <p:spPr>
          <a:xfrm>
            <a:off x="609600" y="0"/>
            <a:ext cx="10058400" cy="1295400"/>
          </a:xfrm>
        </p:spPr>
        <p:txBody>
          <a:bodyPr/>
          <a:lstStyle/>
          <a:p>
            <a:r>
              <a:rPr lang="en-US" altLang="zh-CN" dirty="0" smtClean="0"/>
              <a:t>6.1 </a:t>
            </a:r>
            <a:r>
              <a:rPr lang="zh-CN" altLang="en-US" dirty="0" smtClean="0"/>
              <a:t>输入输出接口概述</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6.1.1 </a:t>
            </a:r>
            <a:r>
              <a:rPr lang="zh-CN" altLang="en-US" dirty="0" smtClean="0"/>
              <a:t>输入</a:t>
            </a:r>
            <a:r>
              <a:rPr lang="en-US" altLang="zh-CN" dirty="0"/>
              <a:t>/</a:t>
            </a:r>
            <a:r>
              <a:rPr lang="zh-CN" altLang="en-US" dirty="0"/>
              <a:t>输出接口的功能</a:t>
            </a:r>
            <a:endParaRPr lang="zh-CN" altLang="en-US" dirty="0"/>
          </a:p>
        </p:txBody>
      </p:sp>
      <p:sp>
        <p:nvSpPr>
          <p:cNvPr id="3" name="内容占位符 2"/>
          <p:cNvSpPr>
            <a:spLocks noGrp="1"/>
          </p:cNvSpPr>
          <p:nvPr>
            <p:ph idx="1"/>
          </p:nvPr>
        </p:nvSpPr>
        <p:spPr/>
        <p:txBody>
          <a:bodyPr/>
          <a:lstStyle/>
          <a:p>
            <a:r>
              <a:rPr lang="zh-CN" altLang="zh-CN" dirty="0"/>
              <a:t>I/O接口就是将外设连接到系统总线上，以实现数据传送的控制逻辑电路的总称，也称为外设接口。</a:t>
            </a:r>
            <a:endParaRPr lang="zh-CN" altLang="zh-CN" dirty="0"/>
          </a:p>
          <a:p>
            <a:r>
              <a:rPr lang="zh-CN" altLang="zh-CN" dirty="0"/>
              <a:t>I/O接口电路应具有如下功能：</a:t>
            </a:r>
            <a:endParaRPr lang="zh-CN" altLang="zh-CN" dirty="0"/>
          </a:p>
          <a:p>
            <a:pPr lvl="1"/>
            <a:r>
              <a:rPr lang="zh-CN" altLang="zh-CN" dirty="0"/>
              <a:t> I/O地址译码与设备选择</a:t>
            </a:r>
            <a:endParaRPr lang="zh-CN" altLang="zh-CN" dirty="0"/>
          </a:p>
          <a:p>
            <a:pPr lvl="1"/>
            <a:r>
              <a:rPr lang="zh-CN" altLang="zh-CN" dirty="0"/>
              <a:t>信息的输入/输出</a:t>
            </a:r>
            <a:endParaRPr lang="zh-CN" altLang="zh-CN" dirty="0"/>
          </a:p>
          <a:p>
            <a:pPr lvl="1"/>
            <a:r>
              <a:rPr lang="zh-CN" altLang="zh-CN" dirty="0"/>
              <a:t>命令、数据和状态的缓冲与锁存</a:t>
            </a:r>
            <a:endParaRPr lang="zh-CN" altLang="zh-CN" dirty="0"/>
          </a:p>
          <a:p>
            <a:pPr lvl="1"/>
            <a:r>
              <a:rPr lang="zh-CN" altLang="zh-CN" dirty="0"/>
              <a:t>信息转换</a:t>
            </a:r>
            <a:endParaRPr lang="zh-CN" altLang="zh-CN" dirty="0"/>
          </a:p>
          <a:p>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r>
              <a:rPr lang="en-US" altLang="zh-CN" dirty="0"/>
              <a:t>/</a:t>
            </a:r>
            <a:r>
              <a:rPr lang="zh-CN" altLang="en-US" dirty="0"/>
              <a:t>输出接口的功能</a:t>
            </a:r>
            <a:endParaRPr lang="zh-CN" altLang="en-US" dirty="0"/>
          </a:p>
        </p:txBody>
      </p:sp>
      <p:sp>
        <p:nvSpPr>
          <p:cNvPr id="3" name="内容占位符 2"/>
          <p:cNvSpPr>
            <a:spLocks noGrp="1"/>
          </p:cNvSpPr>
          <p:nvPr>
            <p:ph idx="1"/>
          </p:nvPr>
        </p:nvSpPr>
        <p:spPr/>
        <p:txBody>
          <a:bodyPr>
            <a:noAutofit/>
          </a:bodyPr>
          <a:lstStyle/>
          <a:p>
            <a:pPr>
              <a:lnSpc>
                <a:spcPct val="100000"/>
              </a:lnSpc>
            </a:pPr>
            <a:r>
              <a:rPr lang="en-US" altLang="zh-CN" dirty="0"/>
              <a:t>I/O</a:t>
            </a:r>
            <a:r>
              <a:rPr lang="zh-CN" altLang="en-US" dirty="0"/>
              <a:t>地址译码与设备选择</a:t>
            </a:r>
            <a:endParaRPr lang="zh-CN" altLang="en-US" dirty="0"/>
          </a:p>
          <a:p>
            <a:pPr>
              <a:lnSpc>
                <a:spcPct val="100000"/>
              </a:lnSpc>
              <a:buNone/>
            </a:pPr>
            <a:r>
              <a:rPr lang="zh-CN" altLang="en-US" dirty="0" smtClean="0"/>
              <a:t>    所有</a:t>
            </a:r>
            <a:r>
              <a:rPr lang="zh-CN" altLang="en-US" dirty="0"/>
              <a:t>外设都通过</a:t>
            </a:r>
            <a:r>
              <a:rPr lang="en-US" altLang="zh-CN" dirty="0"/>
              <a:t>I/O</a:t>
            </a:r>
            <a:r>
              <a:rPr lang="zh-CN" altLang="en-US" dirty="0"/>
              <a:t>接口挂接在系统总线上，在同一时刻，总线只允许一个外设与</a:t>
            </a:r>
            <a:r>
              <a:rPr lang="en-US" altLang="zh-CN" dirty="0"/>
              <a:t>CPU</a:t>
            </a:r>
            <a:r>
              <a:rPr lang="zh-CN" altLang="en-US" dirty="0"/>
              <a:t>进行数据传送。</a:t>
            </a:r>
            <a:endParaRPr lang="zh-CN" altLang="en-US" dirty="0"/>
          </a:p>
          <a:p>
            <a:pPr>
              <a:lnSpc>
                <a:spcPct val="100000"/>
              </a:lnSpc>
            </a:pPr>
            <a:r>
              <a:rPr lang="zh-CN" altLang="en-US" dirty="0"/>
              <a:t>信息的输入</a:t>
            </a:r>
            <a:r>
              <a:rPr lang="en-US" altLang="zh-CN" dirty="0"/>
              <a:t>/</a:t>
            </a:r>
            <a:r>
              <a:rPr lang="zh-CN" altLang="en-US" dirty="0"/>
              <a:t>输出</a:t>
            </a:r>
            <a:endParaRPr lang="zh-CN" altLang="en-US" dirty="0"/>
          </a:p>
          <a:p>
            <a:pPr>
              <a:lnSpc>
                <a:spcPct val="100000"/>
              </a:lnSpc>
              <a:buNone/>
            </a:pPr>
            <a:r>
              <a:rPr lang="zh-CN" altLang="en-US" dirty="0" smtClean="0"/>
              <a:t>   通过</a:t>
            </a:r>
            <a:r>
              <a:rPr lang="en-US" altLang="zh-CN" dirty="0"/>
              <a:t>I/O</a:t>
            </a:r>
            <a:r>
              <a:rPr lang="zh-CN" altLang="en-US" dirty="0"/>
              <a:t>接口，</a:t>
            </a:r>
            <a:r>
              <a:rPr lang="en-US" altLang="zh-CN" dirty="0"/>
              <a:t>CPU</a:t>
            </a:r>
            <a:r>
              <a:rPr lang="zh-CN" altLang="en-US" dirty="0"/>
              <a:t>可以从外部设备输入各种信息，也可将处理结果输出到外设；</a:t>
            </a:r>
            <a:endParaRPr lang="zh-CN" altLang="en-US" dirty="0"/>
          </a:p>
          <a:p>
            <a:pPr>
              <a:lnSpc>
                <a:spcPct val="100000"/>
              </a:lnSpc>
              <a:buNone/>
            </a:pPr>
            <a:r>
              <a:rPr lang="zh-CN" altLang="en-US" dirty="0" smtClean="0"/>
              <a:t>    </a:t>
            </a:r>
            <a:r>
              <a:rPr lang="en-US" altLang="zh-CN" dirty="0" smtClean="0"/>
              <a:t>CPU</a:t>
            </a:r>
            <a:r>
              <a:rPr lang="zh-CN" altLang="en-US" dirty="0"/>
              <a:t>可以向</a:t>
            </a:r>
            <a:r>
              <a:rPr lang="en-US" altLang="zh-CN" dirty="0"/>
              <a:t>I/O</a:t>
            </a:r>
            <a:r>
              <a:rPr lang="zh-CN" altLang="en-US" dirty="0"/>
              <a:t>接口写入命令字、读取外设的工作状态；外设可以通过接口向</a:t>
            </a:r>
            <a:r>
              <a:rPr lang="en-US" altLang="zh-CN" dirty="0"/>
              <a:t>CPU</a:t>
            </a:r>
            <a:r>
              <a:rPr lang="zh-CN" altLang="en-US" dirty="0"/>
              <a:t>发中断请求。</a:t>
            </a:r>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输入</a:t>
            </a:r>
            <a:r>
              <a:rPr lang="en-US" altLang="zh-CN" dirty="0"/>
              <a:t>/</a:t>
            </a:r>
            <a:r>
              <a:rPr lang="zh-CN" altLang="en-US" dirty="0"/>
              <a:t>输出接口的功能</a:t>
            </a:r>
            <a:endParaRPr lang="zh-CN" altLang="en-US" dirty="0"/>
          </a:p>
        </p:txBody>
      </p:sp>
      <p:sp>
        <p:nvSpPr>
          <p:cNvPr id="3" name="内容占位符 2"/>
          <p:cNvSpPr>
            <a:spLocks noGrp="1"/>
          </p:cNvSpPr>
          <p:nvPr>
            <p:ph idx="1"/>
          </p:nvPr>
        </p:nvSpPr>
        <p:spPr/>
        <p:txBody>
          <a:bodyPr>
            <a:normAutofit lnSpcReduction="10000"/>
          </a:bodyPr>
          <a:lstStyle/>
          <a:p>
            <a:pPr>
              <a:lnSpc>
                <a:spcPct val="120000"/>
              </a:lnSpc>
            </a:pPr>
            <a:r>
              <a:rPr lang="zh-CN" altLang="en-US" dirty="0"/>
              <a:t>命令、数据和状态的缓冲与锁存</a:t>
            </a:r>
            <a:endParaRPr lang="zh-CN" altLang="en-US" dirty="0"/>
          </a:p>
          <a:p>
            <a:pPr>
              <a:lnSpc>
                <a:spcPct val="120000"/>
              </a:lnSpc>
              <a:buNone/>
            </a:pPr>
            <a:r>
              <a:rPr lang="zh-CN" altLang="en-US" dirty="0" smtClean="0"/>
              <a:t>   为了</a:t>
            </a:r>
            <a:r>
              <a:rPr lang="zh-CN" altLang="en-US" dirty="0"/>
              <a:t>能够确保计算机和外设之间可靠地进行信息传送，要求接口电路应具有信息缓冲能力。</a:t>
            </a:r>
            <a:endParaRPr lang="zh-CN" altLang="en-US" dirty="0"/>
          </a:p>
          <a:p>
            <a:pPr>
              <a:lnSpc>
                <a:spcPct val="120000"/>
              </a:lnSpc>
              <a:buNone/>
            </a:pPr>
            <a:r>
              <a:rPr lang="zh-CN" altLang="en-US" dirty="0" smtClean="0"/>
              <a:t>    接口</a:t>
            </a:r>
            <a:r>
              <a:rPr lang="zh-CN" altLang="en-US" dirty="0"/>
              <a:t>不仅应缓存</a:t>
            </a:r>
            <a:r>
              <a:rPr lang="en-US" altLang="zh-CN" dirty="0"/>
              <a:t>CPU</a:t>
            </a:r>
            <a:r>
              <a:rPr lang="zh-CN" altLang="en-US" dirty="0"/>
              <a:t>送给外设的信息，也要缓存外设送给</a:t>
            </a:r>
            <a:r>
              <a:rPr lang="en-US" altLang="zh-CN" dirty="0"/>
              <a:t>CPU</a:t>
            </a:r>
            <a:r>
              <a:rPr lang="zh-CN" altLang="en-US" dirty="0"/>
              <a:t>的信息。</a:t>
            </a:r>
            <a:endParaRPr lang="zh-CN" altLang="en-US" dirty="0"/>
          </a:p>
          <a:p>
            <a:pPr>
              <a:lnSpc>
                <a:spcPct val="120000"/>
              </a:lnSpc>
            </a:pPr>
            <a:r>
              <a:rPr lang="zh-CN" altLang="en-US" dirty="0"/>
              <a:t>信息转换</a:t>
            </a:r>
            <a:endParaRPr lang="zh-CN" altLang="en-US" dirty="0"/>
          </a:p>
          <a:p>
            <a:pPr>
              <a:lnSpc>
                <a:spcPct val="120000"/>
              </a:lnSpc>
              <a:buNone/>
            </a:pPr>
            <a:r>
              <a:rPr lang="zh-CN" altLang="en-US" dirty="0" smtClean="0"/>
              <a:t>    </a:t>
            </a:r>
            <a:r>
              <a:rPr lang="en-US" altLang="zh-CN" dirty="0" smtClean="0"/>
              <a:t>I/O</a:t>
            </a:r>
            <a:r>
              <a:rPr lang="zh-CN" altLang="en-US" dirty="0"/>
              <a:t>接口还要实现信息格式变换、电平转换、码制转换、传送管理以及联络控制等功能。</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6.1.2 </a:t>
            </a:r>
            <a:r>
              <a:rPr lang="zh-CN" altLang="en-US" dirty="0" smtClean="0"/>
              <a:t>输入</a:t>
            </a:r>
            <a:r>
              <a:rPr lang="en-US" altLang="zh-CN" dirty="0"/>
              <a:t>/</a:t>
            </a:r>
            <a:r>
              <a:rPr lang="zh-CN" altLang="en-US" dirty="0"/>
              <a:t>输出接口之间的信息</a:t>
            </a:r>
            <a:endParaRPr lang="zh-CN" altLang="en-US" dirty="0"/>
          </a:p>
        </p:txBody>
      </p:sp>
      <p:sp>
        <p:nvSpPr>
          <p:cNvPr id="3" name="内容占位符 2"/>
          <p:cNvSpPr>
            <a:spLocks noGrp="1"/>
          </p:cNvSpPr>
          <p:nvPr>
            <p:ph idx="1"/>
          </p:nvPr>
        </p:nvSpPr>
        <p:spPr>
          <a:xfrm>
            <a:off x="838200" y="1724547"/>
            <a:ext cx="10515600" cy="2101850"/>
          </a:xfrm>
        </p:spPr>
        <p:txBody>
          <a:bodyPr>
            <a:normAutofit/>
          </a:bodyPr>
          <a:lstStyle/>
          <a:p>
            <a:pPr>
              <a:lnSpc>
                <a:spcPct val="110000"/>
              </a:lnSpc>
            </a:pPr>
            <a:r>
              <a:rPr lang="zh-CN" altLang="zh-CN" sz="2800" dirty="0"/>
              <a:t>CPU与I/O接口进行通信实际上是通过I/O接口内部的一组寄存器来实现的，这些寄存器通常称为I/O端口(I/O port)。</a:t>
            </a:r>
            <a:endParaRPr lang="zh-CN" altLang="zh-CN" sz="2800" dirty="0"/>
          </a:p>
          <a:p>
            <a:pPr>
              <a:lnSpc>
                <a:spcPct val="110000"/>
              </a:lnSpc>
            </a:pPr>
            <a:r>
              <a:rPr lang="zh-CN" altLang="zh-CN" sz="2800" dirty="0"/>
              <a:t>通过I/O接口传送的信息除数据外，还有反映当前外设工作状态的状态信息以及CPU向外设发出的各种控制信息。</a:t>
            </a:r>
            <a:endParaRPr lang="zh-CN" altLang="zh-CN" sz="2800" dirty="0"/>
          </a:p>
          <a:p>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061472" y="3826397"/>
            <a:ext cx="5202237"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bevel/>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38646" y="845911"/>
            <a:ext cx="10515600" cy="5176066"/>
          </a:xfrm>
        </p:spPr>
        <p:txBody>
          <a:bodyPr>
            <a:noAutofit/>
          </a:bodyPr>
          <a:lstStyle/>
          <a:p>
            <a:r>
              <a:rPr lang="zh-CN" altLang="en-US" dirty="0"/>
              <a:t>数据信息</a:t>
            </a:r>
            <a:endParaRPr lang="zh-CN" altLang="en-US" dirty="0"/>
          </a:p>
          <a:p>
            <a:pPr>
              <a:buNone/>
            </a:pPr>
            <a:r>
              <a:rPr lang="zh-CN" altLang="en-US" dirty="0" smtClean="0"/>
              <a:t>    </a:t>
            </a:r>
            <a:r>
              <a:rPr lang="en-US" altLang="zh-CN" dirty="0" smtClean="0"/>
              <a:t>1</a:t>
            </a:r>
            <a:r>
              <a:rPr lang="zh-CN" altLang="en-US" dirty="0" smtClean="0"/>
              <a:t>）数字</a:t>
            </a:r>
            <a:r>
              <a:rPr lang="zh-CN" altLang="en-US" dirty="0"/>
              <a:t>量</a:t>
            </a:r>
            <a:r>
              <a:rPr lang="en-US" altLang="zh-CN" dirty="0"/>
              <a:t>:</a:t>
            </a:r>
            <a:r>
              <a:rPr lang="zh-CN" altLang="en-US" dirty="0"/>
              <a:t>以二进制形式表示的数据信息。</a:t>
            </a:r>
            <a:endParaRPr lang="zh-CN" altLang="en-US" dirty="0"/>
          </a:p>
          <a:p>
            <a:pPr>
              <a:buNone/>
            </a:pPr>
            <a:r>
              <a:rPr lang="zh-CN" altLang="en-US" dirty="0" smtClean="0"/>
              <a:t>    </a:t>
            </a:r>
            <a:r>
              <a:rPr lang="en-US" altLang="zh-CN" dirty="0" smtClean="0"/>
              <a:t>2</a:t>
            </a:r>
            <a:r>
              <a:rPr lang="zh-CN" altLang="en-US" dirty="0" smtClean="0"/>
              <a:t>） 模拟</a:t>
            </a:r>
            <a:r>
              <a:rPr lang="zh-CN" altLang="en-US" dirty="0"/>
              <a:t>量</a:t>
            </a:r>
            <a:r>
              <a:rPr lang="en-US" altLang="zh-CN" dirty="0"/>
              <a:t>:</a:t>
            </a:r>
            <a:r>
              <a:rPr lang="zh-CN" altLang="en-US" dirty="0"/>
              <a:t>当计算机处理现场连续变化的非电量的物理量时，需通过传感器把这些非电量的物理量转化为连续变化的模拟电压或电流</a:t>
            </a:r>
            <a:r>
              <a:rPr lang="en-US" altLang="zh-CN" dirty="0"/>
              <a:t>—</a:t>
            </a:r>
            <a:r>
              <a:rPr lang="zh-CN" altLang="en-US" dirty="0"/>
              <a:t>模拟量。模拟量再经过</a:t>
            </a:r>
            <a:r>
              <a:rPr lang="en-US" altLang="zh-CN" dirty="0"/>
              <a:t>A/D</a:t>
            </a:r>
            <a:r>
              <a:rPr lang="zh-CN" altLang="en-US" dirty="0"/>
              <a:t>转换器转换为数字量。</a:t>
            </a:r>
            <a:endParaRPr lang="zh-CN" altLang="en-US" dirty="0"/>
          </a:p>
          <a:p>
            <a:pPr>
              <a:buNone/>
            </a:pPr>
            <a:r>
              <a:rPr lang="zh-CN" altLang="en-US" dirty="0" smtClean="0"/>
              <a:t>    </a:t>
            </a:r>
            <a:r>
              <a:rPr lang="en-US" altLang="zh-CN" dirty="0" smtClean="0"/>
              <a:t>3</a:t>
            </a:r>
            <a:r>
              <a:rPr lang="zh-CN" altLang="en-US" dirty="0" smtClean="0"/>
              <a:t>）开关</a:t>
            </a:r>
            <a:r>
              <a:rPr lang="zh-CN" altLang="en-US" dirty="0"/>
              <a:t>量</a:t>
            </a:r>
            <a:r>
              <a:rPr lang="en-US" altLang="zh-CN" dirty="0"/>
              <a:t>:</a:t>
            </a:r>
            <a:r>
              <a:rPr lang="zh-CN" altLang="en-US" dirty="0"/>
              <a:t>是指可用</a:t>
            </a:r>
            <a:r>
              <a:rPr lang="en-US" altLang="zh-CN" dirty="0"/>
              <a:t>2</a:t>
            </a:r>
            <a:r>
              <a:rPr lang="zh-CN" altLang="en-US" dirty="0"/>
              <a:t>个状态表示的信息，如开关的开和闭、电机的起和停等。</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496389"/>
            <a:ext cx="10515600" cy="5680574"/>
          </a:xfrm>
        </p:spPr>
        <p:txBody>
          <a:bodyPr>
            <a:normAutofit/>
          </a:bodyPr>
          <a:lstStyle/>
          <a:p>
            <a:r>
              <a:rPr lang="zh-CN" altLang="en-US" dirty="0"/>
              <a:t>状态信息</a:t>
            </a:r>
            <a:endParaRPr lang="zh-CN" altLang="en-US" dirty="0"/>
          </a:p>
          <a:p>
            <a:pPr>
              <a:buNone/>
            </a:pPr>
            <a:r>
              <a:rPr lang="zh-CN" altLang="en-US" dirty="0" smtClean="0"/>
              <a:t>  表示</a:t>
            </a:r>
            <a:r>
              <a:rPr lang="zh-CN" altLang="en-US" dirty="0"/>
              <a:t>外设当前所处的状态：</a:t>
            </a:r>
            <a:endParaRPr lang="en-US" altLang="zh-CN" dirty="0"/>
          </a:p>
          <a:p>
            <a:pPr lvl="1"/>
            <a:r>
              <a:rPr lang="zh-CN" altLang="en-US" dirty="0"/>
              <a:t>输入时，输入设备是否准备好</a:t>
            </a:r>
            <a:r>
              <a:rPr lang="en-US" altLang="zh-CN" dirty="0"/>
              <a:t>(READY)</a:t>
            </a:r>
            <a:endParaRPr lang="en-US" altLang="zh-CN" dirty="0"/>
          </a:p>
          <a:p>
            <a:pPr lvl="1"/>
            <a:r>
              <a:rPr lang="zh-CN" altLang="en-US" dirty="0"/>
              <a:t>输出时，输出设备是否处于忙</a:t>
            </a:r>
            <a:r>
              <a:rPr lang="en-US" altLang="zh-CN" dirty="0"/>
              <a:t>(BUSY)</a:t>
            </a:r>
            <a:endParaRPr lang="en-US" altLang="zh-CN" dirty="0"/>
          </a:p>
          <a:p>
            <a:r>
              <a:rPr lang="zh-CN" altLang="en-US" dirty="0"/>
              <a:t>控制信息</a:t>
            </a:r>
            <a:endParaRPr lang="zh-CN" altLang="en-US" dirty="0"/>
          </a:p>
          <a:p>
            <a:pPr>
              <a:buNone/>
            </a:pPr>
            <a:r>
              <a:rPr lang="zh-CN" altLang="en-US" dirty="0" smtClean="0"/>
              <a:t>   由</a:t>
            </a:r>
            <a:r>
              <a:rPr lang="en-US" altLang="zh-CN" dirty="0"/>
              <a:t>CPU</a:t>
            </a:r>
            <a:r>
              <a:rPr lang="zh-CN" altLang="en-US" dirty="0"/>
              <a:t>发出、用于控制</a:t>
            </a:r>
            <a:r>
              <a:rPr lang="en-US" altLang="zh-CN" dirty="0"/>
              <a:t>I/O</a:t>
            </a:r>
            <a:r>
              <a:rPr lang="zh-CN" altLang="en-US" dirty="0"/>
              <a:t>接口的工作方式以及外设的启动和停止等信息。</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a:t>
            </a:r>
            <a:endParaRPr lang="zh-CN" altLang="en-US" dirty="0"/>
          </a:p>
        </p:txBody>
      </p:sp>
      <p:sp>
        <p:nvSpPr>
          <p:cNvPr id="3" name="内容占位符 2"/>
          <p:cNvSpPr>
            <a:spLocks noGrp="1"/>
          </p:cNvSpPr>
          <p:nvPr>
            <p:ph idx="1"/>
          </p:nvPr>
        </p:nvSpPr>
        <p:spPr/>
        <p:txBody>
          <a:bodyPr>
            <a:normAutofit/>
          </a:bodyPr>
          <a:lstStyle/>
          <a:p>
            <a:pPr>
              <a:lnSpc>
                <a:spcPct val="110000"/>
              </a:lnSpc>
            </a:pPr>
            <a:r>
              <a:rPr lang="zh-CN" altLang="en-US" dirty="0"/>
              <a:t>数据信息、状态信息和控制信息是属于不同性质的信息，需要分别传送。</a:t>
            </a:r>
            <a:endParaRPr lang="zh-CN" altLang="en-US" dirty="0"/>
          </a:p>
          <a:p>
            <a:pPr>
              <a:lnSpc>
                <a:spcPct val="110000"/>
              </a:lnSpc>
            </a:pPr>
            <a:r>
              <a:rPr lang="en-US" altLang="zh-CN" dirty="0"/>
              <a:t>I/O</a:t>
            </a:r>
            <a:r>
              <a:rPr lang="zh-CN" altLang="en-US" dirty="0"/>
              <a:t>端口包括：数据端口、状态端口和控制端口。</a:t>
            </a:r>
            <a:endParaRPr lang="en-US" altLang="zh-CN" dirty="0"/>
          </a:p>
          <a:p>
            <a:pPr lvl="1">
              <a:lnSpc>
                <a:spcPct val="110000"/>
              </a:lnSpc>
            </a:pPr>
            <a:r>
              <a:rPr lang="en-US" altLang="zh-CN" dirty="0"/>
              <a:t>CPU</a:t>
            </a:r>
            <a:r>
              <a:rPr lang="zh-CN" altLang="en-US" dirty="0"/>
              <a:t>通过数据端口和外设交换数据</a:t>
            </a:r>
            <a:endParaRPr lang="en-US" altLang="zh-CN" dirty="0"/>
          </a:p>
          <a:p>
            <a:pPr lvl="1">
              <a:lnSpc>
                <a:spcPct val="110000"/>
              </a:lnSpc>
            </a:pPr>
            <a:r>
              <a:rPr lang="zh-CN" altLang="en-US" dirty="0"/>
              <a:t>从状态端口读入设备的当前状态</a:t>
            </a:r>
            <a:endParaRPr lang="en-US" altLang="zh-CN" dirty="0"/>
          </a:p>
          <a:p>
            <a:pPr lvl="1">
              <a:lnSpc>
                <a:spcPct val="110000"/>
              </a:lnSpc>
            </a:pPr>
            <a:r>
              <a:rPr lang="zh-CN" altLang="en-US" dirty="0"/>
              <a:t>通过控制端口向外设发出控制命令</a:t>
            </a:r>
            <a:endParaRPr lang="zh-CN" altLang="en-US" dirty="0"/>
          </a:p>
          <a:p>
            <a:pPr>
              <a:lnSpc>
                <a:spcPct val="110000"/>
              </a:lnSpc>
            </a:pPr>
            <a:r>
              <a:rPr lang="zh-CN" altLang="en-US" dirty="0"/>
              <a:t>一个</a:t>
            </a:r>
            <a:r>
              <a:rPr lang="en-US" altLang="zh-CN" dirty="0"/>
              <a:t>I/O</a:t>
            </a:r>
            <a:r>
              <a:rPr lang="zh-CN" altLang="en-US" dirty="0"/>
              <a:t>接口可能仅包含其中的一类或两类端口，当然也可能包含全部三类端口。</a:t>
            </a:r>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6.1.3 </a:t>
            </a:r>
            <a:r>
              <a:rPr lang="zh-CN" altLang="en-US" dirty="0" smtClean="0"/>
              <a:t>输入</a:t>
            </a:r>
            <a:r>
              <a:rPr lang="en-US" altLang="zh-CN" dirty="0"/>
              <a:t>/</a:t>
            </a:r>
            <a:r>
              <a:rPr lang="zh-CN" altLang="en-US" dirty="0"/>
              <a:t>输出端口的编址方式</a:t>
            </a:r>
            <a:endParaRPr lang="zh-CN" altLang="en-US" dirty="0"/>
          </a:p>
        </p:txBody>
      </p:sp>
      <p:sp>
        <p:nvSpPr>
          <p:cNvPr id="3" name="内容占位符 2"/>
          <p:cNvSpPr>
            <a:spLocks noGrp="1"/>
          </p:cNvSpPr>
          <p:nvPr>
            <p:ph idx="1"/>
          </p:nvPr>
        </p:nvSpPr>
        <p:spPr/>
        <p:txBody>
          <a:bodyPr/>
          <a:lstStyle/>
          <a:p>
            <a:r>
              <a:rPr lang="zh-CN" altLang="en-US" dirty="0"/>
              <a:t>在微型计算机系统中，</a:t>
            </a:r>
            <a:r>
              <a:rPr lang="en-US" altLang="zh-CN" dirty="0"/>
              <a:t>CPU</a:t>
            </a:r>
            <a:r>
              <a:rPr lang="zh-CN" altLang="en-US" dirty="0"/>
              <a:t>对外设的访问实际上是对外设接口电路中相应的</a:t>
            </a:r>
            <a:r>
              <a:rPr lang="en-US" altLang="zh-CN" dirty="0"/>
              <a:t>I/O</a:t>
            </a:r>
            <a:r>
              <a:rPr lang="zh-CN" altLang="en-US" dirty="0"/>
              <a:t>端口进行访问。</a:t>
            </a:r>
            <a:endParaRPr lang="zh-CN" altLang="en-US" dirty="0"/>
          </a:p>
          <a:p>
            <a:r>
              <a:rPr lang="en-US" altLang="zh-CN" dirty="0"/>
              <a:t>I/O</a:t>
            </a:r>
            <a:r>
              <a:rPr lang="zh-CN" altLang="en-US" dirty="0"/>
              <a:t>端口的编址通常有两种不同的方式：</a:t>
            </a:r>
            <a:endParaRPr lang="en-US" altLang="zh-CN" dirty="0"/>
          </a:p>
          <a:p>
            <a:pPr lvl="1"/>
            <a:r>
              <a:rPr lang="en-US" altLang="zh-CN" dirty="0"/>
              <a:t>I/O</a:t>
            </a:r>
            <a:r>
              <a:rPr lang="zh-CN" altLang="en-US" dirty="0"/>
              <a:t>端口统一编址</a:t>
            </a:r>
            <a:endParaRPr lang="en-US" altLang="zh-CN" dirty="0"/>
          </a:p>
          <a:p>
            <a:pPr lvl="1"/>
            <a:r>
              <a:rPr lang="en-US" altLang="zh-CN" dirty="0"/>
              <a:t>I/O</a:t>
            </a:r>
            <a:r>
              <a:rPr lang="zh-CN" altLang="en-US" dirty="0"/>
              <a:t>端口独立编址</a:t>
            </a:r>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   I/O</a:t>
            </a:r>
            <a:r>
              <a:rPr lang="zh-CN" altLang="en-US" dirty="0"/>
              <a:t>端口统一编址</a:t>
            </a:r>
            <a:endParaRPr lang="zh-CN" altLang="en-US" dirty="0"/>
          </a:p>
        </p:txBody>
      </p:sp>
      <p:sp>
        <p:nvSpPr>
          <p:cNvPr id="5" name="Rectangle 3"/>
          <p:cNvSpPr txBox="1">
            <a:spLocks noChangeArrowheads="1"/>
          </p:cNvSpPr>
          <p:nvPr/>
        </p:nvSpPr>
        <p:spPr>
          <a:xfrm>
            <a:off x="453979" y="1690688"/>
            <a:ext cx="6835095" cy="4552632"/>
          </a:xfrm>
          <a:prstGeom prst="rect">
            <a:avLst/>
          </a:prstGeom>
        </p:spPr>
        <p:txBody>
          <a:bodyPr vert="horz" lIns="91440" tIns="45720" rIns="91440" bIns="45720" rtlCol="0">
            <a:noAutofit/>
          </a:bodyPr>
          <a:lstStyle>
            <a:lvl1pPr marL="228600" indent="-228600" algn="l" defTabSz="914400" rtl="0" eaLnBrk="1" latinLnBrk="0" hangingPunct="1">
              <a:lnSpc>
                <a:spcPct val="150000"/>
              </a:lnSpc>
              <a:spcBef>
                <a:spcPts val="1000"/>
              </a:spcBef>
              <a:buClr>
                <a:srgbClr val="7030A0"/>
              </a:buClr>
              <a:buFont typeface="Wingdings" panose="05000000000000000000" pitchFamily="2" charset="2"/>
              <a:buChar char="Ø"/>
              <a:defRPr sz="2800" kern="1200">
                <a:solidFill>
                  <a:schemeClr val="tx1"/>
                </a:solidFill>
                <a:latin typeface="黑体" panose="02010609060101010101" pitchFamily="49" charset="-122"/>
                <a:ea typeface="黑体" panose="02010609060101010101" pitchFamily="49" charset="-122"/>
                <a:cs typeface="+mn-cs"/>
              </a:defRPr>
            </a:lvl1pPr>
            <a:lvl2pPr marL="685800" indent="-228600" algn="l" defTabSz="914400" rtl="0" eaLnBrk="1" latinLnBrk="0" hangingPunct="1">
              <a:lnSpc>
                <a:spcPct val="100000"/>
              </a:lnSpc>
              <a:spcBef>
                <a:spcPts val="500"/>
              </a:spcBef>
              <a:buClr>
                <a:srgbClr val="7030A0"/>
              </a:buClr>
              <a:buFont typeface="Wingdings" panose="05000000000000000000" pitchFamily="2" charset="2"/>
              <a:buChar char="l"/>
              <a:defRPr sz="2800" kern="1200">
                <a:solidFill>
                  <a:schemeClr val="tx1"/>
                </a:solidFill>
                <a:latin typeface="华文仿宋" panose="02010600040101010101" pitchFamily="2" charset="-122"/>
                <a:ea typeface="华文仿宋"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zh-CN" altLang="zh-CN" sz="2400" dirty="0"/>
              <a:t>又称为存储器映射编址方式，即把每个I/O端口都当作一个存储单元看待，按照存储单元的编址方式统一安排端口的地址。</a:t>
            </a:r>
            <a:endParaRPr lang="zh-CN" altLang="zh-CN" sz="2400" dirty="0"/>
          </a:p>
          <a:p>
            <a:pPr>
              <a:lnSpc>
                <a:spcPct val="80000"/>
              </a:lnSpc>
            </a:pPr>
            <a:r>
              <a:rPr lang="zh-CN" altLang="zh-CN" sz="2400" b="1" dirty="0">
                <a:solidFill>
                  <a:schemeClr val="hlink"/>
                </a:solidFill>
              </a:rPr>
              <a:t>优点</a:t>
            </a:r>
            <a:r>
              <a:rPr lang="zh-CN" altLang="zh-CN" sz="2400" dirty="0"/>
              <a:t>：可以用访问内存的方法来访问I/O端口。由于访问内存的指令种类丰富、寻址方式多样，因此这种编址方式为访问外设带来了很大的灵活性。同时，I/O控制信号也可与存储器的控制信号共用，从而给应用带来了很大的方便。</a:t>
            </a:r>
            <a:endParaRPr lang="zh-CN" altLang="zh-CN" sz="2400" dirty="0"/>
          </a:p>
          <a:p>
            <a:pPr>
              <a:lnSpc>
                <a:spcPct val="80000"/>
              </a:lnSpc>
            </a:pPr>
            <a:r>
              <a:rPr lang="zh-CN" altLang="zh-CN" sz="2400" b="1" dirty="0">
                <a:solidFill>
                  <a:schemeClr val="hlink"/>
                </a:solidFill>
              </a:rPr>
              <a:t>缺点</a:t>
            </a:r>
            <a:r>
              <a:rPr lang="zh-CN" altLang="zh-CN" sz="2400" dirty="0"/>
              <a:t>：外设占用了一部分内存地址空间，这就减少了内存可用的地址范围。此外从指令上不易区分当前是对内存进行操作还是对外设进行操作。 </a:t>
            </a:r>
            <a:endParaRPr lang="zh-CN" altLang="zh-CN" sz="2400" dirty="0"/>
          </a:p>
          <a:p>
            <a:pPr>
              <a:lnSpc>
                <a:spcPct val="80000"/>
              </a:lnSpc>
            </a:pPr>
            <a:r>
              <a:rPr lang="zh-CN" altLang="zh-CN" sz="2400" dirty="0"/>
              <a:t>Intel MCS-51等系列的单片微型计算机和Motorola公司的MC6800、MC68000及68HC05等微处理器就采用统一编址方式。</a:t>
            </a:r>
            <a:endParaRPr lang="zh-CN" altLang="zh-CN" sz="2400" dirty="0"/>
          </a:p>
        </p:txBody>
      </p:sp>
      <p:pic>
        <p:nvPicPr>
          <p:cNvPr id="6"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620772" y="2013903"/>
            <a:ext cx="3063875" cy="320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zh-CN" dirty="0"/>
              <a:t>2</a:t>
            </a:r>
            <a:r>
              <a:rPr lang="zh-CN" altLang="zh-CN" dirty="0" smtClean="0"/>
              <a:t>.</a:t>
            </a:r>
            <a:r>
              <a:rPr lang="en-US" altLang="zh-CN" smtClean="0"/>
              <a:t> </a:t>
            </a:r>
            <a:r>
              <a:rPr lang="zh-CN" altLang="zh-CN" smtClean="0"/>
              <a:t>I</a:t>
            </a:r>
            <a:r>
              <a:rPr lang="zh-CN" altLang="zh-CN"/>
              <a:t>/O</a:t>
            </a:r>
            <a:r>
              <a:rPr lang="zh-CN"/>
              <a:t>端口独立编址 </a:t>
            </a:r>
            <a:endParaRPr lang="zh-CN"/>
          </a:p>
        </p:txBody>
      </p:sp>
      <p:sp>
        <p:nvSpPr>
          <p:cNvPr id="18435" name="Rectangle 3"/>
          <p:cNvSpPr>
            <a:spLocks noGrp="1" noChangeArrowheads="1"/>
          </p:cNvSpPr>
          <p:nvPr>
            <p:ph type="body" idx="1"/>
          </p:nvPr>
        </p:nvSpPr>
        <p:spPr>
          <a:xfrm>
            <a:off x="378885" y="1643063"/>
            <a:ext cx="11432116" cy="4964112"/>
          </a:xfrm>
        </p:spPr>
        <p:txBody>
          <a:bodyPr/>
          <a:lstStyle/>
          <a:p>
            <a:pPr>
              <a:lnSpc>
                <a:spcPct val="80000"/>
              </a:lnSpc>
            </a:pPr>
            <a:r>
              <a:rPr lang="zh-CN" sz="2400"/>
              <a:t>内存地址空间和外设地址空间是相互独立的。</a:t>
            </a:r>
            <a:endParaRPr lang="zh-CN" sz="2400"/>
          </a:p>
          <a:p>
            <a:pPr>
              <a:lnSpc>
                <a:spcPct val="80000"/>
              </a:lnSpc>
            </a:pPr>
            <a:r>
              <a:rPr lang="zh-CN" altLang="zh-CN" sz="2400"/>
              <a:t>8086/8088</a:t>
            </a:r>
            <a:r>
              <a:rPr lang="zh-CN" sz="2400"/>
              <a:t>系统的内存地址范围为</a:t>
            </a:r>
            <a:r>
              <a:rPr lang="zh-CN" altLang="zh-CN" sz="2400"/>
              <a:t>00000H~FFFFFH</a:t>
            </a:r>
            <a:r>
              <a:rPr lang="zh-CN" sz="2400"/>
              <a:t>，共</a:t>
            </a:r>
            <a:r>
              <a:rPr lang="zh-CN" altLang="zh-CN" sz="2400"/>
              <a:t>1M</a:t>
            </a:r>
            <a:r>
              <a:rPr lang="zh-CN" sz="2400"/>
              <a:t>空间，而外设端口的地址范围为</a:t>
            </a:r>
            <a:r>
              <a:rPr lang="zh-CN" altLang="zh-CN" sz="2400"/>
              <a:t>0000H~FFFFH</a:t>
            </a:r>
            <a:r>
              <a:rPr lang="zh-CN" sz="2400"/>
              <a:t>，共</a:t>
            </a:r>
            <a:r>
              <a:rPr lang="zh-CN" altLang="zh-CN" sz="2400"/>
              <a:t>64K</a:t>
            </a:r>
            <a:r>
              <a:rPr lang="zh-CN" sz="2400"/>
              <a:t>空间。这两个地址空间相互独立，互不影响。</a:t>
            </a:r>
            <a:endParaRPr lang="zh-CN" sz="2400"/>
          </a:p>
          <a:p>
            <a:pPr>
              <a:lnSpc>
                <a:spcPct val="80000"/>
              </a:lnSpc>
            </a:pPr>
            <a:r>
              <a:rPr lang="zh-CN" altLang="zh-CN" sz="2400"/>
              <a:t>CPU</a:t>
            </a:r>
            <a:r>
              <a:rPr lang="zh-CN" sz="2400"/>
              <a:t>在寻址内存和外设时，使用不同的控制信号来区分当前是对内存操作还是对</a:t>
            </a:r>
            <a:r>
              <a:rPr lang="zh-CN" altLang="zh-CN" sz="2400"/>
              <a:t>I/O</a:t>
            </a:r>
            <a:r>
              <a:rPr lang="zh-CN" sz="2400"/>
              <a:t>端口操作。例如</a:t>
            </a:r>
            <a:r>
              <a:rPr lang="zh-CN" altLang="zh-CN" sz="2400"/>
              <a:t>8086</a:t>
            </a:r>
            <a:r>
              <a:rPr lang="zh-CN" sz="2400"/>
              <a:t>的</a:t>
            </a:r>
            <a:r>
              <a:rPr lang="zh-CN" altLang="zh-CN" sz="2400"/>
              <a:t>M/IO</a:t>
            </a:r>
            <a:r>
              <a:rPr lang="zh-CN" sz="2400"/>
              <a:t>和</a:t>
            </a:r>
            <a:r>
              <a:rPr lang="zh-CN" altLang="zh-CN" sz="2400"/>
              <a:t>8088</a:t>
            </a:r>
            <a:r>
              <a:rPr lang="zh-CN" sz="2400"/>
              <a:t>的</a:t>
            </a:r>
            <a:r>
              <a:rPr lang="zh-CN" altLang="zh-CN" sz="2400"/>
              <a:t>IO/M</a:t>
            </a:r>
            <a:r>
              <a:rPr lang="zh-CN" sz="2400"/>
              <a:t>信号。</a:t>
            </a:r>
            <a:endParaRPr lang="zh-CN" sz="2400"/>
          </a:p>
          <a:p>
            <a:pPr>
              <a:lnSpc>
                <a:spcPct val="80000"/>
              </a:lnSpc>
            </a:pPr>
            <a:r>
              <a:rPr lang="zh-CN" sz="2400"/>
              <a:t>指令系统中单独设置有专用的</a:t>
            </a:r>
            <a:r>
              <a:rPr lang="zh-CN" altLang="zh-CN" sz="2400"/>
              <a:t>I/O</a:t>
            </a:r>
            <a:r>
              <a:rPr lang="zh-CN" sz="2400"/>
              <a:t>指令。</a:t>
            </a:r>
            <a:endParaRPr lang="zh-CN" sz="2400"/>
          </a:p>
          <a:p>
            <a:pPr>
              <a:lnSpc>
                <a:spcPct val="80000"/>
              </a:lnSpc>
            </a:pPr>
            <a:r>
              <a:rPr lang="zh-CN" sz="2400" b="1">
                <a:solidFill>
                  <a:schemeClr val="hlink"/>
                </a:solidFill>
              </a:rPr>
              <a:t>优点</a:t>
            </a:r>
            <a:r>
              <a:rPr lang="zh-CN" sz="2400"/>
              <a:t>：将输入输出指令和访问存储器的指令明显区分开，使程序清晰，可读性好，而且</a:t>
            </a:r>
            <a:r>
              <a:rPr lang="zh-CN" altLang="zh-CN" sz="2400"/>
              <a:t>I/O</a:t>
            </a:r>
            <a:r>
              <a:rPr lang="zh-CN" sz="2400"/>
              <a:t>指令长度短，执行的速度快，也不占用内存空间；</a:t>
            </a:r>
            <a:r>
              <a:rPr lang="zh-CN" altLang="zh-CN" sz="2400"/>
              <a:t>I/O</a:t>
            </a:r>
            <a:r>
              <a:rPr lang="zh-CN" sz="2400"/>
              <a:t>地址译码电路较简单，</a:t>
            </a:r>
            <a:endParaRPr lang="zh-CN" sz="2400"/>
          </a:p>
          <a:p>
            <a:pPr>
              <a:lnSpc>
                <a:spcPct val="80000"/>
              </a:lnSpc>
            </a:pPr>
            <a:r>
              <a:rPr lang="zh-CN" sz="2400" b="1">
                <a:solidFill>
                  <a:schemeClr val="hlink"/>
                </a:solidFill>
              </a:rPr>
              <a:t>缺点</a:t>
            </a:r>
            <a:r>
              <a:rPr lang="zh-CN" sz="2400"/>
              <a:t>：必须有专门的</a:t>
            </a:r>
            <a:r>
              <a:rPr lang="zh-CN" altLang="zh-CN" sz="2400"/>
              <a:t>IN</a:t>
            </a:r>
            <a:r>
              <a:rPr lang="zh-CN" sz="2400"/>
              <a:t>和</a:t>
            </a:r>
            <a:r>
              <a:rPr lang="zh-CN" altLang="zh-CN" sz="2400"/>
              <a:t>OUT</a:t>
            </a:r>
            <a:r>
              <a:rPr lang="zh-CN" sz="2400"/>
              <a:t>指令，这些指令的功能没有访问存储器指令强，也增加了指令系统的规模。另外，</a:t>
            </a:r>
            <a:r>
              <a:rPr lang="zh-CN" altLang="zh-CN" sz="2400"/>
              <a:t>CPU</a:t>
            </a:r>
            <a:r>
              <a:rPr lang="zh-CN" sz="2400"/>
              <a:t>要能提供区分存储器和</a:t>
            </a:r>
            <a:r>
              <a:rPr lang="zh-CN" altLang="zh-CN" sz="2400"/>
              <a:t>I/O</a:t>
            </a:r>
            <a:r>
              <a:rPr lang="zh-CN" sz="2400"/>
              <a:t>的控制信号。 </a:t>
            </a:r>
            <a:endParaRPr lang="zh-CN" sz="2400"/>
          </a:p>
        </p:txBody>
      </p:sp>
      <p:sp>
        <p:nvSpPr>
          <p:cNvPr id="18436" name="Line 4"/>
          <p:cNvSpPr>
            <a:spLocks noChangeShapeType="1"/>
          </p:cNvSpPr>
          <p:nvPr/>
        </p:nvSpPr>
        <p:spPr bwMode="auto">
          <a:xfrm>
            <a:off x="6636614" y="2974759"/>
            <a:ext cx="406400" cy="0"/>
          </a:xfrm>
          <a:prstGeom prst="line">
            <a:avLst/>
          </a:prstGeom>
          <a:noFill/>
          <a:ln w="9525" cmpd="sng">
            <a:solidFill>
              <a:schemeClr val="tx1"/>
            </a:solidFill>
            <a:round/>
          </a:ln>
          <a:effectLst/>
        </p:spPr>
        <p:txBody>
          <a:bodyPr wrap="none"/>
          <a:lstStyle/>
          <a:p>
            <a:endParaRPr lang="zh-CN" altLang="en-US"/>
          </a:p>
        </p:txBody>
      </p:sp>
      <p:sp>
        <p:nvSpPr>
          <p:cNvPr id="18437" name="Line 5"/>
          <p:cNvSpPr>
            <a:spLocks noChangeShapeType="1"/>
          </p:cNvSpPr>
          <p:nvPr/>
        </p:nvSpPr>
        <p:spPr bwMode="auto">
          <a:xfrm>
            <a:off x="4638090" y="3002117"/>
            <a:ext cx="304800" cy="0"/>
          </a:xfrm>
          <a:prstGeom prst="line">
            <a:avLst/>
          </a:prstGeom>
          <a:noFill/>
          <a:ln w="9525" cmpd="sng">
            <a:solidFill>
              <a:schemeClr val="tx1"/>
            </a:solidFill>
            <a:round/>
          </a:ln>
          <a:effectLst/>
        </p:spPr>
        <p:txBody>
          <a:bodyPr wrap="none"/>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437"/>
                                        </p:tgtEl>
                                        <p:attrNameLst>
                                          <p:attrName>style.visibility</p:attrName>
                                        </p:attrNameLst>
                                      </p:cBhvr>
                                      <p:to>
                                        <p:strVal val="visible"/>
                                      </p:to>
                                    </p:set>
                                    <p:anim calcmode="lin" valueType="num">
                                      <p:cBhvr additive="base">
                                        <p:cTn id="23" dur="500" fill="hold"/>
                                        <p:tgtEl>
                                          <p:spTgt spid="18437"/>
                                        </p:tgtEl>
                                        <p:attrNameLst>
                                          <p:attrName>ppt_x</p:attrName>
                                        </p:attrNameLst>
                                      </p:cBhvr>
                                      <p:tavLst>
                                        <p:tav tm="0">
                                          <p:val>
                                            <p:strVal val="#ppt_x"/>
                                          </p:val>
                                        </p:tav>
                                        <p:tav tm="100000">
                                          <p:val>
                                            <p:strVal val="#ppt_x"/>
                                          </p:val>
                                        </p:tav>
                                      </p:tavLst>
                                    </p:anim>
                                    <p:anim calcmode="lin" valueType="num">
                                      <p:cBhvr additive="base">
                                        <p:cTn id="24" dur="500" fill="hold"/>
                                        <p:tgtEl>
                                          <p:spTgt spid="1843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436"/>
                                        </p:tgtEl>
                                        <p:attrNameLst>
                                          <p:attrName>style.visibility</p:attrName>
                                        </p:attrNameLst>
                                      </p:cBhvr>
                                      <p:to>
                                        <p:strVal val="visible"/>
                                      </p:to>
                                    </p:set>
                                    <p:anim calcmode="lin" valueType="num">
                                      <p:cBhvr additive="base">
                                        <p:cTn id="27" dur="500" fill="hold"/>
                                        <p:tgtEl>
                                          <p:spTgt spid="18436"/>
                                        </p:tgtEl>
                                        <p:attrNameLst>
                                          <p:attrName>ppt_x</p:attrName>
                                        </p:attrNameLst>
                                      </p:cBhvr>
                                      <p:tavLst>
                                        <p:tav tm="0">
                                          <p:val>
                                            <p:strVal val="#ppt_x"/>
                                          </p:val>
                                        </p:tav>
                                        <p:tav tm="100000">
                                          <p:val>
                                            <p:strVal val="#ppt_x"/>
                                          </p:val>
                                        </p:tav>
                                      </p:tavLst>
                                    </p:anim>
                                    <p:anim calcmode="lin" valueType="num">
                                      <p:cBhvr additive="base">
                                        <p:cTn id="28" dur="500" fill="hold"/>
                                        <p:tgtEl>
                                          <p:spTgt spid="1843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8435">
                                            <p:txEl>
                                              <p:pRg st="3" end="3"/>
                                            </p:txEl>
                                          </p:spTgt>
                                        </p:tgtEl>
                                        <p:attrNameLst>
                                          <p:attrName>style.visibility</p:attrName>
                                        </p:attrNameLst>
                                      </p:cBhvr>
                                      <p:to>
                                        <p:strVal val="visible"/>
                                      </p:to>
                                    </p:set>
                                    <p:anim calcmode="lin" valueType="num">
                                      <p:cBhvr additive="base">
                                        <p:cTn id="33" dur="5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84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8435">
                                            <p:txEl>
                                              <p:pRg st="4" end="4"/>
                                            </p:txEl>
                                          </p:spTgt>
                                        </p:tgtEl>
                                        <p:attrNameLst>
                                          <p:attrName>style.visibility</p:attrName>
                                        </p:attrNameLst>
                                      </p:cBhvr>
                                      <p:to>
                                        <p:strVal val="visible"/>
                                      </p:to>
                                    </p:set>
                                    <p:anim calcmode="lin" valueType="num">
                                      <p:cBhvr additive="base">
                                        <p:cTn id="39" dur="5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4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8435">
                                            <p:txEl>
                                              <p:pRg st="5" end="5"/>
                                            </p:txEl>
                                          </p:spTgt>
                                        </p:tgtEl>
                                        <p:attrNameLst>
                                          <p:attrName>style.visibility</p:attrName>
                                        </p:attrNameLst>
                                      </p:cBhvr>
                                      <p:to>
                                        <p:strVal val="visible"/>
                                      </p:to>
                                    </p:set>
                                    <p:anim calcmode="lin" valueType="num">
                                      <p:cBhvr additive="base">
                                        <p:cTn id="45" dur="500" fill="hold"/>
                                        <p:tgtEl>
                                          <p:spTgt spid="18435">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84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utoUpdateAnimBg="0" build="p"/>
      <p:bldP spid="18436" grpId="0" animBg="1"/>
      <p:bldP spid="184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zh-CN" sz="3600"/>
              <a:t>6.2 CPU</a:t>
            </a:r>
            <a:r>
              <a:rPr lang="zh-CN" sz="3600"/>
              <a:t>与外设之间的数据传送方式</a:t>
            </a:r>
            <a:endParaRPr lang="zh-CN" sz="3600"/>
          </a:p>
        </p:txBody>
      </p:sp>
      <p:sp>
        <p:nvSpPr>
          <p:cNvPr id="19459" name="Rectangle 3"/>
          <p:cNvSpPr>
            <a:spLocks noGrp="1" noChangeArrowheads="1"/>
          </p:cNvSpPr>
          <p:nvPr>
            <p:ph type="body" idx="1"/>
          </p:nvPr>
        </p:nvSpPr>
        <p:spPr/>
        <p:txBody>
          <a:bodyPr/>
          <a:lstStyle/>
          <a:p>
            <a:r>
              <a:rPr lang="zh-CN" sz="2800"/>
              <a:t>微型计算机系统中，由于外设的工作速度与</a:t>
            </a:r>
            <a:r>
              <a:rPr lang="zh-CN" altLang="zh-CN" sz="2800"/>
              <a:t>CPU</a:t>
            </a:r>
            <a:r>
              <a:rPr lang="zh-CN" sz="2800"/>
              <a:t>的速度差别很大，主机与外设之间的数据传送过程中，要实现数据的正确传送，关键问题是数据传送的控制方式，简称数据传送方式。</a:t>
            </a:r>
            <a:endParaRPr lang="zh-CN" sz="2800"/>
          </a:p>
          <a:p>
            <a:r>
              <a:rPr lang="zh-CN" altLang="zh-CN" sz="2800"/>
              <a:t>CPU</a:t>
            </a:r>
            <a:r>
              <a:rPr lang="zh-CN" sz="2800"/>
              <a:t>与外设之间的数据传送方式主要有以下</a:t>
            </a:r>
            <a:r>
              <a:rPr lang="zh-CN" altLang="zh-CN" sz="2800"/>
              <a:t>4</a:t>
            </a:r>
            <a:r>
              <a:rPr lang="zh-CN" sz="2800"/>
              <a:t>种：</a:t>
            </a:r>
            <a:endParaRPr lang="zh-CN" sz="2800"/>
          </a:p>
          <a:p>
            <a:pPr lvl="1"/>
            <a:r>
              <a:rPr lang="zh-CN" sz="2800"/>
              <a:t>无条件方式</a:t>
            </a:r>
            <a:endParaRPr lang="zh-CN" sz="2800"/>
          </a:p>
          <a:p>
            <a:pPr lvl="1"/>
            <a:r>
              <a:rPr lang="zh-CN" sz="2800"/>
              <a:t>查询方式</a:t>
            </a:r>
            <a:endParaRPr lang="zh-CN" sz="2800"/>
          </a:p>
          <a:p>
            <a:pPr lvl="1"/>
            <a:r>
              <a:rPr lang="zh-CN" sz="2800"/>
              <a:t>中断方式</a:t>
            </a:r>
            <a:endParaRPr lang="zh-CN" sz="2800"/>
          </a:p>
          <a:p>
            <a:pPr lvl="1"/>
            <a:r>
              <a:rPr lang="zh-CN" altLang="zh-CN" sz="2800"/>
              <a:t>DMA</a:t>
            </a:r>
            <a:r>
              <a:rPr lang="zh-CN" sz="2800"/>
              <a:t>方式</a:t>
            </a:r>
            <a:endParaRPr 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 calcmode="lin" valueType="num">
                                      <p:cBhvr additive="base">
                                        <p:cTn id="7"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anim calcmode="lin" valueType="num">
                                      <p:cBhvr additive="base">
                                        <p:cTn id="11"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 calcmode="lin" valueType="num">
                                      <p:cBhvr additive="base">
                                        <p:cTn id="1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anim calcmode="lin" valueType="num">
                                      <p:cBhvr additive="base">
                                        <p:cTn id="19"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459">
                                            <p:txEl>
                                              <p:pRg st="5" end="5"/>
                                            </p:txEl>
                                          </p:spTgt>
                                        </p:tgtEl>
                                        <p:attrNameLst>
                                          <p:attrName>style.visibility</p:attrName>
                                        </p:attrNameLst>
                                      </p:cBhvr>
                                      <p:to>
                                        <p:strVal val="visible"/>
                                      </p:to>
                                    </p:set>
                                    <p:anim calcmode="lin" valueType="num">
                                      <p:cBhvr additive="base">
                                        <p:cTn id="23"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zh-CN"/>
              <a:t>6.2.1 </a:t>
            </a:r>
            <a:r>
              <a:rPr lang="zh-CN"/>
              <a:t>无条件方式 </a:t>
            </a:r>
            <a:endParaRPr lang="zh-CN"/>
          </a:p>
        </p:txBody>
      </p:sp>
      <p:sp>
        <p:nvSpPr>
          <p:cNvPr id="20483" name="Rectangle 3"/>
          <p:cNvSpPr>
            <a:spLocks noGrp="1" noChangeArrowheads="1"/>
          </p:cNvSpPr>
          <p:nvPr>
            <p:ph type="body" idx="1"/>
          </p:nvPr>
        </p:nvSpPr>
        <p:spPr>
          <a:xfrm>
            <a:off x="378885" y="1643064"/>
            <a:ext cx="11383433" cy="4554537"/>
          </a:xfrm>
        </p:spPr>
        <p:txBody>
          <a:bodyPr/>
          <a:lstStyle/>
          <a:p>
            <a:pPr>
              <a:lnSpc>
                <a:spcPct val="125000"/>
              </a:lnSpc>
            </a:pPr>
            <a:r>
              <a:rPr lang="zh-CN" dirty="0"/>
              <a:t>无条件传送方式主要用于外部控制过程的各种动作是固定的、且是已知的，控制的对象是一些简单的、随时“准备好”的外设。也就是说，在这些设备工作时，随时都可以接收</a:t>
            </a:r>
            <a:r>
              <a:rPr lang="zh-CN" altLang="zh-CN" dirty="0"/>
              <a:t>CPU</a:t>
            </a:r>
            <a:r>
              <a:rPr lang="zh-CN" dirty="0"/>
              <a:t>输出的数据，或者它们的数据随时都可以被</a:t>
            </a:r>
            <a:r>
              <a:rPr lang="zh-CN" altLang="zh-CN" dirty="0"/>
              <a:t>CPU</a:t>
            </a:r>
            <a:r>
              <a:rPr lang="zh-CN" dirty="0"/>
              <a:t>读出。</a:t>
            </a:r>
            <a:endParaRPr 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t>无条件传送的输入方式</a:t>
            </a:r>
            <a:endParaRPr lang="zh-CN"/>
          </a:p>
        </p:txBody>
      </p:sp>
      <p:pic>
        <p:nvPicPr>
          <p:cNvPr id="21507" name="Picture 3"/>
          <p:cNvPicPr>
            <a:picLocks noChangeAspect="1" noChangeArrowheads="1"/>
          </p:cNvPicPr>
          <p:nvPr/>
        </p:nvPicPr>
        <p:blipFill>
          <a:blip r:embed="rId1" cstate="print"/>
          <a:srcRect/>
          <a:stretch>
            <a:fillRect/>
          </a:stretch>
        </p:blipFill>
        <p:spPr bwMode="auto">
          <a:xfrm>
            <a:off x="3175001" y="1495425"/>
            <a:ext cx="5414433" cy="2114550"/>
          </a:xfrm>
          <a:prstGeom prst="rect">
            <a:avLst/>
          </a:prstGeom>
          <a:noFill/>
          <a:ln w="9525">
            <a:noFill/>
            <a:miter lim="800000"/>
            <a:headEnd/>
            <a:tailEnd/>
          </a:ln>
          <a:effectLst/>
        </p:spPr>
      </p:pic>
      <p:sp>
        <p:nvSpPr>
          <p:cNvPr id="21508" name="Text Box 4"/>
          <p:cNvSpPr txBox="1">
            <a:spLocks noChangeArrowheads="1"/>
          </p:cNvSpPr>
          <p:nvPr/>
        </p:nvSpPr>
        <p:spPr bwMode="auto">
          <a:xfrm>
            <a:off x="740834" y="3841751"/>
            <a:ext cx="10695517" cy="978729"/>
          </a:xfrm>
          <a:prstGeom prst="rect">
            <a:avLst/>
          </a:prstGeom>
          <a:noFill/>
          <a:ln w="9525">
            <a:noFill/>
            <a:miter lim="800000"/>
          </a:ln>
          <a:effectLst/>
        </p:spPr>
        <p:txBody>
          <a:bodyPr>
            <a:spAutoFit/>
          </a:bodyPr>
          <a:lstStyle/>
          <a:p>
            <a:pPr>
              <a:lnSpc>
                <a:spcPct val="80000"/>
              </a:lnSpc>
              <a:spcBef>
                <a:spcPct val="50000"/>
              </a:spcBef>
              <a:buClr>
                <a:schemeClr val="folHlink"/>
              </a:buClr>
              <a:buSzPct val="60000"/>
              <a:buFont typeface="Wingdings" panose="05000000000000000000" pitchFamily="2" charset="2"/>
              <a:buNone/>
            </a:pPr>
            <a:r>
              <a:rPr lang="zh-CN" sz="2400"/>
              <a:t>当</a:t>
            </a:r>
            <a:r>
              <a:rPr lang="zh-CN" altLang="zh-CN" sz="2400"/>
              <a:t>CPU</a:t>
            </a:r>
            <a:r>
              <a:rPr lang="zh-CN" sz="2400"/>
              <a:t>从外部设备输入数据时，来自外设的数据已输入至三态缓冲器，</a:t>
            </a:r>
            <a:r>
              <a:rPr lang="zh-CN" altLang="zh-CN" sz="2400"/>
              <a:t>CPU</a:t>
            </a:r>
            <a:r>
              <a:rPr lang="zh-CN" sz="2400"/>
              <a:t>执行一条</a:t>
            </a:r>
            <a:r>
              <a:rPr lang="zh-CN" altLang="zh-CN" sz="2400"/>
              <a:t>IN</a:t>
            </a:r>
            <a:r>
              <a:rPr lang="zh-CN" sz="2400"/>
              <a:t>指令，将地址信号组成的端口地址送上地址总线，经过译码，选中对应的端口，然后在读信号</a:t>
            </a:r>
            <a:r>
              <a:rPr lang="zh-CN" altLang="zh-CN" sz="2400"/>
              <a:t>RD=0</a:t>
            </a:r>
            <a:r>
              <a:rPr lang="zh-CN" sz="2400"/>
              <a:t>期间将数据读入。 </a:t>
            </a:r>
            <a:endParaRPr lang="zh-CN" sz="2400"/>
          </a:p>
        </p:txBody>
      </p:sp>
      <p:sp>
        <p:nvSpPr>
          <p:cNvPr id="21509" name="Line 5"/>
          <p:cNvSpPr>
            <a:spLocks noChangeShapeType="1"/>
          </p:cNvSpPr>
          <p:nvPr/>
        </p:nvSpPr>
        <p:spPr bwMode="auto">
          <a:xfrm>
            <a:off x="4090593" y="4464775"/>
            <a:ext cx="522817" cy="0"/>
          </a:xfrm>
          <a:prstGeom prst="line">
            <a:avLst/>
          </a:prstGeom>
          <a:noFill/>
          <a:ln w="12700" cmpd="sng">
            <a:solidFill>
              <a:schemeClr val="tx1"/>
            </a:solidFill>
            <a:round/>
          </a:ln>
          <a:effectLst/>
        </p:spPr>
        <p:txBody>
          <a:bodyPr/>
          <a:lstStyle/>
          <a:p>
            <a:endParaRPr lang="zh-CN" altLang="en-US"/>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t>无条件传送的输出方式</a:t>
            </a:r>
            <a:endParaRPr lang="zh-CN"/>
          </a:p>
        </p:txBody>
      </p:sp>
      <p:pic>
        <p:nvPicPr>
          <p:cNvPr id="22531" name="Picture 3"/>
          <p:cNvPicPr>
            <a:picLocks noChangeAspect="1" noChangeArrowheads="1"/>
          </p:cNvPicPr>
          <p:nvPr/>
        </p:nvPicPr>
        <p:blipFill>
          <a:blip r:embed="rId1" cstate="print"/>
          <a:srcRect/>
          <a:stretch>
            <a:fillRect/>
          </a:stretch>
        </p:blipFill>
        <p:spPr bwMode="auto">
          <a:xfrm>
            <a:off x="2995085" y="1455738"/>
            <a:ext cx="5617633" cy="2084387"/>
          </a:xfrm>
          <a:prstGeom prst="rect">
            <a:avLst/>
          </a:prstGeom>
          <a:noFill/>
          <a:ln w="9525">
            <a:noFill/>
            <a:miter lim="800000"/>
            <a:headEnd/>
            <a:tailEnd/>
          </a:ln>
          <a:effectLst/>
        </p:spPr>
      </p:pic>
      <p:sp>
        <p:nvSpPr>
          <p:cNvPr id="22532" name="Text Box 4"/>
          <p:cNvSpPr txBox="1">
            <a:spLocks noChangeArrowheads="1"/>
          </p:cNvSpPr>
          <p:nvPr/>
        </p:nvSpPr>
        <p:spPr bwMode="auto">
          <a:xfrm>
            <a:off x="842433" y="3635376"/>
            <a:ext cx="10653184" cy="1126462"/>
          </a:xfrm>
          <a:prstGeom prst="rect">
            <a:avLst/>
          </a:prstGeom>
          <a:noFill/>
          <a:ln w="9525">
            <a:noFill/>
            <a:miter lim="800000"/>
          </a:ln>
          <a:effectLst/>
        </p:spPr>
        <p:txBody>
          <a:bodyPr>
            <a:spAutoFit/>
          </a:bodyPr>
          <a:lstStyle/>
          <a:p>
            <a:pPr>
              <a:lnSpc>
                <a:spcPct val="80000"/>
              </a:lnSpc>
              <a:spcBef>
                <a:spcPct val="50000"/>
              </a:spcBef>
              <a:buClr>
                <a:schemeClr val="folHlink"/>
              </a:buClr>
              <a:buSzPct val="60000"/>
              <a:buFont typeface="Wingdings" panose="05000000000000000000" pitchFamily="2" charset="2"/>
              <a:buNone/>
            </a:pPr>
            <a:r>
              <a:rPr lang="zh-CN" sz="2800"/>
              <a:t>当</a:t>
            </a:r>
            <a:r>
              <a:rPr lang="zh-CN" altLang="zh-CN" sz="2800"/>
              <a:t>CPU</a:t>
            </a:r>
            <a:r>
              <a:rPr lang="zh-CN" sz="2800"/>
              <a:t>向外部设备输出数据时，</a:t>
            </a:r>
            <a:r>
              <a:rPr lang="zh-CN" altLang="zh-CN" sz="2800"/>
              <a:t>CPU</a:t>
            </a:r>
            <a:r>
              <a:rPr lang="zh-CN" sz="2800"/>
              <a:t>只执行一条</a:t>
            </a:r>
            <a:r>
              <a:rPr lang="zh-CN" altLang="zh-CN" sz="2800"/>
              <a:t>OUT</a:t>
            </a:r>
            <a:r>
              <a:rPr lang="zh-CN" sz="2800"/>
              <a:t>指令，输出的过程类似，只是必须在写信号有效时将数据写入输出锁存器，由它再把信息通过外设输出。</a:t>
            </a:r>
            <a:r>
              <a:rPr lang="zh-CN"/>
              <a:t> </a:t>
            </a:r>
            <a:endParaRPr lang="zh-CN"/>
          </a:p>
        </p:txBody>
      </p:sp>
      <p:sp>
        <p:nvSpPr>
          <p:cNvPr id="22533" name="Line 5"/>
          <p:cNvSpPr>
            <a:spLocks noChangeShapeType="1"/>
          </p:cNvSpPr>
          <p:nvPr/>
        </p:nvSpPr>
        <p:spPr bwMode="auto">
          <a:xfrm>
            <a:off x="4339167" y="2395538"/>
            <a:ext cx="277284" cy="0"/>
          </a:xfrm>
          <a:prstGeom prst="line">
            <a:avLst/>
          </a:prstGeom>
          <a:noFill/>
          <a:ln w="12700" cmpd="sng">
            <a:solidFill>
              <a:schemeClr val="tx1"/>
            </a:solidFill>
            <a:round/>
          </a:ln>
          <a:effectLst/>
        </p:spPr>
        <p:txBody>
          <a:bodyPr/>
          <a:lstStyle/>
          <a:p>
            <a:endParaRPr lang="zh-CN" alt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a:t>结论</a:t>
            </a:r>
            <a:endParaRPr lang="zh-CN" altLang="en-US"/>
          </a:p>
        </p:txBody>
      </p:sp>
      <p:sp>
        <p:nvSpPr>
          <p:cNvPr id="23555" name="Rectangle 3"/>
          <p:cNvSpPr>
            <a:spLocks noGrp="1" noChangeArrowheads="1"/>
          </p:cNvSpPr>
          <p:nvPr>
            <p:ph type="body" idx="1"/>
          </p:nvPr>
        </p:nvSpPr>
        <p:spPr/>
        <p:txBody>
          <a:bodyPr/>
          <a:lstStyle/>
          <a:p>
            <a:pPr>
              <a:lnSpc>
                <a:spcPct val="80000"/>
              </a:lnSpc>
            </a:pPr>
            <a:r>
              <a:rPr lang="zh-CN"/>
              <a:t>在与这样的外设交换数据的过程中，数据交换与指令的执行是同步的，因此这种方式也称为同步传送方式。</a:t>
            </a:r>
            <a:endParaRPr lang="zh-CN"/>
          </a:p>
          <a:p>
            <a:pPr>
              <a:lnSpc>
                <a:spcPct val="80000"/>
              </a:lnSpc>
            </a:pPr>
            <a:r>
              <a:rPr lang="zh-CN"/>
              <a:t>优点是程序简单，所需的硬件和软件都比较少，传送速度快，但必须在确信外设已准备好情况下才能使用，否则就会出错。</a:t>
            </a:r>
            <a:endParaRPr lang="zh-CN"/>
          </a:p>
          <a:p>
            <a:pPr>
              <a:lnSpc>
                <a:spcPct val="80000"/>
              </a:lnSpc>
            </a:pPr>
            <a:r>
              <a:rPr lang="zh-CN"/>
              <a:t>对于诸如开关、发光二极管等这一类简单设备来说，就是采用无条件的传送方式。 </a:t>
            </a:r>
            <a:endParaRPr 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7" dur="500"/>
                                        <p:tgtEl>
                                          <p:spTgt spid="2355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2" dur="500"/>
                                        <p:tgtEl>
                                          <p:spTgt spid="235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zh-CN"/>
              <a:t>6.2.2 </a:t>
            </a:r>
            <a:r>
              <a:rPr lang="zh-CN"/>
              <a:t>查询方式 </a:t>
            </a:r>
            <a:endParaRPr lang="zh-CN"/>
          </a:p>
        </p:txBody>
      </p:sp>
      <p:sp>
        <p:nvSpPr>
          <p:cNvPr id="24579" name="Rectangle 3"/>
          <p:cNvSpPr>
            <a:spLocks noGrp="1" noChangeArrowheads="1"/>
          </p:cNvSpPr>
          <p:nvPr>
            <p:ph type="body" idx="1"/>
          </p:nvPr>
        </p:nvSpPr>
        <p:spPr>
          <a:xfrm>
            <a:off x="378885" y="1643063"/>
            <a:ext cx="11432116" cy="5022850"/>
          </a:xfrm>
        </p:spPr>
        <p:txBody>
          <a:bodyPr/>
          <a:lstStyle/>
          <a:p>
            <a:pPr>
              <a:lnSpc>
                <a:spcPct val="80000"/>
              </a:lnSpc>
            </a:pPr>
            <a:r>
              <a:rPr lang="zh-CN" sz="2800"/>
              <a:t>在实际应用中，大多数的外设并不是总处于“准备好”状态， </a:t>
            </a:r>
            <a:r>
              <a:rPr lang="zh-CN" altLang="zh-CN" sz="2800"/>
              <a:t>CPU</a:t>
            </a:r>
            <a:r>
              <a:rPr lang="zh-CN" sz="2800"/>
              <a:t>与它们进行数据交换时，</a:t>
            </a:r>
            <a:r>
              <a:rPr lang="zh-CN" sz="2800">
                <a:solidFill>
                  <a:schemeClr val="hlink"/>
                </a:solidFill>
              </a:rPr>
              <a:t>必须要先查询一下外设的状态，若准备好才传送数据，否则</a:t>
            </a:r>
            <a:r>
              <a:rPr lang="zh-CN" altLang="zh-CN" sz="2800">
                <a:solidFill>
                  <a:schemeClr val="hlink"/>
                </a:solidFill>
              </a:rPr>
              <a:t>CPU</a:t>
            </a:r>
            <a:r>
              <a:rPr lang="zh-CN" sz="2800">
                <a:solidFill>
                  <a:schemeClr val="hlink"/>
                </a:solidFill>
              </a:rPr>
              <a:t>就要等待，直到外设准备好为止。</a:t>
            </a:r>
            <a:endParaRPr lang="zh-CN" sz="2800">
              <a:solidFill>
                <a:schemeClr val="hlink"/>
              </a:solidFill>
            </a:endParaRPr>
          </a:p>
          <a:p>
            <a:pPr>
              <a:lnSpc>
                <a:spcPct val="80000"/>
              </a:lnSpc>
            </a:pPr>
            <a:r>
              <a:rPr lang="zh-CN" sz="2800"/>
              <a:t>这种利用程序不断地询问外部设备的状态，根据它们所处的状态来实现数据的输入和输出的方式就称为程序查询方式。</a:t>
            </a:r>
            <a:endParaRPr lang="zh-CN" sz="2800"/>
          </a:p>
          <a:p>
            <a:pPr>
              <a:lnSpc>
                <a:spcPct val="80000"/>
              </a:lnSpc>
            </a:pPr>
            <a:r>
              <a:rPr lang="zh-CN" sz="2800"/>
              <a:t>为了实现这种工作方式，外部设备须向计算机提供一个状态信息，相应的接口除传送数据外，还要有一个传送状态的端口。</a:t>
            </a:r>
            <a:endParaRPr lang="zh-CN" sz="280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579">
                                            <p:txEl>
                                              <p:pRg st="2" end="2"/>
                                            </p:txEl>
                                          </p:spTgt>
                                        </p:tgtEl>
                                        <p:attrNameLst>
                                          <p:attrName>style.visibility</p:attrName>
                                        </p:attrNameLst>
                                      </p:cBhvr>
                                      <p:to>
                                        <p:strVal val="visible"/>
                                      </p:to>
                                    </p:set>
                                    <p:anim calcmode="lin" valueType="num">
                                      <p:cBhvr additive="base">
                                        <p:cTn id="19"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sz="4000"/>
              <a:t>查询传送的两个环节</a:t>
            </a:r>
            <a:endParaRPr lang="zh-CN" sz="4000"/>
          </a:p>
        </p:txBody>
      </p:sp>
      <p:sp>
        <p:nvSpPr>
          <p:cNvPr id="25603" name="Rectangle 3"/>
          <p:cNvSpPr>
            <a:spLocks noGrp="1" noChangeArrowheads="1"/>
          </p:cNvSpPr>
          <p:nvPr>
            <p:ph type="body" idx="1"/>
          </p:nvPr>
        </p:nvSpPr>
        <p:spPr/>
        <p:txBody>
          <a:bodyPr/>
          <a:lstStyle/>
          <a:p>
            <a:pPr>
              <a:buFont typeface="Wingdings" panose="05000000000000000000" pitchFamily="2" charset="2"/>
              <a:buNone/>
            </a:pPr>
            <a:r>
              <a:rPr lang="zh-CN" altLang="zh-CN" sz="2800" b="1">
                <a:ea typeface="宋体" panose="02010600030101010101" pitchFamily="2" charset="-122"/>
              </a:rPr>
              <a:t>⑴</a:t>
            </a:r>
            <a:r>
              <a:rPr lang="zh-CN" sz="2800" b="1">
                <a:ea typeface="宋体" panose="02010600030101010101" pitchFamily="2" charset="-122"/>
              </a:rPr>
              <a:t>查询环节</a:t>
            </a:r>
            <a:endParaRPr lang="zh-CN" sz="2800" b="1">
              <a:ea typeface="宋体" panose="02010600030101010101" pitchFamily="2" charset="-122"/>
            </a:endParaRPr>
          </a:p>
          <a:p>
            <a:r>
              <a:rPr lang="zh-CN" sz="2800"/>
              <a:t>寻址</a:t>
            </a:r>
            <a:r>
              <a:rPr lang="zh-CN" sz="2800" b="1">
                <a:solidFill>
                  <a:schemeClr val="hlink"/>
                </a:solidFill>
                <a:ea typeface="宋体" panose="02010600030101010101" pitchFamily="2" charset="-122"/>
              </a:rPr>
              <a:t>状态端口</a:t>
            </a:r>
            <a:endParaRPr lang="zh-CN" sz="2800" b="1">
              <a:solidFill>
                <a:schemeClr val="hlink"/>
              </a:solidFill>
              <a:ea typeface="宋体" panose="02010600030101010101" pitchFamily="2" charset="-122"/>
            </a:endParaRPr>
          </a:p>
          <a:p>
            <a:r>
              <a:rPr lang="zh-CN" sz="2800"/>
              <a:t>读取状态寄存器的标志位</a:t>
            </a:r>
            <a:endParaRPr lang="zh-CN" sz="2800"/>
          </a:p>
          <a:p>
            <a:r>
              <a:rPr lang="zh-CN" sz="2800"/>
              <a:t>若不就绪就继续查询，直至就绪</a:t>
            </a:r>
            <a:endParaRPr lang="zh-CN" sz="2800"/>
          </a:p>
          <a:p>
            <a:pPr>
              <a:buFont typeface="Wingdings" panose="05000000000000000000" pitchFamily="2" charset="2"/>
              <a:buNone/>
            </a:pPr>
            <a:r>
              <a:rPr lang="zh-CN" sz="2800" b="1">
                <a:ea typeface="宋体" panose="02010600030101010101" pitchFamily="2" charset="-122"/>
              </a:rPr>
              <a:t>⑵传送环节</a:t>
            </a:r>
            <a:endParaRPr lang="zh-CN" sz="2800" b="1">
              <a:ea typeface="宋体" panose="02010600030101010101" pitchFamily="2" charset="-122"/>
            </a:endParaRPr>
          </a:p>
          <a:p>
            <a:r>
              <a:rPr lang="zh-CN" sz="2800"/>
              <a:t>寻址</a:t>
            </a:r>
            <a:r>
              <a:rPr lang="zh-CN" sz="2800" b="1">
                <a:solidFill>
                  <a:schemeClr val="hlink"/>
                </a:solidFill>
                <a:ea typeface="宋体" panose="02010600030101010101" pitchFamily="2" charset="-122"/>
              </a:rPr>
              <a:t>数据端口</a:t>
            </a:r>
            <a:endParaRPr lang="zh-CN" sz="2800" b="1">
              <a:solidFill>
                <a:schemeClr val="hlink"/>
              </a:solidFill>
              <a:ea typeface="宋体" panose="02010600030101010101" pitchFamily="2" charset="-122"/>
            </a:endParaRPr>
          </a:p>
          <a:p>
            <a:r>
              <a:rPr lang="zh-CN" sz="2800"/>
              <a:t>是输入，通过输入指令从数据端口读入数据</a:t>
            </a:r>
            <a:endParaRPr lang="zh-CN" sz="2800"/>
          </a:p>
          <a:p>
            <a:r>
              <a:rPr lang="zh-CN" sz="2800"/>
              <a:t>是输出，通过输出指令向数据端口输出数据</a:t>
            </a:r>
            <a:endParaRPr lang="zh-CN" sz="2800"/>
          </a:p>
        </p:txBody>
      </p:sp>
      <p:grpSp>
        <p:nvGrpSpPr>
          <p:cNvPr id="2" name="Group 4"/>
          <p:cNvGrpSpPr/>
          <p:nvPr/>
        </p:nvGrpSpPr>
        <p:grpSpPr bwMode="auto">
          <a:xfrm>
            <a:off x="8564034" y="1408113"/>
            <a:ext cx="3223684" cy="3460750"/>
            <a:chOff x="0" y="0"/>
            <a:chExt cx="1523" cy="2180"/>
          </a:xfrm>
        </p:grpSpPr>
        <p:sp>
          <p:nvSpPr>
            <p:cNvPr id="25605" name="Rectangle 5"/>
            <p:cNvSpPr>
              <a:spLocks noChangeArrowheads="1"/>
            </p:cNvSpPr>
            <p:nvPr/>
          </p:nvSpPr>
          <p:spPr bwMode="auto">
            <a:xfrm>
              <a:off x="273" y="235"/>
              <a:ext cx="1211" cy="369"/>
            </a:xfrm>
            <a:prstGeom prst="rect">
              <a:avLst/>
            </a:prstGeom>
            <a:noFill/>
            <a:ln w="28575" cmpd="sng">
              <a:solidFill>
                <a:schemeClr val="accent2"/>
              </a:solidFill>
              <a:miter lim="800000"/>
            </a:ln>
          </p:spPr>
          <p:txBody>
            <a:bodyPr wrap="none" anchor="ctr"/>
            <a:lstStyle/>
            <a:p>
              <a:pPr algn="ctr"/>
              <a:r>
                <a:rPr lang="zh-CN" sz="2400" b="1">
                  <a:ea typeface="宋体" panose="02010600030101010101" pitchFamily="2" charset="-122"/>
                </a:rPr>
                <a:t>输入状态</a:t>
              </a:r>
              <a:endParaRPr lang="zh-CN" sz="2400" b="1">
                <a:ea typeface="宋体" panose="02010600030101010101" pitchFamily="2" charset="-122"/>
              </a:endParaRPr>
            </a:p>
          </p:txBody>
        </p:sp>
        <p:sp>
          <p:nvSpPr>
            <p:cNvPr id="25606" name="AutoShape 6"/>
            <p:cNvSpPr>
              <a:spLocks noChangeArrowheads="1"/>
            </p:cNvSpPr>
            <p:nvPr/>
          </p:nvSpPr>
          <p:spPr bwMode="auto">
            <a:xfrm>
              <a:off x="312" y="838"/>
              <a:ext cx="1172" cy="504"/>
            </a:xfrm>
            <a:prstGeom prst="diamond">
              <a:avLst/>
            </a:prstGeom>
            <a:solidFill>
              <a:srgbClr val="A6ADC0"/>
            </a:solidFill>
            <a:ln w="9525">
              <a:noFill/>
              <a:miter lim="800000"/>
            </a:ln>
            <a:effectLst>
              <a:outerShdw dist="35921" dir="2700000" algn="ctr" rotWithShape="0">
                <a:srgbClr val="808080"/>
              </a:outerShdw>
            </a:effectLst>
          </p:spPr>
          <p:txBody>
            <a:bodyPr wrap="none" anchor="ctr"/>
            <a:lstStyle/>
            <a:p>
              <a:pPr algn="ctr"/>
              <a:r>
                <a:rPr lang="zh-CN" sz="2400" b="1">
                  <a:ea typeface="宋体" panose="02010600030101010101" pitchFamily="2" charset="-122"/>
                </a:rPr>
                <a:t>就绪？</a:t>
              </a:r>
              <a:endParaRPr lang="zh-CN" sz="2400" b="1">
                <a:ea typeface="宋体" panose="02010600030101010101" pitchFamily="2" charset="-122"/>
              </a:endParaRPr>
            </a:p>
          </p:txBody>
        </p:sp>
        <p:sp>
          <p:nvSpPr>
            <p:cNvPr id="25607" name="Rectangle 7"/>
            <p:cNvSpPr>
              <a:spLocks noChangeArrowheads="1"/>
            </p:cNvSpPr>
            <p:nvPr/>
          </p:nvSpPr>
          <p:spPr bwMode="auto">
            <a:xfrm>
              <a:off x="312" y="1576"/>
              <a:ext cx="1211" cy="369"/>
            </a:xfrm>
            <a:prstGeom prst="rect">
              <a:avLst/>
            </a:prstGeom>
            <a:noFill/>
            <a:ln w="28575" cmpd="sng">
              <a:solidFill>
                <a:schemeClr val="accent2"/>
              </a:solidFill>
              <a:miter lim="800000"/>
            </a:ln>
          </p:spPr>
          <p:txBody>
            <a:bodyPr wrap="none" anchor="ctr"/>
            <a:lstStyle/>
            <a:p>
              <a:pPr algn="ctr"/>
              <a:r>
                <a:rPr lang="zh-CN" sz="2400" b="1">
                  <a:ea typeface="宋体" panose="02010600030101010101" pitchFamily="2" charset="-122"/>
                </a:rPr>
                <a:t>数据传送</a:t>
              </a:r>
              <a:endParaRPr lang="zh-CN" sz="2400" b="1">
                <a:ea typeface="宋体" panose="02010600030101010101" pitchFamily="2" charset="-122"/>
              </a:endParaRPr>
            </a:p>
          </p:txBody>
        </p:sp>
        <p:sp>
          <p:nvSpPr>
            <p:cNvPr id="25608" name="Line 8"/>
            <p:cNvSpPr>
              <a:spLocks noChangeShapeType="1"/>
            </p:cNvSpPr>
            <p:nvPr/>
          </p:nvSpPr>
          <p:spPr bwMode="auto">
            <a:xfrm>
              <a:off x="859" y="0"/>
              <a:ext cx="0" cy="235"/>
            </a:xfrm>
            <a:prstGeom prst="line">
              <a:avLst/>
            </a:prstGeom>
            <a:noFill/>
            <a:ln w="28575" cmpd="sng">
              <a:solidFill>
                <a:schemeClr val="folHlink"/>
              </a:solidFill>
              <a:round/>
              <a:tailEnd type="triangle" w="med" len="med"/>
            </a:ln>
          </p:spPr>
          <p:txBody>
            <a:bodyPr wrap="none" anchor="ctr"/>
            <a:lstStyle/>
            <a:p>
              <a:endParaRPr lang="zh-CN" altLang="en-US"/>
            </a:p>
          </p:txBody>
        </p:sp>
        <p:sp>
          <p:nvSpPr>
            <p:cNvPr id="25609" name="Line 9"/>
            <p:cNvSpPr>
              <a:spLocks noChangeShapeType="1"/>
            </p:cNvSpPr>
            <p:nvPr/>
          </p:nvSpPr>
          <p:spPr bwMode="auto">
            <a:xfrm>
              <a:off x="898" y="604"/>
              <a:ext cx="0" cy="234"/>
            </a:xfrm>
            <a:prstGeom prst="line">
              <a:avLst/>
            </a:prstGeom>
            <a:noFill/>
            <a:ln w="28575" cmpd="sng">
              <a:solidFill>
                <a:schemeClr val="folHlink"/>
              </a:solidFill>
              <a:round/>
              <a:tailEnd type="triangle" w="med" len="med"/>
            </a:ln>
          </p:spPr>
          <p:txBody>
            <a:bodyPr wrap="none" anchor="ctr"/>
            <a:lstStyle/>
            <a:p>
              <a:endParaRPr lang="zh-CN" altLang="en-US"/>
            </a:p>
          </p:txBody>
        </p:sp>
        <p:sp>
          <p:nvSpPr>
            <p:cNvPr id="25610" name="Line 10"/>
            <p:cNvSpPr>
              <a:spLocks noChangeShapeType="1"/>
            </p:cNvSpPr>
            <p:nvPr/>
          </p:nvSpPr>
          <p:spPr bwMode="auto">
            <a:xfrm>
              <a:off x="898" y="1342"/>
              <a:ext cx="0" cy="234"/>
            </a:xfrm>
            <a:prstGeom prst="line">
              <a:avLst/>
            </a:prstGeom>
            <a:noFill/>
            <a:ln w="28575" cmpd="sng">
              <a:solidFill>
                <a:schemeClr val="folHlink"/>
              </a:solidFill>
              <a:round/>
              <a:tailEnd type="triangle" w="med" len="med"/>
            </a:ln>
          </p:spPr>
          <p:txBody>
            <a:bodyPr wrap="none" anchor="ctr"/>
            <a:lstStyle/>
            <a:p>
              <a:endParaRPr lang="zh-CN" altLang="en-US"/>
            </a:p>
          </p:txBody>
        </p:sp>
        <p:sp>
          <p:nvSpPr>
            <p:cNvPr id="25611" name="Line 11"/>
            <p:cNvSpPr>
              <a:spLocks noChangeShapeType="1"/>
            </p:cNvSpPr>
            <p:nvPr/>
          </p:nvSpPr>
          <p:spPr bwMode="auto">
            <a:xfrm>
              <a:off x="898" y="1945"/>
              <a:ext cx="0" cy="235"/>
            </a:xfrm>
            <a:prstGeom prst="line">
              <a:avLst/>
            </a:prstGeom>
            <a:noFill/>
            <a:ln w="28575" cmpd="sng">
              <a:solidFill>
                <a:schemeClr val="folHlink"/>
              </a:solidFill>
              <a:round/>
              <a:tailEnd type="triangle" w="med" len="med"/>
            </a:ln>
          </p:spPr>
          <p:txBody>
            <a:bodyPr wrap="none" anchor="ctr"/>
            <a:lstStyle/>
            <a:p>
              <a:endParaRPr lang="zh-CN" altLang="en-US"/>
            </a:p>
          </p:txBody>
        </p:sp>
        <p:sp>
          <p:nvSpPr>
            <p:cNvPr id="25612" name="Text Box 12"/>
            <p:cNvSpPr txBox="1">
              <a:spLocks noChangeArrowheads="1"/>
            </p:cNvSpPr>
            <p:nvPr/>
          </p:nvSpPr>
          <p:spPr bwMode="auto">
            <a:xfrm>
              <a:off x="976" y="1308"/>
              <a:ext cx="391" cy="288"/>
            </a:xfrm>
            <a:prstGeom prst="rect">
              <a:avLst/>
            </a:prstGeom>
            <a:noFill/>
            <a:ln w="9525">
              <a:noFill/>
              <a:miter lim="800000"/>
            </a:ln>
          </p:spPr>
          <p:txBody>
            <a:bodyPr>
              <a:spAutoFit/>
            </a:bodyPr>
            <a:lstStyle/>
            <a:p>
              <a:pPr algn="l">
                <a:spcBef>
                  <a:spcPct val="50000"/>
                </a:spcBef>
              </a:pPr>
              <a:r>
                <a:rPr lang="zh-CN" altLang="zh-CN" sz="2400" b="1">
                  <a:ea typeface="宋体" panose="02010600030101010101" pitchFamily="2" charset="-122"/>
                </a:rPr>
                <a:t>Y</a:t>
              </a:r>
              <a:endParaRPr lang="zh-CN" altLang="zh-CN" sz="2400" b="1">
                <a:ea typeface="宋体" panose="02010600030101010101" pitchFamily="2" charset="-122"/>
              </a:endParaRPr>
            </a:p>
          </p:txBody>
        </p:sp>
        <p:sp>
          <p:nvSpPr>
            <p:cNvPr id="25613" name="Line 13"/>
            <p:cNvSpPr>
              <a:spLocks noChangeShapeType="1"/>
            </p:cNvSpPr>
            <p:nvPr/>
          </p:nvSpPr>
          <p:spPr bwMode="auto">
            <a:xfrm flipH="1">
              <a:off x="0" y="1073"/>
              <a:ext cx="273" cy="0"/>
            </a:xfrm>
            <a:prstGeom prst="line">
              <a:avLst/>
            </a:prstGeom>
            <a:noFill/>
            <a:ln w="28575" cmpd="sng">
              <a:solidFill>
                <a:schemeClr val="folHlink"/>
              </a:solidFill>
              <a:round/>
            </a:ln>
          </p:spPr>
          <p:txBody>
            <a:bodyPr wrap="none" anchor="ctr"/>
            <a:lstStyle/>
            <a:p>
              <a:endParaRPr lang="zh-CN" altLang="en-US"/>
            </a:p>
          </p:txBody>
        </p:sp>
        <p:sp>
          <p:nvSpPr>
            <p:cNvPr id="25614" name="Line 14"/>
            <p:cNvSpPr>
              <a:spLocks noChangeShapeType="1"/>
            </p:cNvSpPr>
            <p:nvPr/>
          </p:nvSpPr>
          <p:spPr bwMode="auto">
            <a:xfrm flipV="1">
              <a:off x="0" y="134"/>
              <a:ext cx="0" cy="939"/>
            </a:xfrm>
            <a:prstGeom prst="line">
              <a:avLst/>
            </a:prstGeom>
            <a:noFill/>
            <a:ln w="28575" cmpd="sng">
              <a:solidFill>
                <a:schemeClr val="folHlink"/>
              </a:solidFill>
              <a:round/>
            </a:ln>
          </p:spPr>
          <p:txBody>
            <a:bodyPr wrap="none" anchor="ctr"/>
            <a:lstStyle/>
            <a:p>
              <a:endParaRPr lang="zh-CN" altLang="en-US"/>
            </a:p>
          </p:txBody>
        </p:sp>
        <p:sp>
          <p:nvSpPr>
            <p:cNvPr id="25615" name="Line 15"/>
            <p:cNvSpPr>
              <a:spLocks noChangeShapeType="1"/>
            </p:cNvSpPr>
            <p:nvPr/>
          </p:nvSpPr>
          <p:spPr bwMode="auto">
            <a:xfrm>
              <a:off x="0" y="134"/>
              <a:ext cx="859" cy="0"/>
            </a:xfrm>
            <a:prstGeom prst="line">
              <a:avLst/>
            </a:prstGeom>
            <a:noFill/>
            <a:ln w="28575" cmpd="sng">
              <a:solidFill>
                <a:schemeClr val="folHlink"/>
              </a:solidFill>
              <a:round/>
              <a:tailEnd type="triangle" w="med" len="med"/>
            </a:ln>
          </p:spPr>
          <p:txBody>
            <a:bodyPr wrap="none" anchor="ctr"/>
            <a:lstStyle/>
            <a:p>
              <a:endParaRPr lang="zh-CN" altLang="en-US"/>
            </a:p>
          </p:txBody>
        </p:sp>
        <p:sp>
          <p:nvSpPr>
            <p:cNvPr id="25616" name="Text Box 16"/>
            <p:cNvSpPr txBox="1">
              <a:spLocks noChangeArrowheads="1"/>
            </p:cNvSpPr>
            <p:nvPr/>
          </p:nvSpPr>
          <p:spPr bwMode="auto">
            <a:xfrm>
              <a:off x="117" y="838"/>
              <a:ext cx="391" cy="288"/>
            </a:xfrm>
            <a:prstGeom prst="rect">
              <a:avLst/>
            </a:prstGeom>
            <a:noFill/>
            <a:ln w="9525">
              <a:noFill/>
              <a:miter lim="800000"/>
            </a:ln>
          </p:spPr>
          <p:txBody>
            <a:bodyPr>
              <a:spAutoFit/>
            </a:bodyPr>
            <a:lstStyle/>
            <a:p>
              <a:pPr algn="l">
                <a:spcBef>
                  <a:spcPct val="50000"/>
                </a:spcBef>
              </a:pPr>
              <a:r>
                <a:rPr lang="zh-CN" altLang="zh-CN" sz="2400" b="1">
                  <a:ea typeface="宋体" panose="02010600030101010101" pitchFamily="2" charset="-122"/>
                </a:rPr>
                <a:t>N</a:t>
              </a:r>
              <a:endParaRPr lang="zh-CN" altLang="zh-CN" sz="2400" b="1">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0" fill="hold"/>
                                        <p:tgtEl>
                                          <p:spTgt spid="2"/>
                                        </p:tgtEl>
                                        <p:attrNameLst>
                                          <p:attrName>ppt_w</p:attrName>
                                        </p:attrNameLst>
                                      </p:cBhvr>
                                      <p:tavLst>
                                        <p:tav tm="0" fmla="#ppt_w*sin(2.5*pi*$)">
                                          <p:val>
                                            <p:fltVal val="0"/>
                                          </p:val>
                                        </p:tav>
                                        <p:tav tm="100000">
                                          <p:val>
                                            <p:fltVal val="1"/>
                                          </p:val>
                                        </p:tav>
                                      </p:tavLst>
                                    </p:anim>
                                    <p:anim calcmode="lin" valueType="num">
                                      <p:cBhvr>
                                        <p:cTn id="8" dur="5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603">
                                            <p:txEl>
                                              <p:pRg st="0" end="0"/>
                                            </p:txEl>
                                          </p:spTgt>
                                        </p:tgtEl>
                                        <p:attrNameLst>
                                          <p:attrName>style.visibility</p:attrName>
                                        </p:attrNameLst>
                                      </p:cBhvr>
                                      <p:to>
                                        <p:strVal val="visible"/>
                                      </p:to>
                                    </p:set>
                                    <p:anim calcmode="lin" valueType="num">
                                      <p:cBhvr additive="base">
                                        <p:cTn id="13"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603">
                                            <p:txEl>
                                              <p:pRg st="1" end="1"/>
                                            </p:txEl>
                                          </p:spTgt>
                                        </p:tgtEl>
                                        <p:attrNameLst>
                                          <p:attrName>style.visibility</p:attrName>
                                        </p:attrNameLst>
                                      </p:cBhvr>
                                      <p:to>
                                        <p:strVal val="visible"/>
                                      </p:to>
                                    </p:set>
                                    <p:anim calcmode="lin" valueType="num">
                                      <p:cBhvr additive="base">
                                        <p:cTn id="19"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5603">
                                            <p:txEl>
                                              <p:pRg st="2" end="2"/>
                                            </p:txEl>
                                          </p:spTgt>
                                        </p:tgtEl>
                                        <p:attrNameLst>
                                          <p:attrName>style.visibility</p:attrName>
                                        </p:attrNameLst>
                                      </p:cBhvr>
                                      <p:to>
                                        <p:strVal val="visible"/>
                                      </p:to>
                                    </p:set>
                                    <p:anim calcmode="lin" valueType="num">
                                      <p:cBhvr additive="base">
                                        <p:cTn id="25"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5603">
                                            <p:txEl>
                                              <p:pRg st="3" end="3"/>
                                            </p:txEl>
                                          </p:spTgt>
                                        </p:tgtEl>
                                        <p:attrNameLst>
                                          <p:attrName>style.visibility</p:attrName>
                                        </p:attrNameLst>
                                      </p:cBhvr>
                                      <p:to>
                                        <p:strVal val="visible"/>
                                      </p:to>
                                    </p:set>
                                    <p:anim calcmode="lin" valueType="num">
                                      <p:cBhvr additive="base">
                                        <p:cTn id="31" dur="5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56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5603">
                                            <p:txEl>
                                              <p:pRg st="4" end="4"/>
                                            </p:txEl>
                                          </p:spTgt>
                                        </p:tgtEl>
                                        <p:attrNameLst>
                                          <p:attrName>style.visibility</p:attrName>
                                        </p:attrNameLst>
                                      </p:cBhvr>
                                      <p:to>
                                        <p:strVal val="visible"/>
                                      </p:to>
                                    </p:set>
                                    <p:anim calcmode="lin" valueType="num">
                                      <p:cBhvr additive="base">
                                        <p:cTn id="37" dur="500" fill="hold"/>
                                        <p:tgtEl>
                                          <p:spTgt spid="2560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56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5603">
                                            <p:txEl>
                                              <p:pRg st="5" end="5"/>
                                            </p:txEl>
                                          </p:spTgt>
                                        </p:tgtEl>
                                        <p:attrNameLst>
                                          <p:attrName>style.visibility</p:attrName>
                                        </p:attrNameLst>
                                      </p:cBhvr>
                                      <p:to>
                                        <p:strVal val="visible"/>
                                      </p:to>
                                    </p:set>
                                    <p:anim calcmode="lin" valueType="num">
                                      <p:cBhvr additive="base">
                                        <p:cTn id="43" dur="500" fill="hold"/>
                                        <p:tgtEl>
                                          <p:spTgt spid="2560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56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5603">
                                            <p:txEl>
                                              <p:pRg st="6" end="6"/>
                                            </p:txEl>
                                          </p:spTgt>
                                        </p:tgtEl>
                                        <p:attrNameLst>
                                          <p:attrName>style.visibility</p:attrName>
                                        </p:attrNameLst>
                                      </p:cBhvr>
                                      <p:to>
                                        <p:strVal val="visible"/>
                                      </p:to>
                                    </p:set>
                                    <p:anim calcmode="lin" valueType="num">
                                      <p:cBhvr additive="base">
                                        <p:cTn id="49" dur="500" fill="hold"/>
                                        <p:tgtEl>
                                          <p:spTgt spid="2560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560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5603">
                                            <p:txEl>
                                              <p:pRg st="7" end="7"/>
                                            </p:txEl>
                                          </p:spTgt>
                                        </p:tgtEl>
                                        <p:attrNameLst>
                                          <p:attrName>style.visibility</p:attrName>
                                        </p:attrNameLst>
                                      </p:cBhvr>
                                      <p:to>
                                        <p:strVal val="visible"/>
                                      </p:to>
                                    </p:set>
                                    <p:anim calcmode="lin" valueType="num">
                                      <p:cBhvr additive="base">
                                        <p:cTn id="55" dur="500" fill="hold"/>
                                        <p:tgtEl>
                                          <p:spTgt spid="2560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560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zh-CN"/>
              <a:t>1.</a:t>
            </a:r>
            <a:r>
              <a:rPr lang="zh-CN"/>
              <a:t>查询式输入</a:t>
            </a:r>
            <a:endParaRPr lang="zh-CN"/>
          </a:p>
        </p:txBody>
      </p:sp>
      <p:pic>
        <p:nvPicPr>
          <p:cNvPr id="26627" name="Picture 3"/>
          <p:cNvPicPr>
            <a:picLocks noChangeAspect="1" noChangeArrowheads="1"/>
          </p:cNvPicPr>
          <p:nvPr/>
        </p:nvPicPr>
        <p:blipFill>
          <a:blip r:embed="rId1" cstate="print"/>
          <a:srcRect/>
          <a:stretch>
            <a:fillRect/>
          </a:stretch>
        </p:blipFill>
        <p:spPr bwMode="auto">
          <a:xfrm>
            <a:off x="1248834" y="1614489"/>
            <a:ext cx="9469967" cy="4294187"/>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t>查询式输入程序段</a:t>
            </a:r>
            <a:endParaRPr lang="zh-CN"/>
          </a:p>
        </p:txBody>
      </p:sp>
      <p:sp>
        <p:nvSpPr>
          <p:cNvPr id="27651" name="Rectangle 3"/>
          <p:cNvSpPr>
            <a:spLocks noGrp="1" noChangeArrowheads="1"/>
          </p:cNvSpPr>
          <p:nvPr>
            <p:ph type="body" idx="1"/>
          </p:nvPr>
        </p:nvSpPr>
        <p:spPr>
          <a:xfrm>
            <a:off x="378885" y="1643063"/>
            <a:ext cx="11432116" cy="4476750"/>
          </a:xfrm>
          <a:noFill/>
        </p:spPr>
        <p:txBody>
          <a:bodyPr/>
          <a:lstStyle/>
          <a:p>
            <a:pPr marL="0" indent="0">
              <a:lnSpc>
                <a:spcPct val="80000"/>
              </a:lnSpc>
              <a:buFont typeface="Wingdings" panose="05000000000000000000" pitchFamily="2" charset="2"/>
              <a:buNone/>
            </a:pPr>
            <a:r>
              <a:rPr lang="zh-CN" sz="2000"/>
              <a:t>在查询输入的过程中，读入的数据是</a:t>
            </a:r>
            <a:r>
              <a:rPr lang="zh-CN" altLang="zh-CN" sz="2000"/>
              <a:t>8</a:t>
            </a:r>
            <a:r>
              <a:rPr lang="zh-CN" sz="2000"/>
              <a:t>位或</a:t>
            </a:r>
            <a:r>
              <a:rPr lang="zh-CN" altLang="zh-CN" sz="2000"/>
              <a:t>16</a:t>
            </a:r>
            <a:r>
              <a:rPr lang="zh-CN" sz="2000"/>
              <a:t>位，而读入的状态位是</a:t>
            </a:r>
            <a:r>
              <a:rPr lang="zh-CN" altLang="zh-CN" sz="2000"/>
              <a:t>1</a:t>
            </a:r>
            <a:r>
              <a:rPr lang="zh-CN" sz="2000"/>
              <a:t>位，如图所示。设状态口的地址为</a:t>
            </a:r>
            <a:r>
              <a:rPr lang="zh-CN" altLang="zh-CN" sz="2000"/>
              <a:t>PORT</a:t>
            </a:r>
            <a:r>
              <a:rPr lang="zh-CN" altLang="zh-CN" sz="2000" u="sng"/>
              <a:t> </a:t>
            </a:r>
            <a:r>
              <a:rPr lang="zh-CN" altLang="zh-CN" sz="2000"/>
              <a:t>S1</a:t>
            </a:r>
            <a:r>
              <a:rPr lang="zh-CN" sz="2000"/>
              <a:t>，输入数据口的地址为</a:t>
            </a:r>
            <a:r>
              <a:rPr lang="zh-CN" altLang="zh-CN" sz="2000"/>
              <a:t>PORT_IN</a:t>
            </a:r>
            <a:r>
              <a:rPr lang="zh-CN" sz="2000"/>
              <a:t>，传送数据的总字节数为</a:t>
            </a:r>
            <a:r>
              <a:rPr lang="zh-CN" altLang="zh-CN" sz="2000"/>
              <a:t>COUNT</a:t>
            </a:r>
            <a:r>
              <a:rPr lang="zh-CN" altLang="zh-CN" sz="2000" u="sng"/>
              <a:t> </a:t>
            </a:r>
            <a:r>
              <a:rPr lang="zh-CN" altLang="zh-CN" sz="2000"/>
              <a:t>1</a:t>
            </a:r>
            <a:r>
              <a:rPr lang="zh-CN" sz="2000"/>
              <a:t>，则查询式输入数据的程序段为：</a:t>
            </a:r>
            <a:endParaRPr lang="zh-CN" sz="2000"/>
          </a:p>
          <a:p>
            <a:pPr marL="0" indent="0">
              <a:lnSpc>
                <a:spcPct val="80000"/>
              </a:lnSpc>
              <a:buFont typeface="Wingdings" panose="05000000000000000000" pitchFamily="2" charset="2"/>
              <a:buNone/>
            </a:pPr>
            <a:r>
              <a:rPr lang="zh-CN" sz="2000"/>
              <a:t>                    </a:t>
            </a:r>
            <a:r>
              <a:rPr lang="zh-CN" altLang="zh-CN" sz="2000"/>
              <a:t>MOV  BX</a:t>
            </a:r>
            <a:r>
              <a:rPr lang="zh-CN" sz="2000"/>
              <a:t>， </a:t>
            </a:r>
            <a:r>
              <a:rPr lang="zh-CN" altLang="zh-CN" sz="2000"/>
              <a:t>0</a:t>
            </a:r>
            <a:r>
              <a:rPr lang="zh-CN" sz="2000"/>
              <a:t>；初始化指针</a:t>
            </a:r>
            <a:endParaRPr lang="zh-CN" sz="2000" b="1"/>
          </a:p>
          <a:p>
            <a:pPr marL="0" indent="0">
              <a:lnSpc>
                <a:spcPct val="80000"/>
              </a:lnSpc>
              <a:buFont typeface="Wingdings" panose="05000000000000000000" pitchFamily="2" charset="2"/>
              <a:buNone/>
            </a:pPr>
            <a:r>
              <a:rPr lang="zh-CN" sz="2000"/>
              <a:t>                    </a:t>
            </a:r>
            <a:r>
              <a:rPr lang="zh-CN" altLang="zh-CN" sz="2000"/>
              <a:t>MOV  CX</a:t>
            </a:r>
            <a:r>
              <a:rPr lang="zh-CN" sz="2000"/>
              <a:t>， </a:t>
            </a:r>
            <a:r>
              <a:rPr lang="zh-CN" altLang="zh-CN" sz="2000"/>
              <a:t>COUNT</a:t>
            </a:r>
            <a:r>
              <a:rPr lang="zh-CN" altLang="zh-CN" sz="2000" u="sng"/>
              <a:t> </a:t>
            </a:r>
            <a:r>
              <a:rPr lang="zh-CN" altLang="zh-CN" sz="2000"/>
              <a:t>1</a:t>
            </a:r>
            <a:r>
              <a:rPr lang="zh-CN" sz="2000"/>
              <a:t>；字节数</a:t>
            </a:r>
            <a:endParaRPr lang="zh-CN" sz="2000"/>
          </a:p>
          <a:p>
            <a:pPr marL="0" indent="0">
              <a:lnSpc>
                <a:spcPct val="80000"/>
              </a:lnSpc>
              <a:buFont typeface="Wingdings" panose="05000000000000000000" pitchFamily="2" charset="2"/>
              <a:buNone/>
            </a:pPr>
            <a:r>
              <a:rPr lang="zh-CN" altLang="zh-CN" sz="2000"/>
              <a:t>READ</a:t>
            </a:r>
            <a:r>
              <a:rPr lang="zh-CN" altLang="zh-CN" sz="2000" u="sng"/>
              <a:t> </a:t>
            </a:r>
            <a:r>
              <a:rPr lang="zh-CN" altLang="zh-CN" sz="2000"/>
              <a:t>S1 : MOV  DX</a:t>
            </a:r>
            <a:r>
              <a:rPr lang="zh-CN" sz="2000"/>
              <a:t>， </a:t>
            </a:r>
            <a:r>
              <a:rPr lang="zh-CN" altLang="zh-CN" sz="2000"/>
              <a:t>PORT_S1</a:t>
            </a:r>
            <a:endParaRPr lang="zh-CN" altLang="zh-CN" sz="2000"/>
          </a:p>
          <a:p>
            <a:pPr marL="0" indent="0">
              <a:lnSpc>
                <a:spcPct val="80000"/>
              </a:lnSpc>
              <a:buFont typeface="Wingdings" panose="05000000000000000000" pitchFamily="2" charset="2"/>
              <a:buNone/>
            </a:pPr>
            <a:r>
              <a:rPr lang="zh-CN" altLang="zh-CN" sz="2000"/>
              <a:t>                    IN  AL</a:t>
            </a:r>
            <a:r>
              <a:rPr lang="zh-CN" sz="2000"/>
              <a:t>， </a:t>
            </a:r>
            <a:r>
              <a:rPr lang="zh-CN" altLang="zh-CN" sz="2000"/>
              <a:t>DX</a:t>
            </a:r>
            <a:r>
              <a:rPr lang="zh-CN" sz="2000"/>
              <a:t>；读入状态位</a:t>
            </a:r>
            <a:endParaRPr lang="zh-CN" sz="2000"/>
          </a:p>
          <a:p>
            <a:pPr marL="0" indent="0">
              <a:lnSpc>
                <a:spcPct val="80000"/>
              </a:lnSpc>
              <a:buFont typeface="Wingdings" panose="05000000000000000000" pitchFamily="2" charset="2"/>
              <a:buNone/>
            </a:pPr>
            <a:r>
              <a:rPr lang="zh-CN" sz="2000"/>
              <a:t>                    </a:t>
            </a:r>
            <a:r>
              <a:rPr lang="zh-CN" altLang="zh-CN" sz="2000"/>
              <a:t>TEST  AL</a:t>
            </a:r>
            <a:r>
              <a:rPr lang="zh-CN" sz="2000"/>
              <a:t>，  </a:t>
            </a:r>
            <a:r>
              <a:rPr lang="zh-CN" altLang="zh-CN" sz="2000"/>
              <a:t>01H</a:t>
            </a:r>
            <a:r>
              <a:rPr lang="zh-CN" sz="2000"/>
              <a:t>；数据准备好否？</a:t>
            </a:r>
            <a:endParaRPr lang="zh-CN" sz="2000"/>
          </a:p>
          <a:p>
            <a:pPr marL="0" indent="0">
              <a:lnSpc>
                <a:spcPct val="80000"/>
              </a:lnSpc>
              <a:buFont typeface="Wingdings" panose="05000000000000000000" pitchFamily="2" charset="2"/>
              <a:buNone/>
            </a:pPr>
            <a:r>
              <a:rPr lang="zh-CN" sz="2000"/>
              <a:t>                    </a:t>
            </a:r>
            <a:r>
              <a:rPr lang="zh-CN" altLang="zh-CN" sz="2000"/>
              <a:t>JZ  READ</a:t>
            </a:r>
            <a:r>
              <a:rPr lang="zh-CN" altLang="zh-CN" sz="2000" u="sng"/>
              <a:t> </a:t>
            </a:r>
            <a:r>
              <a:rPr lang="zh-CN" altLang="zh-CN" sz="2000"/>
              <a:t>S1</a:t>
            </a:r>
            <a:r>
              <a:rPr lang="zh-CN" sz="2000"/>
              <a:t>；否，循环检测</a:t>
            </a:r>
            <a:endParaRPr lang="zh-CN" sz="2000"/>
          </a:p>
          <a:p>
            <a:pPr marL="0" indent="0">
              <a:lnSpc>
                <a:spcPct val="80000"/>
              </a:lnSpc>
              <a:buFont typeface="Wingdings" panose="05000000000000000000" pitchFamily="2" charset="2"/>
              <a:buNone/>
            </a:pPr>
            <a:r>
              <a:rPr lang="zh-CN" sz="2000"/>
              <a:t>                    </a:t>
            </a:r>
            <a:r>
              <a:rPr lang="zh-CN" altLang="zh-CN" sz="2000"/>
              <a:t>MOV  DX</a:t>
            </a:r>
            <a:r>
              <a:rPr lang="zh-CN" sz="2000"/>
              <a:t>， </a:t>
            </a:r>
            <a:r>
              <a:rPr lang="zh-CN" altLang="zh-CN" sz="2000"/>
              <a:t>PORT_IN</a:t>
            </a:r>
            <a:endParaRPr lang="zh-CN" altLang="zh-CN" sz="2000"/>
          </a:p>
          <a:p>
            <a:pPr marL="0" indent="0">
              <a:lnSpc>
                <a:spcPct val="80000"/>
              </a:lnSpc>
              <a:buFont typeface="Wingdings" panose="05000000000000000000" pitchFamily="2" charset="2"/>
              <a:buNone/>
            </a:pPr>
            <a:r>
              <a:rPr lang="zh-CN" altLang="zh-CN" sz="2000"/>
              <a:t>                    IN  AL</a:t>
            </a:r>
            <a:r>
              <a:rPr lang="zh-CN" sz="2000"/>
              <a:t>， </a:t>
            </a:r>
            <a:r>
              <a:rPr lang="zh-CN" altLang="zh-CN" sz="2000"/>
              <a:t>DX</a:t>
            </a:r>
            <a:r>
              <a:rPr lang="zh-CN" sz="2000"/>
              <a:t>；已准备好，读入数据</a:t>
            </a:r>
            <a:endParaRPr lang="zh-CN" sz="2000"/>
          </a:p>
          <a:p>
            <a:pPr marL="0" indent="0">
              <a:lnSpc>
                <a:spcPct val="80000"/>
              </a:lnSpc>
              <a:buFont typeface="Wingdings" panose="05000000000000000000" pitchFamily="2" charset="2"/>
              <a:buNone/>
            </a:pPr>
            <a:r>
              <a:rPr lang="zh-CN" sz="2000"/>
              <a:t>                    </a:t>
            </a:r>
            <a:r>
              <a:rPr lang="zh-CN" altLang="zh-CN" sz="2000"/>
              <a:t>MOV  [BX]</a:t>
            </a:r>
            <a:r>
              <a:rPr lang="zh-CN" sz="2000"/>
              <a:t>，  </a:t>
            </a:r>
            <a:r>
              <a:rPr lang="zh-CN" altLang="zh-CN" sz="2000"/>
              <a:t>AL</a:t>
            </a:r>
            <a:r>
              <a:rPr lang="zh-CN" sz="2000"/>
              <a:t>； 存到内存缓冲区中</a:t>
            </a:r>
            <a:endParaRPr lang="zh-CN" sz="2000"/>
          </a:p>
          <a:p>
            <a:pPr marL="0" indent="0">
              <a:lnSpc>
                <a:spcPct val="80000"/>
              </a:lnSpc>
              <a:buFont typeface="Wingdings" panose="05000000000000000000" pitchFamily="2" charset="2"/>
              <a:buNone/>
            </a:pPr>
            <a:r>
              <a:rPr lang="zh-CN" sz="2000"/>
              <a:t>                    </a:t>
            </a:r>
            <a:r>
              <a:rPr lang="zh-CN" altLang="zh-CN" sz="2000"/>
              <a:t>INC  BX</a:t>
            </a:r>
            <a:r>
              <a:rPr lang="zh-CN" sz="2000"/>
              <a:t>；修改地址指针</a:t>
            </a:r>
            <a:endParaRPr lang="zh-CN" sz="2000"/>
          </a:p>
          <a:p>
            <a:pPr marL="0" indent="0">
              <a:lnSpc>
                <a:spcPct val="80000"/>
              </a:lnSpc>
              <a:buFont typeface="Wingdings" panose="05000000000000000000" pitchFamily="2" charset="2"/>
              <a:buNone/>
            </a:pPr>
            <a:r>
              <a:rPr lang="zh-CN" sz="2000"/>
              <a:t>                    </a:t>
            </a:r>
            <a:r>
              <a:rPr lang="zh-CN" altLang="zh-CN" sz="2000"/>
              <a:t>LOOP  READ</a:t>
            </a:r>
            <a:r>
              <a:rPr lang="zh-CN" altLang="zh-CN" sz="2000" u="sng"/>
              <a:t> </a:t>
            </a:r>
            <a:r>
              <a:rPr lang="zh-CN" altLang="zh-CN" sz="2000"/>
              <a:t>S1</a:t>
            </a:r>
            <a:r>
              <a:rPr lang="zh-CN" sz="2000"/>
              <a:t>；未传送完，继续传送 </a:t>
            </a:r>
            <a:endParaRPr lang="zh-CN" sz="2000"/>
          </a:p>
        </p:txBody>
      </p:sp>
      <p:pic>
        <p:nvPicPr>
          <p:cNvPr id="27652" name="Picture 4"/>
          <p:cNvPicPr>
            <a:picLocks noChangeAspect="1" noChangeArrowheads="1"/>
          </p:cNvPicPr>
          <p:nvPr/>
        </p:nvPicPr>
        <p:blipFill>
          <a:blip r:embed="rId1" cstate="print"/>
          <a:srcRect/>
          <a:stretch>
            <a:fillRect/>
          </a:stretch>
        </p:blipFill>
        <p:spPr bwMode="auto">
          <a:xfrm>
            <a:off x="8068733" y="2354264"/>
            <a:ext cx="3945467" cy="1633537"/>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zh-CN"/>
              <a:t>2.</a:t>
            </a:r>
            <a:r>
              <a:rPr lang="zh-CN"/>
              <a:t>查询式输出</a:t>
            </a:r>
            <a:endParaRPr lang="zh-CN"/>
          </a:p>
        </p:txBody>
      </p:sp>
      <p:pic>
        <p:nvPicPr>
          <p:cNvPr id="28675" name="Picture 3"/>
          <p:cNvPicPr>
            <a:picLocks noChangeAspect="1" noChangeArrowheads="1"/>
          </p:cNvPicPr>
          <p:nvPr/>
        </p:nvPicPr>
        <p:blipFill>
          <a:blip r:embed="rId1" cstate="print"/>
          <a:srcRect/>
          <a:stretch>
            <a:fillRect/>
          </a:stretch>
        </p:blipFill>
        <p:spPr bwMode="auto">
          <a:xfrm>
            <a:off x="1507067" y="1628776"/>
            <a:ext cx="8989484" cy="4424363"/>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t>查询式输出程序段</a:t>
            </a:r>
            <a:endParaRPr lang="zh-CN"/>
          </a:p>
        </p:txBody>
      </p:sp>
      <p:sp>
        <p:nvSpPr>
          <p:cNvPr id="29699" name="Rectangle 3"/>
          <p:cNvSpPr>
            <a:spLocks noGrp="1" noChangeArrowheads="1"/>
          </p:cNvSpPr>
          <p:nvPr>
            <p:ph type="body" idx="1"/>
          </p:nvPr>
        </p:nvSpPr>
        <p:spPr/>
        <p:txBody>
          <a:bodyPr/>
          <a:lstStyle/>
          <a:p>
            <a:pPr marL="0" indent="0">
              <a:lnSpc>
                <a:spcPct val="80000"/>
              </a:lnSpc>
              <a:buFont typeface="Wingdings" panose="05000000000000000000" pitchFamily="2" charset="2"/>
              <a:buNone/>
            </a:pPr>
            <a:r>
              <a:rPr lang="zh-CN" sz="2000"/>
              <a:t>在查询输出的过程中，输出的数据是</a:t>
            </a:r>
            <a:r>
              <a:rPr lang="zh-CN" altLang="zh-CN" sz="2000"/>
              <a:t>8</a:t>
            </a:r>
            <a:r>
              <a:rPr lang="zh-CN" sz="2000"/>
              <a:t>位或</a:t>
            </a:r>
            <a:r>
              <a:rPr lang="zh-CN" altLang="zh-CN" sz="2000"/>
              <a:t>16</a:t>
            </a:r>
            <a:r>
              <a:rPr lang="zh-CN" sz="2000"/>
              <a:t>位，而读入的状态位是</a:t>
            </a:r>
            <a:r>
              <a:rPr lang="zh-CN" altLang="zh-CN" sz="2000"/>
              <a:t>1</a:t>
            </a:r>
            <a:r>
              <a:rPr lang="zh-CN" sz="2000"/>
              <a:t>位，如图所示。设状态口的地址为</a:t>
            </a:r>
            <a:r>
              <a:rPr lang="zh-CN" altLang="zh-CN" sz="2000"/>
              <a:t>PORT_S2</a:t>
            </a:r>
            <a:r>
              <a:rPr lang="zh-CN" sz="2000"/>
              <a:t>，输出数据口的地址为</a:t>
            </a:r>
            <a:r>
              <a:rPr lang="zh-CN" altLang="zh-CN" sz="2000"/>
              <a:t>PORT_OUT</a:t>
            </a:r>
            <a:r>
              <a:rPr lang="zh-CN" sz="2000"/>
              <a:t>，传送数据的总字节数为</a:t>
            </a:r>
            <a:r>
              <a:rPr lang="zh-CN" altLang="zh-CN" sz="2000"/>
              <a:t>COUNT_2</a:t>
            </a:r>
            <a:r>
              <a:rPr lang="zh-CN" sz="2000"/>
              <a:t>，若输出的数据放在</a:t>
            </a:r>
            <a:r>
              <a:rPr lang="zh-CN" altLang="zh-CN" sz="2000"/>
              <a:t>2000H</a:t>
            </a:r>
            <a:r>
              <a:rPr lang="zh-CN" sz="2000"/>
              <a:t>开始的一段存储区中，则查询式输出数据的程序段为：</a:t>
            </a:r>
            <a:endParaRPr lang="zh-CN" sz="2000"/>
          </a:p>
          <a:p>
            <a:pPr marL="0" indent="0">
              <a:lnSpc>
                <a:spcPct val="80000"/>
              </a:lnSpc>
              <a:buFont typeface="Wingdings" panose="05000000000000000000" pitchFamily="2" charset="2"/>
              <a:buNone/>
            </a:pPr>
            <a:r>
              <a:rPr lang="zh-CN" sz="2000"/>
              <a:t>                     </a:t>
            </a:r>
            <a:r>
              <a:rPr lang="zh-CN" altLang="zh-CN" sz="2000"/>
              <a:t>MOV  BX</a:t>
            </a:r>
            <a:r>
              <a:rPr lang="zh-CN" sz="2000"/>
              <a:t>， </a:t>
            </a:r>
            <a:r>
              <a:rPr lang="zh-CN" altLang="zh-CN" sz="2000"/>
              <a:t>2000H</a:t>
            </a:r>
            <a:r>
              <a:rPr lang="zh-CN" sz="2000"/>
              <a:t>；初始化地址指针</a:t>
            </a:r>
            <a:endParaRPr lang="zh-CN" sz="2000"/>
          </a:p>
          <a:p>
            <a:pPr marL="0" indent="0">
              <a:lnSpc>
                <a:spcPct val="80000"/>
              </a:lnSpc>
              <a:buFont typeface="Wingdings" panose="05000000000000000000" pitchFamily="2" charset="2"/>
              <a:buNone/>
            </a:pPr>
            <a:r>
              <a:rPr lang="zh-CN" sz="2000"/>
              <a:t>                     </a:t>
            </a:r>
            <a:r>
              <a:rPr lang="zh-CN" altLang="zh-CN" sz="2000"/>
              <a:t>MOV  CX</a:t>
            </a:r>
            <a:r>
              <a:rPr lang="zh-CN" sz="2000"/>
              <a:t>， </a:t>
            </a:r>
            <a:r>
              <a:rPr lang="zh-CN" altLang="zh-CN" sz="2000"/>
              <a:t>COUNT_2</a:t>
            </a:r>
            <a:r>
              <a:rPr lang="zh-CN" sz="2000"/>
              <a:t>；字节数</a:t>
            </a:r>
            <a:endParaRPr lang="zh-CN" sz="2000"/>
          </a:p>
          <a:p>
            <a:pPr marL="0" indent="0">
              <a:lnSpc>
                <a:spcPct val="80000"/>
              </a:lnSpc>
              <a:buFont typeface="Wingdings" panose="05000000000000000000" pitchFamily="2" charset="2"/>
              <a:buNone/>
            </a:pPr>
            <a:r>
              <a:rPr lang="zh-CN" altLang="zh-CN" sz="2000"/>
              <a:t>READ_S2 :  MOV  DX</a:t>
            </a:r>
            <a:r>
              <a:rPr lang="zh-CN" sz="2000"/>
              <a:t>， </a:t>
            </a:r>
            <a:r>
              <a:rPr lang="zh-CN" altLang="zh-CN" sz="2000"/>
              <a:t>PORT_S2</a:t>
            </a:r>
            <a:endParaRPr lang="zh-CN" altLang="zh-CN" sz="2000"/>
          </a:p>
          <a:p>
            <a:pPr marL="0" indent="0">
              <a:lnSpc>
                <a:spcPct val="80000"/>
              </a:lnSpc>
              <a:buFont typeface="Wingdings" panose="05000000000000000000" pitchFamily="2" charset="2"/>
              <a:buNone/>
            </a:pPr>
            <a:r>
              <a:rPr lang="zh-CN" altLang="zh-CN" sz="2000"/>
              <a:t>                     IN  AL</a:t>
            </a:r>
            <a:r>
              <a:rPr lang="zh-CN" sz="2000"/>
              <a:t>， </a:t>
            </a:r>
            <a:r>
              <a:rPr lang="zh-CN" altLang="zh-CN" sz="2000"/>
              <a:t>DX</a:t>
            </a:r>
            <a:r>
              <a:rPr lang="zh-CN" sz="2000"/>
              <a:t>；读入状态位</a:t>
            </a:r>
            <a:endParaRPr lang="zh-CN" sz="2000"/>
          </a:p>
          <a:p>
            <a:pPr marL="0" indent="0">
              <a:lnSpc>
                <a:spcPct val="80000"/>
              </a:lnSpc>
              <a:buFont typeface="Wingdings" panose="05000000000000000000" pitchFamily="2" charset="2"/>
              <a:buNone/>
            </a:pPr>
            <a:r>
              <a:rPr lang="zh-CN" sz="2000"/>
              <a:t>                     </a:t>
            </a:r>
            <a:r>
              <a:rPr lang="zh-CN" altLang="zh-CN" sz="2000"/>
              <a:t>TEST  AL</a:t>
            </a:r>
            <a:r>
              <a:rPr lang="zh-CN" sz="2000"/>
              <a:t>， </a:t>
            </a:r>
            <a:r>
              <a:rPr lang="zh-CN" altLang="zh-CN" sz="2000"/>
              <a:t>80H</a:t>
            </a:r>
            <a:r>
              <a:rPr lang="zh-CN" sz="2000"/>
              <a:t>；数据准备好否？</a:t>
            </a:r>
            <a:endParaRPr lang="zh-CN" sz="2000"/>
          </a:p>
          <a:p>
            <a:pPr marL="0" indent="0">
              <a:lnSpc>
                <a:spcPct val="80000"/>
              </a:lnSpc>
              <a:buFont typeface="Wingdings" panose="05000000000000000000" pitchFamily="2" charset="2"/>
              <a:buNone/>
            </a:pPr>
            <a:r>
              <a:rPr lang="zh-CN" sz="2000"/>
              <a:t>                     </a:t>
            </a:r>
            <a:r>
              <a:rPr lang="zh-CN" altLang="zh-CN" sz="2000"/>
              <a:t>JNZ  READ_S2</a:t>
            </a:r>
            <a:r>
              <a:rPr lang="zh-CN" sz="2000"/>
              <a:t>；否，循环检测</a:t>
            </a:r>
            <a:endParaRPr lang="zh-CN" sz="2000"/>
          </a:p>
          <a:p>
            <a:pPr marL="0" indent="0">
              <a:lnSpc>
                <a:spcPct val="80000"/>
              </a:lnSpc>
              <a:buFont typeface="Wingdings" panose="05000000000000000000" pitchFamily="2" charset="2"/>
              <a:buNone/>
            </a:pPr>
            <a:r>
              <a:rPr lang="zh-CN" sz="2000"/>
              <a:t>                     </a:t>
            </a:r>
            <a:r>
              <a:rPr lang="zh-CN" altLang="zh-CN" sz="2000"/>
              <a:t>MOV  AL</a:t>
            </a:r>
            <a:r>
              <a:rPr lang="zh-CN" sz="2000"/>
              <a:t>， </a:t>
            </a:r>
            <a:r>
              <a:rPr lang="zh-CN" altLang="zh-CN" sz="2000"/>
              <a:t>[BX]</a:t>
            </a:r>
            <a:r>
              <a:rPr lang="zh-CN" sz="2000"/>
              <a:t>；从内存缓冲区中取数据</a:t>
            </a:r>
            <a:endParaRPr lang="zh-CN" sz="2000"/>
          </a:p>
          <a:p>
            <a:pPr marL="0" indent="0">
              <a:lnSpc>
                <a:spcPct val="80000"/>
              </a:lnSpc>
              <a:buFont typeface="Wingdings" panose="05000000000000000000" pitchFamily="2" charset="2"/>
              <a:buNone/>
            </a:pPr>
            <a:r>
              <a:rPr lang="zh-CN" sz="2000"/>
              <a:t>                     </a:t>
            </a:r>
            <a:r>
              <a:rPr lang="zh-CN" altLang="zh-CN" sz="2000"/>
              <a:t>MOV  DX</a:t>
            </a:r>
            <a:r>
              <a:rPr lang="zh-CN" sz="2000"/>
              <a:t>， </a:t>
            </a:r>
            <a:r>
              <a:rPr lang="zh-CN" altLang="zh-CN" sz="2000"/>
              <a:t>PORT_OUT</a:t>
            </a:r>
            <a:endParaRPr lang="zh-CN" altLang="zh-CN" sz="2000"/>
          </a:p>
          <a:p>
            <a:pPr marL="0" indent="0">
              <a:lnSpc>
                <a:spcPct val="80000"/>
              </a:lnSpc>
              <a:buFont typeface="Wingdings" panose="05000000000000000000" pitchFamily="2" charset="2"/>
              <a:buNone/>
            </a:pPr>
            <a:r>
              <a:rPr lang="zh-CN" altLang="zh-CN" sz="2000"/>
              <a:t>                     OUT  DX</a:t>
            </a:r>
            <a:r>
              <a:rPr lang="zh-CN" sz="2000"/>
              <a:t>， </a:t>
            </a:r>
            <a:r>
              <a:rPr lang="zh-CN" altLang="zh-CN" sz="2000"/>
              <a:t>AL</a:t>
            </a:r>
            <a:r>
              <a:rPr lang="zh-CN" sz="2000"/>
              <a:t>；输出数据</a:t>
            </a:r>
            <a:endParaRPr lang="zh-CN" sz="2000"/>
          </a:p>
          <a:p>
            <a:pPr marL="0" indent="0">
              <a:lnSpc>
                <a:spcPct val="80000"/>
              </a:lnSpc>
              <a:buFont typeface="Wingdings" panose="05000000000000000000" pitchFamily="2" charset="2"/>
              <a:buNone/>
            </a:pPr>
            <a:r>
              <a:rPr lang="zh-CN" sz="2000"/>
              <a:t>                     </a:t>
            </a:r>
            <a:r>
              <a:rPr lang="zh-CN" altLang="zh-CN" sz="2000"/>
              <a:t>INC  BX</a:t>
            </a:r>
            <a:r>
              <a:rPr lang="zh-CN" sz="2000"/>
              <a:t>；修改地址指针</a:t>
            </a:r>
            <a:endParaRPr lang="zh-CN" sz="2000"/>
          </a:p>
          <a:p>
            <a:pPr marL="0" indent="0">
              <a:lnSpc>
                <a:spcPct val="80000"/>
              </a:lnSpc>
              <a:buFont typeface="Wingdings" panose="05000000000000000000" pitchFamily="2" charset="2"/>
              <a:buNone/>
            </a:pPr>
            <a:r>
              <a:rPr lang="zh-CN" sz="2000"/>
              <a:t>                     </a:t>
            </a:r>
            <a:r>
              <a:rPr lang="zh-CN" altLang="zh-CN" sz="2000"/>
              <a:t>LOOP  READ_S2</a:t>
            </a:r>
            <a:r>
              <a:rPr lang="zh-CN" sz="2000"/>
              <a:t>；未传送完，继续传送 </a:t>
            </a:r>
            <a:endParaRPr lang="zh-CN" sz="2000"/>
          </a:p>
        </p:txBody>
      </p:sp>
      <p:pic>
        <p:nvPicPr>
          <p:cNvPr id="29700" name="Picture 4"/>
          <p:cNvPicPr>
            <a:picLocks noChangeAspect="1" noChangeArrowheads="1"/>
          </p:cNvPicPr>
          <p:nvPr/>
        </p:nvPicPr>
        <p:blipFill>
          <a:blip r:embed="rId1" cstate="print"/>
          <a:srcRect/>
          <a:stretch>
            <a:fillRect/>
          </a:stretch>
        </p:blipFill>
        <p:spPr bwMode="auto">
          <a:xfrm>
            <a:off x="8233834" y="2452688"/>
            <a:ext cx="3958167" cy="16891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a:t>结论</a:t>
            </a:r>
            <a:endParaRPr lang="zh-CN" altLang="en-US"/>
          </a:p>
        </p:txBody>
      </p:sp>
      <p:sp>
        <p:nvSpPr>
          <p:cNvPr id="30723" name="Rectangle 3"/>
          <p:cNvSpPr>
            <a:spLocks noGrp="1" noChangeArrowheads="1"/>
          </p:cNvSpPr>
          <p:nvPr>
            <p:ph type="body" idx="1"/>
          </p:nvPr>
        </p:nvSpPr>
        <p:spPr/>
        <p:txBody>
          <a:bodyPr/>
          <a:lstStyle/>
          <a:p>
            <a:pPr marL="12700" indent="-12700">
              <a:buFont typeface="Wingdings" panose="05000000000000000000" pitchFamily="2" charset="2"/>
              <a:buNone/>
            </a:pPr>
            <a:r>
              <a:rPr lang="zh-CN"/>
              <a:t>利用查询方式进行数据输入输出的过程中，</a:t>
            </a:r>
            <a:r>
              <a:rPr lang="zh-CN" altLang="zh-CN"/>
              <a:t>CPU</a:t>
            </a:r>
            <a:r>
              <a:rPr lang="zh-CN"/>
              <a:t>将大量时间耗费在读取和检测外设状态上，真正用于传送数据的时间很少，这样大大降低了</a:t>
            </a:r>
            <a:r>
              <a:rPr lang="zh-CN" altLang="zh-CN"/>
              <a:t>CPU</a:t>
            </a:r>
            <a:r>
              <a:rPr lang="zh-CN"/>
              <a:t>的效率。</a:t>
            </a:r>
            <a:endParaRPr lang="zh-CN"/>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zh-CN"/>
              <a:t>6.2.3 </a:t>
            </a:r>
            <a:r>
              <a:rPr lang="zh-CN"/>
              <a:t>中断方式</a:t>
            </a:r>
            <a:endParaRPr lang="zh-CN"/>
          </a:p>
        </p:txBody>
      </p:sp>
      <p:sp>
        <p:nvSpPr>
          <p:cNvPr id="31747" name="Rectangle 3"/>
          <p:cNvSpPr>
            <a:spLocks noGrp="1" noChangeArrowheads="1"/>
          </p:cNvSpPr>
          <p:nvPr>
            <p:ph type="body" idx="1"/>
          </p:nvPr>
        </p:nvSpPr>
        <p:spPr/>
        <p:txBody>
          <a:bodyPr/>
          <a:lstStyle/>
          <a:p>
            <a:pPr>
              <a:lnSpc>
                <a:spcPct val="80000"/>
              </a:lnSpc>
            </a:pPr>
            <a:r>
              <a:rPr lang="zh-CN" sz="2800"/>
              <a:t>无条件数据传送和查询方式数据传送这两种输入输出方式，都是由</a:t>
            </a:r>
            <a:r>
              <a:rPr lang="zh-CN" altLang="zh-CN" sz="2800"/>
              <a:t>CPU</a:t>
            </a:r>
            <a:r>
              <a:rPr lang="zh-CN" sz="2800"/>
              <a:t>去管理外部设备，这对具有多外设且要求实时性较强的计算机控制系统是不适合的。</a:t>
            </a:r>
            <a:endParaRPr lang="zh-CN" sz="2800"/>
          </a:p>
          <a:p>
            <a:pPr>
              <a:lnSpc>
                <a:spcPct val="80000"/>
              </a:lnSpc>
            </a:pPr>
            <a:r>
              <a:rPr lang="zh-CN" sz="2800"/>
              <a:t>为了提高</a:t>
            </a:r>
            <a:r>
              <a:rPr lang="zh-CN" altLang="zh-CN" sz="2800"/>
              <a:t>CPU</a:t>
            </a:r>
            <a:r>
              <a:rPr lang="zh-CN" sz="2800"/>
              <a:t>的效率，可以采用中断传送方式：即当</a:t>
            </a:r>
            <a:r>
              <a:rPr lang="zh-CN" altLang="zh-CN" sz="2800"/>
              <a:t>CPU</a:t>
            </a:r>
            <a:r>
              <a:rPr lang="zh-CN" sz="2800"/>
              <a:t>需要输入时，若外设的输入数据已存入寄存器；需要输出时，若外设已把上一个数据输出，输出寄存器已空，这时均可由外设向</a:t>
            </a:r>
            <a:r>
              <a:rPr lang="zh-CN" altLang="zh-CN" sz="2800"/>
              <a:t>CPU</a:t>
            </a:r>
            <a:r>
              <a:rPr lang="zh-CN" sz="2800"/>
              <a:t>发出中断请求。</a:t>
            </a:r>
            <a:endParaRPr lang="zh-CN" sz="2800"/>
          </a:p>
          <a:p>
            <a:pPr>
              <a:lnSpc>
                <a:spcPct val="80000"/>
              </a:lnSpc>
            </a:pPr>
            <a:r>
              <a:rPr lang="zh-CN" altLang="zh-CN" sz="2800"/>
              <a:t>CPU</a:t>
            </a:r>
            <a:r>
              <a:rPr lang="zh-CN" sz="2800"/>
              <a:t>在接到请求后若条件允许，则暂停</a:t>
            </a:r>
            <a:r>
              <a:rPr lang="zh-CN" altLang="zh-CN" sz="2800"/>
              <a:t>(</a:t>
            </a:r>
            <a:r>
              <a:rPr lang="zh-CN" sz="2800"/>
              <a:t>或中断</a:t>
            </a:r>
            <a:r>
              <a:rPr lang="zh-CN" altLang="zh-CN" sz="2800"/>
              <a:t>)</a:t>
            </a:r>
            <a:r>
              <a:rPr lang="zh-CN" sz="2800"/>
              <a:t>正在进行的工作而转去对该外设服务，并在服务结束后回到原来被中断的地方继续原来的工作。</a:t>
            </a:r>
            <a:endParaRPr 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747">
                                            <p:txEl>
                                              <p:pRg st="2" end="2"/>
                                            </p:txEl>
                                          </p:spTgt>
                                        </p:tgtEl>
                                        <p:attrNameLst>
                                          <p:attrName>style.visibility</p:attrName>
                                        </p:attrNameLst>
                                      </p:cBhvr>
                                      <p:to>
                                        <p:strVal val="visible"/>
                                      </p:to>
                                    </p:set>
                                    <p:anim calcmode="lin" valueType="num">
                                      <p:cBhvr additive="base">
                                        <p:cTn id="19"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autoUpdateAnimBg="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zh-CN"/>
              <a:t>中断流程</a:t>
            </a:r>
            <a:endParaRPr lang="zh-CN"/>
          </a:p>
        </p:txBody>
      </p:sp>
      <p:grpSp>
        <p:nvGrpSpPr>
          <p:cNvPr id="2" name="Group 3"/>
          <p:cNvGrpSpPr/>
          <p:nvPr/>
        </p:nvGrpSpPr>
        <p:grpSpPr bwMode="auto">
          <a:xfrm>
            <a:off x="2235201" y="1730094"/>
            <a:ext cx="8074351" cy="4243670"/>
            <a:chOff x="0" y="-2"/>
            <a:chExt cx="3556" cy="2455"/>
          </a:xfrm>
        </p:grpSpPr>
        <p:sp>
          <p:nvSpPr>
            <p:cNvPr id="32772" name="Line 4"/>
            <p:cNvSpPr>
              <a:spLocks noChangeShapeType="1"/>
            </p:cNvSpPr>
            <p:nvPr/>
          </p:nvSpPr>
          <p:spPr bwMode="auto">
            <a:xfrm>
              <a:off x="1392" y="342"/>
              <a:ext cx="0" cy="845"/>
            </a:xfrm>
            <a:prstGeom prst="line">
              <a:avLst/>
            </a:prstGeom>
            <a:noFill/>
            <a:ln w="38100" cmpd="sng">
              <a:solidFill>
                <a:schemeClr val="tx2"/>
              </a:solidFill>
              <a:round/>
              <a:tailEnd type="triangle" w="med" len="med"/>
            </a:ln>
            <a:effectLst/>
          </p:spPr>
          <p:txBody>
            <a:bodyPr anchor="ctr">
              <a:spAutoFit/>
            </a:bodyPr>
            <a:lstStyle/>
            <a:p>
              <a:endParaRPr lang="zh-CN" altLang="en-US"/>
            </a:p>
          </p:txBody>
        </p:sp>
        <p:sp>
          <p:nvSpPr>
            <p:cNvPr id="32773" name="Line 5"/>
            <p:cNvSpPr>
              <a:spLocks noChangeShapeType="1"/>
            </p:cNvSpPr>
            <p:nvPr/>
          </p:nvSpPr>
          <p:spPr bwMode="auto">
            <a:xfrm>
              <a:off x="1392" y="1313"/>
              <a:ext cx="0" cy="1140"/>
            </a:xfrm>
            <a:prstGeom prst="line">
              <a:avLst/>
            </a:prstGeom>
            <a:noFill/>
            <a:ln w="38100" cmpd="sng">
              <a:solidFill>
                <a:schemeClr val="tx2"/>
              </a:solidFill>
              <a:round/>
              <a:headEnd type="oval" w="med" len="med"/>
              <a:tailEnd type="triangle" w="med" len="med"/>
            </a:ln>
            <a:effectLst/>
          </p:spPr>
          <p:txBody>
            <a:bodyPr anchor="ctr">
              <a:spAutoFit/>
            </a:bodyPr>
            <a:lstStyle/>
            <a:p>
              <a:endParaRPr lang="zh-CN" altLang="en-US"/>
            </a:p>
          </p:txBody>
        </p:sp>
        <p:sp>
          <p:nvSpPr>
            <p:cNvPr id="32774" name="Line 6"/>
            <p:cNvSpPr>
              <a:spLocks noChangeShapeType="1"/>
            </p:cNvSpPr>
            <p:nvPr/>
          </p:nvSpPr>
          <p:spPr bwMode="auto">
            <a:xfrm>
              <a:off x="2628" y="976"/>
              <a:ext cx="0" cy="717"/>
            </a:xfrm>
            <a:prstGeom prst="line">
              <a:avLst/>
            </a:prstGeom>
            <a:noFill/>
            <a:ln w="38100" cmpd="sng">
              <a:solidFill>
                <a:schemeClr val="tx2"/>
              </a:solidFill>
              <a:round/>
              <a:tailEnd type="triangle" w="med" len="med"/>
            </a:ln>
            <a:effectLst/>
          </p:spPr>
          <p:txBody>
            <a:bodyPr anchor="ctr">
              <a:spAutoFit/>
            </a:bodyPr>
            <a:lstStyle/>
            <a:p>
              <a:endParaRPr lang="zh-CN" altLang="en-US"/>
            </a:p>
          </p:txBody>
        </p:sp>
        <p:sp>
          <p:nvSpPr>
            <p:cNvPr id="32775" name="AutoShape 7"/>
            <p:cNvSpPr>
              <a:spLocks noChangeArrowheads="1"/>
            </p:cNvSpPr>
            <p:nvPr/>
          </p:nvSpPr>
          <p:spPr bwMode="auto">
            <a:xfrm>
              <a:off x="0" y="1274"/>
              <a:ext cx="734" cy="376"/>
            </a:xfrm>
            <a:prstGeom prst="wedgeEllipseCallout">
              <a:avLst>
                <a:gd name="adj1" fmla="val 119889"/>
                <a:gd name="adj2" fmla="val -40829"/>
              </a:avLst>
            </a:prstGeom>
            <a:noFill/>
            <a:ln w="28575" cmpd="sng">
              <a:solidFill>
                <a:schemeClr val="accent2"/>
              </a:solidFill>
              <a:miter lim="800000"/>
            </a:ln>
            <a:effectLst/>
          </p:spPr>
          <p:txBody>
            <a:bodyPr anchor="ctr">
              <a:spAutoFit/>
            </a:bodyPr>
            <a:lstStyle/>
            <a:p>
              <a:pPr algn="ctr"/>
              <a:endParaRPr lang="zh-CN" altLang="zh-CN" sz="2400" b="1">
                <a:latin typeface="Arial" panose="020B0604020202020204" pitchFamily="34" charset="0"/>
                <a:ea typeface="宋体" panose="02010600030101010101" pitchFamily="2" charset="-122"/>
              </a:endParaRPr>
            </a:p>
          </p:txBody>
        </p:sp>
        <p:sp>
          <p:nvSpPr>
            <p:cNvPr id="32776" name="Text Box 8"/>
            <p:cNvSpPr txBox="1">
              <a:spLocks noChangeArrowheads="1"/>
            </p:cNvSpPr>
            <p:nvPr/>
          </p:nvSpPr>
          <p:spPr bwMode="auto">
            <a:xfrm>
              <a:off x="216" y="1306"/>
              <a:ext cx="354" cy="267"/>
            </a:xfrm>
            <a:prstGeom prst="rect">
              <a:avLst/>
            </a:prstGeom>
            <a:noFill/>
            <a:ln w="9525">
              <a:noFill/>
              <a:miter lim="800000"/>
            </a:ln>
            <a:effectLst/>
          </p:spPr>
          <p:txBody>
            <a:bodyPr wrap="none" anchor="ctr">
              <a:spAutoFit/>
            </a:bodyPr>
            <a:lstStyle/>
            <a:p>
              <a:pPr algn="ctr"/>
              <a:r>
                <a:rPr lang="zh-CN" sz="2400" b="1">
                  <a:latin typeface="Arial" panose="020B0604020202020204" pitchFamily="34" charset="0"/>
                  <a:ea typeface="宋体" panose="02010600030101010101" pitchFamily="2" charset="-122"/>
                </a:rPr>
                <a:t>断点</a:t>
              </a:r>
              <a:endParaRPr lang="zh-CN" sz="2400" b="1">
                <a:latin typeface="Arial" panose="020B0604020202020204" pitchFamily="34" charset="0"/>
                <a:ea typeface="宋体" panose="02010600030101010101" pitchFamily="2" charset="-122"/>
              </a:endParaRPr>
            </a:p>
          </p:txBody>
        </p:sp>
        <p:sp>
          <p:nvSpPr>
            <p:cNvPr id="32777" name="Text Box 9"/>
            <p:cNvSpPr txBox="1">
              <a:spLocks noChangeArrowheads="1"/>
            </p:cNvSpPr>
            <p:nvPr/>
          </p:nvSpPr>
          <p:spPr bwMode="auto">
            <a:xfrm>
              <a:off x="1156" y="-2"/>
              <a:ext cx="490" cy="267"/>
            </a:xfrm>
            <a:prstGeom prst="rect">
              <a:avLst/>
            </a:prstGeom>
            <a:noFill/>
            <a:ln w="9525">
              <a:noFill/>
              <a:miter lim="800000"/>
            </a:ln>
            <a:effectLst/>
          </p:spPr>
          <p:txBody>
            <a:bodyPr wrap="none" anchor="ctr">
              <a:spAutoFit/>
            </a:bodyPr>
            <a:lstStyle/>
            <a:p>
              <a:pPr algn="ctr"/>
              <a:r>
                <a:rPr lang="zh-CN" sz="2400" b="1">
                  <a:latin typeface="Arial" panose="020B0604020202020204" pitchFamily="34" charset="0"/>
                  <a:ea typeface="宋体" panose="02010600030101010101" pitchFamily="2" charset="-122"/>
                </a:rPr>
                <a:t>主程序</a:t>
              </a:r>
              <a:endParaRPr lang="zh-CN" sz="2400" b="1">
                <a:latin typeface="Arial" panose="020B0604020202020204" pitchFamily="34" charset="0"/>
                <a:ea typeface="宋体" panose="02010600030101010101" pitchFamily="2" charset="-122"/>
              </a:endParaRPr>
            </a:p>
          </p:txBody>
        </p:sp>
        <p:sp>
          <p:nvSpPr>
            <p:cNvPr id="32778" name="Text Box 10"/>
            <p:cNvSpPr txBox="1">
              <a:spLocks noChangeArrowheads="1"/>
            </p:cNvSpPr>
            <p:nvPr/>
          </p:nvSpPr>
          <p:spPr bwMode="auto">
            <a:xfrm>
              <a:off x="2296" y="420"/>
              <a:ext cx="899" cy="267"/>
            </a:xfrm>
            <a:prstGeom prst="rect">
              <a:avLst/>
            </a:prstGeom>
            <a:noFill/>
            <a:ln w="9525">
              <a:noFill/>
              <a:miter lim="800000"/>
            </a:ln>
            <a:effectLst/>
          </p:spPr>
          <p:txBody>
            <a:bodyPr wrap="none" anchor="ctr">
              <a:spAutoFit/>
            </a:bodyPr>
            <a:lstStyle/>
            <a:p>
              <a:pPr algn="ctr"/>
              <a:r>
                <a:rPr lang="zh-CN" sz="2400" b="1">
                  <a:latin typeface="Arial" panose="020B0604020202020204" pitchFamily="34" charset="0"/>
                  <a:ea typeface="宋体" panose="02010600030101010101" pitchFamily="2" charset="-122"/>
                </a:rPr>
                <a:t>中断服务程序</a:t>
              </a:r>
              <a:endParaRPr lang="zh-CN" sz="2400" b="1">
                <a:latin typeface="Arial" panose="020B0604020202020204" pitchFamily="34" charset="0"/>
                <a:ea typeface="宋体" panose="02010600030101010101" pitchFamily="2" charset="-122"/>
              </a:endParaRPr>
            </a:p>
          </p:txBody>
        </p:sp>
        <p:sp>
          <p:nvSpPr>
            <p:cNvPr id="32779" name="Line 11"/>
            <p:cNvSpPr>
              <a:spLocks noChangeShapeType="1"/>
            </p:cNvSpPr>
            <p:nvPr/>
          </p:nvSpPr>
          <p:spPr bwMode="auto">
            <a:xfrm>
              <a:off x="624" y="1144"/>
              <a:ext cx="624" cy="0"/>
            </a:xfrm>
            <a:prstGeom prst="line">
              <a:avLst/>
            </a:prstGeom>
            <a:noFill/>
            <a:ln w="28575" cmpd="sng">
              <a:solidFill>
                <a:schemeClr val="accent2"/>
              </a:solidFill>
              <a:round/>
              <a:tailEnd type="triangle" w="med" len="med"/>
            </a:ln>
            <a:effectLst/>
          </p:spPr>
          <p:txBody>
            <a:bodyPr wrap="none" anchor="ctr">
              <a:spAutoFit/>
            </a:bodyPr>
            <a:lstStyle/>
            <a:p>
              <a:endParaRPr lang="zh-CN" altLang="en-US"/>
            </a:p>
          </p:txBody>
        </p:sp>
        <p:sp>
          <p:nvSpPr>
            <p:cNvPr id="32780" name="Text Box 12"/>
            <p:cNvSpPr txBox="1">
              <a:spLocks noChangeArrowheads="1"/>
            </p:cNvSpPr>
            <p:nvPr/>
          </p:nvSpPr>
          <p:spPr bwMode="auto">
            <a:xfrm>
              <a:off x="272" y="842"/>
              <a:ext cx="626" cy="267"/>
            </a:xfrm>
            <a:prstGeom prst="rect">
              <a:avLst/>
            </a:prstGeom>
            <a:noFill/>
            <a:ln w="9525">
              <a:noFill/>
              <a:miter lim="800000"/>
            </a:ln>
            <a:effectLst/>
          </p:spPr>
          <p:txBody>
            <a:bodyPr wrap="none" anchor="ctr">
              <a:spAutoFit/>
            </a:bodyPr>
            <a:lstStyle/>
            <a:p>
              <a:pPr algn="ctr"/>
              <a:r>
                <a:rPr lang="zh-CN" sz="2400" b="1">
                  <a:latin typeface="Arial" panose="020B0604020202020204" pitchFamily="34" charset="0"/>
                  <a:ea typeface="宋体" panose="02010600030101010101" pitchFamily="2" charset="-122"/>
                </a:rPr>
                <a:t>中断请求</a:t>
              </a:r>
              <a:endParaRPr lang="zh-CN" sz="2400" b="1">
                <a:latin typeface="Arial" panose="020B0604020202020204" pitchFamily="34" charset="0"/>
                <a:ea typeface="宋体" panose="02010600030101010101" pitchFamily="2" charset="-122"/>
              </a:endParaRPr>
            </a:p>
          </p:txBody>
        </p:sp>
        <p:sp>
          <p:nvSpPr>
            <p:cNvPr id="32781" name="Line 13"/>
            <p:cNvSpPr>
              <a:spLocks noChangeShapeType="1"/>
            </p:cNvSpPr>
            <p:nvPr/>
          </p:nvSpPr>
          <p:spPr bwMode="auto">
            <a:xfrm flipV="1">
              <a:off x="1488" y="933"/>
              <a:ext cx="1104" cy="254"/>
            </a:xfrm>
            <a:prstGeom prst="line">
              <a:avLst/>
            </a:prstGeom>
            <a:noFill/>
            <a:ln w="28575" cmpd="sng">
              <a:solidFill>
                <a:schemeClr val="tx2"/>
              </a:solidFill>
              <a:round/>
              <a:tailEnd type="triangle" w="med" len="med"/>
            </a:ln>
            <a:effectLst/>
          </p:spPr>
          <p:txBody>
            <a:bodyPr wrap="none" anchor="ctr">
              <a:spAutoFit/>
            </a:bodyPr>
            <a:lstStyle/>
            <a:p>
              <a:endParaRPr lang="zh-CN" altLang="en-US"/>
            </a:p>
          </p:txBody>
        </p:sp>
        <p:sp>
          <p:nvSpPr>
            <p:cNvPr id="32782" name="Line 14"/>
            <p:cNvSpPr>
              <a:spLocks noChangeShapeType="1"/>
            </p:cNvSpPr>
            <p:nvPr/>
          </p:nvSpPr>
          <p:spPr bwMode="auto">
            <a:xfrm flipH="1" flipV="1">
              <a:off x="1488" y="1271"/>
              <a:ext cx="1056" cy="464"/>
            </a:xfrm>
            <a:prstGeom prst="line">
              <a:avLst/>
            </a:prstGeom>
            <a:noFill/>
            <a:ln w="28575" cmpd="sng">
              <a:solidFill>
                <a:schemeClr val="tx2"/>
              </a:solidFill>
              <a:round/>
              <a:tailEnd type="triangle" w="med" len="med"/>
            </a:ln>
            <a:effectLst/>
          </p:spPr>
          <p:txBody>
            <a:bodyPr wrap="none" anchor="ctr">
              <a:spAutoFit/>
            </a:bodyPr>
            <a:lstStyle/>
            <a:p>
              <a:endParaRPr lang="zh-CN" altLang="en-US"/>
            </a:p>
          </p:txBody>
        </p:sp>
        <p:sp>
          <p:nvSpPr>
            <p:cNvPr id="32783" name="Text Box 15"/>
            <p:cNvSpPr txBox="1">
              <a:spLocks noChangeArrowheads="1"/>
            </p:cNvSpPr>
            <p:nvPr/>
          </p:nvSpPr>
          <p:spPr bwMode="auto">
            <a:xfrm>
              <a:off x="2930" y="1006"/>
              <a:ext cx="626" cy="481"/>
            </a:xfrm>
            <a:prstGeom prst="rect">
              <a:avLst/>
            </a:prstGeom>
            <a:noFill/>
            <a:ln w="9525">
              <a:noFill/>
              <a:miter lim="800000"/>
            </a:ln>
            <a:effectLst/>
          </p:spPr>
          <p:txBody>
            <a:bodyPr wrap="none" anchor="ctr">
              <a:spAutoFit/>
            </a:bodyPr>
            <a:lstStyle/>
            <a:p>
              <a:pPr algn="ctr"/>
              <a:r>
                <a:rPr lang="zh-CN" sz="2400" b="1">
                  <a:latin typeface="Arial" panose="020B0604020202020204" pitchFamily="34" charset="0"/>
                  <a:ea typeface="宋体" panose="02010600030101010101" pitchFamily="2" charset="-122"/>
                </a:rPr>
                <a:t>对外设</a:t>
              </a:r>
              <a:endParaRPr lang="zh-CN" sz="2400" b="1">
                <a:latin typeface="Arial" panose="020B0604020202020204" pitchFamily="34" charset="0"/>
                <a:ea typeface="宋体" panose="02010600030101010101" pitchFamily="2" charset="-122"/>
              </a:endParaRPr>
            </a:p>
            <a:p>
              <a:pPr algn="ctr"/>
              <a:r>
                <a:rPr lang="zh-CN" sz="2400" b="1">
                  <a:latin typeface="Arial" panose="020B0604020202020204" pitchFamily="34" charset="0"/>
                  <a:ea typeface="宋体" panose="02010600030101010101" pitchFamily="2" charset="-122"/>
                </a:rPr>
                <a:t>进行处理</a:t>
              </a:r>
              <a:endParaRPr lang="zh-CN" sz="2400" b="1">
                <a:latin typeface="Arial" panose="020B0604020202020204" pitchFamily="34" charset="0"/>
                <a:ea typeface="宋体" panose="02010600030101010101" pitchFamily="2" charset="-122"/>
              </a:endParaRPr>
            </a:p>
          </p:txBody>
        </p:sp>
        <p:sp>
          <p:nvSpPr>
            <p:cNvPr id="32784" name="Text Box 16"/>
            <p:cNvSpPr txBox="1">
              <a:spLocks noChangeArrowheads="1"/>
            </p:cNvSpPr>
            <p:nvPr/>
          </p:nvSpPr>
          <p:spPr bwMode="auto">
            <a:xfrm>
              <a:off x="560" y="1813"/>
              <a:ext cx="626" cy="267"/>
            </a:xfrm>
            <a:prstGeom prst="rect">
              <a:avLst/>
            </a:prstGeom>
            <a:noFill/>
            <a:ln w="9525">
              <a:noFill/>
              <a:miter lim="800000"/>
            </a:ln>
            <a:effectLst/>
          </p:spPr>
          <p:txBody>
            <a:bodyPr wrap="none" anchor="ctr">
              <a:spAutoFit/>
            </a:bodyPr>
            <a:lstStyle/>
            <a:p>
              <a:pPr algn="ctr"/>
              <a:r>
                <a:rPr lang="zh-CN" sz="2400" b="1">
                  <a:latin typeface="Arial" panose="020B0604020202020204" pitchFamily="34" charset="0"/>
                  <a:ea typeface="宋体" panose="02010600030101010101" pitchFamily="2" charset="-122"/>
                </a:rPr>
                <a:t>继续执行</a:t>
              </a:r>
              <a:endParaRPr lang="zh-CN" sz="2400" b="1">
                <a:latin typeface="Arial" panose="020B0604020202020204" pitchFamily="34" charset="0"/>
                <a:ea typeface="宋体" panose="02010600030101010101" pitchFamily="2" charset="-122"/>
              </a:endParaRPr>
            </a:p>
          </p:txBody>
        </p:sp>
        <p:sp>
          <p:nvSpPr>
            <p:cNvPr id="32785" name="Text Box 17"/>
            <p:cNvSpPr txBox="1">
              <a:spLocks noChangeArrowheads="1"/>
            </p:cNvSpPr>
            <p:nvPr/>
          </p:nvSpPr>
          <p:spPr bwMode="auto">
            <a:xfrm>
              <a:off x="2385" y="1813"/>
              <a:ext cx="626" cy="267"/>
            </a:xfrm>
            <a:prstGeom prst="rect">
              <a:avLst/>
            </a:prstGeom>
            <a:noFill/>
            <a:ln w="9525">
              <a:noFill/>
              <a:miter lim="800000"/>
            </a:ln>
            <a:effectLst/>
          </p:spPr>
          <p:txBody>
            <a:bodyPr wrap="none" anchor="ctr">
              <a:spAutoFit/>
            </a:bodyPr>
            <a:lstStyle/>
            <a:p>
              <a:pPr algn="ctr"/>
              <a:r>
                <a:rPr lang="zh-CN" sz="2400" b="1">
                  <a:latin typeface="Arial" panose="020B0604020202020204" pitchFamily="34" charset="0"/>
                  <a:ea typeface="宋体" panose="02010600030101010101" pitchFamily="2" charset="-122"/>
                </a:rPr>
                <a:t>返回断点</a:t>
              </a:r>
              <a:endParaRPr lang="zh-CN" sz="2400" b="1">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t>中断传送方式的接口电路 </a:t>
            </a:r>
            <a:endParaRPr lang="zh-CN"/>
          </a:p>
        </p:txBody>
      </p:sp>
      <p:pic>
        <p:nvPicPr>
          <p:cNvPr id="33795" name="Picture 3"/>
          <p:cNvPicPr>
            <a:picLocks noChangeAspect="1" noChangeArrowheads="1"/>
          </p:cNvPicPr>
          <p:nvPr/>
        </p:nvPicPr>
        <p:blipFill>
          <a:blip r:embed="rId1" cstate="print"/>
          <a:srcRect/>
          <a:stretch>
            <a:fillRect/>
          </a:stretch>
        </p:blipFill>
        <p:spPr bwMode="auto">
          <a:xfrm>
            <a:off x="2294467" y="1630363"/>
            <a:ext cx="7924800" cy="4856162"/>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a:t>结论</a:t>
            </a:r>
            <a:endParaRPr lang="zh-CN" altLang="en-US"/>
          </a:p>
        </p:txBody>
      </p:sp>
      <p:sp>
        <p:nvSpPr>
          <p:cNvPr id="34819" name="Rectangle 3"/>
          <p:cNvSpPr>
            <a:spLocks noGrp="1" noChangeArrowheads="1"/>
          </p:cNvSpPr>
          <p:nvPr>
            <p:ph type="body" idx="1"/>
          </p:nvPr>
        </p:nvSpPr>
        <p:spPr/>
        <p:txBody>
          <a:bodyPr/>
          <a:lstStyle/>
          <a:p>
            <a:pPr marL="135255" indent="-135255">
              <a:buFont typeface="Wingdings" panose="05000000000000000000" pitchFamily="2" charset="2"/>
              <a:buNone/>
            </a:pPr>
            <a:r>
              <a:rPr lang="zh-CN" altLang="en-US"/>
              <a:t> 利用中断方式进行数据传送，不仅大大提高了CPU效率，还能够对外设的请求做出实时响应。尤其是在外设出现故障，利用中断方式可以及时做出处理，避免不必要的损失。  </a:t>
            </a:r>
            <a:endParaRPr lang="zh-CN" altLang="en-US"/>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zh-CN"/>
              <a:t>6.2.4 DMA</a:t>
            </a:r>
            <a:r>
              <a:rPr lang="zh-CN"/>
              <a:t>方式 </a:t>
            </a:r>
            <a:endParaRPr lang="zh-CN"/>
          </a:p>
        </p:txBody>
      </p:sp>
      <p:sp>
        <p:nvSpPr>
          <p:cNvPr id="35843" name="Rectangle 3"/>
          <p:cNvSpPr>
            <a:spLocks noGrp="1" noChangeArrowheads="1"/>
          </p:cNvSpPr>
          <p:nvPr>
            <p:ph type="body" idx="1"/>
          </p:nvPr>
        </p:nvSpPr>
        <p:spPr/>
        <p:txBody>
          <a:bodyPr/>
          <a:lstStyle/>
          <a:p>
            <a:pPr>
              <a:lnSpc>
                <a:spcPct val="80000"/>
              </a:lnSpc>
            </a:pPr>
            <a:r>
              <a:rPr lang="zh-CN" sz="2800"/>
              <a:t>虽然采用中断方式能大大提高</a:t>
            </a:r>
            <a:r>
              <a:rPr lang="zh-CN" altLang="zh-CN" sz="2800"/>
              <a:t>CPU</a:t>
            </a:r>
            <a:r>
              <a:rPr lang="zh-CN" sz="2800"/>
              <a:t>的利用率，但与其他两种方式一样，实际的数据传送过程还是需要</a:t>
            </a:r>
            <a:r>
              <a:rPr lang="zh-CN" altLang="zh-CN" sz="2800"/>
              <a:t>CPU</a:t>
            </a:r>
            <a:r>
              <a:rPr lang="zh-CN" sz="2800"/>
              <a:t>执行程序来实现，对于一些高速外设及批量数据交换</a:t>
            </a:r>
            <a:r>
              <a:rPr lang="zh-CN" altLang="zh-CN" sz="2800"/>
              <a:t>(</a:t>
            </a:r>
            <a:r>
              <a:rPr lang="zh-CN" sz="2800"/>
              <a:t>如磁盘与内存的数据交换</a:t>
            </a:r>
            <a:r>
              <a:rPr lang="zh-CN" altLang="zh-CN" sz="2800"/>
              <a:t>)</a:t>
            </a:r>
            <a:r>
              <a:rPr lang="zh-CN" sz="2800"/>
              <a:t>来说是不能满足要求的。</a:t>
            </a:r>
            <a:endParaRPr lang="zh-CN" sz="2800"/>
          </a:p>
          <a:p>
            <a:pPr>
              <a:lnSpc>
                <a:spcPct val="80000"/>
              </a:lnSpc>
            </a:pPr>
            <a:r>
              <a:rPr lang="zh-CN" sz="2800"/>
              <a:t>直接存储器存取</a:t>
            </a:r>
            <a:r>
              <a:rPr lang="zh-CN" altLang="zh-CN" sz="2800"/>
              <a:t>(Direct Memory Access</a:t>
            </a:r>
            <a:r>
              <a:rPr lang="zh-CN" sz="2800"/>
              <a:t>，</a:t>
            </a:r>
            <a:r>
              <a:rPr lang="zh-CN" altLang="zh-CN" sz="2800"/>
              <a:t>DMA)</a:t>
            </a:r>
            <a:r>
              <a:rPr lang="zh-CN" sz="2800"/>
              <a:t>方式是通过特殊的硬件电路</a:t>
            </a:r>
            <a:r>
              <a:rPr lang="zh-CN" altLang="zh-CN" sz="2800"/>
              <a:t>(DMA</a:t>
            </a:r>
            <a:r>
              <a:rPr lang="zh-CN" sz="2800"/>
              <a:t>控制器</a:t>
            </a:r>
            <a:r>
              <a:rPr lang="zh-CN" altLang="zh-CN" sz="2800"/>
              <a:t>)</a:t>
            </a:r>
            <a:r>
              <a:rPr lang="zh-CN" sz="2800"/>
              <a:t>来控制存储器与外设直接进行数据传送。</a:t>
            </a:r>
            <a:endParaRPr lang="zh-CN" sz="2800"/>
          </a:p>
          <a:p>
            <a:pPr>
              <a:lnSpc>
                <a:spcPct val="80000"/>
              </a:lnSpc>
            </a:pPr>
            <a:r>
              <a:rPr lang="zh-CN" sz="2800"/>
              <a:t>在这种方式下，</a:t>
            </a:r>
            <a:r>
              <a:rPr lang="zh-CN" altLang="zh-CN" sz="2800"/>
              <a:t>CPU</a:t>
            </a:r>
            <a:r>
              <a:rPr lang="zh-CN" sz="2800"/>
              <a:t>放弃对总线的管理，而由</a:t>
            </a:r>
            <a:r>
              <a:rPr lang="zh-CN" altLang="zh-CN" sz="2800"/>
              <a:t>DMA</a:t>
            </a:r>
            <a:r>
              <a:rPr lang="zh-CN" sz="2800"/>
              <a:t>控制器来控制。</a:t>
            </a:r>
            <a:endParaRPr lang="zh-CN" sz="2800"/>
          </a:p>
          <a:p>
            <a:pPr>
              <a:lnSpc>
                <a:spcPct val="80000"/>
              </a:lnSpc>
            </a:pPr>
            <a:r>
              <a:rPr lang="zh-CN" sz="2800"/>
              <a:t>由于</a:t>
            </a:r>
            <a:r>
              <a:rPr lang="zh-CN" altLang="zh-CN" sz="2800"/>
              <a:t>CPU</a:t>
            </a:r>
            <a:r>
              <a:rPr lang="zh-CN" sz="2800"/>
              <a:t>只启动而不干预数据传送过程，整个过程只由硬件完成不需要软件介入，所以这种方式的数据传输率很高。 </a:t>
            </a:r>
            <a:endParaRPr 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 calcmode="lin" valueType="num">
                                      <p:cBhvr additive="base">
                                        <p:cTn id="7" dur="500" fill="hold"/>
                                        <p:tgtEl>
                                          <p:spTgt spid="358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843">
                                            <p:txEl>
                                              <p:pRg st="1" end="1"/>
                                            </p:txEl>
                                          </p:spTgt>
                                        </p:tgtEl>
                                        <p:attrNameLst>
                                          <p:attrName>style.visibility</p:attrName>
                                        </p:attrNameLst>
                                      </p:cBhvr>
                                      <p:to>
                                        <p:strVal val="visible"/>
                                      </p:to>
                                    </p:set>
                                    <p:anim calcmode="lin" valueType="num">
                                      <p:cBhvr additive="base">
                                        <p:cTn id="13" dur="500" fill="hold"/>
                                        <p:tgtEl>
                                          <p:spTgt spid="358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843">
                                            <p:txEl>
                                              <p:pRg st="2" end="2"/>
                                            </p:txEl>
                                          </p:spTgt>
                                        </p:tgtEl>
                                        <p:attrNameLst>
                                          <p:attrName>style.visibility</p:attrName>
                                        </p:attrNameLst>
                                      </p:cBhvr>
                                      <p:to>
                                        <p:strVal val="visible"/>
                                      </p:to>
                                    </p:set>
                                    <p:anim calcmode="lin" valueType="num">
                                      <p:cBhvr additive="base">
                                        <p:cTn id="19" dur="500" fill="hold"/>
                                        <p:tgtEl>
                                          <p:spTgt spid="358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8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5843">
                                            <p:txEl>
                                              <p:pRg st="3" end="3"/>
                                            </p:txEl>
                                          </p:spTgt>
                                        </p:tgtEl>
                                        <p:attrNameLst>
                                          <p:attrName>style.visibility</p:attrName>
                                        </p:attrNameLst>
                                      </p:cBhvr>
                                      <p:to>
                                        <p:strVal val="visible"/>
                                      </p:to>
                                    </p:set>
                                    <p:anim calcmode="lin" valueType="num">
                                      <p:cBhvr additive="base">
                                        <p:cTn id="25" dur="500" fill="hold"/>
                                        <p:tgtEl>
                                          <p:spTgt spid="358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84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zh-CN"/>
              <a:t>DMA</a:t>
            </a:r>
            <a:r>
              <a:rPr lang="zh-CN"/>
              <a:t>的工作过程</a:t>
            </a:r>
            <a:endParaRPr lang="zh-CN"/>
          </a:p>
        </p:txBody>
      </p:sp>
      <p:sp>
        <p:nvSpPr>
          <p:cNvPr id="36867" name="Rectangle 3"/>
          <p:cNvSpPr>
            <a:spLocks noGrp="1" noChangeArrowheads="1"/>
          </p:cNvSpPr>
          <p:nvPr>
            <p:ph type="body" idx="1"/>
          </p:nvPr>
        </p:nvSpPr>
        <p:spPr/>
        <p:txBody>
          <a:bodyPr/>
          <a:lstStyle/>
          <a:p>
            <a:pPr>
              <a:lnSpc>
                <a:spcPct val="80000"/>
              </a:lnSpc>
            </a:pPr>
            <a:r>
              <a:rPr lang="zh-CN" sz="2400"/>
              <a:t>当外设准备好，可以进行</a:t>
            </a:r>
            <a:r>
              <a:rPr lang="zh-CN" altLang="zh-CN" sz="2400"/>
              <a:t>DMA</a:t>
            </a:r>
            <a:r>
              <a:rPr lang="zh-CN" sz="2400"/>
              <a:t>传送时，外设向</a:t>
            </a:r>
            <a:r>
              <a:rPr lang="zh-CN" altLang="zh-CN" sz="2400"/>
              <a:t>DMA</a:t>
            </a:r>
            <a:r>
              <a:rPr lang="zh-CN" sz="2400"/>
              <a:t>控制器发出</a:t>
            </a:r>
            <a:r>
              <a:rPr lang="zh-CN" altLang="zh-CN" sz="2400"/>
              <a:t>DMA</a:t>
            </a:r>
            <a:r>
              <a:rPr lang="zh-CN" sz="2400"/>
              <a:t>传送请求信号</a:t>
            </a:r>
            <a:r>
              <a:rPr lang="zh-CN" altLang="zh-CN" sz="2400"/>
              <a:t>(DRQ)</a:t>
            </a:r>
            <a:r>
              <a:rPr lang="zh-CN" sz="2400"/>
              <a:t>。</a:t>
            </a:r>
            <a:endParaRPr lang="zh-CN" sz="2400"/>
          </a:p>
          <a:p>
            <a:pPr>
              <a:lnSpc>
                <a:spcPct val="80000"/>
              </a:lnSpc>
            </a:pPr>
            <a:r>
              <a:rPr lang="zh-CN" altLang="zh-CN" sz="2400"/>
              <a:t>DMA</a:t>
            </a:r>
            <a:r>
              <a:rPr lang="zh-CN" sz="2400"/>
              <a:t>控制器收到请求后，向</a:t>
            </a:r>
            <a:r>
              <a:rPr lang="zh-CN" altLang="zh-CN" sz="2400"/>
              <a:t>CPU</a:t>
            </a:r>
            <a:r>
              <a:rPr lang="zh-CN" sz="2400"/>
              <a:t>发出“总线请求”信号</a:t>
            </a:r>
            <a:r>
              <a:rPr lang="zh-CN" altLang="zh-CN" sz="2400"/>
              <a:t>HOLD</a:t>
            </a:r>
            <a:r>
              <a:rPr lang="zh-CN" sz="2400"/>
              <a:t>，表示希望占用总线。</a:t>
            </a:r>
            <a:endParaRPr lang="zh-CN" sz="2400"/>
          </a:p>
          <a:p>
            <a:pPr>
              <a:lnSpc>
                <a:spcPct val="80000"/>
              </a:lnSpc>
            </a:pPr>
            <a:r>
              <a:rPr lang="zh-CN" altLang="zh-CN" sz="2400"/>
              <a:t>CPU</a:t>
            </a:r>
            <a:r>
              <a:rPr lang="zh-CN" sz="2400"/>
              <a:t>在完成当前总线周期后会立即对</a:t>
            </a:r>
            <a:r>
              <a:rPr lang="zh-CN" altLang="zh-CN" sz="2400"/>
              <a:t>HOLD</a:t>
            </a:r>
            <a:r>
              <a:rPr lang="zh-CN" sz="2400"/>
              <a:t>信号进行响应。响应包括两个方面：一是</a:t>
            </a:r>
            <a:r>
              <a:rPr lang="zh-CN" altLang="zh-CN" sz="2400"/>
              <a:t>CPU</a:t>
            </a:r>
            <a:r>
              <a:rPr lang="zh-CN" sz="2400"/>
              <a:t>将数据总线、地址总线和相应的控制信号线均置为高阻态，由此放弃对总线的控制权；另一方面，</a:t>
            </a:r>
            <a:r>
              <a:rPr lang="zh-CN" altLang="zh-CN" sz="2400"/>
              <a:t>CPU</a:t>
            </a:r>
            <a:r>
              <a:rPr lang="zh-CN" sz="2400"/>
              <a:t>向</a:t>
            </a:r>
            <a:r>
              <a:rPr lang="zh-CN" altLang="zh-CN" sz="2400"/>
              <a:t>DMA</a:t>
            </a:r>
            <a:r>
              <a:rPr lang="zh-CN" sz="2400"/>
              <a:t>控制器发出“总线响应”信号</a:t>
            </a:r>
            <a:r>
              <a:rPr lang="zh-CN" altLang="zh-CN" sz="2400"/>
              <a:t>(HLDA)</a:t>
            </a:r>
            <a:r>
              <a:rPr lang="zh-CN" sz="2400"/>
              <a:t>。</a:t>
            </a:r>
            <a:endParaRPr lang="zh-CN" sz="2400"/>
          </a:p>
          <a:p>
            <a:pPr>
              <a:lnSpc>
                <a:spcPct val="80000"/>
              </a:lnSpc>
            </a:pPr>
            <a:r>
              <a:rPr lang="zh-CN" altLang="zh-CN" sz="2400"/>
              <a:t>DMA</a:t>
            </a:r>
            <a:r>
              <a:rPr lang="zh-CN" sz="2400"/>
              <a:t>控制器收到</a:t>
            </a:r>
            <a:r>
              <a:rPr lang="zh-CN" altLang="zh-CN" sz="2400"/>
              <a:t>HLDA</a:t>
            </a:r>
            <a:r>
              <a:rPr lang="zh-CN" sz="2400"/>
              <a:t>信号后，就开始控制总线，并向外设发出</a:t>
            </a:r>
            <a:r>
              <a:rPr lang="zh-CN" altLang="zh-CN" sz="2400"/>
              <a:t>DMA</a:t>
            </a:r>
            <a:r>
              <a:rPr lang="zh-CN" sz="2400"/>
              <a:t>响应信号</a:t>
            </a:r>
            <a:r>
              <a:rPr lang="zh-CN" altLang="zh-CN" sz="2400"/>
              <a:t>DACK</a:t>
            </a:r>
            <a:r>
              <a:rPr lang="zh-CN" sz="2400"/>
              <a:t>。</a:t>
            </a:r>
            <a:endParaRPr lang="zh-CN" sz="2400"/>
          </a:p>
          <a:p>
            <a:pPr>
              <a:lnSpc>
                <a:spcPct val="80000"/>
              </a:lnSpc>
            </a:pPr>
            <a:r>
              <a:rPr lang="zh-CN" altLang="zh-CN" sz="2400"/>
              <a:t>DMA</a:t>
            </a:r>
            <a:r>
              <a:rPr lang="zh-CN" sz="2400"/>
              <a:t>控制器送出地址信号和相应的控制信号，实现外设与内存或内存与内存之间的直接数据传送。</a:t>
            </a:r>
            <a:endParaRPr lang="zh-CN" sz="2400"/>
          </a:p>
          <a:p>
            <a:pPr>
              <a:lnSpc>
                <a:spcPct val="80000"/>
              </a:lnSpc>
            </a:pPr>
            <a:r>
              <a:rPr lang="zh-CN" sz="2400"/>
              <a:t>数据传送完成后，</a:t>
            </a:r>
            <a:r>
              <a:rPr lang="zh-CN" altLang="zh-CN" sz="2400"/>
              <a:t>DMA</a:t>
            </a:r>
            <a:r>
              <a:rPr lang="zh-CN" sz="2400"/>
              <a:t>控制器撤销对</a:t>
            </a:r>
            <a:r>
              <a:rPr lang="zh-CN" altLang="zh-CN" sz="2400"/>
              <a:t>CPU</a:t>
            </a:r>
            <a:r>
              <a:rPr lang="zh-CN" sz="2400"/>
              <a:t>的请求信号，</a:t>
            </a:r>
            <a:r>
              <a:rPr lang="zh-CN" altLang="zh-CN" sz="2400"/>
              <a:t>CPU</a:t>
            </a:r>
            <a:r>
              <a:rPr lang="zh-CN" sz="2400"/>
              <a:t>撤销保持响应信号并恢复对总线的控制。 </a:t>
            </a:r>
            <a:endParaRPr 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p:cTn id="7" dur="500" fill="hold"/>
                                        <p:tgtEl>
                                          <p:spTgt spid="3686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6867">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anim calcmode="lin" valueType="num">
                                      <p:cBhvr>
                                        <p:cTn id="13" dur="500" fill="hold"/>
                                        <p:tgtEl>
                                          <p:spTgt spid="36867">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6867">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36867">
                                            <p:txEl>
                                              <p:pRg st="2" end="2"/>
                                            </p:txEl>
                                          </p:spTgt>
                                        </p:tgtEl>
                                        <p:attrNameLst>
                                          <p:attrName>style.visibility</p:attrName>
                                        </p:attrNameLst>
                                      </p:cBhvr>
                                      <p:to>
                                        <p:strVal val="visible"/>
                                      </p:to>
                                    </p:set>
                                    <p:anim calcmode="lin" valueType="num">
                                      <p:cBhvr>
                                        <p:cTn id="19" dur="500" fill="hold"/>
                                        <p:tgtEl>
                                          <p:spTgt spid="36867">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6867">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36867">
                                            <p:txEl>
                                              <p:pRg st="3" end="3"/>
                                            </p:txEl>
                                          </p:spTgt>
                                        </p:tgtEl>
                                        <p:attrNameLst>
                                          <p:attrName>style.visibility</p:attrName>
                                        </p:attrNameLst>
                                      </p:cBhvr>
                                      <p:to>
                                        <p:strVal val="visible"/>
                                      </p:to>
                                    </p:set>
                                    <p:anim calcmode="lin" valueType="num">
                                      <p:cBhvr>
                                        <p:cTn id="25" dur="500" fill="hold"/>
                                        <p:tgtEl>
                                          <p:spTgt spid="3686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6867">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36867">
                                            <p:txEl>
                                              <p:pRg st="4" end="4"/>
                                            </p:txEl>
                                          </p:spTgt>
                                        </p:tgtEl>
                                        <p:attrNameLst>
                                          <p:attrName>style.visibility</p:attrName>
                                        </p:attrNameLst>
                                      </p:cBhvr>
                                      <p:to>
                                        <p:strVal val="visible"/>
                                      </p:to>
                                    </p:set>
                                    <p:anim calcmode="lin" valueType="num">
                                      <p:cBhvr>
                                        <p:cTn id="31" dur="500" fill="hold"/>
                                        <p:tgtEl>
                                          <p:spTgt spid="36867">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6867">
                                            <p:txEl>
                                              <p:pRg st="4" end="4"/>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36867">
                                            <p:txEl>
                                              <p:pRg st="5" end="5"/>
                                            </p:txEl>
                                          </p:spTgt>
                                        </p:tgtEl>
                                        <p:attrNameLst>
                                          <p:attrName>style.visibility</p:attrName>
                                        </p:attrNameLst>
                                      </p:cBhvr>
                                      <p:to>
                                        <p:strVal val="visible"/>
                                      </p:to>
                                    </p:set>
                                    <p:anim calcmode="lin" valueType="num">
                                      <p:cBhvr>
                                        <p:cTn id="37" dur="500" fill="hold"/>
                                        <p:tgtEl>
                                          <p:spTgt spid="36867">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6867">
                                            <p:txEl>
                                              <p:pRg st="5" end="5"/>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utoUpdateAnimBg="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6.3 </a:t>
            </a:r>
            <a:r>
              <a:rPr lang="zh-CN" altLang="en-US" dirty="0" smtClean="0"/>
              <a:t>中断技术</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097280" y="1845733"/>
                <a:ext cx="10058400" cy="4368635"/>
              </a:xfrm>
            </p:spPr>
            <p:txBody>
              <a:bodyPr>
                <a:noAutofit/>
              </a:bodyPr>
              <a:lstStyle/>
              <a:p>
                <a:r>
                  <a:rPr lang="zh-CN" altLang="en-US" sz="2800" dirty="0"/>
                  <a:t>学习</a:t>
                </a:r>
                <a:r>
                  <a:rPr lang="en-US" altLang="zh-CN" sz="2800" dirty="0"/>
                  <a:t>CPU</a:t>
                </a:r>
                <a:r>
                  <a:rPr lang="zh-CN" altLang="en-US" sz="2800" dirty="0"/>
                  <a:t>与外设</a:t>
                </a:r>
                <a:r>
                  <a:rPr lang="en-US" altLang="zh-CN" sz="2800" dirty="0"/>
                  <a:t>I/O</a:t>
                </a:r>
                <a:r>
                  <a:rPr lang="zh-CN" altLang="en-US" sz="2800" dirty="0"/>
                  <a:t>接口之间传送数据方式时已经知道中断传送方式优于查询传送方式，那么中断传送方式的原理怎样？过程怎样？</a:t>
                </a:r>
                <a:endParaRPr lang="en-US" altLang="zh-CN" sz="2800" dirty="0"/>
              </a:p>
              <a:p>
                <a:r>
                  <a:rPr lang="zh-CN" altLang="en-US" sz="2800" dirty="0"/>
                  <a:t>学习</a:t>
                </a:r>
                <a:r>
                  <a:rPr lang="en-US" altLang="zh-CN" sz="2800" dirty="0"/>
                  <a:t>8086/8088CPU</a:t>
                </a:r>
                <a:r>
                  <a:rPr lang="zh-CN" altLang="en-US" sz="2800" dirty="0"/>
                  <a:t>的引脚信号和功能时候，讲到和中断相关的引脚是哪几个</a:t>
                </a:r>
                <a:r>
                  <a:rPr lang="en-US" altLang="zh-CN" sz="2800" dirty="0"/>
                  <a:t>?</a:t>
                </a:r>
                <a:endParaRPr lang="en-US" altLang="zh-CN" sz="2800" dirty="0"/>
              </a:p>
              <a:p>
                <a:r>
                  <a:rPr lang="en-US" altLang="zh-CN" sz="2800" dirty="0"/>
                  <a:t>8086/8088CPU</a:t>
                </a:r>
                <a:r>
                  <a:rPr lang="zh-CN" altLang="zh-CN" sz="2800" dirty="0"/>
                  <a:t>含有</a:t>
                </a:r>
                <a:r>
                  <a:rPr lang="en-US" altLang="zh-CN" sz="2800" dirty="0"/>
                  <a:t>2</a:t>
                </a:r>
                <a:r>
                  <a:rPr lang="zh-CN" altLang="zh-CN" sz="2800" dirty="0"/>
                  <a:t>个中断请求信号输入引脚</a:t>
                </a:r>
                <a:r>
                  <a:rPr lang="en-US" altLang="zh-CN" sz="2800" dirty="0"/>
                  <a:t> INTR</a:t>
                </a:r>
                <a:r>
                  <a:rPr lang="zh-CN" altLang="zh-CN" sz="2800" dirty="0"/>
                  <a:t>和</a:t>
                </a:r>
                <a:r>
                  <a:rPr lang="en-US" altLang="zh-CN" sz="2800" dirty="0"/>
                  <a:t>NMI</a:t>
                </a:r>
                <a:r>
                  <a:rPr lang="zh-CN" altLang="zh-CN" sz="2800" dirty="0"/>
                  <a:t>，还有</a:t>
                </a:r>
                <a:r>
                  <a:rPr lang="en-US" altLang="zh-CN" sz="2800" dirty="0"/>
                  <a:t>1</a:t>
                </a:r>
                <a:r>
                  <a:rPr lang="zh-CN" altLang="zh-CN" sz="2800" dirty="0"/>
                  <a:t>个中断应答引脚</a:t>
                </a:r>
                <a14:m>
                  <m:oMath xmlns:m="http://schemas.openxmlformats.org/officeDocument/2006/math">
                    <m:r>
                      <a:rPr lang="en-US" altLang="zh-CN" sz="2800">
                        <a:latin typeface="Cambria Math" panose="02040503050406030204"/>
                      </a:rPr>
                      <m:t> </m:t>
                    </m:r>
                    <m:acc>
                      <m:accPr>
                        <m:chr m:val="̅"/>
                        <m:ctrlPr>
                          <a:rPr lang="zh-CN" altLang="zh-CN" sz="2800" i="1">
                            <a:latin typeface="Cambria Math" panose="02040503050406030204" pitchFamily="18" charset="0"/>
                          </a:rPr>
                        </m:ctrlPr>
                      </m:accPr>
                      <m:e>
                        <m:r>
                          <m:rPr>
                            <m:sty m:val="p"/>
                          </m:rPr>
                          <a:rPr lang="en-US" altLang="zh-CN" sz="2800">
                            <a:latin typeface="Cambria Math" panose="02040503050406030204"/>
                          </a:rPr>
                          <m:t>INTA</m:t>
                        </m:r>
                      </m:e>
                    </m:acc>
                  </m:oMath>
                </a14:m>
                <a:r>
                  <a:rPr lang="zh-CN" altLang="zh-CN" sz="2800" dirty="0"/>
                  <a:t>。</a:t>
                </a:r>
                <a:endParaRPr lang="en-US" altLang="zh-CN" sz="2800" dirty="0"/>
              </a:p>
              <a:p>
                <a:r>
                  <a:rPr lang="en-US" altLang="zh-CN" sz="2800" dirty="0"/>
                  <a:t>8086/8088</a:t>
                </a:r>
                <a:r>
                  <a:rPr lang="zh-CN" altLang="en-US" sz="2800" dirty="0"/>
                  <a:t>的中断系统是如何实现的？</a:t>
                </a:r>
                <a:endParaRPr lang="en-US" altLang="zh-CN" sz="2800" dirty="0"/>
              </a:p>
              <a:p>
                <a:pPr marL="0" indent="0">
                  <a:buNone/>
                </a:pPr>
                <a:r>
                  <a:rPr lang="zh-CN" altLang="en-US" sz="2800" dirty="0"/>
                  <a:t>这些就是本次课要解决的问题。</a:t>
                </a:r>
                <a:endParaRPr lang="zh-CN" altLang="en-US" sz="28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097280" y="1845733"/>
                <a:ext cx="10058400" cy="4368635"/>
              </a:xfrm>
              <a:blipFill rotWithShape="1">
                <a:blip r:embed="rId1"/>
                <a:stretch>
                  <a:fillRect t="-10" b="6"/>
                </a:stretch>
              </a:blipFill>
            </p:spPr>
            <p:txBody>
              <a:bodyPr/>
              <a:lstStyle/>
              <a:p>
                <a:r>
                  <a:rPr lang="zh-CN" altLang="en-US">
                    <a:noFill/>
                  </a:rPr>
                  <a:t> </a:t>
                </a:r>
              </a:p>
            </p:txBody>
          </p:sp>
        </mc:Fallback>
      </mc:AlternateContent>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CN" dirty="0" smtClean="0"/>
              <a:t>6.3.1</a:t>
            </a:r>
            <a:r>
              <a:rPr lang="zh-CN" altLang="zh-CN" dirty="0" smtClean="0"/>
              <a:t>中断</a:t>
            </a:r>
            <a:r>
              <a:rPr lang="zh-CN" altLang="en-US" dirty="0" smtClean="0"/>
              <a:t>概述</a:t>
            </a:r>
            <a:endParaRPr lang="zh-CN" altLang="zh-CN" dirty="0"/>
          </a:p>
        </p:txBody>
      </p:sp>
      <p:sp>
        <p:nvSpPr>
          <p:cNvPr id="38915" name="Rectangle 3"/>
          <p:cNvSpPr>
            <a:spLocks noGrp="1" noChangeArrowheads="1"/>
          </p:cNvSpPr>
          <p:nvPr>
            <p:ph idx="1"/>
          </p:nvPr>
        </p:nvSpPr>
        <p:spPr>
          <a:xfrm>
            <a:off x="442332" y="1853078"/>
            <a:ext cx="10058400" cy="4411662"/>
          </a:xfrm>
        </p:spPr>
        <p:txBody>
          <a:bodyPr>
            <a:normAutofit/>
          </a:bodyPr>
          <a:lstStyle/>
          <a:p>
            <a:pPr>
              <a:lnSpc>
                <a:spcPct val="80000"/>
              </a:lnSpc>
            </a:pPr>
            <a:r>
              <a:rPr lang="zh-CN" altLang="en-US" sz="2800" dirty="0"/>
              <a:t>中断，是指在程序执行过程中，出现某种紧急事件，CPU暂时停止正在执行的程序，而转去执行处理该事件的程序—</a:t>
            </a:r>
            <a:r>
              <a:rPr lang="en-US" altLang="zh-CN" sz="2800" dirty="0"/>
              <a:t>——</a:t>
            </a:r>
            <a:r>
              <a:rPr lang="zh-CN" altLang="en-US" sz="2800" dirty="0"/>
              <a:t>称为中断服务程序(或中断处理程序)，执行完后又返回被中止的程序断点处继续执行，这一过程就称为中断。</a:t>
            </a:r>
            <a:endParaRPr lang="zh-CN" alt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中断源</a:t>
            </a:r>
            <a:endParaRPr lang="zh-CN" altLang="en-US" dirty="0"/>
          </a:p>
        </p:txBody>
      </p:sp>
      <p:sp>
        <p:nvSpPr>
          <p:cNvPr id="3" name="内容占位符 2"/>
          <p:cNvSpPr>
            <a:spLocks noGrp="1"/>
          </p:cNvSpPr>
          <p:nvPr>
            <p:ph idx="1"/>
          </p:nvPr>
        </p:nvSpPr>
        <p:spPr>
          <a:xfrm>
            <a:off x="1097279" y="1845734"/>
            <a:ext cx="10563677" cy="4479652"/>
          </a:xfrm>
        </p:spPr>
        <p:txBody>
          <a:bodyPr>
            <a:normAutofit/>
          </a:bodyPr>
          <a:lstStyle/>
          <a:p>
            <a:r>
              <a:rPr lang="zh-CN" altLang="en-US" sz="2400" dirty="0">
                <a:latin typeface="+mn-ea"/>
              </a:rPr>
              <a:t>引起中断的设备或事件就称为中断源，计算机的中断源可能是某个硬件部件，也可能是软件。常见的中断源有：</a:t>
            </a:r>
            <a:endParaRPr lang="en-US" altLang="zh-CN" sz="2400" dirty="0">
              <a:latin typeface="+mn-ea"/>
            </a:endParaRPr>
          </a:p>
          <a:p>
            <a:pPr lvl="1"/>
            <a:r>
              <a:rPr lang="zh-CN" altLang="en-US" sz="2200" dirty="0">
                <a:latin typeface="+mn-ea"/>
              </a:rPr>
              <a:t>（</a:t>
            </a:r>
            <a:r>
              <a:rPr lang="en-US" altLang="zh-CN" sz="2200" dirty="0">
                <a:latin typeface="+mn-ea"/>
              </a:rPr>
              <a:t>1</a:t>
            </a:r>
            <a:r>
              <a:rPr lang="zh-CN" altLang="en-US" sz="2200" dirty="0">
                <a:latin typeface="+mn-ea"/>
              </a:rPr>
              <a:t>）一般的</a:t>
            </a:r>
            <a:r>
              <a:rPr lang="en-US" altLang="zh-CN" sz="2200" dirty="0">
                <a:latin typeface="+mn-ea"/>
              </a:rPr>
              <a:t>I/O</a:t>
            </a:r>
            <a:r>
              <a:rPr lang="zh-CN" altLang="en-US" sz="2200" dirty="0">
                <a:latin typeface="+mn-ea"/>
              </a:rPr>
              <a:t>设备发出的中断请求，如键盘、打印机等。</a:t>
            </a:r>
            <a:endParaRPr lang="en-US" altLang="zh-CN" sz="2200" dirty="0">
              <a:latin typeface="+mn-ea"/>
            </a:endParaRPr>
          </a:p>
          <a:p>
            <a:pPr lvl="1"/>
            <a:r>
              <a:rPr lang="zh-CN" altLang="en-US" sz="2200" dirty="0">
                <a:latin typeface="+mn-ea"/>
              </a:rPr>
              <a:t>（</a:t>
            </a:r>
            <a:r>
              <a:rPr lang="en-US" altLang="zh-CN" sz="2200" dirty="0">
                <a:latin typeface="+mn-ea"/>
              </a:rPr>
              <a:t>2</a:t>
            </a:r>
            <a:r>
              <a:rPr lang="zh-CN" altLang="en-US" sz="2200" dirty="0">
                <a:latin typeface="+mn-ea"/>
              </a:rPr>
              <a:t>）数据通道发出的中断请求，如磁盘、光盘等。</a:t>
            </a:r>
            <a:endParaRPr lang="en-US" altLang="zh-CN" sz="2200" dirty="0">
              <a:latin typeface="+mn-ea"/>
            </a:endParaRPr>
          </a:p>
          <a:p>
            <a:pPr lvl="1"/>
            <a:r>
              <a:rPr lang="zh-CN" altLang="en-US" sz="2200" dirty="0">
                <a:latin typeface="+mn-ea"/>
              </a:rPr>
              <a:t>（</a:t>
            </a:r>
            <a:r>
              <a:rPr lang="en-US" altLang="zh-CN" sz="2200" dirty="0">
                <a:latin typeface="+mn-ea"/>
              </a:rPr>
              <a:t>3</a:t>
            </a:r>
            <a:r>
              <a:rPr lang="zh-CN" altLang="en-US" sz="2200" dirty="0">
                <a:latin typeface="+mn-ea"/>
              </a:rPr>
              <a:t>）实时时钟发出的中断请求，如定时器芯片</a:t>
            </a:r>
            <a:r>
              <a:rPr lang="en-US" altLang="zh-CN" sz="2200" dirty="0">
                <a:latin typeface="+mn-ea"/>
              </a:rPr>
              <a:t>8253</a:t>
            </a:r>
            <a:r>
              <a:rPr lang="zh-CN" altLang="en-US" sz="2200" dirty="0">
                <a:latin typeface="+mn-ea"/>
              </a:rPr>
              <a:t>的定时输出。</a:t>
            </a:r>
            <a:endParaRPr lang="en-US" altLang="zh-CN" sz="2200" dirty="0">
              <a:latin typeface="+mn-ea"/>
            </a:endParaRPr>
          </a:p>
          <a:p>
            <a:pPr lvl="1"/>
            <a:r>
              <a:rPr lang="zh-CN" altLang="en-US" sz="2200" dirty="0">
                <a:latin typeface="+mn-ea"/>
              </a:rPr>
              <a:t>（</a:t>
            </a:r>
            <a:r>
              <a:rPr lang="en-US" altLang="zh-CN" sz="2200" dirty="0">
                <a:latin typeface="+mn-ea"/>
              </a:rPr>
              <a:t>4</a:t>
            </a:r>
            <a:r>
              <a:rPr lang="zh-CN" altLang="en-US" sz="2200" dirty="0">
                <a:latin typeface="+mn-ea"/>
              </a:rPr>
              <a:t>）硬件故障发出的中断请求，如电源掉电、</a:t>
            </a:r>
            <a:r>
              <a:rPr lang="en-US" altLang="zh-CN" sz="2200" dirty="0">
                <a:latin typeface="+mn-ea"/>
              </a:rPr>
              <a:t>RAM</a:t>
            </a:r>
            <a:r>
              <a:rPr lang="zh-CN" altLang="en-US" sz="2200" dirty="0">
                <a:latin typeface="+mn-ea"/>
              </a:rPr>
              <a:t>奇偶校验错等。</a:t>
            </a:r>
            <a:endParaRPr lang="en-US" altLang="zh-CN" sz="2200" dirty="0">
              <a:latin typeface="+mn-ea"/>
            </a:endParaRPr>
          </a:p>
          <a:p>
            <a:pPr lvl="1"/>
            <a:r>
              <a:rPr lang="zh-CN" altLang="en-US" sz="2200" dirty="0">
                <a:latin typeface="+mn-ea"/>
              </a:rPr>
              <a:t>（</a:t>
            </a:r>
            <a:r>
              <a:rPr lang="en-US" altLang="zh-CN" sz="2200" dirty="0">
                <a:latin typeface="+mn-ea"/>
              </a:rPr>
              <a:t>5</a:t>
            </a:r>
            <a:r>
              <a:rPr lang="zh-CN" altLang="en-US" sz="2200" dirty="0">
                <a:latin typeface="+mn-ea"/>
              </a:rPr>
              <a:t>）软件故障发出的中断请求，如执行除数为</a:t>
            </a:r>
            <a:r>
              <a:rPr lang="en-US" altLang="zh-CN" sz="2200" dirty="0">
                <a:latin typeface="+mn-ea"/>
              </a:rPr>
              <a:t>0</a:t>
            </a:r>
            <a:r>
              <a:rPr lang="zh-CN" altLang="en-US" sz="2200" dirty="0">
                <a:latin typeface="+mn-ea"/>
              </a:rPr>
              <a:t>的除法运算、地址越界、使用非法指令等。</a:t>
            </a:r>
            <a:endParaRPr lang="en-US" altLang="zh-CN" sz="2200" dirty="0">
              <a:latin typeface="+mn-ea"/>
            </a:endParaRPr>
          </a:p>
          <a:p>
            <a:pPr lvl="1"/>
            <a:r>
              <a:rPr lang="zh-CN" altLang="en-US" sz="2200" dirty="0">
                <a:latin typeface="+mn-ea"/>
              </a:rPr>
              <a:t>（</a:t>
            </a:r>
            <a:r>
              <a:rPr lang="en-US" altLang="zh-CN" sz="2200" dirty="0">
                <a:latin typeface="+mn-ea"/>
              </a:rPr>
              <a:t>6</a:t>
            </a:r>
            <a:r>
              <a:rPr lang="zh-CN" altLang="en-US" sz="2200" dirty="0">
                <a:latin typeface="+mn-ea"/>
              </a:rPr>
              <a:t>）软件设置的中断源，如在程序中用中断指令产生的中断。</a:t>
            </a:r>
            <a:endParaRPr lang="zh-CN" altLang="en-US" sz="2200" dirty="0">
              <a:latin typeface="+mn-ea"/>
            </a:endParaRPr>
          </a:p>
          <a:p>
            <a:endParaRPr lang="zh-CN" altLang="en-US" dirty="0"/>
          </a:p>
          <a:p>
            <a:endParaRPr lang="en-US" altLang="zh-CN" dirty="0"/>
          </a:p>
          <a:p>
            <a:endParaRPr lang="zh-CN" altLang="en-US" dirty="0"/>
          </a:p>
          <a:p>
            <a:endParaRPr lang="zh-CN" altLang="en-US" dirty="0"/>
          </a:p>
          <a:p>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中断源分类</a:t>
            </a:r>
            <a:endParaRPr lang="zh-CN" altLang="en-US" dirty="0"/>
          </a:p>
        </p:txBody>
      </p:sp>
      <p:sp>
        <p:nvSpPr>
          <p:cNvPr id="3" name="内容占位符 2"/>
          <p:cNvSpPr>
            <a:spLocks noGrp="1"/>
          </p:cNvSpPr>
          <p:nvPr>
            <p:ph idx="1"/>
          </p:nvPr>
        </p:nvSpPr>
        <p:spPr>
          <a:xfrm>
            <a:off x="782425" y="1845734"/>
            <a:ext cx="10906811" cy="4023360"/>
          </a:xfrm>
        </p:spPr>
        <p:txBody>
          <a:bodyPr>
            <a:noAutofit/>
          </a:bodyPr>
          <a:lstStyle/>
          <a:p>
            <a:r>
              <a:rPr lang="zh-CN" altLang="en-US" sz="2400" dirty="0"/>
              <a:t>中断源可以笼统的分为两大类：</a:t>
            </a:r>
            <a:r>
              <a:rPr lang="en-US" altLang="zh-CN" sz="2400" dirty="0"/>
              <a:t>CPU</a:t>
            </a:r>
            <a:r>
              <a:rPr lang="zh-CN" altLang="en-US" sz="2400" dirty="0"/>
              <a:t>内部产生的，称为内部中断源；其他的称为外部中断源。</a:t>
            </a:r>
            <a:endParaRPr lang="zh-CN" altLang="en-US" sz="2400" dirty="0"/>
          </a:p>
          <a:p>
            <a:pPr lvl="1"/>
            <a:r>
              <a:rPr lang="zh-CN" altLang="en-US" sz="2400" dirty="0"/>
              <a:t>内部中断源主要包括：由CPU本身产生的中断、由控制器产生的中断、由程序员安排在程序中的中断指令引起的中断。</a:t>
            </a:r>
            <a:endParaRPr lang="zh-CN" altLang="en-US" sz="2400" dirty="0"/>
          </a:p>
          <a:p>
            <a:pPr lvl="1"/>
            <a:r>
              <a:rPr lang="zh-CN" altLang="en-US" sz="2400" dirty="0"/>
              <a:t>外部中断源又根据中断事件的紧迫程度将中断源划分为可屏蔽中断和不可屏蔽中断。</a:t>
            </a:r>
            <a:endParaRPr lang="en-US" altLang="zh-CN" sz="2400" dirty="0"/>
          </a:p>
          <a:p>
            <a:pPr lvl="1"/>
            <a:r>
              <a:rPr lang="zh-CN" altLang="en-US" sz="2400" dirty="0"/>
              <a:t>可屏蔽中断是指可以延时处理的事件，例如打印机的输入输出中断请求。如果</a:t>
            </a:r>
            <a:r>
              <a:rPr lang="en-US" altLang="zh-CN" sz="2400" dirty="0"/>
              <a:t>CPU</a:t>
            </a:r>
            <a:r>
              <a:rPr lang="zh-CN" altLang="en-US" sz="2400" dirty="0"/>
              <a:t>正在处理更加紧急的事件，打印机的中断请求就会被暂时屏蔽。被屏蔽的中断请求保存在中断寄存器中，当屏蔽解除后，仍然能够得到响应和处理。</a:t>
            </a:r>
            <a:endParaRPr lang="en-US" altLang="zh-CN" sz="2400" dirty="0"/>
          </a:p>
          <a:p>
            <a:pPr lvl="1"/>
            <a:r>
              <a:rPr lang="zh-CN" altLang="en-US" sz="2400" dirty="0"/>
              <a:t>不可屏蔽中断是指事件异常紧急，必须马上处理，例如掉电、内存奇偶校验错引起的中断。</a:t>
            </a:r>
            <a:endParaRPr lang="zh-CN" alt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中断处理的基本过程</a:t>
            </a:r>
            <a:endParaRPr lang="zh-CN" altLang="en-US" dirty="0"/>
          </a:p>
        </p:txBody>
      </p:sp>
      <p:sp>
        <p:nvSpPr>
          <p:cNvPr id="3" name="内容占位符 2"/>
          <p:cNvSpPr>
            <a:spLocks noGrp="1"/>
          </p:cNvSpPr>
          <p:nvPr>
            <p:ph idx="1"/>
          </p:nvPr>
        </p:nvSpPr>
        <p:spPr>
          <a:xfrm>
            <a:off x="457200" y="1360017"/>
            <a:ext cx="10058400" cy="4411662"/>
          </a:xfrm>
        </p:spPr>
        <p:txBody>
          <a:bodyPr>
            <a:normAutofit/>
          </a:bodyPr>
          <a:lstStyle/>
          <a:p>
            <a:pPr>
              <a:buFont typeface="Wingdings" panose="05000000000000000000" pitchFamily="2" charset="2"/>
              <a:buNone/>
            </a:pPr>
            <a:r>
              <a:rPr lang="zh-CN" altLang="zh-CN" sz="2800" dirty="0"/>
              <a:t>计算机处理中断的</a:t>
            </a:r>
            <a:r>
              <a:rPr lang="zh-CN" altLang="en-US" sz="2800" dirty="0"/>
              <a:t>基本过程包括</a:t>
            </a:r>
            <a:r>
              <a:rPr lang="zh-CN" altLang="zh-CN" sz="2800" dirty="0"/>
              <a:t>：</a:t>
            </a:r>
            <a:endParaRPr lang="zh-CN" altLang="zh-CN" sz="2800" dirty="0"/>
          </a:p>
          <a:p>
            <a:pPr lvl="1"/>
            <a:r>
              <a:rPr lang="zh-CN" altLang="zh-CN" sz="2800" dirty="0"/>
              <a:t>中断请求</a:t>
            </a:r>
            <a:endParaRPr lang="en-US" altLang="zh-CN" sz="2800" dirty="0"/>
          </a:p>
          <a:p>
            <a:pPr lvl="1"/>
            <a:r>
              <a:rPr lang="zh-CN" altLang="en-US" sz="2800" dirty="0"/>
              <a:t>中断判优</a:t>
            </a:r>
            <a:endParaRPr lang="zh-CN" altLang="zh-CN" sz="2800" dirty="0"/>
          </a:p>
          <a:p>
            <a:pPr lvl="1"/>
            <a:r>
              <a:rPr lang="zh-CN" altLang="zh-CN" sz="2800" dirty="0"/>
              <a:t>中断响应</a:t>
            </a:r>
            <a:endParaRPr lang="zh-CN" altLang="zh-CN" sz="2800" dirty="0"/>
          </a:p>
          <a:p>
            <a:pPr lvl="1"/>
            <a:r>
              <a:rPr lang="zh-CN" altLang="zh-CN" sz="2800" dirty="0"/>
              <a:t>中断</a:t>
            </a:r>
            <a:r>
              <a:rPr lang="zh-CN" altLang="en-US" sz="2800" dirty="0"/>
              <a:t>服务</a:t>
            </a:r>
            <a:endParaRPr lang="en-US" altLang="zh-CN" sz="2800" dirty="0"/>
          </a:p>
          <a:p>
            <a:pPr lvl="1"/>
            <a:r>
              <a:rPr lang="zh-CN" altLang="en-US" sz="2800" dirty="0"/>
              <a:t>中断返回</a:t>
            </a:r>
            <a:endParaRPr lang="zh-CN" altLang="en-US" sz="2800" dirty="0"/>
          </a:p>
        </p:txBody>
      </p:sp>
      <p:grpSp>
        <p:nvGrpSpPr>
          <p:cNvPr id="4" name="Group 3"/>
          <p:cNvGrpSpPr/>
          <p:nvPr/>
        </p:nvGrpSpPr>
        <p:grpSpPr bwMode="auto">
          <a:xfrm>
            <a:off x="4062761" y="1543063"/>
            <a:ext cx="6227763" cy="4240213"/>
            <a:chOff x="0" y="0"/>
            <a:chExt cx="3657" cy="2453"/>
          </a:xfrm>
        </p:grpSpPr>
        <p:sp>
          <p:nvSpPr>
            <p:cNvPr id="5" name="Line 4"/>
            <p:cNvSpPr>
              <a:spLocks noChangeShapeType="1"/>
            </p:cNvSpPr>
            <p:nvPr/>
          </p:nvSpPr>
          <p:spPr bwMode="auto">
            <a:xfrm>
              <a:off x="1392" y="342"/>
              <a:ext cx="0" cy="845"/>
            </a:xfrm>
            <a:prstGeom prst="line">
              <a:avLst/>
            </a:prstGeom>
            <a:noFill/>
            <a:ln w="38100" cmpd="sng">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6" name="Line 5"/>
            <p:cNvSpPr>
              <a:spLocks noChangeShapeType="1"/>
            </p:cNvSpPr>
            <p:nvPr/>
          </p:nvSpPr>
          <p:spPr bwMode="auto">
            <a:xfrm>
              <a:off x="1392" y="1313"/>
              <a:ext cx="0" cy="1140"/>
            </a:xfrm>
            <a:prstGeom prst="line">
              <a:avLst/>
            </a:prstGeom>
            <a:noFill/>
            <a:ln w="38100" cmpd="sng">
              <a:solidFill>
                <a:srgbClr val="333399"/>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7" name="Line 6"/>
            <p:cNvSpPr>
              <a:spLocks noChangeShapeType="1"/>
            </p:cNvSpPr>
            <p:nvPr/>
          </p:nvSpPr>
          <p:spPr bwMode="auto">
            <a:xfrm>
              <a:off x="2628" y="976"/>
              <a:ext cx="0" cy="717"/>
            </a:xfrm>
            <a:prstGeom prst="line">
              <a:avLst/>
            </a:prstGeom>
            <a:noFill/>
            <a:ln w="38100" cmpd="sng">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8" name="AutoShape 7"/>
            <p:cNvSpPr>
              <a:spLocks noChangeArrowheads="1"/>
            </p:cNvSpPr>
            <p:nvPr/>
          </p:nvSpPr>
          <p:spPr bwMode="auto">
            <a:xfrm>
              <a:off x="0" y="1277"/>
              <a:ext cx="734" cy="369"/>
            </a:xfrm>
            <a:prstGeom prst="wedgeEllipseCallout">
              <a:avLst>
                <a:gd name="adj1" fmla="val 119889"/>
                <a:gd name="adj2" fmla="val -40829"/>
              </a:avLst>
            </a:prstGeom>
            <a:noFill/>
            <a:ln w="28575" cmpd="sng">
              <a:solidFill>
                <a:srgbClr val="FFCF0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1" i="0" u="none" strike="noStrike" kern="0" cap="none" spc="0" normalizeH="0" baseline="0" noProof="0">
                <a:ln>
                  <a:noFill/>
                </a:ln>
                <a:solidFill>
                  <a:srgbClr val="000000"/>
                </a:solidFill>
                <a:effectLst/>
                <a:uLnTx/>
                <a:uFillTx/>
              </a:endParaRPr>
            </a:p>
          </p:txBody>
        </p:sp>
        <p:sp>
          <p:nvSpPr>
            <p:cNvPr id="9" name="Text Box 8"/>
            <p:cNvSpPr txBox="1">
              <a:spLocks noChangeArrowheads="1"/>
            </p:cNvSpPr>
            <p:nvPr/>
          </p:nvSpPr>
          <p:spPr bwMode="auto">
            <a:xfrm>
              <a:off x="159" y="1308"/>
              <a:ext cx="468"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断点</a:t>
              </a:r>
              <a:endParaRPr kumimoji="0" lang="zh-CN" altLang="zh-CN" sz="2400" b="1" i="0" u="none" strike="noStrike" kern="0" cap="none" spc="0" normalizeH="0" baseline="0" noProof="0">
                <a:ln>
                  <a:noFill/>
                </a:ln>
                <a:solidFill>
                  <a:srgbClr val="000000"/>
                </a:solidFill>
                <a:effectLst/>
                <a:uLnTx/>
                <a:uFillTx/>
              </a:endParaRPr>
            </a:p>
          </p:txBody>
        </p:sp>
        <p:sp>
          <p:nvSpPr>
            <p:cNvPr id="10" name="Text Box 9"/>
            <p:cNvSpPr txBox="1">
              <a:spLocks noChangeArrowheads="1"/>
            </p:cNvSpPr>
            <p:nvPr/>
          </p:nvSpPr>
          <p:spPr bwMode="auto">
            <a:xfrm>
              <a:off x="1078" y="0"/>
              <a:ext cx="647"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主程序</a:t>
              </a:r>
              <a:endParaRPr kumimoji="0" lang="zh-CN" altLang="zh-CN" sz="2400" b="1" i="0" u="none" strike="noStrike" kern="0" cap="none" spc="0" normalizeH="0" baseline="0" noProof="0">
                <a:ln>
                  <a:noFill/>
                </a:ln>
                <a:solidFill>
                  <a:srgbClr val="000000"/>
                </a:solidFill>
                <a:effectLst/>
                <a:uLnTx/>
                <a:uFillTx/>
              </a:endParaRPr>
            </a:p>
          </p:txBody>
        </p:sp>
        <p:sp>
          <p:nvSpPr>
            <p:cNvPr id="11" name="Text Box 10"/>
            <p:cNvSpPr txBox="1">
              <a:spLocks noChangeArrowheads="1"/>
            </p:cNvSpPr>
            <p:nvPr/>
          </p:nvSpPr>
          <p:spPr bwMode="auto">
            <a:xfrm>
              <a:off x="2152" y="421"/>
              <a:ext cx="1187"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中断服务程序</a:t>
              </a:r>
              <a:endParaRPr kumimoji="0" lang="zh-CN" altLang="zh-CN" sz="2400" b="1" i="0" u="none" strike="noStrike" kern="0" cap="none" spc="0" normalizeH="0" baseline="0" noProof="0">
                <a:ln>
                  <a:noFill/>
                </a:ln>
                <a:solidFill>
                  <a:srgbClr val="000000"/>
                </a:solidFill>
                <a:effectLst/>
                <a:uLnTx/>
                <a:uFillTx/>
              </a:endParaRPr>
            </a:p>
          </p:txBody>
        </p:sp>
        <p:sp>
          <p:nvSpPr>
            <p:cNvPr id="12" name="Line 11"/>
            <p:cNvSpPr>
              <a:spLocks noChangeShapeType="1"/>
            </p:cNvSpPr>
            <p:nvPr/>
          </p:nvSpPr>
          <p:spPr bwMode="auto">
            <a:xfrm>
              <a:off x="624" y="1144"/>
              <a:ext cx="624" cy="0"/>
            </a:xfrm>
            <a:prstGeom prst="line">
              <a:avLst/>
            </a:prstGeom>
            <a:noFill/>
            <a:ln w="28575" cmpd="sng">
              <a:solidFill>
                <a:srgbClr val="FFCF0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13" name="Text Box 12"/>
            <p:cNvSpPr txBox="1">
              <a:spLocks noChangeArrowheads="1"/>
            </p:cNvSpPr>
            <p:nvPr/>
          </p:nvSpPr>
          <p:spPr bwMode="auto">
            <a:xfrm>
              <a:off x="172" y="844"/>
              <a:ext cx="827"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中断请求</a:t>
              </a:r>
              <a:endParaRPr kumimoji="0" lang="zh-CN" altLang="zh-CN" sz="2400" b="1" i="0" u="none" strike="noStrike" kern="0" cap="none" spc="0" normalizeH="0" baseline="0" noProof="0">
                <a:ln>
                  <a:noFill/>
                </a:ln>
                <a:solidFill>
                  <a:srgbClr val="000000"/>
                </a:solidFill>
                <a:effectLst/>
                <a:uLnTx/>
                <a:uFillTx/>
              </a:endParaRPr>
            </a:p>
          </p:txBody>
        </p:sp>
        <p:sp>
          <p:nvSpPr>
            <p:cNvPr id="14" name="Line 13"/>
            <p:cNvSpPr>
              <a:spLocks noChangeShapeType="1"/>
            </p:cNvSpPr>
            <p:nvPr/>
          </p:nvSpPr>
          <p:spPr bwMode="auto">
            <a:xfrm flipV="1">
              <a:off x="1488" y="933"/>
              <a:ext cx="1104" cy="254"/>
            </a:xfrm>
            <a:prstGeom prst="line">
              <a:avLst/>
            </a:prstGeom>
            <a:noFill/>
            <a:ln w="28575" cmpd="sng">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15" name="Line 14"/>
            <p:cNvSpPr>
              <a:spLocks noChangeShapeType="1"/>
            </p:cNvSpPr>
            <p:nvPr/>
          </p:nvSpPr>
          <p:spPr bwMode="auto">
            <a:xfrm flipH="1" flipV="1">
              <a:off x="1488" y="1271"/>
              <a:ext cx="1056" cy="464"/>
            </a:xfrm>
            <a:prstGeom prst="line">
              <a:avLst/>
            </a:prstGeom>
            <a:noFill/>
            <a:ln w="28575" cmpd="sng">
              <a:solidFill>
                <a:srgbClr val="33339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just" defTabSz="91440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楷体_GB2312" pitchFamily="1" charset="-122"/>
              </a:endParaRPr>
            </a:p>
          </p:txBody>
        </p:sp>
        <p:sp>
          <p:nvSpPr>
            <p:cNvPr id="16" name="Text Box 15"/>
            <p:cNvSpPr txBox="1">
              <a:spLocks noChangeArrowheads="1"/>
            </p:cNvSpPr>
            <p:nvPr/>
          </p:nvSpPr>
          <p:spPr bwMode="auto">
            <a:xfrm>
              <a:off x="2829" y="1008"/>
              <a:ext cx="828" cy="4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dirty="0">
                  <a:ln>
                    <a:noFill/>
                  </a:ln>
                  <a:solidFill>
                    <a:srgbClr val="000000"/>
                  </a:solidFill>
                  <a:effectLst/>
                  <a:uLnTx/>
                  <a:uFillTx/>
                </a:rPr>
                <a:t>对外设</a:t>
              </a:r>
              <a:endParaRPr kumimoji="0" lang="zh-CN" altLang="zh-CN" sz="2400" b="1" i="0" u="none" strike="noStrike" kern="0" cap="none" spc="0" normalizeH="0" baseline="0" noProof="0" dirty="0">
                <a:ln>
                  <a:noFill/>
                </a:ln>
                <a:solidFill>
                  <a:srgbClr val="000000"/>
                </a:solidFill>
                <a:effectLst/>
                <a:uLnTx/>
                <a:uFillTx/>
              </a:endParaRPr>
            </a:p>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dirty="0">
                  <a:ln>
                    <a:noFill/>
                  </a:ln>
                  <a:solidFill>
                    <a:srgbClr val="000000"/>
                  </a:solidFill>
                  <a:effectLst/>
                  <a:uLnTx/>
                  <a:uFillTx/>
                </a:rPr>
                <a:t>进行处理</a:t>
              </a:r>
              <a:endParaRPr kumimoji="0" lang="zh-CN" altLang="zh-CN" sz="2400" b="1" i="0" u="none" strike="noStrike" kern="0" cap="none" spc="0" normalizeH="0" baseline="0" noProof="0" dirty="0">
                <a:ln>
                  <a:noFill/>
                </a:ln>
                <a:solidFill>
                  <a:srgbClr val="000000"/>
                </a:solidFill>
                <a:effectLst/>
                <a:uLnTx/>
                <a:uFillTx/>
              </a:endParaRPr>
            </a:p>
          </p:txBody>
        </p:sp>
        <p:sp>
          <p:nvSpPr>
            <p:cNvPr id="17" name="Text Box 16"/>
            <p:cNvSpPr txBox="1">
              <a:spLocks noChangeArrowheads="1"/>
            </p:cNvSpPr>
            <p:nvPr/>
          </p:nvSpPr>
          <p:spPr bwMode="auto">
            <a:xfrm>
              <a:off x="460" y="1815"/>
              <a:ext cx="827"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继续执行</a:t>
              </a:r>
              <a:endParaRPr kumimoji="0" lang="zh-CN" altLang="zh-CN" sz="2400" b="1" i="0" u="none" strike="noStrike" kern="0" cap="none" spc="0" normalizeH="0" baseline="0" noProof="0">
                <a:ln>
                  <a:noFill/>
                </a:ln>
                <a:solidFill>
                  <a:srgbClr val="000000"/>
                </a:solidFill>
                <a:effectLst/>
                <a:uLnTx/>
                <a:uFillTx/>
              </a:endParaRPr>
            </a:p>
          </p:txBody>
        </p:sp>
        <p:sp>
          <p:nvSpPr>
            <p:cNvPr id="18" name="Text Box 17"/>
            <p:cNvSpPr txBox="1">
              <a:spLocks noChangeArrowheads="1"/>
            </p:cNvSpPr>
            <p:nvPr/>
          </p:nvSpPr>
          <p:spPr bwMode="auto">
            <a:xfrm>
              <a:off x="2284" y="1815"/>
              <a:ext cx="828"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0" cap="none" spc="0" normalizeH="0" baseline="0" noProof="0">
                  <a:ln>
                    <a:noFill/>
                  </a:ln>
                  <a:solidFill>
                    <a:srgbClr val="000000"/>
                  </a:solidFill>
                  <a:effectLst/>
                  <a:uLnTx/>
                  <a:uFillTx/>
                </a:rPr>
                <a:t>返回断点</a:t>
              </a:r>
              <a:endParaRPr kumimoji="0" lang="zh-CN" altLang="zh-CN" sz="2400" b="1" i="0" u="none" strike="noStrike" kern="0" cap="none" spc="0" normalizeH="0" baseline="0" noProof="0">
                <a:ln>
                  <a:noFill/>
                </a:ln>
                <a:solidFill>
                  <a:srgbClr val="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6.3.2</a:t>
            </a:r>
            <a:r>
              <a:rPr lang="zh-CN" altLang="en-US" dirty="0" smtClean="0"/>
              <a:t>中断的处理过程</a:t>
            </a:r>
            <a:br>
              <a:rPr lang="en-US" altLang="zh-CN" dirty="0" smtClean="0"/>
            </a:br>
            <a:r>
              <a:rPr lang="en-US" altLang="zh-CN" dirty="0" smtClean="0"/>
              <a:t>1</a:t>
            </a:r>
            <a:r>
              <a:rPr lang="zh-CN" altLang="en-US" dirty="0" smtClean="0"/>
              <a:t>、中断请求</a:t>
            </a:r>
            <a:endParaRPr lang="zh-CN" altLang="en-US" dirty="0"/>
          </a:p>
        </p:txBody>
      </p:sp>
      <p:sp>
        <p:nvSpPr>
          <p:cNvPr id="3" name="内容占位符 2"/>
          <p:cNvSpPr>
            <a:spLocks noGrp="1"/>
          </p:cNvSpPr>
          <p:nvPr>
            <p:ph idx="1"/>
          </p:nvPr>
        </p:nvSpPr>
        <p:spPr/>
        <p:txBody>
          <a:bodyPr>
            <a:normAutofit/>
          </a:bodyPr>
          <a:lstStyle/>
          <a:p>
            <a:r>
              <a:rPr lang="zh-CN" altLang="en-US" sz="2800" dirty="0"/>
              <a:t>（</a:t>
            </a:r>
            <a:r>
              <a:rPr lang="en-US" altLang="zh-CN" sz="2800" dirty="0"/>
              <a:t>1</a:t>
            </a:r>
            <a:r>
              <a:rPr lang="zh-CN" altLang="en-US" sz="2800" dirty="0"/>
              <a:t>）发生在</a:t>
            </a:r>
            <a:r>
              <a:rPr lang="en-US" altLang="zh-CN" sz="2800" dirty="0"/>
              <a:t>CPU</a:t>
            </a:r>
            <a:r>
              <a:rPr lang="zh-CN" altLang="en-US" sz="2800" dirty="0"/>
              <a:t>内部的中断，不需要中断请求，</a:t>
            </a:r>
            <a:r>
              <a:rPr lang="en-US" altLang="zh-CN" sz="2800" dirty="0"/>
              <a:t>CPU</a:t>
            </a:r>
            <a:r>
              <a:rPr lang="zh-CN" altLang="en-US" sz="2800" dirty="0"/>
              <a:t>内部的中断控制逻辑直接接收处理。</a:t>
            </a:r>
            <a:endParaRPr lang="en-US" altLang="zh-CN" sz="2800" dirty="0"/>
          </a:p>
          <a:p>
            <a:r>
              <a:rPr lang="zh-CN" altLang="en-US" sz="2800" dirty="0"/>
              <a:t>（</a:t>
            </a:r>
            <a:r>
              <a:rPr lang="en-US" altLang="zh-CN" sz="2800" dirty="0"/>
              <a:t>2</a:t>
            </a:r>
            <a:r>
              <a:rPr lang="zh-CN" altLang="en-US" sz="2800" dirty="0"/>
              <a:t>）外部中断请求由中断源提出。外部中断源利用</a:t>
            </a:r>
            <a:r>
              <a:rPr lang="en-US" altLang="zh-CN" sz="2800" dirty="0"/>
              <a:t>CPU</a:t>
            </a:r>
            <a:r>
              <a:rPr lang="zh-CN" altLang="en-US" sz="2800" dirty="0"/>
              <a:t>的中断输入引脚输入中断请求信号。一般</a:t>
            </a:r>
            <a:r>
              <a:rPr lang="en-US" altLang="zh-CN" sz="2800" dirty="0"/>
              <a:t>CPU</a:t>
            </a:r>
            <a:r>
              <a:rPr lang="zh-CN" altLang="en-US" sz="2800" dirty="0"/>
              <a:t>设有两个中断请求输入引脚：</a:t>
            </a:r>
            <a:r>
              <a:rPr lang="zh-CN" altLang="zh-CN" sz="2800" dirty="0"/>
              <a:t>可屏蔽中断</a:t>
            </a:r>
            <a:r>
              <a:rPr lang="zh-CN" altLang="en-US" sz="2800" dirty="0"/>
              <a:t>请求输入引脚和不</a:t>
            </a:r>
            <a:r>
              <a:rPr lang="zh-CN" altLang="zh-CN" sz="2800" dirty="0"/>
              <a:t>可屏蔽中断</a:t>
            </a:r>
            <a:r>
              <a:rPr lang="zh-CN" altLang="en-US" sz="2800" dirty="0"/>
              <a:t>请求输入引脚。</a:t>
            </a:r>
            <a:endParaRPr lang="zh-CN" alt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中断请求触发器</a:t>
            </a:r>
            <a:endParaRPr lang="zh-CN" altLang="en-US" dirty="0"/>
          </a:p>
        </p:txBody>
      </p:sp>
      <p:sp>
        <p:nvSpPr>
          <p:cNvPr id="3" name="内容占位符 2"/>
          <p:cNvSpPr>
            <a:spLocks noGrp="1"/>
          </p:cNvSpPr>
          <p:nvPr>
            <p:ph idx="1"/>
          </p:nvPr>
        </p:nvSpPr>
        <p:spPr/>
        <p:txBody>
          <a:bodyPr>
            <a:normAutofit/>
          </a:bodyPr>
          <a:lstStyle/>
          <a:p>
            <a:r>
              <a:rPr lang="zh-CN" altLang="en-US" sz="2800" dirty="0"/>
              <a:t>每个中断源发中断请求信号的时间是不确定的，而</a:t>
            </a:r>
            <a:r>
              <a:rPr lang="en-US" altLang="zh-CN" sz="2800" dirty="0"/>
              <a:t>CPU</a:t>
            </a:r>
            <a:r>
              <a:rPr lang="zh-CN" altLang="en-US" sz="2800" dirty="0"/>
              <a:t>在何时响应中断也是不确定的。所以，每个中断源都有一个中断请求触发器，锁存自己的中断请求信号，并保持到</a:t>
            </a:r>
            <a:r>
              <a:rPr lang="en-US" altLang="zh-CN" sz="2800" dirty="0"/>
              <a:t>CPU</a:t>
            </a:r>
            <a:r>
              <a:rPr lang="zh-CN" altLang="en-US" sz="2800" dirty="0"/>
              <a:t>响应这个中断请求之后才将其清除。</a:t>
            </a:r>
            <a:endParaRPr lang="zh-CN" alt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中断允许触发器</a:t>
            </a:r>
            <a:endParaRPr lang="zh-CN" altLang="en-US" dirty="0"/>
          </a:p>
        </p:txBody>
      </p:sp>
      <p:sp>
        <p:nvSpPr>
          <p:cNvPr id="3" name="内容占位符 2"/>
          <p:cNvSpPr>
            <a:spLocks noGrp="1"/>
          </p:cNvSpPr>
          <p:nvPr>
            <p:ph idx="1"/>
          </p:nvPr>
        </p:nvSpPr>
        <p:spPr/>
        <p:txBody>
          <a:bodyPr>
            <a:normAutofit/>
          </a:bodyPr>
          <a:lstStyle/>
          <a:p>
            <a:r>
              <a:rPr lang="zh-CN" altLang="en-US" sz="2800" dirty="0"/>
              <a:t>在</a:t>
            </a:r>
            <a:r>
              <a:rPr lang="en-US" altLang="zh-CN" sz="2800" dirty="0"/>
              <a:t>CPU</a:t>
            </a:r>
            <a:r>
              <a:rPr lang="zh-CN" altLang="en-US" sz="2800" dirty="0"/>
              <a:t>内部有一个中断允许触发器，当其为“</a:t>
            </a:r>
            <a:r>
              <a:rPr lang="en-US" altLang="zh-CN" sz="2800" dirty="0"/>
              <a:t>1</a:t>
            </a:r>
            <a:r>
              <a:rPr lang="zh-CN" altLang="en-US" sz="2800" dirty="0"/>
              <a:t>”时，允许</a:t>
            </a:r>
            <a:r>
              <a:rPr lang="en-US" altLang="zh-CN" sz="2800" dirty="0"/>
              <a:t>CPU</a:t>
            </a:r>
            <a:r>
              <a:rPr lang="zh-CN" altLang="en-US" sz="2800" dirty="0"/>
              <a:t>响应中断，称为开中断。若其为“</a:t>
            </a:r>
            <a:r>
              <a:rPr lang="en-US" altLang="zh-CN" sz="2800" dirty="0"/>
              <a:t>0</a:t>
            </a:r>
            <a:r>
              <a:rPr lang="zh-CN" altLang="en-US" sz="2800" dirty="0"/>
              <a:t>”，不允许</a:t>
            </a:r>
            <a:r>
              <a:rPr lang="en-US" altLang="zh-CN" sz="2800" dirty="0"/>
              <a:t>CPU</a:t>
            </a:r>
            <a:r>
              <a:rPr lang="zh-CN" altLang="en-US" sz="2800" dirty="0"/>
              <a:t>响应中断，中断被屏蔽，称为关中断。</a:t>
            </a:r>
            <a:endParaRPr lang="en-US" altLang="zh-CN" sz="2800" dirty="0"/>
          </a:p>
          <a:p>
            <a:r>
              <a:rPr lang="zh-CN" altLang="en-US" sz="2800" dirty="0"/>
              <a:t>通常，当</a:t>
            </a:r>
            <a:r>
              <a:rPr lang="en-US" altLang="zh-CN" sz="2800" dirty="0"/>
              <a:t>CPU</a:t>
            </a:r>
            <a:r>
              <a:rPr lang="zh-CN" altLang="en-US" sz="2800" dirty="0"/>
              <a:t>复位时，中断允许触发器也复位为“</a:t>
            </a:r>
            <a:r>
              <a:rPr lang="en-US" altLang="zh-CN" sz="2800" dirty="0"/>
              <a:t>0</a:t>
            </a:r>
            <a:r>
              <a:rPr lang="zh-CN" altLang="en-US" sz="2800" dirty="0"/>
              <a:t>”，即关中断。当</a:t>
            </a:r>
            <a:r>
              <a:rPr lang="en-US" altLang="zh-CN" sz="2800" dirty="0"/>
              <a:t>CPU</a:t>
            </a:r>
            <a:r>
              <a:rPr lang="zh-CN" altLang="en-US" sz="2800" dirty="0"/>
              <a:t>中断响应时，</a:t>
            </a:r>
            <a:r>
              <a:rPr lang="en-US" altLang="zh-CN" sz="2800" dirty="0"/>
              <a:t>CPU</a:t>
            </a:r>
            <a:r>
              <a:rPr lang="zh-CN" altLang="en-US" sz="2800" dirty="0"/>
              <a:t>自动关闭中断，禁止接受另一个新的中断。</a:t>
            </a:r>
            <a:endParaRPr lang="en-US" altLang="zh-CN" sz="2800" dirty="0"/>
          </a:p>
          <a:p>
            <a:r>
              <a:rPr lang="zh-CN" altLang="en-US" sz="2800" dirty="0"/>
              <a:t>中断允许触发器的状态可以用开中断或关中断指令来设置。</a:t>
            </a:r>
            <a:endParaRPr lang="zh-CN" altLang="en-US"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中断</a:t>
            </a:r>
            <a:r>
              <a:rPr lang="zh-CN" altLang="en-US" dirty="0"/>
              <a:t>判优</a:t>
            </a:r>
            <a:endParaRPr lang="zh-CN" altLang="en-US" dirty="0"/>
          </a:p>
        </p:txBody>
      </p:sp>
      <p:sp>
        <p:nvSpPr>
          <p:cNvPr id="3" name="内容占位符 2"/>
          <p:cNvSpPr>
            <a:spLocks noGrp="1"/>
          </p:cNvSpPr>
          <p:nvPr>
            <p:ph idx="1"/>
          </p:nvPr>
        </p:nvSpPr>
        <p:spPr/>
        <p:txBody>
          <a:bodyPr/>
          <a:lstStyle/>
          <a:p>
            <a:r>
              <a:rPr lang="zh-CN" altLang="en-US" sz="2800" dirty="0">
                <a:latin typeface="楷体_GB2312" pitchFamily="1" charset="-122"/>
              </a:rPr>
              <a:t>当系统具有多个中断源时，就有可能在某一时刻有两个以上的中断源同时发出中断请求，而CPU往往只有一条中断请求线，并且任一时刻只能响应并处理一个中断，这就要求CPU能识别出是哪些中断源申请了中断并找出优先级最高的中断源对其进行响应，在处理完该中断源后，再响应级别较低的中断源的请求，这一过程称为中断判优。</a:t>
            </a:r>
            <a:endParaRPr lang="zh-CN" altLang="en-US" sz="2800" dirty="0">
              <a:latin typeface="楷体_GB2312" pitchFamily="1" charset="-122"/>
            </a:endParaRPr>
          </a:p>
          <a:p>
            <a:r>
              <a:rPr lang="zh-CN" altLang="en-US" sz="2800" dirty="0">
                <a:latin typeface="楷体_GB2312" pitchFamily="1" charset="-122"/>
              </a:rPr>
              <a:t>中断判优可以采用软件方法，也可以采用硬件方法。</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1</a:t>
            </a:r>
            <a:r>
              <a:rPr lang="zh-CN" altLang="en-US" dirty="0"/>
              <a:t>）软件判优</a:t>
            </a:r>
            <a:endParaRPr lang="zh-CN" altLang="en-US" dirty="0"/>
          </a:p>
        </p:txBody>
      </p:sp>
      <p:sp>
        <p:nvSpPr>
          <p:cNvPr id="3" name="内容占位符 2"/>
          <p:cNvSpPr>
            <a:spLocks noGrp="1"/>
          </p:cNvSpPr>
          <p:nvPr>
            <p:ph idx="1"/>
          </p:nvPr>
        </p:nvSpPr>
        <p:spPr>
          <a:xfrm>
            <a:off x="-461799" y="1700768"/>
            <a:ext cx="6328961" cy="4023360"/>
          </a:xfrm>
        </p:spPr>
        <p:txBody>
          <a:bodyPr>
            <a:normAutofit lnSpcReduction="10000"/>
          </a:bodyPr>
          <a:lstStyle/>
          <a:p>
            <a:pPr lvl="3"/>
            <a:r>
              <a:rPr lang="en-US" altLang="zh-CN" sz="2800" dirty="0"/>
              <a:t>CPU</a:t>
            </a:r>
            <a:r>
              <a:rPr lang="zh-CN" altLang="en-US" sz="2800" dirty="0"/>
              <a:t>检测到中断请求后，首先读取中断请求寄存器的内容，逐位检测它们的状态，检测到某一位为</a:t>
            </a:r>
            <a:r>
              <a:rPr lang="en-US" altLang="zh-CN" sz="2800" dirty="0"/>
              <a:t>1</a:t>
            </a:r>
            <a:r>
              <a:rPr lang="zh-CN" altLang="en-US" sz="2800" dirty="0"/>
              <a:t>，就确定对应的中断源有中断请求，转去执行它的中断服务程序。先检测哪一个，哪一个的优先级就高，后检测哪一个，哪一个优先级就低，检测的顺序就是各中断源的优先级顺序。</a:t>
            </a:r>
            <a:endParaRPr lang="zh-CN" altLang="en-US" sz="2800" dirty="0"/>
          </a:p>
        </p:txBody>
      </p:sp>
      <p:pic>
        <p:nvPicPr>
          <p:cNvPr id="4" name="图片 3"/>
          <p:cNvPicPr>
            <a:picLocks noChangeAspect="1"/>
          </p:cNvPicPr>
          <p:nvPr/>
        </p:nvPicPr>
        <p:blipFill>
          <a:blip r:embed="rId1" cstate="print"/>
          <a:stretch>
            <a:fillRect/>
          </a:stretch>
        </p:blipFill>
        <p:spPr>
          <a:xfrm>
            <a:off x="5894017" y="1936451"/>
            <a:ext cx="4773983" cy="316225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7280" y="286603"/>
            <a:ext cx="10058400" cy="405855"/>
          </a:xfrm>
        </p:spPr>
        <p:txBody>
          <a:bodyPr>
            <a:normAutofit fontScale="90000"/>
          </a:bodyPr>
          <a:lstStyle/>
          <a:p>
            <a:endParaRPr lang="zh-CN" altLang="en-US" dirty="0"/>
          </a:p>
        </p:txBody>
      </p:sp>
      <p:sp>
        <p:nvSpPr>
          <p:cNvPr id="3" name="内容占位符 2"/>
          <p:cNvSpPr>
            <a:spLocks noGrp="1"/>
          </p:cNvSpPr>
          <p:nvPr>
            <p:ph idx="1"/>
          </p:nvPr>
        </p:nvSpPr>
        <p:spPr>
          <a:xfrm>
            <a:off x="1543222" y="1250389"/>
            <a:ext cx="10058400" cy="645711"/>
          </a:xfrm>
        </p:spPr>
        <p:txBody>
          <a:bodyPr>
            <a:normAutofit/>
          </a:bodyPr>
          <a:lstStyle/>
          <a:p>
            <a:r>
              <a:rPr lang="zh-CN" altLang="en-US" sz="2800" dirty="0"/>
              <a:t>图中输入端口地址为</a:t>
            </a:r>
            <a:r>
              <a:rPr lang="en-US" altLang="zh-CN" sz="2800" dirty="0"/>
              <a:t>87FFH</a:t>
            </a:r>
            <a:r>
              <a:rPr lang="zh-CN" altLang="en-US" sz="2800" dirty="0"/>
              <a:t>。查询程序：</a:t>
            </a:r>
            <a:endParaRPr lang="zh-CN" altLang="en-US" sz="2800" dirty="0"/>
          </a:p>
        </p:txBody>
      </p:sp>
      <p:sp>
        <p:nvSpPr>
          <p:cNvPr id="6" name="文本框 5"/>
          <p:cNvSpPr txBox="1"/>
          <p:nvPr/>
        </p:nvSpPr>
        <p:spPr>
          <a:xfrm>
            <a:off x="518126" y="5383137"/>
            <a:ext cx="10947267" cy="1231106"/>
          </a:xfrm>
          <a:prstGeom prst="rect">
            <a:avLst/>
          </a:prstGeom>
          <a:noFill/>
        </p:spPr>
        <p:txBody>
          <a:bodyPr wrap="square" rtlCol="0">
            <a:spAutoFit/>
          </a:bodyPr>
          <a:lstStyle/>
          <a:p>
            <a:r>
              <a:rPr lang="zh-CN" altLang="en-US" sz="2800" dirty="0"/>
              <a:t>软件判优</a:t>
            </a:r>
            <a:r>
              <a:rPr lang="zh-CN" altLang="zh-CN" sz="2800" dirty="0"/>
              <a:t>实现简单，调整优先权次序方便，但在中断源较多的情况下，由询问转至相应的服务程序的入口时间长</a:t>
            </a:r>
            <a:r>
              <a:rPr lang="zh-CN" altLang="en-US" sz="2800" dirty="0"/>
              <a:t>，中断的实时性就很差</a:t>
            </a:r>
            <a:r>
              <a:rPr lang="zh-CN" altLang="zh-CN" sz="2800" dirty="0"/>
              <a:t>。 </a:t>
            </a:r>
            <a:endParaRPr lang="zh-CN" altLang="zh-CN" sz="2800" dirty="0"/>
          </a:p>
          <a:p>
            <a:endParaRPr lang="zh-CN" altLang="en-US" dirty="0"/>
          </a:p>
        </p:txBody>
      </p:sp>
      <p:sp>
        <p:nvSpPr>
          <p:cNvPr id="8" name="文本框 7"/>
          <p:cNvSpPr txBox="1"/>
          <p:nvPr/>
        </p:nvSpPr>
        <p:spPr>
          <a:xfrm>
            <a:off x="3079220" y="1977625"/>
            <a:ext cx="6094520" cy="3323987"/>
          </a:xfrm>
          <a:prstGeom prst="rect">
            <a:avLst/>
          </a:prstGeom>
          <a:noFill/>
        </p:spPr>
        <p:txBody>
          <a:bodyPr wrap="square">
            <a:spAutoFit/>
          </a:bodyPr>
          <a:lstStyle/>
          <a:p>
            <a:r>
              <a:rPr lang="zh-CN" altLang="en-US" sz="2400" dirty="0"/>
              <a:t>MOV DX, 87FFH</a:t>
            </a:r>
            <a:endParaRPr lang="zh-CN" altLang="en-US" sz="2400" dirty="0"/>
          </a:p>
          <a:p>
            <a:r>
              <a:rPr lang="zh-CN" altLang="en-US" sz="2400" dirty="0"/>
              <a:t>IN AL, DX ;              读中断请求寄存器内容</a:t>
            </a:r>
            <a:endParaRPr lang="zh-CN" altLang="en-US" sz="2400" dirty="0"/>
          </a:p>
          <a:p>
            <a:r>
              <a:rPr lang="zh-CN" altLang="en-US" sz="2400" dirty="0"/>
              <a:t>SHR AL, 1</a:t>
            </a:r>
            <a:endParaRPr lang="zh-CN" altLang="en-US" sz="2400" dirty="0"/>
          </a:p>
          <a:p>
            <a:r>
              <a:rPr lang="zh-CN" altLang="en-US" sz="2400" dirty="0"/>
              <a:t>JC IR0 ;                      IRQ0有请求，转IR0</a:t>
            </a:r>
            <a:endParaRPr lang="zh-CN" altLang="en-US" sz="2400" dirty="0"/>
          </a:p>
          <a:p>
            <a:r>
              <a:rPr lang="zh-CN" altLang="en-US" sz="2400" dirty="0"/>
              <a:t>SHR AL,1</a:t>
            </a:r>
            <a:endParaRPr lang="zh-CN" altLang="en-US" sz="2400" dirty="0"/>
          </a:p>
          <a:p>
            <a:r>
              <a:rPr lang="zh-CN" altLang="en-US" sz="2400" dirty="0"/>
              <a:t>JC IR1 ;                      IRQ1有请求，转IR1</a:t>
            </a:r>
            <a:endParaRPr lang="zh-CN" altLang="en-US" sz="2400" dirty="0"/>
          </a:p>
          <a:p>
            <a:r>
              <a:rPr lang="zh-CN" altLang="en-US" sz="2400" dirty="0"/>
              <a:t>SHR AL,1</a:t>
            </a:r>
            <a:endParaRPr lang="zh-CN" altLang="en-US" sz="2400" dirty="0"/>
          </a:p>
          <a:p>
            <a:r>
              <a:rPr lang="zh-CN" altLang="en-US" sz="2400" dirty="0"/>
              <a:t>JC IR2 ;                      IRQ2有请求，转IR2</a:t>
            </a:r>
            <a:endParaRPr lang="zh-CN" altLang="en-US" sz="2400" dirty="0"/>
          </a:p>
          <a:p>
            <a:r>
              <a:rPr lang="zh-CN" altLang="en-US" dirty="0"/>
              <a:t>……</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2</a:t>
            </a:r>
            <a:r>
              <a:rPr lang="zh-CN" altLang="en-US" dirty="0"/>
              <a:t>）硬件判优</a:t>
            </a:r>
            <a:endParaRPr lang="zh-CN" altLang="en-US" dirty="0"/>
          </a:p>
        </p:txBody>
      </p:sp>
      <p:sp>
        <p:nvSpPr>
          <p:cNvPr id="3" name="内容占位符 2"/>
          <p:cNvSpPr>
            <a:spLocks noGrp="1"/>
          </p:cNvSpPr>
          <p:nvPr>
            <p:ph idx="1"/>
          </p:nvPr>
        </p:nvSpPr>
        <p:spPr/>
        <p:txBody>
          <a:bodyPr>
            <a:normAutofit/>
          </a:bodyPr>
          <a:lstStyle/>
          <a:p>
            <a:r>
              <a:rPr lang="zh-CN" altLang="en-US" sz="2800" dirty="0"/>
              <a:t>利用专门的硬件电路确定中断源的优先级，有两种常见的方式：菊花链判优电路和中断控制器判优。</a:t>
            </a:r>
            <a:endParaRPr lang="zh-CN" alt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菊花链判优电路</a:t>
            </a:r>
            <a:endParaRPr lang="zh-CN" altLang="en-US" dirty="0"/>
          </a:p>
        </p:txBody>
      </p:sp>
      <p:sp>
        <p:nvSpPr>
          <p:cNvPr id="3" name="内容占位符 2"/>
          <p:cNvSpPr>
            <a:spLocks noGrp="1"/>
          </p:cNvSpPr>
          <p:nvPr>
            <p:ph idx="1"/>
          </p:nvPr>
        </p:nvSpPr>
        <p:spPr>
          <a:xfrm>
            <a:off x="235670" y="1845734"/>
            <a:ext cx="5743903" cy="4023360"/>
          </a:xfrm>
        </p:spPr>
        <p:txBody>
          <a:bodyPr>
            <a:noAutofit/>
          </a:bodyPr>
          <a:lstStyle/>
          <a:p>
            <a:r>
              <a:rPr lang="en-US" altLang="zh-CN" sz="2800" dirty="0"/>
              <a:t>CPU</a:t>
            </a:r>
            <a:r>
              <a:rPr lang="zh-CN" altLang="en-US" sz="2800" dirty="0"/>
              <a:t>收到中断请求，如果允许中断，</a:t>
            </a:r>
            <a:r>
              <a:rPr lang="en-US" altLang="zh-CN" sz="2800" dirty="0"/>
              <a:t>CPU</a:t>
            </a:r>
            <a:r>
              <a:rPr lang="zh-CN" altLang="en-US" sz="2800" dirty="0"/>
              <a:t>发出中断响应信号。中断响应信号首先到达菊花链的前端，如果中断源</a:t>
            </a:r>
            <a:r>
              <a:rPr lang="en-US" altLang="zh-CN" sz="2800" dirty="0"/>
              <a:t>1</a:t>
            </a:r>
            <a:r>
              <a:rPr lang="zh-CN" altLang="en-US" sz="2800" dirty="0"/>
              <a:t>提出了中断请求，它就会截获中断响应信号，封锁它，使它不能向下一个中断源传送。不论下面的中断源有没有提出中断请求，都不可能接收到中断响应信号，因此它们的中断请求也不能被响应。</a:t>
            </a:r>
            <a:endParaRPr lang="zh-CN" altLang="en-US" sz="2800" dirty="0"/>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352515" y="1683834"/>
            <a:ext cx="3829933" cy="4515468"/>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中断控制器判优</a:t>
            </a:r>
            <a:endParaRPr lang="zh-CN" altLang="en-US" dirty="0"/>
          </a:p>
        </p:txBody>
      </p:sp>
      <p:sp>
        <p:nvSpPr>
          <p:cNvPr id="3" name="内容占位符 2"/>
          <p:cNvSpPr>
            <a:spLocks noGrp="1"/>
          </p:cNvSpPr>
          <p:nvPr>
            <p:ph idx="1"/>
          </p:nvPr>
        </p:nvSpPr>
        <p:spPr>
          <a:xfrm>
            <a:off x="1097280" y="1845734"/>
            <a:ext cx="10058400" cy="1234817"/>
          </a:xfrm>
        </p:spPr>
        <p:txBody>
          <a:bodyPr>
            <a:noAutofit/>
          </a:bodyPr>
          <a:lstStyle/>
          <a:p>
            <a:r>
              <a:rPr lang="zh-CN" altLang="en-US" sz="2800" dirty="0"/>
              <a:t>中断控制器，如</a:t>
            </a:r>
            <a:r>
              <a:rPr lang="en-US" altLang="zh-CN" sz="2800" dirty="0"/>
              <a:t>intel8259A</a:t>
            </a:r>
            <a:r>
              <a:rPr lang="zh-CN" altLang="en-US" sz="2800" dirty="0"/>
              <a:t>，可以以多种方式设置中断源的中断优先级。中断控制器中有一个中断优先级判别器，它自动判别出目前提出中断请求的优先级最高的中断源，并将它的中断向量码送到数据总线，</a:t>
            </a:r>
            <a:r>
              <a:rPr lang="en-US" altLang="zh-CN" sz="2800" dirty="0"/>
              <a:t>CPU</a:t>
            </a:r>
            <a:r>
              <a:rPr lang="zh-CN" altLang="en-US" sz="2800" dirty="0"/>
              <a:t>接收中断向量码并据此找到它的中断服务程序。</a:t>
            </a:r>
            <a:endParaRPr lang="zh-CN" altLang="en-US" sz="28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300306" y="4115441"/>
            <a:ext cx="6658904" cy="2572109"/>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a:t>中断响应</a:t>
            </a:r>
            <a:endParaRPr lang="zh-CN" altLang="en-US" dirty="0"/>
          </a:p>
        </p:txBody>
      </p:sp>
      <p:sp>
        <p:nvSpPr>
          <p:cNvPr id="3" name="内容占位符 2"/>
          <p:cNvSpPr>
            <a:spLocks noGrp="1"/>
          </p:cNvSpPr>
          <p:nvPr>
            <p:ph idx="1"/>
          </p:nvPr>
        </p:nvSpPr>
        <p:spPr/>
        <p:txBody>
          <a:bodyPr>
            <a:normAutofit/>
          </a:bodyPr>
          <a:lstStyle/>
          <a:p>
            <a:r>
              <a:rPr lang="zh-CN" altLang="en-US" sz="2800" dirty="0"/>
              <a:t>经过中断判优，中断处理就进入中断响应阶段。中断响应时，</a:t>
            </a:r>
            <a:r>
              <a:rPr lang="en-US" altLang="zh-CN" sz="2800" dirty="0"/>
              <a:t>CPU</a:t>
            </a:r>
            <a:r>
              <a:rPr lang="zh-CN" altLang="en-US" sz="2800" dirty="0"/>
              <a:t>向中断源发出中断响应信号，同时：</a:t>
            </a:r>
            <a:endParaRPr lang="en-US" altLang="zh-CN" sz="2800" dirty="0"/>
          </a:p>
          <a:p>
            <a:pPr marL="0" indent="0">
              <a:buNone/>
            </a:pPr>
            <a:r>
              <a:rPr lang="zh-CN" altLang="zh-CN" sz="2800" dirty="0" smtClean="0"/>
              <a:t>①</a:t>
            </a:r>
            <a:r>
              <a:rPr lang="zh-CN" altLang="en-US" dirty="0" smtClean="0"/>
              <a:t>关中断；</a:t>
            </a:r>
            <a:endParaRPr lang="en-US" altLang="zh-CN" sz="2800" dirty="0"/>
          </a:p>
          <a:p>
            <a:pPr marL="0" indent="0">
              <a:buNone/>
            </a:pPr>
            <a:r>
              <a:rPr lang="zh-CN" altLang="en-US" sz="2800" dirty="0" smtClean="0"/>
              <a:t>②</a:t>
            </a:r>
            <a:r>
              <a:rPr lang="zh-CN" altLang="en-US" dirty="0" smtClean="0"/>
              <a:t>保护现场和断点</a:t>
            </a:r>
            <a:r>
              <a:rPr lang="zh-CN" altLang="en-US" sz="2800" dirty="0" smtClean="0"/>
              <a:t>；</a:t>
            </a:r>
            <a:endParaRPr lang="en-US" altLang="zh-CN" sz="2800" dirty="0"/>
          </a:p>
          <a:p>
            <a:pPr marL="0" indent="0">
              <a:buNone/>
            </a:pPr>
            <a:r>
              <a:rPr lang="zh-CN" altLang="en-US" dirty="0" smtClean="0"/>
              <a:t>③获得中断服务程序的入口地址。</a:t>
            </a:r>
            <a:endParaRPr lang="en-US" altLang="zh-CN" sz="2800" dirty="0"/>
          </a:p>
          <a:p>
            <a:pPr marL="0" indent="0">
              <a:buNone/>
            </a:pPr>
            <a:endParaRPr lang="zh-CN" altLang="en-US" sz="28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a:t>
            </a:r>
            <a:r>
              <a:rPr lang="zh-CN" altLang="en-US" dirty="0" smtClean="0"/>
              <a:t>中断处理（服务）</a:t>
            </a:r>
            <a:endParaRPr lang="zh-CN" altLang="en-US" dirty="0"/>
          </a:p>
        </p:txBody>
      </p:sp>
      <p:sp>
        <p:nvSpPr>
          <p:cNvPr id="3" name="内容占位符 2"/>
          <p:cNvSpPr>
            <a:spLocks noGrp="1"/>
          </p:cNvSpPr>
          <p:nvPr>
            <p:ph idx="1"/>
          </p:nvPr>
        </p:nvSpPr>
        <p:spPr>
          <a:xfrm>
            <a:off x="795146" y="1579404"/>
            <a:ext cx="10621537" cy="4927928"/>
          </a:xfrm>
        </p:spPr>
        <p:txBody>
          <a:bodyPr>
            <a:noAutofit/>
          </a:bodyPr>
          <a:lstStyle/>
          <a:p>
            <a:r>
              <a:rPr lang="zh-CN" altLang="en-US" sz="2800" dirty="0"/>
              <a:t>中断服务程序的一般结构为：</a:t>
            </a:r>
            <a:endParaRPr lang="en-US" altLang="zh-CN" sz="2800" dirty="0"/>
          </a:p>
          <a:p>
            <a:pPr marL="0" indent="0">
              <a:buNone/>
            </a:pPr>
            <a:r>
              <a:rPr lang="zh-CN" altLang="en-US" sz="2800" dirty="0"/>
              <a:t>（</a:t>
            </a:r>
            <a:r>
              <a:rPr lang="en-US" altLang="zh-CN" sz="2800" dirty="0"/>
              <a:t>1</a:t>
            </a:r>
            <a:r>
              <a:rPr lang="zh-CN" altLang="en-US" sz="2800" dirty="0"/>
              <a:t>）保护现场。在中断服务程序的起始部分安排若干条入栈指令，将各寄存器的内容压入堆栈保存。</a:t>
            </a:r>
            <a:endParaRPr lang="en-US" altLang="zh-CN" sz="2800" dirty="0"/>
          </a:p>
          <a:p>
            <a:pPr marL="0" indent="0">
              <a:buNone/>
            </a:pPr>
            <a:r>
              <a:rPr lang="zh-CN" altLang="en-US" sz="2800" dirty="0"/>
              <a:t>（</a:t>
            </a:r>
            <a:r>
              <a:rPr lang="en-US" altLang="zh-CN" sz="2800" dirty="0"/>
              <a:t>2</a:t>
            </a:r>
            <a:r>
              <a:rPr lang="zh-CN" altLang="en-US" sz="2800" dirty="0"/>
              <a:t>）开中断。在中断服务程序执行期间允许级别更高的中断请求中断现行的中断服务程序，实现中断嵌套。</a:t>
            </a:r>
            <a:endParaRPr lang="en-US" altLang="zh-CN" sz="2800" dirty="0"/>
          </a:p>
          <a:p>
            <a:pPr marL="0" indent="0">
              <a:buNone/>
            </a:pPr>
            <a:r>
              <a:rPr lang="zh-CN" altLang="en-US" sz="2800" dirty="0"/>
              <a:t>（</a:t>
            </a:r>
            <a:r>
              <a:rPr lang="en-US" altLang="zh-CN" sz="2800" dirty="0"/>
              <a:t>3</a:t>
            </a:r>
            <a:r>
              <a:rPr lang="zh-CN" altLang="en-US" sz="2800" dirty="0"/>
              <a:t>）中断服务。完成中断源的具体要求</a:t>
            </a:r>
            <a:r>
              <a:rPr lang="zh-CN" altLang="en-US" sz="2800" dirty="0" smtClean="0"/>
              <a:t>。</a:t>
            </a:r>
            <a:endParaRPr lang="en-US" altLang="zh-CN" sz="2800" dirty="0" smtClean="0"/>
          </a:p>
          <a:p>
            <a:pPr marL="0" indent="0">
              <a:buNone/>
            </a:pPr>
            <a:r>
              <a:rPr lang="zh-CN" altLang="en-US" dirty="0" smtClean="0"/>
              <a:t>（</a:t>
            </a:r>
            <a:r>
              <a:rPr lang="en-US" altLang="zh-CN" dirty="0" smtClean="0"/>
              <a:t>4</a:t>
            </a:r>
            <a:r>
              <a:rPr lang="zh-CN" altLang="en-US" dirty="0" smtClean="0"/>
              <a:t>）关中断</a:t>
            </a:r>
            <a:endParaRPr lang="en-US" altLang="zh-CN" sz="2800" dirty="0"/>
          </a:p>
          <a:p>
            <a:pPr marL="0" indent="0">
              <a:buNone/>
            </a:pPr>
            <a:r>
              <a:rPr lang="zh-CN" altLang="en-US" sz="2800" dirty="0" smtClean="0"/>
              <a:t>（</a:t>
            </a:r>
            <a:r>
              <a:rPr lang="en-US" altLang="zh-CN" dirty="0"/>
              <a:t>5</a:t>
            </a:r>
            <a:r>
              <a:rPr lang="zh-CN" altLang="en-US" sz="2800" dirty="0" smtClean="0"/>
              <a:t>）</a:t>
            </a:r>
            <a:r>
              <a:rPr lang="zh-CN" altLang="en-US" sz="2800" dirty="0"/>
              <a:t>恢复现场。中断服务程序结束前，必须恢复主程序的中断现场。通常将保存在堆栈中的现场信息弹出到原来的寄存器中。</a:t>
            </a:r>
            <a:endParaRPr lang="en-US" altLang="zh-CN" sz="2800" dirty="0"/>
          </a:p>
          <a:p>
            <a:pPr marL="0" indent="0">
              <a:buNone/>
            </a:pPr>
            <a:r>
              <a:rPr lang="zh-CN" altLang="en-US" sz="2800" dirty="0" smtClean="0"/>
              <a:t>（</a:t>
            </a:r>
            <a:r>
              <a:rPr lang="en-US" altLang="zh-CN" dirty="0"/>
              <a:t>6</a:t>
            </a:r>
            <a:r>
              <a:rPr lang="zh-CN" altLang="en-US" sz="2800" dirty="0" smtClean="0"/>
              <a:t>）开中断</a:t>
            </a:r>
            <a:r>
              <a:rPr lang="zh-CN" altLang="en-US" sz="2800" dirty="0"/>
              <a:t>返回。返回到原程序的断点处，继续执行原程序。</a:t>
            </a:r>
            <a:endParaRPr lang="zh-CN" alt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914400" fontAlgn="base">
              <a:spcBef>
                <a:spcPct val="0"/>
              </a:spcBef>
              <a:spcAft>
                <a:spcPct val="0"/>
              </a:spcAft>
              <a:defRPr/>
            </a:pPr>
            <a:fld id="{11E55663-CA7D-4F2A-BBF8-A31285F3B837}" type="slidenum">
              <a:rPr lang="en-US" altLang="zh-CN">
                <a:solidFill>
                  <a:srgbClr val="000000"/>
                </a:solidFill>
                <a:latin typeface="Arial" panose="020B0604020202020204" pitchFamily="34" charset="0"/>
                <a:cs typeface="Times New Roman" panose="02020603050405020304"/>
              </a:rPr>
            </a:fld>
            <a:endParaRPr lang="en-US" altLang="zh-CN">
              <a:solidFill>
                <a:srgbClr val="000000"/>
              </a:solidFill>
              <a:latin typeface="Arial" panose="020B0604020202020204" pitchFamily="34" charset="0"/>
              <a:cs typeface="Times New Roman" panose="02020603050405020304"/>
            </a:endParaRPr>
          </a:p>
        </p:txBody>
      </p:sp>
      <mc:AlternateContent xmlns:mc="http://schemas.openxmlformats.org/markup-compatibility/2006">
        <mc:Choice xmlns:a14="http://schemas.microsoft.com/office/drawing/2010/main" Requires="a14">
          <p:sp>
            <p:nvSpPr>
              <p:cNvPr id="6" name="内容占位符 5"/>
              <p:cNvSpPr>
                <a:spLocks noGrp="1"/>
              </p:cNvSpPr>
              <p:nvPr>
                <p:ph idx="1"/>
              </p:nvPr>
            </p:nvSpPr>
            <p:spPr>
              <a:xfrm>
                <a:off x="1178351" y="1979720"/>
                <a:ext cx="9916997" cy="3706904"/>
              </a:xfrm>
            </p:spPr>
            <p:txBody>
              <a:bodyPr>
                <a:normAutofit/>
              </a:bodyPr>
              <a:lstStyle/>
              <a:p>
                <a:r>
                  <a:rPr lang="en-US" altLang="zh-CN" sz="2800" dirty="0"/>
                  <a:t>8086/8088CPU</a:t>
                </a:r>
                <a:r>
                  <a:rPr lang="zh-CN" altLang="zh-CN" sz="2800" dirty="0"/>
                  <a:t>含有</a:t>
                </a:r>
                <a:r>
                  <a:rPr lang="en-US" altLang="zh-CN" sz="2800" dirty="0"/>
                  <a:t>2</a:t>
                </a:r>
                <a:r>
                  <a:rPr lang="zh-CN" altLang="zh-CN" sz="2800" dirty="0"/>
                  <a:t>个中断请求信号输入引脚</a:t>
                </a:r>
                <a:r>
                  <a:rPr lang="en-US" altLang="zh-CN" sz="2800" dirty="0"/>
                  <a:t> INTR</a:t>
                </a:r>
                <a:r>
                  <a:rPr lang="zh-CN" altLang="zh-CN" sz="2800" dirty="0"/>
                  <a:t>和</a:t>
                </a:r>
                <a:r>
                  <a:rPr lang="en-US" altLang="zh-CN" sz="2800" dirty="0"/>
                  <a:t>NMI</a:t>
                </a:r>
                <a:r>
                  <a:rPr lang="zh-CN" altLang="zh-CN" sz="2800" dirty="0"/>
                  <a:t>，还有</a:t>
                </a:r>
                <a:r>
                  <a:rPr lang="en-US" altLang="zh-CN" sz="2800" dirty="0"/>
                  <a:t>1</a:t>
                </a:r>
                <a:r>
                  <a:rPr lang="zh-CN" altLang="zh-CN" sz="2800" dirty="0"/>
                  <a:t>个中断应答引脚</a:t>
                </a:r>
                <a14:m>
                  <m:oMath xmlns:m="http://schemas.openxmlformats.org/officeDocument/2006/math">
                    <m:r>
                      <a:rPr lang="en-US" altLang="zh-CN" sz="2800">
                        <a:latin typeface="Cambria Math" panose="02040503050406030204"/>
                      </a:rPr>
                      <m:t> </m:t>
                    </m:r>
                    <m:acc>
                      <m:accPr>
                        <m:chr m:val="̅"/>
                        <m:ctrlPr>
                          <a:rPr lang="zh-CN" altLang="zh-CN" sz="2800" i="1">
                            <a:latin typeface="Cambria Math" panose="02040503050406030204" pitchFamily="18" charset="0"/>
                          </a:rPr>
                        </m:ctrlPr>
                      </m:accPr>
                      <m:e>
                        <m:r>
                          <m:rPr>
                            <m:sty m:val="p"/>
                          </m:rPr>
                          <a:rPr lang="en-US" altLang="zh-CN" sz="2800">
                            <a:latin typeface="Cambria Math" panose="02040503050406030204"/>
                          </a:rPr>
                          <m:t>INTA</m:t>
                        </m:r>
                      </m:e>
                    </m:acc>
                  </m:oMath>
                </a14:m>
                <a:r>
                  <a:rPr lang="zh-CN" altLang="zh-CN" sz="2800" dirty="0"/>
                  <a:t>。与中断相关的指令有：</a:t>
                </a:r>
                <a:r>
                  <a:rPr lang="en-US" altLang="zh-CN" sz="2800" dirty="0"/>
                  <a:t>INT</a:t>
                </a:r>
                <a:r>
                  <a:rPr lang="zh-CN" altLang="zh-CN" sz="2800" dirty="0"/>
                  <a:t>、</a:t>
                </a:r>
                <a:r>
                  <a:rPr lang="en-US" altLang="zh-CN" sz="2800" dirty="0"/>
                  <a:t>INTO</a:t>
                </a:r>
                <a:r>
                  <a:rPr lang="zh-CN" altLang="zh-CN" sz="2800" dirty="0"/>
                  <a:t>、</a:t>
                </a:r>
                <a:r>
                  <a:rPr lang="en-US" altLang="zh-CN" sz="2800" dirty="0"/>
                  <a:t>INT3</a:t>
                </a:r>
                <a:r>
                  <a:rPr lang="zh-CN" altLang="zh-CN" sz="2800" dirty="0"/>
                  <a:t>和</a:t>
                </a:r>
                <a:r>
                  <a:rPr lang="en-US" altLang="zh-CN" sz="2800" dirty="0"/>
                  <a:t>IRET</a:t>
                </a:r>
                <a:r>
                  <a:rPr lang="zh-CN" altLang="zh-CN" sz="2800" dirty="0"/>
                  <a:t>，还有</a:t>
                </a:r>
                <a:r>
                  <a:rPr lang="en-US" altLang="zh-CN" sz="2800" dirty="0"/>
                  <a:t>2</a:t>
                </a:r>
                <a:r>
                  <a:rPr lang="zh-CN" altLang="zh-CN" sz="2800" dirty="0"/>
                  <a:t>个与中断相关的标志位</a:t>
                </a:r>
                <a:r>
                  <a:rPr lang="en-US" altLang="zh-CN" sz="2800" dirty="0"/>
                  <a:t> IF</a:t>
                </a:r>
                <a:r>
                  <a:rPr lang="zh-CN" altLang="zh-CN" sz="2800" dirty="0"/>
                  <a:t>、</a:t>
                </a:r>
                <a:r>
                  <a:rPr lang="en-US" altLang="zh-CN" sz="2800" dirty="0"/>
                  <a:t>TF</a:t>
                </a:r>
                <a:r>
                  <a:rPr lang="zh-CN" altLang="zh-CN" sz="2800" dirty="0"/>
                  <a:t>。</a:t>
                </a:r>
                <a:endParaRPr lang="en-US" altLang="zh-CN" sz="2800" dirty="0"/>
              </a:p>
              <a:p>
                <a:r>
                  <a:rPr lang="en-US" altLang="zh-CN" sz="2800" dirty="0"/>
                  <a:t>8086/8088CPU</a:t>
                </a:r>
                <a:r>
                  <a:rPr lang="zh-CN" altLang="zh-CN" sz="2800" dirty="0"/>
                  <a:t>的中断系统可以处理</a:t>
                </a:r>
                <a:r>
                  <a:rPr lang="en-US" altLang="zh-CN" sz="2800" dirty="0"/>
                  <a:t>256</a:t>
                </a:r>
                <a:r>
                  <a:rPr lang="zh-CN" altLang="zh-CN" sz="2800" dirty="0"/>
                  <a:t>种不同类型的中断。每种类型的中断对应一个编号，称为中断类型码或中断向量码，编号范围</a:t>
                </a:r>
                <a:r>
                  <a:rPr lang="en-US" altLang="zh-CN" sz="2800" dirty="0"/>
                  <a:t>0~255</a:t>
                </a:r>
                <a:r>
                  <a:rPr lang="zh-CN" altLang="zh-CN" sz="2800" dirty="0"/>
                  <a:t>。</a:t>
                </a:r>
                <a:endParaRPr lang="zh-CN" altLang="en-US" sz="2800" dirty="0"/>
              </a:p>
            </p:txBody>
          </p:sp>
        </mc:Choice>
        <mc:Fallback>
          <p:sp>
            <p:nvSpPr>
              <p:cNvPr id="6" name="内容占位符 5"/>
              <p:cNvSpPr>
                <a:spLocks noRot="1" noChangeAspect="1" noMove="1" noResize="1" noEditPoints="1" noAdjustHandles="1" noChangeArrowheads="1" noChangeShapeType="1" noTextEdit="1"/>
              </p:cNvSpPr>
              <p:nvPr>
                <p:ph idx="1"/>
              </p:nvPr>
            </p:nvSpPr>
            <p:spPr>
              <a:xfrm>
                <a:off x="1178351" y="1979720"/>
                <a:ext cx="9916997" cy="3706904"/>
              </a:xfrm>
              <a:blipFill rotWithShape="1">
                <a:blip r:embed="rId1"/>
                <a:stretch>
                  <a:fillRect l="-4" t="-11" r="6" b="5"/>
                </a:stretch>
              </a:blipFill>
            </p:spPr>
            <p:txBody>
              <a:bodyPr/>
              <a:lstStyle/>
              <a:p>
                <a:r>
                  <a:rPr lang="zh-CN" altLang="en-US">
                    <a:noFill/>
                  </a:rPr>
                  <a:t> </a:t>
                </a:r>
              </a:p>
            </p:txBody>
          </p:sp>
        </mc:Fallback>
      </mc:AlternateContent>
      <p:sp>
        <p:nvSpPr>
          <p:cNvPr id="5" name="标题 1"/>
          <p:cNvSpPr txBox="1"/>
          <p:nvPr/>
        </p:nvSpPr>
        <p:spPr>
          <a:xfrm>
            <a:off x="1991544" y="774511"/>
            <a:ext cx="6934200" cy="864096"/>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zh-CN" sz="4000" dirty="0" smtClean="0"/>
              <a:t>6.3.3  8086/8088</a:t>
            </a:r>
            <a:r>
              <a:rPr lang="zh-CN" altLang="en-US" sz="4000" dirty="0"/>
              <a:t>中断系统</a:t>
            </a:r>
            <a:endParaRPr lang="zh-CN" altLang="en-US" sz="4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p:txBody>
          <a:bodyPr/>
          <a:lstStyle/>
          <a:p>
            <a:pPr eaLnBrk="1" hangingPunct="1"/>
            <a:r>
              <a:rPr lang="zh-CN" altLang="en-US" sz="2800" dirty="0"/>
              <a:t>      </a:t>
            </a:r>
            <a:r>
              <a:rPr lang="zh-CN" altLang="en-US" sz="4000" b="1" dirty="0"/>
              <a:t>中断向量和中断向量表</a:t>
            </a:r>
            <a:endParaRPr lang="zh-CN" altLang="en-US" sz="4000" b="1" dirty="0"/>
          </a:p>
        </p:txBody>
      </p:sp>
      <p:sp>
        <p:nvSpPr>
          <p:cNvPr id="4" name="灯片编号占位符 3"/>
          <p:cNvSpPr>
            <a:spLocks noGrp="1"/>
          </p:cNvSpPr>
          <p:nvPr>
            <p:ph type="sldNum" sz="quarter" idx="12"/>
          </p:nvPr>
        </p:nvSpPr>
        <p:spPr/>
        <p:txBody>
          <a:bodyPr/>
          <a:lstStyle/>
          <a:p>
            <a:pPr defTabSz="914400" fontAlgn="base">
              <a:spcBef>
                <a:spcPct val="0"/>
              </a:spcBef>
              <a:spcAft>
                <a:spcPct val="0"/>
              </a:spcAft>
              <a:defRPr/>
            </a:pPr>
            <a:fld id="{11E55663-CA7D-4F2A-BBF8-A31285F3B837}" type="slidenum">
              <a:rPr lang="en-US" altLang="zh-CN">
                <a:solidFill>
                  <a:srgbClr val="000000"/>
                </a:solidFill>
                <a:latin typeface="Arial" panose="020B0604020202020204" pitchFamily="34" charset="0"/>
                <a:cs typeface="Times New Roman" panose="02020603050405020304"/>
              </a:rPr>
            </a:fld>
            <a:endParaRPr lang="en-US" altLang="zh-CN">
              <a:solidFill>
                <a:srgbClr val="000000"/>
              </a:solidFill>
              <a:latin typeface="Arial" panose="020B0604020202020204" pitchFamily="34" charset="0"/>
              <a:cs typeface="Times New Roman" panose="02020603050405020304"/>
            </a:endParaRPr>
          </a:p>
        </p:txBody>
      </p:sp>
      <p:sp>
        <p:nvSpPr>
          <p:cNvPr id="3" name="内容占位符 2"/>
          <p:cNvSpPr>
            <a:spLocks noGrp="1"/>
          </p:cNvSpPr>
          <p:nvPr>
            <p:ph idx="1"/>
          </p:nvPr>
        </p:nvSpPr>
        <p:spPr>
          <a:xfrm>
            <a:off x="1244338" y="2024108"/>
            <a:ext cx="9911342" cy="3878539"/>
          </a:xfrm>
        </p:spPr>
        <p:txBody>
          <a:bodyPr/>
          <a:lstStyle/>
          <a:p>
            <a:r>
              <a:rPr lang="en-US" altLang="zh-CN" sz="2800" dirty="0"/>
              <a:t>8086/8088CPU</a:t>
            </a:r>
            <a:r>
              <a:rPr lang="zh-CN" altLang="en-US" sz="2800" dirty="0"/>
              <a:t>的中断系统可以处理</a:t>
            </a:r>
            <a:r>
              <a:rPr lang="en-US" altLang="zh-CN" sz="2800" dirty="0"/>
              <a:t>256</a:t>
            </a:r>
            <a:r>
              <a:rPr lang="zh-CN" altLang="en-US" sz="2800" dirty="0"/>
              <a:t>种中断。</a:t>
            </a:r>
            <a:r>
              <a:rPr lang="zh-CN" altLang="zh-CN" sz="2800" dirty="0"/>
              <a:t>每种中断都有对应的中断服务程序。中断服务程序的入口地址称为中断向量。</a:t>
            </a:r>
            <a:r>
              <a:rPr lang="en-US" altLang="zh-CN" sz="2800" dirty="0"/>
              <a:t>256</a:t>
            </a:r>
            <a:r>
              <a:rPr lang="zh-CN" altLang="en-US" sz="2800" dirty="0"/>
              <a:t>种</a:t>
            </a:r>
            <a:r>
              <a:rPr lang="zh-CN" altLang="zh-CN" sz="2800" dirty="0"/>
              <a:t>中断向量存储在内存中构成一张表，称为中断向量表</a:t>
            </a:r>
            <a:r>
              <a:rPr lang="zh-CN" altLang="en-US" sz="2800" dirty="0"/>
              <a:t>。</a:t>
            </a:r>
            <a:endParaRPr lang="en-US" altLang="zh-CN" sz="2800" dirty="0"/>
          </a:p>
          <a:p>
            <a:r>
              <a:rPr lang="zh-CN" altLang="zh-CN" sz="2800" dirty="0"/>
              <a:t>每个中断向量都包括两部分：段基址和偏移地址。因此，存放</a:t>
            </a:r>
            <a:r>
              <a:rPr lang="en-US" altLang="zh-CN" sz="2800" dirty="0"/>
              <a:t>1</a:t>
            </a:r>
            <a:r>
              <a:rPr lang="zh-CN" altLang="zh-CN" sz="2800" dirty="0"/>
              <a:t>个中断向量需要</a:t>
            </a:r>
            <a:r>
              <a:rPr lang="en-US" altLang="zh-CN" sz="2800" dirty="0"/>
              <a:t>4</a:t>
            </a:r>
            <a:r>
              <a:rPr lang="zh-CN" altLang="zh-CN" sz="2800" dirty="0"/>
              <a:t>个内存单元，</a:t>
            </a:r>
            <a:r>
              <a:rPr lang="en-US" altLang="zh-CN" sz="2800" dirty="0"/>
              <a:t>256</a:t>
            </a:r>
            <a:r>
              <a:rPr lang="zh-CN" altLang="zh-CN" sz="2800" dirty="0"/>
              <a:t>种中断向量共需要</a:t>
            </a:r>
            <a:r>
              <a:rPr lang="en-US" altLang="zh-CN" sz="2800" dirty="0"/>
              <a:t>1K</a:t>
            </a:r>
            <a:r>
              <a:rPr lang="zh-CN" altLang="zh-CN" sz="2800" dirty="0"/>
              <a:t>个内存单元。</a:t>
            </a:r>
            <a:endParaRPr lang="zh-CN" altLang="zh-CN" sz="2800" dirty="0"/>
          </a:p>
          <a:p>
            <a:endParaRPr lang="zh-CN" alt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914400" fontAlgn="base">
              <a:spcBef>
                <a:spcPct val="0"/>
              </a:spcBef>
              <a:spcAft>
                <a:spcPct val="0"/>
              </a:spcAft>
              <a:defRPr/>
            </a:pPr>
            <a:fld id="{11E55663-CA7D-4F2A-BBF8-A31285F3B837}" type="slidenum">
              <a:rPr lang="en-US" altLang="zh-CN">
                <a:solidFill>
                  <a:srgbClr val="000000"/>
                </a:solidFill>
                <a:latin typeface="Arial" panose="020B0604020202020204" pitchFamily="34" charset="0"/>
                <a:cs typeface="Times New Roman" panose="02020603050405020304"/>
              </a:rPr>
            </a:fld>
            <a:endParaRPr lang="en-US" altLang="zh-CN">
              <a:solidFill>
                <a:srgbClr val="000000"/>
              </a:solidFill>
              <a:latin typeface="Arial" panose="020B0604020202020204" pitchFamily="34" charset="0"/>
              <a:cs typeface="Times New Roman" panose="02020603050405020304"/>
            </a:endParaRPr>
          </a:p>
        </p:txBody>
      </p:sp>
      <p:sp>
        <p:nvSpPr>
          <p:cNvPr id="3" name="内容占位符 2"/>
          <p:cNvSpPr>
            <a:spLocks noGrp="1"/>
          </p:cNvSpPr>
          <p:nvPr>
            <p:ph idx="1"/>
          </p:nvPr>
        </p:nvSpPr>
        <p:spPr>
          <a:xfrm>
            <a:off x="828569" y="2130640"/>
            <a:ext cx="7250202" cy="3334041"/>
          </a:xfrm>
        </p:spPr>
        <p:txBody>
          <a:bodyPr>
            <a:normAutofit/>
          </a:bodyPr>
          <a:lstStyle/>
          <a:p>
            <a:r>
              <a:rPr lang="zh-CN" altLang="zh-CN" sz="2800" dirty="0"/>
              <a:t>中断向量表位于内存起始地址</a:t>
            </a:r>
            <a:r>
              <a:rPr lang="en-US" altLang="zh-CN" sz="2800" dirty="0"/>
              <a:t>00000</a:t>
            </a:r>
            <a:r>
              <a:rPr lang="zh-CN" altLang="zh-CN" sz="2800" dirty="0"/>
              <a:t>～</a:t>
            </a:r>
            <a:r>
              <a:rPr lang="en-US" altLang="zh-CN" sz="2800" dirty="0"/>
              <a:t>003FFH</a:t>
            </a:r>
            <a:r>
              <a:rPr lang="zh-CN" altLang="zh-CN" sz="2800" dirty="0"/>
              <a:t>的存储区内。从地址</a:t>
            </a:r>
            <a:r>
              <a:rPr lang="en-US" altLang="zh-CN" sz="2800" dirty="0"/>
              <a:t>00000H</a:t>
            </a:r>
            <a:r>
              <a:rPr lang="zh-CN" altLang="zh-CN" sz="2800" dirty="0"/>
              <a:t>开始，每</a:t>
            </a:r>
            <a:r>
              <a:rPr lang="en-US" altLang="zh-CN" sz="2800" dirty="0"/>
              <a:t>4</a:t>
            </a:r>
            <a:r>
              <a:rPr lang="zh-CN" altLang="zh-CN" sz="2800" dirty="0"/>
              <a:t>个单元存放一个中断向量，其中低地址的两个单元存放中断向量的偏移地址，高地址的两个单元存放中断向量的段基址。</a:t>
            </a:r>
            <a:r>
              <a:rPr lang="en-US" altLang="zh-CN" sz="2800" dirty="0"/>
              <a:t>256</a:t>
            </a:r>
            <a:r>
              <a:rPr lang="zh-CN" altLang="zh-CN" sz="2800" dirty="0"/>
              <a:t>种中断向量按中断向量码从</a:t>
            </a:r>
            <a:r>
              <a:rPr lang="en-US" altLang="zh-CN" sz="2800" dirty="0"/>
              <a:t>0</a:t>
            </a:r>
            <a:r>
              <a:rPr lang="zh-CN" altLang="zh-CN" sz="2800" dirty="0"/>
              <a:t>到</a:t>
            </a:r>
            <a:r>
              <a:rPr lang="en-US" altLang="zh-CN" sz="2800" dirty="0"/>
              <a:t>255</a:t>
            </a:r>
            <a:r>
              <a:rPr lang="zh-CN" altLang="zh-CN" sz="2800" dirty="0"/>
              <a:t>的顺序依次存入中断向量表中</a:t>
            </a:r>
            <a:r>
              <a:rPr lang="zh-CN" altLang="en-US" sz="2800" dirty="0"/>
              <a:t>。</a:t>
            </a:r>
            <a:endParaRPr lang="zh-CN" altLang="en-US" sz="2800" dirty="0"/>
          </a:p>
        </p:txBody>
      </p:sp>
      <p:graphicFrame>
        <p:nvGraphicFramePr>
          <p:cNvPr id="8" name="Group 5"/>
          <p:cNvGraphicFramePr>
            <a:graphicFrameLocks noGrp="1"/>
          </p:cNvGraphicFramePr>
          <p:nvPr/>
        </p:nvGraphicFramePr>
        <p:xfrm>
          <a:off x="9040437" y="596376"/>
          <a:ext cx="1143000" cy="5505450"/>
        </p:xfrm>
        <a:graphic>
          <a:graphicData uri="http://schemas.openxmlformats.org/drawingml/2006/table">
            <a:tbl>
              <a:tblPr/>
              <a:tblGrid>
                <a:gridCol w="1143000"/>
              </a:tblGrid>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ltDnDiag">
                      <a:fgClr>
                        <a:schemeClr val="folHlink"/>
                      </a:fgClr>
                      <a:bgClr>
                        <a:schemeClr val="accent2"/>
                      </a:bgClr>
                    </a:patt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ltDnDiag">
                      <a:fgClr>
                        <a:schemeClr val="folHlink"/>
                      </a:fgClr>
                      <a:bgClr>
                        <a:schemeClr val="accent2"/>
                      </a:bgClr>
                    </a:patt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ltDnDiag">
                      <a:fgClr>
                        <a:schemeClr val="folHlink"/>
                      </a:fgClr>
                      <a:bgClr>
                        <a:schemeClr val="accent2"/>
                      </a:bgClr>
                    </a:patt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ltDnDiag">
                      <a:fgClr>
                        <a:schemeClr val="folHlink"/>
                      </a:fgClr>
                      <a:bgClr>
                        <a:schemeClr val="accent2"/>
                      </a:bgClr>
                    </a:patt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rPr>
                        <a:t>10H</a:t>
                      </a:r>
                      <a:endParaRPr kumimoji="0" lang="en-US"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rPr>
                        <a:t>20H</a:t>
                      </a:r>
                      <a:endParaRPr kumimoji="0" lang="en-US"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rPr>
                        <a:t>00H</a:t>
                      </a:r>
                      <a:endParaRPr kumimoji="0" lang="en-US" altLang="zh-CN"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40H</a:t>
                      </a:r>
                      <a:endParaRPr kumimoji="0" lang="en-US" altLang="zh-CN"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ltUpDiag">
                      <a:fgClr>
                        <a:schemeClr val="folHlink"/>
                      </a:fgClr>
                      <a:bgClr>
                        <a:schemeClr val="accent2"/>
                      </a:bgClr>
                    </a:patt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ltUpDiag">
                      <a:fgClr>
                        <a:schemeClr val="folHlink"/>
                      </a:fgClr>
                      <a:bgClr>
                        <a:schemeClr val="accent2"/>
                      </a:bgClr>
                    </a:patt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ltUpDiag">
                      <a:fgClr>
                        <a:schemeClr val="folHlink"/>
                      </a:fgClr>
                      <a:bgClr>
                        <a:schemeClr val="accent2"/>
                      </a:bgClr>
                    </a:patt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ltUpDiag">
                      <a:fgClr>
                        <a:schemeClr val="folHlink"/>
                      </a:fgClr>
                      <a:bgClr>
                        <a:schemeClr val="accent2"/>
                      </a:bgClr>
                    </a:patt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en-US" sz="13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13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914400" fontAlgn="base">
              <a:spcBef>
                <a:spcPct val="0"/>
              </a:spcBef>
              <a:spcAft>
                <a:spcPct val="0"/>
              </a:spcAft>
              <a:defRPr/>
            </a:pPr>
            <a:fld id="{11E55663-CA7D-4F2A-BBF8-A31285F3B837}" type="slidenum">
              <a:rPr lang="en-US" altLang="zh-CN">
                <a:solidFill>
                  <a:srgbClr val="000000"/>
                </a:solidFill>
                <a:latin typeface="Arial" panose="020B0604020202020204" pitchFamily="34" charset="0"/>
                <a:cs typeface="Times New Roman" panose="02020603050405020304"/>
              </a:rPr>
            </a:fld>
            <a:endParaRPr lang="en-US" altLang="zh-CN">
              <a:solidFill>
                <a:srgbClr val="000000"/>
              </a:solidFill>
              <a:latin typeface="Arial" panose="020B0604020202020204" pitchFamily="34" charset="0"/>
              <a:cs typeface="Times New Roman" panose="02020603050405020304"/>
            </a:endParaRPr>
          </a:p>
        </p:txBody>
      </p:sp>
      <p:sp>
        <p:nvSpPr>
          <p:cNvPr id="3" name="内容占位符 2"/>
          <p:cNvSpPr>
            <a:spLocks noGrp="1"/>
          </p:cNvSpPr>
          <p:nvPr>
            <p:ph idx="1"/>
          </p:nvPr>
        </p:nvSpPr>
        <p:spPr>
          <a:xfrm>
            <a:off x="232010" y="1076052"/>
            <a:ext cx="6354074" cy="4705896"/>
          </a:xfrm>
        </p:spPr>
        <p:txBody>
          <a:bodyPr/>
          <a:lstStyle/>
          <a:p>
            <a:r>
              <a:rPr lang="en-US" altLang="zh-CN" sz="2800" dirty="0"/>
              <a:t>8086/8088CPU</a:t>
            </a:r>
            <a:r>
              <a:rPr lang="zh-CN" altLang="en-US" sz="2800" dirty="0"/>
              <a:t>的中断系统可以处理</a:t>
            </a:r>
            <a:r>
              <a:rPr lang="en-US" altLang="zh-CN" sz="2800" dirty="0"/>
              <a:t>256</a:t>
            </a:r>
            <a:r>
              <a:rPr lang="zh-CN" altLang="en-US" sz="2800" dirty="0"/>
              <a:t>种中断。</a:t>
            </a:r>
            <a:r>
              <a:rPr lang="zh-CN" altLang="zh-CN" sz="2800" dirty="0"/>
              <a:t>每种中断都有对应的中断服务程序。中断服务程序的入口地址称为中断向量。</a:t>
            </a:r>
            <a:r>
              <a:rPr lang="en-US" altLang="zh-CN" sz="2800" dirty="0"/>
              <a:t>256</a:t>
            </a:r>
            <a:r>
              <a:rPr lang="zh-CN" altLang="en-US" sz="2800" dirty="0"/>
              <a:t>种</a:t>
            </a:r>
            <a:r>
              <a:rPr lang="zh-CN" altLang="zh-CN" sz="2800" dirty="0"/>
              <a:t>中断向量存储在内存中构成一张表，称为中断向量表</a:t>
            </a:r>
            <a:r>
              <a:rPr lang="zh-CN" altLang="en-US" sz="2800" dirty="0"/>
              <a:t>。</a:t>
            </a:r>
            <a:endParaRPr lang="en-US" altLang="zh-CN" sz="2800" dirty="0"/>
          </a:p>
          <a:p>
            <a:r>
              <a:rPr lang="zh-CN" altLang="zh-CN" sz="2800" dirty="0"/>
              <a:t>每个中断向量都包括两部分：段基址和偏移地址。因此，存放</a:t>
            </a:r>
            <a:r>
              <a:rPr lang="en-US" altLang="zh-CN" sz="2800" dirty="0"/>
              <a:t>1</a:t>
            </a:r>
            <a:r>
              <a:rPr lang="zh-CN" altLang="zh-CN" sz="2800" dirty="0"/>
              <a:t>个中断向量需要</a:t>
            </a:r>
            <a:r>
              <a:rPr lang="en-US" altLang="zh-CN" sz="2800" dirty="0"/>
              <a:t>4</a:t>
            </a:r>
            <a:r>
              <a:rPr lang="zh-CN" altLang="zh-CN" sz="2800" dirty="0"/>
              <a:t>个内存单元，</a:t>
            </a:r>
            <a:r>
              <a:rPr lang="en-US" altLang="zh-CN" sz="2800" dirty="0"/>
              <a:t>256</a:t>
            </a:r>
            <a:r>
              <a:rPr lang="zh-CN" altLang="zh-CN" sz="2800" dirty="0"/>
              <a:t>种中断向量共需要</a:t>
            </a:r>
            <a:r>
              <a:rPr lang="en-US" altLang="zh-CN" sz="2800" dirty="0"/>
              <a:t>1K</a:t>
            </a:r>
            <a:r>
              <a:rPr lang="zh-CN" altLang="zh-CN" sz="2800" dirty="0"/>
              <a:t>个内存单元。</a:t>
            </a:r>
            <a:endParaRPr lang="zh-CN" altLang="zh-CN" sz="2800" dirty="0"/>
          </a:p>
          <a:p>
            <a:endParaRPr lang="zh-CN" altLang="en-US" sz="2000" dirty="0"/>
          </a:p>
        </p:txBody>
      </p:sp>
      <p:pic>
        <p:nvPicPr>
          <p:cNvPr id="6" name="Picture 1127" descr="中断向量表"/>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815303" y="568058"/>
            <a:ext cx="3888433" cy="5529837"/>
          </a:xfrm>
          <a:prstGeom prst="rect">
            <a:avLst/>
          </a:prstGeom>
          <a:noFill/>
          <a:ln w="28575">
            <a:solidFill>
              <a:srgbClr val="00B0F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914400" fontAlgn="base">
              <a:spcBef>
                <a:spcPct val="0"/>
              </a:spcBef>
              <a:spcAft>
                <a:spcPct val="0"/>
              </a:spcAft>
              <a:defRPr/>
            </a:pPr>
            <a:fld id="{11E55663-CA7D-4F2A-BBF8-A31285F3B837}" type="slidenum">
              <a:rPr lang="en-US" altLang="zh-CN">
                <a:solidFill>
                  <a:srgbClr val="000000"/>
                </a:solidFill>
                <a:latin typeface="Arial" panose="020B0604020202020204" pitchFamily="34" charset="0"/>
                <a:cs typeface="Times New Roman" panose="02020603050405020304"/>
              </a:rPr>
            </a:fld>
            <a:endParaRPr lang="en-US" altLang="zh-CN">
              <a:solidFill>
                <a:srgbClr val="000000"/>
              </a:solidFill>
              <a:latin typeface="Arial" panose="020B0604020202020204" pitchFamily="34" charset="0"/>
              <a:cs typeface="Times New Roman" panose="02020603050405020304"/>
            </a:endParaRPr>
          </a:p>
        </p:txBody>
      </p:sp>
      <p:sp>
        <p:nvSpPr>
          <p:cNvPr id="3" name="内容占位符 2"/>
          <p:cNvSpPr>
            <a:spLocks noGrp="1"/>
          </p:cNvSpPr>
          <p:nvPr>
            <p:ph idx="1"/>
          </p:nvPr>
        </p:nvSpPr>
        <p:spPr>
          <a:xfrm>
            <a:off x="695859" y="1340116"/>
            <a:ext cx="5316982" cy="3798640"/>
          </a:xfrm>
        </p:spPr>
        <p:txBody>
          <a:bodyPr/>
          <a:lstStyle/>
          <a:p>
            <a:r>
              <a:rPr lang="zh-CN" altLang="zh-CN" sz="2800" dirty="0"/>
              <a:t>中断向量在中断向量表中的存放首地址称为向量地址，其值为：中断类型码×</a:t>
            </a:r>
            <a:r>
              <a:rPr lang="en-US" altLang="zh-CN" sz="2800" dirty="0"/>
              <a:t>4</a:t>
            </a:r>
            <a:r>
              <a:rPr lang="zh-CN" altLang="zh-CN" sz="2800" dirty="0"/>
              <a:t>。</a:t>
            </a:r>
            <a:endParaRPr lang="en-US" altLang="zh-CN" sz="2800" dirty="0"/>
          </a:p>
          <a:p>
            <a:pPr marL="0" indent="0">
              <a:buNone/>
            </a:pPr>
            <a:r>
              <a:rPr lang="zh-CN" altLang="zh-CN" sz="2800" dirty="0"/>
              <a:t>如</a:t>
            </a:r>
            <a:r>
              <a:rPr lang="en-US" altLang="zh-CN" sz="2800" dirty="0"/>
              <a:t>DOS</a:t>
            </a:r>
            <a:r>
              <a:rPr lang="zh-CN" altLang="zh-CN" sz="2800" dirty="0"/>
              <a:t>系统功能调用的中断类型号为</a:t>
            </a:r>
            <a:r>
              <a:rPr lang="en-US" altLang="zh-CN" sz="2800" dirty="0"/>
              <a:t>21H</a:t>
            </a:r>
            <a:r>
              <a:rPr lang="zh-CN" altLang="zh-CN" sz="2800" dirty="0"/>
              <a:t>，向量地址为：</a:t>
            </a:r>
            <a:r>
              <a:rPr lang="en-US" altLang="zh-CN" sz="2800" dirty="0"/>
              <a:t>n×4=84H</a:t>
            </a:r>
            <a:r>
              <a:rPr lang="zh-CN" altLang="zh-CN" sz="2800" dirty="0"/>
              <a:t>。</a:t>
            </a:r>
            <a:endParaRPr lang="en-US" altLang="zh-CN" sz="2800" dirty="0"/>
          </a:p>
          <a:p>
            <a:pPr marL="0" indent="0">
              <a:buNone/>
            </a:pPr>
            <a:endParaRPr lang="zh-CN" altLang="zh-CN" sz="2000" dirty="0"/>
          </a:p>
          <a:p>
            <a:pPr marL="0" indent="0">
              <a:buNone/>
            </a:pPr>
            <a:endParaRPr lang="zh-CN" altLang="zh-CN" sz="2000" dirty="0"/>
          </a:p>
          <a:p>
            <a:pPr marL="0" indent="0">
              <a:buNone/>
            </a:pPr>
            <a:endParaRPr lang="zh-CN" altLang="en-US" sz="2000" dirty="0"/>
          </a:p>
        </p:txBody>
      </p:sp>
      <p:pic>
        <p:nvPicPr>
          <p:cNvPr id="8" name="Picture 1127" descr="中断向量表"/>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668037" y="474518"/>
            <a:ext cx="3888433" cy="5529837"/>
          </a:xfrm>
          <a:prstGeom prst="rect">
            <a:avLst/>
          </a:prstGeom>
          <a:noFill/>
          <a:ln w="28575">
            <a:solidFill>
              <a:srgbClr val="00B0F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914400" fontAlgn="base">
              <a:spcBef>
                <a:spcPct val="0"/>
              </a:spcBef>
              <a:spcAft>
                <a:spcPct val="0"/>
              </a:spcAft>
              <a:defRPr/>
            </a:pPr>
            <a:fld id="{11E55663-CA7D-4F2A-BBF8-A31285F3B837}" type="slidenum">
              <a:rPr lang="en-US" altLang="zh-CN">
                <a:solidFill>
                  <a:srgbClr val="000000"/>
                </a:solidFill>
                <a:latin typeface="Arial" panose="020B0604020202020204" pitchFamily="34" charset="0"/>
                <a:cs typeface="Times New Roman" panose="02020603050405020304"/>
              </a:rPr>
            </a:fld>
            <a:endParaRPr lang="en-US" altLang="zh-CN">
              <a:solidFill>
                <a:srgbClr val="000000"/>
              </a:solidFill>
              <a:latin typeface="Arial" panose="020B0604020202020204" pitchFamily="34" charset="0"/>
              <a:cs typeface="Times New Roman" panose="02020603050405020304"/>
            </a:endParaRPr>
          </a:p>
        </p:txBody>
      </p:sp>
      <p:sp>
        <p:nvSpPr>
          <p:cNvPr id="3" name="内容占位符 2"/>
          <p:cNvSpPr>
            <a:spLocks noGrp="1"/>
          </p:cNvSpPr>
          <p:nvPr>
            <p:ph idx="1"/>
          </p:nvPr>
        </p:nvSpPr>
        <p:spPr>
          <a:xfrm>
            <a:off x="1512661" y="2064884"/>
            <a:ext cx="9166678" cy="3869662"/>
          </a:xfrm>
        </p:spPr>
        <p:txBody>
          <a:bodyPr/>
          <a:lstStyle/>
          <a:p>
            <a:r>
              <a:rPr lang="zh-CN" altLang="zh-CN" sz="2800" dirty="0"/>
              <a:t>当</a:t>
            </a:r>
            <a:r>
              <a:rPr lang="en-US" altLang="zh-CN" sz="2800" dirty="0"/>
              <a:t>CPU</a:t>
            </a:r>
            <a:r>
              <a:rPr lang="zh-CN" altLang="zh-CN" sz="2800" dirty="0"/>
              <a:t>调用中断类型码为</a:t>
            </a:r>
            <a:r>
              <a:rPr lang="en-US" altLang="zh-CN" sz="2800" dirty="0"/>
              <a:t>n</a:t>
            </a:r>
            <a:r>
              <a:rPr lang="zh-CN" altLang="zh-CN" sz="2800" dirty="0"/>
              <a:t>的中断服务程序时，首先把</a:t>
            </a:r>
            <a:r>
              <a:rPr lang="en-US" altLang="zh-CN" sz="2800" dirty="0"/>
              <a:t>n</a:t>
            </a:r>
            <a:r>
              <a:rPr lang="zh-CN" altLang="zh-CN" sz="2800" dirty="0"/>
              <a:t>乘以</a:t>
            </a:r>
            <a:r>
              <a:rPr lang="en-US" altLang="zh-CN" sz="2800" dirty="0"/>
              <a:t>4</a:t>
            </a:r>
            <a:r>
              <a:rPr lang="zh-CN" altLang="zh-CN" sz="2800" dirty="0"/>
              <a:t>，得到它的向量地址</a:t>
            </a:r>
            <a:r>
              <a:rPr lang="en-US" altLang="zh-CN" sz="2800" dirty="0"/>
              <a:t>4n</a:t>
            </a:r>
            <a:r>
              <a:rPr lang="zh-CN" altLang="zh-CN" sz="2800" dirty="0"/>
              <a:t>，然后把</a:t>
            </a:r>
            <a:r>
              <a:rPr lang="en-US" altLang="zh-CN" sz="2800" dirty="0"/>
              <a:t>4n+1:4n</a:t>
            </a:r>
            <a:r>
              <a:rPr lang="zh-CN" altLang="zh-CN" sz="2800" dirty="0"/>
              <a:t>两个单元的内容取出并装入</a:t>
            </a:r>
            <a:r>
              <a:rPr lang="en-US" altLang="zh-CN" sz="2800" dirty="0"/>
              <a:t>IP</a:t>
            </a:r>
            <a:r>
              <a:rPr lang="zh-CN" altLang="zh-CN" sz="2800" dirty="0"/>
              <a:t>寄存器；再把（</a:t>
            </a:r>
            <a:r>
              <a:rPr lang="en-US" altLang="zh-CN" sz="2800" dirty="0"/>
              <a:t>4n+3</a:t>
            </a:r>
            <a:r>
              <a:rPr lang="zh-CN" altLang="zh-CN" sz="2800" dirty="0"/>
              <a:t>：</a:t>
            </a:r>
            <a:r>
              <a:rPr lang="en-US" altLang="zh-CN" sz="2800" dirty="0"/>
              <a:t>4n+2</a:t>
            </a:r>
            <a:r>
              <a:rPr lang="zh-CN" altLang="zh-CN" sz="2800" dirty="0"/>
              <a:t>）两个单元的内容取出并装入</a:t>
            </a:r>
            <a:r>
              <a:rPr lang="en-US" altLang="zh-CN" sz="2800" dirty="0"/>
              <a:t>CS</a:t>
            </a:r>
            <a:r>
              <a:rPr lang="zh-CN" altLang="zh-CN" sz="2800" dirty="0"/>
              <a:t>寄存器，</a:t>
            </a:r>
            <a:r>
              <a:rPr lang="en-US" altLang="zh-CN" sz="2800" dirty="0"/>
              <a:t>CPU</a:t>
            </a:r>
            <a:r>
              <a:rPr lang="zh-CN" altLang="zh-CN" sz="2800" dirty="0"/>
              <a:t>就获得了</a:t>
            </a:r>
            <a:r>
              <a:rPr lang="en-US" altLang="zh-CN" sz="2800" dirty="0"/>
              <a:t>n</a:t>
            </a:r>
            <a:r>
              <a:rPr lang="zh-CN" altLang="zh-CN" sz="2800" dirty="0"/>
              <a:t>的中断服务程序的入口地址，进而转去执行中断服务程序。</a:t>
            </a:r>
            <a:endParaRPr lang="zh-CN" altLang="zh-CN" sz="2800" dirty="0"/>
          </a:p>
          <a:p>
            <a:endParaRPr lang="zh-CN" altLang="en-US"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defTabSz="914400" fontAlgn="base">
              <a:spcBef>
                <a:spcPct val="0"/>
              </a:spcBef>
              <a:spcAft>
                <a:spcPct val="0"/>
              </a:spcAft>
              <a:defRPr/>
            </a:pPr>
            <a:fld id="{FA3B0ADD-A917-4F87-B2CA-1EB4674E2223}" type="slidenum">
              <a:rPr lang="en-US" altLang="zh-CN">
                <a:solidFill>
                  <a:srgbClr val="000000"/>
                </a:solidFill>
                <a:latin typeface="Arial" panose="020B0604020202020204" pitchFamily="34" charset="0"/>
                <a:cs typeface="Times New Roman" panose="02020603050405020304"/>
              </a:rPr>
            </a:fld>
            <a:endParaRPr lang="en-US" altLang="zh-CN" dirty="0">
              <a:solidFill>
                <a:srgbClr val="000000"/>
              </a:solidFill>
              <a:latin typeface="Arial" panose="020B0604020202020204" pitchFamily="34" charset="0"/>
              <a:cs typeface="Times New Roman" panose="02020603050405020304"/>
            </a:endParaRPr>
          </a:p>
        </p:txBody>
      </p:sp>
      <p:sp>
        <p:nvSpPr>
          <p:cNvPr id="4" name="内容占位符 3"/>
          <p:cNvSpPr>
            <a:spLocks noGrp="1"/>
          </p:cNvSpPr>
          <p:nvPr>
            <p:ph idx="1"/>
          </p:nvPr>
        </p:nvSpPr>
        <p:spPr>
          <a:xfrm>
            <a:off x="1391418" y="767668"/>
            <a:ext cx="8352928" cy="3849933"/>
          </a:xfrm>
        </p:spPr>
        <p:txBody>
          <a:bodyPr>
            <a:normAutofit/>
          </a:bodyPr>
          <a:lstStyle/>
          <a:p>
            <a:pPr marL="0" indent="0">
              <a:buNone/>
            </a:pPr>
            <a:r>
              <a:rPr lang="zh-CN" altLang="zh-CN" sz="2800" dirty="0"/>
              <a:t>【例】 假设中断向量表部分内容如图所示。中断类型号为</a:t>
            </a:r>
            <a:r>
              <a:rPr lang="en-US" altLang="zh-CN" sz="2800" dirty="0"/>
              <a:t>20H</a:t>
            </a:r>
            <a:r>
              <a:rPr lang="zh-CN" altLang="zh-CN" sz="2800" dirty="0"/>
              <a:t>的向量地址为</a:t>
            </a:r>
            <a:r>
              <a:rPr lang="en-US" altLang="zh-CN" sz="2800" dirty="0"/>
              <a:t>20H</a:t>
            </a:r>
            <a:r>
              <a:rPr lang="zh-CN" altLang="zh-CN" sz="2800" dirty="0"/>
              <a:t>×</a:t>
            </a:r>
            <a:r>
              <a:rPr lang="en-US" altLang="zh-CN" sz="2800" dirty="0"/>
              <a:t>4</a:t>
            </a:r>
            <a:r>
              <a:rPr lang="zh-CN" altLang="zh-CN" sz="2800" dirty="0"/>
              <a:t>＝</a:t>
            </a:r>
            <a:r>
              <a:rPr lang="en-US" altLang="zh-CN" sz="2800" dirty="0"/>
              <a:t>80H</a:t>
            </a:r>
            <a:r>
              <a:rPr lang="zh-CN" altLang="zh-CN" sz="2800" dirty="0"/>
              <a:t>。该中断的中断服务程序的入口地址为：</a:t>
            </a:r>
            <a:endParaRPr lang="zh-CN" altLang="zh-CN" sz="2800" dirty="0"/>
          </a:p>
          <a:p>
            <a:r>
              <a:rPr lang="en-US" altLang="zh-CN" sz="2800" dirty="0"/>
              <a:t>CS:IP =4000H:2010H</a:t>
            </a:r>
            <a:r>
              <a:rPr lang="zh-CN" altLang="zh-CN" sz="2800" dirty="0"/>
              <a:t>。</a:t>
            </a:r>
            <a:endParaRPr lang="zh-CN" altLang="en-US" sz="2800" dirty="0"/>
          </a:p>
        </p:txBody>
      </p:sp>
      <p:grpSp>
        <p:nvGrpSpPr>
          <p:cNvPr id="2" name="组合 5"/>
          <p:cNvGrpSpPr/>
          <p:nvPr/>
        </p:nvGrpSpPr>
        <p:grpSpPr>
          <a:xfrm>
            <a:off x="5924064" y="2163585"/>
            <a:ext cx="4074949" cy="3446516"/>
            <a:chOff x="0" y="0"/>
            <a:chExt cx="1443873" cy="1196796"/>
          </a:xfrm>
        </p:grpSpPr>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8636" y="0"/>
              <a:ext cx="1210614" cy="914400"/>
            </a:xfrm>
            <a:prstGeom prst="rect">
              <a:avLst/>
            </a:prstGeom>
            <a:noFill/>
            <a:ln>
              <a:noFill/>
            </a:ln>
          </p:spPr>
        </p:pic>
        <p:sp>
          <p:nvSpPr>
            <p:cNvPr id="8" name="Text Box 1164"/>
            <p:cNvSpPr txBox="1">
              <a:spLocks noChangeArrowheads="1"/>
            </p:cNvSpPr>
            <p:nvPr/>
          </p:nvSpPr>
          <p:spPr bwMode="auto">
            <a:xfrm>
              <a:off x="0" y="901521"/>
              <a:ext cx="1443873"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ctr" defTabSz="914400" fontAlgn="base">
                <a:lnSpc>
                  <a:spcPts val="1500"/>
                </a:lnSpc>
                <a:spcBef>
                  <a:spcPct val="0"/>
                </a:spcBef>
                <a:spcAft>
                  <a:spcPts val="600"/>
                </a:spcAft>
              </a:pPr>
              <a:r>
                <a:rPr lang="zh-CN" altLang="en-US" sz="1400" kern="500" dirty="0">
                  <a:solidFill>
                    <a:srgbClr val="000000"/>
                  </a:solidFill>
                  <a:latin typeface="Times New Roman" panose="02020603050405020304"/>
                  <a:ea typeface="宋体" panose="02010600030101010101" pitchFamily="2" charset="-122"/>
                  <a:cs typeface="宋体" panose="02010600030101010101" pitchFamily="2" charset="-122"/>
                </a:rPr>
                <a:t>图</a:t>
              </a:r>
              <a:r>
                <a:rPr lang="en-US" sz="1400" kern="500" dirty="0">
                  <a:solidFill>
                    <a:srgbClr val="000000"/>
                  </a:solidFill>
                  <a:latin typeface="Times New Roman" panose="02020603050405020304"/>
                  <a:ea typeface="宋体" panose="02010600030101010101" pitchFamily="2" charset="-122"/>
                  <a:cs typeface="宋体" panose="02010600030101010101" pitchFamily="2" charset="-122"/>
                </a:rPr>
                <a:t>1 </a:t>
              </a:r>
              <a:r>
                <a:rPr lang="zh-CN" altLang="en-US" sz="1400" kern="500" dirty="0">
                  <a:solidFill>
                    <a:srgbClr val="000000"/>
                  </a:solidFill>
                  <a:latin typeface="Times New Roman" panose="02020603050405020304"/>
                  <a:ea typeface="宋体" panose="02010600030101010101" pitchFamily="2" charset="-122"/>
                  <a:cs typeface="宋体" panose="02010600030101010101" pitchFamily="2" charset="-122"/>
                </a:rPr>
                <a:t>中断向量事例</a:t>
              </a:r>
              <a:endParaRPr lang="zh-CN" altLang="en-US" sz="1400" kern="500" dirty="0">
                <a:solidFill>
                  <a:srgbClr val="000000"/>
                </a:solidFill>
                <a:latin typeface="Times New Roman" panose="02020603050405020304"/>
                <a:ea typeface="宋体" panose="02010600030101010101" pitchFamily="2" charset="-122"/>
                <a:cs typeface="宋体" panose="02010600030101010101" pitchFamily="2" charset="-122"/>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defTabSz="914400" fontAlgn="base">
              <a:spcBef>
                <a:spcPct val="0"/>
              </a:spcBef>
              <a:spcAft>
                <a:spcPct val="0"/>
              </a:spcAft>
              <a:defRPr/>
            </a:pPr>
            <a:fld id="{FA3B0ADD-A917-4F87-B2CA-1EB4674E2223}" type="slidenum">
              <a:rPr lang="en-US" altLang="zh-CN">
                <a:solidFill>
                  <a:srgbClr val="000000"/>
                </a:solidFill>
                <a:latin typeface="Arial" panose="020B0604020202020204" pitchFamily="34" charset="0"/>
                <a:cs typeface="Times New Roman" panose="02020603050405020304"/>
              </a:rPr>
            </a:fld>
            <a:endParaRPr lang="en-US" altLang="zh-CN" dirty="0">
              <a:solidFill>
                <a:srgbClr val="000000"/>
              </a:solidFill>
              <a:latin typeface="Arial" panose="020B0604020202020204" pitchFamily="34" charset="0"/>
              <a:cs typeface="Times New Roman" panose="02020603050405020304"/>
            </a:endParaRPr>
          </a:p>
        </p:txBody>
      </p:sp>
      <p:sp>
        <p:nvSpPr>
          <p:cNvPr id="4" name="内容占位符 3"/>
          <p:cNvSpPr>
            <a:spLocks noGrp="1"/>
          </p:cNvSpPr>
          <p:nvPr>
            <p:ph idx="1"/>
          </p:nvPr>
        </p:nvSpPr>
        <p:spPr>
          <a:xfrm>
            <a:off x="837379" y="1627644"/>
            <a:ext cx="9862147" cy="3815679"/>
          </a:xfrm>
        </p:spPr>
        <p:txBody>
          <a:bodyPr>
            <a:normAutofit/>
          </a:bodyPr>
          <a:lstStyle/>
          <a:p>
            <a:r>
              <a:rPr lang="en-US" altLang="zh-CN" sz="2800" dirty="0"/>
              <a:t>8086/8088CPU</a:t>
            </a:r>
            <a:r>
              <a:rPr lang="zh-CN" altLang="zh-CN" sz="2800" dirty="0"/>
              <a:t>的全部</a:t>
            </a:r>
            <a:r>
              <a:rPr lang="en-US" altLang="zh-CN" sz="2800" dirty="0"/>
              <a:t>256</a:t>
            </a:r>
            <a:r>
              <a:rPr lang="zh-CN" altLang="zh-CN" sz="2800" dirty="0"/>
              <a:t>种中断类型中</a:t>
            </a:r>
            <a:r>
              <a:rPr lang="en-US" altLang="zh-CN" sz="2800" dirty="0"/>
              <a:t>0~31</a:t>
            </a:r>
            <a:r>
              <a:rPr lang="zh-CN" altLang="zh-CN" sz="2800" dirty="0"/>
              <a:t>是微处理器专用中断，从类型</a:t>
            </a:r>
            <a:r>
              <a:rPr lang="en-US" altLang="zh-CN" sz="2800" dirty="0"/>
              <a:t>32</a:t>
            </a:r>
            <a:r>
              <a:rPr lang="zh-CN" altLang="zh-CN" sz="2800" dirty="0"/>
              <a:t>开始直到</a:t>
            </a:r>
            <a:r>
              <a:rPr lang="en-US" altLang="zh-CN" sz="2800" dirty="0"/>
              <a:t>255</a:t>
            </a:r>
            <a:r>
              <a:rPr lang="zh-CN" altLang="zh-CN" sz="2800" dirty="0"/>
              <a:t>作为用户中断类型。</a:t>
            </a:r>
            <a:endParaRPr lang="en-US" altLang="zh-CN" sz="2800" dirty="0"/>
          </a:p>
          <a:p>
            <a:r>
              <a:rPr lang="en-US" altLang="zh-CN" sz="2800" dirty="0"/>
              <a:t>Intel</a:t>
            </a:r>
            <a:r>
              <a:rPr lang="zh-CN" altLang="zh-CN" sz="2800" dirty="0"/>
              <a:t>保留前</a:t>
            </a:r>
            <a:r>
              <a:rPr lang="en-US" altLang="zh-CN" sz="2800" dirty="0"/>
              <a:t>32</a:t>
            </a:r>
            <a:r>
              <a:rPr lang="zh-CN" altLang="zh-CN" sz="2800" dirty="0"/>
              <a:t>（</a:t>
            </a:r>
            <a:r>
              <a:rPr lang="en-US" altLang="zh-CN" sz="2800" dirty="0"/>
              <a:t>0~31</a:t>
            </a:r>
            <a:r>
              <a:rPr lang="zh-CN" altLang="zh-CN" sz="2800" dirty="0"/>
              <a:t>）个中断向量为</a:t>
            </a:r>
            <a:r>
              <a:rPr lang="en-US" altLang="zh-CN" sz="2800" dirty="0"/>
              <a:t>Intel</a:t>
            </a:r>
            <a:r>
              <a:rPr lang="zh-CN" altLang="zh-CN" sz="2800" dirty="0"/>
              <a:t>各种微处理器系列成员专用，其中，类型</a:t>
            </a:r>
            <a:r>
              <a:rPr lang="en-US" altLang="zh-CN" sz="2800" dirty="0"/>
              <a:t>0~4</a:t>
            </a:r>
            <a:r>
              <a:rPr lang="zh-CN" altLang="zh-CN" sz="2800" dirty="0"/>
              <a:t>的中断向量在</a:t>
            </a:r>
            <a:r>
              <a:rPr lang="en-US" altLang="zh-CN" sz="2800" dirty="0"/>
              <a:t>8086</a:t>
            </a:r>
            <a:r>
              <a:rPr lang="zh-CN" altLang="zh-CN" sz="2800" dirty="0"/>
              <a:t>～</a:t>
            </a:r>
            <a:r>
              <a:rPr lang="en-US" altLang="zh-CN" sz="2800" dirty="0"/>
              <a:t>Pentium</a:t>
            </a:r>
            <a:r>
              <a:rPr lang="zh-CN" altLang="zh-CN" sz="2800" dirty="0"/>
              <a:t>的所有</a:t>
            </a:r>
            <a:r>
              <a:rPr lang="en-US" altLang="zh-CN" sz="2800" dirty="0"/>
              <a:t>Intel</a:t>
            </a:r>
            <a:r>
              <a:rPr lang="zh-CN" altLang="zh-CN" sz="2800" dirty="0"/>
              <a:t>系列微处理器中都相同，其他中断向量存在于</a:t>
            </a:r>
            <a:r>
              <a:rPr lang="en-US" altLang="zh-CN" sz="2800" dirty="0"/>
              <a:t>80286</a:t>
            </a:r>
            <a:r>
              <a:rPr lang="zh-CN" altLang="zh-CN" sz="2800" dirty="0"/>
              <a:t>及以上的高档微处理器组成的系统中。</a:t>
            </a:r>
            <a:r>
              <a:rPr lang="zh-CN" altLang="en-US" sz="2800" dirty="0"/>
              <a:t>这些</a:t>
            </a:r>
            <a:r>
              <a:rPr lang="zh-CN" altLang="zh-CN" sz="2800" dirty="0"/>
              <a:t>专用中断向量对应的中断服务程序由系统设置。</a:t>
            </a:r>
            <a:endParaRPr lang="en-US" altLang="zh-CN" sz="2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灯片编号占位符 2"/>
          <p:cNvSpPr>
            <a:spLocks noGrp="1"/>
          </p:cNvSpPr>
          <p:nvPr>
            <p:ph type="sldNum" sz="quarter" idx="12"/>
          </p:nvPr>
        </p:nvSpPr>
        <p:spPr/>
        <p:txBody>
          <a:bodyPr/>
          <a:lstStyle/>
          <a:p>
            <a:pPr defTabSz="914400" fontAlgn="base">
              <a:spcBef>
                <a:spcPct val="0"/>
              </a:spcBef>
              <a:spcAft>
                <a:spcPct val="0"/>
              </a:spcAft>
              <a:defRPr/>
            </a:pPr>
            <a:fld id="{FA3B0ADD-A917-4F87-B2CA-1EB4674E2223}" type="slidenum">
              <a:rPr lang="en-US" altLang="zh-CN">
                <a:solidFill>
                  <a:srgbClr val="000000"/>
                </a:solidFill>
                <a:latin typeface="Arial" panose="020B0604020202020204" pitchFamily="34" charset="0"/>
                <a:cs typeface="Times New Roman" panose="02020603050405020304"/>
              </a:rPr>
            </a:fld>
            <a:endParaRPr lang="en-US" altLang="zh-CN" dirty="0">
              <a:solidFill>
                <a:srgbClr val="000000"/>
              </a:solidFill>
              <a:latin typeface="Arial" panose="020B0604020202020204" pitchFamily="34" charset="0"/>
              <a:cs typeface="Times New Roman" panose="02020603050405020304"/>
            </a:endParaRPr>
          </a:p>
        </p:txBody>
      </p:sp>
      <p:sp>
        <p:nvSpPr>
          <p:cNvPr id="4" name="内容占位符 3"/>
          <p:cNvSpPr>
            <a:spLocks noGrp="1"/>
          </p:cNvSpPr>
          <p:nvPr>
            <p:ph idx="1"/>
          </p:nvPr>
        </p:nvSpPr>
        <p:spPr>
          <a:xfrm>
            <a:off x="1991544" y="2204864"/>
            <a:ext cx="4311602" cy="3663795"/>
          </a:xfrm>
        </p:spPr>
        <p:txBody>
          <a:bodyPr>
            <a:normAutofit/>
          </a:bodyPr>
          <a:lstStyle/>
          <a:p>
            <a:r>
              <a:rPr lang="zh-CN" altLang="zh-CN" sz="2800" dirty="0"/>
              <a:t>从类型</a:t>
            </a:r>
            <a:r>
              <a:rPr lang="en-US" altLang="zh-CN" sz="2800" dirty="0"/>
              <a:t>32</a:t>
            </a:r>
            <a:r>
              <a:rPr lang="zh-CN" altLang="zh-CN" sz="2800" dirty="0"/>
              <a:t>开始直到</a:t>
            </a:r>
            <a:r>
              <a:rPr lang="en-US" altLang="zh-CN" sz="2800" dirty="0"/>
              <a:t>255</a:t>
            </a:r>
            <a:r>
              <a:rPr lang="zh-CN" altLang="zh-CN" sz="2800" dirty="0"/>
              <a:t>作为用户中断类型</a:t>
            </a:r>
            <a:r>
              <a:rPr lang="zh-CN" altLang="en-US" sz="2800" dirty="0"/>
              <a:t>，</a:t>
            </a:r>
            <a:r>
              <a:rPr lang="zh-CN" altLang="zh-CN" sz="2800" dirty="0"/>
              <a:t>用户中断向量由用户填写到中断向量表中，中断服务程序也由用户编写。</a:t>
            </a:r>
            <a:endParaRPr lang="zh-CN" altLang="en-US" sz="2800" dirty="0"/>
          </a:p>
        </p:txBody>
      </p:sp>
      <p:pic>
        <p:nvPicPr>
          <p:cNvPr id="9" name="Picture 1127" descr="中断向量表"/>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672560" y="1795337"/>
            <a:ext cx="3305696" cy="4282126"/>
          </a:xfrm>
          <a:prstGeom prst="rect">
            <a:avLst/>
          </a:prstGeom>
          <a:noFill/>
          <a:ln w="28575">
            <a:solidFill>
              <a:srgbClr val="00B0F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8086/8088CPU</a:t>
            </a:r>
            <a:r>
              <a:rPr lang="zh-CN" altLang="en-US" dirty="0"/>
              <a:t>专用中断类型有</a:t>
            </a:r>
            <a:r>
              <a:rPr lang="en-US" altLang="zh-CN" dirty="0"/>
              <a:t>5</a:t>
            </a:r>
            <a:r>
              <a:rPr lang="zh-CN" altLang="en-US" dirty="0"/>
              <a:t>个</a:t>
            </a:r>
            <a:endParaRPr lang="zh-CN" altLang="en-US" dirty="0"/>
          </a:p>
        </p:txBody>
      </p:sp>
      <p:sp>
        <p:nvSpPr>
          <p:cNvPr id="3" name="灯片编号占位符 2"/>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4" name="内容占位符 3"/>
          <p:cNvSpPr>
            <a:spLocks noGrp="1"/>
          </p:cNvSpPr>
          <p:nvPr>
            <p:ph idx="1"/>
          </p:nvPr>
        </p:nvSpPr>
        <p:spPr>
          <a:xfrm>
            <a:off x="661345" y="2094614"/>
            <a:ext cx="11094720" cy="4199860"/>
          </a:xfrm>
        </p:spPr>
        <p:txBody>
          <a:bodyPr>
            <a:noAutofit/>
          </a:bodyPr>
          <a:lstStyle/>
          <a:p>
            <a:pPr>
              <a:buFont typeface="Wingdings" panose="05000000000000000000" pitchFamily="2" charset="2"/>
              <a:buChar char="u"/>
            </a:pPr>
            <a:r>
              <a:rPr lang="zh-CN" altLang="en-US" sz="2800" dirty="0"/>
              <a:t>类型</a:t>
            </a:r>
            <a:r>
              <a:rPr lang="en-US" altLang="zh-CN" sz="2800" dirty="0"/>
              <a:t>0 </a:t>
            </a:r>
            <a:r>
              <a:rPr lang="zh-CN" altLang="en-US" sz="2800" dirty="0"/>
              <a:t>除法错中断，除法运算结果溢出或是除以</a:t>
            </a:r>
            <a:r>
              <a:rPr lang="en-US" altLang="zh-CN" sz="2800" dirty="0"/>
              <a:t>0</a:t>
            </a:r>
            <a:r>
              <a:rPr lang="zh-CN" altLang="en-US" sz="2800" dirty="0"/>
              <a:t>时发生，屏幕出现错误提示。</a:t>
            </a:r>
            <a:endParaRPr lang="zh-CN" altLang="en-US" sz="2800" dirty="0"/>
          </a:p>
          <a:p>
            <a:pPr>
              <a:buFont typeface="Wingdings" panose="05000000000000000000" pitchFamily="2" charset="2"/>
              <a:buChar char="u"/>
            </a:pPr>
            <a:r>
              <a:rPr lang="zh-CN" altLang="en-US" sz="2800" dirty="0"/>
              <a:t>类型</a:t>
            </a:r>
            <a:r>
              <a:rPr lang="en-US" altLang="zh-CN" sz="2800" dirty="0"/>
              <a:t>1 </a:t>
            </a:r>
            <a:r>
              <a:rPr lang="zh-CN" altLang="en-US" sz="2800" dirty="0"/>
              <a:t>单步中断，也称为陷阱中断。如果</a:t>
            </a:r>
            <a:r>
              <a:rPr lang="en-US" altLang="zh-CN" sz="2800" dirty="0"/>
              <a:t>TF</a:t>
            </a:r>
            <a:r>
              <a:rPr lang="zh-CN" altLang="en-US" sz="2800" dirty="0"/>
              <a:t>标志位为</a:t>
            </a:r>
            <a:r>
              <a:rPr lang="en-US" altLang="zh-CN" sz="2800" dirty="0"/>
              <a:t>1</a:t>
            </a:r>
            <a:r>
              <a:rPr lang="zh-CN" altLang="en-US" sz="2800" dirty="0"/>
              <a:t>，</a:t>
            </a:r>
            <a:r>
              <a:rPr lang="en-US" altLang="zh-CN" sz="2800" dirty="0"/>
              <a:t>CPU</a:t>
            </a:r>
            <a:r>
              <a:rPr lang="zh-CN" altLang="en-US" sz="2800" dirty="0"/>
              <a:t>每执行一条指令后，就停下来等待，并提示</a:t>
            </a:r>
            <a:r>
              <a:rPr lang="en-US" altLang="zh-CN" sz="2800" dirty="0"/>
              <a:t>CPU</a:t>
            </a:r>
            <a:r>
              <a:rPr lang="zh-CN" altLang="en-US" sz="2800" dirty="0"/>
              <a:t>内部各寄存器的值和一些附带信息。</a:t>
            </a:r>
            <a:endParaRPr lang="zh-CN" altLang="en-US" sz="2800" dirty="0"/>
          </a:p>
          <a:p>
            <a:pPr marL="0" indent="0">
              <a:buNone/>
            </a:pPr>
            <a:r>
              <a:rPr lang="zh-CN" altLang="en-US" sz="2800" dirty="0"/>
              <a:t>   单步中断使用户可以逐条执行程序，让程序员能够精确了解程序的执行情况，给用户调试程序提供方便。</a:t>
            </a:r>
            <a:endParaRPr lang="zh-CN" altLang="en-US" sz="2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灯片编号占位符 2"/>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4" name="内容占位符 3"/>
          <p:cNvSpPr>
            <a:spLocks noGrp="1"/>
          </p:cNvSpPr>
          <p:nvPr>
            <p:ph idx="1"/>
          </p:nvPr>
        </p:nvSpPr>
        <p:spPr>
          <a:xfrm>
            <a:off x="800470" y="1417638"/>
            <a:ext cx="10269984" cy="4433888"/>
          </a:xfrm>
        </p:spPr>
        <p:txBody>
          <a:bodyPr>
            <a:normAutofit/>
          </a:bodyPr>
          <a:lstStyle/>
          <a:p>
            <a:pPr marL="0" indent="0">
              <a:buNone/>
            </a:pPr>
            <a:r>
              <a:rPr lang="zh-CN" altLang="en-US" sz="2800" dirty="0"/>
              <a:t>在</a:t>
            </a:r>
            <a:r>
              <a:rPr lang="en-US" altLang="zh-CN" sz="2800" dirty="0"/>
              <a:t>8086</a:t>
            </a:r>
            <a:r>
              <a:rPr lang="zh-CN" altLang="en-US" sz="2800" dirty="0"/>
              <a:t>中，没有专门设置</a:t>
            </a:r>
            <a:r>
              <a:rPr lang="en-US" altLang="zh-CN" sz="2800" dirty="0"/>
              <a:t>TF</a:t>
            </a:r>
            <a:r>
              <a:rPr lang="zh-CN" altLang="en-US" sz="2800" dirty="0"/>
              <a:t>清</a:t>
            </a:r>
            <a:r>
              <a:rPr lang="en-US" altLang="zh-CN" sz="2800" dirty="0"/>
              <a:t>0</a:t>
            </a:r>
            <a:r>
              <a:rPr lang="zh-CN" altLang="en-US" sz="2800" dirty="0"/>
              <a:t>或置</a:t>
            </a:r>
            <a:r>
              <a:rPr lang="en-US" altLang="zh-CN" sz="2800" dirty="0"/>
              <a:t>1</a:t>
            </a:r>
            <a:r>
              <a:rPr lang="zh-CN" altLang="en-US" sz="2800" dirty="0"/>
              <a:t>的指令，要使</a:t>
            </a:r>
            <a:r>
              <a:rPr lang="en-US" altLang="zh-CN" sz="2800" dirty="0"/>
              <a:t>TF</a:t>
            </a:r>
            <a:r>
              <a:rPr lang="zh-CN" altLang="en-US" sz="2800" dirty="0"/>
              <a:t>清</a:t>
            </a:r>
            <a:r>
              <a:rPr lang="en-US" altLang="zh-CN" sz="2800" dirty="0"/>
              <a:t>0</a:t>
            </a:r>
            <a:r>
              <a:rPr lang="zh-CN" altLang="en-US" sz="2800" dirty="0"/>
              <a:t>或置</a:t>
            </a:r>
            <a:r>
              <a:rPr lang="en-US" altLang="zh-CN" sz="2800" dirty="0"/>
              <a:t>1</a:t>
            </a:r>
            <a:r>
              <a:rPr lang="zh-CN" altLang="en-US" sz="2800" dirty="0"/>
              <a:t>，需要通过执行一段程序实现。例如，使</a:t>
            </a:r>
            <a:r>
              <a:rPr lang="en-US" altLang="zh-CN" sz="2800" dirty="0"/>
              <a:t>TF</a:t>
            </a:r>
            <a:r>
              <a:rPr lang="zh-CN" altLang="en-US" sz="2800" dirty="0"/>
              <a:t>标志位置</a:t>
            </a:r>
            <a:r>
              <a:rPr lang="en-US" altLang="zh-CN" sz="2800" dirty="0"/>
              <a:t>1</a:t>
            </a:r>
            <a:r>
              <a:rPr lang="zh-CN" altLang="en-US" sz="2800" dirty="0"/>
              <a:t>：</a:t>
            </a:r>
            <a:endParaRPr lang="zh-CN" altLang="en-US" sz="2800" dirty="0"/>
          </a:p>
          <a:p>
            <a:pPr marL="0" indent="0">
              <a:buNone/>
            </a:pPr>
            <a:r>
              <a:rPr lang="en-US" altLang="zh-CN" sz="2800" dirty="0"/>
              <a:t>             PUSHF ;     FLAG</a:t>
            </a:r>
            <a:r>
              <a:rPr lang="zh-CN" altLang="en-US" sz="2800" dirty="0"/>
              <a:t>压栈</a:t>
            </a:r>
            <a:endParaRPr lang="zh-CN" altLang="en-US" sz="2800" dirty="0"/>
          </a:p>
          <a:p>
            <a:pPr marL="0" indent="0">
              <a:buNone/>
            </a:pPr>
            <a:r>
              <a:rPr lang="en-US" altLang="zh-CN" sz="2800" dirty="0"/>
              <a:t>             POP AX ;      FLAG</a:t>
            </a:r>
            <a:r>
              <a:rPr lang="zh-CN" altLang="en-US" sz="2800" dirty="0"/>
              <a:t>内容弹出到</a:t>
            </a:r>
            <a:r>
              <a:rPr lang="en-US" altLang="zh-CN" sz="2800" dirty="0"/>
              <a:t>AX</a:t>
            </a:r>
            <a:endParaRPr lang="en-US" altLang="zh-CN" sz="2800" dirty="0"/>
          </a:p>
          <a:p>
            <a:pPr marL="0" indent="0">
              <a:buNone/>
            </a:pPr>
            <a:r>
              <a:rPr lang="en-US" altLang="zh-CN" sz="2800" dirty="0"/>
              <a:t>             OR AX, 0100H ;    </a:t>
            </a:r>
            <a:r>
              <a:rPr lang="zh-CN" altLang="en-US" sz="2800" dirty="0" smtClean="0"/>
              <a:t>使</a:t>
            </a:r>
            <a:r>
              <a:rPr lang="en-US" altLang="zh-CN" sz="2800" dirty="0"/>
              <a:t>AX</a:t>
            </a:r>
            <a:r>
              <a:rPr lang="zh-CN" altLang="en-US" sz="2800" dirty="0"/>
              <a:t>中对应</a:t>
            </a:r>
            <a:r>
              <a:rPr lang="en-US" altLang="zh-CN" sz="2800" dirty="0"/>
              <a:t>TF</a:t>
            </a:r>
            <a:r>
              <a:rPr lang="zh-CN" altLang="en-US" sz="2800" dirty="0" smtClean="0"/>
              <a:t>的位（</a:t>
            </a:r>
            <a:r>
              <a:rPr lang="en-US" altLang="zh-CN" sz="2800" dirty="0" smtClean="0"/>
              <a:t>D</a:t>
            </a:r>
            <a:r>
              <a:rPr lang="en-US" altLang="zh-CN" sz="2800" baseline="-25000" dirty="0" smtClean="0"/>
              <a:t>8</a:t>
            </a:r>
            <a:r>
              <a:rPr lang="en-US" altLang="zh-CN" sz="2800" dirty="0" smtClean="0"/>
              <a:t>)</a:t>
            </a:r>
            <a:r>
              <a:rPr lang="zh-CN" altLang="en-US" dirty="0" smtClean="0"/>
              <a:t>置</a:t>
            </a:r>
            <a:r>
              <a:rPr lang="en-US" altLang="zh-CN" sz="2800" dirty="0" smtClean="0"/>
              <a:t>1</a:t>
            </a:r>
            <a:endParaRPr lang="en-US" altLang="zh-CN" sz="2800" dirty="0"/>
          </a:p>
          <a:p>
            <a:pPr marL="0" indent="0">
              <a:buNone/>
            </a:pPr>
            <a:r>
              <a:rPr lang="en-US" altLang="zh-CN" sz="2800" dirty="0"/>
              <a:t>             PUSH AX</a:t>
            </a:r>
            <a:endParaRPr lang="en-US" altLang="zh-CN" sz="2800" dirty="0"/>
          </a:p>
          <a:p>
            <a:pPr marL="0" indent="0">
              <a:buNone/>
            </a:pPr>
            <a:r>
              <a:rPr lang="en-US" altLang="zh-CN" sz="2800" dirty="0"/>
              <a:t>              POPF</a:t>
            </a:r>
            <a:endParaRPr lang="zh-CN" altLang="en-US" sz="2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灯片编号占位符 2"/>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4" name="内容占位符 3"/>
          <p:cNvSpPr>
            <a:spLocks noGrp="1"/>
          </p:cNvSpPr>
          <p:nvPr>
            <p:ph idx="1"/>
          </p:nvPr>
        </p:nvSpPr>
        <p:spPr>
          <a:xfrm>
            <a:off x="1205595" y="2016323"/>
            <a:ext cx="11137237" cy="449561"/>
          </a:xfrm>
        </p:spPr>
        <p:txBody>
          <a:bodyPr>
            <a:noAutofit/>
          </a:bodyPr>
          <a:lstStyle/>
          <a:p>
            <a:pPr marL="0" indent="0">
              <a:buNone/>
            </a:pPr>
            <a:r>
              <a:rPr lang="zh-CN" altLang="en-US" sz="2800" dirty="0"/>
              <a:t>使</a:t>
            </a:r>
            <a:r>
              <a:rPr lang="en-US" altLang="zh-CN" sz="2800" dirty="0"/>
              <a:t>TF</a:t>
            </a:r>
            <a:r>
              <a:rPr lang="zh-CN" altLang="en-US" sz="2800" dirty="0"/>
              <a:t>标志位清</a:t>
            </a:r>
            <a:r>
              <a:rPr lang="en-US" altLang="zh-CN" sz="2800" dirty="0"/>
              <a:t>0</a:t>
            </a:r>
            <a:r>
              <a:rPr lang="zh-CN" altLang="en-US" sz="2800" dirty="0"/>
              <a:t>，禁止单步中断：</a:t>
            </a:r>
            <a:endParaRPr lang="zh-CN" altLang="en-US" sz="2800" dirty="0"/>
          </a:p>
          <a:p>
            <a:endParaRPr lang="zh-CN" altLang="en-US" sz="2800" dirty="0"/>
          </a:p>
        </p:txBody>
      </p:sp>
      <p:sp>
        <p:nvSpPr>
          <p:cNvPr id="6" name="文本框 5"/>
          <p:cNvSpPr txBox="1"/>
          <p:nvPr/>
        </p:nvSpPr>
        <p:spPr>
          <a:xfrm>
            <a:off x="2793939" y="2697986"/>
            <a:ext cx="6094520" cy="2749471"/>
          </a:xfrm>
          <a:prstGeom prst="rect">
            <a:avLst/>
          </a:prstGeom>
          <a:noFill/>
        </p:spPr>
        <p:txBody>
          <a:bodyPr wrap="square">
            <a:spAutoFit/>
          </a:bodyPr>
          <a:lstStyle/>
          <a:p>
            <a:pPr marL="91440" marR="0" lvl="0" indent="-91440" algn="l" defTabSz="914400" rtl="0" eaLnBrk="1" fontAlgn="auto" latinLnBrk="0" hangingPunct="1">
              <a:lnSpc>
                <a:spcPct val="90000"/>
              </a:lnSpc>
              <a:spcBef>
                <a:spcPts val="1200"/>
              </a:spcBef>
              <a:spcAft>
                <a:spcPts val="200"/>
              </a:spcAft>
              <a:buClr>
                <a:srgbClr val="4472C4"/>
              </a:buClr>
              <a:buSzPct val="100000"/>
              <a:buFont typeface="Calibri" panose="020F0502020204030204" pitchFamily="34" charset="0"/>
              <a:buChar char=" "/>
              <a:defRPr/>
            </a:pPr>
            <a:r>
              <a:rPr kumimoji="0" lang="en-US" altLang="zh-CN" sz="28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PUSHF</a:t>
            </a:r>
            <a:endParaRPr kumimoji="0" lang="en-US" altLang="zh-CN" sz="28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a:p>
            <a:pPr marL="91440" marR="0" lvl="0" indent="-91440" algn="l" defTabSz="914400" rtl="0" eaLnBrk="1" fontAlgn="auto" latinLnBrk="0" hangingPunct="1">
              <a:lnSpc>
                <a:spcPct val="90000"/>
              </a:lnSpc>
              <a:spcBef>
                <a:spcPts val="1200"/>
              </a:spcBef>
              <a:spcAft>
                <a:spcPts val="200"/>
              </a:spcAft>
              <a:buClr>
                <a:srgbClr val="4472C4"/>
              </a:buClr>
              <a:buSzPct val="100000"/>
              <a:buFont typeface="Calibri" panose="020F0502020204030204" pitchFamily="34" charset="0"/>
              <a:buChar char=" "/>
              <a:defRPr/>
            </a:pPr>
            <a:r>
              <a:rPr kumimoji="0" lang="en-US" altLang="zh-CN" sz="28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POP AX</a:t>
            </a:r>
            <a:endParaRPr kumimoji="0" lang="en-US" altLang="zh-CN" sz="28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a:p>
            <a:pPr marL="91440" marR="0" lvl="0" indent="-91440" algn="l" defTabSz="914400" rtl="0" eaLnBrk="1" fontAlgn="auto" latinLnBrk="0" hangingPunct="1">
              <a:lnSpc>
                <a:spcPct val="90000"/>
              </a:lnSpc>
              <a:spcBef>
                <a:spcPts val="1200"/>
              </a:spcBef>
              <a:spcAft>
                <a:spcPts val="200"/>
              </a:spcAft>
              <a:buClr>
                <a:srgbClr val="4472C4"/>
              </a:buClr>
              <a:buSzPct val="100000"/>
              <a:buFont typeface="Calibri" panose="020F0502020204030204" pitchFamily="34" charset="0"/>
              <a:buChar char=" "/>
              <a:defRPr/>
            </a:pPr>
            <a:r>
              <a:rPr kumimoji="0" lang="en-US" altLang="zh-CN" sz="28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AND AX, 0FEFFH</a:t>
            </a:r>
            <a:endParaRPr kumimoji="0" lang="en-US" altLang="zh-CN" sz="28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a:p>
            <a:pPr marL="91440" marR="0" lvl="0" indent="-91440" algn="l" defTabSz="914400" rtl="0" eaLnBrk="1" fontAlgn="auto" latinLnBrk="0" hangingPunct="1">
              <a:lnSpc>
                <a:spcPct val="90000"/>
              </a:lnSpc>
              <a:spcBef>
                <a:spcPts val="1200"/>
              </a:spcBef>
              <a:spcAft>
                <a:spcPts val="200"/>
              </a:spcAft>
              <a:buClr>
                <a:srgbClr val="4472C4"/>
              </a:buClr>
              <a:buSzPct val="100000"/>
              <a:buFont typeface="Calibri" panose="020F0502020204030204" pitchFamily="34" charset="0"/>
              <a:buChar char=" "/>
              <a:defRPr/>
            </a:pPr>
            <a:r>
              <a:rPr kumimoji="0" lang="en-US" altLang="zh-CN" sz="28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PUSH AX</a:t>
            </a:r>
            <a:endParaRPr kumimoji="0" lang="en-US" altLang="zh-CN" sz="28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endParaRPr>
          </a:p>
          <a:p>
            <a:pPr marL="91440" marR="0" lvl="0" indent="-91440" algn="l" defTabSz="914400" rtl="0" eaLnBrk="1" fontAlgn="auto" latinLnBrk="0" hangingPunct="1">
              <a:lnSpc>
                <a:spcPct val="90000"/>
              </a:lnSpc>
              <a:spcBef>
                <a:spcPts val="1200"/>
              </a:spcBef>
              <a:spcAft>
                <a:spcPts val="200"/>
              </a:spcAft>
              <a:buClr>
                <a:srgbClr val="4472C4"/>
              </a:buClr>
              <a:buSzPct val="100000"/>
              <a:buFont typeface="Calibri" panose="020F0502020204030204" pitchFamily="34" charset="0"/>
              <a:buChar char=" "/>
              <a:defRPr/>
            </a:pPr>
            <a:r>
              <a:rPr kumimoji="0" lang="en-US" altLang="zh-CN" sz="2800" b="0" i="0" u="none" strike="noStrike" kern="1200" cap="none" spc="0" normalizeH="0" baseline="0" noProof="0" dirty="0">
                <a:ln>
                  <a:noFill/>
                </a:ln>
                <a:solidFill>
                  <a:prstClr val="black">
                    <a:lumMod val="75000"/>
                    <a:lumOff val="25000"/>
                  </a:prstClr>
                </a:solidFill>
                <a:effectLst/>
                <a:uLnTx/>
                <a:uFillTx/>
                <a:latin typeface="Calibri" panose="020F0502020204030204"/>
                <a:ea typeface="宋体" panose="02010600030101010101" pitchFamily="2" charset="-122"/>
                <a:cs typeface="+mn-cs"/>
              </a:rPr>
              <a:t>POPF</a:t>
            </a:r>
            <a:endParaRPr lang="zh-CN" alt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灯片编号占位符 2"/>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4" name="内容占位符 3"/>
          <p:cNvSpPr>
            <a:spLocks noGrp="1"/>
          </p:cNvSpPr>
          <p:nvPr>
            <p:ph idx="1"/>
          </p:nvPr>
        </p:nvSpPr>
        <p:spPr>
          <a:xfrm>
            <a:off x="835667" y="1623959"/>
            <a:ext cx="9942351" cy="4705896"/>
          </a:xfrm>
        </p:spPr>
        <p:txBody>
          <a:bodyPr>
            <a:normAutofit/>
          </a:bodyPr>
          <a:lstStyle/>
          <a:p>
            <a:pPr>
              <a:buFont typeface="Wingdings" panose="05000000000000000000" pitchFamily="2" charset="2"/>
              <a:buChar char="u"/>
            </a:pPr>
            <a:r>
              <a:rPr lang="zh-CN" altLang="en-US" sz="2800" dirty="0"/>
              <a:t>类型</a:t>
            </a:r>
            <a:r>
              <a:rPr lang="en-US" altLang="zh-CN" sz="2800" dirty="0"/>
              <a:t>2 </a:t>
            </a:r>
            <a:r>
              <a:rPr lang="zh-CN" altLang="en-US" sz="2800" dirty="0"/>
              <a:t>非屏蔽中断，该中断不能被软件禁止。非屏蔽中断由</a:t>
            </a:r>
            <a:r>
              <a:rPr lang="en-US" altLang="zh-CN" sz="2800" dirty="0"/>
              <a:t>CPU</a:t>
            </a:r>
            <a:r>
              <a:rPr lang="zh-CN" altLang="en-US" sz="2800" dirty="0"/>
              <a:t>之外的硬件产生，通过</a:t>
            </a:r>
            <a:r>
              <a:rPr lang="en-US" altLang="zh-CN" sz="2800" dirty="0"/>
              <a:t>CPU</a:t>
            </a:r>
            <a:r>
              <a:rPr lang="zh-CN" altLang="en-US" sz="2800" dirty="0"/>
              <a:t>的</a:t>
            </a:r>
            <a:r>
              <a:rPr lang="en-US" altLang="zh-CN" sz="2800" dirty="0"/>
              <a:t>NMI</a:t>
            </a:r>
            <a:r>
              <a:rPr lang="zh-CN" altLang="en-US" sz="2800" dirty="0"/>
              <a:t>引脚输入中断请求信号，上升沿触发。</a:t>
            </a:r>
            <a:endParaRPr lang="zh-CN" altLang="en-US" sz="2800" dirty="0"/>
          </a:p>
          <a:p>
            <a:pPr marL="0" indent="0">
              <a:buNone/>
            </a:pPr>
            <a:r>
              <a:rPr lang="zh-CN" altLang="en-US" sz="2800" dirty="0"/>
              <a:t>该中断用于处理紧急事件，如奇偶校验错、电源掉电等。</a:t>
            </a:r>
            <a:endParaRPr lang="en-US" altLang="zh-CN" sz="2800" dirty="0"/>
          </a:p>
          <a:p>
            <a:pPr>
              <a:buFont typeface="Wingdings" panose="05000000000000000000" pitchFamily="2" charset="2"/>
              <a:buChar char="u"/>
            </a:pPr>
            <a:r>
              <a:rPr lang="zh-CN" altLang="en-US" sz="2800" dirty="0"/>
              <a:t>类型</a:t>
            </a:r>
            <a:r>
              <a:rPr lang="en-US" altLang="zh-CN" sz="2800" dirty="0"/>
              <a:t>3 </a:t>
            </a:r>
            <a:r>
              <a:rPr lang="zh-CN" altLang="en-US" sz="2800" dirty="0"/>
              <a:t>断点中断，由一个单字节指令</a:t>
            </a:r>
            <a:r>
              <a:rPr lang="en-US" altLang="zh-CN" sz="2800" dirty="0"/>
              <a:t>INT3</a:t>
            </a:r>
            <a:r>
              <a:rPr lang="zh-CN" altLang="en-US" sz="2800" dirty="0"/>
              <a:t>引起的中断，指令代码为</a:t>
            </a:r>
            <a:r>
              <a:rPr lang="en-US" altLang="zh-CN" sz="2800" dirty="0"/>
              <a:t>0CCH</a:t>
            </a:r>
            <a:r>
              <a:rPr lang="zh-CN" altLang="en-US" sz="2800" dirty="0"/>
              <a:t>。它的中断服务程序将该指令所处的位置作为程序断点保存起来。</a:t>
            </a:r>
            <a:endParaRPr lang="zh-CN" altLang="en-US" sz="2800" dirty="0"/>
          </a:p>
          <a:p>
            <a:pPr marL="0" indent="0">
              <a:buNone/>
            </a:pPr>
            <a:r>
              <a:rPr lang="zh-CN" altLang="en-US" sz="2800" dirty="0"/>
              <a:t>在调试程序时用这条指令设置断点。</a:t>
            </a:r>
            <a:endParaRPr lang="zh-CN" altLang="en-US" sz="2800" dirty="0"/>
          </a:p>
          <a:p>
            <a:pPr marL="0" indent="0">
              <a:buNone/>
            </a:pPr>
            <a:endParaRPr lang="zh-CN" altLang="en-US"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灯片编号占位符 2"/>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4" name="内容占位符 3"/>
          <p:cNvSpPr>
            <a:spLocks noGrp="1"/>
          </p:cNvSpPr>
          <p:nvPr>
            <p:ph idx="1"/>
          </p:nvPr>
        </p:nvSpPr>
        <p:spPr>
          <a:xfrm>
            <a:off x="1019221" y="1532439"/>
            <a:ext cx="9429471" cy="1568759"/>
          </a:xfrm>
        </p:spPr>
        <p:txBody>
          <a:bodyPr>
            <a:noAutofit/>
          </a:bodyPr>
          <a:lstStyle/>
          <a:p>
            <a:pPr>
              <a:buFont typeface="Wingdings" panose="05000000000000000000" pitchFamily="2" charset="2"/>
              <a:buChar char="u"/>
            </a:pPr>
            <a:r>
              <a:rPr lang="zh-CN" altLang="en-US" sz="2800" dirty="0"/>
              <a:t>类型</a:t>
            </a:r>
            <a:r>
              <a:rPr lang="en-US" altLang="zh-CN" sz="2800" dirty="0"/>
              <a:t>4 </a:t>
            </a:r>
            <a:r>
              <a:rPr lang="zh-CN" altLang="en-US" sz="2800" dirty="0"/>
              <a:t>溢出中断，</a:t>
            </a:r>
            <a:r>
              <a:rPr lang="en-US" altLang="zh-CN" sz="2800" dirty="0"/>
              <a:t>INTO</a:t>
            </a:r>
            <a:r>
              <a:rPr lang="zh-CN" altLang="en-US" sz="2800" dirty="0"/>
              <a:t>指令的专用向量。如果溢出标志位</a:t>
            </a:r>
            <a:r>
              <a:rPr lang="en-US" altLang="zh-CN" sz="2800" dirty="0"/>
              <a:t>OF</a:t>
            </a:r>
            <a:r>
              <a:rPr lang="zh-CN" altLang="en-US" sz="2800" dirty="0"/>
              <a:t>为</a:t>
            </a:r>
            <a:r>
              <a:rPr lang="en-US" altLang="zh-CN" sz="2800" dirty="0"/>
              <a:t>1</a:t>
            </a:r>
            <a:r>
              <a:rPr lang="zh-CN" altLang="en-US" sz="2800" dirty="0"/>
              <a:t>，则</a:t>
            </a:r>
            <a:r>
              <a:rPr lang="en-US" altLang="zh-CN" sz="2800" dirty="0"/>
              <a:t>INTO</a:t>
            </a:r>
            <a:r>
              <a:rPr lang="zh-CN" altLang="en-US" sz="2800" dirty="0"/>
              <a:t>指令中断正在执行的程序。如果</a:t>
            </a:r>
            <a:r>
              <a:rPr lang="en-US" altLang="zh-CN" sz="2800" dirty="0"/>
              <a:t>OF</a:t>
            </a:r>
            <a:r>
              <a:rPr lang="zh-CN" altLang="en-US" sz="2800" dirty="0"/>
              <a:t>为</a:t>
            </a:r>
            <a:r>
              <a:rPr lang="en-US" altLang="zh-CN" sz="2800" dirty="0"/>
              <a:t>0</a:t>
            </a:r>
            <a:r>
              <a:rPr lang="zh-CN" altLang="en-US" sz="2800" dirty="0"/>
              <a:t>，则</a:t>
            </a:r>
            <a:r>
              <a:rPr lang="en-US" altLang="zh-CN" sz="2800" dirty="0"/>
              <a:t>INTO</a:t>
            </a:r>
            <a:r>
              <a:rPr lang="zh-CN" altLang="en-US" sz="2800" dirty="0"/>
              <a:t>指令不执行任何操作，就像不存在一样，程序继续执行下一条指令</a:t>
            </a:r>
            <a:r>
              <a:rPr lang="zh-CN" altLang="en-US" sz="2800" dirty="0" smtClean="0"/>
              <a:t>。</a:t>
            </a:r>
            <a:endParaRPr lang="en-US" altLang="zh-CN" sz="2800" dirty="0" smtClean="0"/>
          </a:p>
          <a:p>
            <a:pPr>
              <a:buFont typeface="Wingdings" panose="05000000000000000000" pitchFamily="2" charset="2"/>
              <a:buChar char="u"/>
            </a:pPr>
            <a:endParaRPr lang="en-US" altLang="zh-CN" dirty="0" smtClean="0"/>
          </a:p>
          <a:p>
            <a:pPr>
              <a:buFont typeface="Wingdings" panose="05000000000000000000" pitchFamily="2" charset="2"/>
              <a:buChar char="u"/>
            </a:pPr>
            <a:endParaRPr lang="en-US" altLang="zh-CN" sz="2800" dirty="0" smtClean="0"/>
          </a:p>
          <a:p>
            <a:pPr>
              <a:buFont typeface="Wingdings" panose="05000000000000000000" pitchFamily="2" charset="2"/>
              <a:buChar char="u"/>
            </a:pPr>
            <a:endParaRPr lang="en-US" altLang="zh-CN" dirty="0" smtClean="0"/>
          </a:p>
          <a:p>
            <a:pPr>
              <a:buFont typeface="Wingdings" panose="05000000000000000000" pitchFamily="2" charset="2"/>
              <a:buChar char="u"/>
            </a:pPr>
            <a:endParaRPr lang="en-US" altLang="zh-CN" sz="2800" dirty="0" smtClean="0"/>
          </a:p>
          <a:p>
            <a:pPr>
              <a:buFont typeface="Wingdings" panose="05000000000000000000" pitchFamily="2" charset="2"/>
              <a:buChar char="u"/>
            </a:pPr>
            <a:endParaRPr lang="en-US" altLang="zh-CN" sz="2800" dirty="0" smtClean="0"/>
          </a:p>
          <a:p>
            <a:pPr>
              <a:buFont typeface="Wingdings" panose="05000000000000000000" pitchFamily="2" charset="2"/>
              <a:buChar char="u"/>
            </a:pPr>
            <a:endParaRPr lang="zh-CN" altLang="en-US" sz="2800" dirty="0"/>
          </a:p>
        </p:txBody>
      </p:sp>
      <p:sp>
        <p:nvSpPr>
          <p:cNvPr id="6" name="文本框 5"/>
          <p:cNvSpPr txBox="1"/>
          <p:nvPr/>
        </p:nvSpPr>
        <p:spPr>
          <a:xfrm>
            <a:off x="2187973" y="3470650"/>
            <a:ext cx="8260719" cy="1815882"/>
          </a:xfrm>
          <a:prstGeom prst="rect">
            <a:avLst/>
          </a:prstGeom>
          <a:noFill/>
        </p:spPr>
        <p:txBody>
          <a:bodyPr wrap="square">
            <a:spAutoFit/>
          </a:bodyPr>
          <a:lstStyle/>
          <a:p>
            <a:r>
              <a:rPr lang="zh-CN" altLang="en-US" sz="2800" dirty="0"/>
              <a:t>例如： </a:t>
            </a:r>
            <a:r>
              <a:rPr lang="en-US" altLang="zh-CN" sz="2800" dirty="0"/>
              <a:t>MOV BL</a:t>
            </a:r>
            <a:r>
              <a:rPr lang="zh-CN" altLang="en-US" sz="2800" dirty="0"/>
              <a:t>，</a:t>
            </a:r>
            <a:r>
              <a:rPr lang="en-US" altLang="zh-CN" sz="2800" dirty="0"/>
              <a:t>126</a:t>
            </a:r>
            <a:endParaRPr lang="en-US" altLang="zh-CN" sz="2800" dirty="0"/>
          </a:p>
          <a:p>
            <a:r>
              <a:rPr lang="en-US" altLang="zh-CN" sz="2800" dirty="0"/>
              <a:t>              MOV AL</a:t>
            </a:r>
            <a:r>
              <a:rPr lang="zh-CN" altLang="en-US" sz="2800" dirty="0"/>
              <a:t>，</a:t>
            </a:r>
            <a:r>
              <a:rPr lang="en-US" altLang="zh-CN" sz="2800" dirty="0"/>
              <a:t>5</a:t>
            </a:r>
            <a:endParaRPr lang="en-US" altLang="zh-CN" sz="2800" dirty="0"/>
          </a:p>
          <a:p>
            <a:r>
              <a:rPr lang="en-US" altLang="zh-CN" sz="2800" dirty="0"/>
              <a:t>              ADD AL</a:t>
            </a:r>
            <a:r>
              <a:rPr lang="zh-CN" altLang="en-US" sz="2800" dirty="0"/>
              <a:t>，</a:t>
            </a:r>
            <a:r>
              <a:rPr lang="en-US" altLang="zh-CN" sz="2800" dirty="0"/>
              <a:t>BL ;   OF=1</a:t>
            </a:r>
            <a:endParaRPr lang="en-US" altLang="zh-CN" sz="2800" dirty="0"/>
          </a:p>
          <a:p>
            <a:r>
              <a:rPr lang="en-US" altLang="zh-CN" sz="2800" dirty="0"/>
              <a:t>              INTO ;                 </a:t>
            </a:r>
            <a:r>
              <a:rPr lang="zh-CN" altLang="en-US" sz="2800" dirty="0"/>
              <a:t>执行溢出中断服务程序</a:t>
            </a:r>
            <a:endParaRPr lang="zh-CN" altLang="en-US" sz="2800" dirty="0"/>
          </a:p>
        </p:txBody>
      </p:sp>
      <p:sp>
        <p:nvSpPr>
          <p:cNvPr id="7" name="矩形 6"/>
          <p:cNvSpPr/>
          <p:nvPr/>
        </p:nvSpPr>
        <p:spPr>
          <a:xfrm>
            <a:off x="1239361" y="5383852"/>
            <a:ext cx="4626523" cy="523220"/>
          </a:xfrm>
          <a:prstGeom prst="rect">
            <a:avLst/>
          </a:prstGeom>
        </p:spPr>
        <p:txBody>
          <a:bodyPr wrap="none">
            <a:spAutoFit/>
          </a:bodyPr>
          <a:lstStyle/>
          <a:p>
            <a:r>
              <a:rPr lang="zh-CN" altLang="en-US" sz="2800" dirty="0" smtClean="0"/>
              <a:t>类型</a:t>
            </a:r>
            <a:r>
              <a:rPr lang="en-US" altLang="zh-CN" sz="2800" dirty="0" smtClean="0"/>
              <a:t>5  INT  n</a:t>
            </a:r>
            <a:r>
              <a:rPr lang="zh-CN" altLang="en-US" sz="2800" dirty="0" smtClean="0"/>
              <a:t>  软件中断指令</a:t>
            </a:r>
            <a:endParaRPr lang="zh-CN" altLang="en-US"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48900" y="286603"/>
            <a:ext cx="9406779" cy="1450757"/>
          </a:xfrm>
        </p:spPr>
        <p:txBody>
          <a:bodyPr/>
          <a:lstStyle/>
          <a:p>
            <a:r>
              <a:rPr lang="en-US" altLang="zh-CN" dirty="0"/>
              <a:t>8086/8088CPU</a:t>
            </a:r>
            <a:r>
              <a:rPr lang="zh-CN" altLang="en-US" dirty="0"/>
              <a:t>其它中断类型</a:t>
            </a:r>
            <a:endParaRPr lang="zh-CN" altLang="en-US" dirty="0"/>
          </a:p>
        </p:txBody>
      </p:sp>
      <p:sp>
        <p:nvSpPr>
          <p:cNvPr id="3" name="灯片编号占位符 2"/>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4" name="内容占位符 3"/>
          <p:cNvSpPr>
            <a:spLocks noGrp="1"/>
          </p:cNvSpPr>
          <p:nvPr>
            <p:ph idx="1"/>
          </p:nvPr>
        </p:nvSpPr>
        <p:spPr>
          <a:xfrm>
            <a:off x="509492" y="1804094"/>
            <a:ext cx="10872185" cy="4444306"/>
          </a:xfrm>
        </p:spPr>
        <p:txBody>
          <a:bodyPr>
            <a:noAutofit/>
          </a:bodyPr>
          <a:lstStyle/>
          <a:p>
            <a:pPr marL="0" indent="0">
              <a:buNone/>
            </a:pPr>
            <a:r>
              <a:rPr lang="zh-CN" altLang="en-US" sz="2800" dirty="0"/>
              <a:t>除了类型</a:t>
            </a:r>
            <a:r>
              <a:rPr lang="en-US" altLang="zh-CN" sz="2800" dirty="0"/>
              <a:t>2</a:t>
            </a:r>
            <a:r>
              <a:rPr lang="zh-CN" altLang="en-US" sz="2800" dirty="0"/>
              <a:t>，以上中断类型都在微处理器内部产生，属于内部中断。中断类型</a:t>
            </a:r>
            <a:r>
              <a:rPr lang="en-US" altLang="zh-CN" sz="2800" dirty="0"/>
              <a:t>5~31</a:t>
            </a:r>
            <a:r>
              <a:rPr lang="zh-CN" altLang="en-US" sz="2800" dirty="0"/>
              <a:t>是</a:t>
            </a:r>
            <a:r>
              <a:rPr lang="en-US" altLang="zh-CN" sz="2800" dirty="0"/>
              <a:t>Intel</a:t>
            </a:r>
            <a:r>
              <a:rPr lang="zh-CN" altLang="en-US" sz="2800" dirty="0"/>
              <a:t>为微处理器后继发展而保留的微处理器专用中断类型，也属于内部中断。</a:t>
            </a:r>
            <a:endParaRPr lang="zh-CN" altLang="en-US" sz="2800" dirty="0"/>
          </a:p>
          <a:p>
            <a:pPr marL="0" indent="0">
              <a:buNone/>
            </a:pPr>
            <a:r>
              <a:rPr lang="zh-CN" altLang="en-US" sz="2800" dirty="0"/>
              <a:t>从类型</a:t>
            </a:r>
            <a:r>
              <a:rPr lang="en-US" altLang="zh-CN" sz="2800" dirty="0"/>
              <a:t>32</a:t>
            </a:r>
            <a:r>
              <a:rPr lang="zh-CN" altLang="en-US" sz="2800" dirty="0"/>
              <a:t>开始直到</a:t>
            </a:r>
            <a:r>
              <a:rPr lang="en-US" altLang="zh-CN" sz="2800" dirty="0"/>
              <a:t>255</a:t>
            </a:r>
            <a:r>
              <a:rPr lang="zh-CN" altLang="en-US" sz="2800" dirty="0"/>
              <a:t>作为用户中断类型，这其中既包括由中断指令</a:t>
            </a:r>
            <a:r>
              <a:rPr lang="en-US" altLang="zh-CN" sz="2800" dirty="0"/>
              <a:t>INT n</a:t>
            </a:r>
            <a:r>
              <a:rPr lang="zh-CN" altLang="en-US" sz="2800" dirty="0"/>
              <a:t>产生的内部中断，如</a:t>
            </a:r>
            <a:r>
              <a:rPr lang="en-US" altLang="zh-CN" sz="2800" dirty="0"/>
              <a:t>INT 20H</a:t>
            </a:r>
            <a:r>
              <a:rPr lang="zh-CN" altLang="en-US" sz="2800" dirty="0"/>
              <a:t>、</a:t>
            </a:r>
            <a:r>
              <a:rPr lang="en-US" altLang="zh-CN" sz="2800" dirty="0"/>
              <a:t>INT 21H</a:t>
            </a:r>
            <a:r>
              <a:rPr lang="zh-CN" altLang="en-US" sz="2800" dirty="0"/>
              <a:t>；也包括由</a:t>
            </a:r>
            <a:r>
              <a:rPr lang="en-US" altLang="zh-CN" sz="2800" dirty="0"/>
              <a:t>INTR</a:t>
            </a:r>
            <a:r>
              <a:rPr lang="zh-CN" altLang="en-US" sz="2800" dirty="0"/>
              <a:t>引脚电平引起的硬件中断。硬件中断属于外部中断。</a:t>
            </a:r>
            <a:endParaRPr lang="zh-CN" altLang="en-US" sz="2800" dirty="0"/>
          </a:p>
          <a:p>
            <a:pPr marL="0" indent="0">
              <a:buNone/>
            </a:pPr>
            <a:r>
              <a:rPr lang="zh-CN" altLang="en-US" sz="2800" dirty="0"/>
              <a:t>内部中断的中断向量码或者由指令指出，或者由微处理器直接给出。</a:t>
            </a:r>
            <a:endParaRPr lang="zh-CN" altLang="en-US" sz="2800" dirty="0"/>
          </a:p>
          <a:p>
            <a:pPr marL="0" indent="0">
              <a:buNone/>
            </a:pPr>
            <a:r>
              <a:rPr lang="zh-CN" altLang="en-US" sz="2800" dirty="0"/>
              <a:t>外部中断的中断向量码，</a:t>
            </a:r>
            <a:r>
              <a:rPr lang="en-US" altLang="zh-CN" sz="2800" dirty="0"/>
              <a:t>CPU</a:t>
            </a:r>
            <a:r>
              <a:rPr lang="zh-CN" altLang="en-US" sz="2800" dirty="0"/>
              <a:t>通过中断响应总线周期从中断控制器获得。中断类型</a:t>
            </a:r>
            <a:r>
              <a:rPr lang="en-US" altLang="zh-CN" sz="2800" dirty="0"/>
              <a:t>2</a:t>
            </a:r>
            <a:r>
              <a:rPr lang="zh-CN" altLang="en-US" sz="2800" dirty="0"/>
              <a:t>属于外部中断，但是它的中断向量码由微处理器直接给出。</a:t>
            </a:r>
            <a:endParaRPr lang="zh-CN" altLang="en-US" sz="2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3661317" cy="1295400"/>
          </a:xfrm>
        </p:spPr>
        <p:txBody>
          <a:bodyPr/>
          <a:lstStyle/>
          <a:p>
            <a:r>
              <a:rPr lang="en-US" altLang="zh-CN" dirty="0"/>
              <a:t>8086/8088</a:t>
            </a:r>
            <a:r>
              <a:rPr lang="zh-CN" altLang="en-US" dirty="0"/>
              <a:t>中断处理顺序流程图</a:t>
            </a:r>
            <a:endParaRPr lang="zh-CN" altLang="en-US" dirty="0"/>
          </a:p>
        </p:txBody>
      </p:sp>
      <p:sp>
        <p:nvSpPr>
          <p:cNvPr id="3" name="灯片编号占位符 2"/>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pic>
        <p:nvPicPr>
          <p:cNvPr id="5"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82791" y="-9270"/>
            <a:ext cx="4594302" cy="670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中断服务程序的设计</a:t>
            </a:r>
            <a:endParaRPr lang="zh-CN" altLang="en-US" dirty="0"/>
          </a:p>
        </p:txBody>
      </p:sp>
      <p:sp>
        <p:nvSpPr>
          <p:cNvPr id="3" name="灯片编号占位符 2"/>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4" name="内容占位符 3"/>
          <p:cNvSpPr>
            <a:spLocks noGrp="1"/>
          </p:cNvSpPr>
          <p:nvPr>
            <p:ph idx="1"/>
          </p:nvPr>
        </p:nvSpPr>
        <p:spPr/>
        <p:txBody>
          <a:bodyPr/>
          <a:lstStyle/>
          <a:p>
            <a:pPr>
              <a:buFont typeface="Wingdings" panose="05000000000000000000" pitchFamily="2" charset="2"/>
              <a:buChar char="u"/>
            </a:pPr>
            <a:r>
              <a:rPr lang="zh-CN" altLang="en-US" dirty="0"/>
              <a:t>中断服务程序的一般结构</a:t>
            </a:r>
            <a:endParaRPr lang="zh-CN" altLang="en-US" dirty="0"/>
          </a:p>
          <a:p>
            <a:pPr>
              <a:buFont typeface="Wingdings" panose="05000000000000000000" pitchFamily="2" charset="2"/>
              <a:buChar char="u"/>
            </a:pPr>
            <a:r>
              <a:rPr lang="zh-CN" altLang="en-US" dirty="0"/>
              <a:t></a:t>
            </a:r>
            <a:r>
              <a:rPr lang="en-US" altLang="zh-CN" dirty="0"/>
              <a:t>INTPROC PUSH XX</a:t>
            </a:r>
            <a:endParaRPr lang="en-US" altLang="zh-CN" dirty="0"/>
          </a:p>
          <a:p>
            <a:pPr marL="0" indent="0">
              <a:buNone/>
            </a:pPr>
            <a:r>
              <a:rPr lang="en-US" altLang="zh-CN" dirty="0"/>
              <a:t>    PUSH YY </a:t>
            </a:r>
            <a:r>
              <a:rPr lang="zh-CN" altLang="en-US" dirty="0"/>
              <a:t>；保存现场</a:t>
            </a:r>
            <a:endParaRPr lang="zh-CN" altLang="en-US" dirty="0"/>
          </a:p>
          <a:p>
            <a:pPr marL="0" indent="0">
              <a:buNone/>
            </a:pPr>
            <a:r>
              <a:rPr lang="en-US" altLang="zh-CN" dirty="0"/>
              <a:t>    STI </a:t>
            </a:r>
            <a:r>
              <a:rPr lang="zh-CN" altLang="en-US" dirty="0"/>
              <a:t>；若允许中断嵌套，开中断</a:t>
            </a:r>
            <a:endParaRPr lang="zh-CN" altLang="en-US" dirty="0"/>
          </a:p>
          <a:p>
            <a:pPr marL="0" indent="0">
              <a:buNone/>
            </a:pPr>
            <a:r>
              <a:rPr lang="en-US" altLang="zh-CN" dirty="0"/>
              <a:t>    …</a:t>
            </a:r>
            <a:r>
              <a:rPr lang="zh-CN" altLang="en-US" dirty="0"/>
              <a:t>；中断服务程序的主体</a:t>
            </a:r>
            <a:endParaRPr lang="zh-CN" altLang="en-US" dirty="0"/>
          </a:p>
          <a:p>
            <a:pPr marL="0" indent="0">
              <a:buNone/>
            </a:pPr>
            <a:r>
              <a:rPr lang="en-US" altLang="zh-CN" dirty="0"/>
              <a:t>    POP YY</a:t>
            </a:r>
            <a:endParaRPr lang="en-US" altLang="zh-CN" dirty="0"/>
          </a:p>
          <a:p>
            <a:pPr marL="0" indent="0">
              <a:buNone/>
            </a:pPr>
            <a:r>
              <a:rPr lang="en-US" altLang="zh-CN" dirty="0"/>
              <a:t>    POP XX </a:t>
            </a:r>
            <a:r>
              <a:rPr lang="zh-CN" altLang="en-US" dirty="0"/>
              <a:t>；恢复现场</a:t>
            </a:r>
            <a:endParaRPr lang="zh-CN" altLang="en-US" dirty="0"/>
          </a:p>
          <a:p>
            <a:pPr marL="0" indent="0">
              <a:buNone/>
            </a:pPr>
            <a:r>
              <a:rPr lang="en-US" altLang="zh-CN" dirty="0"/>
              <a:t>    IRET</a:t>
            </a:r>
            <a:endParaRPr lang="zh-CN" alt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中断向量的设置</a:t>
            </a:r>
            <a:endParaRPr lang="zh-CN" altLang="en-US" dirty="0"/>
          </a:p>
        </p:txBody>
      </p:sp>
      <p:sp>
        <p:nvSpPr>
          <p:cNvPr id="3" name="灯片编号占位符 2"/>
          <p:cNvSpPr>
            <a:spLocks noGrp="1"/>
          </p:cNvSpPr>
          <p:nvPr>
            <p:ph type="sldNum" sz="quarter" idx="12"/>
          </p:nvPr>
        </p:nvSpPr>
        <p:spPr/>
        <p:txBody>
          <a:bodyPr/>
          <a:lstStyle/>
          <a:p>
            <a:pPr>
              <a:defRPr/>
            </a:pPr>
            <a:fld id="{FA3B0ADD-A917-4F87-B2CA-1EB4674E2223}" type="slidenum">
              <a:rPr lang="en-US" altLang="zh-CN" smtClean="0"/>
            </a:fld>
            <a:endParaRPr lang="en-US" altLang="zh-CN" dirty="0"/>
          </a:p>
        </p:txBody>
      </p:sp>
      <p:sp>
        <p:nvSpPr>
          <p:cNvPr id="4" name="内容占位符 3"/>
          <p:cNvSpPr>
            <a:spLocks noGrp="1"/>
          </p:cNvSpPr>
          <p:nvPr>
            <p:ph idx="1"/>
          </p:nvPr>
        </p:nvSpPr>
        <p:spPr/>
        <p:txBody>
          <a:bodyPr/>
          <a:lstStyle/>
          <a:p>
            <a:pPr>
              <a:buFont typeface="Wingdings" panose="05000000000000000000" pitchFamily="2" charset="2"/>
              <a:buChar char="u"/>
            </a:pPr>
            <a:r>
              <a:rPr lang="zh-CN" altLang="en-US" dirty="0"/>
              <a:t>采用中断操作方式，除了正确编写中断服务程序外，还有另外一件非常重要的操作就是要把中断服务程序的入口地址（中断向量）置入中断向量表的相应表项中，即中断向量的设置。</a:t>
            </a:r>
            <a:endParaRPr lang="zh-CN" altLang="en-US" dirty="0"/>
          </a:p>
          <a:p>
            <a:pPr>
              <a:buFont typeface="Wingdings" panose="05000000000000000000" pitchFamily="2" charset="2"/>
              <a:buChar char="u"/>
            </a:pPr>
            <a:r>
              <a:rPr lang="zh-CN" altLang="en-US" dirty="0"/>
              <a:t>对于由用户开发的中断服务程序，其中断向量则应当由用户程序（通常是在主程序中）进行设置。通常有两种设置方法：</a:t>
            </a:r>
            <a:endParaRPr lang="zh-CN" altLang="en-US" dirty="0"/>
          </a:p>
          <a:p>
            <a:pPr marL="0" indent="0">
              <a:buNone/>
            </a:pPr>
            <a:r>
              <a:rPr lang="zh-CN" altLang="en-US" dirty="0"/>
              <a:t>     </a:t>
            </a:r>
            <a:r>
              <a:rPr lang="en-US" altLang="zh-CN" dirty="0"/>
              <a:t>	</a:t>
            </a:r>
            <a:r>
              <a:rPr lang="en-US" altLang="zh-CN" dirty="0">
                <a:latin typeface="等线" panose="02010600030101010101" charset="-122"/>
                <a:ea typeface="等线" panose="02010600030101010101" charset="-122"/>
              </a:rPr>
              <a:t>•</a:t>
            </a:r>
            <a:r>
              <a:rPr lang="zh-CN" altLang="en-US" dirty="0">
                <a:solidFill>
                  <a:srgbClr val="FF0000"/>
                </a:solidFill>
              </a:rPr>
              <a:t>用</a:t>
            </a:r>
            <a:r>
              <a:rPr lang="en-US" altLang="zh-CN" dirty="0">
                <a:solidFill>
                  <a:srgbClr val="FF0000"/>
                </a:solidFill>
              </a:rPr>
              <a:t>MOV</a:t>
            </a:r>
            <a:r>
              <a:rPr lang="zh-CN" altLang="en-US" dirty="0">
                <a:solidFill>
                  <a:srgbClr val="FF0000"/>
                </a:solidFill>
              </a:rPr>
              <a:t>指令直接设置</a:t>
            </a:r>
            <a:endParaRPr lang="zh-CN" altLang="en-US" dirty="0">
              <a:solidFill>
                <a:srgbClr val="FF0000"/>
              </a:solidFill>
            </a:endParaRPr>
          </a:p>
          <a:p>
            <a:pPr marL="0" indent="0">
              <a:buNone/>
            </a:pPr>
            <a:r>
              <a:rPr lang="zh-CN" altLang="en-US" dirty="0"/>
              <a:t>     </a:t>
            </a:r>
            <a:r>
              <a:rPr lang="en-US" altLang="zh-CN" dirty="0"/>
              <a:t>	</a:t>
            </a:r>
            <a:r>
              <a:rPr lang="en-US" altLang="zh-CN" dirty="0">
                <a:latin typeface="等线" panose="02010600030101010101" charset="-122"/>
                <a:ea typeface="等线" panose="02010600030101010101" charset="-122"/>
              </a:rPr>
              <a:t>•</a:t>
            </a:r>
            <a:r>
              <a:rPr lang="zh-CN" altLang="en-US" dirty="0">
                <a:solidFill>
                  <a:srgbClr val="FF0000"/>
                </a:solidFill>
              </a:rPr>
              <a:t>利用</a:t>
            </a:r>
            <a:r>
              <a:rPr lang="en-US" altLang="zh-CN" dirty="0">
                <a:solidFill>
                  <a:srgbClr val="FF0000"/>
                </a:solidFill>
              </a:rPr>
              <a:t>DOS</a:t>
            </a:r>
            <a:r>
              <a:rPr lang="zh-CN" altLang="en-US" dirty="0">
                <a:solidFill>
                  <a:srgbClr val="FF0000"/>
                </a:solidFill>
              </a:rPr>
              <a:t>功能调用设置</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a:t>
            </a:r>
            <a:r>
              <a:rPr lang="en-US" altLang="zh-CN" dirty="0"/>
              <a:t>MOV</a:t>
            </a:r>
            <a:r>
              <a:rPr lang="zh-CN" altLang="en-US" dirty="0"/>
              <a:t>指令直接设置</a:t>
            </a:r>
            <a:endParaRPr lang="zh-CN" altLang="en-US" dirty="0"/>
          </a:p>
        </p:txBody>
      </p:sp>
      <p:sp>
        <p:nvSpPr>
          <p:cNvPr id="3" name="内容占位符 2"/>
          <p:cNvSpPr>
            <a:spLocks noGrp="1"/>
          </p:cNvSpPr>
          <p:nvPr>
            <p:ph idx="1"/>
          </p:nvPr>
        </p:nvSpPr>
        <p:spPr/>
        <p:txBody>
          <a:bodyPr/>
          <a:lstStyle/>
          <a:p>
            <a:r>
              <a:rPr lang="zh-CN" altLang="en-US" dirty="0"/>
              <a:t>用</a:t>
            </a:r>
            <a:r>
              <a:rPr lang="en-US" altLang="zh-CN" dirty="0"/>
              <a:t>MOV</a:t>
            </a:r>
            <a:r>
              <a:rPr lang="zh-CN" altLang="en-US" dirty="0"/>
              <a:t>指令直接将中断服务程序入口地址的偏移量存放到物理地址为</a:t>
            </a:r>
            <a:r>
              <a:rPr lang="en-US" altLang="zh-CN" dirty="0"/>
              <a:t>4n</a:t>
            </a:r>
            <a:r>
              <a:rPr lang="zh-CN" altLang="en-US" dirty="0"/>
              <a:t>（</a:t>
            </a:r>
            <a:r>
              <a:rPr lang="en-US" altLang="zh-CN" dirty="0"/>
              <a:t>n</a:t>
            </a:r>
            <a:r>
              <a:rPr lang="zh-CN" altLang="en-US" dirty="0"/>
              <a:t>为中断类型码）的字单元之中，将中断服务程序入口地址的段基值存放到物理地址为</a:t>
            </a:r>
            <a:r>
              <a:rPr lang="en-US" altLang="zh-CN" dirty="0"/>
              <a:t>4n+2</a:t>
            </a:r>
            <a:r>
              <a:rPr lang="zh-CN" altLang="en-US" dirty="0"/>
              <a:t>的字单元中。</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FFCF43AE-F8FD-49EE-9553-888B016E31A5}" type="datetime1">
              <a:rPr kumimoji="0" lang="zh-CN" altLang="en-US" sz="1000" b="0" i="0" u="none" strike="noStrike" kern="1200" cap="none" spc="0" normalizeH="0" baseline="0" noProof="0" smtClean="0">
                <a:ln>
                  <a:noFill/>
                </a:ln>
                <a:solidFill>
                  <a:prstClr val="black"/>
                </a:solidFill>
                <a:effectLst/>
                <a:uLnTx/>
                <a:uFillTx/>
                <a:latin typeface="Arial" panose="020B0604020202020204"/>
                <a:ea typeface="宋体" panose="02010600030101010101" pitchFamily="2" charset="-122"/>
                <a:cs typeface="+mn-cs"/>
              </a:rPr>
            </a:fld>
            <a:endParaRPr kumimoji="0" lang="en-US" altLang="zh-CN" sz="1000" b="0" i="0" u="none" strike="noStrike" kern="1200" cap="none" spc="0" normalizeH="0" baseline="0" noProof="0">
              <a:ln>
                <a:noFill/>
              </a:ln>
              <a:solidFill>
                <a:prstClr val="black"/>
              </a:solidFill>
              <a:effectLst/>
              <a:uLnTx/>
              <a:uFillTx/>
              <a:latin typeface="Arial" panose="020B0604020202020204"/>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F4C0CD6-327D-499A-9754-0F1E4D84582B}" type="slidenum">
              <a:rPr kumimoji="0" lang="en-US" altLang="zh-CN" sz="1000" b="0" i="0" u="none" strike="noStrike" kern="1200" cap="none" spc="0" normalizeH="0" baseline="0" noProof="0" smtClean="0">
                <a:ln>
                  <a:noFill/>
                </a:ln>
                <a:solidFill>
                  <a:prstClr val="black"/>
                </a:solidFill>
                <a:effectLst/>
                <a:uLnTx/>
                <a:uFillTx/>
                <a:latin typeface="Arial" panose="020B0604020202020204"/>
                <a:ea typeface="宋体" panose="02010600030101010101" pitchFamily="2" charset="-122"/>
                <a:cs typeface="+mn-cs"/>
              </a:rPr>
            </a:fld>
            <a:endParaRPr kumimoji="0" lang="en-US" altLang="zh-CN" sz="1000" b="0" i="0" u="none" strike="noStrike" kern="1200" cap="none" spc="0" normalizeH="0" baseline="0" noProof="0" dirty="0">
              <a:ln>
                <a:noFill/>
              </a:ln>
              <a:solidFill>
                <a:prstClr val="black"/>
              </a:solidFill>
              <a:effectLst/>
              <a:uLnTx/>
              <a:uFillTx/>
              <a:latin typeface="Arial" panose="020B0604020202020204"/>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a:t>
            </a:r>
            <a:r>
              <a:rPr lang="en-US" altLang="zh-CN" dirty="0"/>
              <a:t>MOV</a:t>
            </a:r>
            <a:r>
              <a:rPr lang="zh-CN" altLang="en-US" dirty="0"/>
              <a:t>指令直接设置</a:t>
            </a:r>
            <a:endParaRPr lang="zh-CN" altLang="en-US" dirty="0"/>
          </a:p>
        </p:txBody>
      </p:sp>
      <p:sp>
        <p:nvSpPr>
          <p:cNvPr id="3" name="内容占位符 2"/>
          <p:cNvSpPr>
            <a:spLocks noGrp="1"/>
          </p:cNvSpPr>
          <p:nvPr>
            <p:ph idx="1"/>
          </p:nvPr>
        </p:nvSpPr>
        <p:spPr/>
        <p:txBody>
          <a:bodyPr/>
          <a:lstStyle/>
          <a:p>
            <a:r>
              <a:rPr lang="zh-CN" altLang="en-US" dirty="0"/>
              <a:t>设中断服务程序的过程名为</a:t>
            </a:r>
            <a:r>
              <a:rPr lang="en-US" altLang="zh-CN" dirty="0"/>
              <a:t>INTPROC</a:t>
            </a:r>
            <a:endParaRPr lang="en-US" altLang="zh-CN" dirty="0"/>
          </a:p>
          <a:p>
            <a:pPr marL="0" indent="0">
              <a:buNone/>
            </a:pPr>
            <a:r>
              <a:rPr lang="en-US" altLang="zh-CN" dirty="0"/>
              <a:t>   MOV AX</a:t>
            </a:r>
            <a:r>
              <a:rPr lang="zh-CN" altLang="en-US" dirty="0"/>
              <a:t>，</a:t>
            </a:r>
            <a:r>
              <a:rPr lang="en-US" altLang="zh-CN" dirty="0"/>
              <a:t>0</a:t>
            </a:r>
            <a:endParaRPr lang="en-US" altLang="zh-CN" dirty="0"/>
          </a:p>
          <a:p>
            <a:pPr marL="0" indent="0">
              <a:buNone/>
            </a:pPr>
            <a:r>
              <a:rPr lang="en-US" altLang="zh-CN" dirty="0"/>
              <a:t>   MOV ES</a:t>
            </a:r>
            <a:r>
              <a:rPr lang="zh-CN" altLang="en-US" dirty="0"/>
              <a:t>，</a:t>
            </a:r>
            <a:r>
              <a:rPr lang="en-US" altLang="zh-CN" dirty="0"/>
              <a:t>AX</a:t>
            </a:r>
            <a:endParaRPr lang="en-US" altLang="zh-CN" dirty="0"/>
          </a:p>
          <a:p>
            <a:pPr marL="0" indent="0">
              <a:buNone/>
            </a:pPr>
            <a:r>
              <a:rPr lang="en-US" altLang="zh-CN" dirty="0"/>
              <a:t>   MOV BX</a:t>
            </a:r>
            <a:r>
              <a:rPr lang="zh-CN" altLang="en-US" dirty="0"/>
              <a:t>，</a:t>
            </a:r>
            <a:r>
              <a:rPr lang="en-US" altLang="zh-CN" dirty="0"/>
              <a:t>n*4</a:t>
            </a:r>
            <a:r>
              <a:rPr lang="zh-CN" altLang="en-US" dirty="0"/>
              <a:t>；</a:t>
            </a:r>
            <a:endParaRPr lang="zh-CN" altLang="en-US" dirty="0"/>
          </a:p>
          <a:p>
            <a:pPr marL="0" indent="0">
              <a:buNone/>
            </a:pPr>
            <a:r>
              <a:rPr lang="en-US" altLang="zh-CN" dirty="0"/>
              <a:t>   MOV AX</a:t>
            </a:r>
            <a:r>
              <a:rPr lang="zh-CN" altLang="en-US" dirty="0"/>
              <a:t>，</a:t>
            </a:r>
            <a:r>
              <a:rPr lang="en-US" altLang="zh-CN" dirty="0"/>
              <a:t>OFFSET INTPROC </a:t>
            </a:r>
            <a:r>
              <a:rPr lang="zh-CN" altLang="en-US" dirty="0"/>
              <a:t>；取入口地址偏移量</a:t>
            </a:r>
            <a:endParaRPr lang="zh-CN" altLang="en-US" dirty="0"/>
          </a:p>
          <a:p>
            <a:pPr marL="0" indent="0">
              <a:buNone/>
            </a:pPr>
            <a:r>
              <a:rPr lang="en-US" altLang="zh-CN" dirty="0"/>
              <a:t>   MOV ES:WORD PTR[BX]</a:t>
            </a:r>
            <a:r>
              <a:rPr lang="zh-CN" altLang="en-US" dirty="0"/>
              <a:t>，</a:t>
            </a:r>
            <a:r>
              <a:rPr lang="en-US" altLang="zh-CN" dirty="0"/>
              <a:t>AX </a:t>
            </a:r>
            <a:r>
              <a:rPr lang="zh-CN" altLang="en-US" dirty="0"/>
              <a:t>；置偏移量到</a:t>
            </a:r>
            <a:r>
              <a:rPr lang="en-US" altLang="zh-CN" dirty="0"/>
              <a:t>n*4</a:t>
            </a:r>
            <a:r>
              <a:rPr lang="zh-CN" altLang="en-US" dirty="0"/>
              <a:t>字单元</a:t>
            </a:r>
            <a:endParaRPr lang="zh-CN" altLang="en-US" dirty="0"/>
          </a:p>
          <a:p>
            <a:pPr marL="0" indent="0">
              <a:buNone/>
            </a:pPr>
            <a:r>
              <a:rPr lang="en-US" altLang="zh-CN" dirty="0"/>
              <a:t>   MOV </a:t>
            </a:r>
            <a:r>
              <a:rPr lang="en-US" altLang="zh-CN" dirty="0" smtClean="0"/>
              <a:t>AX</a:t>
            </a:r>
            <a:r>
              <a:rPr lang="zh-CN" altLang="en-US" dirty="0" smtClean="0"/>
              <a:t>，</a:t>
            </a:r>
            <a:r>
              <a:rPr lang="en-US" altLang="zh-CN" dirty="0" smtClean="0"/>
              <a:t>SEG </a:t>
            </a:r>
            <a:r>
              <a:rPr lang="en-US" altLang="zh-CN" dirty="0"/>
              <a:t>INTPROC </a:t>
            </a:r>
            <a:r>
              <a:rPr lang="zh-CN" altLang="en-US" dirty="0"/>
              <a:t>；取入口地址段基值</a:t>
            </a:r>
            <a:endParaRPr lang="zh-CN" altLang="en-US" dirty="0"/>
          </a:p>
          <a:p>
            <a:pPr marL="0" indent="0">
              <a:buNone/>
            </a:pPr>
            <a:r>
              <a:rPr lang="en-US" altLang="zh-CN" dirty="0"/>
              <a:t>   MOV ES: WORD PTR[BX+2]</a:t>
            </a:r>
            <a:r>
              <a:rPr lang="zh-CN" altLang="en-US" dirty="0"/>
              <a:t>，</a:t>
            </a:r>
            <a:r>
              <a:rPr lang="en-US" altLang="zh-CN" dirty="0"/>
              <a:t>AX</a:t>
            </a:r>
            <a:r>
              <a:rPr lang="zh-CN" altLang="en-US" dirty="0"/>
              <a:t>；置段基值到</a:t>
            </a:r>
            <a:r>
              <a:rPr lang="en-US" altLang="zh-CN" dirty="0"/>
              <a:t>n*4+2</a:t>
            </a:r>
            <a:r>
              <a:rPr lang="zh-CN" altLang="en-US" dirty="0"/>
              <a:t>字单元</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
        <p:nvSpPr>
          <p:cNvPr id="6" name="文本框 5"/>
          <p:cNvSpPr txBox="1"/>
          <p:nvPr/>
        </p:nvSpPr>
        <p:spPr>
          <a:xfrm>
            <a:off x="11428730" y="7308850"/>
            <a:ext cx="4064000" cy="368300"/>
          </a:xfrm>
          <a:prstGeom prst="rect">
            <a:avLst/>
          </a:prstGeom>
          <a:noFill/>
        </p:spPr>
        <p:txBody>
          <a:bodyPr wrap="square" rtlCol="0">
            <a:spAutoFit/>
          </a:bodyPr>
          <a:p>
            <a:endParaRPr lang="zh-CN" alt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利用</a:t>
            </a:r>
            <a:r>
              <a:rPr lang="en-US" altLang="zh-CN" dirty="0"/>
              <a:t>DOS</a:t>
            </a:r>
            <a:r>
              <a:rPr lang="zh-CN" altLang="en-US" dirty="0"/>
              <a:t>功能调用设置</a:t>
            </a:r>
            <a:endParaRPr lang="zh-CN" altLang="en-US" dirty="0"/>
          </a:p>
        </p:txBody>
      </p:sp>
      <p:sp>
        <p:nvSpPr>
          <p:cNvPr id="3" name="内容占位符 2"/>
          <p:cNvSpPr>
            <a:spLocks noGrp="1"/>
          </p:cNvSpPr>
          <p:nvPr>
            <p:ph idx="1"/>
          </p:nvPr>
        </p:nvSpPr>
        <p:spPr/>
        <p:txBody>
          <a:bodyPr/>
          <a:lstStyle/>
          <a:p>
            <a:r>
              <a:rPr lang="en-US" altLang="zh-CN" dirty="0"/>
              <a:t>DOS</a:t>
            </a:r>
            <a:r>
              <a:rPr lang="zh-CN" altLang="en-US" dirty="0"/>
              <a:t>功能调用</a:t>
            </a:r>
            <a:r>
              <a:rPr lang="en-US" altLang="zh-CN" dirty="0"/>
              <a:t>(INT 2IH)</a:t>
            </a:r>
            <a:r>
              <a:rPr lang="zh-CN" altLang="en-US" dirty="0"/>
              <a:t>专门提供了在中断向量表中设置中断向量的手段，功能号是</a:t>
            </a:r>
            <a:r>
              <a:rPr lang="en-US" altLang="zh-CN" dirty="0"/>
              <a:t>25H</a:t>
            </a:r>
            <a:r>
              <a:rPr lang="zh-CN" altLang="en-US" dirty="0"/>
              <a:t>。</a:t>
            </a:r>
            <a:endParaRPr lang="zh-CN" altLang="en-US" dirty="0"/>
          </a:p>
          <a:p>
            <a:r>
              <a:rPr lang="zh-CN" altLang="en-US" dirty="0"/>
              <a:t>其基本使用方法为：</a:t>
            </a:r>
            <a:endParaRPr lang="zh-CN" altLang="en-US" dirty="0"/>
          </a:p>
          <a:p>
            <a:pPr marL="0" indent="0">
              <a:buNone/>
            </a:pPr>
            <a:r>
              <a:rPr lang="zh-CN" altLang="en-US" dirty="0"/>
              <a:t>       预置功能号：</a:t>
            </a:r>
            <a:r>
              <a:rPr lang="en-US" altLang="zh-CN" dirty="0"/>
              <a:t>AH =25H</a:t>
            </a:r>
            <a:endParaRPr lang="en-US" altLang="zh-CN" dirty="0"/>
          </a:p>
          <a:p>
            <a:pPr marL="0" indent="0">
              <a:buNone/>
            </a:pPr>
            <a:r>
              <a:rPr lang="zh-CN" altLang="en-US" dirty="0"/>
              <a:t>            入口参数：</a:t>
            </a:r>
            <a:r>
              <a:rPr lang="en-US" altLang="zh-CN" dirty="0"/>
              <a:t>DS</a:t>
            </a:r>
            <a:r>
              <a:rPr lang="zh-CN" altLang="en-US" dirty="0"/>
              <a:t>：</a:t>
            </a:r>
            <a:r>
              <a:rPr lang="en-US" altLang="zh-CN" dirty="0"/>
              <a:t>DX=</a:t>
            </a:r>
            <a:r>
              <a:rPr lang="zh-CN" altLang="en-US" dirty="0"/>
              <a:t>中断向量</a:t>
            </a:r>
            <a:endParaRPr lang="zh-CN" altLang="en-US" dirty="0"/>
          </a:p>
          <a:p>
            <a:pPr marL="0" indent="0">
              <a:buNone/>
            </a:pPr>
            <a:r>
              <a:rPr lang="en-US" altLang="zh-CN" dirty="0"/>
              <a:t>                                      AL=</a:t>
            </a:r>
            <a:r>
              <a:rPr lang="zh-CN" altLang="en-US" dirty="0"/>
              <a:t>中断类型号</a:t>
            </a:r>
            <a:endParaRPr lang="zh-CN" altLang="en-US" dirty="0"/>
          </a:p>
          <a:p>
            <a:pPr marL="0" indent="0">
              <a:buNone/>
            </a:pPr>
            <a:r>
              <a:rPr lang="zh-CN" altLang="en-US" dirty="0"/>
              <a:t>            执行调用：</a:t>
            </a:r>
            <a:r>
              <a:rPr lang="en-US" altLang="zh-CN" dirty="0"/>
              <a:t>INT 21H</a:t>
            </a:r>
            <a:endParaRPr lang="en-US" altLang="zh-CN"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利用</a:t>
            </a:r>
            <a:r>
              <a:rPr lang="en-US" altLang="zh-CN" dirty="0"/>
              <a:t>DOS</a:t>
            </a:r>
            <a:r>
              <a:rPr lang="zh-CN" altLang="en-US" dirty="0"/>
              <a:t>功能调用设置</a:t>
            </a:r>
            <a:endParaRPr lang="zh-CN" altLang="en-US" dirty="0"/>
          </a:p>
        </p:txBody>
      </p:sp>
      <p:sp>
        <p:nvSpPr>
          <p:cNvPr id="3" name="内容占位符 2"/>
          <p:cNvSpPr>
            <a:spLocks noGrp="1"/>
          </p:cNvSpPr>
          <p:nvPr>
            <p:ph idx="1"/>
          </p:nvPr>
        </p:nvSpPr>
        <p:spPr/>
        <p:txBody>
          <a:bodyPr/>
          <a:lstStyle/>
          <a:p>
            <a:r>
              <a:rPr lang="zh-CN" altLang="en-US" dirty="0"/>
              <a:t>设中断服务程序的过程名为</a:t>
            </a:r>
            <a:r>
              <a:rPr lang="en-US" altLang="zh-CN" dirty="0"/>
              <a:t>INTPROC</a:t>
            </a:r>
            <a:endParaRPr lang="en-US" altLang="zh-CN" dirty="0"/>
          </a:p>
          <a:p>
            <a:pPr marL="0" indent="0">
              <a:buNone/>
            </a:pPr>
            <a:r>
              <a:rPr lang="en-US" altLang="zh-CN" dirty="0"/>
              <a:t>    MOV AX</a:t>
            </a:r>
            <a:r>
              <a:rPr lang="zh-CN" altLang="en-US" dirty="0"/>
              <a:t>，</a:t>
            </a:r>
            <a:r>
              <a:rPr lang="en-US" altLang="zh-CN" dirty="0"/>
              <a:t>SEG INTPROC</a:t>
            </a:r>
            <a:endParaRPr lang="en-US" altLang="zh-CN" dirty="0"/>
          </a:p>
          <a:p>
            <a:pPr marL="0" indent="0">
              <a:buNone/>
            </a:pPr>
            <a:r>
              <a:rPr lang="en-US" altLang="zh-CN" dirty="0"/>
              <a:t>    MOV DS</a:t>
            </a:r>
            <a:r>
              <a:rPr lang="zh-CN" altLang="en-US" dirty="0"/>
              <a:t>，</a:t>
            </a:r>
            <a:r>
              <a:rPr lang="en-US" altLang="zh-CN" dirty="0"/>
              <a:t>AX </a:t>
            </a:r>
            <a:r>
              <a:rPr lang="zh-CN" altLang="en-US" dirty="0"/>
              <a:t>；将入口地址的段基值预置于</a:t>
            </a:r>
            <a:r>
              <a:rPr lang="en-US" altLang="zh-CN" dirty="0"/>
              <a:t>DS</a:t>
            </a:r>
            <a:endParaRPr lang="en-US" altLang="zh-CN" dirty="0"/>
          </a:p>
          <a:p>
            <a:pPr marL="0" indent="0">
              <a:buNone/>
            </a:pPr>
            <a:r>
              <a:rPr lang="en-US" altLang="zh-CN" dirty="0"/>
              <a:t>    MOV DX</a:t>
            </a:r>
            <a:r>
              <a:rPr lang="zh-CN" altLang="en-US" dirty="0"/>
              <a:t>，    </a:t>
            </a:r>
            <a:r>
              <a:rPr lang="en-US" altLang="zh-CN" dirty="0"/>
              <a:t>OFFSET INTPROC</a:t>
            </a:r>
            <a:endParaRPr lang="en-US" altLang="zh-CN" dirty="0"/>
          </a:p>
          <a:p>
            <a:pPr marL="0" indent="0">
              <a:buNone/>
            </a:pPr>
            <a:r>
              <a:rPr lang="zh-CN" altLang="en-US" dirty="0"/>
              <a:t>                              ；将入口地址的偏移量预置于</a:t>
            </a:r>
            <a:r>
              <a:rPr lang="en-US" altLang="zh-CN" dirty="0"/>
              <a:t>DX</a:t>
            </a:r>
            <a:endParaRPr lang="en-US" altLang="zh-CN" dirty="0"/>
          </a:p>
          <a:p>
            <a:pPr marL="0" indent="0">
              <a:buNone/>
            </a:pPr>
            <a:r>
              <a:rPr lang="en-US" altLang="zh-CN" dirty="0"/>
              <a:t>    MOV AL</a:t>
            </a:r>
            <a:r>
              <a:rPr lang="zh-CN" altLang="en-US" dirty="0"/>
              <a:t>，</a:t>
            </a:r>
            <a:r>
              <a:rPr lang="en-US" altLang="zh-CN" dirty="0"/>
              <a:t>n</a:t>
            </a:r>
            <a:r>
              <a:rPr lang="zh-CN" altLang="en-US" dirty="0"/>
              <a:t>；送中断类型码</a:t>
            </a:r>
            <a:r>
              <a:rPr lang="en-US" altLang="zh-CN" dirty="0"/>
              <a:t>n</a:t>
            </a:r>
            <a:endParaRPr lang="en-US" altLang="zh-CN" dirty="0"/>
          </a:p>
          <a:p>
            <a:pPr marL="0" indent="0">
              <a:buNone/>
            </a:pPr>
            <a:r>
              <a:rPr lang="en-US" altLang="zh-CN" dirty="0"/>
              <a:t>    MOV AH</a:t>
            </a:r>
            <a:r>
              <a:rPr lang="zh-CN" altLang="en-US" dirty="0"/>
              <a:t>，</a:t>
            </a:r>
            <a:r>
              <a:rPr lang="en-US" altLang="zh-CN" dirty="0"/>
              <a:t>25H</a:t>
            </a:r>
            <a:endParaRPr lang="en-US" altLang="zh-CN" dirty="0"/>
          </a:p>
          <a:p>
            <a:pPr marL="0" indent="0">
              <a:buNone/>
            </a:pPr>
            <a:r>
              <a:rPr lang="en-US" altLang="zh-CN" dirty="0"/>
              <a:t>    INT 2IH </a:t>
            </a:r>
            <a:r>
              <a:rPr lang="zh-CN" altLang="en-US" dirty="0"/>
              <a:t>；在中断向量表中设置中断向量</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a:t>
            </a:r>
            <a:r>
              <a:rPr lang="en-US" altLang="zh-CN" dirty="0" smtClean="0"/>
              <a:t>.</a:t>
            </a:r>
            <a:r>
              <a:rPr lang="en-US" altLang="zh-CN" dirty="0" smtClean="0"/>
              <a:t>4</a:t>
            </a:r>
            <a:r>
              <a:rPr lang="zh-CN" altLang="en-US" dirty="0" smtClean="0"/>
              <a:t> 中断</a:t>
            </a:r>
            <a:r>
              <a:rPr lang="zh-CN" altLang="en-US" dirty="0"/>
              <a:t>控制器</a:t>
            </a:r>
            <a:r>
              <a:rPr lang="en-US" altLang="zh-CN" dirty="0"/>
              <a:t>8259A</a:t>
            </a:r>
            <a:endParaRPr lang="zh-CN" altLang="en-US" dirty="0"/>
          </a:p>
        </p:txBody>
      </p:sp>
      <p:sp>
        <p:nvSpPr>
          <p:cNvPr id="3" name="内容占位符 2"/>
          <p:cNvSpPr>
            <a:spLocks noGrp="1"/>
          </p:cNvSpPr>
          <p:nvPr>
            <p:ph idx="1"/>
          </p:nvPr>
        </p:nvSpPr>
        <p:spPr/>
        <p:txBody>
          <a:bodyPr/>
          <a:lstStyle/>
          <a:p>
            <a:r>
              <a:rPr lang="en-US" altLang="zh-CN" dirty="0"/>
              <a:t>8259A</a:t>
            </a:r>
            <a:r>
              <a:rPr lang="zh-CN" altLang="en-US" dirty="0"/>
              <a:t>的内部结构及工作方式</a:t>
            </a:r>
            <a:endParaRPr lang="en-US" altLang="zh-CN" dirty="0"/>
          </a:p>
          <a:p>
            <a:r>
              <a:rPr lang="en-US" altLang="zh-CN" dirty="0"/>
              <a:t>8259A</a:t>
            </a:r>
            <a:r>
              <a:rPr lang="zh-CN" altLang="en-US" dirty="0"/>
              <a:t>的编程及应用</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6.4.1 </a:t>
            </a:r>
            <a:r>
              <a:rPr lang="en-US" altLang="zh-CN" dirty="0" smtClean="0"/>
              <a:t>8259A</a:t>
            </a:r>
            <a:r>
              <a:rPr lang="zh-CN" altLang="en-US" dirty="0" smtClean="0"/>
              <a:t>的内部结构及</a:t>
            </a:r>
            <a:r>
              <a:rPr lang="zh-CN" altLang="en-US" dirty="0" smtClean="0"/>
              <a:t>引脚</a:t>
            </a:r>
            <a:br>
              <a:rPr lang="en-US" altLang="zh-CN" dirty="0" smtClean="0"/>
            </a:br>
            <a:r>
              <a:rPr lang="zh-CN" altLang="en-US" dirty="0" smtClean="0"/>
              <a:t>概述</a:t>
            </a:r>
            <a:endParaRPr lang="zh-CN" altLang="en-US" dirty="0"/>
          </a:p>
        </p:txBody>
      </p:sp>
      <p:sp>
        <p:nvSpPr>
          <p:cNvPr id="3" name="内容占位符 2"/>
          <p:cNvSpPr>
            <a:spLocks noGrp="1"/>
          </p:cNvSpPr>
          <p:nvPr>
            <p:ph idx="1"/>
          </p:nvPr>
        </p:nvSpPr>
        <p:spPr/>
        <p:txBody>
          <a:bodyPr>
            <a:normAutofit/>
          </a:bodyPr>
          <a:lstStyle/>
          <a:p>
            <a:r>
              <a:rPr lang="en-US" altLang="zh-CN" dirty="0"/>
              <a:t>Intel 8259A </a:t>
            </a:r>
            <a:r>
              <a:rPr lang="zh-CN" altLang="en-US" dirty="0"/>
              <a:t>是</a:t>
            </a:r>
            <a:r>
              <a:rPr lang="en-US" altLang="zh-CN" dirty="0"/>
              <a:t>8</a:t>
            </a:r>
            <a:r>
              <a:rPr lang="zh-CN" altLang="en-US" dirty="0"/>
              <a:t>位可编程的中断控制器。它具有</a:t>
            </a:r>
            <a:r>
              <a:rPr lang="en-US" altLang="zh-CN" dirty="0"/>
              <a:t>8 </a:t>
            </a:r>
            <a:r>
              <a:rPr lang="zh-CN" altLang="en-US" dirty="0"/>
              <a:t>级优先权控制，多片</a:t>
            </a:r>
            <a:r>
              <a:rPr lang="en-US" altLang="zh-CN" dirty="0"/>
              <a:t>8259A</a:t>
            </a:r>
            <a:r>
              <a:rPr lang="zh-CN" altLang="en-US" dirty="0"/>
              <a:t>通过级联还可扩展至对</a:t>
            </a:r>
            <a:r>
              <a:rPr lang="en-US" altLang="zh-CN" dirty="0"/>
              <a:t>64</a:t>
            </a:r>
            <a:r>
              <a:rPr lang="zh-CN" altLang="en-US" dirty="0"/>
              <a:t>个中断源实现优先级控制。</a:t>
            </a:r>
            <a:endParaRPr lang="zh-CN" altLang="en-US" dirty="0"/>
          </a:p>
          <a:p>
            <a:r>
              <a:rPr lang="en-US" altLang="zh-CN" dirty="0"/>
              <a:t>8259A</a:t>
            </a:r>
            <a:r>
              <a:rPr lang="zh-CN" altLang="en-US" dirty="0"/>
              <a:t>可以根据不同的中断源向</a:t>
            </a:r>
            <a:r>
              <a:rPr lang="en-US" altLang="zh-CN" dirty="0"/>
              <a:t>CPU</a:t>
            </a:r>
            <a:r>
              <a:rPr lang="zh-CN" altLang="en-US" dirty="0"/>
              <a:t>提供不同的中断类型码，还可根据需要对中断源进行中断屏蔽。</a:t>
            </a:r>
            <a:endParaRPr lang="zh-CN" altLang="en-US" dirty="0"/>
          </a:p>
          <a:p>
            <a:r>
              <a:rPr lang="en-US" altLang="zh-CN" dirty="0"/>
              <a:t>8259A</a:t>
            </a:r>
            <a:r>
              <a:rPr lang="zh-CN" altLang="en-US" dirty="0"/>
              <a:t>有多种工作方式，可以通过编程来选择，以适应不同的应用场合。</a:t>
            </a:r>
            <a:endParaRPr lang="zh-CN" alt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5766" y="-297306"/>
            <a:ext cx="10515600" cy="1325563"/>
          </a:xfrm>
        </p:spPr>
        <p:txBody>
          <a:bodyPr/>
          <a:lstStyle/>
          <a:p>
            <a:r>
              <a:rPr lang="en-US" altLang="zh-CN" dirty="0"/>
              <a:t>8259A</a:t>
            </a:r>
            <a:r>
              <a:rPr lang="zh-CN" altLang="en-US" dirty="0"/>
              <a:t>的内部结构</a:t>
            </a:r>
            <a:endParaRPr lang="zh-CN" altLang="en-US" dirty="0"/>
          </a:p>
        </p:txBody>
      </p:sp>
      <p:pic>
        <p:nvPicPr>
          <p:cNvPr id="6"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714715" y="1061203"/>
            <a:ext cx="7494089" cy="5131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bevel/>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对话气泡: 矩形 6"/>
          <p:cNvSpPr/>
          <p:nvPr/>
        </p:nvSpPr>
        <p:spPr>
          <a:xfrm>
            <a:off x="104503" y="365125"/>
            <a:ext cx="2390503" cy="954224"/>
          </a:xfrm>
          <a:prstGeom prst="wedgeRectCallout">
            <a:avLst>
              <a:gd name="adj1" fmla="val 116872"/>
              <a:gd name="adj2" fmla="val 1254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8259A</a:t>
            </a:r>
            <a:r>
              <a:rPr lang="zh-CN" altLang="en-US" dirty="0"/>
              <a:t>与系统数据总线的接口，它是</a:t>
            </a:r>
            <a:r>
              <a:rPr lang="en-US" altLang="zh-CN" dirty="0"/>
              <a:t>8</a:t>
            </a:r>
            <a:r>
              <a:rPr lang="zh-CN" altLang="en-US" dirty="0"/>
              <a:t>位双向三态缓冲器。</a:t>
            </a:r>
            <a:endParaRPr lang="zh-CN" altLang="en-US" dirty="0"/>
          </a:p>
        </p:txBody>
      </p:sp>
      <p:sp>
        <p:nvSpPr>
          <p:cNvPr id="8" name="对话气泡: 矩形 7"/>
          <p:cNvSpPr/>
          <p:nvPr/>
        </p:nvSpPr>
        <p:spPr>
          <a:xfrm>
            <a:off x="104503" y="1980564"/>
            <a:ext cx="2390503" cy="1677035"/>
          </a:xfrm>
          <a:prstGeom prst="wedgeRectCallout">
            <a:avLst>
              <a:gd name="adj1" fmla="val 133812"/>
              <a:gd name="adj2" fmla="val 327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确定</a:t>
            </a:r>
            <a:r>
              <a:rPr lang="en-US" altLang="zh-CN" dirty="0"/>
              <a:t>8259A</a:t>
            </a:r>
            <a:r>
              <a:rPr lang="zh-CN" altLang="en-US" dirty="0"/>
              <a:t>的</a:t>
            </a:r>
            <a:r>
              <a:rPr lang="en-US" altLang="zh-CN" dirty="0"/>
              <a:t>2</a:t>
            </a:r>
            <a:r>
              <a:rPr lang="zh-CN" altLang="en-US" dirty="0"/>
              <a:t>个端口地址；实现读出</a:t>
            </a:r>
            <a:r>
              <a:rPr lang="en-US" altLang="zh-CN" dirty="0"/>
              <a:t>8259A</a:t>
            </a:r>
            <a:r>
              <a:rPr lang="zh-CN" altLang="en-US" dirty="0"/>
              <a:t>内部寄存器的内容和将命令写入控制寄存器。</a:t>
            </a:r>
            <a:endParaRPr lang="zh-CN" altLang="en-US" dirty="0"/>
          </a:p>
        </p:txBody>
      </p:sp>
      <p:sp>
        <p:nvSpPr>
          <p:cNvPr id="9" name="对话气泡: 矩形 8"/>
          <p:cNvSpPr/>
          <p:nvPr/>
        </p:nvSpPr>
        <p:spPr>
          <a:xfrm>
            <a:off x="214357" y="4515394"/>
            <a:ext cx="2390503" cy="1677035"/>
          </a:xfrm>
          <a:prstGeom prst="wedgeRectCallout">
            <a:avLst>
              <a:gd name="adj1" fmla="val 118511"/>
              <a:gd name="adj2" fmla="val -381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实现</a:t>
            </a:r>
            <a:r>
              <a:rPr lang="en-US" altLang="zh-CN" dirty="0"/>
              <a:t>8259A</a:t>
            </a:r>
            <a:r>
              <a:rPr lang="zh-CN" altLang="en-US" dirty="0"/>
              <a:t>芯片之间的级连，使得中断源可由</a:t>
            </a:r>
            <a:r>
              <a:rPr lang="en-US" altLang="zh-CN" dirty="0"/>
              <a:t>8</a:t>
            </a:r>
            <a:r>
              <a:rPr lang="zh-CN" altLang="en-US" dirty="0"/>
              <a:t>级最多扩展至</a:t>
            </a:r>
            <a:r>
              <a:rPr lang="en-US" altLang="zh-CN" dirty="0"/>
              <a:t>64</a:t>
            </a:r>
            <a:r>
              <a:rPr lang="zh-CN" altLang="en-US" dirty="0"/>
              <a:t>级。</a:t>
            </a:r>
            <a:endParaRPr lang="zh-CN" altLang="en-US" dirty="0"/>
          </a:p>
        </p:txBody>
      </p:sp>
      <p:sp>
        <p:nvSpPr>
          <p:cNvPr id="10" name="对话气泡: 矩形 9"/>
          <p:cNvSpPr/>
          <p:nvPr/>
        </p:nvSpPr>
        <p:spPr>
          <a:xfrm>
            <a:off x="4365579" y="5585915"/>
            <a:ext cx="3460842" cy="1011464"/>
          </a:xfrm>
          <a:prstGeom prst="wedgeRectCallout">
            <a:avLst>
              <a:gd name="adj1" fmla="val 47828"/>
              <a:gd name="adj2" fmla="val -20697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监测从</a:t>
            </a:r>
            <a:r>
              <a:rPr lang="en-US" altLang="zh-CN" dirty="0"/>
              <a:t>IRR</a:t>
            </a:r>
            <a:r>
              <a:rPr lang="zh-CN" altLang="en-US" dirty="0"/>
              <a:t>、</a:t>
            </a:r>
            <a:r>
              <a:rPr lang="en-US" altLang="zh-CN" dirty="0"/>
              <a:t>ISR</a:t>
            </a:r>
            <a:r>
              <a:rPr lang="zh-CN" altLang="en-US" dirty="0"/>
              <a:t>和</a:t>
            </a:r>
            <a:r>
              <a:rPr lang="en-US" altLang="zh-CN" dirty="0"/>
              <a:t>IMR</a:t>
            </a:r>
            <a:r>
              <a:rPr lang="zh-CN" altLang="en-US" dirty="0"/>
              <a:t>来的输入，经过判定最高优先权，确定是否应向</a:t>
            </a:r>
            <a:r>
              <a:rPr lang="en-US" altLang="zh-CN" dirty="0"/>
              <a:t>CPU</a:t>
            </a:r>
            <a:r>
              <a:rPr lang="zh-CN" altLang="en-US" dirty="0"/>
              <a:t>发出中断请求。</a:t>
            </a:r>
            <a:endParaRPr lang="zh-CN" altLang="en-US" dirty="0"/>
          </a:p>
        </p:txBody>
      </p:sp>
      <p:sp>
        <p:nvSpPr>
          <p:cNvPr id="11" name="对话气泡: 矩形 10"/>
          <p:cNvSpPr/>
          <p:nvPr/>
        </p:nvSpPr>
        <p:spPr>
          <a:xfrm>
            <a:off x="3708082" y="1061203"/>
            <a:ext cx="3460842" cy="1011464"/>
          </a:xfrm>
          <a:prstGeom prst="wedgeRectCallout">
            <a:avLst>
              <a:gd name="adj1" fmla="val 21407"/>
              <a:gd name="adj2" fmla="val 14560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记录正在处理中的中断请求信息，它的每一位</a:t>
            </a:r>
            <a:r>
              <a:rPr lang="en-US" altLang="zh-CN" dirty="0"/>
              <a:t>IS0</a:t>
            </a:r>
            <a:r>
              <a:rPr lang="zh-CN" altLang="en-US" dirty="0"/>
              <a:t>～</a:t>
            </a:r>
            <a:r>
              <a:rPr lang="en-US" altLang="zh-CN" dirty="0"/>
              <a:t>IS7</a:t>
            </a:r>
            <a:r>
              <a:rPr lang="zh-CN" altLang="en-US" dirty="0"/>
              <a:t>分别对应</a:t>
            </a:r>
            <a:r>
              <a:rPr lang="en-US" altLang="zh-CN" dirty="0"/>
              <a:t>IR0</a:t>
            </a:r>
            <a:r>
              <a:rPr lang="zh-CN" altLang="en-US" dirty="0"/>
              <a:t>～</a:t>
            </a:r>
            <a:r>
              <a:rPr lang="en-US" altLang="zh-CN" dirty="0"/>
              <a:t>IR7</a:t>
            </a:r>
            <a:r>
              <a:rPr lang="zh-CN" altLang="en-US" dirty="0"/>
              <a:t>。</a:t>
            </a:r>
            <a:endParaRPr lang="zh-CN" altLang="en-US" dirty="0"/>
          </a:p>
        </p:txBody>
      </p:sp>
      <p:sp>
        <p:nvSpPr>
          <p:cNvPr id="12" name="对话气泡: 矩形 11"/>
          <p:cNvSpPr/>
          <p:nvPr/>
        </p:nvSpPr>
        <p:spPr>
          <a:xfrm>
            <a:off x="9237208" y="509724"/>
            <a:ext cx="2390504" cy="1325563"/>
          </a:xfrm>
          <a:prstGeom prst="wedgeRectCallout">
            <a:avLst>
              <a:gd name="adj1" fmla="val -46899"/>
              <a:gd name="adj2" fmla="val 1442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保存从</a:t>
            </a:r>
            <a:r>
              <a:rPr lang="en-US" altLang="zh-CN"/>
              <a:t>IR0</a:t>
            </a:r>
            <a:r>
              <a:rPr lang="zh-CN" altLang="en-US"/>
              <a:t>～</a:t>
            </a:r>
            <a:r>
              <a:rPr lang="en-US" altLang="zh-CN"/>
              <a:t>IR7</a:t>
            </a:r>
            <a:r>
              <a:rPr lang="zh-CN" altLang="en-US"/>
              <a:t>来的中断请求信号。</a:t>
            </a:r>
            <a:endParaRPr lang="zh-CN" altLang="en-US"/>
          </a:p>
          <a:p>
            <a:pPr algn="ctr"/>
            <a:r>
              <a:rPr lang="zh-CN" altLang="en-US"/>
              <a:t>某一位为</a:t>
            </a:r>
            <a:r>
              <a:rPr lang="en-US" altLang="zh-CN"/>
              <a:t>1</a:t>
            </a:r>
            <a:r>
              <a:rPr lang="zh-CN" altLang="en-US"/>
              <a:t>表示相应引脚上有中断请求信号。</a:t>
            </a:r>
            <a:endParaRPr lang="zh-CN" altLang="en-US" dirty="0"/>
          </a:p>
        </p:txBody>
      </p:sp>
      <p:sp>
        <p:nvSpPr>
          <p:cNvPr id="13" name="对话气泡: 矩形 12"/>
          <p:cNvSpPr/>
          <p:nvPr/>
        </p:nvSpPr>
        <p:spPr>
          <a:xfrm>
            <a:off x="9458279" y="4359932"/>
            <a:ext cx="2390504" cy="1325563"/>
          </a:xfrm>
          <a:prstGeom prst="wedgeRectCallout">
            <a:avLst>
              <a:gd name="adj1" fmla="val -100450"/>
              <a:gd name="adj2" fmla="val -45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存放中断屏蔽字，每一位分别与</a:t>
            </a:r>
            <a:r>
              <a:rPr lang="en-US" altLang="zh-CN" dirty="0"/>
              <a:t>IR0</a:t>
            </a:r>
            <a:r>
              <a:rPr lang="zh-CN" altLang="en-US" dirty="0"/>
              <a:t>～</a:t>
            </a:r>
            <a:r>
              <a:rPr lang="en-US" altLang="zh-CN" dirty="0"/>
              <a:t>IR7</a:t>
            </a:r>
            <a:r>
              <a:rPr lang="zh-CN" altLang="en-US" dirty="0"/>
              <a:t>相对应，其中为</a:t>
            </a:r>
            <a:r>
              <a:rPr lang="en-US" altLang="zh-CN" dirty="0"/>
              <a:t>1</a:t>
            </a:r>
            <a:r>
              <a:rPr lang="zh-CN" altLang="en-US" dirty="0"/>
              <a:t>的位所对应的中断请求被屏蔽。</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的引脚</a:t>
            </a:r>
            <a:endParaRPr lang="zh-CN" altLang="en-US" dirty="0"/>
          </a:p>
        </p:txBody>
      </p:sp>
      <p:pic>
        <p:nvPicPr>
          <p:cNvPr id="4" name="Picture 1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54042" y="1912757"/>
            <a:ext cx="3341688" cy="340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3"/>
          <p:cNvSpPr txBox="1">
            <a:spLocks noChangeArrowheads="1"/>
          </p:cNvSpPr>
          <p:nvPr/>
        </p:nvSpPr>
        <p:spPr bwMode="auto">
          <a:xfrm>
            <a:off x="4558937" y="1517650"/>
            <a:ext cx="7223760" cy="5115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lnSpc>
                <a:spcPct val="80000"/>
              </a:lnSpc>
              <a:spcBef>
                <a:spcPct val="20000"/>
              </a:spcBef>
              <a:spcAft>
                <a:spcPct val="0"/>
              </a:spcAft>
              <a:buClr>
                <a:srgbClr val="3333CC"/>
              </a:buClr>
              <a:buSzPct val="60000"/>
              <a:buFont typeface="Wingdings" panose="05000000000000000000" pitchFamily="2" charset="2"/>
              <a:buChar char="Ø"/>
            </a:pPr>
            <a:r>
              <a:rPr lang="zh-CN" altLang="zh-CN" sz="2400" dirty="0">
                <a:solidFill>
                  <a:srgbClr val="000000"/>
                </a:solidFill>
                <a:latin typeface="Times New Roman" panose="02020603050405020304" pitchFamily="18" charset="0"/>
                <a:ea typeface="楷体_GB2312" pitchFamily="1" charset="-122"/>
              </a:rPr>
              <a:t>D</a:t>
            </a:r>
            <a:r>
              <a:rPr lang="zh-CN" altLang="zh-CN" sz="2400" baseline="-25000" dirty="0">
                <a:solidFill>
                  <a:srgbClr val="000000"/>
                </a:solidFill>
                <a:latin typeface="Times New Roman" panose="02020603050405020304" pitchFamily="18" charset="0"/>
                <a:ea typeface="楷体_GB2312" pitchFamily="1" charset="-122"/>
              </a:rPr>
              <a:t>7</a:t>
            </a:r>
            <a:r>
              <a:rPr lang="zh-CN" altLang="zh-CN" sz="2400" dirty="0">
                <a:solidFill>
                  <a:srgbClr val="000000"/>
                </a:solidFill>
                <a:latin typeface="Times New Roman" panose="02020603050405020304" pitchFamily="18" charset="0"/>
                <a:ea typeface="楷体_GB2312" pitchFamily="1" charset="-122"/>
              </a:rPr>
              <a:t>～D</a:t>
            </a:r>
            <a:r>
              <a:rPr lang="zh-CN" altLang="zh-CN" sz="2400" baseline="-25000" dirty="0">
                <a:solidFill>
                  <a:srgbClr val="000000"/>
                </a:solidFill>
                <a:latin typeface="Times New Roman" panose="02020603050405020304" pitchFamily="18" charset="0"/>
                <a:ea typeface="楷体_GB2312" pitchFamily="1" charset="-122"/>
              </a:rPr>
              <a:t>0</a:t>
            </a:r>
            <a:r>
              <a:rPr lang="zh-CN" altLang="zh-CN" sz="2400" dirty="0">
                <a:solidFill>
                  <a:srgbClr val="000000"/>
                </a:solidFill>
                <a:latin typeface="Times New Roman" panose="02020603050405020304" pitchFamily="18" charset="0"/>
                <a:ea typeface="楷体_GB2312" pitchFamily="1" charset="-122"/>
              </a:rPr>
              <a:t>是双向三态数据线，它可直接与系统的数据总线相连。 </a:t>
            </a:r>
            <a:endParaRPr lang="zh-CN" altLang="zh-CN" sz="2400" dirty="0">
              <a:solidFill>
                <a:srgbClr val="000000"/>
              </a:solidFill>
              <a:latin typeface="Times New Roman" panose="02020603050405020304" pitchFamily="18" charset="0"/>
              <a:ea typeface="楷体_GB2312" pitchFamily="1" charset="-122"/>
            </a:endParaRPr>
          </a:p>
          <a:p>
            <a:pPr algn="just" fontAlgn="base">
              <a:lnSpc>
                <a:spcPct val="80000"/>
              </a:lnSpc>
              <a:spcBef>
                <a:spcPct val="20000"/>
              </a:spcBef>
              <a:spcAft>
                <a:spcPct val="0"/>
              </a:spcAft>
              <a:buClr>
                <a:srgbClr val="3333CC"/>
              </a:buClr>
              <a:buSzPct val="60000"/>
              <a:buFont typeface="Wingdings" panose="05000000000000000000" pitchFamily="2" charset="2"/>
              <a:buChar char="Ø"/>
            </a:pPr>
            <a:r>
              <a:rPr lang="zh-CN" altLang="zh-CN" sz="2400" dirty="0">
                <a:solidFill>
                  <a:srgbClr val="000000"/>
                </a:solidFill>
                <a:latin typeface="Times New Roman" panose="02020603050405020304" pitchFamily="18" charset="0"/>
                <a:ea typeface="楷体_GB2312" pitchFamily="1" charset="-122"/>
              </a:rPr>
              <a:t> IR</a:t>
            </a:r>
            <a:r>
              <a:rPr lang="zh-CN" altLang="zh-CN" sz="2400" baseline="-25000" dirty="0">
                <a:solidFill>
                  <a:srgbClr val="000000"/>
                </a:solidFill>
                <a:latin typeface="Times New Roman" panose="02020603050405020304" pitchFamily="18" charset="0"/>
                <a:ea typeface="楷体_GB2312" pitchFamily="1" charset="-122"/>
              </a:rPr>
              <a:t>0</a:t>
            </a:r>
            <a:r>
              <a:rPr lang="zh-CN" altLang="zh-CN" sz="2400" dirty="0">
                <a:solidFill>
                  <a:srgbClr val="000000"/>
                </a:solidFill>
                <a:latin typeface="Times New Roman" panose="02020603050405020304" pitchFamily="18" charset="0"/>
                <a:ea typeface="楷体_GB2312" pitchFamily="1" charset="-122"/>
              </a:rPr>
              <a:t>～IR</a:t>
            </a:r>
            <a:r>
              <a:rPr lang="zh-CN" altLang="zh-CN" sz="2400" baseline="-25000" dirty="0">
                <a:solidFill>
                  <a:srgbClr val="000000"/>
                </a:solidFill>
                <a:latin typeface="Times New Roman" panose="02020603050405020304" pitchFamily="18" charset="0"/>
                <a:ea typeface="楷体_GB2312" pitchFamily="1" charset="-122"/>
              </a:rPr>
              <a:t>7</a:t>
            </a:r>
            <a:r>
              <a:rPr lang="zh-CN" altLang="zh-CN" sz="2400" dirty="0">
                <a:solidFill>
                  <a:srgbClr val="000000"/>
                </a:solidFill>
                <a:latin typeface="Times New Roman" panose="02020603050405020304" pitchFamily="18" charset="0"/>
                <a:ea typeface="楷体_GB2312" pitchFamily="1" charset="-122"/>
              </a:rPr>
              <a:t> 是 8 条外界中断请求输入线。 </a:t>
            </a:r>
            <a:endParaRPr lang="zh-CN" altLang="zh-CN" sz="2400" dirty="0">
              <a:solidFill>
                <a:srgbClr val="000000"/>
              </a:solidFill>
              <a:latin typeface="Times New Roman" panose="02020603050405020304" pitchFamily="18" charset="0"/>
              <a:ea typeface="楷体_GB2312" pitchFamily="1" charset="-122"/>
            </a:endParaRPr>
          </a:p>
          <a:p>
            <a:pPr algn="just" fontAlgn="base">
              <a:lnSpc>
                <a:spcPct val="80000"/>
              </a:lnSpc>
              <a:spcBef>
                <a:spcPct val="20000"/>
              </a:spcBef>
              <a:spcAft>
                <a:spcPct val="0"/>
              </a:spcAft>
              <a:buClr>
                <a:srgbClr val="3333CC"/>
              </a:buClr>
              <a:buSzPct val="60000"/>
              <a:buFont typeface="Wingdings" panose="05000000000000000000" pitchFamily="2" charset="2"/>
              <a:buChar char="Ø"/>
            </a:pPr>
            <a:r>
              <a:rPr lang="zh-CN" altLang="zh-CN" sz="2400" dirty="0">
                <a:solidFill>
                  <a:srgbClr val="000000"/>
                </a:solidFill>
                <a:latin typeface="Times New Roman" panose="02020603050405020304" pitchFamily="18" charset="0"/>
                <a:ea typeface="楷体_GB2312" pitchFamily="1" charset="-122"/>
              </a:rPr>
              <a:t>RD是读命令信号线，当其有效时，控制信息由 8259A 至 CPU。 </a:t>
            </a:r>
            <a:endParaRPr lang="zh-CN" altLang="zh-CN" sz="2400" dirty="0">
              <a:solidFill>
                <a:srgbClr val="000000"/>
              </a:solidFill>
              <a:latin typeface="Times New Roman" panose="02020603050405020304" pitchFamily="18" charset="0"/>
              <a:ea typeface="楷体_GB2312" pitchFamily="1" charset="-122"/>
            </a:endParaRPr>
          </a:p>
          <a:p>
            <a:pPr algn="just" fontAlgn="base">
              <a:lnSpc>
                <a:spcPct val="80000"/>
              </a:lnSpc>
              <a:spcBef>
                <a:spcPct val="20000"/>
              </a:spcBef>
              <a:spcAft>
                <a:spcPct val="0"/>
              </a:spcAft>
              <a:buClr>
                <a:srgbClr val="3333CC"/>
              </a:buClr>
              <a:buSzPct val="60000"/>
              <a:buFont typeface="Wingdings" panose="05000000000000000000" pitchFamily="2" charset="2"/>
              <a:buChar char="Ø"/>
            </a:pPr>
            <a:r>
              <a:rPr lang="zh-CN" altLang="zh-CN" sz="2400" dirty="0">
                <a:solidFill>
                  <a:srgbClr val="000000"/>
                </a:solidFill>
                <a:latin typeface="Times New Roman" panose="02020603050405020304" pitchFamily="18" charset="0"/>
                <a:ea typeface="楷体_GB2312" pitchFamily="1" charset="-122"/>
              </a:rPr>
              <a:t>WR是写命令信号线，当其有效时，控制信息由 CPU 写入至 8259A。</a:t>
            </a:r>
            <a:endParaRPr lang="zh-CN" altLang="zh-CN" sz="2400" dirty="0">
              <a:solidFill>
                <a:srgbClr val="000000"/>
              </a:solidFill>
              <a:latin typeface="Times New Roman" panose="02020603050405020304" pitchFamily="18" charset="0"/>
              <a:ea typeface="楷体_GB2312" pitchFamily="1" charset="-122"/>
            </a:endParaRPr>
          </a:p>
          <a:p>
            <a:pPr algn="just" fontAlgn="base">
              <a:lnSpc>
                <a:spcPct val="80000"/>
              </a:lnSpc>
              <a:spcBef>
                <a:spcPct val="20000"/>
              </a:spcBef>
              <a:spcAft>
                <a:spcPct val="0"/>
              </a:spcAft>
              <a:buClr>
                <a:srgbClr val="3333CC"/>
              </a:buClr>
              <a:buSzPct val="60000"/>
              <a:buFont typeface="Wingdings" panose="05000000000000000000" pitchFamily="2" charset="2"/>
              <a:buChar char="Ø"/>
            </a:pPr>
            <a:r>
              <a:rPr lang="zh-CN" altLang="zh-CN" sz="2400" dirty="0">
                <a:solidFill>
                  <a:srgbClr val="000000"/>
                </a:solidFill>
                <a:latin typeface="Times New Roman" panose="02020603050405020304" pitchFamily="18" charset="0"/>
                <a:ea typeface="楷体_GB2312" pitchFamily="1" charset="-122"/>
              </a:rPr>
              <a:t>CS是选片信号线，由地址高位控制。 </a:t>
            </a:r>
            <a:endParaRPr lang="zh-CN" altLang="zh-CN" sz="2400" dirty="0">
              <a:solidFill>
                <a:srgbClr val="000000"/>
              </a:solidFill>
              <a:latin typeface="Times New Roman" panose="02020603050405020304" pitchFamily="18" charset="0"/>
              <a:ea typeface="楷体_GB2312" pitchFamily="1" charset="-122"/>
            </a:endParaRPr>
          </a:p>
          <a:p>
            <a:pPr algn="just" fontAlgn="base">
              <a:lnSpc>
                <a:spcPct val="80000"/>
              </a:lnSpc>
              <a:spcBef>
                <a:spcPct val="20000"/>
              </a:spcBef>
              <a:spcAft>
                <a:spcPct val="0"/>
              </a:spcAft>
              <a:buClr>
                <a:srgbClr val="3333CC"/>
              </a:buClr>
              <a:buSzPct val="60000"/>
              <a:buFont typeface="Wingdings" panose="05000000000000000000" pitchFamily="2" charset="2"/>
              <a:buChar char="Ø"/>
            </a:pPr>
            <a:r>
              <a:rPr lang="zh-CN" altLang="zh-CN" sz="2400" dirty="0">
                <a:solidFill>
                  <a:srgbClr val="000000"/>
                </a:solidFill>
                <a:latin typeface="Times New Roman" panose="02020603050405020304" pitchFamily="18" charset="0"/>
                <a:ea typeface="楷体_GB2312" pitchFamily="1" charset="-122"/>
              </a:rPr>
              <a:t>A</a:t>
            </a:r>
            <a:r>
              <a:rPr lang="zh-CN" altLang="zh-CN" sz="2400" baseline="-25000" dirty="0">
                <a:solidFill>
                  <a:srgbClr val="000000"/>
                </a:solidFill>
                <a:latin typeface="Times New Roman" panose="02020603050405020304" pitchFamily="18" charset="0"/>
                <a:ea typeface="楷体_GB2312" pitchFamily="1" charset="-122"/>
              </a:rPr>
              <a:t>0</a:t>
            </a:r>
            <a:r>
              <a:rPr lang="zh-CN" altLang="zh-CN" sz="2400" dirty="0">
                <a:solidFill>
                  <a:srgbClr val="000000"/>
                </a:solidFill>
                <a:latin typeface="Times New Roman" panose="02020603050405020304" pitchFamily="18" charset="0"/>
                <a:ea typeface="楷体_GB2312" pitchFamily="1" charset="-122"/>
              </a:rPr>
              <a:t>用以选择 8259A 内部的不同寄存器，通常直接连至地址总线的A</a:t>
            </a:r>
            <a:r>
              <a:rPr lang="zh-CN" altLang="zh-CN" sz="2400" baseline="-25000" dirty="0">
                <a:solidFill>
                  <a:srgbClr val="000000"/>
                </a:solidFill>
                <a:latin typeface="Times New Roman" panose="02020603050405020304" pitchFamily="18" charset="0"/>
                <a:ea typeface="楷体_GB2312" pitchFamily="1" charset="-122"/>
              </a:rPr>
              <a:t>0</a:t>
            </a:r>
            <a:r>
              <a:rPr lang="zh-CN" altLang="zh-CN" sz="2400" dirty="0">
                <a:solidFill>
                  <a:srgbClr val="000000"/>
                </a:solidFill>
                <a:latin typeface="Times New Roman" panose="02020603050405020304" pitchFamily="18" charset="0"/>
                <a:ea typeface="楷体_GB2312" pitchFamily="1" charset="-122"/>
              </a:rPr>
              <a:t>。 </a:t>
            </a:r>
            <a:endParaRPr lang="zh-CN" altLang="zh-CN" sz="2400" dirty="0">
              <a:solidFill>
                <a:srgbClr val="000000"/>
              </a:solidFill>
              <a:latin typeface="Times New Roman" panose="02020603050405020304" pitchFamily="18" charset="0"/>
              <a:ea typeface="楷体_GB2312" pitchFamily="1" charset="-122"/>
            </a:endParaRPr>
          </a:p>
          <a:p>
            <a:pPr algn="just" fontAlgn="base">
              <a:lnSpc>
                <a:spcPct val="80000"/>
              </a:lnSpc>
              <a:spcBef>
                <a:spcPct val="20000"/>
              </a:spcBef>
              <a:spcAft>
                <a:spcPct val="0"/>
              </a:spcAft>
              <a:buClr>
                <a:srgbClr val="3333CC"/>
              </a:buClr>
              <a:buSzPct val="60000"/>
              <a:buFont typeface="Wingdings" panose="05000000000000000000" pitchFamily="2" charset="2"/>
              <a:buChar char="Ø"/>
            </a:pPr>
            <a:r>
              <a:rPr lang="zh-CN" altLang="zh-CN" sz="2400" dirty="0">
                <a:solidFill>
                  <a:srgbClr val="000000"/>
                </a:solidFill>
                <a:latin typeface="Times New Roman" panose="02020603050405020304" pitchFamily="18" charset="0"/>
                <a:ea typeface="楷体_GB2312" pitchFamily="1" charset="-122"/>
              </a:rPr>
              <a:t>INT中断请求线，用于向CPU发中断请求信号。</a:t>
            </a:r>
            <a:endParaRPr lang="zh-CN" altLang="zh-CN" sz="2400" b="1" dirty="0">
              <a:solidFill>
                <a:srgbClr val="000000"/>
              </a:solidFill>
              <a:latin typeface="Times New Roman" panose="02020603050405020304" pitchFamily="18" charset="0"/>
              <a:ea typeface="楷体_GB2312" pitchFamily="1" charset="-122"/>
            </a:endParaRPr>
          </a:p>
          <a:p>
            <a:pPr algn="just" fontAlgn="base">
              <a:lnSpc>
                <a:spcPct val="80000"/>
              </a:lnSpc>
              <a:spcBef>
                <a:spcPct val="20000"/>
              </a:spcBef>
              <a:spcAft>
                <a:spcPct val="0"/>
              </a:spcAft>
              <a:buClr>
                <a:srgbClr val="3333CC"/>
              </a:buClr>
              <a:buSzPct val="60000"/>
              <a:buFont typeface="Wingdings" panose="05000000000000000000" pitchFamily="2" charset="2"/>
              <a:buChar char="Ø"/>
            </a:pPr>
            <a:r>
              <a:rPr lang="zh-CN" altLang="zh-CN" sz="2400" dirty="0">
                <a:solidFill>
                  <a:srgbClr val="000000"/>
                </a:solidFill>
                <a:latin typeface="Times New Roman" panose="02020603050405020304" pitchFamily="18" charset="0"/>
                <a:ea typeface="楷体_GB2312" pitchFamily="1" charset="-122"/>
              </a:rPr>
              <a:t>INTA中断响应线，用于接收CPU的中断响应信号。</a:t>
            </a:r>
            <a:endParaRPr lang="zh-CN" altLang="zh-CN" sz="2400" dirty="0">
              <a:solidFill>
                <a:srgbClr val="000000"/>
              </a:solidFill>
              <a:latin typeface="Times New Roman" panose="02020603050405020304" pitchFamily="18" charset="0"/>
              <a:ea typeface="楷体_GB2312" pitchFamily="1" charset="-122"/>
            </a:endParaRPr>
          </a:p>
          <a:p>
            <a:pPr algn="just" fontAlgn="base">
              <a:lnSpc>
                <a:spcPct val="80000"/>
              </a:lnSpc>
              <a:spcBef>
                <a:spcPct val="20000"/>
              </a:spcBef>
              <a:spcAft>
                <a:spcPct val="0"/>
              </a:spcAft>
              <a:buClr>
                <a:srgbClr val="3333CC"/>
              </a:buClr>
              <a:buSzPct val="60000"/>
              <a:buFont typeface="Wingdings" panose="05000000000000000000" pitchFamily="2" charset="2"/>
              <a:buChar char="Ø"/>
            </a:pPr>
            <a:r>
              <a:rPr lang="zh-CN" altLang="zh-CN" sz="2400" dirty="0">
                <a:solidFill>
                  <a:srgbClr val="000000"/>
                </a:solidFill>
                <a:latin typeface="Times New Roman" panose="02020603050405020304" pitchFamily="18" charset="0"/>
                <a:ea typeface="楷体_GB2312" pitchFamily="1" charset="-122"/>
              </a:rPr>
              <a:t>CAS</a:t>
            </a:r>
            <a:r>
              <a:rPr lang="zh-CN" altLang="zh-CN" sz="2400" baseline="-25000" dirty="0">
                <a:solidFill>
                  <a:srgbClr val="000000"/>
                </a:solidFill>
                <a:latin typeface="Times New Roman" panose="02020603050405020304" pitchFamily="18" charset="0"/>
                <a:ea typeface="楷体_GB2312" pitchFamily="1" charset="-122"/>
              </a:rPr>
              <a:t>2</a:t>
            </a:r>
            <a:r>
              <a:rPr lang="zh-CN" altLang="zh-CN" sz="2400" dirty="0">
                <a:solidFill>
                  <a:srgbClr val="000000"/>
                </a:solidFill>
                <a:latin typeface="Times New Roman" panose="02020603050405020304" pitchFamily="18" charset="0"/>
                <a:ea typeface="楷体_GB2312" pitchFamily="1" charset="-122"/>
              </a:rPr>
              <a:t>～CAS</a:t>
            </a:r>
            <a:r>
              <a:rPr lang="zh-CN" altLang="zh-CN" sz="2400" baseline="-25000" dirty="0">
                <a:solidFill>
                  <a:srgbClr val="000000"/>
                </a:solidFill>
                <a:latin typeface="Times New Roman" panose="02020603050405020304" pitchFamily="18" charset="0"/>
                <a:ea typeface="楷体_GB2312" pitchFamily="1" charset="-122"/>
              </a:rPr>
              <a:t>0</a:t>
            </a:r>
            <a:r>
              <a:rPr lang="zh-CN" altLang="zh-CN" sz="2400" dirty="0">
                <a:solidFill>
                  <a:srgbClr val="000000"/>
                </a:solidFill>
                <a:latin typeface="Times New Roman" panose="02020603050405020304" pitchFamily="18" charset="0"/>
                <a:ea typeface="楷体_GB2312" pitchFamily="1" charset="-122"/>
              </a:rPr>
              <a:t>是级连信号线，当8259作为主片时，这三条为输出线；作为从片时，则此三条线为输入线。这三条线与SP/EN线相配合，实现 8259A 的级连。 </a:t>
            </a:r>
            <a:endParaRPr lang="zh-CN" altLang="zh-CN" sz="2400" dirty="0">
              <a:solidFill>
                <a:srgbClr val="000000"/>
              </a:solidFill>
              <a:latin typeface="Times New Roman" panose="02020603050405020304" pitchFamily="18" charset="0"/>
              <a:ea typeface="楷体_GB2312" pitchFamily="1" charset="-122"/>
            </a:endParaRPr>
          </a:p>
        </p:txBody>
      </p:sp>
      <p:sp>
        <p:nvSpPr>
          <p:cNvPr id="6" name="Line 4"/>
          <p:cNvSpPr>
            <a:spLocks noChangeShapeType="1"/>
          </p:cNvSpPr>
          <p:nvPr/>
        </p:nvSpPr>
        <p:spPr bwMode="auto">
          <a:xfrm>
            <a:off x="4848043" y="2564902"/>
            <a:ext cx="293688" cy="0"/>
          </a:xfrm>
          <a:prstGeom prst="line">
            <a:avLst/>
          </a:prstGeom>
          <a:noFill/>
          <a:ln w="12700"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4"/>
          <p:cNvSpPr>
            <a:spLocks noChangeShapeType="1"/>
          </p:cNvSpPr>
          <p:nvPr/>
        </p:nvSpPr>
        <p:spPr bwMode="auto">
          <a:xfrm>
            <a:off x="4848043" y="3244170"/>
            <a:ext cx="293688" cy="0"/>
          </a:xfrm>
          <a:prstGeom prst="line">
            <a:avLst/>
          </a:prstGeom>
          <a:noFill/>
          <a:ln w="12700"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4"/>
          <p:cNvSpPr>
            <a:spLocks noChangeShapeType="1"/>
          </p:cNvSpPr>
          <p:nvPr/>
        </p:nvSpPr>
        <p:spPr bwMode="auto">
          <a:xfrm>
            <a:off x="4848043" y="3897313"/>
            <a:ext cx="293688" cy="0"/>
          </a:xfrm>
          <a:prstGeom prst="line">
            <a:avLst/>
          </a:prstGeom>
          <a:noFill/>
          <a:ln w="12700"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4"/>
          <p:cNvSpPr>
            <a:spLocks noChangeShapeType="1"/>
          </p:cNvSpPr>
          <p:nvPr/>
        </p:nvSpPr>
        <p:spPr bwMode="auto">
          <a:xfrm>
            <a:off x="4848043" y="5247320"/>
            <a:ext cx="586106" cy="2"/>
          </a:xfrm>
          <a:prstGeom prst="line">
            <a:avLst/>
          </a:prstGeom>
          <a:noFill/>
          <a:ln w="12700"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6.4.2     8259A</a:t>
            </a:r>
            <a:r>
              <a:rPr lang="zh-CN" altLang="en-US" dirty="0"/>
              <a:t>的工作方式</a:t>
            </a:r>
            <a:endParaRPr lang="zh-CN" altLang="en-US" dirty="0"/>
          </a:p>
        </p:txBody>
      </p:sp>
      <p:sp>
        <p:nvSpPr>
          <p:cNvPr id="3" name="内容占位符 2"/>
          <p:cNvSpPr>
            <a:spLocks noGrp="1"/>
          </p:cNvSpPr>
          <p:nvPr>
            <p:ph idx="1"/>
          </p:nvPr>
        </p:nvSpPr>
        <p:spPr/>
        <p:txBody>
          <a:bodyPr/>
          <a:lstStyle/>
          <a:p>
            <a:pPr>
              <a:lnSpc>
                <a:spcPct val="90000"/>
              </a:lnSpc>
            </a:pPr>
            <a:r>
              <a:rPr lang="zh-CN" altLang="en-US" dirty="0"/>
              <a:t>8259A具有非常灵活的中断管理方式，可满足用户各种不同的要求，且这些工作方式都可以通过编程来设置。</a:t>
            </a:r>
            <a:endParaRPr lang="zh-CN" altLang="en-US" dirty="0"/>
          </a:p>
          <a:p>
            <a:pPr>
              <a:lnSpc>
                <a:spcPct val="90000"/>
              </a:lnSpc>
            </a:pPr>
            <a:r>
              <a:rPr lang="zh-CN" altLang="en-US" dirty="0"/>
              <a:t>包括：</a:t>
            </a:r>
            <a:endParaRPr lang="zh-CN" altLang="en-US" dirty="0"/>
          </a:p>
          <a:p>
            <a:pPr lvl="1">
              <a:lnSpc>
                <a:spcPct val="90000"/>
              </a:lnSpc>
            </a:pPr>
            <a:r>
              <a:rPr lang="zh-CN" altLang="en-US" dirty="0"/>
              <a:t>中断响应顺序</a:t>
            </a:r>
            <a:endParaRPr lang="zh-CN" altLang="en-US" dirty="0"/>
          </a:p>
          <a:p>
            <a:pPr lvl="1">
              <a:lnSpc>
                <a:spcPct val="90000"/>
              </a:lnSpc>
            </a:pPr>
            <a:r>
              <a:rPr lang="zh-CN" altLang="en-US" dirty="0"/>
              <a:t>8259A中断优先级管理</a:t>
            </a:r>
            <a:endParaRPr lang="zh-CN" altLang="en-US" dirty="0"/>
          </a:p>
          <a:p>
            <a:pPr lvl="1">
              <a:lnSpc>
                <a:spcPct val="90000"/>
              </a:lnSpc>
            </a:pPr>
            <a:r>
              <a:rPr lang="zh-CN" altLang="en-US" dirty="0"/>
              <a:t>8259A中断屏蔽管理</a:t>
            </a:r>
            <a:endParaRPr lang="zh-CN" altLang="en-US" dirty="0"/>
          </a:p>
          <a:p>
            <a:pPr lvl="1">
              <a:lnSpc>
                <a:spcPct val="90000"/>
              </a:lnSpc>
            </a:pPr>
            <a:r>
              <a:rPr lang="zh-CN" altLang="en-US" dirty="0"/>
              <a:t>8259A中断结束管理</a:t>
            </a:r>
            <a:endParaRPr lang="zh-CN" altLang="en-US" dirty="0"/>
          </a:p>
          <a:p>
            <a:pPr lvl="1">
              <a:lnSpc>
                <a:spcPct val="90000"/>
              </a:lnSpc>
            </a:pPr>
            <a:r>
              <a:rPr lang="zh-CN" altLang="en-US" dirty="0"/>
              <a:t>8259A的级联</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、中断</a:t>
            </a:r>
            <a:r>
              <a:rPr lang="zh-CN" altLang="en-US" dirty="0"/>
              <a:t>响应顺序</a:t>
            </a:r>
            <a:endParaRPr lang="zh-CN" altLang="en-US" dirty="0"/>
          </a:p>
        </p:txBody>
      </p:sp>
      <p:sp>
        <p:nvSpPr>
          <p:cNvPr id="3" name="内容占位符 2"/>
          <p:cNvSpPr>
            <a:spLocks noGrp="1"/>
          </p:cNvSpPr>
          <p:nvPr>
            <p:ph idx="1"/>
          </p:nvPr>
        </p:nvSpPr>
        <p:spPr>
          <a:xfrm>
            <a:off x="193964" y="1417638"/>
            <a:ext cx="11135095" cy="4411662"/>
          </a:xfrm>
        </p:spPr>
        <p:txBody>
          <a:bodyPr/>
          <a:lstStyle/>
          <a:p>
            <a:r>
              <a:rPr lang="zh-CN" altLang="en-US" sz="2400" dirty="0"/>
              <a:t>当有一条或若干条中断请求</a:t>
            </a:r>
            <a:r>
              <a:rPr lang="en-US" altLang="zh-CN" sz="2400" dirty="0"/>
              <a:t>(IR0</a:t>
            </a:r>
            <a:r>
              <a:rPr lang="zh-CN" altLang="en-US" sz="2400" dirty="0"/>
              <a:t>～</a:t>
            </a:r>
            <a:r>
              <a:rPr lang="en-US" altLang="zh-CN" sz="2400" dirty="0"/>
              <a:t>IR7)</a:t>
            </a:r>
            <a:r>
              <a:rPr lang="zh-CN" altLang="en-US" sz="2400" dirty="0"/>
              <a:t>变高，中断请求寄存器</a:t>
            </a:r>
            <a:r>
              <a:rPr lang="en-US" altLang="zh-CN" sz="2400" dirty="0"/>
              <a:t>IRR</a:t>
            </a:r>
            <a:r>
              <a:rPr lang="zh-CN" altLang="en-US" sz="2400" dirty="0"/>
              <a:t>的相应位置位。</a:t>
            </a:r>
            <a:endParaRPr lang="zh-CN" altLang="en-US" sz="2400" dirty="0"/>
          </a:p>
          <a:p>
            <a:r>
              <a:rPr lang="zh-CN" altLang="en-US" sz="2400" dirty="0"/>
              <a:t>若中断请求线中至少有一条是中断允许的，则</a:t>
            </a:r>
            <a:r>
              <a:rPr lang="en-US" altLang="zh-CN" sz="2400" dirty="0"/>
              <a:t>8259A</a:t>
            </a:r>
            <a:r>
              <a:rPr lang="zh-CN" altLang="en-US" sz="2400" dirty="0"/>
              <a:t>由</a:t>
            </a:r>
            <a:r>
              <a:rPr lang="en-US" altLang="zh-CN" sz="2400" dirty="0"/>
              <a:t>INT</a:t>
            </a:r>
            <a:r>
              <a:rPr lang="zh-CN" altLang="en-US" sz="2400" dirty="0"/>
              <a:t>引脚向</a:t>
            </a:r>
            <a:r>
              <a:rPr lang="en-US" altLang="zh-CN" sz="2400" dirty="0"/>
              <a:t>CPU</a:t>
            </a:r>
            <a:r>
              <a:rPr lang="zh-CN" altLang="en-US" sz="2400" dirty="0"/>
              <a:t>送出中断请求信号。    </a:t>
            </a:r>
            <a:endParaRPr lang="zh-CN" altLang="en-US" sz="2400" dirty="0"/>
          </a:p>
          <a:p>
            <a:r>
              <a:rPr lang="zh-CN" altLang="en-US" sz="2400" dirty="0"/>
              <a:t>若</a:t>
            </a:r>
            <a:r>
              <a:rPr lang="en-US" altLang="zh-CN" sz="2400" dirty="0"/>
              <a:t>CPU</a:t>
            </a:r>
            <a:r>
              <a:rPr lang="zh-CN" altLang="en-US" sz="2400" dirty="0"/>
              <a:t>是处在开中断状态，则在当前指令执行完以后，用</a:t>
            </a:r>
            <a:r>
              <a:rPr lang="en-US" altLang="zh-CN" sz="2400" dirty="0"/>
              <a:t>INTA</a:t>
            </a:r>
            <a:r>
              <a:rPr lang="zh-CN" altLang="en-US" sz="2400" dirty="0"/>
              <a:t>信号作为响应。</a:t>
            </a:r>
            <a:endParaRPr lang="zh-CN" altLang="en-US" sz="2400" dirty="0"/>
          </a:p>
          <a:p>
            <a:r>
              <a:rPr lang="en-US" altLang="zh-CN" sz="2400" dirty="0"/>
              <a:t>8259A</a:t>
            </a:r>
            <a:r>
              <a:rPr lang="zh-CN" altLang="en-US" sz="2400" dirty="0"/>
              <a:t>在接收到</a:t>
            </a:r>
            <a:r>
              <a:rPr lang="en-US" altLang="zh-CN" sz="2400" dirty="0"/>
              <a:t>CPU</a:t>
            </a:r>
            <a:r>
              <a:rPr lang="zh-CN" altLang="en-US" sz="2400" dirty="0"/>
              <a:t>的</a:t>
            </a:r>
            <a:r>
              <a:rPr lang="en-US" altLang="zh-CN" sz="2400" dirty="0"/>
              <a:t>INTA</a:t>
            </a:r>
            <a:r>
              <a:rPr lang="zh-CN" altLang="en-US" sz="2400" dirty="0"/>
              <a:t>信号后，使最高优先权的</a:t>
            </a:r>
            <a:r>
              <a:rPr lang="en-US" altLang="zh-CN" sz="2400" dirty="0"/>
              <a:t>ISR</a:t>
            </a:r>
            <a:r>
              <a:rPr lang="zh-CN" altLang="en-US" sz="2400" dirty="0"/>
              <a:t>位置位，而相应的</a:t>
            </a:r>
            <a:r>
              <a:rPr lang="en-US" altLang="zh-CN" sz="2400" dirty="0"/>
              <a:t>IRR</a:t>
            </a:r>
            <a:r>
              <a:rPr lang="zh-CN" altLang="en-US" sz="2400" dirty="0"/>
              <a:t>位复位。</a:t>
            </a:r>
            <a:endParaRPr lang="zh-CN" altLang="en-US" sz="2400" dirty="0"/>
          </a:p>
          <a:p>
            <a:r>
              <a:rPr lang="en-US" altLang="zh-CN" sz="2400" dirty="0"/>
              <a:t>8086/8088CPU</a:t>
            </a:r>
            <a:r>
              <a:rPr lang="zh-CN" altLang="en-US" sz="2400" dirty="0"/>
              <a:t>启动另一个中断响应周期，输出另一个</a:t>
            </a:r>
            <a:r>
              <a:rPr lang="en-US" altLang="zh-CN" sz="2400" dirty="0"/>
              <a:t>INTA</a:t>
            </a:r>
            <a:r>
              <a:rPr lang="zh-CN" altLang="en-US" sz="2400" dirty="0"/>
              <a:t>脉冲。在这个周期中，</a:t>
            </a:r>
            <a:r>
              <a:rPr lang="en-US" altLang="zh-CN" sz="2400" dirty="0"/>
              <a:t>8259A</a:t>
            </a:r>
            <a:r>
              <a:rPr lang="zh-CN" altLang="en-US" sz="2400" dirty="0"/>
              <a:t>向数据总线输送一个</a:t>
            </a:r>
            <a:r>
              <a:rPr lang="en-US" altLang="zh-CN" sz="2400" dirty="0"/>
              <a:t>8</a:t>
            </a:r>
            <a:r>
              <a:rPr lang="zh-CN" altLang="en-US" sz="2400" dirty="0"/>
              <a:t>位的中断类型码。</a:t>
            </a:r>
            <a:r>
              <a:rPr lang="en-US" altLang="zh-CN" sz="2400" dirty="0"/>
              <a:t>CPU</a:t>
            </a:r>
            <a:r>
              <a:rPr lang="zh-CN" altLang="en-US" sz="2400" dirty="0"/>
              <a:t>在此周期中，读取此中断类型码并把它乘以</a:t>
            </a:r>
            <a:r>
              <a:rPr lang="en-US" altLang="zh-CN" sz="2400" dirty="0"/>
              <a:t>4</a:t>
            </a:r>
            <a:r>
              <a:rPr lang="zh-CN" altLang="en-US" sz="2400" dirty="0"/>
              <a:t>，就可以从中断服务程序入口地址表中取出中断服务程序的入口地址。这样中断响应周期就完成了，</a:t>
            </a:r>
            <a:r>
              <a:rPr lang="en-US" altLang="zh-CN" sz="2400" dirty="0"/>
              <a:t>CPU</a:t>
            </a:r>
            <a:r>
              <a:rPr lang="zh-CN" altLang="en-US" sz="2400" dirty="0"/>
              <a:t>就可转至中断服务程序执行。 </a:t>
            </a:r>
            <a:endParaRPr lang="zh-CN" altLang="en-US" sz="2400" dirty="0"/>
          </a:p>
          <a:p>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2</a:t>
            </a:r>
            <a:r>
              <a:rPr lang="zh-CN" altLang="en-US" dirty="0" smtClean="0"/>
              <a:t>、</a:t>
            </a:r>
            <a:r>
              <a:rPr lang="en-US" altLang="zh-CN" dirty="0" smtClean="0"/>
              <a:t>8259A</a:t>
            </a:r>
            <a:r>
              <a:rPr lang="zh-CN" altLang="en-US" dirty="0"/>
              <a:t>中断优先级管理</a:t>
            </a:r>
            <a:endParaRPr lang="zh-CN" altLang="en-US" dirty="0"/>
          </a:p>
        </p:txBody>
      </p:sp>
      <p:sp>
        <p:nvSpPr>
          <p:cNvPr id="3" name="内容占位符 2"/>
          <p:cNvSpPr>
            <a:spLocks noGrp="1"/>
          </p:cNvSpPr>
          <p:nvPr>
            <p:ph idx="1"/>
          </p:nvPr>
        </p:nvSpPr>
        <p:spPr/>
        <p:txBody>
          <a:bodyPr>
            <a:noAutofit/>
          </a:bodyPr>
          <a:lstStyle/>
          <a:p>
            <a:pPr>
              <a:lnSpc>
                <a:spcPct val="100000"/>
              </a:lnSpc>
            </a:pPr>
            <a:r>
              <a:rPr lang="zh-CN" altLang="en-US" dirty="0"/>
              <a:t>完全嵌套方式：各中断请求的中断优先级就是固定不变的。</a:t>
            </a:r>
            <a:r>
              <a:rPr lang="en-US" altLang="zh-CN" dirty="0"/>
              <a:t>8259A</a:t>
            </a:r>
            <a:r>
              <a:rPr lang="zh-CN" altLang="en-US" dirty="0"/>
              <a:t>加电后就处于这种方式，默认</a:t>
            </a:r>
            <a:r>
              <a:rPr lang="zh-CN" altLang="zh-CN" dirty="0"/>
              <a:t>IR</a:t>
            </a:r>
            <a:r>
              <a:rPr lang="zh-CN" altLang="zh-CN" baseline="-25000" dirty="0"/>
              <a:t>0</a:t>
            </a:r>
            <a:r>
              <a:rPr lang="zh-CN" altLang="en-US" dirty="0"/>
              <a:t>优先级最高</a:t>
            </a:r>
            <a:r>
              <a:rPr lang="en-US" altLang="zh-CN" dirty="0"/>
              <a:t>(0</a:t>
            </a:r>
            <a:r>
              <a:rPr lang="zh-CN" altLang="en-US" dirty="0"/>
              <a:t>级为最高级</a:t>
            </a:r>
            <a:r>
              <a:rPr lang="en-US" altLang="zh-CN" dirty="0"/>
              <a:t>)</a:t>
            </a:r>
            <a:r>
              <a:rPr lang="zh-CN" altLang="en-US" dirty="0"/>
              <a:t>，</a:t>
            </a:r>
            <a:r>
              <a:rPr lang="zh-CN" altLang="zh-CN" dirty="0"/>
              <a:t> IR</a:t>
            </a:r>
            <a:r>
              <a:rPr lang="zh-CN" altLang="zh-CN" baseline="-25000" dirty="0"/>
              <a:t>7</a:t>
            </a:r>
            <a:r>
              <a:rPr lang="zh-CN" altLang="en-US" dirty="0"/>
              <a:t>优先级最低</a:t>
            </a:r>
            <a:r>
              <a:rPr lang="en-US" altLang="zh-CN" dirty="0"/>
              <a:t>(7</a:t>
            </a:r>
            <a:r>
              <a:rPr lang="zh-CN" altLang="en-US" dirty="0"/>
              <a:t>级为最低级</a:t>
            </a:r>
            <a:r>
              <a:rPr lang="en-US" altLang="zh-CN" dirty="0"/>
              <a:t>)</a:t>
            </a:r>
            <a:r>
              <a:rPr lang="zh-CN" altLang="en-US" dirty="0"/>
              <a:t>。</a:t>
            </a:r>
            <a:endParaRPr lang="zh-CN" altLang="en-US" dirty="0"/>
          </a:p>
          <a:p>
            <a:pPr>
              <a:lnSpc>
                <a:spcPct val="100000"/>
              </a:lnSpc>
            </a:pPr>
            <a:r>
              <a:rPr lang="zh-CN" altLang="en-US" dirty="0"/>
              <a:t>自动循环方式：</a:t>
            </a:r>
            <a:r>
              <a:rPr lang="zh-CN" altLang="zh-CN" dirty="0"/>
              <a:t> IR</a:t>
            </a:r>
            <a:r>
              <a:rPr lang="zh-CN" altLang="zh-CN" baseline="-25000" dirty="0"/>
              <a:t>0 </a:t>
            </a:r>
            <a:r>
              <a:rPr lang="zh-CN" altLang="en-US" dirty="0"/>
              <a:t>～</a:t>
            </a:r>
            <a:r>
              <a:rPr lang="zh-CN" altLang="zh-CN" dirty="0"/>
              <a:t> IR</a:t>
            </a:r>
            <a:r>
              <a:rPr lang="zh-CN" altLang="zh-CN" baseline="-25000" dirty="0"/>
              <a:t>7</a:t>
            </a:r>
            <a:r>
              <a:rPr lang="zh-CN" altLang="en-US" dirty="0"/>
              <a:t>中断轮流具有最高优先级，即当任何一级中断被处理完，它的优先级别就被修改为最低，而最高优先级分配给该中断的下一级中断。</a:t>
            </a:r>
            <a:endParaRPr lang="zh-CN" altLang="en-US" dirty="0"/>
          </a:p>
          <a:p>
            <a:pPr>
              <a:lnSpc>
                <a:spcPct val="100000"/>
              </a:lnSpc>
            </a:pPr>
            <a:r>
              <a:rPr lang="zh-CN" altLang="en-US" dirty="0"/>
              <a:t>特殊完全嵌套方式：用在</a:t>
            </a:r>
            <a:r>
              <a:rPr lang="en-US" altLang="zh-CN" dirty="0"/>
              <a:t>8259A</a:t>
            </a:r>
            <a:r>
              <a:rPr lang="zh-CN" altLang="en-US" dirty="0"/>
              <a:t>有级联的情况。</a:t>
            </a:r>
            <a:r>
              <a:rPr lang="en-US" altLang="zh-CN" dirty="0"/>
              <a:t>8259A</a:t>
            </a:r>
            <a:r>
              <a:rPr lang="zh-CN" altLang="en-US" dirty="0"/>
              <a:t>有级连的情况下，按完全嵌套方式管理优先级。</a:t>
            </a:r>
            <a:endParaRPr lang="zh-CN" alt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中断屏蔽管理</a:t>
            </a:r>
            <a:endParaRPr lang="zh-CN" altLang="en-US" dirty="0"/>
          </a:p>
        </p:txBody>
      </p:sp>
      <p:sp>
        <p:nvSpPr>
          <p:cNvPr id="3" name="内容占位符 2"/>
          <p:cNvSpPr>
            <a:spLocks noGrp="1"/>
          </p:cNvSpPr>
          <p:nvPr>
            <p:ph idx="1"/>
          </p:nvPr>
        </p:nvSpPr>
        <p:spPr/>
        <p:txBody>
          <a:bodyPr/>
          <a:lstStyle/>
          <a:p>
            <a:pPr marL="0" indent="0">
              <a:lnSpc>
                <a:spcPct val="90000"/>
              </a:lnSpc>
            </a:pPr>
            <a:r>
              <a:rPr lang="zh-CN" altLang="zh-CN" dirty="0"/>
              <a:t>8259A的8个中断请求都可根据需要单独屏蔽，屏蔽是通过编程使得屏蔽寄存器IMR相应位置0或置l，从而允许或禁止该位所对应的中断。</a:t>
            </a:r>
            <a:endParaRPr lang="zh-CN" altLang="zh-CN" dirty="0"/>
          </a:p>
          <a:p>
            <a:pPr marL="0" indent="0">
              <a:lnSpc>
                <a:spcPct val="90000"/>
              </a:lnSpc>
            </a:pPr>
            <a:r>
              <a:rPr lang="zh-CN" altLang="zh-CN" dirty="0"/>
              <a:t>8259A有两种屏蔽方式：</a:t>
            </a:r>
            <a:endParaRPr lang="zh-CN" altLang="zh-CN" dirty="0"/>
          </a:p>
          <a:p>
            <a:pPr marL="824230" lvl="1">
              <a:lnSpc>
                <a:spcPct val="90000"/>
              </a:lnSpc>
            </a:pPr>
            <a:r>
              <a:rPr lang="zh-CN" altLang="zh-CN" dirty="0"/>
              <a:t>普通屏蔽方式</a:t>
            </a:r>
            <a:r>
              <a:rPr lang="zh-CN" altLang="en-US" dirty="0"/>
              <a:t>：</a:t>
            </a:r>
            <a:r>
              <a:rPr lang="en-US" altLang="zh-CN" dirty="0"/>
              <a:t>IMR</a:t>
            </a:r>
            <a:r>
              <a:rPr lang="zh-CN" altLang="en-US" dirty="0"/>
              <a:t>某位置</a:t>
            </a:r>
            <a:r>
              <a:rPr lang="en-US" altLang="zh-CN" dirty="0"/>
              <a:t>1</a:t>
            </a:r>
            <a:r>
              <a:rPr lang="zh-CN" altLang="en-US" dirty="0"/>
              <a:t>，则它对应的</a:t>
            </a:r>
            <a:r>
              <a:rPr lang="en-US" altLang="zh-CN" dirty="0"/>
              <a:t>IR</a:t>
            </a:r>
            <a:r>
              <a:rPr lang="zh-CN" altLang="en-US" dirty="0"/>
              <a:t>就被屏蔽；如果该位置</a:t>
            </a:r>
            <a:r>
              <a:rPr lang="en-US" altLang="zh-CN" dirty="0"/>
              <a:t>0</a:t>
            </a:r>
            <a:r>
              <a:rPr lang="zh-CN" altLang="en-US" dirty="0"/>
              <a:t>，则允许该</a:t>
            </a:r>
            <a:r>
              <a:rPr lang="en-US" altLang="zh-CN" dirty="0"/>
              <a:t>IR</a:t>
            </a:r>
            <a:r>
              <a:rPr lang="zh-CN" altLang="en-US" dirty="0"/>
              <a:t>中断传送给</a:t>
            </a:r>
            <a:r>
              <a:rPr lang="en-US" altLang="zh-CN" dirty="0"/>
              <a:t>CPU</a:t>
            </a:r>
            <a:r>
              <a:rPr lang="zh-CN" altLang="en-US" dirty="0"/>
              <a:t>。</a:t>
            </a:r>
            <a:endParaRPr lang="zh-CN" altLang="zh-CN" dirty="0"/>
          </a:p>
          <a:p>
            <a:pPr marL="824230" lvl="1">
              <a:lnSpc>
                <a:spcPct val="90000"/>
              </a:lnSpc>
            </a:pPr>
            <a:r>
              <a:rPr lang="zh-CN" altLang="zh-CN" dirty="0"/>
              <a:t>特殊屏蔽方式</a:t>
            </a:r>
            <a:r>
              <a:rPr lang="zh-CN" altLang="en-US" dirty="0"/>
              <a:t>：</a:t>
            </a:r>
            <a:r>
              <a:rPr lang="zh-CN" altLang="en-US" dirty="0"/>
              <a:t>使优先级别比正在服务的中断源低的中断也能够中断当前的中断服务程序。</a:t>
            </a:r>
            <a:endParaRPr lang="zh-CN" altLang="zh-CN" dirty="0"/>
          </a:p>
          <a:p>
            <a:endParaRPr lang="zh-CN" alt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中断屏蔽管理</a:t>
            </a:r>
            <a:endParaRPr lang="zh-CN" altLang="en-US" dirty="0"/>
          </a:p>
        </p:txBody>
      </p:sp>
      <p:sp>
        <p:nvSpPr>
          <p:cNvPr id="3" name="内容占位符 2"/>
          <p:cNvSpPr>
            <a:spLocks noGrp="1"/>
          </p:cNvSpPr>
          <p:nvPr>
            <p:ph idx="1"/>
          </p:nvPr>
        </p:nvSpPr>
        <p:spPr/>
        <p:txBody>
          <a:bodyPr>
            <a:normAutofit/>
          </a:bodyPr>
          <a:lstStyle/>
          <a:p>
            <a:pPr>
              <a:lnSpc>
                <a:spcPct val="90000"/>
              </a:lnSpc>
            </a:pPr>
            <a:r>
              <a:rPr lang="zh-CN" altLang="zh-CN" sz="2800" dirty="0"/>
              <a:t>在执行一个中断服务程序时，可能希望优先级别比正在服务的中断源低的中断能够中断当前的中断服务程序。</a:t>
            </a:r>
            <a:endParaRPr lang="zh-CN" altLang="zh-CN" sz="2800" dirty="0"/>
          </a:p>
          <a:p>
            <a:pPr>
              <a:lnSpc>
                <a:spcPct val="90000"/>
              </a:lnSpc>
            </a:pPr>
            <a:r>
              <a:rPr lang="zh-CN" altLang="zh-CN" sz="2800" dirty="0"/>
              <a:t>在第i位的IR</a:t>
            </a:r>
            <a:r>
              <a:rPr lang="zh-CN" altLang="zh-CN" sz="2800" baseline="-25000" dirty="0"/>
              <a:t>i</a:t>
            </a:r>
            <a:r>
              <a:rPr lang="zh-CN" altLang="zh-CN" sz="2800" dirty="0"/>
              <a:t>的处理中，若希望使除IR</a:t>
            </a:r>
            <a:r>
              <a:rPr lang="zh-CN" altLang="zh-CN" sz="2800" baseline="-25000" dirty="0"/>
              <a:t>i</a:t>
            </a:r>
            <a:r>
              <a:rPr lang="zh-CN" altLang="zh-CN" sz="2800" dirty="0"/>
              <a:t>以外的所有IR中断请求均可被响应，则首先设置特殊屏蔽方式，再编程将IR</a:t>
            </a:r>
            <a:r>
              <a:rPr lang="zh-CN" altLang="zh-CN" sz="2800" baseline="-25000" dirty="0"/>
              <a:t>i</a:t>
            </a:r>
            <a:r>
              <a:rPr lang="zh-CN" altLang="zh-CN" sz="2800" dirty="0"/>
              <a:t>屏蔽掉(使IMR中的IM</a:t>
            </a:r>
            <a:r>
              <a:rPr lang="zh-CN" altLang="zh-CN" sz="2800" baseline="-25000" dirty="0"/>
              <a:t>i</a:t>
            </a:r>
            <a:r>
              <a:rPr lang="zh-CN" altLang="zh-CN" sz="2800" dirty="0"/>
              <a:t>位置1)，这样就会使ISR的IS</a:t>
            </a:r>
            <a:r>
              <a:rPr lang="zh-CN" altLang="zh-CN" sz="2800" baseline="-25000" dirty="0"/>
              <a:t>i</a:t>
            </a:r>
            <a:r>
              <a:rPr lang="zh-CN" altLang="zh-CN" sz="2800" dirty="0"/>
              <a:t>位复位。这时，除了正在服务的这级中断被屏蔽(不允许产生进一步中断)外，其他各级中断全部被开放。</a:t>
            </a:r>
            <a:endParaRPr lang="zh-CN" altLang="zh-CN" sz="2800" dirty="0"/>
          </a:p>
          <a:p>
            <a:pPr>
              <a:lnSpc>
                <a:spcPct val="90000"/>
              </a:lnSpc>
            </a:pPr>
            <a:r>
              <a:rPr lang="zh-CN" altLang="zh-CN" sz="2800" dirty="0"/>
              <a:t>这样，正在服务的优先级高的中断可以被优先级低的中断申请中断。</a:t>
            </a:r>
            <a:endParaRPr lang="zh-CN" altLang="zh-CN" sz="28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中断结束管理</a:t>
            </a:r>
            <a:endParaRPr lang="zh-CN" altLang="en-US" dirty="0"/>
          </a:p>
        </p:txBody>
      </p:sp>
      <p:sp>
        <p:nvSpPr>
          <p:cNvPr id="3" name="内容占位符 2"/>
          <p:cNvSpPr>
            <a:spLocks noGrp="1"/>
          </p:cNvSpPr>
          <p:nvPr>
            <p:ph idx="1"/>
          </p:nvPr>
        </p:nvSpPr>
        <p:spPr/>
        <p:txBody>
          <a:bodyPr/>
          <a:lstStyle/>
          <a:p>
            <a:pPr marL="0" indent="0">
              <a:lnSpc>
                <a:spcPct val="80000"/>
              </a:lnSpc>
            </a:pPr>
            <a:r>
              <a:rPr lang="zh-CN" altLang="en-US" sz="2800" dirty="0"/>
              <a:t>当8259A响应某一级中断为其服务时，中断服务寄存器ISR的相应位置“1”，当有更高级的中断申请来到时，ISR相应位又置“1”。在中断服务结束时，ISR相应位清“0” 。</a:t>
            </a:r>
            <a:endParaRPr lang="zh-CN" altLang="en-US" sz="2800" dirty="0"/>
          </a:p>
          <a:p>
            <a:pPr marL="0" indent="0">
              <a:lnSpc>
                <a:spcPct val="80000"/>
              </a:lnSpc>
            </a:pPr>
            <a:r>
              <a:rPr lang="zh-CN" altLang="en-US" sz="2800" dirty="0"/>
              <a:t>中断结束管理就是用不同的方式使ISR中相应位清“0”。</a:t>
            </a:r>
            <a:endParaRPr lang="zh-CN" altLang="en-US" sz="2800" dirty="0"/>
          </a:p>
          <a:p>
            <a:pPr marL="0" indent="0">
              <a:lnSpc>
                <a:spcPct val="80000"/>
              </a:lnSpc>
            </a:pPr>
            <a:r>
              <a:rPr lang="zh-CN" altLang="en-US" sz="2800" dirty="0"/>
              <a:t>8259A中断结束管理方式分为：</a:t>
            </a:r>
            <a:endParaRPr lang="zh-CN" altLang="en-US" sz="2800" dirty="0"/>
          </a:p>
          <a:p>
            <a:pPr marL="824230" lvl="1">
              <a:lnSpc>
                <a:spcPct val="80000"/>
              </a:lnSpc>
            </a:pPr>
            <a:r>
              <a:rPr lang="zh-CN" altLang="en-US" sz="2800" dirty="0"/>
              <a:t>非自动中断结束方式</a:t>
            </a:r>
            <a:endParaRPr lang="zh-CN" altLang="en-US" sz="2800" dirty="0"/>
          </a:p>
          <a:p>
            <a:pPr marL="1231900" lvl="2">
              <a:lnSpc>
                <a:spcPct val="80000"/>
              </a:lnSpc>
              <a:buFont typeface="Wingdings" panose="05000000000000000000" pitchFamily="2" charset="2"/>
              <a:buChar char="u"/>
            </a:pPr>
            <a:r>
              <a:rPr lang="zh-CN" altLang="en-US" sz="2800" dirty="0"/>
              <a:t>普通中断结束方式</a:t>
            </a:r>
            <a:endParaRPr lang="zh-CN" altLang="en-US" sz="2800" dirty="0"/>
          </a:p>
          <a:p>
            <a:pPr marL="1231900" lvl="2">
              <a:lnSpc>
                <a:spcPct val="80000"/>
              </a:lnSpc>
              <a:buFont typeface="Wingdings" panose="05000000000000000000" pitchFamily="2" charset="2"/>
              <a:buChar char="u"/>
            </a:pPr>
            <a:r>
              <a:rPr lang="zh-CN" altLang="en-US" sz="2800" dirty="0"/>
              <a:t>特殊中断结束方式。</a:t>
            </a:r>
            <a:endParaRPr lang="zh-CN" altLang="en-US" sz="2800" dirty="0"/>
          </a:p>
          <a:p>
            <a:pPr marL="824230" lvl="1">
              <a:lnSpc>
                <a:spcPct val="80000"/>
              </a:lnSpc>
            </a:pPr>
            <a:r>
              <a:rPr lang="zh-CN" altLang="en-US" sz="2800" dirty="0"/>
              <a:t>自动中断结束方式</a:t>
            </a:r>
            <a:endParaRPr lang="zh-CN" altLang="en-US" sz="2800" dirty="0"/>
          </a:p>
          <a:p>
            <a:endParaRPr lang="zh-CN" alt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中断结束管理方式</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普通中断结束方式：配合全嵌套优先权工作方式使用。</a:t>
            </a:r>
            <a:endParaRPr lang="zh-CN" altLang="en-US" dirty="0"/>
          </a:p>
          <a:p>
            <a:pPr>
              <a:buNone/>
            </a:pPr>
            <a:r>
              <a:rPr lang="zh-CN" altLang="en-US" dirty="0" smtClean="0"/>
              <a:t>    当</a:t>
            </a:r>
            <a:r>
              <a:rPr lang="en-US" altLang="zh-CN" dirty="0"/>
              <a:t>CPU</a:t>
            </a:r>
            <a:r>
              <a:rPr lang="zh-CN" altLang="en-US" dirty="0"/>
              <a:t>用输出指令向</a:t>
            </a:r>
            <a:r>
              <a:rPr lang="en-US" altLang="zh-CN" dirty="0"/>
              <a:t>8259A</a:t>
            </a:r>
            <a:r>
              <a:rPr lang="zh-CN" altLang="en-US" dirty="0"/>
              <a:t>发出正常中断结束</a:t>
            </a:r>
            <a:r>
              <a:rPr lang="en-US" altLang="zh-CN" dirty="0"/>
              <a:t>EOI</a:t>
            </a:r>
            <a:r>
              <a:rPr lang="zh-CN" altLang="en-US" dirty="0"/>
              <a:t>命令时，</a:t>
            </a:r>
            <a:r>
              <a:rPr lang="en-US" altLang="zh-CN" dirty="0"/>
              <a:t>8259A</a:t>
            </a:r>
            <a:r>
              <a:rPr lang="zh-CN" altLang="en-US" dirty="0"/>
              <a:t>就会把</a:t>
            </a:r>
            <a:r>
              <a:rPr lang="en-US" altLang="zh-CN" dirty="0"/>
              <a:t>ISR</a:t>
            </a:r>
            <a:r>
              <a:rPr lang="zh-CN" altLang="en-US" dirty="0"/>
              <a:t>中已置“</a:t>
            </a:r>
            <a:r>
              <a:rPr lang="en-US" altLang="zh-CN" dirty="0"/>
              <a:t>1”</a:t>
            </a:r>
            <a:r>
              <a:rPr lang="zh-CN" altLang="en-US" dirty="0"/>
              <a:t>的位中的级别最高位复位。因为在全嵌套方式中，置“</a:t>
            </a:r>
            <a:r>
              <a:rPr lang="en-US" altLang="zh-CN" dirty="0"/>
              <a:t>1”</a:t>
            </a:r>
            <a:r>
              <a:rPr lang="zh-CN" altLang="en-US" dirty="0"/>
              <a:t>的级别最高</a:t>
            </a:r>
            <a:r>
              <a:rPr lang="en-US" altLang="zh-CN" dirty="0"/>
              <a:t>ISR</a:t>
            </a:r>
            <a:r>
              <a:rPr lang="zh-CN" altLang="en-US" dirty="0"/>
              <a:t>位对应了当前正在处理的中断。</a:t>
            </a:r>
            <a:endParaRPr lang="zh-CN" altLang="en-US" dirty="0"/>
          </a:p>
          <a:p>
            <a:r>
              <a:rPr lang="zh-CN" altLang="en-US" dirty="0"/>
              <a:t>特殊中断结束方式</a:t>
            </a:r>
            <a:r>
              <a:rPr lang="en-US" altLang="zh-CN" dirty="0"/>
              <a:t>(SEOI)</a:t>
            </a:r>
            <a:endParaRPr lang="en-US" altLang="zh-CN" dirty="0"/>
          </a:p>
          <a:p>
            <a:pPr>
              <a:buNone/>
            </a:pPr>
            <a:r>
              <a:rPr lang="zh-CN" altLang="en-US" dirty="0" smtClean="0"/>
              <a:t>   在</a:t>
            </a:r>
            <a:r>
              <a:rPr lang="zh-CN" altLang="en-US" dirty="0"/>
              <a:t>非全嵌套方式下，由于中断优先级不断改变，无法确知当前正在处理的是哪一级中断，这时就要采用特殊</a:t>
            </a:r>
            <a:r>
              <a:rPr lang="en-US" altLang="zh-CN" dirty="0"/>
              <a:t>SEOI</a:t>
            </a:r>
            <a:r>
              <a:rPr lang="zh-CN" altLang="en-US" dirty="0"/>
              <a:t>中断结束方式。在程序中是要发特殊中断结束命令，指出要清除</a:t>
            </a:r>
            <a:r>
              <a:rPr lang="en-US" altLang="zh-CN" dirty="0"/>
              <a:t>ISR</a:t>
            </a:r>
            <a:r>
              <a:rPr lang="zh-CN" altLang="en-US" dirty="0"/>
              <a:t>中的哪一位。</a:t>
            </a:r>
            <a:endParaRPr lang="zh-CN" alt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中断结束管理方式</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自动中断结束方式</a:t>
            </a:r>
            <a:r>
              <a:rPr lang="en-US" altLang="zh-CN" dirty="0"/>
              <a:t>(AEOI)</a:t>
            </a:r>
            <a:r>
              <a:rPr lang="zh-CN" altLang="en-US" dirty="0"/>
              <a:t>：</a:t>
            </a:r>
            <a:endParaRPr lang="zh-CN" altLang="en-US" dirty="0"/>
          </a:p>
          <a:p>
            <a:pPr>
              <a:buNone/>
            </a:pPr>
            <a:r>
              <a:rPr lang="zh-CN" altLang="en-US" dirty="0" smtClean="0"/>
              <a:t>   采用</a:t>
            </a:r>
            <a:r>
              <a:rPr lang="en-US" altLang="zh-CN" dirty="0"/>
              <a:t>AEOI</a:t>
            </a:r>
            <a:r>
              <a:rPr lang="zh-CN" altLang="en-US" dirty="0"/>
              <a:t>方式，则在第二个中断响应信号的后沿，</a:t>
            </a:r>
            <a:r>
              <a:rPr lang="en-US" altLang="zh-CN" dirty="0"/>
              <a:t>8259A</a:t>
            </a:r>
            <a:r>
              <a:rPr lang="zh-CN" altLang="en-US" dirty="0"/>
              <a:t>将自动把中断服务寄存器</a:t>
            </a:r>
            <a:r>
              <a:rPr lang="en-US" altLang="zh-CN" dirty="0"/>
              <a:t>ISR</a:t>
            </a:r>
            <a:r>
              <a:rPr lang="zh-CN" altLang="en-US" dirty="0"/>
              <a:t>中的对应位清除。这样，尽管系统正在为某个设备进行中断服务，但对</a:t>
            </a:r>
            <a:r>
              <a:rPr lang="en-US" altLang="zh-CN" dirty="0"/>
              <a:t>8259A</a:t>
            </a:r>
            <a:r>
              <a:rPr lang="zh-CN" altLang="en-US" dirty="0"/>
              <a:t>来说，中断服务寄存器中却没有保留正在服务的中断的状态。所以，对</a:t>
            </a:r>
            <a:r>
              <a:rPr lang="en-US" altLang="zh-CN" dirty="0"/>
              <a:t>8259A</a:t>
            </a:r>
            <a:r>
              <a:rPr lang="zh-CN" altLang="en-US" dirty="0"/>
              <a:t>来说，好像中断服务已经结束了一样。</a:t>
            </a:r>
            <a:endParaRPr lang="zh-CN" altLang="en-US" dirty="0"/>
          </a:p>
          <a:p>
            <a:pPr>
              <a:buNone/>
            </a:pPr>
            <a:r>
              <a:rPr lang="zh-CN" altLang="en-US" dirty="0" smtClean="0"/>
              <a:t>   只能</a:t>
            </a:r>
            <a:r>
              <a:rPr lang="zh-CN" altLang="en-US" dirty="0"/>
              <a:t>用于没有中断嵌套的情况。</a:t>
            </a:r>
            <a:endParaRPr lang="zh-CN" altLang="en-US" dirty="0"/>
          </a:p>
          <a:p>
            <a:pPr>
              <a:buNone/>
            </a:pPr>
            <a:r>
              <a:rPr lang="zh-CN" altLang="en-US" dirty="0" smtClean="0"/>
              <a:t>   在</a:t>
            </a:r>
            <a:r>
              <a:rPr lang="zh-CN" altLang="en-US" dirty="0"/>
              <a:t>级联方式下，一般用非自动中断结束方式，在中断服务程序结束时，必须发两次中断结束命令，一次发给主片，另一次则发给从片。</a:t>
            </a:r>
            <a:endParaRPr lang="zh-CN" alt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的级联</a:t>
            </a:r>
            <a:endParaRPr lang="zh-CN" altLang="en-US" dirty="0"/>
          </a:p>
        </p:txBody>
      </p:sp>
      <p:sp>
        <p:nvSpPr>
          <p:cNvPr id="3" name="内容占位符 2"/>
          <p:cNvSpPr>
            <a:spLocks noGrp="1"/>
          </p:cNvSpPr>
          <p:nvPr>
            <p:ph idx="1"/>
          </p:nvPr>
        </p:nvSpPr>
        <p:spPr/>
        <p:txBody>
          <a:bodyPr>
            <a:normAutofit/>
          </a:bodyPr>
          <a:lstStyle/>
          <a:p>
            <a:r>
              <a:rPr lang="zh-CN" altLang="en-US" dirty="0"/>
              <a:t>当中断源超过</a:t>
            </a:r>
            <a:r>
              <a:rPr lang="en-US" altLang="zh-CN" dirty="0"/>
              <a:t>8</a:t>
            </a:r>
            <a:r>
              <a:rPr lang="zh-CN" altLang="en-US" dirty="0"/>
              <a:t>个时，可采用</a:t>
            </a:r>
            <a:r>
              <a:rPr lang="en-US" altLang="zh-CN" dirty="0"/>
              <a:t>8259A</a:t>
            </a:r>
            <a:r>
              <a:rPr lang="zh-CN" altLang="en-US" dirty="0"/>
              <a:t>的级联工作方式。指定一片</a:t>
            </a:r>
            <a:r>
              <a:rPr lang="en-US" altLang="zh-CN" dirty="0"/>
              <a:t>8259A</a:t>
            </a:r>
            <a:r>
              <a:rPr lang="zh-CN" altLang="en-US" dirty="0"/>
              <a:t>为主片，它的</a:t>
            </a:r>
            <a:r>
              <a:rPr lang="en-US" altLang="zh-CN" dirty="0"/>
              <a:t>SP</a:t>
            </a:r>
            <a:r>
              <a:rPr lang="zh-CN" altLang="en-US" dirty="0"/>
              <a:t>端接</a:t>
            </a:r>
            <a:r>
              <a:rPr lang="en-US" altLang="zh-CN" dirty="0"/>
              <a:t>+5V</a:t>
            </a:r>
            <a:r>
              <a:rPr lang="zh-CN" altLang="en-US" dirty="0"/>
              <a:t>，</a:t>
            </a:r>
            <a:r>
              <a:rPr lang="en-US" altLang="zh-CN" dirty="0"/>
              <a:t>INT</a:t>
            </a:r>
            <a:r>
              <a:rPr lang="zh-CN" altLang="en-US" dirty="0"/>
              <a:t>接到</a:t>
            </a:r>
            <a:r>
              <a:rPr lang="en-US" altLang="zh-CN" dirty="0"/>
              <a:t>CPU</a:t>
            </a:r>
            <a:r>
              <a:rPr lang="zh-CN" altLang="en-US" dirty="0"/>
              <a:t>的</a:t>
            </a:r>
            <a:r>
              <a:rPr lang="en-US" altLang="zh-CN" dirty="0"/>
              <a:t>INTR</a:t>
            </a:r>
            <a:r>
              <a:rPr lang="zh-CN" altLang="en-US" dirty="0"/>
              <a:t>。而其余的</a:t>
            </a:r>
            <a:r>
              <a:rPr lang="en-US" altLang="zh-CN" dirty="0"/>
              <a:t>8259A</a:t>
            </a:r>
            <a:r>
              <a:rPr lang="zh-CN" altLang="en-US" dirty="0"/>
              <a:t>芯片均作为从片，它的</a:t>
            </a:r>
            <a:r>
              <a:rPr lang="en-US" altLang="zh-CN" dirty="0"/>
              <a:t>SP</a:t>
            </a:r>
            <a:r>
              <a:rPr lang="zh-CN" altLang="en-US" dirty="0"/>
              <a:t>端接地，</a:t>
            </a:r>
            <a:r>
              <a:rPr lang="en-US" altLang="zh-CN" dirty="0"/>
              <a:t>INT</a:t>
            </a:r>
            <a:r>
              <a:rPr lang="zh-CN" altLang="en-US" dirty="0"/>
              <a:t>输出分别接到主片的</a:t>
            </a:r>
            <a:r>
              <a:rPr lang="en-US" altLang="zh-CN" dirty="0"/>
              <a:t>IR</a:t>
            </a:r>
            <a:r>
              <a:rPr lang="zh-CN" altLang="en-US" dirty="0"/>
              <a:t>输入端。由于</a:t>
            </a:r>
            <a:r>
              <a:rPr lang="en-US" altLang="zh-CN" dirty="0"/>
              <a:t>8259A</a:t>
            </a:r>
            <a:r>
              <a:rPr lang="zh-CN" altLang="en-US" dirty="0"/>
              <a:t>有</a:t>
            </a:r>
            <a:r>
              <a:rPr lang="en-US" altLang="zh-CN" dirty="0"/>
              <a:t>8</a:t>
            </a:r>
            <a:r>
              <a:rPr lang="zh-CN" altLang="en-US" dirty="0"/>
              <a:t>个</a:t>
            </a:r>
            <a:r>
              <a:rPr lang="en-US" altLang="zh-CN" dirty="0"/>
              <a:t>IR</a:t>
            </a:r>
            <a:r>
              <a:rPr lang="zh-CN" altLang="en-US" dirty="0"/>
              <a:t>输入端，一个主片</a:t>
            </a:r>
            <a:r>
              <a:rPr lang="en-US" altLang="zh-CN" dirty="0"/>
              <a:t>8259A</a:t>
            </a:r>
            <a:r>
              <a:rPr lang="zh-CN" altLang="en-US" dirty="0"/>
              <a:t>最少可以连接</a:t>
            </a:r>
            <a:r>
              <a:rPr lang="en-US" altLang="zh-CN" dirty="0"/>
              <a:t>1</a:t>
            </a:r>
            <a:r>
              <a:rPr lang="zh-CN" altLang="en-US" dirty="0"/>
              <a:t>片从片</a:t>
            </a:r>
            <a:r>
              <a:rPr lang="en-US" altLang="zh-CN" dirty="0"/>
              <a:t>8259A</a:t>
            </a:r>
            <a:r>
              <a:rPr lang="zh-CN" altLang="en-US" dirty="0"/>
              <a:t>，最多可以连接</a:t>
            </a:r>
            <a:r>
              <a:rPr lang="en-US" altLang="zh-CN" dirty="0"/>
              <a:t>8</a:t>
            </a:r>
            <a:r>
              <a:rPr lang="zh-CN" altLang="en-US" dirty="0"/>
              <a:t>片从片</a:t>
            </a:r>
            <a:r>
              <a:rPr lang="en-US" altLang="zh-CN" dirty="0"/>
              <a:t>8259A</a:t>
            </a:r>
            <a:r>
              <a:rPr lang="zh-CN" altLang="en-US" dirty="0"/>
              <a:t>，所以，</a:t>
            </a:r>
            <a:r>
              <a:rPr lang="en-US" altLang="zh-CN" dirty="0"/>
              <a:t>8259A</a:t>
            </a:r>
            <a:r>
              <a:rPr lang="zh-CN" altLang="en-US" dirty="0"/>
              <a:t>级联最少允许</a:t>
            </a:r>
            <a:r>
              <a:rPr lang="en-US" altLang="zh-CN" dirty="0"/>
              <a:t>15</a:t>
            </a:r>
            <a:r>
              <a:rPr lang="zh-CN" altLang="en-US" dirty="0"/>
              <a:t>个</a:t>
            </a:r>
            <a:r>
              <a:rPr lang="en-US" altLang="zh-CN" dirty="0"/>
              <a:t>IR</a:t>
            </a:r>
            <a:r>
              <a:rPr lang="zh-CN" altLang="en-US" dirty="0"/>
              <a:t>中断请求输入，最多允许有</a:t>
            </a:r>
            <a:r>
              <a:rPr lang="en-US" altLang="zh-CN" dirty="0"/>
              <a:t>64</a:t>
            </a:r>
            <a:r>
              <a:rPr lang="zh-CN" altLang="en-US" dirty="0"/>
              <a:t>个</a:t>
            </a:r>
            <a:r>
              <a:rPr lang="en-US" altLang="zh-CN" dirty="0"/>
              <a:t>IR</a:t>
            </a:r>
            <a:r>
              <a:rPr lang="zh-CN" altLang="en-US" dirty="0"/>
              <a:t>中断请求输入。</a:t>
            </a:r>
            <a:endParaRPr lang="zh-CN" altLang="en-US" dirty="0"/>
          </a:p>
          <a:p>
            <a:r>
              <a:rPr lang="zh-CN" altLang="en-US" dirty="0"/>
              <a:t>不管是主片还是从片，每一片</a:t>
            </a:r>
            <a:r>
              <a:rPr lang="en-US" altLang="zh-CN" dirty="0"/>
              <a:t>8259A</a:t>
            </a:r>
            <a:r>
              <a:rPr lang="zh-CN" altLang="en-US" dirty="0"/>
              <a:t>都有各自独立的初始化程序，以便设置各自的工作状态。</a:t>
            </a:r>
            <a:endParaRPr lang="zh-CN" altLang="en-US" dirty="0"/>
          </a:p>
        </p:txBody>
      </p:sp>
      <p:sp>
        <p:nvSpPr>
          <p:cNvPr id="4" name="Line 4"/>
          <p:cNvSpPr>
            <a:spLocks noChangeShapeType="1"/>
          </p:cNvSpPr>
          <p:nvPr/>
        </p:nvSpPr>
        <p:spPr bwMode="auto">
          <a:xfrm>
            <a:off x="4653825" y="2240507"/>
            <a:ext cx="295275" cy="0"/>
          </a:xfrm>
          <a:prstGeom prst="line">
            <a:avLst/>
          </a:prstGeom>
          <a:noFill/>
          <a:ln w="12700"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Line 4"/>
          <p:cNvSpPr>
            <a:spLocks noChangeShapeType="1"/>
          </p:cNvSpPr>
          <p:nvPr/>
        </p:nvSpPr>
        <p:spPr bwMode="auto">
          <a:xfrm>
            <a:off x="7169785" y="2641101"/>
            <a:ext cx="295275" cy="0"/>
          </a:xfrm>
          <a:prstGeom prst="line">
            <a:avLst/>
          </a:prstGeom>
          <a:noFill/>
          <a:ln w="12700" cmpd="sng">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构成的级联</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b="9880"/>
          <a:stretch>
            <a:fillRect/>
          </a:stretch>
        </p:blipFill>
        <p:spPr bwMode="auto">
          <a:xfrm>
            <a:off x="808373" y="1876301"/>
            <a:ext cx="9830324" cy="3714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a:t>
            </a:r>
            <a:r>
              <a:rPr lang="en-US" altLang="zh-CN" dirty="0" smtClean="0"/>
              <a:t>.4.3   </a:t>
            </a:r>
            <a:r>
              <a:rPr lang="en-US" altLang="zh-CN" dirty="0" smtClean="0"/>
              <a:t>8259A</a:t>
            </a:r>
            <a:r>
              <a:rPr lang="zh-CN" altLang="en-US" dirty="0"/>
              <a:t>的编程</a:t>
            </a:r>
            <a:endParaRPr lang="zh-CN" altLang="en-US" dirty="0"/>
          </a:p>
        </p:txBody>
      </p:sp>
      <p:sp>
        <p:nvSpPr>
          <p:cNvPr id="3" name="内容占位符 2"/>
          <p:cNvSpPr>
            <a:spLocks noGrp="1"/>
          </p:cNvSpPr>
          <p:nvPr>
            <p:ph idx="1"/>
          </p:nvPr>
        </p:nvSpPr>
        <p:spPr/>
        <p:txBody>
          <a:bodyPr/>
          <a:lstStyle/>
          <a:p>
            <a:pPr>
              <a:lnSpc>
                <a:spcPct val="80000"/>
              </a:lnSpc>
            </a:pPr>
            <a:r>
              <a:rPr lang="zh-CN" altLang="zh-CN" sz="2800" dirty="0"/>
              <a:t>8259A是可编程中断控制器，在它工作之前，必须通过软件向其写入控制命令的方法来确定其工作状态，这就是8259A的编程。</a:t>
            </a:r>
            <a:endParaRPr lang="zh-CN" altLang="zh-CN" sz="2800" dirty="0"/>
          </a:p>
          <a:p>
            <a:pPr>
              <a:lnSpc>
                <a:spcPct val="80000"/>
              </a:lnSpc>
            </a:pPr>
            <a:r>
              <a:rPr lang="zh-CN" altLang="zh-CN" sz="2800" dirty="0"/>
              <a:t>控制命令分为：</a:t>
            </a:r>
            <a:endParaRPr lang="zh-CN" altLang="zh-CN" sz="2800" dirty="0"/>
          </a:p>
          <a:p>
            <a:pPr lvl="1">
              <a:lnSpc>
                <a:spcPct val="80000"/>
              </a:lnSpc>
            </a:pPr>
            <a:r>
              <a:rPr lang="zh-CN" altLang="zh-CN" sz="2800" dirty="0">
                <a:solidFill>
                  <a:schemeClr val="hlink"/>
                </a:solidFill>
              </a:rPr>
              <a:t>初始化命令字</a:t>
            </a:r>
            <a:r>
              <a:rPr lang="zh-CN" altLang="zh-CN" sz="2800" dirty="0"/>
              <a:t>(ICW) </a:t>
            </a:r>
            <a:endParaRPr lang="zh-CN" altLang="zh-CN" sz="2800" dirty="0"/>
          </a:p>
          <a:p>
            <a:pPr lvl="1">
              <a:lnSpc>
                <a:spcPct val="80000"/>
              </a:lnSpc>
            </a:pPr>
            <a:r>
              <a:rPr lang="zh-CN" altLang="zh-CN" sz="2800" dirty="0">
                <a:solidFill>
                  <a:schemeClr val="hlink"/>
                </a:solidFill>
              </a:rPr>
              <a:t>操作命令字</a:t>
            </a:r>
            <a:r>
              <a:rPr lang="zh-CN" altLang="zh-CN" sz="2800" dirty="0"/>
              <a:t>(OCW)</a:t>
            </a:r>
            <a:endParaRPr lang="zh-CN" altLang="zh-CN" sz="2800" dirty="0"/>
          </a:p>
          <a:p>
            <a:pPr>
              <a:lnSpc>
                <a:spcPct val="80000"/>
              </a:lnSpc>
            </a:pPr>
            <a:r>
              <a:rPr lang="zh-CN" altLang="zh-CN" sz="2800" dirty="0"/>
              <a:t>8259A的编程分为初始化编程和操作方式编程</a:t>
            </a:r>
            <a:endParaRPr lang="zh-CN" alt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b="13383"/>
          <a:stretch>
            <a:fillRect/>
          </a:stretch>
        </p:blipFill>
        <p:spPr bwMode="auto">
          <a:xfrm>
            <a:off x="5274763" y="478032"/>
            <a:ext cx="2737124" cy="6206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1101909" y="2505892"/>
            <a:ext cx="3078206" cy="2246769"/>
          </a:xfrm>
          <a:prstGeom prst="rect">
            <a:avLst/>
          </a:prstGeom>
          <a:noFill/>
        </p:spPr>
        <p:txBody>
          <a:bodyPr wrap="square">
            <a:spAutoFit/>
          </a:bodyPr>
          <a:lstStyle/>
          <a:p>
            <a:pPr algn="l"/>
            <a:endParaRPr lang="zh-CN" altLang="en-US" sz="2800" b="0" i="0" u="none" strike="noStrike" baseline="0" dirty="0">
              <a:solidFill>
                <a:srgbClr val="000000"/>
              </a:solidFill>
              <a:latin typeface="Wingdings" panose="05000000000000000000" pitchFamily="2" charset="2"/>
            </a:endParaRPr>
          </a:p>
          <a:p>
            <a:r>
              <a:rPr lang="zh-CN" altLang="en-US" sz="2800" b="0" i="0" u="none" strike="noStrike" baseline="0" dirty="0">
                <a:solidFill>
                  <a:srgbClr val="000000"/>
                </a:solidFill>
                <a:latin typeface="黑体" panose="02010609060101010101" pitchFamily="49" charset="-122"/>
                <a:ea typeface="黑体" panose="02010609060101010101" pitchFamily="49" charset="-122"/>
              </a:rPr>
              <a:t>初始化编程流程。</a:t>
            </a:r>
            <a:endParaRPr lang="en-US" altLang="zh-CN" sz="2800" b="0" i="0" u="none" strike="noStrike" baseline="0" dirty="0">
              <a:solidFill>
                <a:srgbClr val="000000"/>
              </a:solidFill>
              <a:latin typeface="黑体" panose="02010609060101010101" pitchFamily="49" charset="-122"/>
              <a:ea typeface="黑体" panose="02010609060101010101" pitchFamily="49" charset="-122"/>
            </a:endParaRPr>
          </a:p>
          <a:p>
            <a:endParaRPr lang="zh-CN" altLang="en-US" sz="2800" b="0" i="0" u="none" strike="noStrike" baseline="0" dirty="0">
              <a:solidFill>
                <a:srgbClr val="000000"/>
              </a:solidFill>
              <a:latin typeface="黑体" panose="02010609060101010101" pitchFamily="49" charset="-122"/>
              <a:ea typeface="黑体" panose="02010609060101010101" pitchFamily="49" charset="-122"/>
            </a:endParaRPr>
          </a:p>
          <a:p>
            <a:r>
              <a:rPr lang="zh-CN" altLang="en-US" sz="2800" b="0" i="0" u="none" strike="noStrike" baseline="0" dirty="0">
                <a:solidFill>
                  <a:srgbClr val="000000"/>
                </a:solidFill>
                <a:latin typeface="黑体" panose="02010609060101010101" pitchFamily="49" charset="-122"/>
                <a:ea typeface="黑体" panose="02010609060101010101" pitchFamily="49" charset="-122"/>
              </a:rPr>
              <a:t>初始化命令字有严格的写入顺序。</a:t>
            </a:r>
            <a:endParaRPr lang="zh-CN" altLang="en-US" sz="2800" b="0" i="0" u="none" strike="noStrike" baseline="0"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初始化编程</a:t>
            </a:r>
            <a:endParaRPr lang="zh-CN" altLang="en-US" dirty="0"/>
          </a:p>
        </p:txBody>
      </p:sp>
      <p:sp>
        <p:nvSpPr>
          <p:cNvPr id="3" name="内容占位符 2"/>
          <p:cNvSpPr>
            <a:spLocks noGrp="1"/>
          </p:cNvSpPr>
          <p:nvPr>
            <p:ph idx="1"/>
          </p:nvPr>
        </p:nvSpPr>
        <p:spPr>
          <a:xfrm>
            <a:off x="838200" y="1538242"/>
            <a:ext cx="10515600" cy="4351338"/>
          </a:xfrm>
        </p:spPr>
        <p:txBody>
          <a:bodyPr/>
          <a:lstStyle/>
          <a:p>
            <a:pPr>
              <a:lnSpc>
                <a:spcPct val="100000"/>
              </a:lnSpc>
            </a:pPr>
            <a:r>
              <a:rPr lang="zh-CN" altLang="zh-CN" dirty="0"/>
              <a:t>写ICW</a:t>
            </a:r>
            <a:r>
              <a:rPr lang="zh-CN" altLang="zh-CN" baseline="-25000" dirty="0"/>
              <a:t>1</a:t>
            </a:r>
            <a:r>
              <a:rPr lang="zh-CN" altLang="zh-CN" dirty="0"/>
              <a:t>意味着重新初始化8259A。</a:t>
            </a:r>
            <a:endParaRPr lang="zh-CN" altLang="zh-CN" dirty="0"/>
          </a:p>
          <a:p>
            <a:pPr>
              <a:lnSpc>
                <a:spcPct val="100000"/>
              </a:lnSpc>
            </a:pPr>
            <a:r>
              <a:rPr kumimoji="0" lang="zh-CN"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ICW</a:t>
            </a:r>
            <a:r>
              <a:rPr kumimoji="0" lang="zh-CN" altLang="zh-CN" sz="2800" b="0" i="0" u="none" strike="noStrike" kern="1200" cap="none" spc="0" normalizeH="0" baseline="-25000" noProof="0" dirty="0">
                <a:ln>
                  <a:noFill/>
                </a:ln>
                <a:solidFill>
                  <a:prstClr val="black"/>
                </a:solidFill>
                <a:effectLst/>
                <a:uLnTx/>
                <a:uFillTx/>
                <a:latin typeface="黑体" panose="02010609060101010101" pitchFamily="49" charset="-122"/>
                <a:ea typeface="黑体" panose="02010609060101010101" pitchFamily="49" charset="-122"/>
                <a:cs typeface="+mn-cs"/>
              </a:rPr>
              <a:t>1</a:t>
            </a:r>
            <a:r>
              <a:rPr lang="zh-CN" altLang="en-US" dirty="0"/>
              <a:t>应写入偶地址中。用于初始化</a:t>
            </a:r>
            <a:r>
              <a:rPr lang="en-US" altLang="zh-CN" dirty="0"/>
              <a:t>8259A,</a:t>
            </a:r>
            <a:r>
              <a:rPr lang="zh-CN" altLang="en-US" dirty="0"/>
              <a:t>确定中断触发方式、单片还是级联和是否要写</a:t>
            </a:r>
            <a:r>
              <a:rPr kumimoji="0" lang="zh-CN"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ICW</a:t>
            </a:r>
            <a:r>
              <a:rPr lang="en-US" altLang="zh-CN" baseline="-25000" dirty="0">
                <a:solidFill>
                  <a:prstClr val="black"/>
                </a:solidFill>
              </a:rPr>
              <a:t>4</a:t>
            </a:r>
            <a:r>
              <a:rPr lang="zh-CN" altLang="en-US" dirty="0"/>
              <a:t>等。</a:t>
            </a:r>
            <a:endParaRPr lang="zh-CN" altLang="en-US" dirty="0"/>
          </a:p>
        </p:txBody>
      </p:sp>
      <p:pic>
        <p:nvPicPr>
          <p:cNvPr id="4" name="图片 3"/>
          <p:cNvPicPr>
            <a:picLocks noChangeAspect="1"/>
          </p:cNvPicPr>
          <p:nvPr/>
        </p:nvPicPr>
        <p:blipFill>
          <a:blip r:embed="rId1"/>
          <a:stretch>
            <a:fillRect/>
          </a:stretch>
        </p:blipFill>
        <p:spPr>
          <a:xfrm>
            <a:off x="2901315" y="3429000"/>
            <a:ext cx="6248400" cy="2701290"/>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初始化编程</a:t>
            </a:r>
            <a:endParaRPr lang="zh-CN" altLang="en-US" dirty="0"/>
          </a:p>
        </p:txBody>
      </p:sp>
      <p:sp>
        <p:nvSpPr>
          <p:cNvPr id="3" name="内容占位符 2"/>
          <p:cNvSpPr>
            <a:spLocks noGrp="1"/>
          </p:cNvSpPr>
          <p:nvPr>
            <p:ph idx="1"/>
          </p:nvPr>
        </p:nvSpPr>
        <p:spPr>
          <a:xfrm>
            <a:off x="838200" y="1825625"/>
            <a:ext cx="10515600" cy="2511244"/>
          </a:xfrm>
        </p:spPr>
        <p:txBody>
          <a:bodyPr/>
          <a:lstStyle/>
          <a:p>
            <a:pPr>
              <a:lnSpc>
                <a:spcPct val="100000"/>
              </a:lnSpc>
            </a:pPr>
            <a:r>
              <a:rPr lang="zh-CN" altLang="en-US" dirty="0"/>
              <a:t>初始化命令字</a:t>
            </a:r>
            <a:r>
              <a:rPr lang="en-US" altLang="zh-CN" dirty="0"/>
              <a:t>ICW2</a:t>
            </a:r>
            <a:endParaRPr lang="en-US" altLang="zh-CN" dirty="0"/>
          </a:p>
          <a:p>
            <a:pPr>
              <a:lnSpc>
                <a:spcPct val="100000"/>
              </a:lnSpc>
            </a:pPr>
            <a:r>
              <a:rPr kumimoji="0" lang="zh-CN"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ICW</a:t>
            </a:r>
            <a:r>
              <a:rPr kumimoji="0" lang="en-US" altLang="zh-CN" sz="2800" b="0" i="0" u="none" strike="noStrike" kern="1200" cap="none" spc="0" normalizeH="0" baseline="-25000" noProof="0" dirty="0">
                <a:ln>
                  <a:noFill/>
                </a:ln>
                <a:solidFill>
                  <a:prstClr val="black"/>
                </a:solidFill>
                <a:effectLst/>
                <a:uLnTx/>
                <a:uFillTx/>
                <a:latin typeface="黑体" panose="02010609060101010101" pitchFamily="49" charset="-122"/>
                <a:ea typeface="黑体" panose="02010609060101010101" pitchFamily="49" charset="-122"/>
                <a:cs typeface="+mn-cs"/>
              </a:rPr>
              <a:t>2</a:t>
            </a:r>
            <a:r>
              <a:rPr lang="zh-CN" altLang="en-US" dirty="0"/>
              <a:t>应写入奇地址中。</a:t>
            </a:r>
            <a:endParaRPr lang="zh-CN" altLang="en-US" dirty="0"/>
          </a:p>
          <a:p>
            <a:pPr>
              <a:lnSpc>
                <a:spcPct val="100000"/>
              </a:lnSpc>
            </a:pPr>
            <a:r>
              <a:rPr lang="zh-CN" altLang="en-US" dirty="0"/>
              <a:t>在</a:t>
            </a:r>
            <a:r>
              <a:rPr lang="en-US" altLang="zh-CN" dirty="0"/>
              <a:t>8086/8088</a:t>
            </a:r>
            <a:r>
              <a:rPr lang="zh-CN" altLang="en-US" dirty="0"/>
              <a:t>系统中，</a:t>
            </a:r>
            <a:r>
              <a:rPr lang="en-US" altLang="zh-CN" dirty="0"/>
              <a:t>8259A</a:t>
            </a:r>
            <a:r>
              <a:rPr lang="zh-CN" altLang="en-US" dirty="0"/>
              <a:t>在第二个中断响应周期，将向</a:t>
            </a:r>
            <a:r>
              <a:rPr lang="en-US" altLang="zh-CN" dirty="0"/>
              <a:t>CPU</a:t>
            </a:r>
            <a:r>
              <a:rPr lang="zh-CN" altLang="en-US" dirty="0"/>
              <a:t>输送中断向量码，其中的</a:t>
            </a:r>
            <a:r>
              <a:rPr kumimoji="0" lang="en-US"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T</a:t>
            </a:r>
            <a:r>
              <a:rPr kumimoji="0" lang="en-US" altLang="zh-CN" sz="2800" b="0" i="0" u="none" strike="noStrike" kern="1200" cap="none" spc="0" normalizeH="0" baseline="-25000" noProof="0" dirty="0">
                <a:ln>
                  <a:noFill/>
                </a:ln>
                <a:solidFill>
                  <a:prstClr val="black"/>
                </a:solidFill>
                <a:effectLst/>
                <a:uLnTx/>
                <a:uFillTx/>
                <a:latin typeface="黑体" panose="02010609060101010101" pitchFamily="49" charset="-122"/>
                <a:ea typeface="黑体" panose="02010609060101010101" pitchFamily="49" charset="-122"/>
                <a:cs typeface="+mn-cs"/>
              </a:rPr>
              <a:t>7 </a:t>
            </a:r>
            <a:r>
              <a:rPr lang="zh-CN" altLang="en-US" dirty="0"/>
              <a:t>～</a:t>
            </a:r>
            <a:r>
              <a:rPr lang="en-US" altLang="zh-CN" dirty="0"/>
              <a:t>T</a:t>
            </a:r>
            <a:r>
              <a:rPr lang="en-US" altLang="zh-CN" baseline="-25000" dirty="0">
                <a:solidFill>
                  <a:prstClr val="black"/>
                </a:solidFill>
              </a:rPr>
              <a:t>3</a:t>
            </a:r>
            <a:r>
              <a:rPr lang="zh-CN" altLang="en-US" dirty="0"/>
              <a:t>是由</a:t>
            </a:r>
            <a:r>
              <a:rPr kumimoji="0" lang="zh-CN" altLang="zh-CN" sz="28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ICW</a:t>
            </a:r>
            <a:r>
              <a:rPr kumimoji="0" lang="en-US" altLang="zh-CN" sz="2800" b="0" i="0" u="none" strike="noStrike" kern="1200" cap="none" spc="0" normalizeH="0" baseline="-25000" noProof="0" dirty="0">
                <a:ln>
                  <a:noFill/>
                </a:ln>
                <a:solidFill>
                  <a:prstClr val="black"/>
                </a:solidFill>
                <a:effectLst/>
                <a:uLnTx/>
                <a:uFillTx/>
                <a:latin typeface="黑体" panose="02010609060101010101" pitchFamily="49" charset="-122"/>
                <a:ea typeface="黑体" panose="02010609060101010101" pitchFamily="49" charset="-122"/>
                <a:cs typeface="+mn-cs"/>
              </a:rPr>
              <a:t>2</a:t>
            </a:r>
            <a:r>
              <a:rPr lang="zh-CN" altLang="en-US" dirty="0"/>
              <a:t>规定的，而低</a:t>
            </a:r>
            <a:r>
              <a:rPr lang="en-US" altLang="zh-CN" dirty="0"/>
              <a:t>3</a:t>
            </a:r>
            <a:r>
              <a:rPr lang="zh-CN" altLang="en-US" dirty="0"/>
              <a:t>位则由</a:t>
            </a:r>
            <a:r>
              <a:rPr lang="en-US" altLang="zh-CN" dirty="0"/>
              <a:t>8259A</a:t>
            </a:r>
            <a:r>
              <a:rPr lang="zh-CN" altLang="en-US" dirty="0"/>
              <a:t>自动插入。</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b="18217"/>
          <a:stretch>
            <a:fillRect/>
          </a:stretch>
        </p:blipFill>
        <p:spPr bwMode="auto">
          <a:xfrm>
            <a:off x="2737576" y="4471806"/>
            <a:ext cx="6552039" cy="1654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初始化编程</a:t>
            </a:r>
            <a:endParaRPr lang="zh-CN" altLang="en-US" dirty="0"/>
          </a:p>
        </p:txBody>
      </p:sp>
      <p:sp>
        <p:nvSpPr>
          <p:cNvPr id="3" name="内容占位符 2"/>
          <p:cNvSpPr>
            <a:spLocks noGrp="1"/>
          </p:cNvSpPr>
          <p:nvPr>
            <p:ph idx="1"/>
          </p:nvPr>
        </p:nvSpPr>
        <p:spPr>
          <a:xfrm>
            <a:off x="838200" y="1825625"/>
            <a:ext cx="10515600" cy="721632"/>
          </a:xfrm>
        </p:spPr>
        <p:txBody>
          <a:bodyPr/>
          <a:lstStyle/>
          <a:p>
            <a:r>
              <a:rPr lang="en-US" altLang="zh-CN" dirty="0"/>
              <a:t>8259A</a:t>
            </a:r>
            <a:r>
              <a:rPr lang="zh-CN" altLang="en-US" dirty="0"/>
              <a:t>的中断向量码</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t="9966"/>
          <a:stretch>
            <a:fillRect/>
          </a:stretch>
        </p:blipFill>
        <p:spPr bwMode="auto">
          <a:xfrm>
            <a:off x="1849392" y="2820942"/>
            <a:ext cx="7585075" cy="246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初始化编程</a:t>
            </a:r>
            <a:endParaRPr lang="zh-CN" altLang="en-US" dirty="0"/>
          </a:p>
        </p:txBody>
      </p:sp>
      <p:sp>
        <p:nvSpPr>
          <p:cNvPr id="3" name="内容占位符 2"/>
          <p:cNvSpPr>
            <a:spLocks noGrp="1"/>
          </p:cNvSpPr>
          <p:nvPr>
            <p:ph idx="1"/>
          </p:nvPr>
        </p:nvSpPr>
        <p:spPr>
          <a:xfrm>
            <a:off x="733697" y="1519487"/>
            <a:ext cx="10515600" cy="2328364"/>
          </a:xfrm>
        </p:spPr>
        <p:txBody>
          <a:bodyPr>
            <a:normAutofit/>
          </a:bodyPr>
          <a:lstStyle/>
          <a:p>
            <a:pPr>
              <a:lnSpc>
                <a:spcPct val="100000"/>
              </a:lnSpc>
            </a:pPr>
            <a:r>
              <a:rPr lang="zh-CN" altLang="en-US" dirty="0"/>
              <a:t>初始化命令字</a:t>
            </a:r>
            <a:r>
              <a:rPr lang="zh-CN" altLang="zh-CN" dirty="0"/>
              <a:t>ICW</a:t>
            </a:r>
            <a:r>
              <a:rPr lang="zh-CN" altLang="zh-CN" baseline="-25000" dirty="0"/>
              <a:t>3</a:t>
            </a:r>
            <a:endParaRPr lang="en-US" altLang="zh-CN" dirty="0"/>
          </a:p>
          <a:p>
            <a:pPr>
              <a:lnSpc>
                <a:spcPct val="100000"/>
              </a:lnSpc>
            </a:pPr>
            <a:r>
              <a:rPr lang="zh-CN" altLang="zh-CN" dirty="0"/>
              <a:t>ICW</a:t>
            </a:r>
            <a:r>
              <a:rPr lang="zh-CN" altLang="zh-CN" baseline="-25000" dirty="0"/>
              <a:t>3</a:t>
            </a:r>
            <a:r>
              <a:rPr lang="zh-CN" altLang="en-US" dirty="0"/>
              <a:t>应写入奇地址中。仅在</a:t>
            </a:r>
            <a:r>
              <a:rPr lang="en-US" altLang="zh-CN" dirty="0"/>
              <a:t>8259A</a:t>
            </a:r>
            <a:r>
              <a:rPr lang="zh-CN" altLang="en-US" dirty="0"/>
              <a:t>级联时需要写入</a:t>
            </a:r>
            <a:r>
              <a:rPr lang="zh-CN" altLang="zh-CN" dirty="0"/>
              <a:t>ICW</a:t>
            </a:r>
            <a:r>
              <a:rPr lang="zh-CN" altLang="zh-CN" baseline="-25000" dirty="0"/>
              <a:t>3 </a:t>
            </a:r>
            <a:r>
              <a:rPr lang="zh-CN" altLang="en-US" dirty="0"/>
              <a:t>。</a:t>
            </a:r>
            <a:endParaRPr lang="zh-CN" altLang="en-US" dirty="0"/>
          </a:p>
          <a:p>
            <a:pPr>
              <a:lnSpc>
                <a:spcPct val="100000"/>
              </a:lnSpc>
            </a:pPr>
            <a:r>
              <a:rPr lang="zh-CN" altLang="en-US" dirty="0"/>
              <a:t>主片</a:t>
            </a:r>
            <a:r>
              <a:rPr lang="en-US" altLang="zh-CN" dirty="0"/>
              <a:t>8259A</a:t>
            </a:r>
            <a:r>
              <a:rPr lang="zh-CN" altLang="en-US" dirty="0"/>
              <a:t>的</a:t>
            </a:r>
            <a:r>
              <a:rPr lang="zh-CN" altLang="zh-CN" dirty="0"/>
              <a:t>ICW</a:t>
            </a:r>
            <a:r>
              <a:rPr lang="zh-CN" altLang="zh-CN" baseline="-25000" dirty="0"/>
              <a:t>3</a:t>
            </a:r>
            <a:r>
              <a:rPr lang="zh-CN" altLang="en-US" dirty="0"/>
              <a:t>确定哪个</a:t>
            </a:r>
            <a:r>
              <a:rPr lang="en-US" altLang="zh-CN" dirty="0"/>
              <a:t>IR</a:t>
            </a:r>
            <a:r>
              <a:rPr lang="zh-CN" altLang="en-US" dirty="0"/>
              <a:t>引脚有从片，从片的</a:t>
            </a:r>
            <a:r>
              <a:rPr lang="zh-CN" altLang="zh-CN" dirty="0"/>
              <a:t>ICW</a:t>
            </a:r>
            <a:r>
              <a:rPr lang="zh-CN" altLang="zh-CN" baseline="-25000" dirty="0"/>
              <a:t>3</a:t>
            </a:r>
            <a:r>
              <a:rPr lang="zh-CN" altLang="en-US" dirty="0"/>
              <a:t>用编码表示对接的主片</a:t>
            </a:r>
            <a:r>
              <a:rPr lang="en-US" altLang="zh-CN" dirty="0"/>
              <a:t>IR</a:t>
            </a:r>
            <a:r>
              <a:rPr lang="zh-CN" altLang="en-US" dirty="0"/>
              <a:t>引脚。</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b="6407"/>
          <a:stretch>
            <a:fillRect/>
          </a:stretch>
        </p:blipFill>
        <p:spPr bwMode="auto">
          <a:xfrm>
            <a:off x="5143038" y="3343798"/>
            <a:ext cx="4916487"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初始化编程</a:t>
            </a:r>
            <a:endParaRPr lang="zh-CN" altLang="en-US" dirty="0"/>
          </a:p>
        </p:txBody>
      </p:sp>
      <p:sp>
        <p:nvSpPr>
          <p:cNvPr id="3" name="内容占位符 2"/>
          <p:cNvSpPr>
            <a:spLocks noGrp="1"/>
          </p:cNvSpPr>
          <p:nvPr>
            <p:ph idx="1"/>
          </p:nvPr>
        </p:nvSpPr>
        <p:spPr>
          <a:xfrm>
            <a:off x="838200" y="1825625"/>
            <a:ext cx="10515600" cy="1603375"/>
          </a:xfrm>
        </p:spPr>
        <p:txBody>
          <a:bodyPr/>
          <a:lstStyle/>
          <a:p>
            <a:pPr>
              <a:lnSpc>
                <a:spcPct val="100000"/>
              </a:lnSpc>
            </a:pPr>
            <a:r>
              <a:rPr lang="zh-CN" altLang="en-US" dirty="0"/>
              <a:t>初始化命令字</a:t>
            </a:r>
            <a:r>
              <a:rPr lang="zh-CN" altLang="zh-CN" dirty="0"/>
              <a:t>ICW</a:t>
            </a:r>
            <a:r>
              <a:rPr lang="zh-CN" altLang="zh-CN" baseline="-25000" dirty="0"/>
              <a:t>4 </a:t>
            </a:r>
            <a:endParaRPr lang="en-US" altLang="zh-CN" baseline="-25000" dirty="0"/>
          </a:p>
          <a:p>
            <a:pPr>
              <a:lnSpc>
                <a:spcPct val="100000"/>
              </a:lnSpc>
            </a:pPr>
            <a:r>
              <a:rPr lang="zh-CN" altLang="zh-CN" dirty="0"/>
              <a:t>ICW</a:t>
            </a:r>
            <a:r>
              <a:rPr lang="zh-CN" altLang="zh-CN" baseline="-25000" dirty="0"/>
              <a:t>4</a:t>
            </a:r>
            <a:r>
              <a:rPr lang="zh-CN" altLang="en-US" dirty="0"/>
              <a:t>应写入奇地址中。</a:t>
            </a:r>
            <a:r>
              <a:rPr lang="zh-CN" altLang="zh-CN" dirty="0"/>
              <a:t>ICW</a:t>
            </a:r>
            <a:r>
              <a:rPr lang="zh-CN" altLang="zh-CN" baseline="-25000" dirty="0"/>
              <a:t>4</a:t>
            </a:r>
            <a:r>
              <a:rPr lang="zh-CN" altLang="en-US" dirty="0"/>
              <a:t>用于确定</a:t>
            </a:r>
            <a:r>
              <a:rPr lang="en-US" altLang="zh-CN" dirty="0"/>
              <a:t>EOI</a:t>
            </a:r>
            <a:r>
              <a:rPr lang="zh-CN" altLang="en-US" dirty="0"/>
              <a:t>方式、嵌套方式和缓冲方式等。</a:t>
            </a:r>
            <a:endParaRPr lang="zh-CN" altLang="en-US" dirty="0"/>
          </a:p>
        </p:txBody>
      </p:sp>
      <p:pic>
        <p:nvPicPr>
          <p:cNvPr id="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b="12479"/>
          <a:stretch>
            <a:fillRect/>
          </a:stretch>
        </p:blipFill>
        <p:spPr bwMode="auto">
          <a:xfrm>
            <a:off x="2400391" y="3271338"/>
            <a:ext cx="7148513" cy="257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操作方式编程</a:t>
            </a:r>
            <a:endParaRPr lang="zh-CN" altLang="en-US" dirty="0"/>
          </a:p>
        </p:txBody>
      </p:sp>
      <p:sp>
        <p:nvSpPr>
          <p:cNvPr id="3" name="内容占位符 2"/>
          <p:cNvSpPr>
            <a:spLocks noGrp="1"/>
          </p:cNvSpPr>
          <p:nvPr>
            <p:ph idx="1"/>
          </p:nvPr>
        </p:nvSpPr>
        <p:spPr/>
        <p:txBody>
          <a:bodyPr/>
          <a:lstStyle/>
          <a:p>
            <a:pPr algn="l"/>
            <a:endParaRPr lang="zh-CN" altLang="en-US" sz="1800" b="0" i="0" u="none" strike="noStrike" baseline="0" dirty="0">
              <a:solidFill>
                <a:srgbClr val="000000"/>
              </a:solidFill>
              <a:latin typeface="楷体" panose="02010609060101010101" pitchFamily="49" charset="-122"/>
              <a:ea typeface="楷体" panose="02010609060101010101" pitchFamily="49" charset="-122"/>
            </a:endParaRPr>
          </a:p>
          <a:p>
            <a:pPr>
              <a:lnSpc>
                <a:spcPct val="100000"/>
              </a:lnSpc>
            </a:pPr>
            <a:r>
              <a:rPr lang="zh-CN" altLang="zh-CN" dirty="0"/>
              <a:t>由CPU向8259A送3个字节的操作命令字OCW，以规定8259A的操作方式，改变8259A的中断控制方式、屏蔽中断源以及读出8259A的工作状态信息。</a:t>
            </a:r>
            <a:endParaRPr lang="zh-CN" altLang="zh-CN" dirty="0"/>
          </a:p>
          <a:p>
            <a:pPr>
              <a:lnSpc>
                <a:spcPct val="100000"/>
              </a:lnSpc>
            </a:pPr>
            <a:r>
              <a:rPr lang="zh-CN" altLang="zh-CN" dirty="0"/>
              <a:t>OCW可在8259A初始化以后的任何时刻写入，写的顺序也没有严格要求。</a:t>
            </a:r>
            <a:endParaRPr lang="zh-CN" altLang="zh-CN" dirty="0"/>
          </a:p>
          <a:p>
            <a:endParaRPr lang="zh-CN" alt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操作方式编程</a:t>
            </a:r>
            <a:endParaRPr lang="zh-CN" altLang="en-US" dirty="0"/>
          </a:p>
        </p:txBody>
      </p:sp>
      <p:sp>
        <p:nvSpPr>
          <p:cNvPr id="3" name="内容占位符 2"/>
          <p:cNvSpPr>
            <a:spLocks noGrp="1"/>
          </p:cNvSpPr>
          <p:nvPr>
            <p:ph idx="1"/>
          </p:nvPr>
        </p:nvSpPr>
        <p:spPr>
          <a:xfrm>
            <a:off x="838200" y="1825625"/>
            <a:ext cx="10515600" cy="1603375"/>
          </a:xfrm>
        </p:spPr>
        <p:txBody>
          <a:bodyPr/>
          <a:lstStyle/>
          <a:p>
            <a:pPr>
              <a:lnSpc>
                <a:spcPct val="100000"/>
              </a:lnSpc>
            </a:pPr>
            <a:r>
              <a:rPr lang="zh-CN" altLang="en-US" dirty="0"/>
              <a:t>操作命令字</a:t>
            </a:r>
            <a:r>
              <a:rPr lang="zh-CN" altLang="zh-CN" dirty="0"/>
              <a:t>OCW</a:t>
            </a:r>
            <a:r>
              <a:rPr lang="zh-CN" altLang="zh-CN" baseline="-25000" dirty="0"/>
              <a:t>1 </a:t>
            </a:r>
            <a:r>
              <a:rPr lang="zh-CN" altLang="en-US" dirty="0"/>
              <a:t>：</a:t>
            </a:r>
            <a:endParaRPr lang="zh-CN" altLang="en-US" dirty="0"/>
          </a:p>
          <a:p>
            <a:pPr>
              <a:lnSpc>
                <a:spcPct val="100000"/>
              </a:lnSpc>
            </a:pPr>
            <a:r>
              <a:rPr lang="zh-CN" altLang="zh-CN" dirty="0"/>
              <a:t>OCW</a:t>
            </a:r>
            <a:r>
              <a:rPr lang="zh-CN" altLang="zh-CN" baseline="-25000" dirty="0"/>
              <a:t>1</a:t>
            </a:r>
            <a:r>
              <a:rPr lang="zh-CN" altLang="en-US" dirty="0"/>
              <a:t>应写入奇地址中。</a:t>
            </a:r>
            <a:r>
              <a:rPr lang="zh-CN" altLang="zh-CN" dirty="0"/>
              <a:t> OCW</a:t>
            </a:r>
            <a:r>
              <a:rPr lang="zh-CN" altLang="zh-CN" baseline="-25000" dirty="0"/>
              <a:t>1</a:t>
            </a:r>
            <a:r>
              <a:rPr lang="zh-CN" altLang="en-US" dirty="0"/>
              <a:t>是中断屏蔽命令字，其每一位可以对相应的中断请求输入线进行屏蔽。</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301921" y="3563937"/>
            <a:ext cx="7181850" cy="198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操作方式编程</a:t>
            </a:r>
            <a:endParaRPr lang="zh-CN" altLang="en-US" dirty="0"/>
          </a:p>
        </p:txBody>
      </p:sp>
      <p:sp>
        <p:nvSpPr>
          <p:cNvPr id="3" name="内容占位符 2"/>
          <p:cNvSpPr>
            <a:spLocks noGrp="1"/>
          </p:cNvSpPr>
          <p:nvPr>
            <p:ph idx="1"/>
          </p:nvPr>
        </p:nvSpPr>
        <p:spPr>
          <a:xfrm>
            <a:off x="838200" y="1825625"/>
            <a:ext cx="10515600" cy="734695"/>
          </a:xfrm>
        </p:spPr>
        <p:txBody>
          <a:bodyPr/>
          <a:lstStyle/>
          <a:p>
            <a:r>
              <a:rPr lang="zh-CN" altLang="en-US" dirty="0"/>
              <a:t>操作命令字</a:t>
            </a:r>
            <a:r>
              <a:rPr lang="zh-CN" altLang="zh-CN" sz="2800" dirty="0"/>
              <a:t>OCW</a:t>
            </a:r>
            <a:r>
              <a:rPr lang="zh-CN" altLang="zh-CN" baseline="-25000" dirty="0"/>
              <a:t>2 </a:t>
            </a:r>
            <a:r>
              <a:rPr lang="zh-CN" altLang="en-US" dirty="0"/>
              <a:t>：用于发</a:t>
            </a:r>
            <a:r>
              <a:rPr lang="en-US" altLang="zh-CN" dirty="0"/>
              <a:t>EOI</a:t>
            </a:r>
            <a:r>
              <a:rPr lang="zh-CN" altLang="en-US" dirty="0"/>
              <a:t>命令、控制优先级循环等。</a:t>
            </a:r>
            <a:endParaRPr lang="zh-CN" altLang="en-US" dirty="0"/>
          </a:p>
        </p:txBody>
      </p:sp>
      <p:pic>
        <p:nvPicPr>
          <p:cNvPr id="5" name="图片 4"/>
          <p:cNvPicPr>
            <a:picLocks noChangeAspect="1"/>
          </p:cNvPicPr>
          <p:nvPr/>
        </p:nvPicPr>
        <p:blipFill>
          <a:blip r:embed="rId1"/>
          <a:stretch>
            <a:fillRect/>
          </a:stretch>
        </p:blipFill>
        <p:spPr>
          <a:xfrm>
            <a:off x="3218815" y="2560320"/>
            <a:ext cx="6449060" cy="3399155"/>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操作方式编程</a:t>
            </a:r>
            <a:endParaRPr lang="zh-CN" altLang="en-US" dirty="0"/>
          </a:p>
        </p:txBody>
      </p:sp>
      <p:sp>
        <p:nvSpPr>
          <p:cNvPr id="3" name="内容占位符 2"/>
          <p:cNvSpPr>
            <a:spLocks noGrp="1"/>
          </p:cNvSpPr>
          <p:nvPr>
            <p:ph idx="1"/>
          </p:nvPr>
        </p:nvSpPr>
        <p:spPr>
          <a:xfrm>
            <a:off x="838200" y="1825625"/>
            <a:ext cx="10515600" cy="1231084"/>
          </a:xfrm>
        </p:spPr>
        <p:txBody>
          <a:bodyPr/>
          <a:lstStyle/>
          <a:p>
            <a:pPr>
              <a:lnSpc>
                <a:spcPct val="100000"/>
              </a:lnSpc>
            </a:pPr>
            <a:r>
              <a:rPr lang="zh-CN" altLang="en-US" dirty="0"/>
              <a:t>操作命令字</a:t>
            </a:r>
            <a:r>
              <a:rPr lang="zh-CN" altLang="zh-CN" dirty="0"/>
              <a:t>OCW</a:t>
            </a:r>
            <a:r>
              <a:rPr lang="zh-CN" altLang="zh-CN" baseline="-25000" dirty="0"/>
              <a:t>3 </a:t>
            </a:r>
            <a:r>
              <a:rPr lang="zh-CN" altLang="en-US" dirty="0"/>
              <a:t>：</a:t>
            </a:r>
            <a:endParaRPr lang="zh-CN" altLang="en-US" dirty="0"/>
          </a:p>
          <a:p>
            <a:pPr>
              <a:lnSpc>
                <a:spcPct val="100000"/>
              </a:lnSpc>
            </a:pPr>
            <a:r>
              <a:rPr lang="zh-CN" altLang="zh-CN" dirty="0"/>
              <a:t>OCW</a:t>
            </a:r>
            <a:r>
              <a:rPr lang="zh-CN" altLang="zh-CN" baseline="-25000" dirty="0"/>
              <a:t>3</a:t>
            </a:r>
            <a:r>
              <a:rPr lang="zh-CN" altLang="en-US" dirty="0"/>
              <a:t>应写入偶地址中。</a:t>
            </a:r>
            <a:r>
              <a:rPr lang="zh-CN" altLang="zh-CN" dirty="0"/>
              <a:t> OCW</a:t>
            </a:r>
            <a:r>
              <a:rPr lang="zh-CN" altLang="zh-CN" baseline="-25000" dirty="0"/>
              <a:t>3</a:t>
            </a:r>
            <a:r>
              <a:rPr lang="zh-CN" altLang="en-US" dirty="0"/>
              <a:t>是屏蔽方式和状态读出控制字。</a:t>
            </a:r>
            <a:endParaRPr lang="zh-CN" altLang="en-US" dirty="0"/>
          </a:p>
        </p:txBody>
      </p:sp>
      <p:pic>
        <p:nvPicPr>
          <p:cNvPr id="4"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b="9636"/>
          <a:stretch>
            <a:fillRect/>
          </a:stretch>
        </p:blipFill>
        <p:spPr bwMode="auto">
          <a:xfrm>
            <a:off x="3181792" y="3128283"/>
            <a:ext cx="5596494" cy="3364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的应用</a:t>
            </a:r>
            <a:endParaRPr lang="zh-CN" altLang="en-US" dirty="0"/>
          </a:p>
        </p:txBody>
      </p:sp>
      <p:sp>
        <p:nvSpPr>
          <p:cNvPr id="3" name="内容占位符 2"/>
          <p:cNvSpPr>
            <a:spLocks noGrp="1"/>
          </p:cNvSpPr>
          <p:nvPr>
            <p:ph idx="1"/>
          </p:nvPr>
        </p:nvSpPr>
        <p:spPr/>
        <p:txBody>
          <a:bodyPr>
            <a:normAutofit fontScale="32500" lnSpcReduction="20000"/>
          </a:bodyPr>
          <a:lstStyle/>
          <a:p>
            <a:pPr marL="0" indent="0">
              <a:lnSpc>
                <a:spcPct val="120000"/>
              </a:lnSpc>
            </a:pPr>
            <a:r>
              <a:rPr lang="zh-CN" altLang="zh-CN" sz="7000" dirty="0"/>
              <a:t>在IBM PC/XT系统中，只用一片8259A中断控制器，用来提供8级中断请求，其中IR</a:t>
            </a:r>
            <a:r>
              <a:rPr lang="zh-CN" altLang="zh-CN" sz="7000" baseline="-25000" dirty="0"/>
              <a:t>0</a:t>
            </a:r>
            <a:r>
              <a:rPr lang="zh-CN" altLang="zh-CN" sz="7000" dirty="0"/>
              <a:t>优先级最高，IR</a:t>
            </a:r>
            <a:r>
              <a:rPr lang="zh-CN" altLang="zh-CN" sz="7000" baseline="-25000" dirty="0"/>
              <a:t>7</a:t>
            </a:r>
            <a:r>
              <a:rPr lang="zh-CN" altLang="zh-CN" sz="7000" dirty="0"/>
              <a:t>优先级最低。</a:t>
            </a:r>
            <a:endParaRPr lang="zh-CN" altLang="zh-CN" sz="7000" dirty="0"/>
          </a:p>
          <a:p>
            <a:pPr marL="0" indent="0">
              <a:lnSpc>
                <a:spcPct val="120000"/>
              </a:lnSpc>
            </a:pPr>
            <a:r>
              <a:rPr lang="zh-CN" altLang="zh-CN" sz="7000" dirty="0"/>
              <a:t>IR</a:t>
            </a:r>
            <a:r>
              <a:rPr lang="zh-CN" altLang="zh-CN" sz="7000" baseline="-25000" dirty="0"/>
              <a:t>0</a:t>
            </a:r>
            <a:r>
              <a:rPr lang="zh-CN" altLang="zh-CN" sz="7000" dirty="0"/>
              <a:t>～IR</a:t>
            </a:r>
            <a:r>
              <a:rPr lang="zh-CN" altLang="zh-CN" sz="7000" baseline="-25000" dirty="0"/>
              <a:t>7</a:t>
            </a:r>
            <a:r>
              <a:rPr lang="zh-CN" altLang="zh-CN" sz="7000" dirty="0"/>
              <a:t>分别用于日历时钟中断、键盘中断、保留、网络通信、异步通信中断、硬盘中断、软盘中断和打印机中断。</a:t>
            </a:r>
            <a:endParaRPr lang="zh-CN" altLang="zh-CN" sz="7000" dirty="0"/>
          </a:p>
          <a:p>
            <a:pPr marL="0" indent="0">
              <a:lnSpc>
                <a:spcPct val="120000"/>
              </a:lnSpc>
            </a:pPr>
            <a:r>
              <a:rPr lang="zh-CN" altLang="zh-CN" sz="7000" dirty="0"/>
              <a:t>设8259A的ICW</a:t>
            </a:r>
            <a:r>
              <a:rPr lang="zh-CN" altLang="zh-CN" sz="7000" baseline="-25000" dirty="0"/>
              <a:t>2</a:t>
            </a:r>
            <a:r>
              <a:rPr lang="zh-CN" altLang="zh-CN" sz="7000" dirty="0"/>
              <a:t>高5位T</a:t>
            </a:r>
            <a:r>
              <a:rPr lang="zh-CN" altLang="zh-CN" sz="7000" baseline="-25000" dirty="0"/>
              <a:t>7</a:t>
            </a:r>
            <a:r>
              <a:rPr lang="zh-CN" altLang="zh-CN" sz="7000" dirty="0"/>
              <a:t>～T</a:t>
            </a:r>
            <a:r>
              <a:rPr lang="zh-CN" altLang="zh-CN" sz="7000" baseline="-25000" dirty="0"/>
              <a:t>3</a:t>
            </a:r>
            <a:r>
              <a:rPr lang="zh-CN" altLang="zh-CN" sz="7000" dirty="0"/>
              <a:t>=00001，对应的中断类型码为08H～0FH。</a:t>
            </a:r>
            <a:endParaRPr lang="zh-CN" altLang="zh-CN" sz="7000" dirty="0"/>
          </a:p>
          <a:p>
            <a:pPr marL="0" indent="0">
              <a:lnSpc>
                <a:spcPct val="120000"/>
              </a:lnSpc>
            </a:pPr>
            <a:r>
              <a:rPr lang="zh-CN" altLang="zh-CN" sz="7000" dirty="0"/>
              <a:t>片选地址为20H、21H。</a:t>
            </a:r>
            <a:endParaRPr lang="zh-CN" altLang="zh-CN" sz="7000" dirty="0"/>
          </a:p>
          <a:p>
            <a:pPr marL="0" indent="0">
              <a:lnSpc>
                <a:spcPct val="120000"/>
              </a:lnSpc>
            </a:pPr>
            <a:r>
              <a:rPr lang="zh-CN" altLang="zh-CN" sz="7000" dirty="0"/>
              <a:t>步骤：</a:t>
            </a:r>
            <a:endParaRPr lang="zh-CN" altLang="zh-CN" sz="7000" dirty="0"/>
          </a:p>
          <a:p>
            <a:pPr marL="824230" lvl="1">
              <a:lnSpc>
                <a:spcPct val="120000"/>
              </a:lnSpc>
            </a:pPr>
            <a:r>
              <a:rPr lang="zh-CN" altLang="zh-CN" sz="7000" dirty="0"/>
              <a:t>初始化</a:t>
            </a:r>
            <a:endParaRPr lang="zh-CN" altLang="zh-CN" sz="7000" dirty="0"/>
          </a:p>
          <a:p>
            <a:pPr marL="824230" lvl="1">
              <a:lnSpc>
                <a:spcPct val="120000"/>
              </a:lnSpc>
            </a:pPr>
            <a:r>
              <a:rPr lang="zh-CN" altLang="zh-CN" sz="7000" dirty="0"/>
              <a:t>送中断向量</a:t>
            </a:r>
            <a:endParaRPr lang="zh-CN" altLang="zh-CN" sz="7000" dirty="0"/>
          </a:p>
          <a:p>
            <a:pPr marL="824230" lvl="1">
              <a:lnSpc>
                <a:spcPct val="120000"/>
              </a:lnSpc>
            </a:pPr>
            <a:r>
              <a:rPr lang="zh-CN" altLang="zh-CN" sz="7000" dirty="0"/>
              <a:t>中断子程序结束</a:t>
            </a:r>
            <a:endParaRPr lang="zh-CN" altLang="zh-CN" sz="7000" dirty="0"/>
          </a:p>
          <a:p>
            <a:endParaRPr lang="zh-CN" alt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的应用</a:t>
            </a:r>
            <a:endParaRPr lang="zh-CN" altLang="en-US" dirty="0"/>
          </a:p>
        </p:txBody>
      </p:sp>
      <p:sp>
        <p:nvSpPr>
          <p:cNvPr id="3" name="内容占位符 2"/>
          <p:cNvSpPr>
            <a:spLocks noGrp="1"/>
          </p:cNvSpPr>
          <p:nvPr>
            <p:ph idx="1"/>
          </p:nvPr>
        </p:nvSpPr>
        <p:spPr>
          <a:xfrm>
            <a:off x="838200" y="1825625"/>
            <a:ext cx="10515600" cy="695506"/>
          </a:xfrm>
        </p:spPr>
        <p:txBody>
          <a:bodyPr/>
          <a:lstStyle/>
          <a:p>
            <a:r>
              <a:rPr lang="zh-CN" altLang="en-US" dirty="0"/>
              <a:t>初始化编程</a:t>
            </a:r>
            <a:endParaRPr lang="zh-CN" altLang="en-US" dirty="0"/>
          </a:p>
        </p:txBody>
      </p:sp>
      <p:sp>
        <p:nvSpPr>
          <p:cNvPr id="5" name="文本框 4"/>
          <p:cNvSpPr txBox="1"/>
          <p:nvPr/>
        </p:nvSpPr>
        <p:spPr>
          <a:xfrm>
            <a:off x="1126673" y="2801031"/>
            <a:ext cx="8006442" cy="2456057"/>
          </a:xfrm>
          <a:prstGeom prst="rect">
            <a:avLst/>
          </a:prstGeom>
          <a:noFill/>
        </p:spPr>
        <p:txBody>
          <a:bodyPr wrap="square">
            <a:spAutoFit/>
          </a:bodyPr>
          <a:lstStyle/>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MOV  AL，13</a:t>
            </a:r>
            <a:r>
              <a:rPr kumimoji="0" lang="zh-CN" altLang="zh-CN" sz="2400" b="0" i="0" u="none" strike="noStrike" kern="1200" cap="none" spc="0" normalizeH="0" baseline="0" noProof="0" dirty="0" smtClean="0">
                <a:ln>
                  <a:noFill/>
                </a:ln>
                <a:solidFill>
                  <a:srgbClr val="000000"/>
                </a:solidFill>
                <a:effectLst/>
                <a:uLnTx/>
                <a:uFillTx/>
                <a:latin typeface="Times New Roman" panose="02020603050405020304"/>
                <a:cs typeface="+mn-cs"/>
              </a:rPr>
              <a:t>H</a:t>
            </a:r>
            <a:r>
              <a:rPr kumimoji="0" lang="zh-CN" altLang="en-US" sz="2400" b="0" i="0" u="none" strike="noStrike" kern="1200" cap="none" spc="0" normalizeH="0" baseline="0" noProof="0" dirty="0" smtClean="0">
                <a:ln>
                  <a:noFill/>
                </a:ln>
                <a:solidFill>
                  <a:srgbClr val="000000"/>
                </a:solidFill>
                <a:effectLst/>
                <a:uLnTx/>
                <a:uFillTx/>
                <a:latin typeface="Times New Roman" panose="02020603050405020304"/>
                <a:cs typeface="+mn-cs"/>
              </a:rPr>
              <a:t>；</a:t>
            </a:r>
            <a:r>
              <a:rPr kumimoji="0" lang="en-US" altLang="zh-CN" sz="2400" b="0" i="0" u="none" strike="noStrike" kern="1200" cap="none" spc="0" normalizeH="0" baseline="0" noProof="0" dirty="0" smtClean="0">
                <a:ln>
                  <a:noFill/>
                </a:ln>
                <a:solidFill>
                  <a:srgbClr val="000000"/>
                </a:solidFill>
                <a:effectLst/>
                <a:uLnTx/>
                <a:uFillTx/>
                <a:latin typeface="Times New Roman" panose="02020603050405020304"/>
                <a:cs typeface="+mn-cs"/>
              </a:rPr>
              <a:t>00010011</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OUT  20H，AL；写ICW</a:t>
            </a:r>
            <a:r>
              <a:rPr kumimoji="0" lang="zh-CN" altLang="zh-CN" sz="2400" b="0" i="0" u="none" strike="noStrike" kern="1200" cap="none" spc="0" normalizeH="0" baseline="-25000" noProof="0" dirty="0">
                <a:ln>
                  <a:noFill/>
                </a:ln>
                <a:solidFill>
                  <a:srgbClr val="000000"/>
                </a:solidFill>
                <a:effectLst/>
                <a:uLnTx/>
                <a:uFillTx/>
                <a:latin typeface="Times New Roman" panose="02020603050405020304"/>
                <a:cs typeface="+mn-cs"/>
              </a:rPr>
              <a:t>1</a:t>
            </a: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，单片，边沿触发，需要ICW</a:t>
            </a:r>
            <a:r>
              <a:rPr kumimoji="0" lang="zh-CN" altLang="zh-CN" sz="2400" b="0" i="0" u="none" strike="noStrike" kern="1200" cap="none" spc="0" normalizeH="0" baseline="-25000" noProof="0" dirty="0">
                <a:ln>
                  <a:noFill/>
                </a:ln>
                <a:solidFill>
                  <a:srgbClr val="000000"/>
                </a:solidFill>
                <a:effectLst/>
                <a:uLnTx/>
                <a:uFillTx/>
                <a:latin typeface="Times New Roman" panose="02020603050405020304"/>
                <a:cs typeface="+mn-cs"/>
              </a:rPr>
              <a:t>4</a:t>
            </a:r>
            <a:endParaRPr kumimoji="0" lang="zh-CN" altLang="zh-CN" sz="2400" b="0" i="0" u="none" strike="noStrike" kern="1200" cap="none" spc="0" normalizeH="0" baseline="-2500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MOV  AL，</a:t>
            </a:r>
            <a:r>
              <a:rPr kumimoji="0" lang="zh-CN" altLang="zh-CN" sz="2400" b="0" i="0" u="none" strike="noStrike" kern="1200" cap="none" spc="0" normalizeH="0" baseline="0" noProof="0" dirty="0" smtClean="0">
                <a:ln>
                  <a:noFill/>
                </a:ln>
                <a:solidFill>
                  <a:srgbClr val="000000"/>
                </a:solidFill>
                <a:effectLst/>
                <a:uLnTx/>
                <a:uFillTx/>
                <a:latin typeface="Times New Roman" panose="02020603050405020304"/>
                <a:cs typeface="+mn-cs"/>
              </a:rPr>
              <a:t>8</a:t>
            </a:r>
            <a:r>
              <a:rPr kumimoji="0" lang="zh-CN" altLang="en-US" sz="2400" b="0" i="0" u="none" strike="noStrike" kern="1200" cap="none" spc="0" normalizeH="0" baseline="0" noProof="0" dirty="0" smtClean="0">
                <a:ln>
                  <a:noFill/>
                </a:ln>
                <a:solidFill>
                  <a:srgbClr val="000000"/>
                </a:solidFill>
                <a:effectLst/>
                <a:uLnTx/>
                <a:uFillTx/>
                <a:latin typeface="Times New Roman" panose="02020603050405020304"/>
                <a:cs typeface="+mn-cs"/>
              </a:rPr>
              <a:t>；</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OUT  21H，AL；写ICW</a:t>
            </a:r>
            <a:r>
              <a:rPr kumimoji="0" lang="zh-CN" altLang="zh-CN" sz="2400" b="0" i="0" u="none" strike="noStrike" kern="1200" cap="none" spc="0" normalizeH="0" baseline="-25000" noProof="0" dirty="0">
                <a:ln>
                  <a:noFill/>
                </a:ln>
                <a:solidFill>
                  <a:srgbClr val="000000"/>
                </a:solidFill>
                <a:effectLst/>
                <a:uLnTx/>
                <a:uFillTx/>
                <a:latin typeface="Times New Roman" panose="02020603050405020304"/>
                <a:cs typeface="+mn-cs"/>
              </a:rPr>
              <a:t>2</a:t>
            </a: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，中断类型号从8开始</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MOV  AL，0</a:t>
            </a:r>
            <a:r>
              <a:rPr kumimoji="0" lang="zh-CN" altLang="zh-CN" sz="2400" b="0" i="0" u="none" strike="noStrike" kern="1200" cap="none" spc="0" normalizeH="0" baseline="0" noProof="0" dirty="0" smtClean="0">
                <a:ln>
                  <a:noFill/>
                </a:ln>
                <a:solidFill>
                  <a:srgbClr val="000000"/>
                </a:solidFill>
                <a:effectLst/>
                <a:uLnTx/>
                <a:uFillTx/>
                <a:latin typeface="Times New Roman" panose="02020603050405020304"/>
                <a:cs typeface="+mn-cs"/>
              </a:rPr>
              <a:t>DH</a:t>
            </a:r>
            <a:r>
              <a:rPr kumimoji="0" lang="zh-CN" altLang="en-US" sz="2400" b="0" i="0" u="none" strike="noStrike" kern="1200" cap="none" spc="0" normalizeH="0" baseline="0" noProof="0" dirty="0" smtClean="0">
                <a:ln>
                  <a:noFill/>
                </a:ln>
                <a:solidFill>
                  <a:srgbClr val="000000"/>
                </a:solidFill>
                <a:effectLst/>
                <a:uLnTx/>
                <a:uFillTx/>
                <a:latin typeface="Times New Roman" panose="02020603050405020304"/>
                <a:cs typeface="+mn-cs"/>
              </a:rPr>
              <a:t>；</a:t>
            </a:r>
            <a:r>
              <a:rPr kumimoji="0" lang="en-US" altLang="zh-CN" sz="2400" b="0" i="0" u="none" strike="noStrike" kern="1200" cap="none" spc="0" normalizeH="0" baseline="0" noProof="0" dirty="0" smtClean="0">
                <a:ln>
                  <a:noFill/>
                </a:ln>
                <a:solidFill>
                  <a:srgbClr val="000000"/>
                </a:solidFill>
                <a:effectLst/>
                <a:uLnTx/>
                <a:uFillTx/>
                <a:latin typeface="Times New Roman" panose="02020603050405020304"/>
                <a:cs typeface="+mn-cs"/>
              </a:rPr>
              <a:t>00001101</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OUT  21H，AL；写ICW</a:t>
            </a:r>
            <a:r>
              <a:rPr kumimoji="0" lang="zh-CN" altLang="zh-CN" sz="2400" b="0" i="0" u="none" strike="noStrike" kern="1200" cap="none" spc="0" normalizeH="0" baseline="-25000" noProof="0" dirty="0">
                <a:ln>
                  <a:noFill/>
                </a:ln>
                <a:solidFill>
                  <a:srgbClr val="000000"/>
                </a:solidFill>
                <a:effectLst/>
                <a:uLnTx/>
                <a:uFillTx/>
                <a:latin typeface="Times New Roman" panose="02020603050405020304"/>
                <a:cs typeface="+mn-cs"/>
              </a:rPr>
              <a:t>4</a:t>
            </a: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，缓冲工作方式，8088/8086配置</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endParaRPr>
          </a:p>
        </p:txBody>
      </p:sp>
      <p:pic>
        <p:nvPicPr>
          <p:cNvPr id="4" name="图片 3"/>
          <p:cNvPicPr>
            <a:picLocks noChangeAspect="1"/>
          </p:cNvPicPr>
          <p:nvPr/>
        </p:nvPicPr>
        <p:blipFill>
          <a:blip r:embed="rId1"/>
          <a:stretch>
            <a:fillRect/>
          </a:stretch>
        </p:blipFill>
        <p:spPr>
          <a:xfrm>
            <a:off x="6884670" y="374015"/>
            <a:ext cx="4965700" cy="2146935"/>
          </a:xfrm>
          <a:prstGeom prst="rect">
            <a:avLst/>
          </a:prstGeom>
        </p:spPr>
      </p:pic>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b="12479"/>
          <a:stretch>
            <a:fillRect/>
          </a:stretch>
        </p:blipFill>
        <p:spPr bwMode="auto">
          <a:xfrm>
            <a:off x="2400300" y="5257800"/>
            <a:ext cx="7148830" cy="1303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8259A</a:t>
            </a:r>
            <a:r>
              <a:rPr lang="zh-CN" altLang="en-US" dirty="0"/>
              <a:t>的应用</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20000"/>
              </a:lnSpc>
            </a:pPr>
            <a:r>
              <a:rPr lang="zh-CN" altLang="en-US" dirty="0"/>
              <a:t>送中断向量</a:t>
            </a:r>
            <a:endParaRPr lang="zh-CN" altLang="en-US" dirty="0"/>
          </a:p>
          <a:p>
            <a:pPr>
              <a:lnSpc>
                <a:spcPct val="120000"/>
              </a:lnSpc>
            </a:pPr>
            <a:r>
              <a:rPr lang="zh-CN" altLang="en-US" dirty="0"/>
              <a:t>根据中断源的中断类型码送中断向量。例如异步通信中断</a:t>
            </a:r>
            <a:r>
              <a:rPr lang="zh-CN" altLang="zh-CN" dirty="0"/>
              <a:t>IR</a:t>
            </a:r>
            <a:r>
              <a:rPr lang="zh-CN" altLang="zh-CN" baseline="-25000" dirty="0"/>
              <a:t>4</a:t>
            </a:r>
            <a:r>
              <a:rPr lang="en-US" altLang="zh-CN" dirty="0"/>
              <a:t>,</a:t>
            </a:r>
            <a:r>
              <a:rPr lang="zh-CN" altLang="en-US" dirty="0"/>
              <a:t>中断类型为</a:t>
            </a:r>
            <a:r>
              <a:rPr lang="en-US" altLang="zh-CN" dirty="0"/>
              <a:t>12</a:t>
            </a:r>
            <a:r>
              <a:rPr lang="zh-CN" altLang="en-US" dirty="0"/>
              <a:t>，其中断向量在向量表的起始位置为</a:t>
            </a:r>
            <a:r>
              <a:rPr lang="en-US" altLang="zh-CN" dirty="0"/>
              <a:t>12*4=48</a:t>
            </a:r>
            <a:r>
              <a:rPr lang="zh-CN" altLang="en-US" dirty="0"/>
              <a:t>（</a:t>
            </a:r>
            <a:r>
              <a:rPr lang="en-US" altLang="zh-CN" dirty="0"/>
              <a:t>30H</a:t>
            </a:r>
            <a:r>
              <a:rPr lang="zh-CN" altLang="en-US" dirty="0"/>
              <a:t>），地址</a:t>
            </a:r>
            <a:r>
              <a:rPr lang="en-US" altLang="zh-CN" dirty="0"/>
              <a:t>30H</a:t>
            </a:r>
            <a:r>
              <a:rPr lang="zh-CN" altLang="en-US" dirty="0"/>
              <a:t>送指令指针</a:t>
            </a:r>
            <a:r>
              <a:rPr lang="en-US" altLang="zh-CN" dirty="0"/>
              <a:t>IP</a:t>
            </a:r>
            <a:r>
              <a:rPr lang="zh-CN" altLang="en-US" dirty="0"/>
              <a:t>（偏移量），地址</a:t>
            </a:r>
            <a:r>
              <a:rPr lang="en-US" altLang="zh-CN" dirty="0"/>
              <a:t>32H</a:t>
            </a:r>
            <a:r>
              <a:rPr lang="zh-CN" altLang="en-US" dirty="0"/>
              <a:t>送代码段码</a:t>
            </a:r>
            <a:r>
              <a:rPr lang="en-US" altLang="zh-CN" dirty="0"/>
              <a:t>CS</a:t>
            </a:r>
            <a:r>
              <a:rPr lang="zh-CN" altLang="en-US" dirty="0"/>
              <a:t>（段基址）。</a:t>
            </a:r>
            <a:endParaRPr lang="zh-CN" altLang="en-US" dirty="0"/>
          </a:p>
          <a:p>
            <a:pPr>
              <a:lnSpc>
                <a:spcPct val="120000"/>
              </a:lnSpc>
            </a:pPr>
            <a:r>
              <a:rPr lang="zh-CN" altLang="en-US" dirty="0"/>
              <a:t>中断子程序结束</a:t>
            </a:r>
            <a:endParaRPr lang="zh-CN" altLang="en-US" dirty="0"/>
          </a:p>
          <a:p>
            <a:pPr>
              <a:lnSpc>
                <a:spcPct val="120000"/>
              </a:lnSpc>
            </a:pPr>
            <a:r>
              <a:rPr lang="zh-CN" altLang="en-US" dirty="0"/>
              <a:t>由于</a:t>
            </a:r>
            <a:r>
              <a:rPr lang="en-US" altLang="zh-CN" dirty="0"/>
              <a:t>8259A</a:t>
            </a:r>
            <a:r>
              <a:rPr lang="zh-CN" altLang="en-US" dirty="0"/>
              <a:t>采用中断工作方式，且</a:t>
            </a:r>
            <a:r>
              <a:rPr lang="zh-CN" altLang="zh-CN" dirty="0"/>
              <a:t>ICW</a:t>
            </a:r>
            <a:r>
              <a:rPr lang="zh-CN" altLang="zh-CN" baseline="-25000" dirty="0"/>
              <a:t>4</a:t>
            </a:r>
            <a:r>
              <a:rPr lang="zh-CN" altLang="en-US" dirty="0"/>
              <a:t>中的</a:t>
            </a:r>
            <a:r>
              <a:rPr lang="en-US" altLang="zh-CN" dirty="0"/>
              <a:t>D1</a:t>
            </a:r>
            <a:r>
              <a:rPr lang="zh-CN" altLang="en-US" dirty="0"/>
              <a:t>位</a:t>
            </a:r>
            <a:r>
              <a:rPr lang="en-US" altLang="zh-CN" dirty="0"/>
              <a:t>(</a:t>
            </a:r>
            <a:r>
              <a:rPr lang="zh-CN" altLang="en-US" dirty="0"/>
              <a:t>即</a:t>
            </a:r>
            <a:r>
              <a:rPr lang="en-US" altLang="zh-CN" dirty="0"/>
              <a:t>AEOI)</a:t>
            </a:r>
            <a:r>
              <a:rPr lang="zh-CN" altLang="en-US" dirty="0"/>
              <a:t>为</a:t>
            </a:r>
            <a:r>
              <a:rPr lang="en-US" altLang="zh-CN" dirty="0"/>
              <a:t>0</a:t>
            </a:r>
            <a:r>
              <a:rPr lang="zh-CN" altLang="en-US" dirty="0"/>
              <a:t>，需在中断子程序结束前必须发</a:t>
            </a:r>
            <a:r>
              <a:rPr lang="en-US" altLang="zh-CN" dirty="0"/>
              <a:t>EOI</a:t>
            </a:r>
            <a:r>
              <a:rPr lang="zh-CN" altLang="en-US" dirty="0"/>
              <a:t>命令和</a:t>
            </a:r>
            <a:r>
              <a:rPr lang="en-US" altLang="zh-CN" dirty="0"/>
              <a:t>IRET</a:t>
            </a:r>
            <a:r>
              <a:rPr lang="zh-CN" altLang="en-US" dirty="0"/>
              <a:t>命令。</a:t>
            </a:r>
            <a:endParaRPr lang="zh-CN" altLang="en-US" dirty="0"/>
          </a:p>
          <a:p>
            <a:pPr>
              <a:lnSpc>
                <a:spcPct val="120000"/>
              </a:lnSpc>
            </a:pPr>
            <a:r>
              <a:rPr lang="zh-CN" altLang="en-US" dirty="0"/>
              <a:t>在操作命令字的设定，要使用屏蔽字</a:t>
            </a:r>
            <a:r>
              <a:rPr lang="zh-CN" altLang="zh-CN" dirty="0"/>
              <a:t>OCW</a:t>
            </a:r>
            <a:r>
              <a:rPr lang="en-US" altLang="zh-CN" baseline="-25000" dirty="0"/>
              <a:t>1</a:t>
            </a:r>
            <a:r>
              <a:rPr lang="zh-CN" altLang="en-US" dirty="0"/>
              <a:t>和中断结束命令字</a:t>
            </a:r>
            <a:r>
              <a:rPr lang="zh-CN" altLang="zh-CN" dirty="0"/>
              <a:t>OCW</a:t>
            </a:r>
            <a:r>
              <a:rPr lang="zh-CN" altLang="zh-CN" baseline="-25000" dirty="0"/>
              <a:t>2 </a:t>
            </a:r>
            <a:r>
              <a:rPr lang="zh-CN" altLang="en-US" dirty="0"/>
              <a:t>。</a:t>
            </a:r>
            <a:endParaRPr lang="zh-CN" altLang="en-US" dirty="0"/>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1021080" y="0"/>
            <a:ext cx="10515600" cy="734695"/>
          </a:xfrm>
        </p:spPr>
        <p:txBody>
          <a:bodyPr/>
          <a:lstStyle/>
          <a:p>
            <a:r>
              <a:rPr lang="en-US" altLang="zh-CN" dirty="0"/>
              <a:t>8259A</a:t>
            </a:r>
            <a:r>
              <a:rPr lang="zh-CN" altLang="en-US" dirty="0"/>
              <a:t>的应用</a:t>
            </a:r>
            <a:endParaRPr lang="zh-CN" altLang="en-US" dirty="0"/>
          </a:p>
        </p:txBody>
      </p:sp>
      <p:sp>
        <p:nvSpPr>
          <p:cNvPr id="3" name="内容占位符 2"/>
          <p:cNvSpPr>
            <a:spLocks noGrp="1"/>
          </p:cNvSpPr>
          <p:nvPr>
            <p:ph idx="1"/>
          </p:nvPr>
        </p:nvSpPr>
        <p:spPr>
          <a:xfrm>
            <a:off x="224245" y="1485990"/>
            <a:ext cx="3733801" cy="1943010"/>
          </a:xfrm>
        </p:spPr>
        <p:txBody>
          <a:bodyPr>
            <a:noAutofit/>
          </a:bodyPr>
          <a:lstStyle/>
          <a:p>
            <a:r>
              <a:rPr lang="zh-CN" altLang="en-US" dirty="0"/>
              <a:t>设异步通信中断</a:t>
            </a:r>
            <a:r>
              <a:rPr lang="en-US" altLang="zh-CN" dirty="0"/>
              <a:t>IR4</a:t>
            </a:r>
            <a:r>
              <a:rPr lang="zh-CN" altLang="en-US" dirty="0"/>
              <a:t>的中断服务子程序名为</a:t>
            </a:r>
            <a:r>
              <a:rPr lang="en-US" altLang="zh-CN" dirty="0"/>
              <a:t>INTP_IR4</a:t>
            </a:r>
            <a:endParaRPr lang="zh-CN" altLang="en-US" dirty="0"/>
          </a:p>
        </p:txBody>
      </p:sp>
      <p:sp>
        <p:nvSpPr>
          <p:cNvPr id="5" name="文本框 4"/>
          <p:cNvSpPr txBox="1"/>
          <p:nvPr/>
        </p:nvSpPr>
        <p:spPr>
          <a:xfrm>
            <a:off x="3861162" y="943700"/>
            <a:ext cx="8330838" cy="5269135"/>
          </a:xfrm>
          <a:prstGeom prst="rect">
            <a:avLst/>
          </a:prstGeom>
          <a:noFill/>
        </p:spPr>
        <p:txBody>
          <a:bodyPr wrap="square">
            <a:spAutoFit/>
          </a:bodyPr>
          <a:lstStyle/>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DATA  SEGMENT</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lang="en-US" altLang="zh-CN" sz="2000" dirty="0">
                <a:solidFill>
                  <a:srgbClr val="000000"/>
                </a:solidFill>
                <a:latin typeface="Times New Roman" panose="02020603050405020304"/>
              </a:rPr>
              <a:t>            </a:t>
            </a: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；定义需通信的数据信息</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DATA  ENDS</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CODE  SEGMENT</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ASSUME CS：CODE，DS：DATA</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START：MOV  AX，CS</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MOV  DS，AX   ；使数据和代码处于同一段</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MOV  DX，OFFSET  INTP_IR4 ；设置异步通信中断IR</a:t>
            </a:r>
            <a:r>
              <a:rPr kumimoji="0" lang="zh-CN" altLang="zh-CN" sz="2000" b="0" i="0" u="none" strike="noStrike" kern="1200" cap="none" spc="0" normalizeH="0" baseline="-25000" noProof="0" dirty="0">
                <a:ln>
                  <a:noFill/>
                </a:ln>
                <a:solidFill>
                  <a:srgbClr val="000000"/>
                </a:solidFill>
                <a:effectLst/>
                <a:uLnTx/>
                <a:uFillTx/>
                <a:latin typeface="Times New Roman" panose="02020603050405020304"/>
                <a:cs typeface="+mn-cs"/>
              </a:rPr>
              <a:t>4</a:t>
            </a: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的中断向量</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MOV  AH，25H</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MOV  AL，0CH</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INT 2IH</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IN   AL，21H     ；读8259A中断屏蔽寄存器IMR</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AND  AL，0EFH</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OUT  21H，AL    ；将8259A IMR的M</a:t>
            </a:r>
            <a:r>
              <a:rPr kumimoji="0" lang="zh-CN" altLang="zh-CN" sz="2000" b="0" i="0" u="none" strike="noStrike" kern="1200" cap="none" spc="0" normalizeH="0" baseline="-25000" noProof="0" dirty="0">
                <a:ln>
                  <a:noFill/>
                </a:ln>
                <a:solidFill>
                  <a:srgbClr val="000000"/>
                </a:solidFill>
                <a:effectLst/>
                <a:uLnTx/>
                <a:uFillTx/>
                <a:latin typeface="Times New Roman" panose="02020603050405020304"/>
                <a:cs typeface="+mn-cs"/>
              </a:rPr>
              <a:t>4</a:t>
            </a: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位置0，开放IR</a:t>
            </a:r>
            <a:r>
              <a:rPr kumimoji="0" lang="zh-CN" altLang="zh-CN" sz="2000" b="0" i="0" u="none" strike="noStrike" kern="1200" cap="none" spc="0" normalizeH="0" baseline="-25000" noProof="0" dirty="0">
                <a:ln>
                  <a:noFill/>
                </a:ln>
                <a:solidFill>
                  <a:srgbClr val="000000"/>
                </a:solidFill>
                <a:effectLst/>
                <a:uLnTx/>
                <a:uFillTx/>
                <a:latin typeface="Times New Roman" panose="02020603050405020304"/>
                <a:cs typeface="+mn-cs"/>
              </a:rPr>
              <a:t>4</a:t>
            </a: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中断</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rPr>
              <a:t>　　　        STI              ；置中断允许</a:t>
            </a:r>
            <a:endParaRPr kumimoji="0" lang="zh-CN" altLang="zh-CN" sz="2000" b="0" i="0" u="none" strike="noStrike" kern="1200" cap="none" spc="0" normalizeH="0" baseline="0" noProof="0" dirty="0">
              <a:ln>
                <a:noFill/>
              </a:ln>
              <a:solidFill>
                <a:srgbClr val="000000"/>
              </a:solidFill>
              <a:effectLst/>
              <a:uLnTx/>
              <a:uFillTx/>
              <a:latin typeface="Times New Roman" panose="02020603050405020304"/>
              <a:cs typeface="+mn-cs"/>
            </a:endParaRPr>
          </a:p>
          <a:p>
            <a:pPr marL="342900" marR="0" lvl="0" indent="-342900" algn="just" defTabSz="914400" rtl="0" eaLnBrk="1" fontAlgn="base" latinLnBrk="0" hangingPunct="1">
              <a:lnSpc>
                <a:spcPct val="80000"/>
              </a:lnSpc>
              <a:spcBef>
                <a:spcPct val="20000"/>
              </a:spcBef>
              <a:spcAft>
                <a:spcPct val="0"/>
              </a:spcAft>
              <a:buClr>
                <a:srgbClr val="3333CC"/>
              </a:buClr>
              <a:buSzPct val="60000"/>
              <a:buFont typeface="Wingdings" panose="05000000000000000000" pitchFamily="2" charset="2"/>
              <a:buNone/>
              <a:defRPr/>
            </a:pPr>
            <a:r>
              <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rPr>
              <a:t>　　　HERE：JMP  HERE      ；等待中断</a:t>
            </a:r>
            <a:endParaRPr kumimoji="0" lang="zh-CN" altLang="zh-CN" sz="2400" b="0" i="0" u="none" strike="noStrike" kern="1200" cap="none" spc="0" normalizeH="0" baseline="0" noProof="0" dirty="0">
              <a:ln>
                <a:noFill/>
              </a:ln>
              <a:solidFill>
                <a:srgbClr val="000000"/>
              </a:solidFill>
              <a:effectLst/>
              <a:uLnTx/>
              <a:uFillTx/>
              <a:latin typeface="Times New Roman" panose="02020603050405020304"/>
              <a:cs typeface="+mn-cs"/>
            </a:endParaRP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981891" y="-6746"/>
            <a:ext cx="10515600" cy="826143"/>
          </a:xfrm>
        </p:spPr>
        <p:txBody>
          <a:bodyPr/>
          <a:lstStyle/>
          <a:p>
            <a:r>
              <a:rPr lang="en-US" altLang="zh-CN" dirty="0"/>
              <a:t>8259A</a:t>
            </a:r>
            <a:r>
              <a:rPr lang="zh-CN" altLang="en-US" dirty="0"/>
              <a:t>的应用</a:t>
            </a:r>
            <a:endParaRPr lang="zh-CN" altLang="en-US" dirty="0"/>
          </a:p>
        </p:txBody>
      </p:sp>
      <p:sp>
        <p:nvSpPr>
          <p:cNvPr id="3" name="内容占位符 2"/>
          <p:cNvSpPr>
            <a:spLocks noGrp="1"/>
          </p:cNvSpPr>
          <p:nvPr>
            <p:ph idx="1"/>
          </p:nvPr>
        </p:nvSpPr>
        <p:spPr>
          <a:xfrm>
            <a:off x="0" y="701156"/>
            <a:ext cx="2845526" cy="708569"/>
          </a:xfrm>
        </p:spPr>
        <p:txBody>
          <a:bodyPr/>
          <a:lstStyle/>
          <a:p>
            <a:r>
              <a:rPr lang="zh-CN" altLang="en-US" dirty="0"/>
              <a:t>中断服务程序</a:t>
            </a:r>
            <a:endParaRPr lang="zh-CN" altLang="en-US" dirty="0"/>
          </a:p>
        </p:txBody>
      </p:sp>
      <p:sp>
        <p:nvSpPr>
          <p:cNvPr id="5" name="文本框 4"/>
          <p:cNvSpPr txBox="1"/>
          <p:nvPr/>
        </p:nvSpPr>
        <p:spPr>
          <a:xfrm>
            <a:off x="2364377" y="1318817"/>
            <a:ext cx="9827623" cy="5419048"/>
          </a:xfrm>
          <a:prstGeom prst="rect">
            <a:avLst/>
          </a:prstGeom>
          <a:noFill/>
        </p:spPr>
        <p:txBody>
          <a:bodyPr wrap="square">
            <a:spAutoFit/>
          </a:bodyPr>
          <a:lstStyle/>
          <a:p>
            <a:pPr>
              <a:lnSpc>
                <a:spcPct val="80000"/>
              </a:lnSpc>
              <a:buFont typeface="Wingdings" panose="05000000000000000000" pitchFamily="2" charset="2"/>
              <a:buNone/>
            </a:pPr>
            <a:r>
              <a:rPr lang="zh-CN" altLang="en-US" sz="2400" dirty="0"/>
              <a:t>INTP_IR4：MOV  AX，DATA；中断服务程序</a:t>
            </a:r>
            <a:endParaRPr lang="zh-CN" altLang="en-US" sz="2400" dirty="0"/>
          </a:p>
          <a:p>
            <a:pPr>
              <a:lnSpc>
                <a:spcPct val="80000"/>
              </a:lnSpc>
              <a:buFont typeface="Wingdings" panose="05000000000000000000" pitchFamily="2" charset="2"/>
              <a:buNone/>
            </a:pPr>
            <a:r>
              <a:rPr lang="zh-CN" altLang="en-US" sz="2400" dirty="0"/>
              <a:t>　　　              MOV  DS，AX</a:t>
            </a:r>
            <a:endParaRPr lang="zh-CN" altLang="en-US" sz="2400" dirty="0"/>
          </a:p>
          <a:p>
            <a:pPr>
              <a:lnSpc>
                <a:spcPct val="80000"/>
              </a:lnSpc>
              <a:buFont typeface="Wingdings" panose="05000000000000000000" pitchFamily="2" charset="2"/>
              <a:buNone/>
            </a:pPr>
            <a:r>
              <a:rPr lang="zh-CN" altLang="en-US" sz="2400" dirty="0"/>
              <a:t>　　　               …</a:t>
            </a:r>
            <a:endParaRPr lang="zh-CN" altLang="en-US" sz="2400" dirty="0"/>
          </a:p>
          <a:p>
            <a:pPr>
              <a:lnSpc>
                <a:spcPct val="80000"/>
              </a:lnSpc>
              <a:buFont typeface="Wingdings" panose="05000000000000000000" pitchFamily="2" charset="2"/>
              <a:buNone/>
            </a:pPr>
            <a:r>
              <a:rPr lang="zh-CN" altLang="en-US" sz="2400" dirty="0"/>
              <a:t>　　　　　　   …         ；异步通信服务程序主体</a:t>
            </a:r>
            <a:endParaRPr lang="zh-CN" altLang="en-US" sz="2400" dirty="0"/>
          </a:p>
          <a:p>
            <a:pPr>
              <a:lnSpc>
                <a:spcPct val="80000"/>
              </a:lnSpc>
              <a:buFont typeface="Wingdings" panose="05000000000000000000" pitchFamily="2" charset="2"/>
              <a:buNone/>
            </a:pPr>
            <a:r>
              <a:rPr lang="zh-CN" altLang="en-US" sz="2400" dirty="0"/>
              <a:t>　　　　　　   …</a:t>
            </a:r>
            <a:endParaRPr lang="zh-CN" altLang="en-US" sz="2400" dirty="0"/>
          </a:p>
          <a:p>
            <a:pPr>
              <a:lnSpc>
                <a:spcPct val="80000"/>
              </a:lnSpc>
              <a:buFont typeface="Wingdings" panose="05000000000000000000" pitchFamily="2" charset="2"/>
              <a:buNone/>
            </a:pPr>
            <a:r>
              <a:rPr lang="zh-CN" altLang="en-US" sz="2400" dirty="0"/>
              <a:t>　　　              MOV  AL， 20H    </a:t>
            </a:r>
            <a:endParaRPr lang="zh-CN" altLang="en-US" sz="2400" dirty="0"/>
          </a:p>
          <a:p>
            <a:pPr>
              <a:lnSpc>
                <a:spcPct val="80000"/>
              </a:lnSpc>
              <a:buFont typeface="Wingdings" panose="05000000000000000000" pitchFamily="2" charset="2"/>
              <a:buNone/>
            </a:pPr>
            <a:r>
              <a:rPr lang="zh-CN" altLang="en-US" sz="2400" dirty="0"/>
              <a:t>　　　　　　  OUT  20H， AL ；写OCW</a:t>
            </a:r>
            <a:r>
              <a:rPr lang="zh-CN" altLang="en-US" sz="2400" baseline="-25000" dirty="0"/>
              <a:t>2</a:t>
            </a:r>
            <a:r>
              <a:rPr lang="zh-CN" altLang="en-US" sz="2400" dirty="0"/>
              <a:t>命令，使ISR相应位复位(即</a:t>
            </a:r>
            <a:r>
              <a:rPr lang="zh-CN" altLang="en-US" sz="2400" dirty="0">
                <a:solidFill>
                  <a:schemeClr val="hlink"/>
                </a:solidFill>
              </a:rPr>
              <a:t>发EOI命令</a:t>
            </a:r>
            <a:r>
              <a:rPr lang="zh-CN" altLang="en-US" sz="2400" dirty="0"/>
              <a:t>)</a:t>
            </a:r>
            <a:endParaRPr lang="zh-CN" altLang="en-US" sz="2400" dirty="0"/>
          </a:p>
          <a:p>
            <a:pPr>
              <a:lnSpc>
                <a:spcPct val="80000"/>
              </a:lnSpc>
              <a:buFont typeface="Wingdings" panose="05000000000000000000" pitchFamily="2" charset="2"/>
              <a:buNone/>
            </a:pPr>
            <a:r>
              <a:rPr lang="zh-CN" altLang="en-US" sz="2400" dirty="0"/>
              <a:t>　　　　　  　LOOP NEXT</a:t>
            </a:r>
            <a:endParaRPr lang="zh-CN" altLang="en-US" sz="2400" dirty="0"/>
          </a:p>
          <a:p>
            <a:pPr>
              <a:lnSpc>
                <a:spcPct val="80000"/>
              </a:lnSpc>
              <a:buFont typeface="Wingdings" panose="05000000000000000000" pitchFamily="2" charset="2"/>
              <a:buNone/>
            </a:pPr>
            <a:r>
              <a:rPr lang="zh-CN" altLang="en-US" sz="2400" dirty="0"/>
              <a:t>　　　　 　　 IN  AL，21H</a:t>
            </a:r>
            <a:endParaRPr lang="zh-CN" altLang="en-US" sz="2400" dirty="0"/>
          </a:p>
          <a:p>
            <a:pPr>
              <a:lnSpc>
                <a:spcPct val="80000"/>
              </a:lnSpc>
              <a:buFont typeface="Wingdings" panose="05000000000000000000" pitchFamily="2" charset="2"/>
              <a:buNone/>
            </a:pPr>
            <a:r>
              <a:rPr lang="zh-CN" altLang="en-US" sz="2400" dirty="0"/>
              <a:t>　　  　　　　OR  AL，10H</a:t>
            </a:r>
            <a:endParaRPr lang="zh-CN" altLang="en-US" sz="2400" dirty="0"/>
          </a:p>
          <a:p>
            <a:pPr>
              <a:lnSpc>
                <a:spcPct val="80000"/>
              </a:lnSpc>
              <a:buFont typeface="Wingdings" panose="05000000000000000000" pitchFamily="2" charset="2"/>
              <a:buNone/>
            </a:pPr>
            <a:r>
              <a:rPr lang="zh-CN" altLang="en-US" sz="2400" dirty="0"/>
              <a:t>　  　　　　　OUT 21H，AL  ；将8259A IMR的M</a:t>
            </a:r>
            <a:r>
              <a:rPr lang="zh-CN" altLang="en-US" sz="2400" baseline="-25000" dirty="0"/>
              <a:t>4</a:t>
            </a:r>
            <a:r>
              <a:rPr lang="zh-CN" altLang="en-US" sz="2400" dirty="0"/>
              <a:t>位置1，关闭IR</a:t>
            </a:r>
            <a:r>
              <a:rPr lang="zh-CN" altLang="en-US" sz="2400" baseline="-25000" dirty="0"/>
              <a:t>4</a:t>
            </a:r>
            <a:r>
              <a:rPr lang="zh-CN" altLang="en-US" sz="2400" dirty="0"/>
              <a:t>中断</a:t>
            </a:r>
            <a:endParaRPr lang="zh-CN" altLang="en-US" sz="2400" dirty="0"/>
          </a:p>
          <a:p>
            <a:pPr>
              <a:lnSpc>
                <a:spcPct val="80000"/>
              </a:lnSpc>
              <a:buFont typeface="Wingdings" panose="05000000000000000000" pitchFamily="2" charset="2"/>
              <a:buNone/>
            </a:pPr>
            <a:r>
              <a:rPr lang="zh-CN" altLang="en-US" sz="2400" dirty="0"/>
              <a:t>  　　　　　　STI            ；置中断允许</a:t>
            </a:r>
            <a:endParaRPr lang="zh-CN" altLang="en-US" sz="2400" dirty="0"/>
          </a:p>
          <a:p>
            <a:pPr>
              <a:lnSpc>
                <a:spcPct val="80000"/>
              </a:lnSpc>
              <a:buFont typeface="Wingdings" panose="05000000000000000000" pitchFamily="2" charset="2"/>
              <a:buNone/>
            </a:pPr>
            <a:r>
              <a:rPr lang="zh-CN" altLang="en-US" sz="2400" dirty="0"/>
              <a:t>  　　　　　　MOV AH，4CH</a:t>
            </a:r>
            <a:endParaRPr lang="zh-CN" altLang="en-US" sz="2400" dirty="0"/>
          </a:p>
          <a:p>
            <a:pPr>
              <a:lnSpc>
                <a:spcPct val="80000"/>
              </a:lnSpc>
              <a:buFont typeface="Wingdings" panose="05000000000000000000" pitchFamily="2" charset="2"/>
              <a:buNone/>
            </a:pPr>
            <a:r>
              <a:rPr lang="zh-CN" altLang="en-US" sz="2400" dirty="0"/>
              <a:t>　  　　　　　INT 21H       ；返回DOS</a:t>
            </a:r>
            <a:endParaRPr lang="zh-CN" altLang="en-US" sz="2400" dirty="0"/>
          </a:p>
          <a:p>
            <a:pPr>
              <a:lnSpc>
                <a:spcPct val="80000"/>
              </a:lnSpc>
              <a:buFont typeface="Wingdings" panose="05000000000000000000" pitchFamily="2" charset="2"/>
              <a:buNone/>
            </a:pPr>
            <a:r>
              <a:rPr lang="zh-CN" altLang="en-US" sz="2400" dirty="0"/>
              <a:t>　　　NEXT：IRET</a:t>
            </a:r>
            <a:endParaRPr lang="zh-CN" altLang="en-US" sz="2400" dirty="0"/>
          </a:p>
          <a:p>
            <a:pPr>
              <a:lnSpc>
                <a:spcPct val="80000"/>
              </a:lnSpc>
              <a:buFont typeface="Wingdings" panose="05000000000000000000" pitchFamily="2" charset="2"/>
              <a:buNone/>
            </a:pPr>
            <a:r>
              <a:rPr lang="zh-CN" altLang="en-US" sz="2400" dirty="0"/>
              <a:t>　　　CODE   ENDS         ；代码段结束</a:t>
            </a:r>
            <a:endParaRPr lang="zh-CN" altLang="en-US" sz="2400" dirty="0"/>
          </a:p>
          <a:p>
            <a:pPr>
              <a:lnSpc>
                <a:spcPct val="80000"/>
              </a:lnSpc>
              <a:buFont typeface="Wingdings" panose="05000000000000000000" pitchFamily="2" charset="2"/>
              <a:buNone/>
            </a:pPr>
            <a:r>
              <a:rPr lang="zh-CN" altLang="en-US" sz="2400" dirty="0"/>
              <a:t>　　　　　　  END START   ；程序结束</a:t>
            </a:r>
            <a:endParaRPr lang="zh-CN" altLang="en-US" sz="2400" dirty="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Network">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15901</Words>
  <Application>WPS 演示</Application>
  <PresentationFormat>自定义</PresentationFormat>
  <Paragraphs>815</Paragraphs>
  <Slides>98</Slides>
  <Notes>4</Notes>
  <HiddenSlides>3</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98</vt:i4>
      </vt:variant>
    </vt:vector>
  </HeadingPairs>
  <TitlesOfParts>
    <vt:vector size="117" baseType="lpstr">
      <vt:lpstr>Arial</vt:lpstr>
      <vt:lpstr>宋体</vt:lpstr>
      <vt:lpstr>Wingdings</vt:lpstr>
      <vt:lpstr>微软雅黑</vt:lpstr>
      <vt:lpstr>Arial Unicode MS</vt:lpstr>
      <vt:lpstr>等线</vt:lpstr>
      <vt:lpstr>黑体</vt:lpstr>
      <vt:lpstr>华文仿宋</vt:lpstr>
      <vt:lpstr>Cambria Math</vt:lpstr>
      <vt:lpstr>Cambria Math</vt:lpstr>
      <vt:lpstr>Times New Roman</vt:lpstr>
      <vt:lpstr>楷体_GB2312</vt:lpstr>
      <vt:lpstr>新宋体</vt:lpstr>
      <vt:lpstr>Times New Roman</vt:lpstr>
      <vt:lpstr>Calibri</vt:lpstr>
      <vt:lpstr>Calibri</vt:lpstr>
      <vt:lpstr>Arial</vt:lpstr>
      <vt:lpstr>楷体</vt:lpstr>
      <vt:lpstr>Network</vt:lpstr>
      <vt:lpstr>第6章  输入/输出与中断</vt:lpstr>
      <vt:lpstr>6.1 输入输出接口概述</vt:lpstr>
      <vt:lpstr>6.1.1 输入/输出接口的功能</vt:lpstr>
      <vt:lpstr>输入/输出接口的功能</vt:lpstr>
      <vt:lpstr>输入/输出接口的功能</vt:lpstr>
      <vt:lpstr>6.1.2 输入/输出接口之间的信息</vt:lpstr>
      <vt:lpstr>PowerPoint 演示文稿</vt:lpstr>
      <vt:lpstr>PowerPoint 演示文稿</vt:lpstr>
      <vt:lpstr>注意</vt:lpstr>
      <vt:lpstr>6.1.3 输入/输出端口的编址方式</vt:lpstr>
      <vt:lpstr>1.   I/O端口统一编址</vt:lpstr>
      <vt:lpstr>2. I/O端口独立编址 </vt:lpstr>
      <vt:lpstr>6.2 CPU与外设之间的数据传送方式</vt:lpstr>
      <vt:lpstr>6.2.1 无条件方式 </vt:lpstr>
      <vt:lpstr>无条件传送的输入方式</vt:lpstr>
      <vt:lpstr>无条件传送的输出方式</vt:lpstr>
      <vt:lpstr>结论</vt:lpstr>
      <vt:lpstr>6.2.2 查询方式 </vt:lpstr>
      <vt:lpstr>查询传送的两个环节</vt:lpstr>
      <vt:lpstr>1.查询式输入</vt:lpstr>
      <vt:lpstr>查询式输入程序段</vt:lpstr>
      <vt:lpstr>2.查询式输出</vt:lpstr>
      <vt:lpstr>查询式输出程序段</vt:lpstr>
      <vt:lpstr>结论</vt:lpstr>
      <vt:lpstr>6.2.3 中断方式</vt:lpstr>
      <vt:lpstr>中断流程</vt:lpstr>
      <vt:lpstr>中断传送方式的接口电路 </vt:lpstr>
      <vt:lpstr>结论</vt:lpstr>
      <vt:lpstr>6.2.4 DMA方式 </vt:lpstr>
      <vt:lpstr>DMA的工作过程</vt:lpstr>
      <vt:lpstr>6.3 中断技术</vt:lpstr>
      <vt:lpstr>6.3.1中断概述</vt:lpstr>
      <vt:lpstr>中断源</vt:lpstr>
      <vt:lpstr>中断源分类</vt:lpstr>
      <vt:lpstr>中断处理的基本过程</vt:lpstr>
      <vt:lpstr>6.3.2中断的处理过程 1、中断请求</vt:lpstr>
      <vt:lpstr>中断请求触发器</vt:lpstr>
      <vt:lpstr>中断允许触发器</vt:lpstr>
      <vt:lpstr>中断判优</vt:lpstr>
      <vt:lpstr>（1）软件判优</vt:lpstr>
      <vt:lpstr>PowerPoint 演示文稿</vt:lpstr>
      <vt:lpstr>（2）硬件判优</vt:lpstr>
      <vt:lpstr>菊花链判优电路</vt:lpstr>
      <vt:lpstr>中断控制器判优</vt:lpstr>
      <vt:lpstr>2.中断响应</vt:lpstr>
      <vt:lpstr>3.中断处理（服务）</vt:lpstr>
      <vt:lpstr>PowerPoint 演示文稿</vt:lpstr>
      <vt:lpstr>      中断向量和中断向量表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8086/8088CPU专用中断类型有5个</vt:lpstr>
      <vt:lpstr>PowerPoint 演示文稿</vt:lpstr>
      <vt:lpstr>PowerPoint 演示文稿</vt:lpstr>
      <vt:lpstr>PowerPoint 演示文稿</vt:lpstr>
      <vt:lpstr>PowerPoint 演示文稿</vt:lpstr>
      <vt:lpstr>8086/8088CPU其它中断类型</vt:lpstr>
      <vt:lpstr>8086/8088中断处理顺序流程图</vt:lpstr>
      <vt:lpstr>中断服务程序的设计</vt:lpstr>
      <vt:lpstr>中断向量的设置</vt:lpstr>
      <vt:lpstr>用MOV指令直接设置</vt:lpstr>
      <vt:lpstr>用MOV指令直接设置</vt:lpstr>
      <vt:lpstr>利用DOS功能调用设置</vt:lpstr>
      <vt:lpstr>利用DOS功能调用设置</vt:lpstr>
      <vt:lpstr>6.4 中断控制器8259A</vt:lpstr>
      <vt:lpstr>6.4.1 8259A的内部结构及引脚 概述</vt:lpstr>
      <vt:lpstr>8259A的内部结构</vt:lpstr>
      <vt:lpstr>8259A的引脚</vt:lpstr>
      <vt:lpstr>6.4.2     8259A的工作方式</vt:lpstr>
      <vt:lpstr>1、中断响应顺序</vt:lpstr>
      <vt:lpstr>2、8259A中断优先级管理</vt:lpstr>
      <vt:lpstr>8259A中断屏蔽管理</vt:lpstr>
      <vt:lpstr>8259A中断屏蔽管理</vt:lpstr>
      <vt:lpstr>8259A中断结束管理</vt:lpstr>
      <vt:lpstr>中断结束管理方式</vt:lpstr>
      <vt:lpstr>中断结束管理方式</vt:lpstr>
      <vt:lpstr>8259A的级联</vt:lpstr>
      <vt:lpstr>8259A构成的级联</vt:lpstr>
      <vt:lpstr>6.4.3   8259A的编程</vt:lpstr>
      <vt:lpstr>PowerPoint 演示文稿</vt:lpstr>
      <vt:lpstr>初始化编程</vt:lpstr>
      <vt:lpstr>初始化编程</vt:lpstr>
      <vt:lpstr>初始化编程</vt:lpstr>
      <vt:lpstr>初始化编程</vt:lpstr>
      <vt:lpstr>初始化编程</vt:lpstr>
      <vt:lpstr>操作方式编程</vt:lpstr>
      <vt:lpstr>操作方式编程</vt:lpstr>
      <vt:lpstr>操作方式编程</vt:lpstr>
      <vt:lpstr>操作方式编程</vt:lpstr>
      <vt:lpstr>8259A的应用</vt:lpstr>
      <vt:lpstr>8259A的应用</vt:lpstr>
      <vt:lpstr>8259A的应用</vt:lpstr>
      <vt:lpstr>8259A的应用</vt:lpstr>
      <vt:lpstr>8259A的应用</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 Jian</dc:creator>
  <cp:lastModifiedBy>杨领军</cp:lastModifiedBy>
  <cp:revision>87</cp:revision>
  <dcterms:created xsi:type="dcterms:W3CDTF">2021-02-04T09:02:00Z</dcterms:created>
  <dcterms:modified xsi:type="dcterms:W3CDTF">2026-05-09T01:54:21Z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706446B3776741D8B3647E944B306D07_12</vt:lpwstr>
  </property>
  <property fmtid="{D5CDD505-2E9C-101B-9397-08002B2CF9AE}" pid="3" name="KSOProductBuildVer">
    <vt:lpwstr>2052-12.1.0.25865</vt:lpwstr>
  </property>
</Properties>
</file>