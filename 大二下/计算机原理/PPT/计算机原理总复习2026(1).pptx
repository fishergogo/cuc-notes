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1127" r:id="rId3"/>
    <p:sldId id="1114" r:id="rId4"/>
    <p:sldId id="612" r:id="rId5"/>
    <p:sldId id="622" r:id="rId6"/>
    <p:sldId id="626" r:id="rId7"/>
    <p:sldId id="638" r:id="rId8"/>
    <p:sldId id="639" r:id="rId9"/>
    <p:sldId id="647" r:id="rId10"/>
    <p:sldId id="648" r:id="rId11"/>
    <p:sldId id="649" r:id="rId12"/>
    <p:sldId id="651" r:id="rId13"/>
    <p:sldId id="654" r:id="rId14"/>
    <p:sldId id="1128" r:id="rId15"/>
    <p:sldId id="1129" r:id="rId16"/>
    <p:sldId id="1130" r:id="rId17"/>
    <p:sldId id="1142" r:id="rId18"/>
    <p:sldId id="1143" r:id="rId19"/>
    <p:sldId id="1144" r:id="rId20"/>
    <p:sldId id="1145" r:id="rId21"/>
    <p:sldId id="365" r:id="rId22"/>
    <p:sldId id="262" r:id="rId23"/>
    <p:sldId id="263" r:id="rId24"/>
    <p:sldId id="264" r:id="rId25"/>
    <p:sldId id="265" r:id="rId26"/>
    <p:sldId id="266" r:id="rId27"/>
    <p:sldId id="373" r:id="rId28"/>
    <p:sldId id="1115" r:id="rId29"/>
    <p:sldId id="268" r:id="rId30"/>
    <p:sldId id="1116" r:id="rId31"/>
    <p:sldId id="271" r:id="rId32"/>
    <p:sldId id="1095" r:id="rId33"/>
    <p:sldId id="1131" r:id="rId34"/>
    <p:sldId id="279" r:id="rId35"/>
    <p:sldId id="280" r:id="rId36"/>
    <p:sldId id="281" r:id="rId37"/>
    <p:sldId id="282" r:id="rId38"/>
    <p:sldId id="283" r:id="rId39"/>
    <p:sldId id="1132" r:id="rId40"/>
    <p:sldId id="1133" r:id="rId41"/>
    <p:sldId id="1134" r:id="rId42"/>
    <p:sldId id="292" r:id="rId44"/>
    <p:sldId id="1135" r:id="rId45"/>
    <p:sldId id="1136" r:id="rId46"/>
    <p:sldId id="1137" r:id="rId47"/>
    <p:sldId id="370" r:id="rId48"/>
    <p:sldId id="1138" r:id="rId49"/>
    <p:sldId id="1139" r:id="rId50"/>
    <p:sldId id="1140" r:id="rId51"/>
    <p:sldId id="655" r:id="rId52"/>
    <p:sldId id="275" r:id="rId53"/>
    <p:sldId id="656" r:id="rId54"/>
    <p:sldId id="284" r:id="rId55"/>
    <p:sldId id="285" r:id="rId56"/>
    <p:sldId id="286" r:id="rId57"/>
    <p:sldId id="287" r:id="rId58"/>
    <p:sldId id="288" r:id="rId59"/>
    <p:sldId id="289" r:id="rId60"/>
    <p:sldId id="258" r:id="rId61"/>
    <p:sldId id="260" r:id="rId62"/>
    <p:sldId id="267" r:id="rId63"/>
    <p:sldId id="657" r:id="rId64"/>
    <p:sldId id="658" r:id="rId65"/>
    <p:sldId id="659" r:id="rId66"/>
    <p:sldId id="299" r:id="rId67"/>
    <p:sldId id="300" r:id="rId68"/>
    <p:sldId id="1112" r:id="rId69"/>
    <p:sldId id="1097" r:id="rId70"/>
    <p:sldId id="1044" r:id="rId71"/>
    <p:sldId id="1067" r:id="rId72"/>
    <p:sldId id="489" r:id="rId73"/>
    <p:sldId id="491" r:id="rId74"/>
    <p:sldId id="492" r:id="rId75"/>
    <p:sldId id="493" r:id="rId76"/>
    <p:sldId id="1117" r:id="rId77"/>
    <p:sldId id="274" r:id="rId78"/>
    <p:sldId id="1081" r:id="rId79"/>
    <p:sldId id="277" r:id="rId80"/>
    <p:sldId id="278" r:id="rId81"/>
    <p:sldId id="1141" r:id="rId82"/>
    <p:sldId id="479" r:id="rId83"/>
    <p:sldId id="534" r:id="rId84"/>
    <p:sldId id="488" r:id="rId85"/>
    <p:sldId id="541" r:id="rId86"/>
    <p:sldId id="1086" r:id="rId87"/>
    <p:sldId id="490" r:id="rId88"/>
    <p:sldId id="1087" r:id="rId89"/>
    <p:sldId id="1088" r:id="rId90"/>
    <p:sldId id="1089" r:id="rId91"/>
    <p:sldId id="494" r:id="rId92"/>
    <p:sldId id="495" r:id="rId93"/>
    <p:sldId id="498" r:id="rId94"/>
    <p:sldId id="508" r:id="rId95"/>
    <p:sldId id="1118" r:id="rId96"/>
    <p:sldId id="425" r:id="rId97"/>
    <p:sldId id="457" r:id="rId98"/>
    <p:sldId id="670" r:id="rId99"/>
    <p:sldId id="462" r:id="rId100"/>
    <p:sldId id="463" r:id="rId101"/>
    <p:sldId id="1090" r:id="rId102"/>
    <p:sldId id="466" r:id="rId103"/>
    <p:sldId id="467" r:id="rId104"/>
    <p:sldId id="468" r:id="rId105"/>
    <p:sldId id="469" r:id="rId106"/>
    <p:sldId id="665" r:id="rId107"/>
    <p:sldId id="472" r:id="rId108"/>
    <p:sldId id="473" r:id="rId109"/>
    <p:sldId id="474" r:id="rId110"/>
    <p:sldId id="1146" r:id="rId111"/>
    <p:sldId id="1147" r:id="rId112"/>
    <p:sldId id="546" r:id="rId113"/>
    <p:sldId id="1124" r:id="rId114"/>
    <p:sldId id="1092" r:id="rId115"/>
    <p:sldId id="1093" r:id="rId116"/>
    <p:sldId id="1094" r:id="rId117"/>
    <p:sldId id="499" r:id="rId118"/>
    <p:sldId id="500" r:id="rId119"/>
    <p:sldId id="501" r:id="rId120"/>
    <p:sldId id="502" r:id="rId121"/>
    <p:sldId id="518" r:id="rId122"/>
    <p:sldId id="1119" r:id="rId123"/>
    <p:sldId id="1125" r:id="rId124"/>
    <p:sldId id="1126" r:id="rId125"/>
    <p:sldId id="1104" r:id="rId126"/>
    <p:sldId id="1105" r:id="rId127"/>
    <p:sldId id="1106" r:id="rId128"/>
    <p:sldId id="1110" r:id="rId129"/>
    <p:sldId id="1111" r:id="rId1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showGuides="1">
      <p:cViewPr varScale="1">
        <p:scale>
          <a:sx n="107" d="100"/>
          <a:sy n="107" d="100"/>
        </p:scale>
        <p:origin x="-102" y="-144"/>
      </p:cViewPr>
      <p:guideLst>
        <p:guide orient="horz" pos="2134"/>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notesMaster" Target="notesMasters/notesMaster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3" Type="http://schemas.openxmlformats.org/officeDocument/2006/relationships/tableStyles" Target="tableStyles.xml"/><Relationship Id="rId132" Type="http://schemas.openxmlformats.org/officeDocument/2006/relationships/viewProps" Target="viewProps.xml"/><Relationship Id="rId131" Type="http://schemas.openxmlformats.org/officeDocument/2006/relationships/presProps" Target="presProps.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79A3BD-9D4B-4A17-89AD-AB8D99722C6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4F641-F5F8-49D6-AB8D-CF80F2600D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nvGrpSpPr>
          <p:cNvPr id="5" name="Group 8"/>
          <p:cNvGrpSpPr/>
          <p:nvPr/>
        </p:nvGrpSpPr>
        <p:grpSpPr bwMode="auto">
          <a:xfrm>
            <a:off x="9990667" y="2992438"/>
            <a:ext cx="1784351"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
        <p:nvSpPr>
          <p:cNvPr id="37" name="Line 40"/>
          <p:cNvSpPr>
            <a:spLocks noChangeShapeType="1"/>
          </p:cNvSpPr>
          <p:nvPr/>
        </p:nvSpPr>
        <p:spPr bwMode="auto">
          <a:xfrm>
            <a:off x="406400" y="2819400"/>
            <a:ext cx="109728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75107" name="Rectangle 3"/>
          <p:cNvSpPr>
            <a:spLocks noGrp="1" noChangeArrowheads="1"/>
          </p:cNvSpPr>
          <p:nvPr>
            <p:ph type="ctrTitle"/>
          </p:nvPr>
        </p:nvSpPr>
        <p:spPr>
          <a:xfrm>
            <a:off x="421217" y="466725"/>
            <a:ext cx="9042400" cy="2133600"/>
          </a:xfrm>
        </p:spPr>
        <p:txBody>
          <a:bodyPr/>
          <a:lstStyle>
            <a:lvl1pPr>
              <a:defRPr/>
            </a:lvl1pPr>
          </a:lstStyle>
          <a:p>
            <a:pPr lvl="0"/>
            <a:r>
              <a:rPr lang="en-US" altLang="zh-CN" noProof="0"/>
              <a:t>单击此处编辑母版标题样式</a:t>
            </a:r>
            <a:endParaRPr lang="en-US" altLang="zh-CN" noProof="0"/>
          </a:p>
        </p:txBody>
      </p:sp>
      <p:sp>
        <p:nvSpPr>
          <p:cNvPr id="175108" name="Rectangle 4"/>
          <p:cNvSpPr>
            <a:spLocks noGrp="1" noChangeArrowheads="1"/>
          </p:cNvSpPr>
          <p:nvPr>
            <p:ph type="subTitle" idx="1"/>
          </p:nvPr>
        </p:nvSpPr>
        <p:spPr>
          <a:xfrm>
            <a:off x="1132417" y="3049588"/>
            <a:ext cx="8331200" cy="2362200"/>
          </a:xfrm>
        </p:spPr>
        <p:txBody>
          <a:bodyPr/>
          <a:lstStyle>
            <a:lvl1pPr marL="0" indent="0" algn="ctr">
              <a:buFont typeface="Wingdings" panose="05000000000000000000" pitchFamily="2" charset="2"/>
              <a:buNone/>
              <a:defRPr/>
            </a:lvl1pPr>
          </a:lstStyle>
          <a:p>
            <a:pPr lvl="0"/>
            <a:r>
              <a:rPr lang="en-US" altLang="zh-CN" noProof="0"/>
              <a:t>单击此处编辑母版副标题样式</a:t>
            </a:r>
            <a:endParaRPr lang="en-US" altLang="zh-CN" noProof="0"/>
          </a:p>
        </p:txBody>
      </p:sp>
      <p:sp>
        <p:nvSpPr>
          <p:cNvPr id="38" name="Rectangle 5"/>
          <p:cNvSpPr>
            <a:spLocks noGrp="1" noChangeArrowheads="1"/>
          </p:cNvSpPr>
          <p:nvPr>
            <p:ph type="dt" sz="half" idx="10"/>
          </p:nvPr>
        </p:nvSpPr>
        <p:spPr/>
        <p:txBody>
          <a:bodyPr/>
          <a:lstStyle>
            <a:lvl1pPr>
              <a:defRPr smtClean="0"/>
            </a:lvl1pPr>
          </a:lstStyle>
          <a:p>
            <a:pPr>
              <a:defRPr/>
            </a:pPr>
            <a:fld id="{5633CF2B-7030-4FD7-967E-41D4D42701B8}" type="datetime10">
              <a:rPr lang="zh-CN" altLang="en-US" smtClean="0"/>
            </a:fld>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F04872D5-BB51-432C-B3A3-4E481E81D33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1" y="1719263"/>
            <a:ext cx="10058400" cy="4411662"/>
          </a:xfrm>
        </p:spPr>
        <p:txBody>
          <a:bodyPr/>
          <a:lstStyle>
            <a:lvl1pPr>
              <a:buFont typeface="Wingdings" panose="05000000000000000000" pitchFamily="2" charset="2"/>
              <a:buChar char="u"/>
              <a:defRPr sz="2800"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a:defRPr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vl5pPr>
              <a:defRPr baseline="0">
                <a:latin typeface="Arial" panose="020B0604020202020204" pitchFamily="34" charset="0"/>
                <a:ea typeface="宋体" panose="02010600030101010101" pitchFamily="2"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Rectangle 5"/>
          <p:cNvSpPr>
            <a:spLocks noGrp="1" noChangeArrowheads="1"/>
          </p:cNvSpPr>
          <p:nvPr>
            <p:ph type="dt" sz="half" idx="10"/>
          </p:nvPr>
        </p:nvSpPr>
        <p:spPr/>
        <p:txBody>
          <a:bodyPr/>
          <a:lstStyle>
            <a:lvl1pPr>
              <a:defRPr/>
            </a:lvl1pPr>
          </a:lstStyle>
          <a:p>
            <a:pPr>
              <a:defRPr/>
            </a:pPr>
            <a:fld id="{8CA3637B-B2FB-46AE-8905-94B5A5178E86}" type="datetime10">
              <a:rPr lang="zh-CN" altLang="en-US" smtClean="0"/>
            </a:fld>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F4C0CD6-327D-499A-9754-0F1E4D84582B}" type="slidenum">
              <a:rPr lang="en-US" altLang="zh-CN"/>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346DF98C-8F3D-4E74-AC48-720FDCD05CDB}" type="datetime10">
              <a:rPr lang="zh-CN" altLang="en-US" smtClean="0"/>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C6CC5FF-F08F-495A-851B-EA259259A747}"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476D5619-28E1-47DF-85B8-9685503A9B96}" type="datetime10">
              <a:rPr lang="zh-CN" altLang="en-US" smtClean="0"/>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55274614-4E03-4DCB-98CE-097C97818E7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fld id="{AFDF32B5-B8EA-487C-9154-0D324D27685F}" type="datetime10">
              <a:rPr lang="zh-CN" altLang="en-US" smtClean="0"/>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F89CEBCD-7FCF-484B-9305-64C83D94B2D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fld id="{8BE14FF2-1550-4428-8E62-293E929D308E}" type="datetime10">
              <a:rPr lang="zh-CN" altLang="en-US" smtClean="0"/>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074A460-7B25-4553-A69A-B2BB29F6AC2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4D9D30A9-C834-4017-9AE7-E459661A6BAA}" type="datetime10">
              <a:rPr lang="zh-CN" altLang="en-US" smtClean="0"/>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302A3EF1-332A-4F12-8EA6-9ED17615C70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3872F435-E604-4D1A-9F86-12F576BE8E81}" type="datetime10">
              <a:rPr lang="zh-CN" altLang="en-US" smtClean="0"/>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BF467FF3-FD84-43F7-9698-CD5E53E22EED}"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71571394-39D5-40BE-B1BD-08B711162F15}" type="datetime10">
              <a:rPr lang="zh-CN" altLang="en-US" smtClean="0"/>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7AF11EB-CA78-49BC-B922-1C8209DB6A3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4D1C3FA9-0EE6-4C31-BAC5-B97D9BCB2A9C}" type="datetime10">
              <a:rPr lang="zh-CN" altLang="en-US" smtClean="0"/>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BCA54F1-1552-454D-8C86-18F7606D260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2239"/>
            <a:ext cx="8026400" cy="600868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C84156DE-FCCE-4D8C-961E-8DC4B3A6D402}" type="datetime10">
              <a:rPr lang="zh-CN" altLang="en-US" smtClean="0"/>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55095CD-4004-401E-BA56-829390CFAA6A}"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1295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7CA15912-1F3D-448F-A638-6F24F6C6A929}" type="datetime10">
              <a:rPr lang="zh-CN" altLang="en-US" smtClean="0"/>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9A6D292-B2CC-4663-B63B-6660727BF522}"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A4FD762C-CBFC-44AB-A652-44F3F27328F6}" type="datetime10">
              <a:rPr lang="zh-CN" altLang="en-US" smtClean="0"/>
            </a:fld>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6" name="内容占位符 2"/>
          <p:cNvSpPr>
            <a:spLocks noGrp="1"/>
          </p:cNvSpPr>
          <p:nvPr>
            <p:ph idx="1"/>
          </p:nvPr>
        </p:nvSpPr>
        <p:spPr>
          <a:xfrm>
            <a:off x="527382" y="1556792"/>
            <a:ext cx="11137237" cy="47058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34584" y="214313"/>
            <a:ext cx="10390716" cy="10541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527051" y="1557338"/>
            <a:ext cx="55626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6292851" y="1557338"/>
            <a:ext cx="5564716" cy="1981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6292851" y="3690938"/>
            <a:ext cx="5564716" cy="1981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4" name="Rectangle 11"/>
          <p:cNvSpPr>
            <a:spLocks noGrp="1" noChangeArrowheads="1"/>
          </p:cNvSpPr>
          <p:nvPr>
            <p:ph type="dt" sz="half" idx="12"/>
          </p:nvPr>
        </p:nvSpPr>
        <p:spPr bwMode="auto">
          <a:xfrm>
            <a:off x="1549400" y="6243638"/>
            <a:ext cx="2540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13"/>
          </p:nvPr>
        </p:nvSpPr>
        <p:spPr bwMode="auto">
          <a:xfrm>
            <a:off x="4876800" y="6243638"/>
            <a:ext cx="38608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9389533" y="6243638"/>
            <a:ext cx="2540000" cy="457200"/>
          </a:xfrm>
          <a:prstGeom prst="rect">
            <a:avLst/>
          </a:prstGeom>
          <a:noFill/>
          <a:ln w="9525">
            <a:noFill/>
            <a:miter lim="800000"/>
          </a:ln>
          <a:effectLst/>
        </p:spPr>
        <p:txBody>
          <a:bodyPr vert="horz" wrap="square" lIns="91440" tIns="45720" rIns="91440" bIns="45720" numCol="1" anchor="b" anchorCtr="0" compatLnSpc="1"/>
          <a:p>
            <a:pPr algn="r" eaLnBrk="1" fontAlgn="base" hangingPunct="1">
              <a:buNone/>
            </a:pPr>
            <a:fld id="{9A0DB2DC-4C9A-4742-B13C-FB6460FD3503}" type="slidenum">
              <a:rPr lang="zh-CN" altLang="en-US" strike="noStrike" baseline="0" noProof="1" dirty="0">
                <a:latin typeface="Tahoma" panose="020B0604030504040204" pitchFamily="34" charset="0"/>
                <a:ea typeface="宋体" panose="02010600030101010101" pitchFamily="2" charset="-122"/>
                <a:cs typeface="+mn-cs"/>
              </a:rPr>
            </a:fld>
            <a:endParaRPr lang="zh-CN" altLang="en-US" strike="noStrike" baseline="0" noProof="1" dirty="0">
              <a:latin typeface="Tahoma" panose="020B0604030504040204" pitchFamily="34"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106172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27"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dirty="0" err="1"/>
              <a:t>单击此处编辑母版标题样式</a:t>
            </a:r>
            <a:endParaRPr lang="en-US" altLang="zh-CN" dirty="0"/>
          </a:p>
        </p:txBody>
      </p:sp>
      <p:sp>
        <p:nvSpPr>
          <p:cNvPr id="1028" name="Rectangle 4"/>
          <p:cNvSpPr>
            <a:spLocks noGrp="1" noChangeArrowheads="1"/>
          </p:cNvSpPr>
          <p:nvPr>
            <p:ph type="body" idx="1"/>
          </p:nvPr>
        </p:nvSpPr>
        <p:spPr bwMode="auto">
          <a:xfrm>
            <a:off x="609600" y="1719263"/>
            <a:ext cx="10101541"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174085" name="Rectangle 5"/>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t" anchorCtr="0" compatLnSpc="1"/>
          <a:lstStyle>
            <a:lvl1pPr eaLnBrk="1" hangingPunct="1">
              <a:defRPr sz="1000" smtClean="0"/>
            </a:lvl1pPr>
          </a:lstStyle>
          <a:p>
            <a:pPr>
              <a:defRPr/>
            </a:pPr>
            <a:fld id="{02EC4EB2-C33C-4941-A44F-E75F7F6B3A27}" type="datetime10">
              <a:rPr lang="zh-CN" altLang="en-US" smtClean="0"/>
            </a:fld>
            <a:endParaRPr lang="en-US" altLang="zh-CN"/>
          </a:p>
        </p:txBody>
      </p:sp>
      <p:sp>
        <p:nvSpPr>
          <p:cNvPr id="174086" name="Rectangle 6"/>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lstStyle>
            <a:lvl1pPr algn="ctr" eaLnBrk="1" hangingPunct="1">
              <a:defRPr sz="1000"/>
            </a:lvl1pPr>
          </a:lstStyle>
          <a:p>
            <a:pPr>
              <a:defRPr/>
            </a:pPr>
            <a:endParaRPr lang="en-US" altLang="zh-CN"/>
          </a:p>
        </p:txBody>
      </p:sp>
      <p:sp>
        <p:nvSpPr>
          <p:cNvPr id="174087" name="Rectangle 7"/>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t" anchorCtr="0" compatLnSpc="1"/>
          <a:lstStyle>
            <a:lvl1pPr algn="r" eaLnBrk="1" hangingPunct="1">
              <a:defRPr sz="1000" smtClean="0"/>
            </a:lvl1pPr>
          </a:lstStyle>
          <a:p>
            <a:pPr>
              <a:defRPr/>
            </a:pPr>
            <a:fld id="{1A8543FF-F682-49C5-9892-9CF2B52A8733}" type="slidenum">
              <a:rPr lang="en-US" altLang="zh-CN"/>
            </a:fld>
            <a:endParaRPr lang="en-US" altLang="zh-CN"/>
          </a:p>
        </p:txBody>
      </p:sp>
      <p:grpSp>
        <p:nvGrpSpPr>
          <p:cNvPr id="1032" name="Group 8"/>
          <p:cNvGrpSpPr/>
          <p:nvPr/>
        </p:nvGrpSpPr>
        <p:grpSpPr bwMode="auto">
          <a:xfrm>
            <a:off x="10871201" y="152400"/>
            <a:ext cx="1056217"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4"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5"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6"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7"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8"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9"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0"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1"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2"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3"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4"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6"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7"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8"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0"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1"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2"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4"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5"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6"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7"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8"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9"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0"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1"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2"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3"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p:txStyles>
    <p:titleStyle>
      <a:lvl1pPr algn="ctr" rtl="0" eaLnBrk="0" fontAlgn="base" hangingPunct="0">
        <a:spcBef>
          <a:spcPct val="0"/>
        </a:spcBef>
        <a:spcAft>
          <a:spcPct val="0"/>
        </a:spcAft>
        <a:defRPr sz="3900" b="1" kern="1200">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2800" kern="1200">
          <a:solidFill>
            <a:schemeClr val="tx1"/>
          </a:solidFill>
          <a:latin typeface="+mn-ea"/>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4.xml"/><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14.xml"/><Relationship Id="rId3" Type="http://schemas.openxmlformats.org/officeDocument/2006/relationships/oleObject" Target="../embeddings/oleObject4.bin"/><Relationship Id="rId2" Type="http://schemas.openxmlformats.org/officeDocument/2006/relationships/image" Target="../media/image8.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14.xml"/><Relationship Id="rId7" Type="http://schemas.openxmlformats.org/officeDocument/2006/relationships/image" Target="../media/image11.png"/><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image" Target="../media/image10.wmf"/><Relationship Id="rId3" Type="http://schemas.openxmlformats.org/officeDocument/2006/relationships/oleObject" Target="../embeddings/oleObject6.bin"/><Relationship Id="rId2" Type="http://schemas.openxmlformats.org/officeDocument/2006/relationships/image" Target="../media/image9.wmf"/><Relationship Id="rId1"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e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wmf"/></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e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wmf"/></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image" Target="../media/image30.e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jpe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emf"/></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43.wmf"/><Relationship Id="rId3" Type="http://schemas.openxmlformats.org/officeDocument/2006/relationships/oleObject" Target="../embeddings/oleObject9.bin"/><Relationship Id="rId2" Type="http://schemas.openxmlformats.org/officeDocument/2006/relationships/image" Target="../media/image42.emf"/><Relationship Id="rId1" Type="http://schemas.openxmlformats.org/officeDocument/2006/relationships/image" Target="../media/image4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4"/>
          <p:cNvSpPr>
            <a:spLocks noGrp="1" noChangeArrowheads="1"/>
          </p:cNvSpPr>
          <p:nvPr>
            <p:ph type="sldNum" sz="quarter" idx="12"/>
          </p:nvPr>
        </p:nvSpPr>
        <p:spPr>
          <a:noFill/>
        </p:spPr>
        <p:txBody>
          <a:bodyPr/>
          <a:lstStyle/>
          <a:p>
            <a:fld id="{D2367120-BFB5-4745-908C-02F34D6890FE}" type="slidenum">
              <a:rPr lang="zh-CN" altLang="en-US"/>
            </a:fld>
            <a:endParaRPr lang="zh-CN" altLang="en-US"/>
          </a:p>
        </p:txBody>
      </p:sp>
      <p:sp>
        <p:nvSpPr>
          <p:cNvPr id="3075" name="Rectangle 2"/>
          <p:cNvSpPr>
            <a:spLocks noGrp="1" noChangeArrowheads="1"/>
          </p:cNvSpPr>
          <p:nvPr>
            <p:ph type="body" idx="4294967295"/>
          </p:nvPr>
        </p:nvSpPr>
        <p:spPr>
          <a:xfrm>
            <a:off x="814918" y="1628776"/>
            <a:ext cx="10653183" cy="4467225"/>
          </a:xfrm>
        </p:spPr>
        <p:txBody>
          <a:bodyPr/>
          <a:lstStyle/>
          <a:p>
            <a:pPr algn="ctr" eaLnBrk="1" hangingPunct="1">
              <a:buFont typeface="Wingdings" panose="05000000000000000000" pitchFamily="2" charset="2"/>
              <a:buNone/>
            </a:pPr>
            <a:r>
              <a:rPr lang="zh-CN" altLang="en-US" sz="6000" b="1" dirty="0" smtClean="0">
                <a:latin typeface="华文行楷" panose="02010800040101010101" pitchFamily="2" charset="-122"/>
                <a:ea typeface="华文行楷" panose="02010800040101010101" pitchFamily="2" charset="-122"/>
              </a:rPr>
              <a:t>计算</a:t>
            </a:r>
            <a:r>
              <a:rPr lang="zh-CN" altLang="en-US" sz="6000" b="1" dirty="0" smtClean="0">
                <a:latin typeface="华文行楷" panose="02010800040101010101" pitchFamily="2" charset="-122"/>
                <a:ea typeface="华文行楷" panose="02010800040101010101" pitchFamily="2" charset="-122"/>
              </a:rPr>
              <a:t>机</a:t>
            </a:r>
            <a:r>
              <a:rPr lang="zh-CN" altLang="en-US" sz="6000" b="1" dirty="0" smtClean="0">
                <a:latin typeface="华文行楷" panose="02010800040101010101" pitchFamily="2" charset="-122"/>
                <a:ea typeface="华文行楷" panose="02010800040101010101" pitchFamily="2" charset="-122"/>
              </a:rPr>
              <a:t>原理</a:t>
            </a:r>
            <a:r>
              <a:rPr lang="zh-CN" altLang="en-US" sz="6000" b="1" dirty="0" smtClean="0">
                <a:latin typeface="华文行楷" panose="02010800040101010101" pitchFamily="2" charset="-122"/>
                <a:ea typeface="华文行楷" panose="02010800040101010101" pitchFamily="2" charset="-122"/>
              </a:rPr>
              <a:t>与</a:t>
            </a:r>
            <a:r>
              <a:rPr lang="zh-CN" altLang="en-US" sz="6000" b="1" dirty="0" smtClean="0">
                <a:latin typeface="华文行楷" panose="02010800040101010101" pitchFamily="2" charset="-122"/>
                <a:ea typeface="华文行楷" panose="02010800040101010101" pitchFamily="2" charset="-122"/>
              </a:rPr>
              <a:t>应用</a:t>
            </a:r>
            <a:endParaRPr lang="zh-CN" altLang="en-US" sz="6000" b="1" dirty="0" smtClean="0">
              <a:latin typeface="华文行楷" panose="02010800040101010101" pitchFamily="2" charset="-122"/>
              <a:ea typeface="华文行楷" panose="02010800040101010101" pitchFamily="2" charset="-122"/>
            </a:endParaRPr>
          </a:p>
          <a:p>
            <a:pPr algn="ctr" eaLnBrk="1" hangingPunct="1">
              <a:buFont typeface="Wingdings" panose="05000000000000000000" pitchFamily="2" charset="2"/>
              <a:buNone/>
            </a:pPr>
            <a:r>
              <a:rPr lang="zh-CN" altLang="en-US" sz="6000" b="1" dirty="0" smtClean="0">
                <a:latin typeface="华文行楷" panose="02010800040101010101" pitchFamily="2" charset="-122"/>
                <a:ea typeface="华文行楷" panose="02010800040101010101" pitchFamily="2" charset="-122"/>
              </a:rPr>
              <a:t>总复习</a:t>
            </a:r>
            <a:endParaRPr lang="zh-CN" altLang="en-US" sz="6000" b="1" dirty="0" smtClean="0">
              <a:latin typeface="华文行楷" panose="02010800040101010101" pitchFamily="2" charset="-122"/>
              <a:ea typeface="华文行楷" panose="02010800040101010101" pitchFamily="2" charset="-122"/>
            </a:endParaRPr>
          </a:p>
          <a:p>
            <a:pPr eaLnBrk="1" hangingPunct="1">
              <a:buFont typeface="Wingdings" panose="05000000000000000000" pitchFamily="2" charset="2"/>
              <a:buNone/>
            </a:pPr>
            <a:r>
              <a:rPr lang="en-US" altLang="zh-CN" sz="3600" b="1" dirty="0" smtClean="0"/>
              <a:t>          </a:t>
            </a:r>
            <a:endParaRPr lang="zh-CN" altLang="en-US" sz="3600" b="1" dirty="0" smtClean="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noChangeArrowheads="1"/>
          </p:cNvSpPr>
          <p:nvPr>
            <p:ph type="title"/>
          </p:nvPr>
        </p:nvSpPr>
        <p:spPr/>
        <p:txBody>
          <a:bodyPr/>
          <a:lstStyle/>
          <a:p>
            <a:pPr algn="ctr" eaLnBrk="1" hangingPunct="1"/>
            <a:r>
              <a:rPr lang="zh-CN" altLang="en-US" dirty="0">
                <a:latin typeface="黑体" panose="02010609060101010101" pitchFamily="49" charset="-122"/>
                <a:ea typeface="黑体" panose="02010609060101010101" pitchFamily="49" charset="-122"/>
              </a:rPr>
              <a:t>第</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章  微型计算机基础</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pPr eaLnBrk="1" hangingPunct="1">
              <a:defRPr/>
            </a:pPr>
            <a:endParaRPr lang="zh-CN" altLang="en-US" sz="1500" dirty="0">
              <a:solidFill>
                <a:srgbClr val="000000"/>
              </a:solidFill>
              <a:latin typeface="Calibri" panose="020F0502020204030204" pitchFamily="34" charset="0"/>
            </a:endParaRPr>
          </a:p>
          <a:p>
            <a:pPr eaLnBrk="1" hangingPunct="1">
              <a:buClr>
                <a:srgbClr val="7030A0"/>
              </a:buClr>
              <a:buFont typeface="Wingdings" panose="05000000000000000000" pitchFamily="2" charset="2"/>
              <a:buChar char="Ø"/>
              <a:defRPr/>
            </a:pPr>
            <a:r>
              <a:rPr lang="zh-CN" altLang="en-US" sz="2800" dirty="0">
                <a:solidFill>
                  <a:srgbClr val="000000"/>
                </a:solidFill>
                <a:latin typeface="黑体" panose="02010609060101010101" pitchFamily="49" charset="-122"/>
                <a:ea typeface="黑体" panose="02010609060101010101" pitchFamily="49" charset="-122"/>
              </a:rPr>
              <a:t>微型计算机系统组成</a:t>
            </a:r>
            <a:endParaRPr lang="en-US" altLang="zh-CN" sz="2800" dirty="0">
              <a:solidFill>
                <a:srgbClr val="000000"/>
              </a:solidFill>
              <a:latin typeface="黑体" panose="02010609060101010101" pitchFamily="49" charset="-122"/>
              <a:ea typeface="黑体" panose="02010609060101010101" pitchFamily="49" charset="-122"/>
            </a:endParaRPr>
          </a:p>
          <a:p>
            <a:pPr eaLnBrk="1" hangingPunct="1">
              <a:buClr>
                <a:srgbClr val="7030A0"/>
              </a:buClr>
              <a:buFont typeface="Wingdings" panose="05000000000000000000" pitchFamily="2" charset="2"/>
              <a:buChar char="Ø"/>
              <a:defRPr/>
            </a:pPr>
            <a:r>
              <a:rPr lang="zh-CN" altLang="en-US" sz="2800" dirty="0">
                <a:solidFill>
                  <a:srgbClr val="000000"/>
                </a:solidFill>
                <a:latin typeface="黑体" panose="02010609060101010101" pitchFamily="49" charset="-122"/>
                <a:ea typeface="黑体" panose="02010609060101010101" pitchFamily="49" charset="-122"/>
              </a:rPr>
              <a:t>微型计算机中常用数制和编码</a:t>
            </a:r>
            <a:endParaRPr lang="en-US" altLang="zh-CN" sz="2800" dirty="0">
              <a:solidFill>
                <a:srgbClr val="000000"/>
              </a:solidFill>
              <a:latin typeface="黑体" panose="02010609060101010101" pitchFamily="49" charset="-122"/>
              <a:ea typeface="黑体" panose="02010609060101010101" pitchFamily="49" charset="-122"/>
            </a:endParaRPr>
          </a:p>
          <a:p>
            <a:pPr eaLnBrk="1" hangingPunct="1">
              <a:buClr>
                <a:srgbClr val="7030A0"/>
              </a:buClr>
              <a:buFont typeface="Wingdings" panose="05000000000000000000" pitchFamily="2" charset="2"/>
              <a:buChar char="Ø"/>
              <a:defRPr/>
            </a:pPr>
            <a:endParaRPr lang="zh-CN" altLang="en-US" sz="2800" dirty="0">
              <a:solidFill>
                <a:srgbClr val="000000"/>
              </a:solidFill>
              <a:latin typeface="黑体" panose="02010609060101010101" pitchFamily="49" charset="-122"/>
              <a:ea typeface="黑体" panose="02010609060101010101" pitchFamily="49" charset="-122"/>
            </a:endParaRPr>
          </a:p>
          <a:p>
            <a:pPr marL="0" indent="0" eaLnBrk="1" hangingPunct="1">
              <a:buNone/>
              <a:defRPr/>
            </a:pPr>
            <a:endParaRPr lang="zh-CN"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noChangeArrowheads="1"/>
          </p:cNvSpPr>
          <p:nvPr>
            <p:ph type="title"/>
          </p:nvPr>
        </p:nvSpPr>
        <p:spPr/>
        <p:txBody>
          <a:bodyPr/>
          <a:lstStyle/>
          <a:p>
            <a:pPr eaLnBrk="1" hangingPunct="1"/>
            <a:r>
              <a:rPr lang="zh-CN" altLang="en-US"/>
              <a:t>常用数制及转换</a:t>
            </a:r>
            <a:endParaRPr lang="zh-CN" altLang="en-US"/>
          </a:p>
        </p:txBody>
      </p:sp>
      <p:sp>
        <p:nvSpPr>
          <p:cNvPr id="3" name="内容占位符 2"/>
          <p:cNvSpPr>
            <a:spLocks noGrp="1"/>
          </p:cNvSpPr>
          <p:nvPr>
            <p:ph idx="1"/>
          </p:nvPr>
        </p:nvSpPr>
        <p:spPr>
          <a:xfrm>
            <a:off x="963561" y="1745673"/>
            <a:ext cx="9075789" cy="4086802"/>
          </a:xfrm>
        </p:spPr>
        <p:txBody>
          <a:bodyPr>
            <a:normAutofit/>
          </a:bodyPr>
          <a:lstStyle/>
          <a:p>
            <a:pPr eaLnBrk="1" hangingPunct="1">
              <a:defRPr/>
            </a:pPr>
            <a:r>
              <a:rPr lang="zh-CN" altLang="en-US" dirty="0"/>
              <a:t>数制是数的表示方法。可以用各种进位计数制来表示数。</a:t>
            </a:r>
            <a:endParaRPr lang="zh-CN" altLang="en-US" dirty="0"/>
          </a:p>
          <a:p>
            <a:pPr eaLnBrk="1" hangingPunct="1">
              <a:defRPr/>
            </a:pPr>
            <a:r>
              <a:rPr lang="zh-CN" altLang="en-US" dirty="0"/>
              <a:t>数制中所使用的数码的个数称为</a:t>
            </a:r>
            <a:r>
              <a:rPr lang="zh-CN" altLang="en-US" dirty="0">
                <a:solidFill>
                  <a:srgbClr val="7030A0"/>
                </a:solidFill>
              </a:rPr>
              <a:t>基数</a:t>
            </a:r>
            <a:r>
              <a:rPr lang="zh-CN" altLang="en-US" dirty="0"/>
              <a:t>，数制每一位所具有的权值称为</a:t>
            </a:r>
            <a:r>
              <a:rPr lang="zh-CN" altLang="en-US" dirty="0">
                <a:solidFill>
                  <a:srgbClr val="7030A0"/>
                </a:solidFill>
              </a:rPr>
              <a:t>位权</a:t>
            </a:r>
            <a:r>
              <a:rPr lang="zh-CN" altLang="en-US" dirty="0"/>
              <a:t>，每一位的值等于该位数字和该位位权的乘积。</a:t>
            </a:r>
            <a:endParaRPr lang="zh-CN" altLang="en-US" dirty="0"/>
          </a:p>
          <a:p>
            <a:pPr eaLnBrk="1" hangingPunct="1">
              <a:defRPr/>
            </a:pPr>
            <a:r>
              <a:rPr lang="zh-CN" altLang="en-US" dirty="0"/>
              <a:t>常用数制有：</a:t>
            </a:r>
            <a:endParaRPr lang="en-US" altLang="zh-CN" dirty="0"/>
          </a:p>
          <a:p>
            <a:pPr lvl="1" eaLnBrk="1" hangingPunct="1">
              <a:defRPr/>
            </a:pPr>
            <a:r>
              <a:rPr lang="zh-CN" altLang="en-US" dirty="0"/>
              <a:t>十进制，人们最熟悉、最常用</a:t>
            </a:r>
            <a:endParaRPr lang="zh-CN" altLang="en-US" dirty="0"/>
          </a:p>
          <a:p>
            <a:pPr lvl="1" eaLnBrk="1" hangingPunct="1">
              <a:defRPr/>
            </a:pPr>
            <a:r>
              <a:rPr lang="zh-CN" altLang="en-US" dirty="0"/>
              <a:t>二进制，计算机中数的表示</a:t>
            </a:r>
            <a:endParaRPr lang="zh-CN" altLang="en-US" dirty="0"/>
          </a:p>
          <a:p>
            <a:pPr lvl="1" eaLnBrk="1" hangingPunct="1">
              <a:defRPr/>
            </a:pPr>
            <a:r>
              <a:rPr lang="zh-CN" altLang="en-US" dirty="0"/>
              <a:t>十六进制，为方便书写计算机中的二进制数</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p:txBody>
          <a:bodyPr/>
          <a:lstStyle/>
          <a:p>
            <a:pPr eaLnBrk="1" hangingPunct="1"/>
            <a:r>
              <a:rPr lang="zh-CN" altLang="en-US"/>
              <a:t>数的表示与运算</a:t>
            </a:r>
            <a:endParaRPr lang="zh-CN" altLang="en-US"/>
          </a:p>
        </p:txBody>
      </p:sp>
      <p:sp>
        <p:nvSpPr>
          <p:cNvPr id="3" name="内容占位符 2"/>
          <p:cNvSpPr>
            <a:spLocks noGrp="1"/>
          </p:cNvSpPr>
          <p:nvPr>
            <p:ph idx="1"/>
          </p:nvPr>
        </p:nvSpPr>
        <p:spPr>
          <a:xfrm>
            <a:off x="1425039" y="1626919"/>
            <a:ext cx="8800049" cy="3762644"/>
          </a:xfrm>
        </p:spPr>
        <p:txBody>
          <a:bodyPr>
            <a:normAutofit/>
          </a:bodyPr>
          <a:lstStyle/>
          <a:p>
            <a:pPr eaLnBrk="1" hangingPunct="1">
              <a:defRPr/>
            </a:pPr>
            <a:r>
              <a:rPr lang="zh-CN" altLang="en-US" dirty="0"/>
              <a:t>数值数据分为两种：</a:t>
            </a:r>
            <a:endParaRPr lang="en-US" altLang="zh-CN" dirty="0"/>
          </a:p>
          <a:p>
            <a:pPr lvl="1" eaLnBrk="1" hangingPunct="1">
              <a:defRPr/>
            </a:pPr>
            <a:r>
              <a:rPr lang="zh-CN" altLang="en-US" dirty="0"/>
              <a:t>无符号数值数据的表示形式：全部数位都表示数值大小</a:t>
            </a:r>
            <a:endParaRPr lang="en-US" altLang="zh-CN" dirty="0"/>
          </a:p>
          <a:p>
            <a:pPr lvl="1" eaLnBrk="1" hangingPunct="1">
              <a:defRPr/>
            </a:pPr>
            <a:r>
              <a:rPr lang="zh-CN" altLang="en-US" dirty="0">
                <a:latin typeface="华文仿宋" panose="02010600040101010101" pitchFamily="2" charset="-122"/>
                <a:ea typeface="华文仿宋" panose="02010600040101010101" pitchFamily="2" charset="-122"/>
              </a:rPr>
              <a:t>带符号数值数据的表示形式：最高数位为符号位。</a:t>
            </a:r>
            <a:endParaRPr lang="zh-CN" altLang="en-US" dirty="0">
              <a:latin typeface="华文仿宋" panose="02010600040101010101" pitchFamily="2" charset="-122"/>
              <a:ea typeface="华文仿宋" panose="02010600040101010101" pitchFamily="2" charset="-122"/>
            </a:endParaRPr>
          </a:p>
          <a:p>
            <a:pPr marL="280670" lvl="1" indent="-457200" eaLnBrk="1" hangingPunct="1">
              <a:spcBef>
                <a:spcPts val="750"/>
              </a:spcBef>
              <a:buClr>
                <a:srgbClr val="0070C0"/>
              </a:buClr>
              <a:buFont typeface="Wingdings" panose="05000000000000000000" pitchFamily="2" charset="2"/>
              <a:buChar char="u"/>
              <a:defRPr/>
            </a:pPr>
            <a:r>
              <a:rPr lang="zh-CN" altLang="en-US" sz="3000" dirty="0"/>
              <a:t>常用的表示方法有：</a:t>
            </a:r>
            <a:endParaRPr lang="zh-CN" altLang="en-US" sz="3000" dirty="0"/>
          </a:p>
          <a:p>
            <a:pPr lvl="1" eaLnBrk="1" hangingPunct="1">
              <a:defRPr/>
            </a:pPr>
            <a:r>
              <a:rPr lang="zh-CN" altLang="en-US" dirty="0"/>
              <a:t>原码</a:t>
            </a:r>
            <a:endParaRPr lang="zh-CN" altLang="en-US" dirty="0"/>
          </a:p>
          <a:p>
            <a:pPr lvl="1" eaLnBrk="1" hangingPunct="1">
              <a:defRPr/>
            </a:pPr>
            <a:r>
              <a:rPr lang="zh-CN" altLang="en-US" dirty="0"/>
              <a:t>反码</a:t>
            </a:r>
            <a:endParaRPr lang="zh-CN" altLang="en-US" dirty="0"/>
          </a:p>
          <a:p>
            <a:pPr lvl="1" eaLnBrk="1" hangingPunct="1">
              <a:defRPr/>
            </a:pPr>
            <a:r>
              <a:rPr lang="zh-CN" altLang="en-US" dirty="0">
                <a:solidFill>
                  <a:srgbClr val="FF0000"/>
                </a:solidFill>
              </a:rPr>
              <a:t>补码</a:t>
            </a:r>
            <a:endParaRPr lang="zh-CN" altLang="en-US"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pPr eaLnBrk="1" hangingPunct="1"/>
            <a:r>
              <a:rPr lang="zh-CN" altLang="en-US"/>
              <a:t>补码的加减运算</a:t>
            </a:r>
            <a:endParaRPr lang="zh-CN" altLang="en-US"/>
          </a:p>
        </p:txBody>
      </p:sp>
      <p:sp>
        <p:nvSpPr>
          <p:cNvPr id="3" name="内容占位符 2"/>
          <p:cNvSpPr>
            <a:spLocks noGrp="1"/>
          </p:cNvSpPr>
          <p:nvPr>
            <p:ph idx="1"/>
          </p:nvPr>
        </p:nvSpPr>
        <p:spPr/>
        <p:txBody>
          <a:bodyPr>
            <a:normAutofit/>
          </a:bodyPr>
          <a:lstStyle/>
          <a:p>
            <a:pPr eaLnBrk="1" hangingPunct="1">
              <a:defRPr/>
            </a:pPr>
            <a:endParaRPr lang="zh-CN" altLang="en-US" sz="1050" dirty="0">
              <a:solidFill>
                <a:srgbClr val="000000"/>
              </a:solidFill>
              <a:latin typeface="楷体" panose="02010609060101010101" pitchFamily="49" charset="-122"/>
              <a:ea typeface="楷体" panose="02010609060101010101" pitchFamily="49" charset="-122"/>
            </a:endParaRPr>
          </a:p>
          <a:p>
            <a:pPr eaLnBrk="1" hangingPunct="1">
              <a:defRPr/>
            </a:pPr>
            <a:r>
              <a:rPr lang="zh-CN" altLang="en-US" dirty="0">
                <a:solidFill>
                  <a:srgbClr val="000000"/>
                </a:solidFill>
                <a:latin typeface="楷体" panose="02010609060101010101" pitchFamily="49" charset="-122"/>
                <a:ea typeface="楷体" panose="02010609060101010101" pitchFamily="49" charset="-122"/>
              </a:rPr>
              <a:t>在进行补码加减运算时，符号位和数值位一起参加运算，并且可以把减法运算转化为负数补码的加法运算。</a:t>
            </a:r>
            <a:endParaRPr lang="zh-CN" altLang="en-US" dirty="0">
              <a:solidFill>
                <a:srgbClr val="000000"/>
              </a:solidFill>
              <a:latin typeface="楷体" panose="02010609060101010101" pitchFamily="49" charset="-122"/>
              <a:ea typeface="楷体" panose="02010609060101010101" pitchFamily="49" charset="-122"/>
            </a:endParaRPr>
          </a:p>
          <a:p>
            <a:pPr eaLnBrk="1" hangingPunct="1">
              <a:defRPr/>
            </a:pPr>
            <a:r>
              <a:rPr lang="zh-CN" altLang="en-US" dirty="0">
                <a:solidFill>
                  <a:srgbClr val="000000"/>
                </a:solidFill>
                <a:latin typeface="楷体" panose="02010609060101010101" pitchFamily="49" charset="-122"/>
                <a:ea typeface="楷体" panose="02010609060101010101" pitchFamily="49" charset="-122"/>
              </a:rPr>
              <a:t>补码的加减运算规则：</a:t>
            </a:r>
            <a:endParaRPr lang="zh-CN" altLang="en-US" dirty="0">
              <a:solidFill>
                <a:srgbClr val="000000"/>
              </a:solidFill>
              <a:latin typeface="楷体" panose="02010609060101010101" pitchFamily="49" charset="-122"/>
              <a:ea typeface="楷体" panose="02010609060101010101" pitchFamily="49" charset="-122"/>
            </a:endParaRPr>
          </a:p>
          <a:p>
            <a:pPr eaLnBrk="1" hangingPunct="1">
              <a:buFont typeface="Wingdings" panose="05000000000000000000" pitchFamily="2" charset="2"/>
              <a:buNone/>
              <a:defRPr/>
            </a:pPr>
            <a:r>
              <a:rPr lang="en-US" altLang="zh-CN" dirty="0"/>
              <a:t>      [X+Y]</a:t>
            </a:r>
            <a:r>
              <a:rPr lang="zh-CN" altLang="en-US" baseline="-25000" dirty="0"/>
              <a:t>补</a:t>
            </a:r>
            <a:r>
              <a:rPr lang="en-US" altLang="zh-CN" dirty="0"/>
              <a:t>=[X]</a:t>
            </a:r>
            <a:r>
              <a:rPr lang="zh-CN" altLang="en-US" baseline="-25000" dirty="0"/>
              <a:t>补</a:t>
            </a:r>
            <a:r>
              <a:rPr lang="en-US" altLang="zh-CN" dirty="0"/>
              <a:t>+[Y]</a:t>
            </a:r>
            <a:r>
              <a:rPr lang="zh-CN" altLang="en-US" baseline="-25000" dirty="0"/>
              <a:t>补</a:t>
            </a:r>
            <a:r>
              <a:rPr lang="zh-CN" altLang="en-US" dirty="0"/>
              <a:t>；</a:t>
            </a:r>
            <a:endParaRPr lang="zh-CN" altLang="en-US" dirty="0"/>
          </a:p>
          <a:p>
            <a:pPr eaLnBrk="1" hangingPunct="1">
              <a:buFont typeface="Wingdings" panose="05000000000000000000" pitchFamily="2" charset="2"/>
              <a:buNone/>
              <a:defRPr/>
            </a:pPr>
            <a:r>
              <a:rPr lang="zh-CN" altLang="en-US" dirty="0"/>
              <a:t>      </a:t>
            </a:r>
            <a:r>
              <a:rPr lang="en-US" altLang="zh-CN" dirty="0"/>
              <a:t>[X-Y]</a:t>
            </a:r>
            <a:r>
              <a:rPr lang="zh-CN" altLang="en-US" baseline="-25000" dirty="0"/>
              <a:t>补</a:t>
            </a:r>
            <a:r>
              <a:rPr lang="en-US" altLang="zh-CN" dirty="0"/>
              <a:t>=[X]</a:t>
            </a:r>
            <a:r>
              <a:rPr lang="zh-CN" altLang="en-US" baseline="-25000" dirty="0"/>
              <a:t>补</a:t>
            </a:r>
            <a:r>
              <a:rPr lang="en-US" altLang="zh-CN" dirty="0"/>
              <a:t>+[-Y]</a:t>
            </a:r>
            <a:r>
              <a:rPr lang="zh-CN" altLang="en-US" baseline="-25000" dirty="0"/>
              <a:t>补</a:t>
            </a:r>
            <a:r>
              <a:rPr lang="zh-CN" altLang="en-US" dirty="0"/>
              <a:t>；</a:t>
            </a:r>
            <a:endParaRPr lang="zh-CN" altLang="en-US" dirty="0"/>
          </a:p>
          <a:p>
            <a:pPr eaLnBrk="1" hangingPunct="1">
              <a:buFont typeface="Wingdings" panose="05000000000000000000" pitchFamily="2" charset="2"/>
              <a:buNone/>
              <a:defRPr/>
            </a:pPr>
            <a:r>
              <a:rPr lang="zh-CN" altLang="en-US" dirty="0"/>
              <a:t>      其中：</a:t>
            </a:r>
            <a:r>
              <a:rPr lang="en-US" altLang="zh-CN" dirty="0"/>
              <a:t>[-Y]</a:t>
            </a:r>
            <a:r>
              <a:rPr lang="zh-CN" altLang="en-US" baseline="-25000" dirty="0"/>
              <a:t>补</a:t>
            </a:r>
            <a:r>
              <a:rPr lang="en-US" altLang="zh-CN" dirty="0"/>
              <a:t>=[Y]</a:t>
            </a:r>
            <a:r>
              <a:rPr lang="zh-CN" altLang="en-US" baseline="-25000" dirty="0"/>
              <a:t>补</a:t>
            </a:r>
            <a:r>
              <a:rPr lang="zh-CN" altLang="en-US" dirty="0"/>
              <a:t>各位取反</a:t>
            </a:r>
            <a:r>
              <a:rPr lang="en-US" altLang="zh-CN" dirty="0"/>
              <a:t>+</a:t>
            </a:r>
            <a:r>
              <a:rPr lang="zh-CN" altLang="en-US" dirty="0"/>
              <a:t>末位</a:t>
            </a:r>
            <a:r>
              <a:rPr lang="en-US" altLang="zh-CN" dirty="0"/>
              <a:t>1</a:t>
            </a:r>
            <a:r>
              <a:rPr lang="zh-CN" altLang="en-US" dirty="0"/>
              <a:t>。 </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a:t>常用编码</a:t>
            </a:r>
            <a:endParaRPr lang="zh-CN" altLang="en-US"/>
          </a:p>
        </p:txBody>
      </p:sp>
      <p:sp>
        <p:nvSpPr>
          <p:cNvPr id="49155" name="内容占位符 2"/>
          <p:cNvSpPr>
            <a:spLocks noGrp="1" noChangeArrowheads="1"/>
          </p:cNvSpPr>
          <p:nvPr>
            <p:ph idx="1"/>
          </p:nvPr>
        </p:nvSpPr>
        <p:spPr>
          <a:xfrm>
            <a:off x="609600" y="1719263"/>
            <a:ext cx="10058400" cy="4411662"/>
          </a:xfrm>
        </p:spPr>
        <p:txBody>
          <a:bodyPr/>
          <a:lstStyle/>
          <a:p>
            <a:pPr eaLnBrk="1" hangingPunct="1"/>
            <a:r>
              <a:rPr lang="zh-CN" altLang="en-US" dirty="0">
                <a:latin typeface="+mn-ea"/>
              </a:rPr>
              <a:t>二进制编码的十进制数</a:t>
            </a:r>
            <a:r>
              <a:rPr lang="en-US" altLang="zh-CN" dirty="0">
                <a:latin typeface="+mn-ea"/>
              </a:rPr>
              <a:t>(BCD</a:t>
            </a:r>
            <a:r>
              <a:rPr lang="zh-CN" altLang="en-US" dirty="0">
                <a:latin typeface="+mn-ea"/>
              </a:rPr>
              <a:t>码</a:t>
            </a:r>
            <a:r>
              <a:rPr lang="en-US" altLang="zh-CN" dirty="0">
                <a:latin typeface="+mn-ea"/>
              </a:rPr>
              <a:t>)</a:t>
            </a:r>
            <a:endParaRPr lang="en-US" altLang="zh-CN" dirty="0">
              <a:latin typeface="+mn-ea"/>
            </a:endParaRPr>
          </a:p>
          <a:p>
            <a:pPr eaLnBrk="1" hangingPunct="1"/>
            <a:r>
              <a:rPr lang="en-US" altLang="zh-CN" dirty="0">
                <a:latin typeface="+mn-ea"/>
              </a:rPr>
              <a:t>1</a:t>
            </a:r>
            <a:r>
              <a:rPr lang="zh-CN" altLang="en-US" dirty="0">
                <a:latin typeface="+mn-ea"/>
              </a:rPr>
              <a:t>位十进制数可采用</a:t>
            </a:r>
            <a:r>
              <a:rPr lang="en-US" altLang="zh-CN" dirty="0">
                <a:latin typeface="+mn-ea"/>
              </a:rPr>
              <a:t>4</a:t>
            </a:r>
            <a:r>
              <a:rPr lang="zh-CN" altLang="en-US" dirty="0">
                <a:latin typeface="+mn-ea"/>
              </a:rPr>
              <a:t>位二进制编码来表示，常采用的是按权值</a:t>
            </a:r>
            <a:r>
              <a:rPr lang="en-US" altLang="zh-CN" dirty="0">
                <a:latin typeface="+mn-ea"/>
              </a:rPr>
              <a:t>8421</a:t>
            </a:r>
            <a:r>
              <a:rPr lang="zh-CN" altLang="en-US" dirty="0">
                <a:latin typeface="+mn-ea"/>
              </a:rPr>
              <a:t>编码，通常称为</a:t>
            </a:r>
            <a:r>
              <a:rPr lang="en-US" altLang="zh-CN" dirty="0">
                <a:latin typeface="+mn-ea"/>
              </a:rPr>
              <a:t>BCD</a:t>
            </a:r>
            <a:r>
              <a:rPr lang="zh-CN" altLang="en-US" dirty="0">
                <a:latin typeface="+mn-ea"/>
              </a:rPr>
              <a:t>码。</a:t>
            </a:r>
            <a:endParaRPr lang="zh-CN" altLang="en-US" dirty="0">
              <a:latin typeface="+mn-ea"/>
            </a:endParaRPr>
          </a:p>
          <a:p>
            <a:pPr eaLnBrk="1" hangingPunct="1"/>
            <a:r>
              <a:rPr lang="en-US" altLang="zh-CN" dirty="0">
                <a:latin typeface="+mn-ea"/>
              </a:rPr>
              <a:t>BCD</a:t>
            </a:r>
            <a:r>
              <a:rPr lang="zh-CN" altLang="en-US" dirty="0">
                <a:latin typeface="+mn-ea"/>
              </a:rPr>
              <a:t>码分为：</a:t>
            </a:r>
            <a:endParaRPr lang="en-US" altLang="zh-CN" dirty="0">
              <a:latin typeface="+mn-ea"/>
            </a:endParaRPr>
          </a:p>
          <a:p>
            <a:pPr lvl="1" eaLnBrk="1" hangingPunct="1"/>
            <a:r>
              <a:rPr lang="zh-CN" altLang="en-US" sz="2400" dirty="0">
                <a:latin typeface="+mn-ea"/>
              </a:rPr>
              <a:t>压缩</a:t>
            </a:r>
            <a:r>
              <a:rPr lang="en-US" altLang="zh-CN" sz="2400" dirty="0">
                <a:latin typeface="+mn-ea"/>
              </a:rPr>
              <a:t>BCD</a:t>
            </a:r>
            <a:r>
              <a:rPr lang="zh-CN" altLang="en-US" sz="2400" dirty="0">
                <a:latin typeface="+mn-ea"/>
              </a:rPr>
              <a:t>码，一个字节表示两位十进制数，这是常用的</a:t>
            </a:r>
            <a:r>
              <a:rPr lang="en-US" altLang="zh-CN" sz="2400" dirty="0">
                <a:latin typeface="+mn-ea"/>
              </a:rPr>
              <a:t>BCD</a:t>
            </a:r>
            <a:r>
              <a:rPr lang="zh-CN" altLang="en-US" sz="2400" dirty="0">
                <a:latin typeface="+mn-ea"/>
              </a:rPr>
              <a:t>码表示形式；</a:t>
            </a:r>
            <a:endParaRPr lang="zh-CN" altLang="en-US" sz="2400" dirty="0">
              <a:latin typeface="+mn-ea"/>
            </a:endParaRPr>
          </a:p>
          <a:p>
            <a:pPr lvl="1" eaLnBrk="1" hangingPunct="1"/>
            <a:r>
              <a:rPr lang="zh-CN" altLang="en-US" sz="2400" dirty="0">
                <a:latin typeface="+mn-ea"/>
              </a:rPr>
              <a:t>非压缩</a:t>
            </a:r>
            <a:r>
              <a:rPr lang="en-US" altLang="zh-CN" sz="2400" dirty="0">
                <a:latin typeface="+mn-ea"/>
              </a:rPr>
              <a:t>BCD</a:t>
            </a:r>
            <a:r>
              <a:rPr lang="zh-CN" altLang="en-US" sz="2400" dirty="0">
                <a:latin typeface="+mn-ea"/>
              </a:rPr>
              <a:t>码，一个字节表示一位十进制数，字节的高</a:t>
            </a:r>
            <a:r>
              <a:rPr lang="en-US" altLang="zh-CN" sz="2400" dirty="0">
                <a:latin typeface="+mn-ea"/>
              </a:rPr>
              <a:t>4</a:t>
            </a:r>
            <a:r>
              <a:rPr lang="zh-CN" altLang="en-US" sz="2400" dirty="0">
                <a:latin typeface="+mn-ea"/>
              </a:rPr>
              <a:t>位总是</a:t>
            </a:r>
            <a:r>
              <a:rPr lang="en-US" altLang="zh-CN" sz="2400" dirty="0">
                <a:latin typeface="+mn-ea"/>
              </a:rPr>
              <a:t>0000</a:t>
            </a:r>
            <a:r>
              <a:rPr lang="zh-CN" altLang="en-US" sz="2400" dirty="0">
                <a:latin typeface="+mn-ea"/>
              </a:rPr>
              <a:t>。</a:t>
            </a:r>
            <a:endParaRPr lang="zh-CN" altLang="en-US" sz="2400" dirty="0">
              <a:latin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第二章</a:t>
            </a:r>
            <a:r>
              <a:rPr lang="en-US" altLang="zh-CN" dirty="0">
                <a:sym typeface="Arial" panose="020B0604020202020204" pitchFamily="34" charset="0"/>
              </a:rPr>
              <a:t>16</a:t>
            </a:r>
            <a:r>
              <a:rPr lang="zh-CN" altLang="en-US" dirty="0">
                <a:sym typeface="Arial" panose="020B0604020202020204" pitchFamily="34" charset="0"/>
              </a:rPr>
              <a:t>位和</a:t>
            </a:r>
            <a:r>
              <a:rPr lang="en-US" altLang="zh-CN" dirty="0">
                <a:sym typeface="Arial" panose="020B0604020202020204" pitchFamily="34" charset="0"/>
              </a:rPr>
              <a:t>32</a:t>
            </a:r>
            <a:r>
              <a:rPr lang="zh-CN" altLang="en-US" dirty="0">
                <a:sym typeface="Arial" panose="020B0604020202020204" pitchFamily="34" charset="0"/>
              </a:rPr>
              <a:t>位微处理器</a:t>
            </a:r>
            <a:endParaRPr lang="zh-CN" altLang="en-US" dirty="0"/>
          </a:p>
        </p:txBody>
      </p:sp>
      <p:sp>
        <p:nvSpPr>
          <p:cNvPr id="3" name="内容占位符 2"/>
          <p:cNvSpPr>
            <a:spLocks noGrp="1"/>
          </p:cNvSpPr>
          <p:nvPr>
            <p:ph idx="1"/>
          </p:nvPr>
        </p:nvSpPr>
        <p:spPr/>
        <p:txBody>
          <a:bodyPr/>
          <a:lstStyle/>
          <a:p>
            <a:r>
              <a:rPr lang="en-US" altLang="zh-CN" dirty="0"/>
              <a:t>16</a:t>
            </a:r>
            <a:r>
              <a:rPr lang="zh-CN" altLang="en-US" dirty="0"/>
              <a:t>位微处理器</a:t>
            </a:r>
            <a:r>
              <a:rPr lang="en-US" altLang="zh-CN" dirty="0"/>
              <a:t>8086/8088</a:t>
            </a:r>
            <a:endParaRPr lang="en-US" altLang="zh-CN" dirty="0"/>
          </a:p>
          <a:p>
            <a:r>
              <a:rPr lang="en-US" altLang="zh-CN" dirty="0"/>
              <a:t>8086/8088 CPU</a:t>
            </a:r>
            <a:r>
              <a:rPr lang="zh-CN" altLang="en-US" dirty="0"/>
              <a:t>的内部结构和寄存器结构</a:t>
            </a:r>
            <a:endParaRPr lang="en-US" altLang="zh-CN" dirty="0"/>
          </a:p>
          <a:p>
            <a:r>
              <a:rPr lang="en-US" altLang="zh-CN" dirty="0"/>
              <a:t>8086/8088 CPU</a:t>
            </a:r>
            <a:r>
              <a:rPr lang="zh-CN" altLang="en-US" dirty="0"/>
              <a:t>的引脚信号和功能</a:t>
            </a:r>
            <a:endParaRPr lang="en-US" altLang="zh-CN" dirty="0"/>
          </a:p>
          <a:p>
            <a:r>
              <a:rPr lang="en-US" altLang="zh-CN" dirty="0"/>
              <a:t>8086/8088</a:t>
            </a:r>
            <a:r>
              <a:rPr lang="zh-CN" altLang="en-US" dirty="0"/>
              <a:t>系统的工作模式与典型时序</a:t>
            </a:r>
            <a:endParaRPr lang="en-US" altLang="zh-CN" dirty="0"/>
          </a:p>
          <a:p>
            <a:pPr marL="0" indent="0">
              <a:buNone/>
            </a:pP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逻辑地址和物理地址</a:t>
            </a:r>
            <a:endParaRPr lang="zh-CN" altLang="en-US" dirty="0"/>
          </a:p>
        </p:txBody>
      </p:sp>
      <p:sp>
        <p:nvSpPr>
          <p:cNvPr id="3" name="内容占位符 2"/>
          <p:cNvSpPr>
            <a:spLocks noGrp="1"/>
          </p:cNvSpPr>
          <p:nvPr>
            <p:ph idx="1"/>
          </p:nvPr>
        </p:nvSpPr>
        <p:spPr>
          <a:xfrm>
            <a:off x="387291" y="1690689"/>
            <a:ext cx="11417418" cy="2771956"/>
          </a:xfrm>
        </p:spPr>
        <p:txBody>
          <a:bodyPr>
            <a:noAutofit/>
          </a:bodyPr>
          <a:lstStyle/>
          <a:p>
            <a:pPr>
              <a:lnSpc>
                <a:spcPct val="100000"/>
              </a:lnSpc>
            </a:pPr>
            <a:r>
              <a:rPr lang="zh-CN" altLang="en-US" sz="2400" dirty="0">
                <a:solidFill>
                  <a:srgbClr val="7030A0"/>
                </a:solidFill>
              </a:rPr>
              <a:t>段首址</a:t>
            </a:r>
            <a:r>
              <a:rPr lang="zh-CN" altLang="en-US" sz="2400" dirty="0"/>
              <a:t>：段的第一个单元的地址</a:t>
            </a:r>
            <a:r>
              <a:rPr lang="en-US" altLang="zh-CN" sz="2400" dirty="0"/>
              <a:t>(20</a:t>
            </a:r>
            <a:r>
              <a:rPr lang="zh-CN" altLang="en-US" sz="2400" dirty="0"/>
              <a:t>位</a:t>
            </a:r>
            <a:r>
              <a:rPr lang="en-US" altLang="zh-CN" sz="2400" dirty="0"/>
              <a:t>)</a:t>
            </a:r>
            <a:r>
              <a:rPr lang="zh-CN" altLang="en-US" sz="2400" dirty="0"/>
              <a:t>，最低</a:t>
            </a:r>
            <a:r>
              <a:rPr lang="en-US" altLang="zh-CN" sz="2400" dirty="0"/>
              <a:t>4</a:t>
            </a:r>
            <a:r>
              <a:rPr lang="zh-CN" altLang="en-US" sz="2400" dirty="0"/>
              <a:t>位是全</a:t>
            </a:r>
            <a:r>
              <a:rPr lang="en-US" altLang="zh-CN" sz="2400" dirty="0"/>
              <a:t>0(</a:t>
            </a:r>
            <a:r>
              <a:rPr lang="zh-CN" altLang="en-US" sz="2400" dirty="0"/>
              <a:t>即段首址是</a:t>
            </a:r>
            <a:r>
              <a:rPr lang="en-US" altLang="zh-CN" sz="2400" dirty="0"/>
              <a:t>16</a:t>
            </a:r>
            <a:r>
              <a:rPr lang="zh-CN" altLang="en-US" sz="2400" dirty="0"/>
              <a:t>的整数倍</a:t>
            </a:r>
            <a:r>
              <a:rPr lang="en-US" altLang="zh-CN" sz="2400" dirty="0"/>
              <a:t>)</a:t>
            </a:r>
            <a:r>
              <a:rPr lang="zh-CN" altLang="en-US" sz="2400" dirty="0"/>
              <a:t>。</a:t>
            </a:r>
            <a:endParaRPr lang="zh-CN" altLang="en-US" sz="2400" dirty="0"/>
          </a:p>
          <a:p>
            <a:pPr>
              <a:lnSpc>
                <a:spcPct val="100000"/>
              </a:lnSpc>
            </a:pPr>
            <a:r>
              <a:rPr lang="zh-CN" altLang="en-US" sz="2400" dirty="0"/>
              <a:t>段基址：段首址的高</a:t>
            </a:r>
            <a:r>
              <a:rPr lang="en-US" altLang="zh-CN" sz="2400" dirty="0"/>
              <a:t>16</a:t>
            </a:r>
            <a:r>
              <a:rPr lang="zh-CN" altLang="en-US" sz="2400" dirty="0"/>
              <a:t>位。段基址存放在段寄存器中。</a:t>
            </a:r>
            <a:endParaRPr lang="zh-CN" altLang="en-US" sz="2400" dirty="0"/>
          </a:p>
          <a:p>
            <a:pPr>
              <a:lnSpc>
                <a:spcPct val="100000"/>
              </a:lnSpc>
            </a:pPr>
            <a:r>
              <a:rPr lang="zh-CN" altLang="en-US" sz="2400" dirty="0">
                <a:solidFill>
                  <a:srgbClr val="7030A0"/>
                </a:solidFill>
              </a:rPr>
              <a:t>偏移地址</a:t>
            </a:r>
            <a:r>
              <a:rPr lang="zh-CN" altLang="en-US" sz="2400" dirty="0"/>
              <a:t>：段内存储单元距离段首地址的偏移量</a:t>
            </a:r>
            <a:r>
              <a:rPr lang="en-US" altLang="zh-CN" sz="2400" dirty="0"/>
              <a:t>(</a:t>
            </a:r>
            <a:r>
              <a:rPr lang="zh-CN" altLang="en-US" sz="2400" dirty="0"/>
              <a:t>以字节数计算，</a:t>
            </a:r>
            <a:r>
              <a:rPr lang="en-US" altLang="zh-CN" sz="2400" dirty="0"/>
              <a:t>16</a:t>
            </a:r>
            <a:r>
              <a:rPr lang="zh-CN" altLang="en-US" sz="2400" dirty="0"/>
              <a:t>位</a:t>
            </a:r>
            <a:r>
              <a:rPr lang="en-US" altLang="zh-CN" sz="2400" dirty="0"/>
              <a:t>)</a:t>
            </a:r>
            <a:r>
              <a:rPr lang="zh-CN" altLang="en-US" sz="2400" dirty="0"/>
              <a:t>，也称有效地址</a:t>
            </a:r>
            <a:r>
              <a:rPr lang="en-US" altLang="zh-CN" sz="2400" dirty="0"/>
              <a:t>EA</a:t>
            </a:r>
            <a:r>
              <a:rPr lang="zh-CN" altLang="en-US" sz="2400" dirty="0"/>
              <a:t>。偏移地址存放在</a:t>
            </a:r>
            <a:r>
              <a:rPr lang="en-US" altLang="zh-CN" sz="2400" dirty="0"/>
              <a:t>IP</a:t>
            </a:r>
            <a:r>
              <a:rPr lang="zh-CN" altLang="en-US" sz="2400" dirty="0"/>
              <a:t>、</a:t>
            </a:r>
            <a:r>
              <a:rPr lang="en-US" altLang="zh-CN" sz="2400" dirty="0"/>
              <a:t>BP</a:t>
            </a:r>
            <a:r>
              <a:rPr lang="zh-CN" altLang="en-US" sz="2400" dirty="0"/>
              <a:t>、</a:t>
            </a:r>
            <a:r>
              <a:rPr lang="en-US" altLang="zh-CN" sz="2400" dirty="0"/>
              <a:t>SI</a:t>
            </a:r>
            <a:r>
              <a:rPr lang="zh-CN" altLang="en-US" sz="2400" dirty="0"/>
              <a:t>、</a:t>
            </a:r>
            <a:r>
              <a:rPr lang="en-US" altLang="zh-CN" sz="2400" dirty="0"/>
              <a:t>DI</a:t>
            </a:r>
            <a:r>
              <a:rPr lang="zh-CN" altLang="en-US" sz="2400" dirty="0"/>
              <a:t>或</a:t>
            </a:r>
            <a:r>
              <a:rPr lang="en-US" altLang="zh-CN" sz="2400" dirty="0"/>
              <a:t>BX</a:t>
            </a:r>
            <a:r>
              <a:rPr lang="zh-CN" altLang="en-US" sz="2400" dirty="0"/>
              <a:t>中，或者是通过计算得到。</a:t>
            </a:r>
            <a:endParaRPr lang="zh-CN" altLang="en-US" sz="2400" dirty="0"/>
          </a:p>
          <a:p>
            <a:pPr>
              <a:lnSpc>
                <a:spcPct val="100000"/>
              </a:lnSpc>
            </a:pPr>
            <a:r>
              <a:rPr lang="zh-CN" altLang="en-US" sz="2400" dirty="0">
                <a:solidFill>
                  <a:srgbClr val="7030A0"/>
                </a:solidFill>
              </a:rPr>
              <a:t>逻辑地址</a:t>
            </a:r>
            <a:r>
              <a:rPr lang="zh-CN" altLang="en-US" sz="2400" dirty="0"/>
              <a:t>：通常用段基址：偏移地址的形式来描述，在程序中使用。</a:t>
            </a:r>
            <a:endParaRPr lang="zh-CN" altLang="en-US" sz="2400" dirty="0"/>
          </a:p>
        </p:txBody>
      </p:sp>
      <p:pic>
        <p:nvPicPr>
          <p:cNvPr id="4" name="图片 3"/>
          <p:cNvPicPr>
            <a:picLocks noChangeAspect="1"/>
          </p:cNvPicPr>
          <p:nvPr/>
        </p:nvPicPr>
        <p:blipFill>
          <a:blip r:embed="rId1" cstate="print"/>
          <a:stretch>
            <a:fillRect/>
          </a:stretch>
        </p:blipFill>
        <p:spPr>
          <a:xfrm>
            <a:off x="3806053" y="3832171"/>
            <a:ext cx="5230821" cy="26702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逻辑地址和物理地址</a:t>
            </a:r>
            <a:endParaRPr lang="zh-CN" altLang="en-US" dirty="0"/>
          </a:p>
        </p:txBody>
      </p:sp>
      <p:sp>
        <p:nvSpPr>
          <p:cNvPr id="3" name="内容占位符 2"/>
          <p:cNvSpPr>
            <a:spLocks noGrp="1"/>
          </p:cNvSpPr>
          <p:nvPr>
            <p:ph idx="1"/>
          </p:nvPr>
        </p:nvSpPr>
        <p:spPr>
          <a:xfrm>
            <a:off x="523567" y="1581994"/>
            <a:ext cx="10515600" cy="4673627"/>
          </a:xfrm>
        </p:spPr>
        <p:txBody>
          <a:bodyPr/>
          <a:lstStyle/>
          <a:p>
            <a:pPr>
              <a:lnSpc>
                <a:spcPct val="100000"/>
              </a:lnSpc>
            </a:pPr>
            <a:r>
              <a:rPr lang="zh-CN" altLang="en-US" sz="2400" dirty="0"/>
              <a:t>物理地址：指</a:t>
            </a:r>
            <a:r>
              <a:rPr lang="en-US" altLang="zh-CN" sz="2400" dirty="0"/>
              <a:t>CPU</a:t>
            </a:r>
            <a:r>
              <a:rPr lang="zh-CN" altLang="en-US" sz="2400" dirty="0"/>
              <a:t>和存储器进行数据交换时实际寻址所使用的地址，是用</a:t>
            </a:r>
            <a:r>
              <a:rPr lang="en-US" altLang="zh-CN" sz="2400" dirty="0"/>
              <a:t>20</a:t>
            </a:r>
            <a:r>
              <a:rPr lang="zh-CN" altLang="en-US" sz="2400" dirty="0"/>
              <a:t>位二进制数或</a:t>
            </a:r>
            <a:r>
              <a:rPr lang="en-US" altLang="zh-CN" sz="2400" dirty="0"/>
              <a:t>5</a:t>
            </a:r>
            <a:r>
              <a:rPr lang="zh-CN" altLang="en-US" sz="2400" dirty="0"/>
              <a:t>位十六进制数表示的地址。</a:t>
            </a:r>
            <a:endParaRPr lang="zh-CN" altLang="en-US" sz="2400" dirty="0"/>
          </a:p>
          <a:p>
            <a:pPr>
              <a:lnSpc>
                <a:spcPct val="100000"/>
              </a:lnSpc>
            </a:pPr>
            <a:r>
              <a:rPr lang="zh-CN" altLang="en-US" sz="2400" dirty="0"/>
              <a:t>任何一个单元的</a:t>
            </a:r>
            <a:r>
              <a:rPr lang="en-US" altLang="zh-CN" sz="2400" dirty="0"/>
              <a:t>20</a:t>
            </a:r>
            <a:r>
              <a:rPr lang="zh-CN" altLang="en-US" sz="2400" dirty="0"/>
              <a:t>位物理地址都是由它的逻辑地址变换得到的：</a:t>
            </a:r>
            <a:endParaRPr lang="en-US" altLang="zh-CN" sz="2400" dirty="0"/>
          </a:p>
          <a:p>
            <a:pPr marL="0" indent="0" algn="ctr">
              <a:lnSpc>
                <a:spcPct val="100000"/>
              </a:lnSpc>
              <a:buNone/>
            </a:pPr>
            <a:r>
              <a:rPr lang="zh-CN" altLang="en-US" sz="2400" b="0" i="0" u="none" strike="noStrike" baseline="0" dirty="0">
                <a:solidFill>
                  <a:srgbClr val="7030A0"/>
                </a:solidFill>
                <a:latin typeface="楷体" panose="02010609060101010101" pitchFamily="49" charset="-122"/>
                <a:ea typeface="楷体" panose="02010609060101010101" pitchFamily="49" charset="-122"/>
              </a:rPr>
              <a:t>    </a:t>
            </a:r>
            <a:r>
              <a:rPr lang="zh-CN" altLang="en-US" sz="2400" b="1" i="0" u="none" strike="noStrike" baseline="0" dirty="0">
                <a:solidFill>
                  <a:srgbClr val="C00000"/>
                </a:solidFill>
                <a:latin typeface="楷体" panose="02010609060101010101" pitchFamily="49" charset="-122"/>
                <a:ea typeface="楷体" panose="02010609060101010101" pitchFamily="49" charset="-122"/>
              </a:rPr>
              <a:t>物理地址＝段基址</a:t>
            </a:r>
            <a:r>
              <a:rPr lang="en-US" altLang="zh-CN" sz="2400" b="1" i="0" u="none" strike="noStrike" baseline="0" dirty="0">
                <a:solidFill>
                  <a:srgbClr val="C00000"/>
                </a:solidFill>
                <a:latin typeface="楷体" panose="02010609060101010101" pitchFamily="49" charset="-122"/>
                <a:ea typeface="楷体" panose="02010609060101010101" pitchFamily="49" charset="-122"/>
              </a:rPr>
              <a:t>×</a:t>
            </a:r>
            <a:r>
              <a:rPr lang="en-US" altLang="zh-CN" sz="2400" b="1" i="0" u="none" strike="noStrike" baseline="0" dirty="0">
                <a:solidFill>
                  <a:srgbClr val="C00000"/>
                </a:solidFill>
                <a:latin typeface="Times New Roman" panose="02020603050405020304" pitchFamily="18" charset="0"/>
                <a:ea typeface="楷体" panose="02010609060101010101" pitchFamily="49" charset="-122"/>
              </a:rPr>
              <a:t>16</a:t>
            </a:r>
            <a:r>
              <a:rPr lang="zh-CN" altLang="en-US" sz="2400" b="1" i="0" u="none" strike="noStrike" baseline="0" dirty="0">
                <a:solidFill>
                  <a:srgbClr val="C00000"/>
                </a:solidFill>
                <a:latin typeface="楷体" panose="02010609060101010101" pitchFamily="49" charset="-122"/>
                <a:ea typeface="楷体" panose="02010609060101010101" pitchFamily="49" charset="-122"/>
              </a:rPr>
              <a:t>＋偏移地址</a:t>
            </a:r>
            <a:endParaRPr lang="en-US" altLang="zh-CN" sz="2400" b="1" i="0" u="none" strike="noStrike" baseline="0" dirty="0">
              <a:solidFill>
                <a:srgbClr val="C00000"/>
              </a:solidFill>
              <a:latin typeface="楷体" panose="02010609060101010101" pitchFamily="49" charset="-122"/>
              <a:ea typeface="楷体" panose="02010609060101010101" pitchFamily="49" charset="-122"/>
            </a:endParaRPr>
          </a:p>
          <a:p>
            <a:endParaRPr lang="zh-CN" altLang="en-US" dirty="0"/>
          </a:p>
        </p:txBody>
      </p:sp>
      <p:pic>
        <p:nvPicPr>
          <p:cNvPr id="4" name="图片 3"/>
          <p:cNvPicPr>
            <a:picLocks noChangeAspect="1"/>
          </p:cNvPicPr>
          <p:nvPr/>
        </p:nvPicPr>
        <p:blipFill>
          <a:blip r:embed="rId1" cstate="print"/>
          <a:stretch>
            <a:fillRect/>
          </a:stretch>
        </p:blipFill>
        <p:spPr>
          <a:xfrm>
            <a:off x="3163338" y="3328884"/>
            <a:ext cx="5865323" cy="32033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例题</a:t>
            </a:r>
            <a:endParaRPr lang="zh-CN" altLang="en-US" dirty="0"/>
          </a:p>
        </p:txBody>
      </p:sp>
      <p:sp>
        <p:nvSpPr>
          <p:cNvPr id="3" name="内容占位符 2"/>
          <p:cNvSpPr>
            <a:spLocks noGrp="1"/>
          </p:cNvSpPr>
          <p:nvPr>
            <p:ph idx="1"/>
          </p:nvPr>
        </p:nvSpPr>
        <p:spPr>
          <a:xfrm>
            <a:off x="838200" y="1577050"/>
            <a:ext cx="10515600" cy="4351338"/>
          </a:xfrm>
        </p:spPr>
        <p:txBody>
          <a:bodyPr/>
          <a:lstStyle/>
          <a:p>
            <a:r>
              <a:rPr lang="zh-CN" altLang="en-US" dirty="0"/>
              <a:t>设</a:t>
            </a:r>
            <a:r>
              <a:rPr lang="en-US" altLang="zh-CN" dirty="0"/>
              <a:t>(CS)=4232H </a:t>
            </a:r>
            <a:r>
              <a:rPr lang="zh-CN" altLang="en-US" dirty="0"/>
              <a:t>，</a:t>
            </a:r>
            <a:r>
              <a:rPr lang="en-US" altLang="zh-CN" dirty="0"/>
              <a:t>(IP)=0066H</a:t>
            </a:r>
            <a:r>
              <a:rPr lang="zh-CN" altLang="en-US" dirty="0"/>
              <a:t>，试计算物理地址。</a:t>
            </a:r>
            <a:endParaRPr lang="zh-CN" altLang="en-US" dirty="0"/>
          </a:p>
        </p:txBody>
      </p:sp>
      <p:pic>
        <p:nvPicPr>
          <p:cNvPr id="8"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67082" y="2335875"/>
            <a:ext cx="7824787" cy="359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对话气泡: 矩形 5"/>
          <p:cNvSpPr/>
          <p:nvPr/>
        </p:nvSpPr>
        <p:spPr>
          <a:xfrm>
            <a:off x="6586781" y="3146155"/>
            <a:ext cx="4332044" cy="1921791"/>
          </a:xfrm>
          <a:prstGeom prst="wedgeRectCallout">
            <a:avLst>
              <a:gd name="adj1" fmla="val -71978"/>
              <a:gd name="adj2" fmla="val 19239"/>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0" i="0" u="none" strike="noStrike" baseline="0" dirty="0">
                <a:solidFill>
                  <a:srgbClr val="000000"/>
                </a:solidFill>
                <a:latin typeface="楷体" panose="02010609060101010101" pitchFamily="49" charset="-122"/>
                <a:ea typeface="楷体" panose="02010609060101010101" pitchFamily="49" charset="-122"/>
              </a:rPr>
              <a:t>注意：一个存储单元的物理地址是唯一的，而逻辑地址是可以不唯一的。</a:t>
            </a:r>
            <a:endParaRPr lang="zh-CN" altLang="en-US" sz="2000" b="0" i="0" u="none" strike="noStrike" baseline="0" dirty="0">
              <a:solidFill>
                <a:srgbClr val="000000"/>
              </a:solidFill>
              <a:latin typeface="楷体" panose="02010609060101010101" pitchFamily="49" charset="-122"/>
              <a:ea typeface="楷体" panose="02010609060101010101" pitchFamily="49" charset="-122"/>
            </a:endParaRPr>
          </a:p>
          <a:p>
            <a:r>
              <a:rPr lang="zh-CN" altLang="en-US" sz="2000" b="0" i="0" u="none" strike="noStrike" baseline="0" dirty="0">
                <a:solidFill>
                  <a:srgbClr val="000000"/>
                </a:solidFill>
                <a:latin typeface="楷体" panose="02010609060101010101" pitchFamily="49" charset="-122"/>
                <a:ea typeface="楷体" panose="02010609060101010101" pitchFamily="49" charset="-122"/>
              </a:rPr>
              <a:t>例如，物理地址是</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12345H</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，它的逻辑地址可以是</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1233H</a:t>
            </a:r>
            <a:r>
              <a:rPr lang="zh-CN" altLang="en-US" sz="2000" b="0" i="0" u="none" strike="noStrike" baseline="0" dirty="0">
                <a:solidFill>
                  <a:srgbClr val="000000"/>
                </a:solidFill>
                <a:latin typeface="楷体" panose="02010609060101010101" pitchFamily="49" charset="-122"/>
                <a:ea typeface="楷体" panose="02010609060101010101" pitchFamily="49" charset="-122"/>
              </a:rPr>
              <a:t>：</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0015H</a:t>
            </a:r>
            <a:r>
              <a:rPr lang="zh-CN" altLang="en-US" sz="2000" b="0" i="0" u="none" strike="noStrike" baseline="0" dirty="0">
                <a:solidFill>
                  <a:srgbClr val="000000"/>
                </a:solidFill>
                <a:latin typeface="楷体" panose="02010609060101010101" pitchFamily="49" charset="-122"/>
                <a:ea typeface="楷体" panose="02010609060101010101" pitchFamily="49" charset="-122"/>
              </a:rPr>
              <a:t>，也可以是</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1234H</a:t>
            </a:r>
            <a:r>
              <a:rPr lang="zh-CN" altLang="en-US" sz="2000" b="0" i="0" u="none" strike="noStrike" baseline="0" dirty="0">
                <a:solidFill>
                  <a:srgbClr val="000000"/>
                </a:solidFill>
                <a:latin typeface="楷体" panose="02010609060101010101" pitchFamily="49" charset="-122"/>
                <a:ea typeface="楷体" panose="02010609060101010101" pitchFamily="49" charset="-122"/>
              </a:rPr>
              <a:t>：</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0005H</a:t>
            </a:r>
            <a:r>
              <a:rPr lang="zh-CN" altLang="en-US" sz="2000" b="0" i="0" u="none" strike="noStrike" baseline="0" dirty="0">
                <a:solidFill>
                  <a:srgbClr val="000000"/>
                </a:solidFill>
                <a:latin typeface="楷体" panose="02010609060101010101" pitchFamily="49" charset="-122"/>
                <a:ea typeface="楷体" panose="02010609060101010101" pitchFamily="49" charset="-122"/>
              </a:rPr>
              <a:t>。</a:t>
            </a:r>
            <a:endParaRPr lang="zh-CN" altLang="en-US" sz="2000" dirty="0"/>
          </a:p>
          <a:p>
            <a:pPr algn="ct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段寄存器的使用</a:t>
            </a:r>
            <a:endParaRPr lang="zh-CN" altLang="en-US" dirty="0"/>
          </a:p>
        </p:txBody>
      </p:sp>
      <p:sp>
        <p:nvSpPr>
          <p:cNvPr id="3" name="内容占位符 2"/>
          <p:cNvSpPr>
            <a:spLocks noGrp="1"/>
          </p:cNvSpPr>
          <p:nvPr>
            <p:ph idx="1"/>
          </p:nvPr>
        </p:nvSpPr>
        <p:spPr/>
        <p:txBody>
          <a:bodyPr/>
          <a:lstStyle/>
          <a:p>
            <a:r>
              <a:rPr lang="zh-CN" altLang="en-US" dirty="0"/>
              <a:t>四个段寄存器分别为：代码段</a:t>
            </a:r>
            <a:r>
              <a:rPr lang="en-US" altLang="zh-CN" dirty="0"/>
              <a:t>CS</a:t>
            </a:r>
            <a:r>
              <a:rPr lang="zh-CN" altLang="en-US" dirty="0"/>
              <a:t>、数据段</a:t>
            </a:r>
            <a:r>
              <a:rPr lang="en-US" altLang="zh-CN" dirty="0"/>
              <a:t>DS</a:t>
            </a:r>
            <a:r>
              <a:rPr lang="zh-CN" altLang="en-US" dirty="0"/>
              <a:t>、堆栈段</a:t>
            </a:r>
            <a:r>
              <a:rPr lang="en-US" altLang="zh-CN" dirty="0"/>
              <a:t>SS</a:t>
            </a:r>
            <a:r>
              <a:rPr lang="zh-CN" altLang="en-US" dirty="0"/>
              <a:t>、附加数据段</a:t>
            </a:r>
            <a:r>
              <a:rPr lang="en-US" altLang="zh-CN" dirty="0"/>
              <a:t>ES</a:t>
            </a:r>
            <a:r>
              <a:rPr lang="zh-CN" altLang="en-US" dirty="0"/>
              <a:t>。</a:t>
            </a:r>
            <a:endParaRPr lang="zh-CN" altLang="en-US" dirty="0"/>
          </a:p>
          <a:p>
            <a:r>
              <a:rPr lang="zh-CN" altLang="en-US" dirty="0"/>
              <a:t>段寄存器的使用情况如下：</a:t>
            </a:r>
            <a:endParaRPr lang="zh-CN" altLang="en-US" dirty="0"/>
          </a:p>
        </p:txBody>
      </p:sp>
      <p:pic>
        <p:nvPicPr>
          <p:cNvPr id="6"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812558" y="3101392"/>
            <a:ext cx="5198277" cy="3331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8086/8088CPU</a:t>
            </a:r>
            <a:r>
              <a:rPr lang="zh-CN" altLang="en-US" dirty="0"/>
              <a:t>的引脚信号</a:t>
            </a:r>
            <a:endParaRPr lang="zh-CN" altLang="en-US" dirty="0"/>
          </a:p>
        </p:txBody>
      </p:sp>
      <p:pic>
        <p:nvPicPr>
          <p:cNvPr id="6" name="内容占位符 5"/>
          <p:cNvPicPr>
            <a:picLocks noGrp="1" noChangeAspect="1"/>
          </p:cNvPicPr>
          <p:nvPr>
            <p:ph idx="1"/>
          </p:nvPr>
        </p:nvPicPr>
        <p:blipFill>
          <a:blip r:embed="rId1" cstate="print"/>
          <a:stretch>
            <a:fillRect/>
          </a:stretch>
        </p:blipFill>
        <p:spPr>
          <a:xfrm>
            <a:off x="963253" y="1684623"/>
            <a:ext cx="10265493" cy="4808252"/>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body" sz="half" idx="1"/>
          </p:nvPr>
        </p:nvSpPr>
        <p:spPr>
          <a:xfrm>
            <a:off x="1919288" y="1557338"/>
            <a:ext cx="8137525" cy="4114800"/>
          </a:xfrm>
        </p:spPr>
        <p:txBody>
          <a:bodyPr vert="horz" wrap="square" lIns="91440" tIns="45720" rIns="91440" bIns="45720" anchor="t" anchorCtr="0"/>
          <a:p>
            <a:pPr eaLnBrk="1" hangingPunct="1">
              <a:spcBef>
                <a:spcPct val="50000"/>
              </a:spcBef>
              <a:buClr>
                <a:schemeClr val="folHlink"/>
              </a:buClr>
              <a:buSzPct val="60000"/>
              <a:buFont typeface="Wingdings" panose="05000000000000000000" pitchFamily="2" charset="2"/>
              <a:buChar char="Ø"/>
            </a:pPr>
            <a:r>
              <a:rPr lang="zh-CN" altLang="en-US" sz="2800" dirty="0">
                <a:latin typeface="Times New Roman" panose="02020603050405020304" pitchFamily="18" charset="0"/>
                <a:ea typeface="楷体_GB2312" pitchFamily="1" charset="-122"/>
              </a:rPr>
              <a:t>读信号，三态、输出。</a:t>
            </a:r>
            <a:endParaRPr lang="zh-CN" altLang="en-US" sz="2800" dirty="0">
              <a:latin typeface="Times New Roman" panose="02020603050405020304" pitchFamily="18" charset="0"/>
              <a:ea typeface="楷体_GB2312" pitchFamily="1" charset="-122"/>
            </a:endParaRPr>
          </a:p>
          <a:p>
            <a:pPr eaLnBrk="1" hangingPunct="1">
              <a:spcBef>
                <a:spcPct val="50000"/>
              </a:spcBef>
              <a:buClr>
                <a:schemeClr val="folHlink"/>
              </a:buClr>
              <a:buSzPct val="60000"/>
              <a:buFont typeface="Wingdings" panose="05000000000000000000" pitchFamily="2" charset="2"/>
              <a:buChar char="Ø"/>
            </a:pPr>
            <a:r>
              <a:rPr lang="en-US" altLang="zh-CN" sz="2800" dirty="0">
                <a:latin typeface="Times New Roman" panose="02020603050405020304" pitchFamily="18" charset="0"/>
                <a:ea typeface="楷体_GB2312" pitchFamily="1" charset="-122"/>
              </a:rPr>
              <a:t>       =0</a:t>
            </a:r>
            <a:r>
              <a:rPr lang="zh-CN" altLang="en-US" sz="2800" dirty="0">
                <a:latin typeface="Times New Roman" panose="02020603050405020304" pitchFamily="18" charset="0"/>
                <a:ea typeface="楷体_GB2312" pitchFamily="1" charset="-122"/>
              </a:rPr>
              <a:t>时，表示将要执行一个对存储器或</a:t>
            </a:r>
            <a:r>
              <a:rPr lang="en-US" altLang="zh-CN" sz="2800" dirty="0">
                <a:latin typeface="Times New Roman" panose="02020603050405020304" pitchFamily="18" charset="0"/>
                <a:ea typeface="楷体_GB2312" pitchFamily="1" charset="-122"/>
              </a:rPr>
              <a:t>I/O</a:t>
            </a:r>
            <a:r>
              <a:rPr lang="zh-CN" altLang="en-US" sz="2800" dirty="0">
                <a:latin typeface="Times New Roman" panose="02020603050405020304" pitchFamily="18" charset="0"/>
                <a:ea typeface="楷体_GB2312" pitchFamily="1" charset="-122"/>
              </a:rPr>
              <a:t>端口的读操作。</a:t>
            </a:r>
            <a:endParaRPr lang="zh-CN" altLang="en-US" sz="2800" dirty="0">
              <a:latin typeface="Times New Roman" panose="02020603050405020304" pitchFamily="18" charset="0"/>
              <a:ea typeface="楷体_GB2312" pitchFamily="1" charset="-122"/>
            </a:endParaRPr>
          </a:p>
        </p:txBody>
      </p:sp>
      <p:graphicFrame>
        <p:nvGraphicFramePr>
          <p:cNvPr id="78850" name="Object 3"/>
          <p:cNvGraphicFramePr>
            <a:graphicFrameLocks noGrp="1" noChangeAspect="1"/>
          </p:cNvGraphicFramePr>
          <p:nvPr>
            <p:ph sz="quarter" idx="2"/>
          </p:nvPr>
        </p:nvGraphicFramePr>
        <p:xfrm>
          <a:off x="5662613" y="692150"/>
          <a:ext cx="719137" cy="560388"/>
        </p:xfrm>
        <a:graphic>
          <a:graphicData uri="http://schemas.openxmlformats.org/presentationml/2006/ole">
            <mc:AlternateContent xmlns:mc="http://schemas.openxmlformats.org/markup-compatibility/2006">
              <mc:Choice xmlns:v="urn:schemas-microsoft-com:vml" Requires="v">
                <p:oleObj spid="_x0000_s3085" name="" r:id="rId1" imgW="229870" imgH="178435" progId="Equation.3">
                  <p:embed/>
                </p:oleObj>
              </mc:Choice>
              <mc:Fallback>
                <p:oleObj name="" r:id="rId1" imgW="229870" imgH="178435" progId="Equation.3">
                  <p:embed/>
                  <p:pic>
                    <p:nvPicPr>
                      <p:cNvPr id="0" name="图片 3084"/>
                      <p:cNvPicPr/>
                      <p:nvPr/>
                    </p:nvPicPr>
                    <p:blipFill>
                      <a:blip r:embed="rId2"/>
                      <a:stretch>
                        <a:fillRect/>
                      </a:stretch>
                    </p:blipFill>
                    <p:spPr>
                      <a:xfrm>
                        <a:off x="5662613" y="692150"/>
                        <a:ext cx="719137" cy="560388"/>
                      </a:xfrm>
                      <a:prstGeom prst="rect">
                        <a:avLst/>
                      </a:prstGeom>
                      <a:noFill/>
                      <a:ln w="38100">
                        <a:miter/>
                      </a:ln>
                    </p:spPr>
                  </p:pic>
                </p:oleObj>
              </mc:Fallback>
            </mc:AlternateContent>
          </a:graphicData>
        </a:graphic>
      </p:graphicFrame>
      <p:graphicFrame>
        <p:nvGraphicFramePr>
          <p:cNvPr id="66564" name="Object 4"/>
          <p:cNvGraphicFramePr>
            <a:graphicFrameLocks noGrp="1" noChangeAspect="1"/>
          </p:cNvGraphicFramePr>
          <p:nvPr>
            <p:ph sz="quarter" idx="3"/>
          </p:nvPr>
        </p:nvGraphicFramePr>
        <p:xfrm>
          <a:off x="2351088" y="2205038"/>
          <a:ext cx="617537" cy="481012"/>
        </p:xfrm>
        <a:graphic>
          <a:graphicData uri="http://schemas.openxmlformats.org/presentationml/2006/ole">
            <mc:AlternateContent xmlns:mc="http://schemas.openxmlformats.org/markup-compatibility/2006">
              <mc:Choice xmlns:v="urn:schemas-microsoft-com:vml" Requires="v">
                <p:oleObj spid="_x0000_s3091" name="" r:id="rId3" imgW="229870" imgH="178435" progId="Equation.3">
                  <p:embed/>
                </p:oleObj>
              </mc:Choice>
              <mc:Fallback>
                <p:oleObj name="" r:id="rId3" imgW="229870" imgH="178435" progId="Equation.3">
                  <p:embed/>
                  <p:pic>
                    <p:nvPicPr>
                      <p:cNvPr id="0" name="图片 3090"/>
                      <p:cNvPicPr/>
                      <p:nvPr/>
                    </p:nvPicPr>
                    <p:blipFill>
                      <a:blip r:embed="rId4"/>
                      <a:stretch>
                        <a:fillRect/>
                      </a:stretch>
                    </p:blipFill>
                    <p:spPr>
                      <a:xfrm>
                        <a:off x="2351088" y="2205038"/>
                        <a:ext cx="617537" cy="481012"/>
                      </a:xfrm>
                      <a:prstGeom prst="rect">
                        <a:avLst/>
                      </a:prstGeom>
                      <a:noFill/>
                      <a:ln w="38100">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2">
                                            <p:txEl>
                                              <p:charRg st="11" end="46"/>
                                            </p:txEl>
                                          </p:spTgt>
                                        </p:tgtEl>
                                        <p:attrNameLst>
                                          <p:attrName>style.visibility</p:attrName>
                                        </p:attrNameLst>
                                      </p:cBhvr>
                                      <p:to>
                                        <p:strVal val="visible"/>
                                      </p:to>
                                    </p:set>
                                    <p:anim calcmode="lin" valueType="num">
                                      <p:cBhvr additive="base">
                                        <p:cTn id="7" dur="500" fill="hold"/>
                                        <p:tgtEl>
                                          <p:spTgt spid="66562">
                                            <p:txEl>
                                              <p:charRg st="11" end="4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2">
                                            <p:txEl>
                                              <p:charRg st="11" end="4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6564"/>
                                        </p:tgtEl>
                                        <p:attrNameLst>
                                          <p:attrName>style.visibility</p:attrName>
                                        </p:attrNameLst>
                                      </p:cBhvr>
                                      <p:to>
                                        <p:strVal val="visible"/>
                                      </p:to>
                                    </p:set>
                                    <p:anim calcmode="lin" valueType="num">
                                      <p:cBhvr additive="base">
                                        <p:cTn id="11" dur="500" fill="hold"/>
                                        <p:tgtEl>
                                          <p:spTgt spid="66564"/>
                                        </p:tgtEl>
                                        <p:attrNameLst>
                                          <p:attrName>ppt_x</p:attrName>
                                        </p:attrNameLst>
                                      </p:cBhvr>
                                      <p:tavLst>
                                        <p:tav tm="0">
                                          <p:val>
                                            <p:strVal val="#ppt_x"/>
                                          </p:val>
                                        </p:tav>
                                        <p:tav tm="100000">
                                          <p:val>
                                            <p:strVal val="#ppt_x"/>
                                          </p:val>
                                        </p:tav>
                                      </p:tavLst>
                                    </p:anim>
                                    <p:anim calcmode="lin" valueType="num">
                                      <p:cBhvr additive="base">
                                        <p:cTn id="12" dur="500" fill="hold"/>
                                        <p:tgtEl>
                                          <p:spTgt spid="665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body" sz="half" idx="1"/>
          </p:nvPr>
        </p:nvSpPr>
        <p:spPr>
          <a:xfrm>
            <a:off x="1919288" y="1557338"/>
            <a:ext cx="8137525" cy="4114800"/>
          </a:xfrm>
        </p:spPr>
        <p:txBody>
          <a:bodyPr vert="horz" wrap="square" lIns="91440" tIns="45720" rIns="91440" bIns="45720" anchor="t" anchorCtr="0"/>
          <a:p>
            <a:pPr eaLnBrk="1" hangingPunct="1">
              <a:spcBef>
                <a:spcPct val="50000"/>
              </a:spcBef>
              <a:buClr>
                <a:schemeClr val="folHlink"/>
              </a:buClr>
              <a:buSzPct val="60000"/>
              <a:buFont typeface="Wingdings" panose="05000000000000000000" pitchFamily="2" charset="2"/>
              <a:buChar char="Ø"/>
            </a:pPr>
            <a:r>
              <a:rPr lang="zh-CN" altLang="en-US" sz="2800" dirty="0">
                <a:latin typeface="Times New Roman" panose="02020603050405020304" pitchFamily="18" charset="0"/>
                <a:ea typeface="楷体_GB2312" pitchFamily="1" charset="-122"/>
              </a:rPr>
              <a:t>写信号，三态、输出。</a:t>
            </a:r>
            <a:endParaRPr lang="zh-CN" altLang="en-US" sz="2800" dirty="0">
              <a:latin typeface="Times New Roman" panose="02020603050405020304" pitchFamily="18" charset="0"/>
              <a:ea typeface="楷体_GB2312" pitchFamily="1" charset="-122"/>
            </a:endParaRPr>
          </a:p>
          <a:p>
            <a:pPr eaLnBrk="1" hangingPunct="1">
              <a:spcBef>
                <a:spcPct val="50000"/>
              </a:spcBef>
              <a:buClr>
                <a:schemeClr val="folHlink"/>
              </a:buClr>
              <a:buSzPct val="60000"/>
              <a:buFont typeface="Wingdings" panose="05000000000000000000" pitchFamily="2" charset="2"/>
              <a:buChar char="Ø"/>
            </a:pPr>
            <a:r>
              <a:rPr lang="en-US" altLang="zh-CN" sz="2800" dirty="0">
                <a:latin typeface="Times New Roman" panose="02020603050405020304" pitchFamily="18" charset="0"/>
                <a:ea typeface="楷体_GB2312" pitchFamily="1" charset="-122"/>
              </a:rPr>
              <a:t>       =0</a:t>
            </a:r>
            <a:r>
              <a:rPr lang="zh-CN" altLang="en-US" sz="2800" dirty="0">
                <a:latin typeface="Times New Roman" panose="02020603050405020304" pitchFamily="18" charset="0"/>
                <a:ea typeface="楷体_GB2312" pitchFamily="1" charset="-122"/>
              </a:rPr>
              <a:t>时，表示将要执行一个对存储器或</a:t>
            </a:r>
            <a:r>
              <a:rPr lang="en-US" altLang="zh-CN" sz="2800" dirty="0">
                <a:latin typeface="Times New Roman" panose="02020603050405020304" pitchFamily="18" charset="0"/>
                <a:ea typeface="楷体_GB2312" pitchFamily="1" charset="-122"/>
              </a:rPr>
              <a:t>I/O</a:t>
            </a:r>
            <a:r>
              <a:rPr lang="zh-CN" altLang="en-US" sz="2800" dirty="0">
                <a:latin typeface="Times New Roman" panose="02020603050405020304" pitchFamily="18" charset="0"/>
                <a:ea typeface="楷体_GB2312" pitchFamily="1" charset="-122"/>
              </a:rPr>
              <a:t>端口的写操作。</a:t>
            </a:r>
            <a:endParaRPr lang="zh-CN" altLang="en-US" sz="2800" dirty="0"/>
          </a:p>
        </p:txBody>
      </p:sp>
      <p:graphicFrame>
        <p:nvGraphicFramePr>
          <p:cNvPr id="79874" name="Object 3"/>
          <p:cNvGraphicFramePr>
            <a:graphicFrameLocks noGrp="1" noChangeAspect="1"/>
          </p:cNvGraphicFramePr>
          <p:nvPr>
            <p:ph sz="quarter" idx="2"/>
          </p:nvPr>
        </p:nvGraphicFramePr>
        <p:xfrm>
          <a:off x="5737225" y="692150"/>
          <a:ext cx="788988" cy="565150"/>
        </p:xfrm>
        <a:graphic>
          <a:graphicData uri="http://schemas.openxmlformats.org/presentationml/2006/ole">
            <mc:AlternateContent xmlns:mc="http://schemas.openxmlformats.org/markup-compatibility/2006">
              <mc:Choice xmlns:v="urn:schemas-microsoft-com:vml" Requires="v">
                <p:oleObj spid="_x0000_s3086" name="" r:id="rId1" imgW="267970" imgH="191770" progId="Equation.3">
                  <p:embed/>
                </p:oleObj>
              </mc:Choice>
              <mc:Fallback>
                <p:oleObj name="" r:id="rId1" imgW="267970" imgH="191770" progId="Equation.3">
                  <p:embed/>
                  <p:pic>
                    <p:nvPicPr>
                      <p:cNvPr id="0" name="图片 3085"/>
                      <p:cNvPicPr/>
                      <p:nvPr/>
                    </p:nvPicPr>
                    <p:blipFill>
                      <a:blip r:embed="rId2"/>
                      <a:stretch>
                        <a:fillRect/>
                      </a:stretch>
                    </p:blipFill>
                    <p:spPr>
                      <a:xfrm>
                        <a:off x="5737225" y="692150"/>
                        <a:ext cx="788988" cy="565150"/>
                      </a:xfrm>
                      <a:prstGeom prst="rect">
                        <a:avLst/>
                      </a:prstGeom>
                      <a:noFill/>
                      <a:ln w="38100">
                        <a:miter/>
                      </a:ln>
                    </p:spPr>
                  </p:pic>
                </p:oleObj>
              </mc:Fallback>
            </mc:AlternateContent>
          </a:graphicData>
        </a:graphic>
      </p:graphicFrame>
      <p:graphicFrame>
        <p:nvGraphicFramePr>
          <p:cNvPr id="67588" name="Object 4"/>
          <p:cNvGraphicFramePr>
            <a:graphicFrameLocks noGrp="1" noChangeAspect="1"/>
          </p:cNvGraphicFramePr>
          <p:nvPr>
            <p:ph sz="quarter" idx="3"/>
          </p:nvPr>
        </p:nvGraphicFramePr>
        <p:xfrm>
          <a:off x="2352675" y="2205038"/>
          <a:ext cx="633413" cy="454025"/>
        </p:xfrm>
        <a:graphic>
          <a:graphicData uri="http://schemas.openxmlformats.org/presentationml/2006/ole">
            <mc:AlternateContent xmlns:mc="http://schemas.openxmlformats.org/markup-compatibility/2006">
              <mc:Choice xmlns:v="urn:schemas-microsoft-com:vml" Requires="v">
                <p:oleObj spid="_x0000_s3088" name="" r:id="rId3" imgW="267970" imgH="191770" progId="Equation.3">
                  <p:embed/>
                </p:oleObj>
              </mc:Choice>
              <mc:Fallback>
                <p:oleObj name="" r:id="rId3" imgW="267970" imgH="191770" progId="Equation.3">
                  <p:embed/>
                  <p:pic>
                    <p:nvPicPr>
                      <p:cNvPr id="0" name="图片 3087"/>
                      <p:cNvPicPr/>
                      <p:nvPr/>
                    </p:nvPicPr>
                    <p:blipFill>
                      <a:blip r:embed="rId2"/>
                      <a:stretch>
                        <a:fillRect/>
                      </a:stretch>
                    </p:blipFill>
                    <p:spPr>
                      <a:xfrm>
                        <a:off x="2352675" y="2205038"/>
                        <a:ext cx="633413" cy="454025"/>
                      </a:xfrm>
                      <a:prstGeom prst="rect">
                        <a:avLst/>
                      </a:prstGeom>
                      <a:noFill/>
                      <a:ln w="38100">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7586">
                                            <p:txEl>
                                              <p:charRg st="4294967295" end="4294967295"/>
                                            </p:txEl>
                                          </p:spTgt>
                                        </p:tgtEl>
                                        <p:attrNameLst>
                                          <p:attrName>style.visibility</p:attrName>
                                        </p:attrNameLst>
                                      </p:cBhvr>
                                      <p:to>
                                        <p:strVal val="visible"/>
                                      </p:to>
                                    </p:set>
                                    <p:animEffect transition="in" filter="slide(fromBottom)">
                                      <p:cBhvr>
                                        <p:cTn id="7" dur="500"/>
                                        <p:tgtEl>
                                          <p:spTgt spid="67586">
                                            <p:txEl>
                                              <p:char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7586">
                                            <p:txEl>
                                              <p:charRg st="11" end="46"/>
                                            </p:txEl>
                                          </p:spTgt>
                                        </p:tgtEl>
                                        <p:attrNameLst>
                                          <p:attrName>style.visibility</p:attrName>
                                        </p:attrNameLst>
                                      </p:cBhvr>
                                      <p:to>
                                        <p:strVal val="visible"/>
                                      </p:to>
                                    </p:set>
                                    <p:animEffect transition="in" filter="slide(fromBottom)">
                                      <p:cBhvr>
                                        <p:cTn id="12" dur="500"/>
                                        <p:tgtEl>
                                          <p:spTgt spid="67586">
                                            <p:txEl>
                                              <p:charRg st="11" end="46"/>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67588"/>
                                        </p:tgtEl>
                                        <p:attrNameLst>
                                          <p:attrName>style.visibility</p:attrName>
                                        </p:attrNameLst>
                                      </p:cBhvr>
                                      <p:to>
                                        <p:strVal val="visible"/>
                                      </p:to>
                                    </p:set>
                                    <p:animEffect transition="in" filter="slide(fromBottom)">
                                      <p:cBhvr>
                                        <p:cTn id="15" dur="500"/>
                                        <p:tgtEl>
                                          <p:spTgt spid="67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body" sz="half" idx="1"/>
          </p:nvPr>
        </p:nvSpPr>
        <p:spPr>
          <a:xfrm>
            <a:off x="1919288" y="1557338"/>
            <a:ext cx="8353425" cy="4114800"/>
          </a:xfrm>
        </p:spPr>
        <p:txBody>
          <a:bodyPr vert="horz" wrap="square" lIns="91440" tIns="45720" rIns="91440" bIns="45720" anchor="t" anchorCtr="0"/>
          <a:p>
            <a:pPr eaLnBrk="1" hangingPunct="1">
              <a:buClr>
                <a:schemeClr val="folHlink"/>
              </a:buClr>
              <a:buSzPct val="60000"/>
              <a:buFont typeface="Wingdings" panose="05000000000000000000" pitchFamily="2" charset="2"/>
              <a:buChar char="Ø"/>
            </a:pPr>
            <a:r>
              <a:rPr lang="zh-CN" altLang="en-US" sz="2800" dirty="0">
                <a:latin typeface="Times New Roman" panose="02020603050405020304" pitchFamily="18" charset="0"/>
                <a:ea typeface="楷体_GB2312" pitchFamily="1" charset="-122"/>
              </a:rPr>
              <a:t>存储器/外设控制信号，输出</a:t>
            </a:r>
            <a:br>
              <a:rPr lang="zh-CN" altLang="en-US" sz="2800" dirty="0">
                <a:latin typeface="Times New Roman" panose="02020603050405020304" pitchFamily="18" charset="0"/>
                <a:ea typeface="楷体_GB2312" pitchFamily="1" charset="-122"/>
              </a:rPr>
            </a:br>
            <a:r>
              <a:rPr lang="zh-CN" altLang="en-US" sz="2800" dirty="0">
                <a:latin typeface="Times New Roman" panose="02020603050405020304" pitchFamily="18" charset="0"/>
                <a:ea typeface="楷体_GB2312" pitchFamily="1" charset="-122"/>
              </a:rPr>
              <a:t>             =1：访问存储器</a:t>
            </a:r>
            <a:br>
              <a:rPr lang="zh-CN" altLang="en-US" sz="2800" dirty="0">
                <a:latin typeface="Times New Roman" panose="02020603050405020304" pitchFamily="18" charset="0"/>
                <a:ea typeface="楷体_GB2312" pitchFamily="1" charset="-122"/>
              </a:rPr>
            </a:br>
            <a:r>
              <a:rPr lang="zh-CN" altLang="en-US" sz="2800" dirty="0">
                <a:latin typeface="Times New Roman" panose="02020603050405020304" pitchFamily="18" charset="0"/>
                <a:ea typeface="楷体_GB2312" pitchFamily="1" charset="-122"/>
              </a:rPr>
              <a:t>             =0：访问</a:t>
            </a:r>
            <a:r>
              <a:rPr lang="en-US" altLang="zh-CN" sz="2800" dirty="0">
                <a:latin typeface="Times New Roman" panose="02020603050405020304" pitchFamily="18" charset="0"/>
                <a:ea typeface="楷体_GB2312" pitchFamily="1" charset="-122"/>
              </a:rPr>
              <a:t>I/O</a:t>
            </a:r>
            <a:r>
              <a:rPr lang="zh-CN" altLang="en-US" sz="2800" dirty="0">
                <a:latin typeface="Times New Roman" panose="02020603050405020304" pitchFamily="18" charset="0"/>
                <a:ea typeface="楷体_GB2312" pitchFamily="1" charset="-122"/>
              </a:rPr>
              <a:t>端口</a:t>
            </a:r>
            <a:endParaRPr lang="zh-CN" altLang="en-US" sz="2800" dirty="0">
              <a:latin typeface="Times New Roman" panose="02020603050405020304" pitchFamily="18" charset="0"/>
              <a:ea typeface="楷体_GB2312" pitchFamily="1" charset="-122"/>
            </a:endParaRPr>
          </a:p>
          <a:p>
            <a:pPr eaLnBrk="1" hangingPunct="1">
              <a:buClr>
                <a:schemeClr val="folHlink"/>
              </a:buClr>
              <a:buSzPct val="60000"/>
              <a:buFont typeface="Wingdings" panose="05000000000000000000" pitchFamily="2" charset="2"/>
              <a:buChar char="Ø"/>
            </a:pPr>
            <a:r>
              <a:rPr lang="zh-CN" altLang="en-US" sz="2800" dirty="0">
                <a:latin typeface="Times New Roman" panose="02020603050405020304" pitchFamily="18" charset="0"/>
                <a:ea typeface="楷体_GB2312" pitchFamily="1" charset="-122"/>
              </a:rPr>
              <a:t>一般被用于存储芯片或</a:t>
            </a:r>
            <a:r>
              <a:rPr lang="en-US" altLang="zh-CN" sz="2800" dirty="0">
                <a:latin typeface="Times New Roman" panose="02020603050405020304" pitchFamily="18" charset="0"/>
                <a:ea typeface="楷体_GB2312" pitchFamily="1" charset="-122"/>
              </a:rPr>
              <a:t>I/O</a:t>
            </a:r>
            <a:r>
              <a:rPr lang="zh-CN" altLang="en-US" sz="2800" dirty="0">
                <a:latin typeface="Times New Roman" panose="02020603050405020304" pitchFamily="18" charset="0"/>
                <a:ea typeface="楷体_GB2312" pitchFamily="1" charset="-122"/>
              </a:rPr>
              <a:t>接口芯片的片选</a:t>
            </a:r>
            <a:r>
              <a:rPr lang="en-US" altLang="zh-CN" sz="2800" dirty="0">
                <a:latin typeface="Times New Roman" panose="02020603050405020304" pitchFamily="18" charset="0"/>
                <a:ea typeface="楷体_GB2312" pitchFamily="1" charset="-122"/>
              </a:rPr>
              <a:t>(    )</a:t>
            </a:r>
            <a:r>
              <a:rPr lang="zh-CN" altLang="en-US" sz="2800" dirty="0">
                <a:latin typeface="Times New Roman" panose="02020603050405020304" pitchFamily="18" charset="0"/>
                <a:ea typeface="楷体_GB2312" pitchFamily="1" charset="-122"/>
              </a:rPr>
              <a:t>译码电路中。</a:t>
            </a:r>
            <a:endParaRPr lang="zh-CN" altLang="en-US" sz="2800" dirty="0">
              <a:latin typeface="Times New Roman" panose="02020603050405020304" pitchFamily="18" charset="0"/>
              <a:ea typeface="楷体_GB2312" pitchFamily="1" charset="-122"/>
            </a:endParaRPr>
          </a:p>
        </p:txBody>
      </p:sp>
      <p:graphicFrame>
        <p:nvGraphicFramePr>
          <p:cNvPr id="68611" name="Object 3"/>
          <p:cNvGraphicFramePr>
            <a:graphicFrameLocks noGrp="1" noChangeAspect="1"/>
          </p:cNvGraphicFramePr>
          <p:nvPr>
            <p:ph sz="quarter" idx="2"/>
          </p:nvPr>
        </p:nvGraphicFramePr>
        <p:xfrm>
          <a:off x="8975725" y="2997200"/>
          <a:ext cx="433388" cy="431800"/>
        </p:xfrm>
        <a:graphic>
          <a:graphicData uri="http://schemas.openxmlformats.org/presentationml/2006/ole">
            <mc:AlternateContent xmlns:mc="http://schemas.openxmlformats.org/markup-compatibility/2006">
              <mc:Choice xmlns:v="urn:schemas-microsoft-com:vml" Requires="v">
                <p:oleObj spid="_x0000_s3092" name="" r:id="rId1" imgW="205105" imgH="191770" progId="Equation.3">
                  <p:embed/>
                </p:oleObj>
              </mc:Choice>
              <mc:Fallback>
                <p:oleObj name="" r:id="rId1" imgW="205105" imgH="191770" progId="Equation.3">
                  <p:embed/>
                  <p:pic>
                    <p:nvPicPr>
                      <p:cNvPr id="0" name="图片 3091"/>
                      <p:cNvPicPr/>
                      <p:nvPr/>
                    </p:nvPicPr>
                    <p:blipFill>
                      <a:blip r:embed="rId2"/>
                      <a:stretch>
                        <a:fillRect/>
                      </a:stretch>
                    </p:blipFill>
                    <p:spPr>
                      <a:xfrm>
                        <a:off x="8975725" y="2997200"/>
                        <a:ext cx="433388" cy="431800"/>
                      </a:xfrm>
                      <a:prstGeom prst="rect">
                        <a:avLst/>
                      </a:prstGeom>
                      <a:noFill/>
                      <a:ln w="38100">
                        <a:miter/>
                      </a:ln>
                    </p:spPr>
                  </p:pic>
                </p:oleObj>
              </mc:Fallback>
            </mc:AlternateContent>
          </a:graphicData>
        </a:graphic>
      </p:graphicFrame>
      <p:graphicFrame>
        <p:nvGraphicFramePr>
          <p:cNvPr id="80899" name="Object 4"/>
          <p:cNvGraphicFramePr>
            <a:graphicFrameLocks noChangeAspect="1"/>
          </p:cNvGraphicFramePr>
          <p:nvPr/>
        </p:nvGraphicFramePr>
        <p:xfrm>
          <a:off x="5519738" y="692150"/>
          <a:ext cx="995362" cy="550863"/>
        </p:xfrm>
        <a:graphic>
          <a:graphicData uri="http://schemas.openxmlformats.org/presentationml/2006/ole">
            <mc:AlternateContent xmlns:mc="http://schemas.openxmlformats.org/markup-compatibility/2006">
              <mc:Choice xmlns:v="urn:schemas-microsoft-com:vml" Requires="v">
                <p:oleObj spid="_x0000_s3089" name="" r:id="rId3" imgW="344170" imgH="191135" progId="Equation.3">
                  <p:embed/>
                </p:oleObj>
              </mc:Choice>
              <mc:Fallback>
                <p:oleObj name="" r:id="rId3" imgW="344170" imgH="191135" progId="Equation.3">
                  <p:embed/>
                  <p:pic>
                    <p:nvPicPr>
                      <p:cNvPr id="0" name="图片 3088"/>
                      <p:cNvPicPr/>
                      <p:nvPr/>
                    </p:nvPicPr>
                    <p:blipFill>
                      <a:blip r:embed="rId4"/>
                      <a:stretch>
                        <a:fillRect/>
                      </a:stretch>
                    </p:blipFill>
                    <p:spPr>
                      <a:xfrm>
                        <a:off x="5519738" y="692150"/>
                        <a:ext cx="995362" cy="550863"/>
                      </a:xfrm>
                      <a:prstGeom prst="rect">
                        <a:avLst/>
                      </a:prstGeom>
                      <a:noFill/>
                      <a:ln w="38100">
                        <a:noFill/>
                        <a:miter/>
                      </a:ln>
                    </p:spPr>
                  </p:pic>
                </p:oleObj>
              </mc:Fallback>
            </mc:AlternateContent>
          </a:graphicData>
        </a:graphic>
      </p:graphicFrame>
      <p:graphicFrame>
        <p:nvGraphicFramePr>
          <p:cNvPr id="80900" name="Object 5"/>
          <p:cNvGraphicFramePr>
            <a:graphicFrameLocks noChangeAspect="1"/>
          </p:cNvGraphicFramePr>
          <p:nvPr/>
        </p:nvGraphicFramePr>
        <p:xfrm>
          <a:off x="2640013" y="2484438"/>
          <a:ext cx="792162" cy="439737"/>
        </p:xfrm>
        <a:graphic>
          <a:graphicData uri="http://schemas.openxmlformats.org/presentationml/2006/ole">
            <mc:AlternateContent xmlns:mc="http://schemas.openxmlformats.org/markup-compatibility/2006">
              <mc:Choice xmlns:v="urn:schemas-microsoft-com:vml" Requires="v">
                <p:oleObj spid="_x0000_s3087" name="" r:id="rId5" imgW="344170" imgH="191135" progId="Equation.3">
                  <p:embed/>
                </p:oleObj>
              </mc:Choice>
              <mc:Fallback>
                <p:oleObj name="" r:id="rId5" imgW="344170" imgH="191135" progId="Equation.3">
                  <p:embed/>
                  <p:pic>
                    <p:nvPicPr>
                      <p:cNvPr id="0" name="图片 3086"/>
                      <p:cNvPicPr/>
                      <p:nvPr/>
                    </p:nvPicPr>
                    <p:blipFill>
                      <a:blip r:embed="rId4"/>
                      <a:stretch>
                        <a:fillRect/>
                      </a:stretch>
                    </p:blipFill>
                    <p:spPr>
                      <a:xfrm>
                        <a:off x="2640013" y="2484438"/>
                        <a:ext cx="792162" cy="439737"/>
                      </a:xfrm>
                      <a:prstGeom prst="rect">
                        <a:avLst/>
                      </a:prstGeom>
                      <a:noFill/>
                      <a:ln w="38100">
                        <a:noFill/>
                        <a:miter/>
                      </a:ln>
                    </p:spPr>
                  </p:pic>
                </p:oleObj>
              </mc:Fallback>
            </mc:AlternateContent>
          </a:graphicData>
        </a:graphic>
      </p:graphicFrame>
      <p:graphicFrame>
        <p:nvGraphicFramePr>
          <p:cNvPr id="80901" name="Object 6"/>
          <p:cNvGraphicFramePr>
            <a:graphicFrameLocks noChangeAspect="1"/>
          </p:cNvGraphicFramePr>
          <p:nvPr/>
        </p:nvGraphicFramePr>
        <p:xfrm>
          <a:off x="2640013" y="2060575"/>
          <a:ext cx="792162" cy="438150"/>
        </p:xfrm>
        <a:graphic>
          <a:graphicData uri="http://schemas.openxmlformats.org/presentationml/2006/ole">
            <mc:AlternateContent xmlns:mc="http://schemas.openxmlformats.org/markup-compatibility/2006">
              <mc:Choice xmlns:v="urn:schemas-microsoft-com:vml" Requires="v">
                <p:oleObj spid="_x0000_s3090" name="" r:id="rId6" imgW="344170" imgH="191135" progId="Equation.3">
                  <p:embed/>
                </p:oleObj>
              </mc:Choice>
              <mc:Fallback>
                <p:oleObj name="" r:id="rId6" imgW="344170" imgH="191135" progId="Equation.3">
                  <p:embed/>
                  <p:pic>
                    <p:nvPicPr>
                      <p:cNvPr id="0" name="图片 3089"/>
                      <p:cNvPicPr/>
                      <p:nvPr/>
                    </p:nvPicPr>
                    <p:blipFill>
                      <a:blip r:embed="rId4"/>
                      <a:stretch>
                        <a:fillRect/>
                      </a:stretch>
                    </p:blipFill>
                    <p:spPr>
                      <a:xfrm>
                        <a:off x="2640013" y="2060575"/>
                        <a:ext cx="792162" cy="438150"/>
                      </a:xfrm>
                      <a:prstGeom prst="rect">
                        <a:avLst/>
                      </a:prstGeom>
                      <a:noFill/>
                      <a:ln w="38100">
                        <a:noFill/>
                        <a:miter/>
                      </a:ln>
                    </p:spPr>
                  </p:pic>
                </p:oleObj>
              </mc:Fallback>
            </mc:AlternateContent>
          </a:graphicData>
        </a:graphic>
      </p:graphicFrame>
      <p:pic>
        <p:nvPicPr>
          <p:cNvPr id="80902" name="Picture 4"/>
          <p:cNvPicPr>
            <a:picLocks noChangeAspect="1"/>
          </p:cNvPicPr>
          <p:nvPr/>
        </p:nvPicPr>
        <p:blipFill>
          <a:blip r:embed="rId7"/>
          <a:stretch>
            <a:fillRect/>
          </a:stretch>
        </p:blipFill>
        <p:spPr>
          <a:xfrm>
            <a:off x="4006850" y="3573463"/>
            <a:ext cx="6049963" cy="3113087"/>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8610">
                                            <p:txEl>
                                              <p:charRg st="4294967295" end="4294967295"/>
                                            </p:txEl>
                                          </p:spTgt>
                                        </p:tgtEl>
                                        <p:attrNameLst>
                                          <p:attrName>style.visibility</p:attrName>
                                        </p:attrNameLst>
                                      </p:cBhvr>
                                      <p:to>
                                        <p:strVal val="visible"/>
                                      </p:to>
                                    </p:set>
                                    <p:anim calcmode="lin" valueType="num">
                                      <p:cBhvr>
                                        <p:cTn id="7" dur="500" fill="hold"/>
                                        <p:tgtEl>
                                          <p:spTgt spid="68610">
                                            <p:txEl>
                                              <p:charRg st="4294967295" end="4294967295"/>
                                            </p:txEl>
                                          </p:spTgt>
                                        </p:tgtEl>
                                        <p:attrNameLst>
                                          <p:attrName>ppt_w</p:attrName>
                                        </p:attrNameLst>
                                      </p:cBhvr>
                                      <p:tavLst>
                                        <p:tav tm="0">
                                          <p:val>
                                            <p:fltVal val="0.000000"/>
                                          </p:val>
                                        </p:tav>
                                        <p:tav tm="100000">
                                          <p:val>
                                            <p:strVal val="#ppt_w"/>
                                          </p:val>
                                        </p:tav>
                                      </p:tavLst>
                                    </p:anim>
                                    <p:anim calcmode="lin" valueType="num">
                                      <p:cBhvr>
                                        <p:cTn id="8" dur="500" fill="hold"/>
                                        <p:tgtEl>
                                          <p:spTgt spid="68610">
                                            <p:txEl>
                                              <p:charRg st="4294967295" end="4294967295"/>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68610">
                                            <p:txEl>
                                              <p:charRg st="60" end="93"/>
                                            </p:txEl>
                                          </p:spTgt>
                                        </p:tgtEl>
                                        <p:attrNameLst>
                                          <p:attrName>style.visibility</p:attrName>
                                        </p:attrNameLst>
                                      </p:cBhvr>
                                      <p:to>
                                        <p:strVal val="visible"/>
                                      </p:to>
                                    </p:set>
                                    <p:anim calcmode="lin" valueType="num">
                                      <p:cBhvr>
                                        <p:cTn id="13" dur="500" fill="hold"/>
                                        <p:tgtEl>
                                          <p:spTgt spid="68610">
                                            <p:txEl>
                                              <p:charRg st="60" end="93"/>
                                            </p:txEl>
                                          </p:spTgt>
                                        </p:tgtEl>
                                        <p:attrNameLst>
                                          <p:attrName>ppt_w</p:attrName>
                                        </p:attrNameLst>
                                      </p:cBhvr>
                                      <p:tavLst>
                                        <p:tav tm="0">
                                          <p:val>
                                            <p:fltVal val="0.000000"/>
                                          </p:val>
                                        </p:tav>
                                        <p:tav tm="100000">
                                          <p:val>
                                            <p:strVal val="#ppt_w"/>
                                          </p:val>
                                        </p:tav>
                                      </p:tavLst>
                                    </p:anim>
                                    <p:anim calcmode="lin" valueType="num">
                                      <p:cBhvr>
                                        <p:cTn id="14" dur="500" fill="hold"/>
                                        <p:tgtEl>
                                          <p:spTgt spid="68610">
                                            <p:txEl>
                                              <p:charRg st="60" end="93"/>
                                            </p:txEl>
                                          </p:spTgt>
                                        </p:tgtEl>
                                        <p:attrNameLst>
                                          <p:attrName>ppt_h</p:attrName>
                                        </p:attrNameLst>
                                      </p:cBhvr>
                                      <p:tavLst>
                                        <p:tav tm="0">
                                          <p:val>
                                            <p:fltVal val="0.000000"/>
                                          </p:val>
                                        </p:tav>
                                        <p:tav tm="100000">
                                          <p:val>
                                            <p:strVal val="#ppt_h"/>
                                          </p:val>
                                        </p:tav>
                                      </p:tavLst>
                                    </p:anim>
                                  </p:childTnLst>
                                </p:cTn>
                              </p:par>
                              <p:par>
                                <p:cTn id="15" presetID="23" presetClass="entr" presetSubtype="16" fill="hold" nodeType="withEffect">
                                  <p:stCondLst>
                                    <p:cond delay="0"/>
                                  </p:stCondLst>
                                  <p:childTnLst>
                                    <p:set>
                                      <p:cBhvr>
                                        <p:cTn id="16" dur="1" fill="hold">
                                          <p:stCondLst>
                                            <p:cond delay="0"/>
                                          </p:stCondLst>
                                        </p:cTn>
                                        <p:tgtEl>
                                          <p:spTgt spid="68611"/>
                                        </p:tgtEl>
                                        <p:attrNameLst>
                                          <p:attrName>style.visibility</p:attrName>
                                        </p:attrNameLst>
                                      </p:cBhvr>
                                      <p:to>
                                        <p:strVal val="visible"/>
                                      </p:to>
                                    </p:set>
                                    <p:anim calcmode="lin" valueType="num">
                                      <p:cBhvr>
                                        <p:cTn id="17" dur="500" fill="hold"/>
                                        <p:tgtEl>
                                          <p:spTgt spid="68611"/>
                                        </p:tgtEl>
                                        <p:attrNameLst>
                                          <p:attrName>ppt_w</p:attrName>
                                        </p:attrNameLst>
                                      </p:cBhvr>
                                      <p:tavLst>
                                        <p:tav tm="0">
                                          <p:val>
                                            <p:fltVal val="0.000000"/>
                                          </p:val>
                                        </p:tav>
                                        <p:tav tm="100000">
                                          <p:val>
                                            <p:strVal val="#ppt_w"/>
                                          </p:val>
                                        </p:tav>
                                      </p:tavLst>
                                    </p:anim>
                                    <p:anim calcmode="lin" valueType="num">
                                      <p:cBhvr>
                                        <p:cTn id="18" dur="500" fill="hold"/>
                                        <p:tgtEl>
                                          <p:spTgt spid="6861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noChangeArrowheads="1"/>
          </p:cNvSpPr>
          <p:nvPr>
            <p:ph type="title"/>
          </p:nvPr>
        </p:nvSpPr>
        <p:spPr>
          <a:xfrm>
            <a:off x="2674938" y="214313"/>
            <a:ext cx="7793038" cy="10541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1.</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时钟周期</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endParaRPr>
          </a:p>
        </p:txBody>
      </p:sp>
      <p:sp>
        <p:nvSpPr>
          <p:cNvPr id="52227"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Ø"/>
            </a:pPr>
            <a:r>
              <a:rPr lang="zh-CN" altLang="en-US" dirty="0">
                <a:latin typeface="楷体_GB2312" pitchFamily="1" charset="-122"/>
                <a:ea typeface="楷体_GB2312" pitchFamily="1" charset="-122"/>
              </a:rPr>
              <a:t>时钟周期是</a:t>
            </a:r>
            <a:r>
              <a:rPr lang="en-US" altLang="zh-CN" dirty="0">
                <a:latin typeface="楷体_GB2312" pitchFamily="1" charset="-122"/>
                <a:ea typeface="楷体_GB2312" pitchFamily="1" charset="-122"/>
              </a:rPr>
              <a:t>CPU</a:t>
            </a:r>
            <a:r>
              <a:rPr lang="zh-CN" altLang="en-US" dirty="0">
                <a:latin typeface="楷体_GB2312" pitchFamily="1" charset="-122"/>
                <a:ea typeface="楷体_GB2312" pitchFamily="1" charset="-122"/>
              </a:rPr>
              <a:t>的基本时间计量单位，是</a:t>
            </a:r>
            <a:r>
              <a:rPr lang="en-US" altLang="zh-CN" dirty="0">
                <a:latin typeface="楷体_GB2312" pitchFamily="1" charset="-122"/>
                <a:ea typeface="楷体_GB2312" pitchFamily="1" charset="-122"/>
              </a:rPr>
              <a:t>CPU</a:t>
            </a:r>
            <a:r>
              <a:rPr lang="zh-CN" altLang="en-US" dirty="0">
                <a:latin typeface="楷体_GB2312" pitchFamily="1" charset="-122"/>
                <a:ea typeface="楷体_GB2312" pitchFamily="1" charset="-122"/>
              </a:rPr>
              <a:t>工作的最小时间单位，也称节拍脉冲或</a:t>
            </a:r>
            <a:r>
              <a:rPr lang="en-US" altLang="zh-CN" dirty="0">
                <a:latin typeface="楷体_GB2312" pitchFamily="1" charset="-122"/>
                <a:ea typeface="楷体_GB2312" pitchFamily="1" charset="-122"/>
              </a:rPr>
              <a:t>T</a:t>
            </a:r>
            <a:r>
              <a:rPr lang="zh-CN" altLang="en-US" dirty="0">
                <a:latin typeface="楷体_GB2312" pitchFamily="1" charset="-122"/>
                <a:ea typeface="楷体_GB2312" pitchFamily="1" charset="-122"/>
              </a:rPr>
              <a:t>周期，由主频决定。</a:t>
            </a:r>
            <a:endParaRPr lang="zh-CN" altLang="en-US" dirty="0">
              <a:latin typeface="楷体_GB2312" pitchFamily="1" charset="-122"/>
              <a:ea typeface="楷体_GB2312" pitchFamily="1" charset="-122"/>
            </a:endParaRPr>
          </a:p>
          <a:p>
            <a:pPr eaLnBrk="1" hangingPunct="1">
              <a:buFont typeface="Wingdings" panose="05000000000000000000" pitchFamily="2" charset="2"/>
              <a:buChar char="Ø"/>
            </a:pPr>
            <a:r>
              <a:rPr lang="zh-CN" altLang="en-US" dirty="0">
                <a:latin typeface="楷体_GB2312" pitchFamily="1" charset="-122"/>
                <a:ea typeface="楷体_GB2312" pitchFamily="1" charset="-122"/>
              </a:rPr>
              <a:t>对于</a:t>
            </a:r>
            <a:r>
              <a:rPr lang="en-US" altLang="zh-CN" dirty="0">
                <a:latin typeface="楷体_GB2312" pitchFamily="1" charset="-122"/>
                <a:ea typeface="楷体_GB2312" pitchFamily="1" charset="-122"/>
              </a:rPr>
              <a:t>8086</a:t>
            </a:r>
            <a:r>
              <a:rPr lang="zh-CN" altLang="en-US" dirty="0">
                <a:latin typeface="楷体_GB2312" pitchFamily="1" charset="-122"/>
                <a:ea typeface="楷体_GB2312" pitchFamily="1" charset="-122"/>
              </a:rPr>
              <a:t>来讲，若其主频为</a:t>
            </a:r>
            <a:r>
              <a:rPr lang="en-US" altLang="zh-CN" dirty="0">
                <a:latin typeface="楷体_GB2312" pitchFamily="1" charset="-122"/>
                <a:ea typeface="楷体_GB2312" pitchFamily="1" charset="-122"/>
              </a:rPr>
              <a:t>5MHz</a:t>
            </a:r>
            <a:r>
              <a:rPr lang="zh-CN" altLang="en-US" dirty="0">
                <a:latin typeface="楷体_GB2312" pitchFamily="1" charset="-122"/>
                <a:ea typeface="楷体_GB2312" pitchFamily="1" charset="-122"/>
              </a:rPr>
              <a:t>，则一个时钟周期为</a:t>
            </a:r>
            <a:r>
              <a:rPr lang="en-US" altLang="zh-CN" dirty="0">
                <a:latin typeface="楷体_GB2312" pitchFamily="1" charset="-122"/>
                <a:ea typeface="楷体_GB2312" pitchFamily="1" charset="-122"/>
              </a:rPr>
              <a:t>200ns</a:t>
            </a:r>
            <a:r>
              <a:rPr lang="zh-CN" altLang="en-US" dirty="0">
                <a:latin typeface="楷体_GB2312" pitchFamily="1" charset="-122"/>
                <a:ea typeface="楷体_GB2312" pitchFamily="1" charset="-122"/>
              </a:rPr>
              <a:t>。</a:t>
            </a:r>
            <a:endParaRPr lang="zh-CN" altLang="en-US" dirty="0">
              <a:latin typeface="楷体_GB2312" pitchFamily="1" charset="-122"/>
              <a:ea typeface="楷体_GB2312" pitchFamily="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charRg st="0" end="50"/>
                                            </p:txEl>
                                          </p:spTgt>
                                        </p:tgtEl>
                                        <p:attrNameLst>
                                          <p:attrName>style.visibility</p:attrName>
                                        </p:attrNameLst>
                                      </p:cBhvr>
                                      <p:to>
                                        <p:strVal val="visible"/>
                                      </p:to>
                                    </p:set>
                                    <p:anim calcmode="lin" valueType="num">
                                      <p:cBhvr additive="base">
                                        <p:cTn id="7" dur="500" fill="hold"/>
                                        <p:tgtEl>
                                          <p:spTgt spid="52227">
                                            <p:txEl>
                                              <p:charRg st="0" end="5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charRg st="0" end="5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227">
                                            <p:txEl>
                                              <p:charRg st="50" end="84"/>
                                            </p:txEl>
                                          </p:spTgt>
                                        </p:tgtEl>
                                        <p:attrNameLst>
                                          <p:attrName>style.visibility</p:attrName>
                                        </p:attrNameLst>
                                      </p:cBhvr>
                                      <p:to>
                                        <p:strVal val="visible"/>
                                      </p:to>
                                    </p:set>
                                    <p:anim calcmode="lin" valueType="num">
                                      <p:cBhvr additive="base">
                                        <p:cTn id="13" dur="500" fill="hold"/>
                                        <p:tgtEl>
                                          <p:spTgt spid="52227">
                                            <p:txEl>
                                              <p:charRg st="50" end="8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7">
                                            <p:txEl>
                                              <p:charRg st="50" end="8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noChangeArrowheads="1"/>
          </p:cNvSpPr>
          <p:nvPr>
            <p:ph type="title"/>
          </p:nvPr>
        </p:nvSpPr>
        <p:spPr>
          <a:xfrm>
            <a:off x="2674938" y="214313"/>
            <a:ext cx="7793038" cy="10541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2.</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总线周期与指令周期</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endParaRPr>
          </a:p>
        </p:txBody>
      </p:sp>
      <p:sp>
        <p:nvSpPr>
          <p:cNvPr id="53251" name="Rectangle 3"/>
          <p:cNvSpPr>
            <a:spLocks noGrp="1"/>
          </p:cNvSpPr>
          <p:nvPr>
            <p:ph idx="1"/>
          </p:nvPr>
        </p:nvSpPr>
        <p:spPr/>
        <p:txBody>
          <a:bodyPr vert="horz" wrap="square" lIns="91440" tIns="45720" rIns="91440" bIns="45720" anchor="t" anchorCtr="0"/>
          <a:p>
            <a:pPr eaLnBrk="1" hangingPunct="1">
              <a:buNone/>
            </a:pPr>
            <a:r>
              <a:rPr lang="zh-CN" altLang="en-US" sz="2800" dirty="0">
                <a:latin typeface="楷体_GB2312" pitchFamily="1" charset="-122"/>
                <a:ea typeface="楷体_GB2312" pitchFamily="1" charset="-122"/>
              </a:rPr>
              <a:t>总线周期</a:t>
            </a:r>
            <a:endParaRPr lang="zh-CN" altLang="en-US" sz="2800" dirty="0">
              <a:latin typeface="楷体_GB2312" pitchFamily="1" charset="-122"/>
              <a:ea typeface="楷体_GB2312" pitchFamily="1" charset="-122"/>
            </a:endParaRPr>
          </a:p>
          <a:p>
            <a:pPr lvl="1" eaLnBrk="1" hangingPunct="1"/>
            <a:r>
              <a:rPr lang="en-US" altLang="zh-CN" dirty="0">
                <a:latin typeface="楷体_GB2312" pitchFamily="1" charset="-122"/>
                <a:ea typeface="楷体_GB2312" pitchFamily="1" charset="-122"/>
              </a:rPr>
              <a:t>8086CPU</a:t>
            </a:r>
            <a:r>
              <a:rPr lang="zh-CN" altLang="en-US" dirty="0">
                <a:latin typeface="楷体_GB2312" pitchFamily="1" charset="-122"/>
                <a:ea typeface="楷体_GB2312" pitchFamily="1" charset="-122"/>
              </a:rPr>
              <a:t>通过总线对存储器或</a:t>
            </a:r>
            <a:r>
              <a:rPr lang="en-US" altLang="zh-CN" dirty="0">
                <a:latin typeface="楷体_GB2312" pitchFamily="1" charset="-122"/>
                <a:ea typeface="楷体_GB2312" pitchFamily="1" charset="-122"/>
              </a:rPr>
              <a:t>I/O</a:t>
            </a:r>
            <a:r>
              <a:rPr lang="zh-CN" altLang="en-US" dirty="0">
                <a:latin typeface="楷体_GB2312" pitchFamily="1" charset="-122"/>
                <a:ea typeface="楷体_GB2312" pitchFamily="1" charset="-122"/>
              </a:rPr>
              <a:t>端口进行一次信息的输入或输出过程，称为</a:t>
            </a:r>
            <a:r>
              <a:rPr lang="zh-CN" altLang="en-US" dirty="0">
                <a:solidFill>
                  <a:schemeClr val="hlink"/>
                </a:solidFill>
                <a:latin typeface="楷体_GB2312" pitchFamily="1" charset="-122"/>
                <a:ea typeface="楷体_GB2312" pitchFamily="1" charset="-122"/>
              </a:rPr>
              <a:t>总线操作</a:t>
            </a:r>
            <a:r>
              <a:rPr lang="zh-CN" altLang="en-US" dirty="0">
                <a:latin typeface="楷体_GB2312" pitchFamily="1" charset="-122"/>
                <a:ea typeface="楷体_GB2312" pitchFamily="1" charset="-122"/>
              </a:rPr>
              <a:t>，执行该操作所需要的时间，称为</a:t>
            </a:r>
            <a:r>
              <a:rPr lang="zh-CN" altLang="en-US" dirty="0">
                <a:solidFill>
                  <a:schemeClr val="hlink"/>
                </a:solidFill>
                <a:latin typeface="楷体_GB2312" pitchFamily="1" charset="-122"/>
                <a:ea typeface="楷体_GB2312" pitchFamily="1" charset="-122"/>
              </a:rPr>
              <a:t>总线周期</a:t>
            </a:r>
            <a:r>
              <a:rPr lang="zh-CN" altLang="en-US" dirty="0">
                <a:latin typeface="楷体_GB2312" pitchFamily="1" charset="-122"/>
                <a:ea typeface="楷体_GB2312" pitchFamily="1" charset="-122"/>
              </a:rPr>
              <a:t>。</a:t>
            </a:r>
            <a:endParaRPr lang="zh-CN" altLang="en-US" dirty="0">
              <a:latin typeface="楷体_GB2312" pitchFamily="1" charset="-122"/>
              <a:ea typeface="楷体_GB2312" pitchFamily="1" charset="-122"/>
            </a:endParaRPr>
          </a:p>
          <a:p>
            <a:pPr lvl="1" eaLnBrk="1" hangingPunct="1"/>
            <a:r>
              <a:rPr lang="zh-CN" altLang="en-US" dirty="0">
                <a:latin typeface="楷体_GB2312" pitchFamily="1" charset="-122"/>
                <a:ea typeface="楷体_GB2312" pitchFamily="1" charset="-122"/>
              </a:rPr>
              <a:t>在</a:t>
            </a:r>
            <a:r>
              <a:rPr lang="en-US" altLang="zh-CN" dirty="0">
                <a:latin typeface="楷体_GB2312" pitchFamily="1" charset="-122"/>
                <a:ea typeface="楷体_GB2312" pitchFamily="1" charset="-122"/>
              </a:rPr>
              <a:t>8086</a:t>
            </a:r>
            <a:r>
              <a:rPr lang="zh-CN" altLang="en-US" dirty="0">
                <a:latin typeface="楷体_GB2312" pitchFamily="1" charset="-122"/>
                <a:ea typeface="楷体_GB2312" pitchFamily="1" charset="-122"/>
              </a:rPr>
              <a:t>中，一个最基本的总线周期由</a:t>
            </a:r>
            <a:r>
              <a:rPr lang="en-US" altLang="zh-CN" dirty="0">
                <a:latin typeface="楷体_GB2312" pitchFamily="1" charset="-122"/>
                <a:ea typeface="楷体_GB2312" pitchFamily="1" charset="-122"/>
              </a:rPr>
              <a:t>4</a:t>
            </a:r>
            <a:r>
              <a:rPr lang="zh-CN" altLang="en-US" dirty="0">
                <a:latin typeface="楷体_GB2312" pitchFamily="1" charset="-122"/>
                <a:ea typeface="楷体_GB2312" pitchFamily="1" charset="-122"/>
              </a:rPr>
              <a:t>个时钟周期组成，每个时钟周期称为</a:t>
            </a:r>
            <a:r>
              <a:rPr lang="en-US" altLang="zh-CN" dirty="0">
                <a:latin typeface="楷体_GB2312" pitchFamily="1" charset="-122"/>
                <a:ea typeface="楷体_GB2312" pitchFamily="1" charset="-122"/>
              </a:rPr>
              <a:t>T</a:t>
            </a:r>
            <a:r>
              <a:rPr lang="zh-CN" altLang="en-US" dirty="0">
                <a:latin typeface="楷体_GB2312" pitchFamily="1" charset="-122"/>
                <a:ea typeface="楷体_GB2312" pitchFamily="1" charset="-122"/>
              </a:rPr>
              <a:t>状态，因此基本总线周期用</a:t>
            </a:r>
            <a:r>
              <a:rPr lang="en-US" altLang="zh-CN" dirty="0">
                <a:latin typeface="楷体_GB2312" pitchFamily="1" charset="-122"/>
                <a:ea typeface="楷体_GB2312" pitchFamily="1" charset="-122"/>
              </a:rPr>
              <a:t>T</a:t>
            </a:r>
            <a:r>
              <a:rPr lang="en-US" altLang="zh-CN" baseline="-25000" dirty="0">
                <a:latin typeface="楷体_GB2312" pitchFamily="1" charset="-122"/>
                <a:ea typeface="楷体_GB2312" pitchFamily="1" charset="-122"/>
              </a:rPr>
              <a:t>1</a:t>
            </a:r>
            <a:r>
              <a:rPr lang="zh-CN" altLang="en-US" dirty="0">
                <a:latin typeface="楷体_GB2312" pitchFamily="1" charset="-122"/>
                <a:ea typeface="楷体_GB2312" pitchFamily="1" charset="-122"/>
              </a:rPr>
              <a:t>、</a:t>
            </a:r>
            <a:r>
              <a:rPr lang="en-US" altLang="zh-CN" dirty="0">
                <a:latin typeface="楷体_GB2312" pitchFamily="1" charset="-122"/>
                <a:ea typeface="楷体_GB2312" pitchFamily="1" charset="-122"/>
              </a:rPr>
              <a:t>T</a:t>
            </a:r>
            <a:r>
              <a:rPr lang="en-US" altLang="zh-CN" baseline="-25000" dirty="0">
                <a:latin typeface="楷体_GB2312" pitchFamily="1" charset="-122"/>
                <a:ea typeface="楷体_GB2312" pitchFamily="1" charset="-122"/>
              </a:rPr>
              <a:t>2</a:t>
            </a:r>
            <a:r>
              <a:rPr lang="zh-CN" altLang="en-US" dirty="0">
                <a:latin typeface="楷体_GB2312" pitchFamily="1" charset="-122"/>
                <a:ea typeface="楷体_GB2312" pitchFamily="1" charset="-122"/>
              </a:rPr>
              <a:t>、</a:t>
            </a:r>
            <a:r>
              <a:rPr lang="en-US" altLang="zh-CN" dirty="0">
                <a:latin typeface="楷体_GB2312" pitchFamily="1" charset="-122"/>
                <a:ea typeface="楷体_GB2312" pitchFamily="1" charset="-122"/>
              </a:rPr>
              <a:t>T</a:t>
            </a:r>
            <a:r>
              <a:rPr lang="en-US" altLang="zh-CN" baseline="-25000" dirty="0">
                <a:latin typeface="楷体_GB2312" pitchFamily="1" charset="-122"/>
                <a:ea typeface="楷体_GB2312" pitchFamily="1" charset="-122"/>
              </a:rPr>
              <a:t>3</a:t>
            </a:r>
            <a:r>
              <a:rPr lang="zh-CN" altLang="en-US" dirty="0">
                <a:latin typeface="楷体_GB2312" pitchFamily="1" charset="-122"/>
                <a:ea typeface="楷体_GB2312" pitchFamily="1" charset="-122"/>
              </a:rPr>
              <a:t>、</a:t>
            </a:r>
            <a:r>
              <a:rPr lang="en-US" altLang="zh-CN" dirty="0">
                <a:latin typeface="楷体_GB2312" pitchFamily="1" charset="-122"/>
                <a:ea typeface="楷体_GB2312" pitchFamily="1" charset="-122"/>
              </a:rPr>
              <a:t>T</a:t>
            </a:r>
            <a:r>
              <a:rPr lang="en-US" altLang="zh-CN" baseline="-25000" dirty="0">
                <a:latin typeface="楷体_GB2312" pitchFamily="1" charset="-122"/>
                <a:ea typeface="楷体_GB2312" pitchFamily="1" charset="-122"/>
              </a:rPr>
              <a:t>4</a:t>
            </a:r>
            <a:r>
              <a:rPr lang="zh-CN" altLang="en-US" dirty="0">
                <a:latin typeface="楷体_GB2312" pitchFamily="1" charset="-122"/>
                <a:ea typeface="楷体_GB2312" pitchFamily="1" charset="-122"/>
              </a:rPr>
              <a:t>表示。</a:t>
            </a:r>
            <a:endParaRPr lang="zh-CN" altLang="en-US" dirty="0">
              <a:latin typeface="楷体_GB2312" pitchFamily="1" charset="-122"/>
              <a:ea typeface="楷体_GB2312" pitchFamily="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251">
                                            <p:txEl>
                                              <p:charRg st="5" end="68"/>
                                            </p:txEl>
                                          </p:spTgt>
                                        </p:tgtEl>
                                        <p:attrNameLst>
                                          <p:attrName>style.visibility</p:attrName>
                                        </p:attrNameLst>
                                      </p:cBhvr>
                                      <p:to>
                                        <p:strVal val="visible"/>
                                      </p:to>
                                    </p:set>
                                    <p:anim calcmode="lin" valueType="num">
                                      <p:cBhvr additive="base">
                                        <p:cTn id="7" dur="500" fill="hold"/>
                                        <p:tgtEl>
                                          <p:spTgt spid="53251">
                                            <p:txEl>
                                              <p:charRg st="5" end="6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charRg st="5" end="6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3251">
                                            <p:txEl>
                                              <p:charRg st="68" end="131"/>
                                            </p:txEl>
                                          </p:spTgt>
                                        </p:tgtEl>
                                        <p:attrNameLst>
                                          <p:attrName>style.visibility</p:attrName>
                                        </p:attrNameLst>
                                      </p:cBhvr>
                                      <p:to>
                                        <p:strVal val="visible"/>
                                      </p:to>
                                    </p:set>
                                    <p:anim calcmode="lin" valueType="num">
                                      <p:cBhvr additive="base">
                                        <p:cTn id="13" dur="500" fill="hold"/>
                                        <p:tgtEl>
                                          <p:spTgt spid="53251">
                                            <p:txEl>
                                              <p:charRg st="68" end="13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charRg st="68" end="13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noChangeArrowheads="1"/>
          </p:cNvSpPr>
          <p:nvPr>
            <p:ph type="title"/>
          </p:nvPr>
        </p:nvSpPr>
        <p:spPr>
          <a:xfrm>
            <a:off x="2674938" y="214313"/>
            <a:ext cx="7793038" cy="10541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2.</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总线周期与指令周期</a:t>
            </a:r>
            <a:r>
              <a:rPr kumimoji="0"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续</a:t>
            </a:r>
            <a:r>
              <a:rPr kumimoji="0"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a:t>
            </a:r>
            <a:endParaRPr kumimoji="0"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endParaRPr>
          </a:p>
        </p:txBody>
      </p:sp>
      <p:sp>
        <p:nvSpPr>
          <p:cNvPr id="54275" name="Rectangle 3"/>
          <p:cNvSpPr>
            <a:spLocks noGrp="1"/>
          </p:cNvSpPr>
          <p:nvPr>
            <p:ph idx="1"/>
          </p:nvPr>
        </p:nvSpPr>
        <p:spPr/>
        <p:txBody>
          <a:bodyPr vert="horz" wrap="square" lIns="91440" tIns="45720" rIns="91440" bIns="45720" anchor="t" anchorCtr="0"/>
          <a:p>
            <a:pPr eaLnBrk="1" hangingPunct="1">
              <a:lnSpc>
                <a:spcPct val="90000"/>
              </a:lnSpc>
              <a:buNone/>
            </a:pPr>
            <a:r>
              <a:rPr lang="zh-CN" altLang="en-US" dirty="0">
                <a:ea typeface="楷体_GB2312" pitchFamily="1" charset="-122"/>
              </a:rPr>
              <a:t>指令周期</a:t>
            </a:r>
            <a:endParaRPr lang="zh-CN" altLang="en-US" dirty="0">
              <a:ea typeface="楷体_GB2312" pitchFamily="1" charset="-122"/>
            </a:endParaRPr>
          </a:p>
          <a:p>
            <a:pPr lvl="1" eaLnBrk="1" hangingPunct="1">
              <a:lnSpc>
                <a:spcPct val="90000"/>
              </a:lnSpc>
            </a:pPr>
            <a:r>
              <a:rPr lang="zh-CN" altLang="en-US" dirty="0">
                <a:ea typeface="楷体_GB2312" pitchFamily="1" charset="-122"/>
              </a:rPr>
              <a:t>每条指令的执行由取指令、分析指令和执行指令等操作完成，执行一条指令所需要的时间称为一个指令周期。</a:t>
            </a:r>
            <a:endParaRPr lang="zh-CN" altLang="en-US" dirty="0">
              <a:ea typeface="楷体_GB2312" pitchFamily="1" charset="-122"/>
            </a:endParaRPr>
          </a:p>
          <a:p>
            <a:pPr lvl="1" eaLnBrk="1" hangingPunct="1">
              <a:lnSpc>
                <a:spcPct val="90000"/>
              </a:lnSpc>
            </a:pPr>
            <a:r>
              <a:rPr lang="zh-CN" altLang="en-US" dirty="0">
                <a:ea typeface="楷体_GB2312" pitchFamily="1" charset="-122"/>
              </a:rPr>
              <a:t>简单指令执行时间就比较短，而复杂指令执行的时间就比较长，因此，不同指令的指令周期是不相同的。</a:t>
            </a:r>
            <a:endParaRPr lang="zh-CN" altLang="en-US" dirty="0">
              <a:ea typeface="楷体_GB2312" pitchFamily="1" charset="-122"/>
            </a:endParaRPr>
          </a:p>
          <a:p>
            <a:pPr lvl="1" eaLnBrk="1" hangingPunct="1">
              <a:lnSpc>
                <a:spcPct val="90000"/>
              </a:lnSpc>
            </a:pPr>
            <a:r>
              <a:rPr lang="zh-CN" altLang="en-US" dirty="0">
                <a:ea typeface="楷体_GB2312" pitchFamily="1" charset="-122"/>
              </a:rPr>
              <a:t>一个指令周期由一个或几个总线周期组成，一个总线周期又由若干个时钟周期组成。</a:t>
            </a:r>
            <a:endParaRPr lang="zh-CN" altLang="en-US" dirty="0">
              <a:ea typeface="楷体_GB2312" pitchFamily="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xEl>
                                              <p:charRg st="5" end="54"/>
                                            </p:txEl>
                                          </p:spTgt>
                                        </p:tgtEl>
                                        <p:attrNameLst>
                                          <p:attrName>style.visibility</p:attrName>
                                        </p:attrNameLst>
                                      </p:cBhvr>
                                      <p:to>
                                        <p:strVal val="visible"/>
                                      </p:to>
                                    </p:set>
                                    <p:anim calcmode="lin" valueType="num">
                                      <p:cBhvr additive="base">
                                        <p:cTn id="7" dur="500" fill="hold"/>
                                        <p:tgtEl>
                                          <p:spTgt spid="54275">
                                            <p:txEl>
                                              <p:charRg st="5" end="5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charRg st="5" end="5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275">
                                            <p:txEl>
                                              <p:charRg st="54" end="101"/>
                                            </p:txEl>
                                          </p:spTgt>
                                        </p:tgtEl>
                                        <p:attrNameLst>
                                          <p:attrName>style.visibility</p:attrName>
                                        </p:attrNameLst>
                                      </p:cBhvr>
                                      <p:to>
                                        <p:strVal val="visible"/>
                                      </p:to>
                                    </p:set>
                                    <p:anim calcmode="lin" valueType="num">
                                      <p:cBhvr additive="base">
                                        <p:cTn id="13" dur="500" fill="hold"/>
                                        <p:tgtEl>
                                          <p:spTgt spid="54275">
                                            <p:txEl>
                                              <p:charRg st="54" end="10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charRg st="54" end="10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4275">
                                            <p:txEl>
                                              <p:charRg st="101" end="139"/>
                                            </p:txEl>
                                          </p:spTgt>
                                        </p:tgtEl>
                                        <p:attrNameLst>
                                          <p:attrName>style.visibility</p:attrName>
                                        </p:attrNameLst>
                                      </p:cBhvr>
                                      <p:to>
                                        <p:strVal val="visible"/>
                                      </p:to>
                                    </p:set>
                                    <p:anim calcmode="lin" valueType="num">
                                      <p:cBhvr additive="base">
                                        <p:cTn id="19" dur="500" fill="hold"/>
                                        <p:tgtEl>
                                          <p:spTgt spid="54275">
                                            <p:txEl>
                                              <p:charRg st="101" end="13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275">
                                            <p:txEl>
                                              <p:charRg st="101" end="13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noChangeArrowheads="1"/>
          </p:cNvSpPr>
          <p:nvPr>
            <p:ph type="title"/>
          </p:nvPr>
        </p:nvSpPr>
        <p:spPr>
          <a:xfrm>
            <a:off x="2674938" y="214313"/>
            <a:ext cx="7793038" cy="10541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图</a:t>
            </a:r>
            <a:r>
              <a:rPr kumimoji="0"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2.8  </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典型的</a:t>
            </a:r>
            <a:r>
              <a:rPr kumimoji="0" lang="en-US"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8086</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rPr>
              <a:t>总线周期序列</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1" charset="-122"/>
              <a:cs typeface="+mj-cs"/>
              <a:sym typeface="Arial" panose="020B0604020202020204" pitchFamily="34" charset="0"/>
            </a:endParaRPr>
          </a:p>
        </p:txBody>
      </p:sp>
      <p:pic>
        <p:nvPicPr>
          <p:cNvPr id="67586" name="Picture 3"/>
          <p:cNvPicPr>
            <a:picLocks noChangeAspect="1"/>
          </p:cNvPicPr>
          <p:nvPr/>
        </p:nvPicPr>
        <p:blipFill>
          <a:blip r:embed="rId1"/>
          <a:stretch>
            <a:fillRect/>
          </a:stretch>
        </p:blipFill>
        <p:spPr>
          <a:xfrm>
            <a:off x="2568575" y="1917700"/>
            <a:ext cx="7004050" cy="2806700"/>
          </a:xfrm>
          <a:prstGeom prst="rect">
            <a:avLst/>
          </a:prstGeom>
          <a:noFill/>
          <a:ln w="9525">
            <a:noFill/>
          </a:ln>
        </p:spPr>
      </p:pic>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3</a:t>
            </a:r>
            <a:r>
              <a:rPr lang="zh-CN" altLang="en-US" dirty="0"/>
              <a:t>章  </a:t>
            </a:r>
            <a:r>
              <a:rPr lang="en-US" altLang="zh-CN" dirty="0"/>
              <a:t>16</a:t>
            </a:r>
            <a:r>
              <a:rPr lang="zh-CN" altLang="en-US" dirty="0"/>
              <a:t>位</a:t>
            </a:r>
            <a:r>
              <a:rPr lang="en-US" altLang="zh-CN" dirty="0"/>
              <a:t>/32</a:t>
            </a:r>
            <a:r>
              <a:rPr lang="zh-CN" altLang="en-US" dirty="0"/>
              <a:t>位微处理器指令系统 </a:t>
            </a:r>
            <a:endParaRPr lang="zh-CN" altLang="en-US" dirty="0"/>
          </a:p>
        </p:txBody>
      </p:sp>
      <p:sp>
        <p:nvSpPr>
          <p:cNvPr id="3" name="内容占位符 2"/>
          <p:cNvSpPr>
            <a:spLocks noGrp="1"/>
          </p:cNvSpPr>
          <p:nvPr>
            <p:ph idx="1"/>
          </p:nvPr>
        </p:nvSpPr>
        <p:spPr/>
        <p:txBody>
          <a:bodyPr/>
          <a:lstStyle/>
          <a:p>
            <a:r>
              <a:rPr lang="zh-CN" altLang="en-US" dirty="0"/>
              <a:t>指令的基本格式和寻址方式</a:t>
            </a:r>
            <a:endParaRPr lang="zh-CN" altLang="en-US" dirty="0"/>
          </a:p>
          <a:p>
            <a:r>
              <a:rPr lang="zh-CN" altLang="en-US" dirty="0"/>
              <a:t>数据传送类指令</a:t>
            </a:r>
            <a:endParaRPr lang="zh-CN" altLang="en-US" dirty="0"/>
          </a:p>
          <a:p>
            <a:r>
              <a:rPr lang="zh-CN" altLang="en-US" dirty="0"/>
              <a:t>算术运算类指令</a:t>
            </a:r>
            <a:endParaRPr lang="en-US" altLang="zh-CN" dirty="0"/>
          </a:p>
          <a:p>
            <a:r>
              <a:rPr lang="zh-CN" altLang="en-US" dirty="0"/>
              <a:t>逻辑运算类与移位指令</a:t>
            </a:r>
            <a:endParaRPr lang="en-US" altLang="zh-CN" dirty="0"/>
          </a:p>
          <a:p>
            <a:r>
              <a:rPr lang="zh-CN" altLang="en-US" dirty="0"/>
              <a:t>串操作指令</a:t>
            </a:r>
            <a:endParaRPr lang="en-US" altLang="zh-CN" dirty="0"/>
          </a:p>
          <a:p>
            <a:r>
              <a:rPr lang="zh-CN" altLang="en-US" dirty="0"/>
              <a:t>控制转移类指令与处理器控制类指令</a:t>
            </a:r>
            <a:endParaRPr lang="zh-CN" altLang="en-US" dirty="0"/>
          </a:p>
          <a:p>
            <a:endParaRPr lang="zh-CN" altLang="en-US" dirty="0"/>
          </a:p>
        </p:txBody>
      </p:sp>
      <p:sp>
        <p:nvSpPr>
          <p:cNvPr id="4" name="日期占位符 3"/>
          <p:cNvSpPr>
            <a:spLocks noGrp="1"/>
          </p:cNvSpPr>
          <p:nvPr>
            <p:ph type="dt" sz="half" idx="10"/>
          </p:nvPr>
        </p:nvSpPr>
        <p:spPr/>
        <p:txBody>
          <a:bodyPr/>
          <a:lstStyle/>
          <a:p>
            <a:pPr>
              <a:defRPr/>
            </a:pPr>
            <a:fld id="{83AB4B42-93EE-428E-8684-A9D17EEED4DC}"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8086/8088</a:t>
            </a:r>
            <a:r>
              <a:rPr lang="zh-CN" altLang="en-US" dirty="0"/>
              <a:t>的寻址方式</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20000"/>
              </a:lnSpc>
            </a:pPr>
            <a:r>
              <a:rPr lang="zh-CN" altLang="en-US" dirty="0"/>
              <a:t>一条汇编语言指令，需要关注两个问题：</a:t>
            </a:r>
            <a:endParaRPr lang="en-US" altLang="zh-CN" dirty="0"/>
          </a:p>
          <a:p>
            <a:pPr lvl="1">
              <a:lnSpc>
                <a:spcPct val="120000"/>
              </a:lnSpc>
            </a:pPr>
            <a:r>
              <a:rPr lang="zh-CN" altLang="en-US" sz="2800" dirty="0"/>
              <a:t>该条指令将进行什么操作</a:t>
            </a:r>
            <a:endParaRPr lang="en-US" altLang="zh-CN" sz="2800" dirty="0"/>
          </a:p>
          <a:p>
            <a:pPr lvl="1">
              <a:lnSpc>
                <a:spcPct val="120000"/>
              </a:lnSpc>
            </a:pPr>
            <a:r>
              <a:rPr lang="zh-CN" altLang="en-US" sz="2800" dirty="0"/>
              <a:t>操作的对象和操作后结果的存放位置</a:t>
            </a:r>
            <a:endParaRPr lang="zh-CN" altLang="en-US" sz="2800" dirty="0"/>
          </a:p>
          <a:p>
            <a:pPr>
              <a:lnSpc>
                <a:spcPct val="120000"/>
              </a:lnSpc>
            </a:pPr>
            <a:r>
              <a:rPr lang="zh-CN" altLang="en-US" dirty="0"/>
              <a:t>操作数的寻址方式就是指寻找操作数位置的方式。</a:t>
            </a:r>
            <a:endParaRPr lang="zh-CN" altLang="en-US" dirty="0"/>
          </a:p>
          <a:p>
            <a:pPr>
              <a:lnSpc>
                <a:spcPct val="120000"/>
              </a:lnSpc>
            </a:pPr>
            <a:r>
              <a:rPr lang="zh-CN" altLang="en-US" dirty="0">
                <a:solidFill>
                  <a:srgbClr val="FF0000"/>
                </a:solidFill>
              </a:rPr>
              <a:t>七种寻址方式：</a:t>
            </a:r>
            <a:endParaRPr lang="zh-CN" altLang="en-US" dirty="0">
              <a:solidFill>
                <a:srgbClr val="FF0000"/>
              </a:solidFill>
            </a:endParaRPr>
          </a:p>
          <a:p>
            <a:pPr marL="0" indent="0">
              <a:lnSpc>
                <a:spcPct val="120000"/>
              </a:lnSpc>
              <a:buNone/>
            </a:pPr>
            <a:r>
              <a:rPr lang="zh-CN" altLang="en-US" dirty="0">
                <a:solidFill>
                  <a:srgbClr val="FF0000"/>
                </a:solidFill>
              </a:rPr>
              <a:t>  </a:t>
            </a:r>
            <a:r>
              <a:rPr lang="en-US" altLang="zh-CN" dirty="0">
                <a:solidFill>
                  <a:srgbClr val="FF0000"/>
                </a:solidFill>
                <a:latin typeface="等线" panose="02010600030101010101" charset="-122"/>
                <a:ea typeface="等线" panose="02010600030101010101" charset="-122"/>
              </a:rPr>
              <a:t>•</a:t>
            </a:r>
            <a:r>
              <a:rPr lang="zh-CN" altLang="en-US" dirty="0">
                <a:solidFill>
                  <a:srgbClr val="FF0000"/>
                </a:solidFill>
              </a:rPr>
              <a:t>立即寻址 </a:t>
            </a:r>
            <a:r>
              <a:rPr lang="en-US" altLang="zh-CN" dirty="0">
                <a:solidFill>
                  <a:srgbClr val="FF0000"/>
                </a:solidFill>
                <a:latin typeface="等线" panose="02010600030101010101" charset="-122"/>
                <a:ea typeface="等线" panose="02010600030101010101" charset="-122"/>
              </a:rPr>
              <a:t>•</a:t>
            </a:r>
            <a:r>
              <a:rPr lang="zh-CN" altLang="en-US" dirty="0">
                <a:solidFill>
                  <a:srgbClr val="FF0000"/>
                </a:solidFill>
              </a:rPr>
              <a:t>寄存器寻址 </a:t>
            </a:r>
            <a:r>
              <a:rPr lang="en-US" altLang="zh-CN" dirty="0">
                <a:solidFill>
                  <a:srgbClr val="FF0000"/>
                </a:solidFill>
                <a:latin typeface="等线" panose="02010600030101010101" charset="-122"/>
                <a:ea typeface="等线" panose="02010600030101010101" charset="-122"/>
              </a:rPr>
              <a:t>•</a:t>
            </a:r>
            <a:r>
              <a:rPr lang="zh-CN" altLang="en-US" dirty="0">
                <a:solidFill>
                  <a:srgbClr val="FF0000"/>
                </a:solidFill>
              </a:rPr>
              <a:t>直接寻址  </a:t>
            </a:r>
            <a:r>
              <a:rPr lang="en-US" altLang="zh-CN" dirty="0">
                <a:solidFill>
                  <a:srgbClr val="FF0000"/>
                </a:solidFill>
                <a:latin typeface="等线" panose="02010600030101010101" charset="-122"/>
                <a:ea typeface="等线" panose="02010600030101010101" charset="-122"/>
              </a:rPr>
              <a:t>•</a:t>
            </a:r>
            <a:r>
              <a:rPr lang="zh-CN" altLang="en-US" dirty="0">
                <a:solidFill>
                  <a:srgbClr val="FF0000"/>
                </a:solidFill>
              </a:rPr>
              <a:t>寄存器间接寻址</a:t>
            </a:r>
            <a:endParaRPr lang="zh-CN" altLang="en-US" dirty="0">
              <a:solidFill>
                <a:srgbClr val="FF0000"/>
              </a:solidFill>
            </a:endParaRPr>
          </a:p>
          <a:p>
            <a:pPr marL="0" indent="0" algn="l">
              <a:lnSpc>
                <a:spcPct val="120000"/>
              </a:lnSpc>
              <a:buNone/>
            </a:pPr>
            <a:r>
              <a:rPr lang="zh-CN" altLang="en-US" dirty="0">
                <a:solidFill>
                  <a:srgbClr val="FF0000"/>
                </a:solidFill>
              </a:rPr>
              <a:t>  </a:t>
            </a:r>
            <a:r>
              <a:rPr lang="en-US" altLang="zh-CN" dirty="0" smtClean="0">
                <a:solidFill>
                  <a:srgbClr val="FF0000"/>
                </a:solidFill>
                <a:latin typeface="等线" panose="02010600030101010101" charset="-122"/>
                <a:ea typeface="等线" panose="02010600030101010101" charset="-122"/>
              </a:rPr>
              <a:t>•</a:t>
            </a:r>
            <a:r>
              <a:rPr lang="zh-CN" altLang="en-US" dirty="0" smtClean="0">
                <a:solidFill>
                  <a:srgbClr val="FF0000"/>
                </a:solidFill>
              </a:rPr>
              <a:t>基址寻址和变址</a:t>
            </a:r>
            <a:r>
              <a:rPr lang="zh-CN" altLang="en-US" dirty="0">
                <a:solidFill>
                  <a:srgbClr val="FF0000"/>
                </a:solidFill>
              </a:rPr>
              <a:t>寻址  </a:t>
            </a:r>
            <a:r>
              <a:rPr lang="en-US" altLang="zh-CN" dirty="0">
                <a:solidFill>
                  <a:srgbClr val="FF0000"/>
                </a:solidFill>
                <a:latin typeface="等线" panose="02010600030101010101" charset="-122"/>
                <a:ea typeface="等线" panose="02010600030101010101" charset="-122"/>
              </a:rPr>
              <a:t>•</a:t>
            </a:r>
            <a:r>
              <a:rPr lang="zh-CN" altLang="en-US" dirty="0">
                <a:solidFill>
                  <a:srgbClr val="FF0000"/>
                </a:solidFill>
              </a:rPr>
              <a:t>基址变址寻址 </a:t>
            </a:r>
            <a:endParaRPr lang="en-US" altLang="zh-CN" dirty="0">
              <a:solidFill>
                <a:srgbClr val="FF0000"/>
              </a:solidFill>
            </a:endParaRPr>
          </a:p>
          <a:p>
            <a:pPr marL="0" indent="0" algn="l">
              <a:lnSpc>
                <a:spcPct val="120000"/>
              </a:lnSpc>
              <a:buNone/>
            </a:pPr>
            <a:r>
              <a:rPr lang="zh-CN" altLang="en-US" dirty="0">
                <a:solidFill>
                  <a:srgbClr val="FF0000"/>
                </a:solidFill>
              </a:rPr>
              <a:t>  </a:t>
            </a:r>
            <a:r>
              <a:rPr lang="en-US" altLang="zh-CN" dirty="0">
                <a:solidFill>
                  <a:srgbClr val="FF0000"/>
                </a:solidFill>
                <a:latin typeface="等线" panose="02010600030101010101" charset="-122"/>
                <a:ea typeface="等线" panose="02010600030101010101" charset="-122"/>
              </a:rPr>
              <a:t>•</a:t>
            </a:r>
            <a:r>
              <a:rPr lang="zh-CN" altLang="en-US" b="0" i="0" u="none" strike="noStrike" baseline="0" dirty="0">
                <a:solidFill>
                  <a:srgbClr val="FF0000"/>
                </a:solidFill>
              </a:rPr>
              <a:t>固定寻址</a:t>
            </a:r>
            <a:endParaRPr lang="zh-CN" altLang="en-US" b="0" i="0" u="none" strike="noStrike" baseline="0" dirty="0">
              <a:solidFill>
                <a:srgbClr val="FF0000"/>
              </a:solidFill>
            </a:endParaRPr>
          </a:p>
          <a:p>
            <a:pPr marL="0" indent="0">
              <a:buNone/>
            </a:pPr>
            <a:endParaRPr lang="zh-CN" altLang="en-US" b="0" i="0" u="none" strike="noStrike" baseline="0" dirty="0">
              <a:solidFill>
                <a:srgbClr val="FF0000"/>
              </a:solidFill>
            </a:endParaRPr>
          </a:p>
        </p:txBody>
      </p:sp>
      <p:sp>
        <p:nvSpPr>
          <p:cNvPr id="4" name="日期占位符 3"/>
          <p:cNvSpPr>
            <a:spLocks noGrp="1"/>
          </p:cNvSpPr>
          <p:nvPr>
            <p:ph type="dt" sz="half" idx="10"/>
          </p:nvPr>
        </p:nvSpPr>
        <p:spPr/>
        <p:txBody>
          <a:bodyPr/>
          <a:lstStyle/>
          <a:p>
            <a:pPr>
              <a:defRPr/>
            </a:pPr>
            <a:fld id="{F5240814-65EA-46A9-857B-FEA370E5F1D6}"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立即寻址</a:t>
            </a:r>
            <a:endParaRPr lang="zh-CN" altLang="en-US" dirty="0"/>
          </a:p>
        </p:txBody>
      </p:sp>
      <p:sp>
        <p:nvSpPr>
          <p:cNvPr id="3" name="内容占位符 2"/>
          <p:cNvSpPr>
            <a:spLocks noGrp="1"/>
          </p:cNvSpPr>
          <p:nvPr>
            <p:ph idx="1"/>
          </p:nvPr>
        </p:nvSpPr>
        <p:spPr/>
        <p:txBody>
          <a:bodyPr/>
          <a:lstStyle/>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Ø"/>
              <a:defRPr/>
            </a:pPr>
            <a:r>
              <a:rPr kumimoji="0" lang="zh-CN" altLang="zh-CN" b="0" i="0" u="none" strike="noStrike" kern="1200" cap="none" spc="0" normalizeH="0" baseline="0" noProof="0" dirty="0">
                <a:ln>
                  <a:noFill/>
                </a:ln>
                <a:solidFill>
                  <a:srgbClr val="000000"/>
                </a:solidFill>
                <a:effectLst/>
                <a:uLnTx/>
                <a:uFillTx/>
                <a:cs typeface="+mn-cs"/>
              </a:rPr>
              <a:t>操作数包含在指令中，这种操作数称为</a:t>
            </a:r>
            <a:r>
              <a:rPr kumimoji="0" lang="zh-CN" altLang="zh-CN" b="0" i="0" u="none" strike="noStrike" kern="1200" cap="none" spc="0" normalizeH="0" baseline="0" noProof="0" dirty="0">
                <a:ln>
                  <a:noFill/>
                </a:ln>
                <a:solidFill>
                  <a:srgbClr val="FF0066"/>
                </a:solidFill>
                <a:effectLst/>
                <a:uLnTx/>
                <a:uFillTx/>
                <a:cs typeface="+mn-cs"/>
              </a:rPr>
              <a:t>立即数</a:t>
            </a:r>
            <a:endParaRPr kumimoji="0" lang="zh-CN" altLang="zh-CN" b="0" i="0" u="none" strike="noStrike" kern="1200" cap="none" spc="0" normalizeH="0" baseline="0" noProof="0" dirty="0">
              <a:ln>
                <a:noFill/>
              </a:ln>
              <a:solidFill>
                <a:srgbClr val="FF0066"/>
              </a:solidFill>
              <a:effectLst/>
              <a:uLnTx/>
              <a:uFillTx/>
              <a:cs typeface="+mn-cs"/>
            </a:endParaRPr>
          </a:p>
          <a:p>
            <a:pPr marL="533400" marR="0" lvl="1" indent="27178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defRPr/>
            </a:pPr>
            <a:r>
              <a:rPr kumimoji="0" lang="zh-CN" altLang="zh-CN" sz="2800" b="0" i="0" u="none" strike="noStrike" kern="1200" cap="none" spc="0" normalizeH="0" baseline="0" noProof="0" dirty="0">
                <a:ln>
                  <a:noFill/>
                </a:ln>
                <a:solidFill>
                  <a:srgbClr val="000000"/>
                </a:solidFill>
                <a:effectLst/>
                <a:uLnTx/>
                <a:uFillTx/>
                <a:latin typeface="+mn-ea"/>
                <a:cs typeface="+mn-cs"/>
              </a:rPr>
              <a:t>可以是8位数值（00H～FFH）</a:t>
            </a:r>
            <a:endParaRPr kumimoji="0" lang="zh-CN" altLang="zh-CN" sz="2800" b="0" i="0" u="none" strike="noStrike" kern="1200" cap="none" spc="0" normalizeH="0" baseline="0" noProof="0" dirty="0">
              <a:ln>
                <a:noFill/>
              </a:ln>
              <a:solidFill>
                <a:srgbClr val="000000"/>
              </a:solidFill>
              <a:effectLst/>
              <a:uLnTx/>
              <a:uFillTx/>
              <a:latin typeface="+mn-ea"/>
              <a:cs typeface="+mn-cs"/>
            </a:endParaRPr>
          </a:p>
          <a:p>
            <a:pPr marL="533400" marR="0" lvl="1" indent="27178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defRPr/>
            </a:pPr>
            <a:r>
              <a:rPr kumimoji="0" lang="zh-CN" altLang="zh-CN" sz="2800" b="0" i="0" u="none" strike="noStrike" kern="1200" cap="none" spc="0" normalizeH="0" baseline="0" noProof="0" dirty="0">
                <a:ln>
                  <a:noFill/>
                </a:ln>
                <a:solidFill>
                  <a:srgbClr val="000000"/>
                </a:solidFill>
                <a:effectLst/>
                <a:uLnTx/>
                <a:uFillTx/>
                <a:latin typeface="+mn-ea"/>
                <a:cs typeface="+mn-cs"/>
              </a:rPr>
              <a:t>也可以是16位数值（0000H～FFFFH）</a:t>
            </a:r>
            <a:endParaRPr kumimoji="0" lang="zh-CN" altLang="zh-CN" sz="2800" b="0" i="0" u="none" strike="noStrike" kern="1200" cap="none" spc="0" normalizeH="0" baseline="0" noProof="0" dirty="0">
              <a:ln>
                <a:noFill/>
              </a:ln>
              <a:solidFill>
                <a:srgbClr val="000000"/>
              </a:solidFill>
              <a:effectLst/>
              <a:uLnTx/>
              <a:uFillTx/>
              <a:latin typeface="+mn-ea"/>
              <a:cs typeface="+mn-cs"/>
            </a:endParaRPr>
          </a:p>
          <a:p>
            <a:pPr marL="0" marR="0" lvl="0" indent="0" algn="just" defTabSz="914400" rtl="0" eaLnBrk="1" fontAlgn="base" latinLnBrk="0" hangingPunct="1">
              <a:lnSpc>
                <a:spcPct val="100000"/>
              </a:lnSpc>
              <a:spcBef>
                <a:spcPct val="20000"/>
              </a:spcBef>
              <a:spcAft>
                <a:spcPct val="0"/>
              </a:spcAft>
              <a:buClr>
                <a:srgbClr val="3333CC"/>
              </a:buClr>
              <a:buSzPct val="60000"/>
              <a:buNone/>
              <a:defRPr/>
            </a:pPr>
            <a:r>
              <a:rPr kumimoji="0" lang="en-US" altLang="zh-CN" b="0" i="0" u="none" strike="noStrike" kern="1200" cap="none" spc="0" normalizeH="0" baseline="0" noProof="0" dirty="0">
                <a:ln>
                  <a:noFill/>
                </a:ln>
                <a:solidFill>
                  <a:srgbClr val="000000"/>
                </a:solidFill>
                <a:effectLst/>
                <a:uLnTx/>
                <a:uFillTx/>
                <a:cs typeface="+mn-cs"/>
              </a:rPr>
              <a:t>          </a:t>
            </a:r>
            <a:r>
              <a:rPr kumimoji="0" lang="zh-CN" altLang="zh-CN" b="0" i="0" u="none" strike="noStrike" kern="1200" cap="none" spc="0" normalizeH="0" baseline="0" noProof="0" dirty="0">
                <a:ln>
                  <a:noFill/>
                </a:ln>
                <a:solidFill>
                  <a:srgbClr val="000000"/>
                </a:solidFill>
                <a:effectLst/>
                <a:uLnTx/>
                <a:uFillTx/>
                <a:cs typeface="+mn-cs"/>
              </a:rPr>
              <a:t>MOV AL，80H；将80H送入AL </a:t>
            </a:r>
            <a:endParaRPr kumimoji="0" lang="zh-CN" altLang="zh-CN" b="0" i="0" u="none" strike="noStrike" kern="1200" cap="none" spc="0" normalizeH="0" baseline="0" noProof="0" dirty="0">
              <a:ln>
                <a:noFill/>
              </a:ln>
              <a:solidFill>
                <a:srgbClr val="000000"/>
              </a:solidFill>
              <a:effectLst/>
              <a:uLnTx/>
              <a:uFillTx/>
              <a:cs typeface="+mn-cs"/>
            </a:endParaRPr>
          </a:p>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zh-CN" b="0" i="0" u="none" strike="noStrike" kern="1200" cap="none" spc="0" normalizeH="0" baseline="0" noProof="0" dirty="0">
                <a:ln>
                  <a:noFill/>
                </a:ln>
                <a:solidFill>
                  <a:srgbClr val="000000"/>
                </a:solidFill>
                <a:effectLst/>
                <a:uLnTx/>
                <a:uFillTx/>
                <a:cs typeface="+mn-cs"/>
              </a:rPr>
              <a:t>  </a:t>
            </a:r>
            <a:r>
              <a:rPr kumimoji="0" lang="en-US" altLang="zh-CN" b="0" i="0" u="none" strike="noStrike" kern="1200" cap="none" spc="0" normalizeH="0" baseline="0" noProof="0" dirty="0">
                <a:ln>
                  <a:noFill/>
                </a:ln>
                <a:solidFill>
                  <a:srgbClr val="000000"/>
                </a:solidFill>
                <a:effectLst/>
                <a:uLnTx/>
                <a:uFillTx/>
                <a:cs typeface="+mn-cs"/>
              </a:rPr>
              <a:t>        </a:t>
            </a:r>
            <a:r>
              <a:rPr kumimoji="0" lang="zh-CN" altLang="zh-CN" b="0" i="0" u="none" strike="noStrike" kern="1200" cap="none" spc="0" normalizeH="0" baseline="0" noProof="0" dirty="0">
                <a:ln>
                  <a:noFill/>
                </a:ln>
                <a:solidFill>
                  <a:srgbClr val="000000"/>
                </a:solidFill>
                <a:effectLst/>
                <a:uLnTx/>
                <a:uFillTx/>
                <a:cs typeface="+mn-cs"/>
              </a:rPr>
              <a:t>MOV AX，306AH；将306AH送入AX</a:t>
            </a:r>
            <a:endParaRPr kumimoji="0" lang="zh-CN" altLang="zh-CN" b="0" i="0" u="none" strike="noStrike" kern="1200" cap="none" spc="0" normalizeH="0" baseline="0" noProof="0" dirty="0">
              <a:ln>
                <a:noFill/>
              </a:ln>
              <a:solidFill>
                <a:srgbClr val="000000"/>
              </a:solidFill>
              <a:effectLst/>
              <a:uLnTx/>
              <a:uFillTx/>
              <a:cs typeface="+mn-cs"/>
            </a:endParaRPr>
          </a:p>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Ø"/>
              <a:defRPr/>
            </a:pPr>
            <a:r>
              <a:rPr kumimoji="0" lang="zh-CN" altLang="zh-CN" b="0" i="0" u="none" strike="noStrike" kern="1200" cap="none" spc="0" normalizeH="0" baseline="0" noProof="0" dirty="0">
                <a:ln>
                  <a:noFill/>
                </a:ln>
                <a:solidFill>
                  <a:srgbClr val="000000"/>
                </a:solidFill>
                <a:effectLst/>
                <a:uLnTx/>
                <a:uFillTx/>
                <a:cs typeface="+mn-cs"/>
              </a:rPr>
              <a:t>立即数寻址方式常用来给寄存器和存储单元赋值。</a:t>
            </a:r>
            <a:endParaRPr kumimoji="0" lang="zh-CN" altLang="zh-CN" b="0" i="0" u="none" strike="noStrike" kern="1200" cap="none" spc="0" normalizeH="0" baseline="0" noProof="0" dirty="0">
              <a:ln>
                <a:noFill/>
              </a:ln>
              <a:solidFill>
                <a:srgbClr val="000000"/>
              </a:solidFill>
              <a:effectLst/>
              <a:uLnTx/>
              <a:uFillTx/>
              <a:cs typeface="+mn-cs"/>
            </a:endParaRPr>
          </a:p>
          <a:p>
            <a:pPr marL="342900" marR="0" lvl="0" indent="-342900" algn="just"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Ø"/>
              <a:defRPr/>
            </a:pPr>
            <a:r>
              <a:rPr kumimoji="0" lang="zh-CN" altLang="en-US" b="0" i="0" u="none" strike="noStrike" kern="1200" cap="none" spc="0" normalizeH="0" baseline="0" noProof="0" dirty="0">
                <a:ln>
                  <a:noFill/>
                </a:ln>
                <a:solidFill>
                  <a:srgbClr val="000000"/>
                </a:solidFill>
                <a:effectLst/>
                <a:uLnTx/>
                <a:uFillTx/>
                <a:cs typeface="+mn-cs"/>
              </a:rPr>
              <a:t>立即数作为操作数，这个操作数的寻址方式称为立即寻址，其实它不用寻址。立即数操作数只能作源操作数，不能作为目的操作数。</a:t>
            </a:r>
            <a:r>
              <a:rPr kumimoji="0" lang="zh-CN" altLang="zh-CN" b="0" i="0" u="none" strike="noStrike" kern="1200" cap="none" spc="0" normalizeH="0" baseline="0" noProof="0" dirty="0">
                <a:ln>
                  <a:noFill/>
                </a:ln>
                <a:solidFill>
                  <a:srgbClr val="000000"/>
                </a:solidFill>
                <a:effectLst/>
                <a:uLnTx/>
                <a:uFillTx/>
                <a:cs typeface="+mn-cs"/>
              </a:rPr>
              <a:t>。</a:t>
            </a:r>
            <a:endParaRPr kumimoji="0" lang="zh-CN" altLang="zh-CN" b="0" i="0" u="none" strike="noStrike" kern="1200" cap="none" spc="0" normalizeH="0" baseline="0" noProof="0" dirty="0">
              <a:ln>
                <a:noFill/>
              </a:ln>
              <a:solidFill>
                <a:srgbClr val="000000"/>
              </a:solidFill>
              <a:effectLst/>
              <a:uLnTx/>
              <a:uFillTx/>
              <a:cs typeface="+mn-cs"/>
            </a:endParaRPr>
          </a:p>
          <a:p>
            <a:endParaRPr lang="zh-CN" altLang="en-US" dirty="0"/>
          </a:p>
        </p:txBody>
      </p:sp>
      <p:sp>
        <p:nvSpPr>
          <p:cNvPr id="4" name="日期占位符 3"/>
          <p:cNvSpPr>
            <a:spLocks noGrp="1"/>
          </p:cNvSpPr>
          <p:nvPr>
            <p:ph type="dt" sz="half" idx="10"/>
          </p:nvPr>
        </p:nvSpPr>
        <p:spPr/>
        <p:txBody>
          <a:bodyPr/>
          <a:lstStyle/>
          <a:p>
            <a:pPr>
              <a:defRPr/>
            </a:pPr>
            <a:fld id="{E3936503-D6E0-4C98-B1AC-123B5FCCAF71}"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寄存器寻址</a:t>
            </a:r>
            <a:endParaRPr lang="zh-CN" altLang="en-US" dirty="0"/>
          </a:p>
        </p:txBody>
      </p:sp>
      <p:sp>
        <p:nvSpPr>
          <p:cNvPr id="3" name="内容占位符 2"/>
          <p:cNvSpPr>
            <a:spLocks noGrp="1"/>
          </p:cNvSpPr>
          <p:nvPr>
            <p:ph idx="1"/>
          </p:nvPr>
        </p:nvSpPr>
        <p:spPr/>
        <p:txBody>
          <a:bodyPr>
            <a:normAutofit/>
          </a:bodyPr>
          <a:lstStyle/>
          <a:p>
            <a:pPr>
              <a:lnSpc>
                <a:spcPct val="90000"/>
              </a:lnSpc>
              <a:buFont typeface="Wingdings" panose="05000000000000000000" pitchFamily="2" charset="2"/>
              <a:buChar char="Ø"/>
            </a:pPr>
            <a:r>
              <a:rPr lang="zh-CN" altLang="zh-CN" b="0" dirty="0"/>
              <a:t>操作数在CPU的内部寄存器中：</a:t>
            </a:r>
            <a:endParaRPr lang="zh-CN" altLang="zh-CN" b="0" dirty="0"/>
          </a:p>
          <a:p>
            <a:pPr lvl="1">
              <a:lnSpc>
                <a:spcPct val="90000"/>
              </a:lnSpc>
            </a:pPr>
            <a:r>
              <a:rPr lang="zh-CN" altLang="zh-CN" sz="2800" b="0" dirty="0">
                <a:latin typeface="+mn-ea"/>
              </a:rPr>
              <a:t>8位寄存器：AH、AL、BH、BL、CH、CL、DH、DL</a:t>
            </a:r>
            <a:endParaRPr lang="zh-CN" altLang="zh-CN" sz="2800" b="0" dirty="0">
              <a:latin typeface="+mn-ea"/>
            </a:endParaRPr>
          </a:p>
          <a:p>
            <a:pPr lvl="1">
              <a:lnSpc>
                <a:spcPct val="90000"/>
              </a:lnSpc>
            </a:pPr>
            <a:r>
              <a:rPr lang="zh-CN" altLang="zh-CN" sz="2800" b="0" dirty="0">
                <a:latin typeface="+mn-ea"/>
              </a:rPr>
              <a:t>16位寄存器：AX、BX、CX、DX、SI、DI、BP、SP</a:t>
            </a:r>
            <a:endParaRPr lang="zh-CN" altLang="zh-CN" sz="2800" b="0" dirty="0">
              <a:latin typeface="+mn-ea"/>
            </a:endParaRPr>
          </a:p>
          <a:p>
            <a:pPr lvl="1">
              <a:lnSpc>
                <a:spcPct val="90000"/>
              </a:lnSpc>
            </a:pPr>
            <a:r>
              <a:rPr lang="zh-CN" altLang="zh-CN" sz="2800" b="0" dirty="0">
                <a:latin typeface="+mn-ea"/>
              </a:rPr>
              <a:t>4个段寄存器：CS、DS、SS、ES</a:t>
            </a:r>
            <a:endParaRPr lang="zh-CN" altLang="zh-CN" sz="2800" b="0" dirty="0">
              <a:latin typeface="+mn-ea"/>
            </a:endParaRPr>
          </a:p>
          <a:p>
            <a:pPr>
              <a:lnSpc>
                <a:spcPct val="90000"/>
              </a:lnSpc>
              <a:buFont typeface="Wingdings" panose="05000000000000000000" pitchFamily="2" charset="2"/>
              <a:buChar char="Ø"/>
            </a:pPr>
            <a:r>
              <a:rPr lang="zh-CN" altLang="zh-CN" b="0" dirty="0"/>
              <a:t>MOV  AL，BL；</a:t>
            </a:r>
            <a:r>
              <a:rPr lang="zh-CN" altLang="en-US" b="0" dirty="0">
                <a:solidFill>
                  <a:srgbClr val="FF0000"/>
                </a:solidFill>
              </a:rPr>
              <a:t>√ </a:t>
            </a:r>
            <a:r>
              <a:rPr lang="zh-CN" altLang="zh-CN" b="0" dirty="0"/>
              <a:t>将BL的内容传送到AL中</a:t>
            </a:r>
            <a:endParaRPr lang="zh-CN" altLang="zh-CN" b="0" dirty="0"/>
          </a:p>
          <a:p>
            <a:pPr>
              <a:lnSpc>
                <a:spcPct val="90000"/>
              </a:lnSpc>
              <a:buFont typeface="Wingdings" panose="05000000000000000000" pitchFamily="2" charset="2"/>
              <a:buNone/>
            </a:pPr>
            <a:r>
              <a:rPr lang="zh-CN" altLang="zh-CN" b="0" dirty="0"/>
              <a:t>  MOV  BX，AX；</a:t>
            </a:r>
            <a:r>
              <a:rPr lang="zh-CN" altLang="en-US" b="0" dirty="0">
                <a:solidFill>
                  <a:srgbClr val="FF0000"/>
                </a:solidFill>
              </a:rPr>
              <a:t>√ </a:t>
            </a:r>
            <a:r>
              <a:rPr lang="zh-CN" altLang="zh-CN" b="0" dirty="0"/>
              <a:t>将AX的内容传送到BX中</a:t>
            </a:r>
            <a:endParaRPr lang="en-US" altLang="zh-CN" b="0" dirty="0"/>
          </a:p>
          <a:p>
            <a:pPr>
              <a:lnSpc>
                <a:spcPct val="90000"/>
              </a:lnSpc>
              <a:buFont typeface="Wingdings" panose="05000000000000000000" pitchFamily="2" charset="2"/>
              <a:buNone/>
            </a:pPr>
            <a:r>
              <a:rPr lang="en-US" altLang="zh-CN" b="0" dirty="0"/>
              <a:t>  MOV  AL</a:t>
            </a:r>
            <a:r>
              <a:rPr lang="zh-CN" altLang="en-US" b="0" dirty="0"/>
              <a:t>，</a:t>
            </a:r>
            <a:r>
              <a:rPr lang="en-US" altLang="zh-CN" b="0" dirty="0"/>
              <a:t>BX</a:t>
            </a:r>
            <a:r>
              <a:rPr lang="zh-CN" altLang="en-US" b="0" dirty="0"/>
              <a:t>；</a:t>
            </a:r>
            <a:r>
              <a:rPr lang="en-US" altLang="zh-CN" b="0" dirty="0">
                <a:solidFill>
                  <a:srgbClr val="FF0000"/>
                </a:solidFill>
              </a:rPr>
              <a:t>×</a:t>
            </a:r>
            <a:endParaRPr lang="zh-CN" altLang="zh-CN" b="0" dirty="0">
              <a:solidFill>
                <a:srgbClr val="FF0000"/>
              </a:solidFill>
            </a:endParaRPr>
          </a:p>
          <a:p>
            <a:endParaRPr lang="zh-CN" altLang="en-US" dirty="0"/>
          </a:p>
        </p:txBody>
      </p:sp>
      <p:sp>
        <p:nvSpPr>
          <p:cNvPr id="4" name="日期占位符 3"/>
          <p:cNvSpPr>
            <a:spLocks noGrp="1"/>
          </p:cNvSpPr>
          <p:nvPr>
            <p:ph type="dt" sz="half" idx="10"/>
          </p:nvPr>
        </p:nvSpPr>
        <p:spPr/>
        <p:txBody>
          <a:bodyPr/>
          <a:lstStyle/>
          <a:p>
            <a:pPr>
              <a:defRPr/>
            </a:pPr>
            <a:fld id="{FEAE1F87-4015-4C57-BAD2-D6323EAF4626}"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直接寻址</a:t>
            </a:r>
            <a:endParaRPr lang="zh-CN" altLang="en-US" dirty="0"/>
          </a:p>
        </p:txBody>
      </p:sp>
      <p:sp>
        <p:nvSpPr>
          <p:cNvPr id="3" name="内容占位符 2"/>
          <p:cNvSpPr>
            <a:spLocks noGrp="1"/>
          </p:cNvSpPr>
          <p:nvPr>
            <p:ph idx="1"/>
          </p:nvPr>
        </p:nvSpPr>
        <p:spPr/>
        <p:txBody>
          <a:bodyPr>
            <a:normAutofit lnSpcReduction="10000"/>
          </a:bodyPr>
          <a:lstStyle/>
          <a:p>
            <a:pPr>
              <a:lnSpc>
                <a:spcPct val="90000"/>
              </a:lnSpc>
            </a:pPr>
            <a:r>
              <a:rPr lang="zh-CN" altLang="en-US" sz="2800" dirty="0"/>
              <a:t>操作数在内存中，指令中直接给出操作数所在的内存单元的偏移地址。可以是数值形式的地址，也可以用符号表示。用符号表示的地址称为符号地址。</a:t>
            </a:r>
            <a:endParaRPr lang="en-US" altLang="zh-CN" sz="2800" dirty="0"/>
          </a:p>
          <a:p>
            <a:pPr marL="0" indent="0">
              <a:lnSpc>
                <a:spcPct val="90000"/>
              </a:lnSpc>
              <a:buNone/>
            </a:pPr>
            <a:r>
              <a:rPr lang="zh-CN" altLang="en-US" sz="2800" dirty="0"/>
              <a:t>  例如：</a:t>
            </a:r>
            <a:endParaRPr lang="en-US" altLang="zh-CN" sz="2800" dirty="0"/>
          </a:p>
          <a:p>
            <a:pPr marL="0" indent="0">
              <a:lnSpc>
                <a:spcPct val="90000"/>
              </a:lnSpc>
              <a:buNone/>
            </a:pPr>
            <a:r>
              <a:rPr lang="en-US" altLang="zh-CN" dirty="0"/>
              <a:t>          </a:t>
            </a:r>
            <a:r>
              <a:rPr lang="en-US" altLang="zh-CN" sz="2800" dirty="0"/>
              <a:t>MOV AX</a:t>
            </a:r>
            <a:r>
              <a:rPr lang="zh-CN" altLang="en-US" sz="2800" dirty="0"/>
              <a:t>，</a:t>
            </a:r>
            <a:r>
              <a:rPr lang="en-US" altLang="zh-CN" sz="2800" dirty="0"/>
              <a:t>[1000H]</a:t>
            </a:r>
            <a:endParaRPr lang="en-US" altLang="zh-CN" sz="2800" dirty="0"/>
          </a:p>
          <a:p>
            <a:pPr>
              <a:lnSpc>
                <a:spcPct val="90000"/>
              </a:lnSpc>
            </a:pPr>
            <a:r>
              <a:rPr lang="zh-CN" altLang="zh-CN" sz="2800" b="0" dirty="0">
                <a:solidFill>
                  <a:srgbClr val="FF0066"/>
                </a:solidFill>
              </a:rPr>
              <a:t>默认的</a:t>
            </a:r>
            <a:r>
              <a:rPr lang="zh-CN" altLang="zh-CN" sz="2800" b="0" dirty="0"/>
              <a:t>段基址在DS段寄存器，可使用</a:t>
            </a:r>
            <a:r>
              <a:rPr lang="zh-CN" altLang="zh-CN" sz="2800" b="0" dirty="0">
                <a:solidFill>
                  <a:srgbClr val="FF0066"/>
                </a:solidFill>
              </a:rPr>
              <a:t>段前缀</a:t>
            </a:r>
            <a:r>
              <a:rPr lang="zh-CN" altLang="zh-CN" sz="2800" b="0" dirty="0"/>
              <a:t>改变。</a:t>
            </a:r>
            <a:endParaRPr lang="zh-CN" altLang="zh-CN" sz="2800" b="0" dirty="0"/>
          </a:p>
          <a:p>
            <a:pPr>
              <a:lnSpc>
                <a:spcPct val="90000"/>
              </a:lnSpc>
            </a:pPr>
            <a:r>
              <a:rPr lang="zh-CN" altLang="zh-CN" sz="2800" b="0" dirty="0"/>
              <a:t>如果</a:t>
            </a:r>
            <a:r>
              <a:rPr lang="zh-CN" altLang="en-US" sz="2800" b="0" dirty="0"/>
              <a:t>偏移地址</a:t>
            </a:r>
            <a:r>
              <a:rPr lang="zh-CN" altLang="zh-CN" sz="2800" b="0" dirty="0"/>
              <a:t>是以符号地址形式提供，则可不加方括号。</a:t>
            </a:r>
            <a:endParaRPr lang="zh-CN" altLang="zh-CN" sz="2800" b="0" dirty="0"/>
          </a:p>
          <a:p>
            <a:pPr marL="0" indent="0">
              <a:lnSpc>
                <a:spcPct val="90000"/>
              </a:lnSpc>
              <a:buFont typeface="Wingdings" panose="05000000000000000000" pitchFamily="2" charset="2"/>
              <a:buNone/>
            </a:pPr>
            <a:r>
              <a:rPr lang="zh-CN" altLang="zh-CN" sz="2800" b="0" dirty="0"/>
              <a:t> </a:t>
            </a:r>
            <a:r>
              <a:rPr lang="en-US" altLang="zh-CN" sz="2800" b="0" dirty="0"/>
              <a:t>       </a:t>
            </a:r>
            <a:r>
              <a:rPr lang="zh-CN" altLang="zh-CN" sz="2800" b="0" dirty="0"/>
              <a:t>MOV AX，BUFA；</a:t>
            </a:r>
            <a:r>
              <a:rPr lang="zh-CN" altLang="en-US" sz="2800" b="0" dirty="0"/>
              <a:t>默认为</a:t>
            </a:r>
            <a:r>
              <a:rPr lang="en-US" altLang="zh-CN" sz="2800" b="0" dirty="0"/>
              <a:t>DS</a:t>
            </a:r>
            <a:r>
              <a:rPr lang="zh-CN" altLang="en-US" sz="2800" b="0" dirty="0"/>
              <a:t>数据段</a:t>
            </a:r>
            <a:endParaRPr lang="zh-CN" altLang="zh-CN" sz="2800" b="0" dirty="0"/>
          </a:p>
          <a:p>
            <a:pPr marL="0" indent="0">
              <a:lnSpc>
                <a:spcPct val="90000"/>
              </a:lnSpc>
              <a:buFont typeface="Wingdings" panose="05000000000000000000" pitchFamily="2" charset="2"/>
              <a:buNone/>
            </a:pPr>
            <a:r>
              <a:rPr lang="zh-CN" altLang="zh-CN" sz="2800" b="0" dirty="0"/>
              <a:t>  </a:t>
            </a:r>
            <a:r>
              <a:rPr lang="en-US" altLang="zh-CN" sz="2800" b="0" dirty="0"/>
              <a:t>      </a:t>
            </a:r>
            <a:r>
              <a:rPr lang="zh-CN" altLang="zh-CN" sz="2800" b="0" dirty="0"/>
              <a:t>MOV AX，ES:BUFA</a:t>
            </a:r>
            <a:r>
              <a:rPr lang="zh-CN" altLang="en-US" sz="2800" b="0" dirty="0"/>
              <a:t>；加跨段前缀，</a:t>
            </a:r>
            <a:r>
              <a:rPr lang="en-US" altLang="zh-CN" sz="2800" b="0" dirty="0"/>
              <a:t>BUFA</a:t>
            </a:r>
            <a:r>
              <a:rPr lang="zh-CN" altLang="en-US" sz="2800" b="0" dirty="0"/>
              <a:t>变量在附加段中</a:t>
            </a:r>
            <a:endParaRPr lang="zh-CN" altLang="zh-CN" sz="2800" b="0" dirty="0"/>
          </a:p>
          <a:p>
            <a:endParaRPr lang="zh-CN" altLang="en-US" dirty="0"/>
          </a:p>
        </p:txBody>
      </p:sp>
      <p:sp>
        <p:nvSpPr>
          <p:cNvPr id="4" name="日期占位符 3"/>
          <p:cNvSpPr>
            <a:spLocks noGrp="1"/>
          </p:cNvSpPr>
          <p:nvPr>
            <p:ph type="dt" sz="half" idx="10"/>
          </p:nvPr>
        </p:nvSpPr>
        <p:spPr/>
        <p:txBody>
          <a:bodyPr/>
          <a:lstStyle/>
          <a:p>
            <a:pPr>
              <a:defRPr/>
            </a:pPr>
            <a:fld id="{FA8C0451-733E-41A3-B389-E3C0550C018A}"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例子</a:t>
            </a:r>
            <a:endParaRPr lang="zh-CN" altLang="en-US" dirty="0"/>
          </a:p>
        </p:txBody>
      </p:sp>
      <p:sp>
        <p:nvSpPr>
          <p:cNvPr id="5" name="Text Box 11"/>
          <p:cNvSpPr txBox="1">
            <a:spLocks noGrp="1" noChangeArrowheads="1"/>
          </p:cNvSpPr>
          <p:nvPr>
            <p:ph idx="1"/>
          </p:nvPr>
        </p:nvSpPr>
        <p:spPr bwMode="auto">
          <a:xfrm>
            <a:off x="838200" y="1631963"/>
            <a:ext cx="10515600" cy="1082348"/>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zh-CN" dirty="0">
                <a:latin typeface="Times New Roman" panose="02020603050405020304" pitchFamily="18" charset="0"/>
              </a:rPr>
              <a:t>已知： (DS)=2000H ，(21000H)=12H， (21001H)=34H。</a:t>
            </a:r>
            <a:endParaRPr lang="zh-CN" altLang="zh-CN" dirty="0">
              <a:latin typeface="Times New Roman" panose="02020603050405020304" pitchFamily="18" charset="0"/>
            </a:endParaRPr>
          </a:p>
          <a:p>
            <a:pPr marL="0" indent="0">
              <a:lnSpc>
                <a:spcPct val="100000"/>
              </a:lnSpc>
              <a:buNone/>
            </a:pPr>
            <a:r>
              <a:rPr lang="en-US" altLang="zh-CN" dirty="0">
                <a:latin typeface="Times New Roman" panose="02020603050405020304" pitchFamily="18" charset="0"/>
              </a:rPr>
              <a:t>   </a:t>
            </a:r>
            <a:r>
              <a:rPr lang="zh-CN" altLang="zh-CN" dirty="0">
                <a:latin typeface="Times New Roman" panose="02020603050405020304" pitchFamily="18" charset="0"/>
              </a:rPr>
              <a:t>试给出指令</a:t>
            </a:r>
            <a:r>
              <a:rPr lang="zh-CN" altLang="zh-CN" dirty="0"/>
              <a:t> </a:t>
            </a:r>
            <a:r>
              <a:rPr lang="zh-CN" altLang="zh-CN" dirty="0">
                <a:latin typeface="Times New Roman" panose="02020603050405020304" pitchFamily="18" charset="0"/>
              </a:rPr>
              <a:t>MOV AX，[1000H]执行后AX的内容。</a:t>
            </a:r>
            <a:endParaRPr lang="zh-CN" altLang="zh-CN" dirty="0">
              <a:latin typeface="Times New Roman" panose="02020603050405020304" pitchFamily="18" charset="0"/>
            </a:endParaRPr>
          </a:p>
        </p:txBody>
      </p:sp>
      <p:grpSp>
        <p:nvGrpSpPr>
          <p:cNvPr id="6" name="Group 3"/>
          <p:cNvGrpSpPr/>
          <p:nvPr/>
        </p:nvGrpSpPr>
        <p:grpSpPr bwMode="auto">
          <a:xfrm>
            <a:off x="1090981" y="3119123"/>
            <a:ext cx="4948237" cy="471488"/>
            <a:chOff x="0" y="0"/>
            <a:chExt cx="3117" cy="297"/>
          </a:xfrm>
        </p:grpSpPr>
        <p:sp>
          <p:nvSpPr>
            <p:cNvPr id="7" name="Text Box 4"/>
            <p:cNvSpPr txBox="1">
              <a:spLocks noChangeArrowheads="1"/>
            </p:cNvSpPr>
            <p:nvPr/>
          </p:nvSpPr>
          <p:spPr bwMode="auto">
            <a:xfrm>
              <a:off x="0" y="0"/>
              <a:ext cx="1420" cy="290"/>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段基址：2000H</a:t>
              </a:r>
              <a:endParaRPr lang="zh-CN" altLang="zh-CN">
                <a:latin typeface="Times New Roman" panose="02020603050405020304" pitchFamily="18" charset="0"/>
              </a:endParaRPr>
            </a:p>
          </p:txBody>
        </p:sp>
        <p:sp>
          <p:nvSpPr>
            <p:cNvPr id="8" name="Text Box 5"/>
            <p:cNvSpPr txBox="1">
              <a:spLocks noChangeArrowheads="1"/>
            </p:cNvSpPr>
            <p:nvPr/>
          </p:nvSpPr>
          <p:spPr bwMode="auto">
            <a:xfrm>
              <a:off x="1471" y="7"/>
              <a:ext cx="1646" cy="290"/>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dirty="0">
                  <a:latin typeface="Times New Roman" panose="02020603050405020304" pitchFamily="18" charset="0"/>
                </a:rPr>
                <a:t>有效地址：1000H</a:t>
              </a:r>
              <a:endParaRPr lang="zh-CN" altLang="zh-CN" dirty="0">
                <a:latin typeface="Times New Roman" panose="02020603050405020304" pitchFamily="18" charset="0"/>
              </a:endParaRPr>
            </a:p>
          </p:txBody>
        </p:sp>
      </p:grpSp>
      <p:sp>
        <p:nvSpPr>
          <p:cNvPr id="9" name="Text Box 6"/>
          <p:cNvSpPr txBox="1">
            <a:spLocks noChangeArrowheads="1"/>
          </p:cNvSpPr>
          <p:nvPr/>
        </p:nvSpPr>
        <p:spPr bwMode="auto">
          <a:xfrm>
            <a:off x="2051418" y="4478023"/>
            <a:ext cx="2711450" cy="460375"/>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物理地址：21000H</a:t>
            </a:r>
            <a:endParaRPr lang="zh-CN" altLang="zh-CN">
              <a:latin typeface="Times New Roman" panose="02020603050405020304" pitchFamily="18" charset="0"/>
            </a:endParaRPr>
          </a:p>
        </p:txBody>
      </p:sp>
      <p:sp>
        <p:nvSpPr>
          <p:cNvPr id="10" name="AutoShape 7"/>
          <p:cNvSpPr/>
          <p:nvPr/>
        </p:nvSpPr>
        <p:spPr bwMode="auto">
          <a:xfrm>
            <a:off x="8556993" y="4589148"/>
            <a:ext cx="152400" cy="609600"/>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1" name="AutoShape 8"/>
          <p:cNvSpPr>
            <a:spLocks noChangeArrowheads="1"/>
          </p:cNvSpPr>
          <p:nvPr/>
        </p:nvSpPr>
        <p:spPr bwMode="auto">
          <a:xfrm>
            <a:off x="4920031" y="4676461"/>
            <a:ext cx="1384300" cy="131762"/>
          </a:xfrm>
          <a:prstGeom prst="rightArrow">
            <a:avLst>
              <a:gd name="adj1" fmla="val 50000"/>
              <a:gd name="adj2" fmla="val 262652"/>
            </a:avLst>
          </a:prstGeom>
          <a:solidFill>
            <a:schemeClr val="hlink"/>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2" name="AutoShape 9"/>
          <p:cNvSpPr>
            <a:spLocks noChangeArrowheads="1"/>
          </p:cNvSpPr>
          <p:nvPr/>
        </p:nvSpPr>
        <p:spPr bwMode="auto">
          <a:xfrm>
            <a:off x="8795118" y="4859023"/>
            <a:ext cx="566738" cy="77788"/>
          </a:xfrm>
          <a:prstGeom prst="rightArrow">
            <a:avLst>
              <a:gd name="adj1" fmla="val 50000"/>
              <a:gd name="adj2" fmla="val 182142"/>
            </a:avLst>
          </a:prstGeom>
          <a:solidFill>
            <a:schemeClr val="hlink"/>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3" name="Text Box 10"/>
          <p:cNvSpPr txBox="1">
            <a:spLocks noChangeArrowheads="1"/>
          </p:cNvSpPr>
          <p:nvPr/>
        </p:nvSpPr>
        <p:spPr bwMode="auto">
          <a:xfrm>
            <a:off x="9341218" y="4671698"/>
            <a:ext cx="64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AX</a:t>
            </a:r>
            <a:endParaRPr lang="zh-CN" altLang="zh-CN">
              <a:latin typeface="Times New Roman" panose="02020603050405020304" pitchFamily="18" charset="0"/>
            </a:endParaRPr>
          </a:p>
        </p:txBody>
      </p:sp>
      <p:sp>
        <p:nvSpPr>
          <p:cNvPr id="14" name="Rectangle 12"/>
          <p:cNvSpPr>
            <a:spLocks noChangeArrowheads="1"/>
          </p:cNvSpPr>
          <p:nvPr/>
        </p:nvSpPr>
        <p:spPr bwMode="auto">
          <a:xfrm>
            <a:off x="7393356" y="3152461"/>
            <a:ext cx="1055687" cy="3038475"/>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5" name="Line 13"/>
          <p:cNvSpPr>
            <a:spLocks noChangeShapeType="1"/>
          </p:cNvSpPr>
          <p:nvPr/>
        </p:nvSpPr>
        <p:spPr bwMode="auto">
          <a:xfrm>
            <a:off x="7391768" y="3490598"/>
            <a:ext cx="1046163"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4"/>
          <p:cNvSpPr>
            <a:spLocks noChangeShapeType="1"/>
          </p:cNvSpPr>
          <p:nvPr/>
        </p:nvSpPr>
        <p:spPr bwMode="auto">
          <a:xfrm>
            <a:off x="7396531" y="3828736"/>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5"/>
          <p:cNvSpPr>
            <a:spLocks noChangeShapeType="1"/>
          </p:cNvSpPr>
          <p:nvPr/>
        </p:nvSpPr>
        <p:spPr bwMode="auto">
          <a:xfrm>
            <a:off x="7396531" y="4495486"/>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6"/>
          <p:cNvSpPr>
            <a:spLocks noChangeShapeType="1"/>
          </p:cNvSpPr>
          <p:nvPr/>
        </p:nvSpPr>
        <p:spPr bwMode="auto">
          <a:xfrm>
            <a:off x="7396531" y="5828986"/>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7"/>
          <p:cNvSpPr>
            <a:spLocks noChangeShapeType="1"/>
          </p:cNvSpPr>
          <p:nvPr/>
        </p:nvSpPr>
        <p:spPr bwMode="auto">
          <a:xfrm>
            <a:off x="7396531" y="5262248"/>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8"/>
          <p:cNvSpPr>
            <a:spLocks noChangeShapeType="1"/>
          </p:cNvSpPr>
          <p:nvPr/>
        </p:nvSpPr>
        <p:spPr bwMode="auto">
          <a:xfrm>
            <a:off x="7396531" y="4884423"/>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19"/>
          <p:cNvSpPr txBox="1">
            <a:spLocks noChangeArrowheads="1"/>
          </p:cNvSpPr>
          <p:nvPr/>
        </p:nvSpPr>
        <p:spPr bwMode="auto">
          <a:xfrm>
            <a:off x="6240831" y="3106423"/>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20000H</a:t>
            </a:r>
            <a:endParaRPr lang="zh-CN" altLang="zh-CN">
              <a:latin typeface="Times New Roman" panose="02020603050405020304" pitchFamily="18" charset="0"/>
            </a:endParaRPr>
          </a:p>
        </p:txBody>
      </p:sp>
      <p:sp>
        <p:nvSpPr>
          <p:cNvPr id="22" name="Text Box 20"/>
          <p:cNvSpPr txBox="1">
            <a:spLocks noChangeArrowheads="1"/>
          </p:cNvSpPr>
          <p:nvPr/>
        </p:nvSpPr>
        <p:spPr bwMode="auto">
          <a:xfrm>
            <a:off x="7326681" y="2707961"/>
            <a:ext cx="1100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数据段</a:t>
            </a:r>
            <a:endParaRPr lang="zh-CN" altLang="zh-CN">
              <a:solidFill>
                <a:srgbClr val="FF0066"/>
              </a:solidFill>
              <a:latin typeface="Times New Roman" panose="02020603050405020304" pitchFamily="18" charset="0"/>
            </a:endParaRPr>
          </a:p>
        </p:txBody>
      </p:sp>
      <p:sp>
        <p:nvSpPr>
          <p:cNvPr id="23" name="Text Box 21"/>
          <p:cNvSpPr txBox="1">
            <a:spLocks noChangeArrowheads="1"/>
          </p:cNvSpPr>
          <p:nvPr/>
        </p:nvSpPr>
        <p:spPr bwMode="auto">
          <a:xfrm>
            <a:off x="6163043" y="5760723"/>
            <a:ext cx="1284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2FFFFH</a:t>
            </a:r>
            <a:endParaRPr lang="zh-CN" altLang="zh-CN">
              <a:latin typeface="Times New Roman" panose="02020603050405020304" pitchFamily="18" charset="0"/>
            </a:endParaRPr>
          </a:p>
        </p:txBody>
      </p:sp>
      <p:sp>
        <p:nvSpPr>
          <p:cNvPr id="24" name="Line 22"/>
          <p:cNvSpPr>
            <a:spLocks noChangeShapeType="1"/>
          </p:cNvSpPr>
          <p:nvPr/>
        </p:nvSpPr>
        <p:spPr bwMode="auto">
          <a:xfrm>
            <a:off x="7937868" y="3936686"/>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Line 23"/>
          <p:cNvSpPr>
            <a:spLocks noChangeShapeType="1"/>
          </p:cNvSpPr>
          <p:nvPr/>
        </p:nvSpPr>
        <p:spPr bwMode="auto">
          <a:xfrm>
            <a:off x="7947393" y="5317811"/>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4"/>
          <p:cNvSpPr txBox="1">
            <a:spLocks noChangeArrowheads="1"/>
          </p:cNvSpPr>
          <p:nvPr/>
        </p:nvSpPr>
        <p:spPr bwMode="auto">
          <a:xfrm>
            <a:off x="6250356" y="4465323"/>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21000H</a:t>
            </a:r>
            <a:endParaRPr lang="zh-CN" altLang="zh-CN">
              <a:latin typeface="Times New Roman" panose="02020603050405020304" pitchFamily="18" charset="0"/>
            </a:endParaRPr>
          </a:p>
        </p:txBody>
      </p:sp>
      <p:sp>
        <p:nvSpPr>
          <p:cNvPr id="27" name="Text Box 25"/>
          <p:cNvSpPr txBox="1">
            <a:spLocks noChangeArrowheads="1"/>
          </p:cNvSpPr>
          <p:nvPr/>
        </p:nvSpPr>
        <p:spPr bwMode="auto">
          <a:xfrm>
            <a:off x="6239243" y="4865373"/>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21001H</a:t>
            </a:r>
            <a:endParaRPr lang="zh-CN" altLang="zh-CN">
              <a:latin typeface="Times New Roman" panose="02020603050405020304" pitchFamily="18" charset="0"/>
            </a:endParaRPr>
          </a:p>
        </p:txBody>
      </p:sp>
      <p:sp>
        <p:nvSpPr>
          <p:cNvPr id="28" name="Text Box 26"/>
          <p:cNvSpPr txBox="1">
            <a:spLocks noChangeArrowheads="1"/>
          </p:cNvSpPr>
          <p:nvPr/>
        </p:nvSpPr>
        <p:spPr bwMode="auto">
          <a:xfrm>
            <a:off x="7534643" y="4479611"/>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12H</a:t>
            </a:r>
            <a:endParaRPr lang="zh-CN" altLang="zh-CN">
              <a:latin typeface="Times New Roman" panose="02020603050405020304" pitchFamily="18" charset="0"/>
            </a:endParaRPr>
          </a:p>
        </p:txBody>
      </p:sp>
      <p:sp>
        <p:nvSpPr>
          <p:cNvPr id="29" name="Text Box 27"/>
          <p:cNvSpPr txBox="1">
            <a:spLocks noChangeArrowheads="1"/>
          </p:cNvSpPr>
          <p:nvPr/>
        </p:nvSpPr>
        <p:spPr bwMode="auto">
          <a:xfrm>
            <a:off x="7553693" y="4847911"/>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34H</a:t>
            </a:r>
            <a:endParaRPr lang="zh-CN" altLang="zh-CN">
              <a:latin typeface="Times New Roman" panose="02020603050405020304" pitchFamily="18" charset="0"/>
            </a:endParaRPr>
          </a:p>
        </p:txBody>
      </p:sp>
      <p:sp>
        <p:nvSpPr>
          <p:cNvPr id="30" name="Text Box 28"/>
          <p:cNvSpPr txBox="1">
            <a:spLocks noChangeArrowheads="1"/>
          </p:cNvSpPr>
          <p:nvPr/>
        </p:nvSpPr>
        <p:spPr bwMode="auto">
          <a:xfrm>
            <a:off x="7364781" y="6246498"/>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grpSp>
        <p:nvGrpSpPr>
          <p:cNvPr id="31" name="Group 29"/>
          <p:cNvGrpSpPr/>
          <p:nvPr/>
        </p:nvGrpSpPr>
        <p:grpSpPr bwMode="auto">
          <a:xfrm>
            <a:off x="2418131" y="3695386"/>
            <a:ext cx="2112962" cy="781050"/>
            <a:chOff x="0" y="0"/>
            <a:chExt cx="1331" cy="492"/>
          </a:xfrm>
        </p:grpSpPr>
        <p:sp>
          <p:nvSpPr>
            <p:cNvPr id="32" name="Line 30"/>
            <p:cNvSpPr>
              <a:spLocks noChangeShapeType="1"/>
            </p:cNvSpPr>
            <p:nvPr/>
          </p:nvSpPr>
          <p:spPr bwMode="auto">
            <a:xfrm>
              <a:off x="0" y="0"/>
              <a:ext cx="0" cy="192"/>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31"/>
            <p:cNvSpPr>
              <a:spLocks noChangeShapeType="1"/>
            </p:cNvSpPr>
            <p:nvPr/>
          </p:nvSpPr>
          <p:spPr bwMode="auto">
            <a:xfrm>
              <a:off x="1" y="192"/>
              <a:ext cx="1330" cy="0"/>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32"/>
            <p:cNvSpPr>
              <a:spLocks noChangeShapeType="1"/>
            </p:cNvSpPr>
            <p:nvPr/>
          </p:nvSpPr>
          <p:spPr bwMode="auto">
            <a:xfrm flipV="1">
              <a:off x="1331" y="14"/>
              <a:ext cx="0" cy="178"/>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33"/>
            <p:cNvSpPr>
              <a:spLocks noChangeShapeType="1"/>
            </p:cNvSpPr>
            <p:nvPr/>
          </p:nvSpPr>
          <p:spPr bwMode="auto">
            <a:xfrm>
              <a:off x="597" y="190"/>
              <a:ext cx="0" cy="302"/>
            </a:xfrm>
            <a:prstGeom prst="line">
              <a:avLst/>
            </a:prstGeom>
            <a:noFill/>
            <a:ln w="38100" cmpd="sng">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 name="Text Box 34"/>
          <p:cNvSpPr txBox="1">
            <a:spLocks noChangeArrowheads="1"/>
          </p:cNvSpPr>
          <p:nvPr/>
        </p:nvSpPr>
        <p:spPr bwMode="auto">
          <a:xfrm>
            <a:off x="1351331" y="5825811"/>
            <a:ext cx="3852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hlink"/>
                </a:solidFill>
                <a:latin typeface="Times New Roman" panose="02020603050405020304" pitchFamily="18" charset="0"/>
              </a:rPr>
              <a:t>指令执行后，(AX)=3412H。</a:t>
            </a:r>
            <a:endParaRPr lang="zh-CN" altLang="zh-CN" b="1">
              <a:solidFill>
                <a:schemeClr val="hlink"/>
              </a:solidFill>
              <a:latin typeface="Times New Roman" panose="02020603050405020304" pitchFamily="18" charset="0"/>
            </a:endParaRPr>
          </a:p>
        </p:txBody>
      </p:sp>
      <p:sp>
        <p:nvSpPr>
          <p:cNvPr id="3" name="日期占位符 2"/>
          <p:cNvSpPr>
            <a:spLocks noGrp="1"/>
          </p:cNvSpPr>
          <p:nvPr>
            <p:ph type="dt" sz="half" idx="10"/>
          </p:nvPr>
        </p:nvSpPr>
        <p:spPr/>
        <p:txBody>
          <a:bodyPr/>
          <a:lstStyle/>
          <a:p>
            <a:pPr>
              <a:defRPr/>
            </a:pPr>
            <a:fld id="{1B9F628F-E82D-4D1F-A56F-21280EFAE3BE}" type="datetime10">
              <a:rPr lang="zh-CN" altLang="en-US" smtClean="0"/>
            </a:fld>
            <a:endParaRPr lang="en-US" altLang="zh-CN"/>
          </a:p>
        </p:txBody>
      </p:sp>
      <p:sp>
        <p:nvSpPr>
          <p:cNvPr id="4" name="灯片编号占位符 3"/>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p:cTn id="13" dur="500" fill="hold"/>
                                        <p:tgtEl>
                                          <p:spTgt spid="31"/>
                                        </p:tgtEl>
                                        <p:attrNameLst>
                                          <p:attrName>ppt_x</p:attrName>
                                        </p:attrNameLst>
                                      </p:cBhvr>
                                      <p:tavLst>
                                        <p:tav tm="0">
                                          <p:val>
                                            <p:strVal val="#ppt_x"/>
                                          </p:val>
                                        </p:tav>
                                        <p:tav tm="100000">
                                          <p:val>
                                            <p:strVal val="#ppt_x"/>
                                          </p:val>
                                        </p:tav>
                                      </p:tavLst>
                                    </p:anim>
                                    <p:anim calcmode="lin" valueType="num">
                                      <p:cBhvr>
                                        <p:cTn id="14" dur="500" fill="hold"/>
                                        <p:tgtEl>
                                          <p:spTgt spid="31"/>
                                        </p:tgtEl>
                                        <p:attrNameLst>
                                          <p:attrName>ppt_y</p:attrName>
                                        </p:attrNameLst>
                                      </p:cBhvr>
                                      <p:tavLst>
                                        <p:tav tm="0">
                                          <p:val>
                                            <p:strVal val="#ppt_y-#ppt_h/2"/>
                                          </p:val>
                                        </p:tav>
                                        <p:tav tm="100000">
                                          <p:val>
                                            <p:strVal val="#ppt_y"/>
                                          </p:val>
                                        </p:tav>
                                      </p:tavLst>
                                    </p:anim>
                                    <p:anim calcmode="lin" valueType="num">
                                      <p:cBhvr>
                                        <p:cTn id="15" dur="500" fill="hold"/>
                                        <p:tgtEl>
                                          <p:spTgt spid="31"/>
                                        </p:tgtEl>
                                        <p:attrNameLst>
                                          <p:attrName>ppt_w</p:attrName>
                                        </p:attrNameLst>
                                      </p:cBhvr>
                                      <p:tavLst>
                                        <p:tav tm="0">
                                          <p:val>
                                            <p:strVal val="#ppt_w"/>
                                          </p:val>
                                        </p:tav>
                                        <p:tav tm="100000">
                                          <p:val>
                                            <p:strVal val="#ppt_w"/>
                                          </p:val>
                                        </p:tav>
                                      </p:tavLst>
                                    </p:anim>
                                    <p:anim calcmode="lin" valueType="num">
                                      <p:cBhvr>
                                        <p:cTn id="16" dur="500" fill="hold"/>
                                        <p:tgtEl>
                                          <p:spTgt spid="31"/>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ppt_x</p:attrName>
                                        </p:attrNameLst>
                                      </p:cBhvr>
                                      <p:tavLst>
                                        <p:tav tm="0">
                                          <p:val>
                                            <p:strVal val="#ppt_x-#ppt_w/2"/>
                                          </p:val>
                                        </p:tav>
                                        <p:tav tm="100000">
                                          <p:val>
                                            <p:strVal val="#ppt_x"/>
                                          </p:val>
                                        </p:tav>
                                      </p:tavLst>
                                    </p:anim>
                                    <p:anim calcmode="lin" valueType="num">
                                      <p:cBhvr>
                                        <p:cTn id="28" dur="500" fill="hold"/>
                                        <p:tgtEl>
                                          <p:spTgt spid="11"/>
                                        </p:tgtEl>
                                        <p:attrNameLst>
                                          <p:attrName>ppt_y</p:attrName>
                                        </p:attrNameLst>
                                      </p:cBhvr>
                                      <p:tavLst>
                                        <p:tav tm="0">
                                          <p:val>
                                            <p:strVal val="#ppt_y"/>
                                          </p:val>
                                        </p:tav>
                                        <p:tav tm="100000">
                                          <p:val>
                                            <p:strVal val="#ppt_y"/>
                                          </p:val>
                                        </p:tav>
                                      </p:tavLst>
                                    </p:anim>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ppt_x</p:attrName>
                                        </p:attrNameLst>
                                      </p:cBhvr>
                                      <p:tavLst>
                                        <p:tav tm="0">
                                          <p:val>
                                            <p:strVal val="#ppt_x-#ppt_w/2"/>
                                          </p:val>
                                        </p:tav>
                                        <p:tav tm="100000">
                                          <p:val>
                                            <p:strVal val="#ppt_x"/>
                                          </p:val>
                                        </p:tav>
                                      </p:tavLst>
                                    </p:anim>
                                    <p:anim calcmode="lin" valueType="num">
                                      <p:cBhvr>
                                        <p:cTn id="36" dur="500" fill="hold"/>
                                        <p:tgtEl>
                                          <p:spTgt spid="10"/>
                                        </p:tgtEl>
                                        <p:attrNameLst>
                                          <p:attrName>ppt_y</p:attrName>
                                        </p:attrNameLst>
                                      </p:cBhvr>
                                      <p:tavLst>
                                        <p:tav tm="0">
                                          <p:val>
                                            <p:strVal val="#ppt_y"/>
                                          </p:val>
                                        </p:tav>
                                        <p:tav tm="100000">
                                          <p:val>
                                            <p:strVal val="#ppt_y"/>
                                          </p:val>
                                        </p:tav>
                                      </p:tavLst>
                                    </p:anim>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strVal val="#ppt_h"/>
                                          </p:val>
                                        </p:tav>
                                        <p:tav tm="100000">
                                          <p:val>
                                            <p:strVal val="#ppt_h"/>
                                          </p:val>
                                        </p:tav>
                                      </p:tavLst>
                                    </p:anim>
                                  </p:childTnLst>
                                </p:cTn>
                              </p:par>
                            </p:childTnLst>
                          </p:cTn>
                        </p:par>
                        <p:par>
                          <p:cTn id="39" fill="hold">
                            <p:stCondLst>
                              <p:cond delay="500"/>
                            </p:stCondLst>
                            <p:childTnLst>
                              <p:par>
                                <p:cTn id="40" presetID="17" presetClass="entr" presetSubtype="8"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ppt_x</p:attrName>
                                        </p:attrNameLst>
                                      </p:cBhvr>
                                      <p:tavLst>
                                        <p:tav tm="0">
                                          <p:val>
                                            <p:strVal val="#ppt_x-#ppt_w/2"/>
                                          </p:val>
                                        </p:tav>
                                        <p:tav tm="100000">
                                          <p:val>
                                            <p:strVal val="#ppt_x"/>
                                          </p:val>
                                        </p:tav>
                                      </p:tavLst>
                                    </p:anim>
                                    <p:anim calcmode="lin" valueType="num">
                                      <p:cBhvr>
                                        <p:cTn id="43" dur="500" fill="hold"/>
                                        <p:tgtEl>
                                          <p:spTgt spid="12"/>
                                        </p:tgtEl>
                                        <p:attrNameLst>
                                          <p:attrName>ppt_y</p:attrName>
                                        </p:attrNameLst>
                                      </p:cBhvr>
                                      <p:tavLst>
                                        <p:tav tm="0">
                                          <p:val>
                                            <p:strVal val="#ppt_y"/>
                                          </p:val>
                                        </p:tav>
                                        <p:tav tm="100000">
                                          <p:val>
                                            <p:strVal val="#ppt_y"/>
                                          </p:val>
                                        </p:tav>
                                      </p:tavLst>
                                    </p:anim>
                                    <p:anim calcmode="lin" valueType="num">
                                      <p:cBhvr>
                                        <p:cTn id="44" dur="500" fill="hold"/>
                                        <p:tgtEl>
                                          <p:spTgt spid="12"/>
                                        </p:tgtEl>
                                        <p:attrNameLst>
                                          <p:attrName>ppt_w</p:attrName>
                                        </p:attrNameLst>
                                      </p:cBhvr>
                                      <p:tavLst>
                                        <p:tav tm="0">
                                          <p:val>
                                            <p:fltVal val="0"/>
                                          </p:val>
                                        </p:tav>
                                        <p:tav tm="100000">
                                          <p:val>
                                            <p:strVal val="#ppt_w"/>
                                          </p:val>
                                        </p:tav>
                                      </p:tavLst>
                                    </p:anim>
                                    <p:anim calcmode="lin" valueType="num">
                                      <p:cBhvr>
                                        <p:cTn id="45" dur="500" fill="hold"/>
                                        <p:tgtEl>
                                          <p:spTgt spid="12"/>
                                        </p:tgtEl>
                                        <p:attrNameLst>
                                          <p:attrName>ppt_h</p:attrName>
                                        </p:attrNameLst>
                                      </p:cBhvr>
                                      <p:tavLst>
                                        <p:tav tm="0">
                                          <p:val>
                                            <p:strVal val="#ppt_h"/>
                                          </p:val>
                                        </p:tav>
                                        <p:tav tm="100000">
                                          <p:val>
                                            <p:strVal val="#ppt_h"/>
                                          </p:val>
                                        </p:tav>
                                      </p:tavLst>
                                    </p:anim>
                                  </p:childTnLst>
                                </p:cTn>
                              </p:par>
                            </p:childTnLst>
                          </p:cTn>
                        </p:par>
                        <p:par>
                          <p:cTn id="46" fill="hold">
                            <p:stCondLst>
                              <p:cond delay="1000"/>
                            </p:stCondLst>
                            <p:childTnLst>
                              <p:par>
                                <p:cTn id="47" presetID="2" presetClass="entr" presetSubtype="4"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slide(fromBottom)">
                                      <p:cBhvr>
                                        <p:cTn id="5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P spid="10" grpId="0" animBg="1" autoUpdateAnimBg="0"/>
      <p:bldP spid="11" grpId="0" animBg="1" autoUpdateAnimBg="0"/>
      <p:bldP spid="12" grpId="0" animBg="1" autoUpdateAnimBg="0"/>
      <p:bldP spid="13" grpId="0" autoUpdateAnimBg="0"/>
      <p:bldP spid="36"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寄存器间接寻址</a:t>
            </a:r>
            <a:endParaRPr lang="zh-CN" altLang="en-US" dirty="0"/>
          </a:p>
        </p:txBody>
      </p:sp>
      <p:sp>
        <p:nvSpPr>
          <p:cNvPr id="3" name="内容占位符 2"/>
          <p:cNvSpPr>
            <a:spLocks noGrp="1"/>
          </p:cNvSpPr>
          <p:nvPr>
            <p:ph idx="1"/>
          </p:nvPr>
        </p:nvSpPr>
        <p:spPr>
          <a:xfrm>
            <a:off x="609600" y="1719263"/>
            <a:ext cx="10894827" cy="4411662"/>
          </a:xfrm>
        </p:spPr>
        <p:txBody>
          <a:bodyPr/>
          <a:lstStyle/>
          <a:p>
            <a:r>
              <a:rPr lang="zh-CN" altLang="en-US" sz="2400" dirty="0"/>
              <a:t>操作数在内存中，内存单元的偏移地址存放在寄存器中。</a:t>
            </a:r>
            <a:endParaRPr lang="en-US" altLang="zh-CN" sz="2400" dirty="0"/>
          </a:p>
          <a:p>
            <a:r>
              <a:rPr lang="zh-CN" altLang="en-US" sz="2400" dirty="0"/>
              <a:t>如用</a:t>
            </a:r>
            <a:r>
              <a:rPr lang="en-US" altLang="zh-CN" sz="2400" dirty="0"/>
              <a:t>BX</a:t>
            </a:r>
            <a:r>
              <a:rPr lang="zh-CN" altLang="en-US" sz="2400" dirty="0"/>
              <a:t>、</a:t>
            </a:r>
            <a:r>
              <a:rPr lang="en-US" altLang="zh-CN" sz="2400" dirty="0"/>
              <a:t>SI</a:t>
            </a:r>
            <a:r>
              <a:rPr lang="zh-CN" altLang="en-US" sz="2400" dirty="0"/>
              <a:t>或</a:t>
            </a:r>
            <a:r>
              <a:rPr lang="en-US" altLang="zh-CN" sz="2400" dirty="0"/>
              <a:t>DI</a:t>
            </a:r>
            <a:r>
              <a:rPr lang="zh-CN" altLang="en-US" sz="2400" dirty="0"/>
              <a:t>作为间址寄存器，则默认的段基址在</a:t>
            </a:r>
            <a:r>
              <a:rPr lang="en-US" altLang="zh-CN" sz="2400" dirty="0"/>
              <a:t>DS</a:t>
            </a:r>
            <a:r>
              <a:rPr lang="zh-CN" altLang="en-US" sz="2400" dirty="0"/>
              <a:t>段寄存器。</a:t>
            </a:r>
            <a:endParaRPr lang="zh-CN" altLang="en-US" sz="2400" dirty="0"/>
          </a:p>
          <a:p>
            <a:r>
              <a:rPr lang="zh-CN" altLang="en-US" sz="2400" dirty="0"/>
              <a:t>如用</a:t>
            </a:r>
            <a:r>
              <a:rPr lang="en-US" altLang="zh-CN" sz="2400" dirty="0"/>
              <a:t>BP</a:t>
            </a:r>
            <a:r>
              <a:rPr lang="zh-CN" altLang="en-US" sz="2400" dirty="0"/>
              <a:t>作为间址寄存器，则默认的段基址在</a:t>
            </a:r>
            <a:r>
              <a:rPr lang="en-US" altLang="zh-CN" sz="2400" dirty="0"/>
              <a:t>SS</a:t>
            </a:r>
            <a:r>
              <a:rPr lang="zh-CN" altLang="en-US" sz="2400" dirty="0"/>
              <a:t>段寄存器。</a:t>
            </a:r>
            <a:endParaRPr lang="zh-CN" altLang="en-US" sz="2400" dirty="0"/>
          </a:p>
          <a:p>
            <a:r>
              <a:rPr lang="zh-CN" altLang="en-US" sz="2400" dirty="0"/>
              <a:t>可使用段前缀改变。</a:t>
            </a:r>
            <a:endParaRPr lang="zh-CN" altLang="en-US" sz="2400" dirty="0"/>
          </a:p>
          <a:p>
            <a:pPr marL="0" indent="0">
              <a:buNone/>
            </a:pPr>
            <a:r>
              <a:rPr lang="en-US" altLang="zh-CN" sz="2400" dirty="0"/>
              <a:t>   MOV  AX</a:t>
            </a:r>
            <a:r>
              <a:rPr lang="zh-CN" altLang="en-US" sz="2400" dirty="0"/>
              <a:t>，</a:t>
            </a:r>
            <a:r>
              <a:rPr lang="en-US" altLang="zh-CN" sz="2400" dirty="0"/>
              <a:t>[BX] </a:t>
            </a:r>
            <a:r>
              <a:rPr lang="zh-CN" altLang="en-US" sz="2400" dirty="0"/>
              <a:t>；若</a:t>
            </a:r>
            <a:r>
              <a:rPr lang="en-US" altLang="zh-CN" sz="2400" dirty="0"/>
              <a:t>(DS)=2000H</a:t>
            </a:r>
            <a:r>
              <a:rPr lang="zh-CN" altLang="en-US" sz="2400" dirty="0"/>
              <a:t>，</a:t>
            </a:r>
            <a:r>
              <a:rPr lang="en-US" altLang="zh-CN" sz="2400" dirty="0"/>
              <a:t>(BX)=1000H </a:t>
            </a:r>
            <a:r>
              <a:rPr lang="zh-CN" altLang="en-US" sz="2400" dirty="0"/>
              <a:t>，则将数据段</a:t>
            </a:r>
            <a:endParaRPr lang="zh-CN" altLang="en-US" sz="2400" dirty="0"/>
          </a:p>
          <a:p>
            <a:pPr marL="0" indent="0">
              <a:buNone/>
            </a:pPr>
            <a:r>
              <a:rPr lang="zh-CN" altLang="en-US" sz="2400" dirty="0"/>
              <a:t>                 </a:t>
            </a:r>
            <a:r>
              <a:rPr lang="en-US" altLang="zh-CN" sz="2400" dirty="0"/>
              <a:t>21000H</a:t>
            </a:r>
            <a:r>
              <a:rPr lang="zh-CN" altLang="en-US" sz="2400" dirty="0"/>
              <a:t>、</a:t>
            </a:r>
            <a:r>
              <a:rPr lang="en-US" altLang="zh-CN" sz="2400" dirty="0"/>
              <a:t>21001H</a:t>
            </a:r>
            <a:r>
              <a:rPr lang="zh-CN" altLang="en-US" sz="2400" dirty="0"/>
              <a:t>两个单元的内容送到</a:t>
            </a:r>
            <a:r>
              <a:rPr lang="en-US" altLang="zh-CN" sz="2400" dirty="0"/>
              <a:t>AX</a:t>
            </a:r>
            <a:r>
              <a:rPr lang="zh-CN" altLang="en-US" sz="2400" dirty="0"/>
              <a:t>中。</a:t>
            </a:r>
            <a:endParaRPr lang="zh-CN" altLang="en-US" sz="2400" dirty="0"/>
          </a:p>
          <a:p>
            <a:pPr marL="0" indent="0">
              <a:buNone/>
            </a:pPr>
            <a:r>
              <a:rPr lang="en-US" altLang="zh-CN" sz="2400" dirty="0"/>
              <a:t>   MOV  CX</a:t>
            </a:r>
            <a:r>
              <a:rPr lang="zh-CN" altLang="en-US" sz="2400" dirty="0"/>
              <a:t>，</a:t>
            </a:r>
            <a:r>
              <a:rPr lang="en-US" altLang="zh-CN" sz="2400" dirty="0"/>
              <a:t>[BP] </a:t>
            </a:r>
            <a:r>
              <a:rPr lang="zh-CN" altLang="en-US" sz="2400" dirty="0"/>
              <a:t>；若 </a:t>
            </a:r>
            <a:r>
              <a:rPr lang="en-US" altLang="zh-CN" sz="2400" dirty="0"/>
              <a:t>(SS)=4000H</a:t>
            </a:r>
            <a:r>
              <a:rPr lang="zh-CN" altLang="en-US" sz="2400" dirty="0"/>
              <a:t>，</a:t>
            </a:r>
            <a:r>
              <a:rPr lang="en-US" altLang="zh-CN" sz="2400" dirty="0"/>
              <a:t>(BP)=1000H </a:t>
            </a:r>
            <a:r>
              <a:rPr lang="zh-CN" altLang="en-US" sz="2400" dirty="0"/>
              <a:t>，则将堆栈段</a:t>
            </a:r>
            <a:endParaRPr lang="zh-CN" altLang="en-US" sz="2400" dirty="0"/>
          </a:p>
          <a:p>
            <a:pPr marL="0" indent="0">
              <a:buNone/>
            </a:pPr>
            <a:r>
              <a:rPr lang="zh-CN" altLang="en-US" sz="2400" dirty="0"/>
              <a:t>                  </a:t>
            </a:r>
            <a:r>
              <a:rPr lang="en-US" altLang="zh-CN" sz="2400" dirty="0"/>
              <a:t>41000H</a:t>
            </a:r>
            <a:r>
              <a:rPr lang="zh-CN" altLang="en-US" sz="2400" dirty="0"/>
              <a:t>、</a:t>
            </a:r>
            <a:r>
              <a:rPr lang="en-US" altLang="zh-CN" sz="2400" dirty="0"/>
              <a:t>41001H</a:t>
            </a:r>
            <a:r>
              <a:rPr lang="zh-CN" altLang="en-US" sz="2400" dirty="0"/>
              <a:t>两个单元的内容送到</a:t>
            </a:r>
            <a:r>
              <a:rPr lang="en-US" altLang="zh-CN" sz="2400" dirty="0"/>
              <a:t>CX</a:t>
            </a:r>
            <a:r>
              <a:rPr lang="zh-CN" altLang="en-US" sz="2400" dirty="0"/>
              <a:t>中。</a:t>
            </a:r>
            <a:endParaRPr lang="zh-CN" altLang="en-US" sz="2400" dirty="0"/>
          </a:p>
          <a:p>
            <a:pPr marL="0" indent="0">
              <a:buNone/>
            </a:pPr>
            <a:r>
              <a:rPr lang="en-US" altLang="zh-CN" sz="2400" dirty="0"/>
              <a:t>   MOV  AX</a:t>
            </a:r>
            <a:r>
              <a:rPr lang="zh-CN" altLang="en-US" sz="2400" dirty="0"/>
              <a:t>，</a:t>
            </a:r>
            <a:r>
              <a:rPr lang="en-US" altLang="zh-CN" sz="2400" dirty="0"/>
              <a:t>ES:[SI] </a:t>
            </a:r>
            <a:r>
              <a:rPr lang="zh-CN" altLang="en-US" sz="2400" dirty="0"/>
              <a:t>；若</a:t>
            </a:r>
            <a:r>
              <a:rPr lang="en-US" altLang="zh-CN" sz="2400" dirty="0"/>
              <a:t>(ES)=3000H</a:t>
            </a:r>
            <a:r>
              <a:rPr lang="zh-CN" altLang="en-US" sz="2400" dirty="0"/>
              <a:t>，</a:t>
            </a:r>
            <a:r>
              <a:rPr lang="en-US" altLang="zh-CN" sz="2400" dirty="0"/>
              <a:t>(SI)=1000H </a:t>
            </a:r>
            <a:r>
              <a:rPr lang="zh-CN" altLang="en-US" sz="2400" dirty="0"/>
              <a:t>，则将附加段</a:t>
            </a:r>
            <a:endParaRPr lang="zh-CN" altLang="en-US" sz="2400" dirty="0"/>
          </a:p>
          <a:p>
            <a:pPr marL="0" indent="0">
              <a:buNone/>
            </a:pPr>
            <a:r>
              <a:rPr lang="zh-CN" altLang="en-US" sz="2400" dirty="0"/>
              <a:t>                     </a:t>
            </a:r>
            <a:r>
              <a:rPr lang="en-US" altLang="zh-CN" sz="2400" dirty="0"/>
              <a:t>31000H</a:t>
            </a:r>
            <a:r>
              <a:rPr lang="zh-CN" altLang="en-US" sz="2400" dirty="0"/>
              <a:t>、</a:t>
            </a:r>
            <a:r>
              <a:rPr lang="en-US" altLang="zh-CN" sz="2400" dirty="0"/>
              <a:t>31001H</a:t>
            </a:r>
            <a:r>
              <a:rPr lang="zh-CN" altLang="en-US" sz="2400" dirty="0"/>
              <a:t>两个单元的内容送到</a:t>
            </a:r>
            <a:r>
              <a:rPr lang="en-US" altLang="zh-CN" sz="2400" dirty="0"/>
              <a:t>AX</a:t>
            </a:r>
            <a:r>
              <a:rPr lang="zh-CN" altLang="en-US" sz="2400" dirty="0"/>
              <a:t>中</a:t>
            </a:r>
            <a:r>
              <a:rPr lang="zh-CN" altLang="en-US" dirty="0"/>
              <a:t>。 </a:t>
            </a:r>
            <a:endParaRPr lang="zh-CN" altLang="en-US" dirty="0"/>
          </a:p>
          <a:p>
            <a:endParaRPr lang="zh-CN" altLang="en-US" dirty="0"/>
          </a:p>
        </p:txBody>
      </p:sp>
      <p:sp>
        <p:nvSpPr>
          <p:cNvPr id="4" name="日期占位符 3"/>
          <p:cNvSpPr>
            <a:spLocks noGrp="1"/>
          </p:cNvSpPr>
          <p:nvPr>
            <p:ph type="dt" sz="half" idx="10"/>
          </p:nvPr>
        </p:nvSpPr>
        <p:spPr/>
        <p:txBody>
          <a:bodyPr/>
          <a:lstStyle/>
          <a:p>
            <a:pPr>
              <a:defRPr/>
            </a:pPr>
            <a:fld id="{95C2F5D3-C805-49A3-A7FD-7AD16CFC3BD6}" type="datetime10">
              <a:rPr lang="zh-CN" altLang="en-US" smtClean="0"/>
            </a:fld>
            <a:endParaRPr lang="en-US" altLang="zh-CN" dirty="0"/>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基址寻址和变址寻址</a:t>
            </a:r>
            <a:endParaRPr lang="zh-CN" altLang="en-US" dirty="0"/>
          </a:p>
        </p:txBody>
      </p:sp>
      <p:sp>
        <p:nvSpPr>
          <p:cNvPr id="3" name="内容占位符 2"/>
          <p:cNvSpPr>
            <a:spLocks noGrp="1"/>
          </p:cNvSpPr>
          <p:nvPr>
            <p:ph idx="1"/>
          </p:nvPr>
        </p:nvSpPr>
        <p:spPr/>
        <p:txBody>
          <a:bodyPr>
            <a:noAutofit/>
          </a:bodyPr>
          <a:lstStyle/>
          <a:p>
            <a:pPr>
              <a:buFont typeface="Wingdings" panose="05000000000000000000" pitchFamily="2" charset="2"/>
              <a:buChar char="Ø"/>
            </a:pPr>
            <a:r>
              <a:rPr lang="zh-CN" altLang="zh-CN" sz="2400" b="0" dirty="0">
                <a:latin typeface="Times New Roman" panose="02020603050405020304" pitchFamily="18" charset="0"/>
                <a:ea typeface="楷体_GB2312" pitchFamily="1" charset="-122"/>
              </a:rPr>
              <a:t>有效地址由基址寄存器（BX或BP）</a:t>
            </a:r>
            <a:r>
              <a:rPr lang="zh-CN" altLang="en-US" sz="2400" dirty="0">
                <a:latin typeface="Times New Roman" panose="02020603050405020304" pitchFamily="18" charset="0"/>
                <a:ea typeface="楷体_GB2312" pitchFamily="1" charset="-122"/>
              </a:rPr>
              <a:t>或</a:t>
            </a:r>
            <a:r>
              <a:rPr lang="zh-CN" altLang="zh-CN" sz="2400" b="0" dirty="0">
                <a:latin typeface="Times New Roman" panose="02020603050405020304" pitchFamily="18" charset="0"/>
                <a:ea typeface="楷体_GB2312" pitchFamily="1" charset="-122"/>
              </a:rPr>
              <a:t>变址寄存器（SI或DI）的</a:t>
            </a:r>
            <a:r>
              <a:rPr lang="zh-CN" altLang="zh-CN" sz="2400" dirty="0">
                <a:latin typeface="Times New Roman" panose="02020603050405020304" pitchFamily="18" charset="0"/>
                <a:ea typeface="楷体_GB2312" pitchFamily="1" charset="-122"/>
              </a:rPr>
              <a:t>内容</a:t>
            </a:r>
            <a:r>
              <a:rPr lang="zh-CN" altLang="en-US" sz="2400" dirty="0">
                <a:latin typeface="Times New Roman" panose="02020603050405020304" pitchFamily="18" charset="0"/>
                <a:ea typeface="楷体_GB2312" pitchFamily="1" charset="-122"/>
              </a:rPr>
              <a:t>与指令中指定的</a:t>
            </a:r>
            <a:r>
              <a:rPr lang="zh-CN" altLang="zh-CN" sz="2400" dirty="0">
                <a:latin typeface="Times New Roman" panose="02020603050405020304" pitchFamily="18" charset="0"/>
                <a:ea typeface="楷体_GB2312" pitchFamily="1" charset="-122"/>
              </a:rPr>
              <a:t>8位或16位位移量之和构成</a:t>
            </a:r>
            <a:r>
              <a:rPr lang="zh-CN" altLang="zh-CN" sz="2400" b="0" dirty="0">
                <a:latin typeface="Times New Roman" panose="02020603050405020304" pitchFamily="18" charset="0"/>
                <a:ea typeface="楷体_GB2312" pitchFamily="1" charset="-122"/>
              </a:rPr>
              <a:t>：</a:t>
            </a:r>
            <a:endParaRPr lang="zh-CN" altLang="zh-CN" sz="2400" b="0" dirty="0">
              <a:latin typeface="Times New Roman" panose="02020603050405020304" pitchFamily="18" charset="0"/>
              <a:ea typeface="楷体_GB2312" pitchFamily="1" charset="-122"/>
            </a:endParaRPr>
          </a:p>
          <a:p>
            <a:pPr lvl="1">
              <a:buFont typeface="Wingdings" panose="05000000000000000000" pitchFamily="2" charset="2"/>
              <a:buNone/>
            </a:pPr>
            <a:r>
              <a:rPr lang="zh-CN" altLang="zh-CN" sz="2400" b="0" dirty="0">
                <a:solidFill>
                  <a:schemeClr val="hlink"/>
                </a:solidFill>
                <a:latin typeface="Times New Roman" panose="02020603050405020304" pitchFamily="18" charset="0"/>
                <a:ea typeface="楷体_GB2312" pitchFamily="1" charset="-122"/>
              </a:rPr>
              <a:t>有效地址＝BX/BP</a:t>
            </a:r>
            <a:r>
              <a:rPr lang="en-US" altLang="zh-CN" sz="2400" b="0" dirty="0">
                <a:solidFill>
                  <a:schemeClr val="hlink"/>
                </a:solidFill>
                <a:latin typeface="Times New Roman" panose="02020603050405020304" pitchFamily="18" charset="0"/>
                <a:ea typeface="楷体_GB2312" pitchFamily="1" charset="-122"/>
              </a:rPr>
              <a:t>/</a:t>
            </a:r>
            <a:r>
              <a:rPr lang="zh-CN" altLang="zh-CN" sz="2400" b="0" dirty="0">
                <a:solidFill>
                  <a:schemeClr val="hlink"/>
                </a:solidFill>
                <a:latin typeface="Times New Roman" panose="02020603050405020304" pitchFamily="18" charset="0"/>
                <a:ea typeface="楷体_GB2312" pitchFamily="1" charset="-122"/>
              </a:rPr>
              <a:t>SI/DI ＋8/16位位移量</a:t>
            </a:r>
            <a:endParaRPr lang="zh-CN" altLang="zh-CN" sz="2400" b="0" dirty="0">
              <a:solidFill>
                <a:schemeClr val="hlink"/>
              </a:solidFill>
              <a:latin typeface="Times New Roman" panose="02020603050405020304" pitchFamily="18" charset="0"/>
              <a:ea typeface="楷体_GB2312" pitchFamily="1" charset="-122"/>
            </a:endParaRPr>
          </a:p>
          <a:p>
            <a:pPr lvl="1"/>
            <a:r>
              <a:rPr lang="zh-CN" altLang="en-US" sz="2400" dirty="0"/>
              <a:t>如果寄存器为</a:t>
            </a:r>
            <a:r>
              <a:rPr lang="en-US" altLang="zh-CN" sz="2400" dirty="0"/>
              <a:t>BX</a:t>
            </a:r>
            <a:r>
              <a:rPr lang="zh-CN" altLang="en-US" sz="2400" dirty="0"/>
              <a:t>或</a:t>
            </a:r>
            <a:r>
              <a:rPr lang="en-US" altLang="zh-CN" sz="2400" dirty="0"/>
              <a:t>BP</a:t>
            </a:r>
            <a:r>
              <a:rPr lang="zh-CN" altLang="en-US" sz="2400" dirty="0"/>
              <a:t>，则为基址寻址</a:t>
            </a:r>
            <a:endParaRPr lang="zh-CN" altLang="en-US" sz="2400" dirty="0"/>
          </a:p>
          <a:p>
            <a:pPr lvl="1"/>
            <a:r>
              <a:rPr lang="zh-CN" altLang="en-US" sz="2400" dirty="0"/>
              <a:t>如果寄存器为</a:t>
            </a:r>
            <a:r>
              <a:rPr lang="en-US" altLang="zh-CN" sz="2400" dirty="0"/>
              <a:t>SI</a:t>
            </a:r>
            <a:r>
              <a:rPr lang="zh-CN" altLang="en-US" sz="2400" dirty="0"/>
              <a:t>或</a:t>
            </a:r>
            <a:r>
              <a:rPr lang="en-US" altLang="zh-CN" sz="2400" dirty="0"/>
              <a:t>DI</a:t>
            </a:r>
            <a:r>
              <a:rPr lang="zh-CN" altLang="en-US" sz="2400" dirty="0"/>
              <a:t>，则为变址寻址</a:t>
            </a:r>
            <a:endParaRPr lang="en-US" altLang="zh-CN" sz="2400" dirty="0"/>
          </a:p>
          <a:p>
            <a:pPr>
              <a:lnSpc>
                <a:spcPct val="100000"/>
              </a:lnSpc>
              <a:buFont typeface="Wingdings" panose="05000000000000000000" pitchFamily="2" charset="2"/>
              <a:buChar char="Ø"/>
            </a:pPr>
            <a:r>
              <a:rPr lang="zh-CN" altLang="en-US" sz="2400" b="0" dirty="0">
                <a:latin typeface="Times New Roman" panose="02020603050405020304" pitchFamily="18" charset="0"/>
                <a:ea typeface="楷体_GB2312" pitchFamily="1" charset="-122"/>
              </a:rPr>
              <a:t>段基址对应</a:t>
            </a:r>
            <a:r>
              <a:rPr lang="en-US" altLang="zh-CN" sz="2400" b="0" dirty="0">
                <a:latin typeface="Times New Roman" panose="02020603050405020304" pitchFamily="18" charset="0"/>
                <a:ea typeface="楷体_GB2312" pitchFamily="1" charset="-122"/>
              </a:rPr>
              <a:t>BX/SI/DI</a:t>
            </a:r>
            <a:r>
              <a:rPr lang="zh-CN" altLang="en-US" sz="2400" b="0" dirty="0">
                <a:latin typeface="Times New Roman" panose="02020603050405020304" pitchFamily="18" charset="0"/>
                <a:ea typeface="楷体_GB2312" pitchFamily="1" charset="-122"/>
              </a:rPr>
              <a:t>寄存器默认是</a:t>
            </a:r>
            <a:r>
              <a:rPr lang="en-US" altLang="zh-CN" sz="2400" b="0" dirty="0">
                <a:latin typeface="Times New Roman" panose="02020603050405020304" pitchFamily="18" charset="0"/>
                <a:ea typeface="楷体_GB2312" pitchFamily="1" charset="-122"/>
              </a:rPr>
              <a:t>DS</a:t>
            </a:r>
            <a:r>
              <a:rPr lang="zh-CN" altLang="en-US" sz="2400" b="0" dirty="0">
                <a:latin typeface="Times New Roman" panose="02020603050405020304" pitchFamily="18" charset="0"/>
                <a:ea typeface="楷体_GB2312" pitchFamily="1" charset="-122"/>
              </a:rPr>
              <a:t>，对应</a:t>
            </a:r>
            <a:r>
              <a:rPr lang="en-US" altLang="zh-CN" sz="2400" b="0" dirty="0">
                <a:latin typeface="Times New Roman" panose="02020603050405020304" pitchFamily="18" charset="0"/>
                <a:ea typeface="楷体_GB2312" pitchFamily="1" charset="-122"/>
              </a:rPr>
              <a:t>BP</a:t>
            </a:r>
            <a:r>
              <a:rPr lang="zh-CN" altLang="en-US" sz="2400" b="0" dirty="0">
                <a:latin typeface="Times New Roman" panose="02020603050405020304" pitchFamily="18" charset="0"/>
                <a:ea typeface="楷体_GB2312" pitchFamily="1" charset="-122"/>
              </a:rPr>
              <a:t>寄存器默认是</a:t>
            </a:r>
            <a:r>
              <a:rPr lang="en-US" altLang="zh-CN" sz="2400" b="0" dirty="0">
                <a:latin typeface="Times New Roman" panose="02020603050405020304" pitchFamily="18" charset="0"/>
                <a:ea typeface="楷体_GB2312" pitchFamily="1" charset="-122"/>
              </a:rPr>
              <a:t>SS</a:t>
            </a:r>
            <a:r>
              <a:rPr lang="zh-CN" altLang="en-US" sz="2400" b="0" dirty="0">
                <a:latin typeface="Times New Roman" panose="02020603050405020304" pitchFamily="18" charset="0"/>
                <a:ea typeface="楷体_GB2312" pitchFamily="1" charset="-122"/>
              </a:rPr>
              <a:t>；可用段前缀改变。</a:t>
            </a:r>
            <a:endParaRPr lang="en-US" altLang="zh-CN" sz="2400" b="0" dirty="0">
              <a:latin typeface="Times New Roman" panose="02020603050405020304" pitchFamily="18" charset="0"/>
              <a:ea typeface="楷体_GB2312" pitchFamily="1" charset="-122"/>
            </a:endParaRPr>
          </a:p>
          <a:p>
            <a:pPr>
              <a:lnSpc>
                <a:spcPct val="100000"/>
              </a:lnSpc>
              <a:buFont typeface="Wingdings" panose="05000000000000000000" pitchFamily="2" charset="2"/>
              <a:buChar char="Ø"/>
            </a:pPr>
            <a:r>
              <a:rPr lang="pt-BR" altLang="zh-CN" sz="2400" b="0" dirty="0">
                <a:latin typeface="Times New Roman" panose="02020603050405020304" pitchFamily="18" charset="0"/>
                <a:ea typeface="楷体_GB2312" pitchFamily="1" charset="-122"/>
              </a:rPr>
              <a:t>MOV AX</a:t>
            </a:r>
            <a:r>
              <a:rPr lang="zh-CN" altLang="pt-BR" sz="2400" b="0" dirty="0">
                <a:latin typeface="Times New Roman" panose="02020603050405020304" pitchFamily="18" charset="0"/>
                <a:ea typeface="楷体_GB2312" pitchFamily="1" charset="-122"/>
              </a:rPr>
              <a:t>，</a:t>
            </a:r>
            <a:r>
              <a:rPr lang="pt-BR" altLang="zh-CN" sz="2400" b="0" dirty="0">
                <a:latin typeface="Times New Roman" panose="02020603050405020304" pitchFamily="18" charset="0"/>
                <a:ea typeface="楷体_GB2312" pitchFamily="1" charset="-122"/>
              </a:rPr>
              <a:t>[BP+3000H] </a:t>
            </a:r>
            <a:endParaRPr lang="pt-BR" altLang="zh-CN" sz="2400" b="0" dirty="0">
              <a:latin typeface="Times New Roman" panose="02020603050405020304" pitchFamily="18" charset="0"/>
              <a:ea typeface="楷体_GB2312" pitchFamily="1" charset="-122"/>
            </a:endParaRPr>
          </a:p>
          <a:p>
            <a:pPr>
              <a:lnSpc>
                <a:spcPct val="100000"/>
              </a:lnSpc>
              <a:buFont typeface="Wingdings" panose="05000000000000000000" pitchFamily="2" charset="2"/>
              <a:buChar char="Ø"/>
            </a:pPr>
            <a:r>
              <a:rPr lang="pt-BR" altLang="zh-CN" sz="2400" b="0" dirty="0">
                <a:latin typeface="Times New Roman" panose="02020603050405020304" pitchFamily="18" charset="0"/>
                <a:ea typeface="楷体_GB2312" pitchFamily="1" charset="-122"/>
              </a:rPr>
              <a:t>MOV AX</a:t>
            </a:r>
            <a:r>
              <a:rPr lang="zh-CN" altLang="pt-BR" sz="2400" b="0" dirty="0">
                <a:latin typeface="Times New Roman" panose="02020603050405020304" pitchFamily="18" charset="0"/>
                <a:ea typeface="楷体_GB2312" pitchFamily="1" charset="-122"/>
              </a:rPr>
              <a:t>，</a:t>
            </a:r>
            <a:r>
              <a:rPr lang="pt-BR" altLang="zh-CN" sz="2400" b="0" dirty="0">
                <a:latin typeface="Times New Roman" panose="02020603050405020304" pitchFamily="18" charset="0"/>
                <a:ea typeface="楷体_GB2312" pitchFamily="1" charset="-122"/>
              </a:rPr>
              <a:t>[SI+3000H]</a:t>
            </a:r>
            <a:endParaRPr lang="zh-CN" altLang="zh-CN" sz="2400" b="0" dirty="0">
              <a:latin typeface="Times New Roman" panose="02020603050405020304" pitchFamily="18" charset="0"/>
              <a:ea typeface="楷体_GB2312" pitchFamily="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例子</a:t>
            </a:r>
            <a:endParaRPr lang="zh-CN" altLang="en-US" dirty="0"/>
          </a:p>
        </p:txBody>
      </p:sp>
      <p:sp>
        <p:nvSpPr>
          <p:cNvPr id="4" name="Text Box 11"/>
          <p:cNvSpPr txBox="1">
            <a:spLocks noGrp="1" noChangeArrowheads="1"/>
          </p:cNvSpPr>
          <p:nvPr>
            <p:ph idx="1"/>
          </p:nvPr>
        </p:nvSpPr>
        <p:spPr bwMode="auto">
          <a:xfrm>
            <a:off x="920750" y="1331203"/>
            <a:ext cx="10515600" cy="1328569"/>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zh-CN" sz="2400" dirty="0">
                <a:latin typeface="Times New Roman" panose="02020603050405020304" pitchFamily="18" charset="0"/>
              </a:rPr>
              <a:t>已知： (DS)=4000H ， (SI)=2000H， 内存单元(45000H)=34H， (45001H)=12H。</a:t>
            </a:r>
            <a:endParaRPr lang="zh-CN" altLang="zh-CN" sz="2400" dirty="0">
              <a:latin typeface="Times New Roman" panose="02020603050405020304" pitchFamily="18" charset="0"/>
            </a:endParaRPr>
          </a:p>
          <a:p>
            <a:pPr>
              <a:lnSpc>
                <a:spcPct val="100000"/>
              </a:lnSpc>
            </a:pPr>
            <a:r>
              <a:rPr lang="zh-CN" altLang="zh-CN" sz="2400" dirty="0">
                <a:latin typeface="Times New Roman" panose="02020603050405020304" pitchFamily="18" charset="0"/>
              </a:rPr>
              <a:t>试给出指令 MOV AX，[SI+3000H]执行后AX的内容。</a:t>
            </a:r>
            <a:endParaRPr lang="zh-CN" altLang="zh-CN" sz="2400" dirty="0">
              <a:latin typeface="Times New Roman" panose="02020603050405020304" pitchFamily="18" charset="0"/>
            </a:endParaRPr>
          </a:p>
        </p:txBody>
      </p:sp>
      <p:grpSp>
        <p:nvGrpSpPr>
          <p:cNvPr id="5" name="Group 3"/>
          <p:cNvGrpSpPr/>
          <p:nvPr/>
        </p:nvGrpSpPr>
        <p:grpSpPr bwMode="auto">
          <a:xfrm>
            <a:off x="1725613" y="3044825"/>
            <a:ext cx="4948237" cy="460375"/>
            <a:chOff x="0" y="0"/>
            <a:chExt cx="3117" cy="290"/>
          </a:xfrm>
        </p:grpSpPr>
        <p:sp>
          <p:nvSpPr>
            <p:cNvPr id="6" name="Text Box 4"/>
            <p:cNvSpPr txBox="1">
              <a:spLocks noChangeArrowheads="1"/>
            </p:cNvSpPr>
            <p:nvPr/>
          </p:nvSpPr>
          <p:spPr bwMode="auto">
            <a:xfrm>
              <a:off x="0" y="0"/>
              <a:ext cx="1420" cy="290"/>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段基址：4000H</a:t>
              </a:r>
              <a:endParaRPr lang="zh-CN" altLang="zh-CN">
                <a:latin typeface="Times New Roman" panose="02020603050405020304" pitchFamily="18" charset="0"/>
              </a:endParaRPr>
            </a:p>
          </p:txBody>
        </p:sp>
        <p:sp>
          <p:nvSpPr>
            <p:cNvPr id="7" name="Text Box 5"/>
            <p:cNvSpPr txBox="1">
              <a:spLocks noChangeArrowheads="1"/>
            </p:cNvSpPr>
            <p:nvPr/>
          </p:nvSpPr>
          <p:spPr bwMode="auto">
            <a:xfrm>
              <a:off x="1471" y="7"/>
              <a:ext cx="1646" cy="233"/>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latin typeface="Times New Roman" panose="02020603050405020304" pitchFamily="18" charset="0"/>
                </a:rPr>
                <a:t>偏移</a:t>
              </a:r>
              <a:r>
                <a:rPr lang="zh-CN" altLang="zh-CN" dirty="0">
                  <a:latin typeface="Times New Roman" panose="02020603050405020304" pitchFamily="18" charset="0"/>
                </a:rPr>
                <a:t>地址：5000H</a:t>
              </a:r>
              <a:endParaRPr lang="zh-CN" altLang="zh-CN" dirty="0">
                <a:latin typeface="Times New Roman" panose="02020603050405020304" pitchFamily="18" charset="0"/>
              </a:endParaRPr>
            </a:p>
          </p:txBody>
        </p:sp>
      </p:grpSp>
      <p:sp>
        <p:nvSpPr>
          <p:cNvPr id="8" name="Text Box 6"/>
          <p:cNvSpPr txBox="1">
            <a:spLocks noChangeArrowheads="1"/>
          </p:cNvSpPr>
          <p:nvPr/>
        </p:nvSpPr>
        <p:spPr bwMode="auto">
          <a:xfrm>
            <a:off x="2686050" y="4405313"/>
            <a:ext cx="2711450" cy="458787"/>
          </a:xfrm>
          <a:prstGeom prst="rect">
            <a:avLst/>
          </a:prstGeom>
          <a:noFill/>
          <a:ln w="317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物理地址：45000H</a:t>
            </a:r>
            <a:endParaRPr lang="zh-CN" altLang="zh-CN">
              <a:latin typeface="Times New Roman" panose="02020603050405020304" pitchFamily="18" charset="0"/>
            </a:endParaRPr>
          </a:p>
        </p:txBody>
      </p:sp>
      <p:sp>
        <p:nvSpPr>
          <p:cNvPr id="9" name="AutoShape 7"/>
          <p:cNvSpPr/>
          <p:nvPr/>
        </p:nvSpPr>
        <p:spPr bwMode="auto">
          <a:xfrm>
            <a:off x="9191625" y="4514850"/>
            <a:ext cx="152400" cy="609600"/>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 name="AutoShape 8"/>
          <p:cNvSpPr>
            <a:spLocks noChangeArrowheads="1"/>
          </p:cNvSpPr>
          <p:nvPr/>
        </p:nvSpPr>
        <p:spPr bwMode="auto">
          <a:xfrm>
            <a:off x="5554663" y="4613275"/>
            <a:ext cx="1384300" cy="131763"/>
          </a:xfrm>
          <a:prstGeom prst="rightArrow">
            <a:avLst>
              <a:gd name="adj1" fmla="val 50000"/>
              <a:gd name="adj2" fmla="val 262650"/>
            </a:avLst>
          </a:prstGeom>
          <a:solidFill>
            <a:schemeClr val="hlink"/>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1" name="AutoShape 9"/>
          <p:cNvSpPr>
            <a:spLocks noChangeArrowheads="1"/>
          </p:cNvSpPr>
          <p:nvPr/>
        </p:nvSpPr>
        <p:spPr bwMode="auto">
          <a:xfrm>
            <a:off x="9429750" y="4773613"/>
            <a:ext cx="566738" cy="77787"/>
          </a:xfrm>
          <a:prstGeom prst="rightArrow">
            <a:avLst>
              <a:gd name="adj1" fmla="val 50000"/>
              <a:gd name="adj2" fmla="val 182144"/>
            </a:avLst>
          </a:prstGeom>
          <a:solidFill>
            <a:schemeClr val="hlink"/>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2" name="Text Box 10"/>
          <p:cNvSpPr txBox="1">
            <a:spLocks noChangeArrowheads="1"/>
          </p:cNvSpPr>
          <p:nvPr/>
        </p:nvSpPr>
        <p:spPr bwMode="auto">
          <a:xfrm>
            <a:off x="9975850" y="4586288"/>
            <a:ext cx="64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AX</a:t>
            </a:r>
            <a:endParaRPr lang="zh-CN" altLang="zh-CN">
              <a:latin typeface="Times New Roman" panose="02020603050405020304" pitchFamily="18" charset="0"/>
            </a:endParaRPr>
          </a:p>
        </p:txBody>
      </p:sp>
      <p:sp>
        <p:nvSpPr>
          <p:cNvPr id="13" name="Rectangle 12"/>
          <p:cNvSpPr>
            <a:spLocks noChangeArrowheads="1"/>
          </p:cNvSpPr>
          <p:nvPr/>
        </p:nvSpPr>
        <p:spPr bwMode="auto">
          <a:xfrm>
            <a:off x="8027988" y="3144838"/>
            <a:ext cx="1055687" cy="3038475"/>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4" name="Line 13"/>
          <p:cNvSpPr>
            <a:spLocks noChangeShapeType="1"/>
          </p:cNvSpPr>
          <p:nvPr/>
        </p:nvSpPr>
        <p:spPr bwMode="auto">
          <a:xfrm>
            <a:off x="8026400" y="3482975"/>
            <a:ext cx="1046163"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4"/>
          <p:cNvSpPr>
            <a:spLocks noChangeShapeType="1"/>
          </p:cNvSpPr>
          <p:nvPr/>
        </p:nvSpPr>
        <p:spPr bwMode="auto">
          <a:xfrm>
            <a:off x="8031163" y="3821113"/>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5"/>
          <p:cNvSpPr>
            <a:spLocks noChangeShapeType="1"/>
          </p:cNvSpPr>
          <p:nvPr/>
        </p:nvSpPr>
        <p:spPr bwMode="auto">
          <a:xfrm>
            <a:off x="8031163" y="4487863"/>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6"/>
          <p:cNvSpPr>
            <a:spLocks noChangeShapeType="1"/>
          </p:cNvSpPr>
          <p:nvPr/>
        </p:nvSpPr>
        <p:spPr bwMode="auto">
          <a:xfrm>
            <a:off x="8031163" y="5821363"/>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7"/>
          <p:cNvSpPr>
            <a:spLocks noChangeShapeType="1"/>
          </p:cNvSpPr>
          <p:nvPr/>
        </p:nvSpPr>
        <p:spPr bwMode="auto">
          <a:xfrm>
            <a:off x="8031163" y="5254625"/>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p:cNvSpPr>
            <a:spLocks noChangeShapeType="1"/>
          </p:cNvSpPr>
          <p:nvPr/>
        </p:nvSpPr>
        <p:spPr bwMode="auto">
          <a:xfrm>
            <a:off x="8031163" y="4876800"/>
            <a:ext cx="1046162"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Text Box 19"/>
          <p:cNvSpPr txBox="1">
            <a:spLocks noChangeArrowheads="1"/>
          </p:cNvSpPr>
          <p:nvPr/>
        </p:nvSpPr>
        <p:spPr bwMode="auto">
          <a:xfrm>
            <a:off x="6875463" y="309880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40000H</a:t>
            </a:r>
            <a:endParaRPr lang="zh-CN" altLang="zh-CN">
              <a:latin typeface="Times New Roman" panose="02020603050405020304" pitchFamily="18" charset="0"/>
            </a:endParaRPr>
          </a:p>
        </p:txBody>
      </p:sp>
      <p:sp>
        <p:nvSpPr>
          <p:cNvPr id="21" name="Text Box 20"/>
          <p:cNvSpPr txBox="1">
            <a:spLocks noChangeArrowheads="1"/>
          </p:cNvSpPr>
          <p:nvPr/>
        </p:nvSpPr>
        <p:spPr bwMode="auto">
          <a:xfrm>
            <a:off x="7961313" y="2700338"/>
            <a:ext cx="1100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数据段</a:t>
            </a:r>
            <a:endParaRPr lang="zh-CN" altLang="zh-CN">
              <a:solidFill>
                <a:srgbClr val="FF0066"/>
              </a:solidFill>
              <a:latin typeface="Times New Roman" panose="02020603050405020304" pitchFamily="18" charset="0"/>
            </a:endParaRPr>
          </a:p>
        </p:txBody>
      </p:sp>
      <p:sp>
        <p:nvSpPr>
          <p:cNvPr id="22" name="Text Box 21"/>
          <p:cNvSpPr txBox="1">
            <a:spLocks noChangeArrowheads="1"/>
          </p:cNvSpPr>
          <p:nvPr/>
        </p:nvSpPr>
        <p:spPr bwMode="auto">
          <a:xfrm>
            <a:off x="6797675" y="5753100"/>
            <a:ext cx="1284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4FFFFH</a:t>
            </a:r>
            <a:endParaRPr lang="zh-CN" altLang="zh-CN">
              <a:latin typeface="Times New Roman" panose="02020603050405020304" pitchFamily="18" charset="0"/>
            </a:endParaRPr>
          </a:p>
        </p:txBody>
      </p:sp>
      <p:sp>
        <p:nvSpPr>
          <p:cNvPr id="23" name="Line 22"/>
          <p:cNvSpPr>
            <a:spLocks noChangeShapeType="1"/>
          </p:cNvSpPr>
          <p:nvPr/>
        </p:nvSpPr>
        <p:spPr bwMode="auto">
          <a:xfrm>
            <a:off x="8572500" y="3929063"/>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23"/>
          <p:cNvSpPr>
            <a:spLocks noChangeShapeType="1"/>
          </p:cNvSpPr>
          <p:nvPr/>
        </p:nvSpPr>
        <p:spPr bwMode="auto">
          <a:xfrm>
            <a:off x="8582025" y="5310188"/>
            <a:ext cx="0" cy="457200"/>
          </a:xfrm>
          <a:prstGeom prst="line">
            <a:avLst/>
          </a:prstGeom>
          <a:noFill/>
          <a:ln w="9525" cmpd="sng">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Text Box 24"/>
          <p:cNvSpPr txBox="1">
            <a:spLocks noChangeArrowheads="1"/>
          </p:cNvSpPr>
          <p:nvPr/>
        </p:nvSpPr>
        <p:spPr bwMode="auto">
          <a:xfrm>
            <a:off x="6884988" y="445770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45000H</a:t>
            </a:r>
            <a:endParaRPr lang="zh-CN" altLang="zh-CN">
              <a:latin typeface="Times New Roman" panose="02020603050405020304" pitchFamily="18" charset="0"/>
            </a:endParaRPr>
          </a:p>
        </p:txBody>
      </p:sp>
      <p:sp>
        <p:nvSpPr>
          <p:cNvPr id="26" name="Text Box 25"/>
          <p:cNvSpPr txBox="1">
            <a:spLocks noChangeArrowheads="1"/>
          </p:cNvSpPr>
          <p:nvPr/>
        </p:nvSpPr>
        <p:spPr bwMode="auto">
          <a:xfrm>
            <a:off x="6873875" y="4857750"/>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a:latin typeface="Times New Roman" panose="02020603050405020304" pitchFamily="18" charset="0"/>
              </a:rPr>
              <a:t>45001H</a:t>
            </a:r>
            <a:endParaRPr lang="zh-CN" altLang="zh-CN">
              <a:latin typeface="Times New Roman" panose="02020603050405020304" pitchFamily="18" charset="0"/>
            </a:endParaRPr>
          </a:p>
        </p:txBody>
      </p:sp>
      <p:sp>
        <p:nvSpPr>
          <p:cNvPr id="27" name="Text Box 26"/>
          <p:cNvSpPr txBox="1">
            <a:spLocks noChangeArrowheads="1"/>
          </p:cNvSpPr>
          <p:nvPr/>
        </p:nvSpPr>
        <p:spPr bwMode="auto">
          <a:xfrm>
            <a:off x="8169275" y="4471988"/>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34H</a:t>
            </a:r>
            <a:endParaRPr lang="zh-CN" altLang="zh-CN">
              <a:latin typeface="Times New Roman" panose="02020603050405020304" pitchFamily="18" charset="0"/>
            </a:endParaRPr>
          </a:p>
        </p:txBody>
      </p:sp>
      <p:sp>
        <p:nvSpPr>
          <p:cNvPr id="28" name="Text Box 27"/>
          <p:cNvSpPr txBox="1">
            <a:spLocks noChangeArrowheads="1"/>
          </p:cNvSpPr>
          <p:nvPr/>
        </p:nvSpPr>
        <p:spPr bwMode="auto">
          <a:xfrm>
            <a:off x="8188325" y="4840288"/>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12H</a:t>
            </a:r>
            <a:endParaRPr lang="zh-CN" altLang="zh-CN">
              <a:latin typeface="Times New Roman" panose="02020603050405020304" pitchFamily="18" charset="0"/>
            </a:endParaRPr>
          </a:p>
        </p:txBody>
      </p:sp>
      <p:sp>
        <p:nvSpPr>
          <p:cNvPr id="29" name="Text Box 28"/>
          <p:cNvSpPr txBox="1">
            <a:spLocks noChangeArrowheads="1"/>
          </p:cNvSpPr>
          <p:nvPr/>
        </p:nvSpPr>
        <p:spPr bwMode="auto">
          <a:xfrm>
            <a:off x="7999413" y="6238875"/>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grpSp>
        <p:nvGrpSpPr>
          <p:cNvPr id="30" name="Group 29"/>
          <p:cNvGrpSpPr/>
          <p:nvPr/>
        </p:nvGrpSpPr>
        <p:grpSpPr bwMode="auto">
          <a:xfrm>
            <a:off x="3052763" y="3621088"/>
            <a:ext cx="2112962" cy="781050"/>
            <a:chOff x="0" y="0"/>
            <a:chExt cx="1331" cy="492"/>
          </a:xfrm>
        </p:grpSpPr>
        <p:sp>
          <p:nvSpPr>
            <p:cNvPr id="31" name="Line 30"/>
            <p:cNvSpPr>
              <a:spLocks noChangeShapeType="1"/>
            </p:cNvSpPr>
            <p:nvPr/>
          </p:nvSpPr>
          <p:spPr bwMode="auto">
            <a:xfrm>
              <a:off x="0" y="0"/>
              <a:ext cx="0" cy="192"/>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31"/>
            <p:cNvSpPr>
              <a:spLocks noChangeShapeType="1"/>
            </p:cNvSpPr>
            <p:nvPr/>
          </p:nvSpPr>
          <p:spPr bwMode="auto">
            <a:xfrm>
              <a:off x="1" y="192"/>
              <a:ext cx="1330" cy="0"/>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32"/>
            <p:cNvSpPr>
              <a:spLocks noChangeShapeType="1"/>
            </p:cNvSpPr>
            <p:nvPr/>
          </p:nvSpPr>
          <p:spPr bwMode="auto">
            <a:xfrm flipV="1">
              <a:off x="1331" y="14"/>
              <a:ext cx="0" cy="178"/>
            </a:xfrm>
            <a:prstGeom prst="line">
              <a:avLst/>
            </a:prstGeom>
            <a:noFill/>
            <a:ln w="38100" cmpd="sng">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33"/>
            <p:cNvSpPr>
              <a:spLocks noChangeShapeType="1"/>
            </p:cNvSpPr>
            <p:nvPr/>
          </p:nvSpPr>
          <p:spPr bwMode="auto">
            <a:xfrm>
              <a:off x="597" y="190"/>
              <a:ext cx="0" cy="302"/>
            </a:xfrm>
            <a:prstGeom prst="line">
              <a:avLst/>
            </a:prstGeom>
            <a:noFill/>
            <a:ln w="38100" cmpd="sng">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5" name="Text Box 34"/>
          <p:cNvSpPr txBox="1">
            <a:spLocks noChangeArrowheads="1"/>
          </p:cNvSpPr>
          <p:nvPr/>
        </p:nvSpPr>
        <p:spPr bwMode="auto">
          <a:xfrm>
            <a:off x="1985963" y="5551488"/>
            <a:ext cx="3852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hlink"/>
                </a:solidFill>
                <a:latin typeface="Times New Roman" panose="02020603050405020304" pitchFamily="18" charset="0"/>
              </a:rPr>
              <a:t>指令执行后，(AX)=1234H。</a:t>
            </a:r>
            <a:endParaRPr lang="zh-CN" altLang="zh-CN" b="1">
              <a:solidFill>
                <a:schemeClr val="hlink"/>
              </a:solidFill>
              <a:latin typeface="Times New Roman" panose="02020603050405020304" pitchFamily="18" charset="0"/>
            </a:endParaRPr>
          </a:p>
        </p:txBody>
      </p:sp>
      <p:sp>
        <p:nvSpPr>
          <p:cNvPr id="3" name="日期占位符 2"/>
          <p:cNvSpPr>
            <a:spLocks noGrp="1"/>
          </p:cNvSpPr>
          <p:nvPr>
            <p:ph type="dt" sz="half" idx="10"/>
          </p:nvPr>
        </p:nvSpPr>
        <p:spPr/>
        <p:txBody>
          <a:bodyPr/>
          <a:lstStyle/>
          <a:p>
            <a:pPr>
              <a:defRPr/>
            </a:pPr>
            <a:fld id="{0EE28492-E2C4-4442-BABE-8C66F9A66806}" type="datetime10">
              <a:rPr lang="zh-CN" altLang="en-US" smtClean="0"/>
            </a:fld>
            <a:endParaRPr lang="en-US" altLang="zh-CN"/>
          </a:p>
        </p:txBody>
      </p:sp>
      <p:sp>
        <p:nvSpPr>
          <p:cNvPr id="36" name="灯片编号占位符 35"/>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p:cTn id="13" dur="500" fill="hold"/>
                                        <p:tgtEl>
                                          <p:spTgt spid="30"/>
                                        </p:tgtEl>
                                        <p:attrNameLst>
                                          <p:attrName>ppt_x</p:attrName>
                                        </p:attrNameLst>
                                      </p:cBhvr>
                                      <p:tavLst>
                                        <p:tav tm="0">
                                          <p:val>
                                            <p:strVal val="#ppt_x"/>
                                          </p:val>
                                        </p:tav>
                                        <p:tav tm="100000">
                                          <p:val>
                                            <p:strVal val="#ppt_x"/>
                                          </p:val>
                                        </p:tav>
                                      </p:tavLst>
                                    </p:anim>
                                    <p:anim calcmode="lin" valueType="num">
                                      <p:cBhvr>
                                        <p:cTn id="14" dur="500" fill="hold"/>
                                        <p:tgtEl>
                                          <p:spTgt spid="30"/>
                                        </p:tgtEl>
                                        <p:attrNameLst>
                                          <p:attrName>ppt_y</p:attrName>
                                        </p:attrNameLst>
                                      </p:cBhvr>
                                      <p:tavLst>
                                        <p:tav tm="0">
                                          <p:val>
                                            <p:strVal val="#ppt_y-#ppt_h/2"/>
                                          </p:val>
                                        </p:tav>
                                        <p:tav tm="100000">
                                          <p:val>
                                            <p:strVal val="#ppt_y"/>
                                          </p:val>
                                        </p:tav>
                                      </p:tavLst>
                                    </p:anim>
                                    <p:anim calcmode="lin" valueType="num">
                                      <p:cBhvr>
                                        <p:cTn id="15" dur="500" fill="hold"/>
                                        <p:tgtEl>
                                          <p:spTgt spid="30"/>
                                        </p:tgtEl>
                                        <p:attrNameLst>
                                          <p:attrName>ppt_w</p:attrName>
                                        </p:attrNameLst>
                                      </p:cBhvr>
                                      <p:tavLst>
                                        <p:tav tm="0">
                                          <p:val>
                                            <p:strVal val="#ppt_w"/>
                                          </p:val>
                                        </p:tav>
                                        <p:tav tm="100000">
                                          <p:val>
                                            <p:strVal val="#ppt_w"/>
                                          </p:val>
                                        </p:tav>
                                      </p:tavLst>
                                    </p:anim>
                                    <p:anim calcmode="lin" valueType="num">
                                      <p:cBhvr>
                                        <p:cTn id="16" dur="500" fill="hold"/>
                                        <p:tgtEl>
                                          <p:spTgt spid="30"/>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ppt_x</p:attrName>
                                        </p:attrNameLst>
                                      </p:cBhvr>
                                      <p:tavLst>
                                        <p:tav tm="0">
                                          <p:val>
                                            <p:strVal val="#ppt_x-#ppt_w/2"/>
                                          </p:val>
                                        </p:tav>
                                        <p:tav tm="100000">
                                          <p:val>
                                            <p:strVal val="#ppt_x"/>
                                          </p:val>
                                        </p:tav>
                                      </p:tavLst>
                                    </p:anim>
                                    <p:anim calcmode="lin" valueType="num">
                                      <p:cBhvr>
                                        <p:cTn id="28" dur="500" fill="hold"/>
                                        <p:tgtEl>
                                          <p:spTgt spid="10"/>
                                        </p:tgtEl>
                                        <p:attrNameLst>
                                          <p:attrName>ppt_y</p:attrName>
                                        </p:attrNameLst>
                                      </p:cBhvr>
                                      <p:tavLst>
                                        <p:tav tm="0">
                                          <p:val>
                                            <p:strVal val="#ppt_y"/>
                                          </p:val>
                                        </p:tav>
                                        <p:tav tm="100000">
                                          <p:val>
                                            <p:strVal val="#ppt_y"/>
                                          </p:val>
                                        </p:tav>
                                      </p:tavLst>
                                    </p:anim>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8"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ppt_x</p:attrName>
                                        </p:attrNameLst>
                                      </p:cBhvr>
                                      <p:tavLst>
                                        <p:tav tm="0">
                                          <p:val>
                                            <p:strVal val="#ppt_x-#ppt_w/2"/>
                                          </p:val>
                                        </p:tav>
                                        <p:tav tm="100000">
                                          <p:val>
                                            <p:strVal val="#ppt_x"/>
                                          </p:val>
                                        </p:tav>
                                      </p:tavLst>
                                    </p:anim>
                                    <p:anim calcmode="lin" valueType="num">
                                      <p:cBhvr>
                                        <p:cTn id="36" dur="500" fill="hold"/>
                                        <p:tgtEl>
                                          <p:spTgt spid="9"/>
                                        </p:tgtEl>
                                        <p:attrNameLst>
                                          <p:attrName>ppt_y</p:attrName>
                                        </p:attrNameLst>
                                      </p:cBhvr>
                                      <p:tavLst>
                                        <p:tav tm="0">
                                          <p:val>
                                            <p:strVal val="#ppt_y"/>
                                          </p:val>
                                        </p:tav>
                                        <p:tav tm="100000">
                                          <p:val>
                                            <p:strVal val="#ppt_y"/>
                                          </p:val>
                                        </p:tav>
                                      </p:tavLst>
                                    </p:anim>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strVal val="#ppt_h"/>
                                          </p:val>
                                        </p:tav>
                                        <p:tav tm="100000">
                                          <p:val>
                                            <p:strVal val="#ppt_h"/>
                                          </p:val>
                                        </p:tav>
                                      </p:tavLst>
                                    </p:anim>
                                  </p:childTnLst>
                                </p:cTn>
                              </p:par>
                            </p:childTnLst>
                          </p:cTn>
                        </p:par>
                        <p:par>
                          <p:cTn id="39" fill="hold">
                            <p:stCondLst>
                              <p:cond delay="500"/>
                            </p:stCondLst>
                            <p:childTnLst>
                              <p:par>
                                <p:cTn id="40" presetID="17" presetClass="entr" presetSubtype="8"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ppt_x</p:attrName>
                                        </p:attrNameLst>
                                      </p:cBhvr>
                                      <p:tavLst>
                                        <p:tav tm="0">
                                          <p:val>
                                            <p:strVal val="#ppt_x-#ppt_w/2"/>
                                          </p:val>
                                        </p:tav>
                                        <p:tav tm="100000">
                                          <p:val>
                                            <p:strVal val="#ppt_x"/>
                                          </p:val>
                                        </p:tav>
                                      </p:tavLst>
                                    </p:anim>
                                    <p:anim calcmode="lin" valueType="num">
                                      <p:cBhvr>
                                        <p:cTn id="43" dur="500" fill="hold"/>
                                        <p:tgtEl>
                                          <p:spTgt spid="11"/>
                                        </p:tgtEl>
                                        <p:attrNameLst>
                                          <p:attrName>ppt_y</p:attrName>
                                        </p:attrNameLst>
                                      </p:cBhvr>
                                      <p:tavLst>
                                        <p:tav tm="0">
                                          <p:val>
                                            <p:strVal val="#ppt_y"/>
                                          </p:val>
                                        </p:tav>
                                        <p:tav tm="100000">
                                          <p:val>
                                            <p:strVal val="#ppt_y"/>
                                          </p:val>
                                        </p:tav>
                                      </p:tavLst>
                                    </p:anim>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strVal val="#ppt_h"/>
                                          </p:val>
                                        </p:tav>
                                        <p:tav tm="100000">
                                          <p:val>
                                            <p:strVal val="#ppt_h"/>
                                          </p:val>
                                        </p:tav>
                                      </p:tavLst>
                                    </p:anim>
                                  </p:childTnLst>
                                </p:cTn>
                              </p:par>
                            </p:childTnLst>
                          </p:cTn>
                        </p:par>
                        <p:par>
                          <p:cTn id="46" fill="hold">
                            <p:stCondLst>
                              <p:cond delay="1000"/>
                            </p:stCondLst>
                            <p:childTnLst>
                              <p:par>
                                <p:cTn id="47" presetID="2" presetClass="entr" presetSubtype="4"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slide(fromBottom)">
                                      <p:cBhvr>
                                        <p:cTn id="5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9" grpId="0" animBg="1" autoUpdateAnimBg="0"/>
      <p:bldP spid="10" grpId="0" animBg="1" autoUpdateAnimBg="0"/>
      <p:bldP spid="11" grpId="0" animBg="1" autoUpdateAnimBg="0"/>
      <p:bldP spid="12" grpId="0" autoUpdateAnimBg="0"/>
      <p:bldP spid="35"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基址变址寻址</a:t>
            </a:r>
            <a:endParaRPr lang="zh-CN" altLang="en-US" dirty="0"/>
          </a:p>
        </p:txBody>
      </p:sp>
      <p:sp>
        <p:nvSpPr>
          <p:cNvPr id="3" name="内容占位符 2"/>
          <p:cNvSpPr>
            <a:spLocks noGrp="1"/>
          </p:cNvSpPr>
          <p:nvPr>
            <p:ph idx="1"/>
          </p:nvPr>
        </p:nvSpPr>
        <p:spPr/>
        <p:txBody>
          <a:bodyPr/>
          <a:lstStyle/>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有效地址由基址寄存器（BX或BP）的内容加上变址寄存器（SI或DI）的内容构成：</a:t>
            </a:r>
            <a:endParaRPr lang="zh-CN" altLang="zh-CN" sz="2800" b="0" dirty="0">
              <a:latin typeface="Times New Roman" panose="02020603050405020304" pitchFamily="18" charset="0"/>
              <a:ea typeface="楷体_GB2312" pitchFamily="1" charset="-122"/>
            </a:endParaRPr>
          </a:p>
          <a:p>
            <a:pPr lvl="1">
              <a:lnSpc>
                <a:spcPct val="90000"/>
              </a:lnSpc>
              <a:buFont typeface="Wingdings" panose="05000000000000000000" pitchFamily="2" charset="2"/>
              <a:buNone/>
            </a:pPr>
            <a:r>
              <a:rPr lang="zh-CN" altLang="zh-CN" b="0" dirty="0">
                <a:solidFill>
                  <a:schemeClr val="hlink"/>
                </a:solidFill>
                <a:latin typeface="Times New Roman" panose="02020603050405020304" pitchFamily="18" charset="0"/>
                <a:ea typeface="楷体_GB2312" pitchFamily="1" charset="-122"/>
              </a:rPr>
              <a:t>有效地址＝BX/BP＋SI/DI ＋8/16位位移量</a:t>
            </a:r>
            <a:endParaRPr lang="zh-CN" altLang="zh-CN" b="0" dirty="0">
              <a:solidFill>
                <a:schemeClr val="hlink"/>
              </a:solidFill>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段基址对应BX寄存器</a:t>
            </a:r>
            <a:r>
              <a:rPr lang="zh-CN" altLang="zh-CN" sz="2800" b="0" dirty="0">
                <a:solidFill>
                  <a:schemeClr val="hlink"/>
                </a:solidFill>
                <a:latin typeface="Times New Roman" panose="02020603050405020304" pitchFamily="18" charset="0"/>
                <a:ea typeface="楷体_GB2312" pitchFamily="1" charset="-122"/>
              </a:rPr>
              <a:t>默认是</a:t>
            </a:r>
            <a:r>
              <a:rPr lang="zh-CN" altLang="zh-CN" sz="2800" b="0" dirty="0">
                <a:latin typeface="Times New Roman" panose="02020603050405020304" pitchFamily="18" charset="0"/>
                <a:ea typeface="楷体_GB2312" pitchFamily="1" charset="-122"/>
              </a:rPr>
              <a:t>DS，对应BP寄存器</a:t>
            </a:r>
            <a:r>
              <a:rPr lang="zh-CN" altLang="zh-CN" sz="2800" b="0" dirty="0">
                <a:solidFill>
                  <a:schemeClr val="hlink"/>
                </a:solidFill>
                <a:latin typeface="Times New Roman" panose="02020603050405020304" pitchFamily="18" charset="0"/>
                <a:ea typeface="楷体_GB2312" pitchFamily="1" charset="-122"/>
              </a:rPr>
              <a:t>默认是</a:t>
            </a:r>
            <a:r>
              <a:rPr lang="zh-CN" altLang="zh-CN" sz="2800" b="0" dirty="0">
                <a:latin typeface="Times New Roman" panose="02020603050405020304" pitchFamily="18" charset="0"/>
                <a:ea typeface="楷体_GB2312" pitchFamily="1" charset="-122"/>
              </a:rPr>
              <a:t>SS；可用段前缀改变。</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该寻址方式适用于数组或表格存取。</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Char char="Ø"/>
            </a:pPr>
            <a:r>
              <a:rPr lang="zh-CN" altLang="zh-CN" sz="2800" b="0" dirty="0">
                <a:latin typeface="Times New Roman" panose="02020603050405020304" pitchFamily="18" charset="0"/>
                <a:ea typeface="楷体_GB2312" pitchFamily="1" charset="-122"/>
              </a:rPr>
              <a:t>MOV   AX，8[BX+SI] ；默认操作数在数据段中</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BX，-6[BP+DI]；默认操作数在堆栈段中</a:t>
            </a:r>
            <a:endParaRPr lang="zh-CN" altLang="zh-CN" sz="2800" b="0" dirty="0">
              <a:latin typeface="Times New Roman" panose="02020603050405020304" pitchFamily="18" charset="0"/>
              <a:ea typeface="楷体_GB2312" pitchFamily="1" charset="-122"/>
            </a:endParaRPr>
          </a:p>
          <a:p>
            <a:pPr>
              <a:lnSpc>
                <a:spcPct val="9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BX，ES:[BP+DI] ；操作数在附加段中</a:t>
            </a:r>
            <a:r>
              <a:rPr lang="zh-CN" altLang="zh-CN" sz="2800" dirty="0">
                <a:latin typeface="Times New Roman" panose="02020603050405020304" pitchFamily="18" charset="0"/>
                <a:ea typeface="楷体_GB2312" pitchFamily="1" charset="-122"/>
              </a:rPr>
              <a:t> </a:t>
            </a:r>
            <a:endParaRPr lang="zh-CN" altLang="zh-CN" sz="280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固定寻址</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固定寻址又叫隐含寻址。</a:t>
            </a:r>
            <a:endParaRPr lang="zh-CN" altLang="en-US" dirty="0"/>
          </a:p>
          <a:p>
            <a:r>
              <a:rPr lang="zh-CN" altLang="en-US" dirty="0"/>
              <a:t>指令码中不包含指明操作数地址的部分，而其操码本身隐含地指明了操作数地址。</a:t>
            </a:r>
            <a:endParaRPr lang="en-US" altLang="zh-CN" dirty="0"/>
          </a:p>
          <a:p>
            <a:r>
              <a:rPr lang="zh-CN" altLang="en-US" dirty="0"/>
              <a:t>例如</a:t>
            </a:r>
            <a:r>
              <a:rPr lang="zh-CN" altLang="en-US" dirty="0" smtClean="0"/>
              <a:t>：</a:t>
            </a:r>
            <a:endParaRPr lang="en-US" altLang="zh-CN" dirty="0" smtClean="0"/>
          </a:p>
          <a:p>
            <a:pPr>
              <a:buNone/>
            </a:pPr>
            <a:r>
              <a:rPr lang="zh-CN" altLang="en-US" dirty="0" smtClean="0"/>
              <a:t>    十进制调整指令</a:t>
            </a:r>
            <a:r>
              <a:rPr lang="en-US" altLang="zh-CN" dirty="0" smtClean="0"/>
              <a:t>DAA</a:t>
            </a:r>
            <a:r>
              <a:rPr lang="zh-CN" altLang="en-US" dirty="0" smtClean="0"/>
              <a:t>，该指令的功能是对</a:t>
            </a:r>
            <a:r>
              <a:rPr lang="en-US" altLang="zh-CN" dirty="0" smtClean="0"/>
              <a:t>AL</a:t>
            </a:r>
            <a:r>
              <a:rPr lang="zh-CN" altLang="en-US" dirty="0" smtClean="0"/>
              <a:t>寄存器中的内容进行十进制调整，调整后的内容仍存放到</a:t>
            </a:r>
            <a:r>
              <a:rPr lang="en-US" altLang="zh-CN" dirty="0" smtClean="0"/>
              <a:t>AL</a:t>
            </a:r>
            <a:r>
              <a:rPr lang="zh-CN" altLang="en-US" dirty="0" smtClean="0"/>
              <a:t>中。</a:t>
            </a:r>
            <a:endParaRPr lang="zh-CN" altLang="en-US" dirty="0" smtClean="0"/>
          </a:p>
          <a:p>
            <a:endParaRPr lang="zh-CN" altLang="en-US" dirty="0"/>
          </a:p>
          <a:p>
            <a:pPr marL="0" indent="0">
              <a:buNone/>
            </a:pPr>
            <a:r>
              <a:rPr lang="en-US" altLang="zh-CN" dirty="0"/>
              <a:t>         MUL BL ;AL</a:t>
            </a:r>
            <a:r>
              <a:rPr lang="zh-CN" altLang="en-US" dirty="0"/>
              <a:t>乘以</a:t>
            </a:r>
            <a:r>
              <a:rPr lang="en-US" altLang="zh-CN" dirty="0"/>
              <a:t>BL </a:t>
            </a:r>
            <a:r>
              <a:rPr lang="zh-CN" altLang="en-US" dirty="0"/>
              <a:t>，结果存在</a:t>
            </a:r>
            <a:r>
              <a:rPr lang="en-US" altLang="zh-CN" dirty="0"/>
              <a:t>AX</a:t>
            </a:r>
            <a:r>
              <a:rPr lang="zh-CN" altLang="en-US" dirty="0"/>
              <a:t>中。</a:t>
            </a:r>
            <a:endParaRPr lang="zh-CN" altLang="en-US" dirty="0"/>
          </a:p>
          <a:p>
            <a:pPr marL="0" indent="0">
              <a:buNone/>
            </a:pPr>
            <a:r>
              <a:rPr lang="en-US" altLang="zh-CN" dirty="0"/>
              <a:t>         </a:t>
            </a:r>
            <a:endParaRPr lang="zh-CN" altLang="en-US" dirty="0"/>
          </a:p>
        </p:txBody>
      </p:sp>
      <p:sp>
        <p:nvSpPr>
          <p:cNvPr id="4" name="日期占位符 3"/>
          <p:cNvSpPr>
            <a:spLocks noGrp="1"/>
          </p:cNvSpPr>
          <p:nvPr>
            <p:ph type="dt" sz="half" idx="10"/>
          </p:nvPr>
        </p:nvSpPr>
        <p:spPr/>
        <p:txBody>
          <a:bodyPr/>
          <a:lstStyle/>
          <a:p>
            <a:pPr>
              <a:defRPr/>
            </a:pPr>
            <a:fld id="{48008FAC-1574-4BBC-B6EC-D3E6FEC1872C}"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数据传送类指令</a:t>
            </a:r>
            <a:endParaRPr lang="zh-CN" altLang="en-US" dirty="0"/>
          </a:p>
        </p:txBody>
      </p:sp>
      <p:sp>
        <p:nvSpPr>
          <p:cNvPr id="3" name="内容占位符 2"/>
          <p:cNvSpPr>
            <a:spLocks noGrp="1"/>
          </p:cNvSpPr>
          <p:nvPr>
            <p:ph idx="1"/>
          </p:nvPr>
        </p:nvSpPr>
        <p:spPr/>
        <p:txBody>
          <a:bodyPr/>
          <a:lstStyle/>
          <a:p>
            <a:pPr>
              <a:lnSpc>
                <a:spcPct val="80000"/>
              </a:lnSpc>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数据传送是计算机中最基本、最重要的一种操作,传送指令也是最常使用的一类指令。</a:t>
            </a:r>
            <a:endParaRPr lang="zh-CN" altLang="en-US"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Char char="Ø"/>
            </a:pPr>
            <a:r>
              <a:rPr lang="zh-CN" altLang="en-US" sz="2800" b="0" dirty="0">
                <a:solidFill>
                  <a:schemeClr val="hlink"/>
                </a:solidFill>
                <a:latin typeface="Times New Roman" panose="02020603050405020304" pitchFamily="18" charset="0"/>
                <a:ea typeface="楷体_GB2312" pitchFamily="1" charset="-122"/>
              </a:rPr>
              <a:t>除标志寄存器传送指令外，均不影响标志位。</a:t>
            </a:r>
            <a:endParaRPr lang="zh-CN" altLang="en-US" sz="2800" b="0" dirty="0">
              <a:solidFill>
                <a:schemeClr val="hlink"/>
              </a:solidFill>
              <a:latin typeface="Times New Roman" panose="02020603050405020304" pitchFamily="18" charset="0"/>
              <a:ea typeface="楷体_GB2312" pitchFamily="1" charset="-122"/>
            </a:endParaRPr>
          </a:p>
          <a:p>
            <a:pPr>
              <a:lnSpc>
                <a:spcPct val="80000"/>
              </a:lnSpc>
              <a:buFont typeface="Wingdings" panose="05000000000000000000" pitchFamily="2" charset="2"/>
              <a:buChar char="Ø"/>
            </a:pPr>
            <a:r>
              <a:rPr lang="zh-CN" altLang="en-US" sz="2800" b="0" dirty="0">
                <a:latin typeface="Times New Roman" panose="02020603050405020304" pitchFamily="18" charset="0"/>
                <a:ea typeface="楷体_GB2312" pitchFamily="1" charset="-122"/>
              </a:rPr>
              <a:t>本小节内容：</a:t>
            </a:r>
            <a:endParaRPr lang="zh-CN" altLang="en-US" sz="2800" b="0" dirty="0">
              <a:latin typeface="Times New Roman" panose="02020603050405020304" pitchFamily="18" charset="0"/>
              <a:ea typeface="楷体_GB2312" pitchFamily="1" charset="-122"/>
            </a:endParaRPr>
          </a:p>
          <a:p>
            <a:pPr lvl="1">
              <a:lnSpc>
                <a:spcPct val="80000"/>
              </a:lnSpc>
            </a:pPr>
            <a:r>
              <a:rPr lang="zh-CN" altLang="en-US" b="0" dirty="0">
                <a:latin typeface="Times New Roman" panose="02020603050405020304" pitchFamily="18" charset="0"/>
                <a:ea typeface="楷体_GB2312" pitchFamily="1" charset="-122"/>
              </a:rPr>
              <a:t>通用数据传送</a:t>
            </a:r>
            <a:r>
              <a:rPr lang="zh-CN" altLang="en-US" b="0" dirty="0" smtClean="0">
                <a:latin typeface="Times New Roman" panose="02020603050405020304" pitchFamily="18" charset="0"/>
                <a:ea typeface="楷体_GB2312" pitchFamily="1" charset="-122"/>
              </a:rPr>
              <a:t>指令（</a:t>
            </a:r>
            <a:r>
              <a:rPr lang="en-US" altLang="zh-CN" b="0" dirty="0" smtClean="0">
                <a:latin typeface="Times New Roman" panose="02020603050405020304" pitchFamily="18" charset="0"/>
                <a:ea typeface="楷体_GB2312" pitchFamily="1" charset="-122"/>
              </a:rPr>
              <a:t>P56 </a:t>
            </a:r>
            <a:r>
              <a:rPr lang="zh-CN" altLang="en-US" b="0" dirty="0" smtClean="0">
                <a:latin typeface="Times New Roman" panose="02020603050405020304" pitchFamily="18" charset="0"/>
                <a:ea typeface="楷体_GB2312" pitchFamily="1" charset="-122"/>
              </a:rPr>
              <a:t>注意事项）</a:t>
            </a:r>
            <a:endParaRPr lang="zh-CN" altLang="en-US" b="0" dirty="0">
              <a:latin typeface="Times New Roman" panose="02020603050405020304" pitchFamily="18" charset="0"/>
              <a:ea typeface="楷体_GB2312" pitchFamily="1" charset="-122"/>
            </a:endParaRPr>
          </a:p>
          <a:p>
            <a:pPr lvl="1">
              <a:lnSpc>
                <a:spcPct val="80000"/>
              </a:lnSpc>
            </a:pPr>
            <a:r>
              <a:rPr lang="zh-CN" altLang="en-US" b="0" dirty="0">
                <a:latin typeface="Times New Roman" panose="02020603050405020304" pitchFamily="18" charset="0"/>
                <a:ea typeface="楷体_GB2312" pitchFamily="1" charset="-122"/>
              </a:rPr>
              <a:t>标志寄存器传送指令</a:t>
            </a:r>
            <a:endParaRPr lang="zh-CN" altLang="en-US" b="0" dirty="0">
              <a:latin typeface="Times New Roman" panose="02020603050405020304" pitchFamily="18" charset="0"/>
              <a:ea typeface="楷体_GB2312" pitchFamily="1" charset="-122"/>
            </a:endParaRPr>
          </a:p>
          <a:p>
            <a:pPr lvl="1">
              <a:lnSpc>
                <a:spcPct val="80000"/>
              </a:lnSpc>
            </a:pPr>
            <a:r>
              <a:rPr lang="zh-CN" altLang="en-US" b="0" dirty="0">
                <a:latin typeface="Times New Roman" panose="02020603050405020304" pitchFamily="18" charset="0"/>
                <a:ea typeface="楷体_GB2312" pitchFamily="1" charset="-122"/>
              </a:rPr>
              <a:t>目标地址传送指令</a:t>
            </a:r>
            <a:endParaRPr lang="zh-CN" altLang="en-US" b="0" dirty="0">
              <a:latin typeface="Times New Roman" panose="02020603050405020304" pitchFamily="18" charset="0"/>
              <a:ea typeface="楷体_GB2312" pitchFamily="1" charset="-122"/>
            </a:endParaRPr>
          </a:p>
          <a:p>
            <a:pPr lvl="1">
              <a:lnSpc>
                <a:spcPct val="80000"/>
              </a:lnSpc>
            </a:pPr>
            <a:r>
              <a:rPr lang="zh-CN" altLang="en-US" b="0" dirty="0">
                <a:latin typeface="Times New Roman" panose="02020603050405020304" pitchFamily="18" charset="0"/>
                <a:ea typeface="楷体_GB2312" pitchFamily="1" charset="-122"/>
              </a:rPr>
              <a:t>输入/输出指令</a:t>
            </a:r>
            <a:endParaRPr lang="zh-CN" altLang="en-US" b="0" dirty="0">
              <a:latin typeface="Times New Roman" panose="02020603050405020304" pitchFamily="18" charset="0"/>
              <a:ea typeface="楷体_GB2312" pitchFamily="1" charset="-122"/>
            </a:endParaRPr>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MOV</a:t>
            </a:r>
            <a:r>
              <a:rPr lang="zh-CN" altLang="en-US" dirty="0"/>
              <a:t>传送指令</a:t>
            </a:r>
            <a:endParaRPr lang="zh-CN" altLang="en-US" dirty="0"/>
          </a:p>
        </p:txBody>
      </p:sp>
      <p:sp>
        <p:nvSpPr>
          <p:cNvPr id="3" name="内容占位符 2"/>
          <p:cNvSpPr>
            <a:spLocks noGrp="1"/>
          </p:cNvSpPr>
          <p:nvPr>
            <p:ph idx="1"/>
          </p:nvPr>
        </p:nvSpPr>
        <p:spPr/>
        <p:txBody>
          <a:bodyPr>
            <a:normAutofit/>
          </a:bodyPr>
          <a:lstStyle/>
          <a:p>
            <a:r>
              <a:rPr lang="en-US" altLang="zh-CN" dirty="0"/>
              <a:t>MOV</a:t>
            </a:r>
            <a:r>
              <a:rPr lang="zh-CN" altLang="en-US" dirty="0"/>
              <a:t>指令使用时的注意点：</a:t>
            </a:r>
            <a:endParaRPr lang="en-US" altLang="zh-CN" dirty="0"/>
          </a:p>
          <a:p>
            <a:pPr lvl="1"/>
            <a:r>
              <a:rPr lang="zh-CN" altLang="zh-CN" dirty="0">
                <a:latin typeface="+mn-ea"/>
              </a:rPr>
              <a:t>立即数、CS和IP不能作为目的操作数。</a:t>
            </a:r>
            <a:endParaRPr lang="en-US" altLang="zh-CN" dirty="0">
              <a:latin typeface="+mn-ea"/>
            </a:endParaRPr>
          </a:p>
          <a:p>
            <a:pPr lvl="1"/>
            <a:r>
              <a:rPr lang="zh-CN" altLang="zh-CN" dirty="0">
                <a:latin typeface="+mn-ea"/>
              </a:rPr>
              <a:t>两个段寄存器之间不能相互传送数据</a:t>
            </a:r>
            <a:r>
              <a:rPr lang="zh-CN" altLang="zh-CN" dirty="0" smtClean="0">
                <a:latin typeface="+mn-ea"/>
              </a:rPr>
              <a:t>。</a:t>
            </a:r>
            <a:r>
              <a:rPr lang="zh-CN" altLang="en-US" dirty="0" smtClean="0">
                <a:latin typeface="+mn-ea"/>
              </a:rPr>
              <a:t>（</a:t>
            </a:r>
            <a:r>
              <a:rPr lang="en-US" altLang="zh-CN" dirty="0" smtClean="0">
                <a:latin typeface="+mn-ea"/>
              </a:rPr>
              <a:t>AX)</a:t>
            </a:r>
            <a:endParaRPr lang="zh-CN" altLang="zh-CN" dirty="0">
              <a:latin typeface="+mn-ea"/>
            </a:endParaRPr>
          </a:p>
          <a:p>
            <a:pPr lvl="1"/>
            <a:r>
              <a:rPr lang="zh-CN" altLang="zh-CN" dirty="0">
                <a:latin typeface="+mn-ea"/>
              </a:rPr>
              <a:t>两个存储单元之间不能直接传送</a:t>
            </a:r>
            <a:r>
              <a:rPr lang="zh-CN" altLang="zh-CN" dirty="0" smtClean="0">
                <a:latin typeface="+mn-ea"/>
              </a:rPr>
              <a:t>。</a:t>
            </a:r>
            <a:r>
              <a:rPr lang="zh-CN" altLang="en-US" dirty="0" smtClean="0">
                <a:latin typeface="+mn-ea"/>
              </a:rPr>
              <a:t> （</a:t>
            </a:r>
            <a:r>
              <a:rPr lang="en-US" altLang="zh-CN" dirty="0" smtClean="0">
                <a:latin typeface="+mn-ea"/>
              </a:rPr>
              <a:t>AX)</a:t>
            </a:r>
            <a:endParaRPr lang="zh-CN" altLang="zh-CN" dirty="0">
              <a:latin typeface="+mn-ea"/>
            </a:endParaRPr>
          </a:p>
          <a:p>
            <a:pPr lvl="1"/>
            <a:r>
              <a:rPr lang="zh-CN" altLang="zh-CN" dirty="0">
                <a:latin typeface="+mn-ea"/>
              </a:rPr>
              <a:t>不能将立即数直接传送到段寄存器</a:t>
            </a:r>
            <a:r>
              <a:rPr lang="zh-CN" altLang="zh-CN" dirty="0" smtClean="0">
                <a:latin typeface="+mn-ea"/>
              </a:rPr>
              <a:t>。</a:t>
            </a:r>
            <a:r>
              <a:rPr lang="zh-CN" altLang="en-US" dirty="0" smtClean="0">
                <a:latin typeface="+mn-ea"/>
              </a:rPr>
              <a:t> （</a:t>
            </a:r>
            <a:r>
              <a:rPr lang="en-US" altLang="zh-CN" dirty="0" smtClean="0">
                <a:latin typeface="+mn-ea"/>
              </a:rPr>
              <a:t>AX)</a:t>
            </a:r>
            <a:endParaRPr lang="zh-CN" altLang="zh-CN" dirty="0">
              <a:latin typeface="+mn-ea"/>
            </a:endParaRPr>
          </a:p>
          <a:p>
            <a:pPr lvl="1"/>
            <a:r>
              <a:rPr lang="zh-CN" altLang="zh-CN" dirty="0">
                <a:latin typeface="+mn-ea"/>
              </a:rPr>
              <a:t>两个操作数的类型和长度必须一致。</a:t>
            </a:r>
            <a:endParaRPr lang="zh-CN" altLang="zh-CN" dirty="0">
              <a:latin typeface="+mn-ea"/>
            </a:endParaRPr>
          </a:p>
          <a:p>
            <a:pPr lvl="1"/>
            <a:r>
              <a:rPr lang="en-US" altLang="zh-CN" dirty="0"/>
              <a:t>MOV BX,AL  </a:t>
            </a:r>
            <a:r>
              <a:rPr lang="zh-CN" altLang="en-US" dirty="0" smtClean="0"/>
              <a:t>类型不一致 </a:t>
            </a:r>
            <a:endParaRPr lang="en-US" altLang="zh-CN" dirty="0" smtClean="0"/>
          </a:p>
          <a:p>
            <a:pPr lvl="1"/>
            <a:r>
              <a:rPr lang="en-US" altLang="zh-CN" dirty="0" smtClean="0"/>
              <a:t>MOV AL,256 </a:t>
            </a:r>
            <a:r>
              <a:rPr lang="zh-CN" altLang="en-US" smtClean="0"/>
              <a:t> 长度不一致</a:t>
            </a:r>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PUSH</a:t>
            </a:r>
            <a:r>
              <a:rPr lang="zh-CN" altLang="en-US" dirty="0"/>
              <a:t>入栈指令与</a:t>
            </a:r>
            <a:r>
              <a:rPr lang="en-US" altLang="zh-CN" dirty="0"/>
              <a:t>POP</a:t>
            </a:r>
            <a:r>
              <a:rPr lang="zh-CN" altLang="en-US" dirty="0"/>
              <a:t>出栈指令</a:t>
            </a:r>
            <a:endParaRPr lang="zh-CN" altLang="en-US" dirty="0"/>
          </a:p>
        </p:txBody>
      </p:sp>
      <p:sp>
        <p:nvSpPr>
          <p:cNvPr id="3" name="内容占位符 2"/>
          <p:cNvSpPr>
            <a:spLocks noGrp="1"/>
          </p:cNvSpPr>
          <p:nvPr>
            <p:ph idx="1"/>
          </p:nvPr>
        </p:nvSpPr>
        <p:spPr/>
        <p:txBody>
          <a:bodyPr/>
          <a:lstStyle/>
          <a:p>
            <a:r>
              <a:rPr lang="zh-CN" altLang="en-US" dirty="0"/>
              <a:t>堆栈是一个“后进先出</a:t>
            </a:r>
            <a:r>
              <a:rPr lang="en-US" altLang="zh-CN" dirty="0"/>
              <a:t>LIFO”</a:t>
            </a:r>
            <a:r>
              <a:rPr lang="zh-CN" altLang="en-US" dirty="0"/>
              <a:t>（或“先进后出</a:t>
            </a:r>
            <a:r>
              <a:rPr lang="en-US" altLang="zh-CN" dirty="0"/>
              <a:t>FILO”</a:t>
            </a:r>
            <a:r>
              <a:rPr lang="zh-CN" altLang="en-US" dirty="0"/>
              <a:t>）的主存区域，位于堆栈段中；</a:t>
            </a:r>
            <a:r>
              <a:rPr lang="en-US" altLang="zh-CN" dirty="0"/>
              <a:t>SS</a:t>
            </a:r>
            <a:r>
              <a:rPr lang="zh-CN" altLang="en-US" dirty="0"/>
              <a:t>段寄存器记录其段基址。</a:t>
            </a:r>
            <a:endParaRPr lang="zh-CN" altLang="en-US" dirty="0"/>
          </a:p>
          <a:p>
            <a:r>
              <a:rPr lang="zh-CN" altLang="en-US" dirty="0"/>
              <a:t>栈顶：堆栈的存取操作都发生在栈顶，用</a:t>
            </a:r>
            <a:r>
              <a:rPr lang="en-US" altLang="zh-CN" dirty="0"/>
              <a:t>SP</a:t>
            </a:r>
            <a:r>
              <a:rPr lang="zh-CN" altLang="en-US" dirty="0"/>
              <a:t>指定。</a:t>
            </a:r>
            <a:endParaRPr lang="zh-CN" altLang="en-US" dirty="0"/>
          </a:p>
          <a:p>
            <a:r>
              <a:rPr lang="zh-CN" altLang="en-US" dirty="0"/>
              <a:t>堆栈的指令包括：</a:t>
            </a:r>
            <a:endParaRPr lang="en-US" altLang="zh-CN" dirty="0"/>
          </a:p>
          <a:p>
            <a:pPr lvl="1"/>
            <a:r>
              <a:rPr lang="en-US" altLang="zh-CN" dirty="0"/>
              <a:t>PUSH</a:t>
            </a:r>
            <a:endParaRPr lang="en-US" altLang="zh-CN" dirty="0"/>
          </a:p>
          <a:p>
            <a:pPr lvl="1"/>
            <a:r>
              <a:rPr lang="en-US" altLang="zh-CN" dirty="0"/>
              <a:t>POP</a:t>
            </a:r>
            <a:endParaRPr lang="zh-CN" altLang="en-US" dirty="0"/>
          </a:p>
        </p:txBody>
      </p:sp>
      <p:sp>
        <p:nvSpPr>
          <p:cNvPr id="4" name="日期占位符 3"/>
          <p:cNvSpPr>
            <a:spLocks noGrp="1"/>
          </p:cNvSpPr>
          <p:nvPr>
            <p:ph type="dt" sz="half" idx="10"/>
          </p:nvPr>
        </p:nvSpPr>
        <p:spPr/>
        <p:txBody>
          <a:bodyPr/>
          <a:lstStyle/>
          <a:p>
            <a:pPr>
              <a:defRPr/>
            </a:pPr>
            <a:fld id="{B37C91FE-09DB-43C1-9279-E316DB38752A}"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入栈指令</a:t>
            </a:r>
            <a:r>
              <a:rPr lang="en-US" altLang="zh-CN" dirty="0"/>
              <a:t>PUSH</a:t>
            </a:r>
            <a:endParaRPr lang="zh-CN" altLang="en-US" dirty="0"/>
          </a:p>
        </p:txBody>
      </p:sp>
      <p:sp>
        <p:nvSpPr>
          <p:cNvPr id="3" name="内容占位符 2"/>
          <p:cNvSpPr>
            <a:spLocks noGrp="1"/>
          </p:cNvSpPr>
          <p:nvPr>
            <p:ph idx="1"/>
          </p:nvPr>
        </p:nvSpPr>
        <p:spPr/>
        <p:txBody>
          <a:bodyPr>
            <a:normAutofit/>
          </a:bodyPr>
          <a:lstStyle/>
          <a:p>
            <a:pPr>
              <a:buFont typeface="Wingdings" panose="05000000000000000000" pitchFamily="2" charset="2"/>
              <a:buChar char="Ø"/>
            </a:pPr>
            <a:r>
              <a:rPr lang="zh-CN" altLang="en-US" dirty="0">
                <a:latin typeface="Times New Roman" panose="02020603050405020304" pitchFamily="18" charset="0"/>
              </a:rPr>
              <a:t>格式：</a:t>
            </a:r>
            <a:r>
              <a:rPr lang="en-US" altLang="zh-CN" dirty="0">
                <a:latin typeface="Times New Roman" panose="02020603050405020304" pitchFamily="18" charset="0"/>
              </a:rPr>
              <a:t>PUSH  OPS</a:t>
            </a:r>
            <a:endParaRPr lang="en-US" altLang="zh-CN" dirty="0">
              <a:latin typeface="Times New Roman" panose="02020603050405020304" pitchFamily="18" charset="0"/>
            </a:endParaRPr>
          </a:p>
          <a:p>
            <a:pPr>
              <a:buFont typeface="Wingdings" panose="05000000000000000000" pitchFamily="2" charset="2"/>
              <a:buChar char="Ø"/>
            </a:pPr>
            <a:r>
              <a:rPr lang="zh-CN" altLang="en-US" dirty="0">
                <a:latin typeface="Times New Roman" panose="02020603050405020304" pitchFamily="18" charset="0"/>
              </a:rPr>
              <a:t>功能：修改指针：</a:t>
            </a:r>
            <a:r>
              <a:rPr lang="en-US" altLang="zh-CN" dirty="0">
                <a:latin typeface="Times New Roman" panose="02020603050405020304" pitchFamily="18" charset="0"/>
              </a:rPr>
              <a:t>(SP)-2→SP</a:t>
            </a:r>
            <a:r>
              <a:rPr lang="zh-CN" altLang="en-US" dirty="0">
                <a:latin typeface="Times New Roman" panose="02020603050405020304" pitchFamily="18" charset="0"/>
              </a:rPr>
              <a:t>；将</a:t>
            </a:r>
            <a:r>
              <a:rPr lang="en-US" altLang="zh-CN" dirty="0">
                <a:latin typeface="Times New Roman" panose="02020603050405020304" pitchFamily="18" charset="0"/>
              </a:rPr>
              <a:t>OPS</a:t>
            </a:r>
            <a:r>
              <a:rPr lang="zh-CN" altLang="en-US" dirty="0">
                <a:latin typeface="Times New Roman" panose="02020603050405020304" pitchFamily="18" charset="0"/>
              </a:rPr>
              <a:t>指定的寄存器、段寄存器或存储器中的一个字数据压入堆栈的顶部。</a:t>
            </a:r>
            <a:endParaRPr lang="zh-CN" altLang="en-US" dirty="0">
              <a:latin typeface="Times New Roman" panose="02020603050405020304" pitchFamily="18" charset="0"/>
            </a:endParaRPr>
          </a:p>
          <a:p>
            <a:pPr>
              <a:buFont typeface="Wingdings" panose="05000000000000000000" pitchFamily="2" charset="2"/>
              <a:buChar char="Ø"/>
            </a:pPr>
            <a:r>
              <a:rPr lang="en-US" altLang="zh-CN" dirty="0">
                <a:latin typeface="Times New Roman" panose="02020603050405020304" pitchFamily="18" charset="0"/>
              </a:rPr>
              <a:t>PUSH</a:t>
            </a:r>
            <a:r>
              <a:rPr lang="zh-CN" altLang="en-US" dirty="0">
                <a:latin typeface="Times New Roman" panose="02020603050405020304" pitchFamily="18" charset="0"/>
              </a:rPr>
              <a:t>指令在使用时应该注意：</a:t>
            </a:r>
            <a:endParaRPr lang="en-US" altLang="zh-CN" dirty="0">
              <a:latin typeface="Times New Roman" panose="02020603050405020304" pitchFamily="18" charset="0"/>
            </a:endParaRPr>
          </a:p>
          <a:p>
            <a:pPr lvl="1"/>
            <a:r>
              <a:rPr lang="zh-CN" altLang="en-US" dirty="0">
                <a:latin typeface="Times New Roman" panose="02020603050405020304" pitchFamily="18" charset="0"/>
              </a:rPr>
              <a:t>源操作数只能是</a:t>
            </a:r>
            <a:r>
              <a:rPr lang="en-US" altLang="zh-CN" dirty="0">
                <a:latin typeface="Times New Roman" panose="02020603050405020304" pitchFamily="18" charset="0"/>
              </a:rPr>
              <a:t>16</a:t>
            </a:r>
            <a:r>
              <a:rPr lang="zh-CN" altLang="en-US" dirty="0">
                <a:latin typeface="Times New Roman" panose="02020603050405020304" pitchFamily="18" charset="0"/>
              </a:rPr>
              <a:t>位，而不能是</a:t>
            </a:r>
            <a:r>
              <a:rPr lang="en-US" altLang="zh-CN" dirty="0">
                <a:latin typeface="Times New Roman" panose="02020603050405020304" pitchFamily="18" charset="0"/>
              </a:rPr>
              <a:t>8</a:t>
            </a:r>
            <a:r>
              <a:rPr lang="zh-CN" altLang="en-US" dirty="0">
                <a:latin typeface="Times New Roman" panose="02020603050405020304" pitchFamily="18" charset="0"/>
              </a:rPr>
              <a:t>位的。</a:t>
            </a:r>
            <a:endParaRPr lang="en-US" altLang="zh-CN" dirty="0">
              <a:latin typeface="Times New Roman" panose="02020603050405020304" pitchFamily="18" charset="0"/>
            </a:endParaRPr>
          </a:p>
          <a:p>
            <a:pPr lvl="1"/>
            <a:r>
              <a:rPr lang="zh-CN" altLang="en-US" dirty="0">
                <a:latin typeface="Times New Roman" panose="02020603050405020304" pitchFamily="18" charset="0"/>
              </a:rPr>
              <a:t>源操作数不能为立即数。 </a:t>
            </a:r>
            <a:endParaRPr lang="zh-CN" altLang="en-US" dirty="0"/>
          </a:p>
        </p:txBody>
      </p:sp>
      <p:sp>
        <p:nvSpPr>
          <p:cNvPr id="4" name="日期占位符 3"/>
          <p:cNvSpPr>
            <a:spLocks noGrp="1"/>
          </p:cNvSpPr>
          <p:nvPr>
            <p:ph type="dt" sz="half" idx="10"/>
          </p:nvPr>
        </p:nvSpPr>
        <p:spPr/>
        <p:txBody>
          <a:bodyPr/>
          <a:lstStyle/>
          <a:p>
            <a:pPr>
              <a:defRPr/>
            </a:pPr>
            <a:fld id="{AAC503BA-2D4A-4A21-9475-E8CE23D135EA}"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749300" y="847725"/>
            <a:ext cx="10515600" cy="1325563"/>
          </a:xfrm>
        </p:spPr>
        <p:txBody>
          <a:bodyPr/>
          <a:lstStyle/>
          <a:p>
            <a:pPr marL="0" indent="0" algn="l">
              <a:buFont typeface="Wingdings" panose="05000000000000000000" pitchFamily="2" charset="2"/>
              <a:buNone/>
            </a:pPr>
            <a:r>
              <a:rPr lang="zh-CN" altLang="zh-CN" b="0" dirty="0">
                <a:latin typeface="Times New Roman" panose="02020603050405020304" pitchFamily="18" charset="0"/>
                <a:ea typeface="楷体_GB2312" pitchFamily="1" charset="-122"/>
              </a:rPr>
              <a:t>例：假设在指令执行前，(SP)=1000H；(AX)= 1234H。试分析PUSH  AX指令的执行结果。</a:t>
            </a:r>
            <a:endParaRPr lang="zh-CN" altLang="zh-CN" dirty="0"/>
          </a:p>
        </p:txBody>
      </p:sp>
      <p:sp>
        <p:nvSpPr>
          <p:cNvPr id="5" name="AutoShape 4"/>
          <p:cNvSpPr/>
          <p:nvPr/>
        </p:nvSpPr>
        <p:spPr bwMode="auto">
          <a:xfrm>
            <a:off x="6818235" y="3451379"/>
            <a:ext cx="230188" cy="468313"/>
          </a:xfrm>
          <a:prstGeom prst="rightBrace">
            <a:avLst>
              <a:gd name="adj1" fmla="val 16954"/>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6" name="Text Box 5"/>
          <p:cNvSpPr txBox="1">
            <a:spLocks noChangeArrowheads="1"/>
          </p:cNvSpPr>
          <p:nvPr/>
        </p:nvSpPr>
        <p:spPr bwMode="auto">
          <a:xfrm>
            <a:off x="3119360" y="4065742"/>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SP</a:t>
            </a:r>
            <a:endParaRPr lang="zh-CN" altLang="zh-CN">
              <a:latin typeface="Times New Roman" panose="02020603050405020304" pitchFamily="18" charset="0"/>
            </a:endParaRPr>
          </a:p>
        </p:txBody>
      </p:sp>
      <p:sp>
        <p:nvSpPr>
          <p:cNvPr id="7" name="Line 6"/>
          <p:cNvSpPr>
            <a:spLocks noChangeShapeType="1"/>
          </p:cNvSpPr>
          <p:nvPr/>
        </p:nvSpPr>
        <p:spPr bwMode="auto">
          <a:xfrm>
            <a:off x="3795635" y="4294342"/>
            <a:ext cx="957263"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8" name="Group 7"/>
          <p:cNvGrpSpPr/>
          <p:nvPr/>
        </p:nvGrpSpPr>
        <p:grpSpPr bwMode="auto">
          <a:xfrm>
            <a:off x="4670348" y="1848004"/>
            <a:ext cx="2166937" cy="3581400"/>
            <a:chOff x="0" y="0"/>
            <a:chExt cx="1365" cy="2256"/>
          </a:xfrm>
        </p:grpSpPr>
        <p:sp>
          <p:nvSpPr>
            <p:cNvPr id="9" name="Rectangle 8"/>
            <p:cNvSpPr>
              <a:spLocks noChangeArrowheads="1"/>
            </p:cNvSpPr>
            <p:nvPr/>
          </p:nvSpPr>
          <p:spPr bwMode="auto">
            <a:xfrm>
              <a:off x="668" y="427"/>
              <a:ext cx="665" cy="1427"/>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 name="Line 9"/>
            <p:cNvSpPr>
              <a:spLocks noChangeShapeType="1"/>
            </p:cNvSpPr>
            <p:nvPr/>
          </p:nvSpPr>
          <p:spPr bwMode="auto">
            <a:xfrm>
              <a:off x="667" y="654"/>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p:cNvSpPr>
              <a:spLocks noChangeShapeType="1"/>
            </p:cNvSpPr>
            <p:nvPr/>
          </p:nvSpPr>
          <p:spPr bwMode="auto">
            <a:xfrm>
              <a:off x="670" y="90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p:cNvSpPr>
              <a:spLocks noChangeShapeType="1"/>
            </p:cNvSpPr>
            <p:nvPr/>
          </p:nvSpPr>
          <p:spPr bwMode="auto">
            <a:xfrm>
              <a:off x="670" y="1168"/>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p:cNvSpPr>
              <a:spLocks noChangeShapeType="1"/>
            </p:cNvSpPr>
            <p:nvPr/>
          </p:nvSpPr>
          <p:spPr bwMode="auto">
            <a:xfrm>
              <a:off x="677" y="1623"/>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3"/>
            <p:cNvSpPr>
              <a:spLocks noChangeShapeType="1"/>
            </p:cNvSpPr>
            <p:nvPr/>
          </p:nvSpPr>
          <p:spPr bwMode="auto">
            <a:xfrm>
              <a:off x="677" y="140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4"/>
            <p:cNvSpPr txBox="1">
              <a:spLocks noChangeArrowheads="1"/>
            </p:cNvSpPr>
            <p:nvPr/>
          </p:nvSpPr>
          <p:spPr bwMode="auto">
            <a:xfrm>
              <a:off x="626" y="0"/>
              <a:ext cx="6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堆栈段</a:t>
              </a:r>
              <a:endParaRPr lang="zh-CN" altLang="zh-CN">
                <a:solidFill>
                  <a:srgbClr val="FF0066"/>
                </a:solidFill>
                <a:latin typeface="Times New Roman" panose="02020603050405020304" pitchFamily="18" charset="0"/>
              </a:endParaRPr>
            </a:p>
          </p:txBody>
        </p:sp>
        <p:sp>
          <p:nvSpPr>
            <p:cNvPr id="16" name="Text Box 15"/>
            <p:cNvSpPr txBox="1">
              <a:spLocks noChangeArrowheads="1"/>
            </p:cNvSpPr>
            <p:nvPr/>
          </p:nvSpPr>
          <p:spPr bwMode="auto">
            <a:xfrm>
              <a:off x="631" y="1968"/>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sp>
          <p:nvSpPr>
            <p:cNvPr id="17" name="Line 16"/>
            <p:cNvSpPr>
              <a:spLocks noChangeShapeType="1"/>
            </p:cNvSpPr>
            <p:nvPr/>
          </p:nvSpPr>
          <p:spPr bwMode="auto">
            <a:xfrm flipV="1">
              <a:off x="668"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7"/>
            <p:cNvSpPr>
              <a:spLocks noChangeShapeType="1"/>
            </p:cNvSpPr>
            <p:nvPr/>
          </p:nvSpPr>
          <p:spPr bwMode="auto">
            <a:xfrm flipV="1">
              <a:off x="1333"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p:cNvSpPr>
              <a:spLocks noChangeShapeType="1"/>
            </p:cNvSpPr>
            <p:nvPr/>
          </p:nvSpPr>
          <p:spPr bwMode="auto">
            <a:xfrm>
              <a:off x="667" y="1846"/>
              <a:ext cx="0" cy="14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9"/>
            <p:cNvSpPr>
              <a:spLocks noChangeShapeType="1"/>
            </p:cNvSpPr>
            <p:nvPr/>
          </p:nvSpPr>
          <p:spPr bwMode="auto">
            <a:xfrm>
              <a:off x="1333" y="1846"/>
              <a:ext cx="0" cy="13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20"/>
            <p:cNvSpPr txBox="1">
              <a:spLocks noChangeArrowheads="1"/>
            </p:cNvSpPr>
            <p:nvPr/>
          </p:nvSpPr>
          <p:spPr bwMode="auto">
            <a:xfrm>
              <a:off x="21" y="1395"/>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1000H</a:t>
              </a:r>
              <a:endParaRPr lang="zh-CN" altLang="zh-CN">
                <a:latin typeface="Times New Roman" panose="02020603050405020304" pitchFamily="18" charset="0"/>
              </a:endParaRPr>
            </a:p>
          </p:txBody>
        </p:sp>
        <p:sp>
          <p:nvSpPr>
            <p:cNvPr id="22" name="Text Box 21"/>
            <p:cNvSpPr txBox="1">
              <a:spLocks noChangeArrowheads="1"/>
            </p:cNvSpPr>
            <p:nvPr/>
          </p:nvSpPr>
          <p:spPr bwMode="auto">
            <a:xfrm>
              <a:off x="0" y="1160"/>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0FFFH</a:t>
              </a:r>
              <a:endParaRPr lang="zh-CN" altLang="zh-CN">
                <a:latin typeface="Times New Roman" panose="02020603050405020304" pitchFamily="18" charset="0"/>
              </a:endParaRPr>
            </a:p>
          </p:txBody>
        </p:sp>
        <p:sp>
          <p:nvSpPr>
            <p:cNvPr id="23" name="Text Box 22"/>
            <p:cNvSpPr txBox="1">
              <a:spLocks noChangeArrowheads="1"/>
            </p:cNvSpPr>
            <p:nvPr/>
          </p:nvSpPr>
          <p:spPr bwMode="auto">
            <a:xfrm>
              <a:off x="0" y="913"/>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0FFEH</a:t>
              </a:r>
              <a:endParaRPr lang="zh-CN" altLang="zh-CN">
                <a:latin typeface="Times New Roman" panose="02020603050405020304" pitchFamily="18" charset="0"/>
              </a:endParaRPr>
            </a:p>
          </p:txBody>
        </p:sp>
      </p:grpSp>
      <p:sp>
        <p:nvSpPr>
          <p:cNvPr id="24" name="Text Box 23"/>
          <p:cNvSpPr txBox="1">
            <a:spLocks noChangeArrowheads="1"/>
          </p:cNvSpPr>
          <p:nvPr/>
        </p:nvSpPr>
        <p:spPr bwMode="auto">
          <a:xfrm>
            <a:off x="3149523" y="3345017"/>
            <a:ext cx="642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SP</a:t>
            </a:r>
            <a:endParaRPr lang="zh-CN" altLang="zh-CN">
              <a:latin typeface="Times New Roman" panose="02020603050405020304" pitchFamily="18" charset="0"/>
            </a:endParaRPr>
          </a:p>
        </p:txBody>
      </p:sp>
      <p:sp>
        <p:nvSpPr>
          <p:cNvPr id="25" name="Line 24"/>
          <p:cNvSpPr>
            <a:spLocks noChangeShapeType="1"/>
          </p:cNvSpPr>
          <p:nvPr/>
        </p:nvSpPr>
        <p:spPr bwMode="auto">
          <a:xfrm>
            <a:off x="3762298" y="3562504"/>
            <a:ext cx="957262" cy="0"/>
          </a:xfrm>
          <a:prstGeom prst="line">
            <a:avLst/>
          </a:prstGeom>
          <a:noFill/>
          <a:ln w="38100" cmpd="sng">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5"/>
          <p:cNvSpPr txBox="1">
            <a:spLocks noChangeArrowheads="1"/>
          </p:cNvSpPr>
          <p:nvPr/>
        </p:nvSpPr>
        <p:spPr bwMode="auto">
          <a:xfrm>
            <a:off x="8134273" y="3462492"/>
            <a:ext cx="642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AX</a:t>
            </a:r>
            <a:endParaRPr lang="zh-CN" altLang="zh-CN">
              <a:latin typeface="Times New Roman" panose="02020603050405020304" pitchFamily="18" charset="0"/>
            </a:endParaRPr>
          </a:p>
        </p:txBody>
      </p:sp>
      <p:sp>
        <p:nvSpPr>
          <p:cNvPr id="27" name="Line 26"/>
          <p:cNvSpPr>
            <a:spLocks noChangeShapeType="1"/>
          </p:cNvSpPr>
          <p:nvPr/>
        </p:nvSpPr>
        <p:spPr bwMode="auto">
          <a:xfrm>
            <a:off x="7113510" y="3702204"/>
            <a:ext cx="957263" cy="0"/>
          </a:xfrm>
          <a:prstGeom prst="line">
            <a:avLst/>
          </a:prstGeom>
          <a:noFill/>
          <a:ln w="38100" cmpd="sng">
            <a:solidFill>
              <a:schemeClr val="folHlink"/>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Text Box 27"/>
          <p:cNvSpPr txBox="1">
            <a:spLocks noChangeArrowheads="1"/>
          </p:cNvSpPr>
          <p:nvPr/>
        </p:nvSpPr>
        <p:spPr bwMode="auto">
          <a:xfrm>
            <a:off x="3940098" y="3111654"/>
            <a:ext cx="477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hlink"/>
                </a:solidFill>
              </a:rPr>
              <a:t>①</a:t>
            </a:r>
            <a:endParaRPr lang="zh-CN" altLang="zh-CN" b="1">
              <a:solidFill>
                <a:schemeClr val="hlink"/>
              </a:solidFill>
            </a:endParaRPr>
          </a:p>
        </p:txBody>
      </p:sp>
      <p:sp>
        <p:nvSpPr>
          <p:cNvPr id="29" name="Text Box 28"/>
          <p:cNvSpPr txBox="1">
            <a:spLocks noChangeArrowheads="1"/>
          </p:cNvSpPr>
          <p:nvPr/>
        </p:nvSpPr>
        <p:spPr bwMode="auto">
          <a:xfrm>
            <a:off x="7443710" y="3232304"/>
            <a:ext cx="477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folHlink"/>
                </a:solidFill>
              </a:rPr>
              <a:t>②</a:t>
            </a:r>
            <a:endParaRPr lang="zh-CN" altLang="zh-CN" b="1">
              <a:solidFill>
                <a:schemeClr val="folHlink"/>
              </a:solidFill>
            </a:endParaRPr>
          </a:p>
        </p:txBody>
      </p:sp>
      <p:sp>
        <p:nvSpPr>
          <p:cNvPr id="30" name="Text Box 29"/>
          <p:cNvSpPr txBox="1">
            <a:spLocks noChangeArrowheads="1"/>
          </p:cNvSpPr>
          <p:nvPr/>
        </p:nvSpPr>
        <p:spPr bwMode="auto">
          <a:xfrm>
            <a:off x="5838748" y="3687917"/>
            <a:ext cx="78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12H</a:t>
            </a:r>
            <a:endParaRPr lang="zh-CN" altLang="zh-CN">
              <a:latin typeface="Times New Roman" panose="02020603050405020304" pitchFamily="18" charset="0"/>
            </a:endParaRPr>
          </a:p>
        </p:txBody>
      </p:sp>
      <p:sp>
        <p:nvSpPr>
          <p:cNvPr id="31" name="Text Box 30"/>
          <p:cNvSpPr txBox="1">
            <a:spLocks noChangeArrowheads="1"/>
          </p:cNvSpPr>
          <p:nvPr/>
        </p:nvSpPr>
        <p:spPr bwMode="auto">
          <a:xfrm>
            <a:off x="5856210" y="3268817"/>
            <a:ext cx="78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34H</a:t>
            </a:r>
            <a:endParaRPr lang="zh-CN" altLang="zh-CN">
              <a:latin typeface="Times New Roman" panose="02020603050405020304" pitchFamily="18" charset="0"/>
            </a:endParaRPr>
          </a:p>
        </p:txBody>
      </p:sp>
      <p:sp>
        <p:nvSpPr>
          <p:cNvPr id="2" name="日期占位符 1"/>
          <p:cNvSpPr>
            <a:spLocks noGrp="1"/>
          </p:cNvSpPr>
          <p:nvPr>
            <p:ph type="dt" sz="half" idx="10"/>
          </p:nvPr>
        </p:nvSpPr>
        <p:spPr/>
        <p:txBody>
          <a:bodyPr/>
          <a:lstStyle/>
          <a:p>
            <a:pPr>
              <a:defRPr/>
            </a:pPr>
            <a:fld id="{CEBB90EC-0AF2-4C2F-8071-1034F9FB02F3}" type="datetime10">
              <a:rPr lang="zh-CN" altLang="en-US" smtClean="0"/>
            </a:fld>
            <a:endParaRPr lang="en-US" altLang="zh-CN"/>
          </a:p>
        </p:txBody>
      </p:sp>
      <p:sp>
        <p:nvSpPr>
          <p:cNvPr id="3" name="灯片编号占位符 2"/>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par>
                          <p:cTn id="7" fill="hold">
                            <p:stCondLst>
                              <p:cond delay="0"/>
                            </p:stCondLst>
                            <p:childTnLst>
                              <p:par>
                                <p:cTn id="8" presetID="1" presetClass="exit" presetSubtype="0" fill="hold" nodeType="afterEffect">
                                  <p:stCondLst>
                                    <p:cond delay="0"/>
                                  </p:stCondLst>
                                  <p:childTnLst>
                                    <p:set>
                                      <p:cBhvr>
                                        <p:cTn id="9" dur="1" fill="hold">
                                          <p:stCondLst>
                                            <p:cond delay="0"/>
                                          </p:stCondLst>
                                        </p:cTn>
                                        <p:tgtEl>
                                          <p:spTgt spid="7"/>
                                        </p:tgtEl>
                                        <p:attrNameLst>
                                          <p:attrName>style.visibility</p:attrName>
                                        </p:attrNameLst>
                                      </p:cBhvr>
                                      <p:to>
                                        <p:strVal val="hidden"/>
                                      </p:to>
                                    </p:set>
                                  </p:childTnLst>
                                </p:cTn>
                              </p:par>
                            </p:childTnLst>
                          </p:cTn>
                        </p:par>
                        <p:par>
                          <p:cTn id="10" fill="hold">
                            <p:stCondLst>
                              <p:cond delay="0"/>
                            </p:stCondLst>
                            <p:childTnLst>
                              <p:par>
                                <p:cTn id="11" presetID="2" presetClass="entr" presetSubtype="4"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fill="hold"/>
                                        <p:tgtEl>
                                          <p:spTgt spid="24"/>
                                        </p:tgtEl>
                                        <p:attrNameLst>
                                          <p:attrName>ppt_x</p:attrName>
                                        </p:attrNameLst>
                                      </p:cBhvr>
                                      <p:tavLst>
                                        <p:tav tm="0">
                                          <p:val>
                                            <p:strVal val="#ppt_x"/>
                                          </p:val>
                                        </p:tav>
                                        <p:tav tm="100000">
                                          <p:val>
                                            <p:strVal val="#ppt_x"/>
                                          </p:val>
                                        </p:tav>
                                      </p:tavLst>
                                    </p:anim>
                                    <p:anim calcmode="lin" valueType="num">
                                      <p:cBhvr additive="base">
                                        <p:cTn id="19" dur="500" fill="hold"/>
                                        <p:tgtEl>
                                          <p:spTgt spid="24"/>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17" presetClass="entr" presetSubtype="8"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p:cTn id="23" dur="500" fill="hold"/>
                                        <p:tgtEl>
                                          <p:spTgt spid="25"/>
                                        </p:tgtEl>
                                        <p:attrNameLst>
                                          <p:attrName>ppt_x</p:attrName>
                                        </p:attrNameLst>
                                      </p:cBhvr>
                                      <p:tavLst>
                                        <p:tav tm="0">
                                          <p:val>
                                            <p:strVal val="#ppt_x-#ppt_w/2"/>
                                          </p:val>
                                        </p:tav>
                                        <p:tav tm="100000">
                                          <p:val>
                                            <p:strVal val="#ppt_x"/>
                                          </p:val>
                                        </p:tav>
                                      </p:tavLst>
                                    </p:anim>
                                    <p:anim calcmode="lin" valueType="num">
                                      <p:cBhvr>
                                        <p:cTn id="24" dur="500" fill="hold"/>
                                        <p:tgtEl>
                                          <p:spTgt spid="25"/>
                                        </p:tgtEl>
                                        <p:attrNameLst>
                                          <p:attrName>ppt_y</p:attrName>
                                        </p:attrNameLst>
                                      </p:cBhvr>
                                      <p:tavLst>
                                        <p:tav tm="0">
                                          <p:val>
                                            <p:strVal val="#ppt_y"/>
                                          </p:val>
                                        </p:tav>
                                        <p:tav tm="100000">
                                          <p:val>
                                            <p:strVal val="#ppt_y"/>
                                          </p:val>
                                        </p:tav>
                                      </p:tavLst>
                                    </p:anim>
                                    <p:anim calcmode="lin" valueType="num">
                                      <p:cBhvr>
                                        <p:cTn id="25" dur="500" fill="hold"/>
                                        <p:tgtEl>
                                          <p:spTgt spid="25"/>
                                        </p:tgtEl>
                                        <p:attrNameLst>
                                          <p:attrName>ppt_w</p:attrName>
                                        </p:attrNameLst>
                                      </p:cBhvr>
                                      <p:tavLst>
                                        <p:tav tm="0">
                                          <p:val>
                                            <p:fltVal val="0"/>
                                          </p:val>
                                        </p:tav>
                                        <p:tav tm="100000">
                                          <p:val>
                                            <p:strVal val="#ppt_w"/>
                                          </p:val>
                                        </p:tav>
                                      </p:tavLst>
                                    </p:anim>
                                    <p:anim calcmode="lin" valueType="num">
                                      <p:cBhvr>
                                        <p:cTn id="26"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2" presetClass="entr" presetSubtype="4"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 calcmode="lin" valueType="num">
                                      <p:cBhvr additive="base">
                                        <p:cTn id="36" dur="500" fill="hold"/>
                                        <p:tgtEl>
                                          <p:spTgt spid="26"/>
                                        </p:tgtEl>
                                        <p:attrNameLst>
                                          <p:attrName>ppt_x</p:attrName>
                                        </p:attrNameLst>
                                      </p:cBhvr>
                                      <p:tavLst>
                                        <p:tav tm="0">
                                          <p:val>
                                            <p:strVal val="#ppt_x"/>
                                          </p:val>
                                        </p:tav>
                                        <p:tav tm="100000">
                                          <p:val>
                                            <p:strVal val="#ppt_x"/>
                                          </p:val>
                                        </p:tav>
                                      </p:tavLst>
                                    </p:anim>
                                    <p:anim calcmode="lin" valueType="num">
                                      <p:cBhvr additive="base">
                                        <p:cTn id="37" dur="500" fill="hold"/>
                                        <p:tgtEl>
                                          <p:spTgt spid="26"/>
                                        </p:tgtEl>
                                        <p:attrNameLst>
                                          <p:attrName>ppt_y</p:attrName>
                                        </p:attrNameLst>
                                      </p:cBhvr>
                                      <p:tavLst>
                                        <p:tav tm="0">
                                          <p:val>
                                            <p:strVal val="1+#ppt_h/2"/>
                                          </p:val>
                                        </p:tav>
                                        <p:tav tm="100000">
                                          <p:val>
                                            <p:strVal val="#ppt_y"/>
                                          </p:val>
                                        </p:tav>
                                      </p:tavLst>
                                    </p:anim>
                                  </p:childTnLst>
                                </p:cTn>
                              </p:par>
                            </p:childTnLst>
                          </p:cTn>
                        </p:par>
                        <p:par>
                          <p:cTn id="38" fill="hold">
                            <p:stCondLst>
                              <p:cond delay="1000"/>
                            </p:stCondLst>
                            <p:childTnLst>
                              <p:par>
                                <p:cTn id="39" presetID="17" presetClass="entr" presetSubtype="2" fill="hold" nodeType="afterEffect">
                                  <p:stCondLst>
                                    <p:cond delay="0"/>
                                  </p:stCondLst>
                                  <p:childTnLst>
                                    <p:set>
                                      <p:cBhvr>
                                        <p:cTn id="40" dur="1" fill="hold">
                                          <p:stCondLst>
                                            <p:cond delay="0"/>
                                          </p:stCondLst>
                                        </p:cTn>
                                        <p:tgtEl>
                                          <p:spTgt spid="27"/>
                                        </p:tgtEl>
                                        <p:attrNameLst>
                                          <p:attrName>style.visibility</p:attrName>
                                        </p:attrNameLst>
                                      </p:cBhvr>
                                      <p:to>
                                        <p:strVal val="visible"/>
                                      </p:to>
                                    </p:set>
                                    <p:anim calcmode="lin" valueType="num">
                                      <p:cBhvr>
                                        <p:cTn id="41" dur="500" fill="hold"/>
                                        <p:tgtEl>
                                          <p:spTgt spid="27"/>
                                        </p:tgtEl>
                                        <p:attrNameLst>
                                          <p:attrName>ppt_x</p:attrName>
                                        </p:attrNameLst>
                                      </p:cBhvr>
                                      <p:tavLst>
                                        <p:tav tm="0">
                                          <p:val>
                                            <p:strVal val="#ppt_x+#ppt_w/2"/>
                                          </p:val>
                                        </p:tav>
                                        <p:tav tm="100000">
                                          <p:val>
                                            <p:strVal val="#ppt_x"/>
                                          </p:val>
                                        </p:tav>
                                      </p:tavLst>
                                    </p:anim>
                                    <p:anim calcmode="lin" valueType="num">
                                      <p:cBhvr>
                                        <p:cTn id="42" dur="500" fill="hold"/>
                                        <p:tgtEl>
                                          <p:spTgt spid="27"/>
                                        </p:tgtEl>
                                        <p:attrNameLst>
                                          <p:attrName>ppt_y</p:attrName>
                                        </p:attrNameLst>
                                      </p:cBhvr>
                                      <p:tavLst>
                                        <p:tav tm="0">
                                          <p:val>
                                            <p:strVal val="#ppt_y"/>
                                          </p:val>
                                        </p:tav>
                                        <p:tav tm="100000">
                                          <p:val>
                                            <p:strVal val="#ppt_y"/>
                                          </p:val>
                                        </p:tav>
                                      </p:tavLst>
                                    </p:anim>
                                    <p:anim calcmode="lin" valueType="num">
                                      <p:cBhvr>
                                        <p:cTn id="43" dur="500" fill="hold"/>
                                        <p:tgtEl>
                                          <p:spTgt spid="27"/>
                                        </p:tgtEl>
                                        <p:attrNameLst>
                                          <p:attrName>ppt_w</p:attrName>
                                        </p:attrNameLst>
                                      </p:cBhvr>
                                      <p:tavLst>
                                        <p:tav tm="0">
                                          <p:val>
                                            <p:fltVal val="0"/>
                                          </p:val>
                                        </p:tav>
                                        <p:tav tm="100000">
                                          <p:val>
                                            <p:strVal val="#ppt_w"/>
                                          </p:val>
                                        </p:tav>
                                      </p:tavLst>
                                    </p:anim>
                                    <p:anim calcmode="lin" valueType="num">
                                      <p:cBhvr>
                                        <p:cTn id="44" dur="500" fill="hold"/>
                                        <p:tgtEl>
                                          <p:spTgt spid="27"/>
                                        </p:tgtEl>
                                        <p:attrNameLst>
                                          <p:attrName>ppt_h</p:attrName>
                                        </p:attrNameLst>
                                      </p:cBhvr>
                                      <p:tavLst>
                                        <p:tav tm="0">
                                          <p:val>
                                            <p:strVal val="#ppt_h"/>
                                          </p:val>
                                        </p:tav>
                                        <p:tav tm="100000">
                                          <p:val>
                                            <p:strVal val="#ppt_h"/>
                                          </p:val>
                                        </p:tav>
                                      </p:tavLst>
                                    </p:anim>
                                  </p:childTnLst>
                                </p:cTn>
                              </p:par>
                            </p:childTnLst>
                          </p:cTn>
                        </p:par>
                        <p:par>
                          <p:cTn id="45" fill="hold">
                            <p:stCondLst>
                              <p:cond delay="1500"/>
                            </p:stCondLst>
                            <p:childTnLst>
                              <p:par>
                                <p:cTn id="46" presetID="2" presetClass="entr" presetSubtype="4" fill="hold" grpId="0" nodeType="after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additive="base">
                                        <p:cTn id="48" dur="500" fill="hold"/>
                                        <p:tgtEl>
                                          <p:spTgt spid="5"/>
                                        </p:tgtEl>
                                        <p:attrNameLst>
                                          <p:attrName>ppt_x</p:attrName>
                                        </p:attrNameLst>
                                      </p:cBhvr>
                                      <p:tavLst>
                                        <p:tav tm="0">
                                          <p:val>
                                            <p:strVal val="#ppt_x"/>
                                          </p:val>
                                        </p:tav>
                                        <p:tav tm="100000">
                                          <p:val>
                                            <p:strVal val="#ppt_x"/>
                                          </p:val>
                                        </p:tav>
                                      </p:tavLst>
                                    </p:anim>
                                    <p:anim calcmode="lin" valueType="num">
                                      <p:cBhvr additive="base">
                                        <p:cTn id="49" dur="500" fill="hold"/>
                                        <p:tgtEl>
                                          <p:spTgt spid="5"/>
                                        </p:tgtEl>
                                        <p:attrNameLst>
                                          <p:attrName>ppt_y</p:attrName>
                                        </p:attrNameLst>
                                      </p:cBhvr>
                                      <p:tavLst>
                                        <p:tav tm="0">
                                          <p:val>
                                            <p:strVal val="1+#ppt_h/2"/>
                                          </p:val>
                                        </p:tav>
                                        <p:tav tm="100000">
                                          <p:val>
                                            <p:strVal val="#ppt_y"/>
                                          </p:val>
                                        </p:tav>
                                      </p:tavLst>
                                    </p:anim>
                                  </p:childTnLst>
                                </p:cTn>
                              </p:par>
                            </p:childTnLst>
                          </p:cTn>
                        </p:par>
                        <p:par>
                          <p:cTn id="50" fill="hold">
                            <p:stCondLst>
                              <p:cond delay="2000"/>
                            </p:stCondLst>
                            <p:childTnLst>
                              <p:par>
                                <p:cTn id="51" presetID="2" presetClass="entr" presetSubtype="4"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 calcmode="lin" valueType="num">
                                      <p:cBhvr additive="base">
                                        <p:cTn id="53" dur="500" fill="hold"/>
                                        <p:tgtEl>
                                          <p:spTgt spid="30"/>
                                        </p:tgtEl>
                                        <p:attrNameLst>
                                          <p:attrName>ppt_x</p:attrName>
                                        </p:attrNameLst>
                                      </p:cBhvr>
                                      <p:tavLst>
                                        <p:tav tm="0">
                                          <p:val>
                                            <p:strVal val="#ppt_x"/>
                                          </p:val>
                                        </p:tav>
                                        <p:tav tm="100000">
                                          <p:val>
                                            <p:strVal val="#ppt_x"/>
                                          </p:val>
                                        </p:tav>
                                      </p:tavLst>
                                    </p:anim>
                                    <p:anim calcmode="lin" valueType="num">
                                      <p:cBhvr additive="base">
                                        <p:cTn id="54" dur="500" fill="hold"/>
                                        <p:tgtEl>
                                          <p:spTgt spid="3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additive="base">
                                        <p:cTn id="57" dur="500" fill="hold"/>
                                        <p:tgtEl>
                                          <p:spTgt spid="31"/>
                                        </p:tgtEl>
                                        <p:attrNameLst>
                                          <p:attrName>ppt_x</p:attrName>
                                        </p:attrNameLst>
                                      </p:cBhvr>
                                      <p:tavLst>
                                        <p:tav tm="0">
                                          <p:val>
                                            <p:strVal val="#ppt_x"/>
                                          </p:val>
                                        </p:tav>
                                        <p:tav tm="100000">
                                          <p:val>
                                            <p:strVal val="#ppt_x"/>
                                          </p:val>
                                        </p:tav>
                                      </p:tavLst>
                                    </p:anim>
                                    <p:anim calcmode="lin" valueType="num">
                                      <p:cBhvr additive="base">
                                        <p:cTn id="5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utoUpdateAnimBg="0"/>
      <p:bldP spid="24" grpId="0" autoUpdateAnimBg="0"/>
      <p:bldP spid="26" grpId="0" autoUpdateAnimBg="0"/>
      <p:bldP spid="28" grpId="0" autoUpdateAnimBg="0"/>
      <p:bldP spid="29" grpId="0" autoUpdateAnimBg="0"/>
      <p:bldP spid="30" grpId="0" autoUpdateAnimBg="0"/>
      <p:bldP spid="31"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出栈指令</a:t>
            </a:r>
            <a:r>
              <a:rPr lang="en-US" altLang="zh-CN" dirty="0"/>
              <a:t>POP</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POP OPD</a:t>
            </a:r>
            <a:endParaRPr lang="en-US" altLang="zh-CN" dirty="0"/>
          </a:p>
          <a:p>
            <a:r>
              <a:rPr lang="zh-CN" altLang="en-US" dirty="0"/>
              <a:t>功能：将栈顶的一个字数据送至</a:t>
            </a:r>
            <a:r>
              <a:rPr lang="en-US" altLang="zh-CN" dirty="0"/>
              <a:t>OPD</a:t>
            </a:r>
            <a:r>
              <a:rPr lang="zh-CN" altLang="en-US" dirty="0"/>
              <a:t>指明的寄存器、段寄存器</a:t>
            </a:r>
            <a:r>
              <a:rPr lang="en-US" altLang="zh-CN" dirty="0"/>
              <a:t>(CS</a:t>
            </a:r>
            <a:r>
              <a:rPr lang="zh-CN" altLang="en-US" dirty="0"/>
              <a:t>除外</a:t>
            </a:r>
            <a:r>
              <a:rPr lang="en-US" altLang="zh-CN" dirty="0"/>
              <a:t>)</a:t>
            </a:r>
            <a:r>
              <a:rPr lang="zh-CN" altLang="en-US" dirty="0"/>
              <a:t>或存储器中；修改指针：</a:t>
            </a:r>
            <a:r>
              <a:rPr lang="en-US" altLang="zh-CN" dirty="0"/>
              <a:t>(SP)+2→SP</a:t>
            </a:r>
            <a:r>
              <a:rPr lang="zh-CN" altLang="en-US" dirty="0"/>
              <a:t>。</a:t>
            </a:r>
            <a:endParaRPr lang="zh-CN" altLang="en-US" dirty="0"/>
          </a:p>
          <a:p>
            <a:r>
              <a:rPr lang="en-US" altLang="zh-CN" dirty="0"/>
              <a:t>POP</a:t>
            </a:r>
            <a:r>
              <a:rPr lang="zh-CN" altLang="en-US" dirty="0"/>
              <a:t>指令在使用时应该注意：</a:t>
            </a:r>
            <a:endParaRPr lang="en-US" altLang="zh-CN" dirty="0"/>
          </a:p>
          <a:p>
            <a:pPr lvl="1"/>
            <a:r>
              <a:rPr lang="zh-CN" altLang="en-US" dirty="0"/>
              <a:t>目的操作数只能是</a:t>
            </a:r>
            <a:r>
              <a:rPr lang="en-US" altLang="zh-CN" dirty="0"/>
              <a:t>16</a:t>
            </a:r>
            <a:r>
              <a:rPr lang="zh-CN" altLang="en-US" dirty="0"/>
              <a:t>位，而不能是</a:t>
            </a:r>
            <a:r>
              <a:rPr lang="en-US" altLang="zh-CN" dirty="0"/>
              <a:t>8</a:t>
            </a:r>
            <a:r>
              <a:rPr lang="zh-CN" altLang="en-US" dirty="0"/>
              <a:t>位的。</a:t>
            </a:r>
            <a:endParaRPr lang="en-US" altLang="zh-CN" dirty="0"/>
          </a:p>
          <a:p>
            <a:pPr lvl="1"/>
            <a:r>
              <a:rPr lang="zh-CN" altLang="en-US" dirty="0"/>
              <a:t>立即数、</a:t>
            </a:r>
            <a:r>
              <a:rPr lang="en-US" altLang="zh-CN" dirty="0"/>
              <a:t>CS</a:t>
            </a:r>
            <a:r>
              <a:rPr lang="zh-CN" altLang="en-US" dirty="0"/>
              <a:t>、</a:t>
            </a:r>
            <a:r>
              <a:rPr lang="en-US" altLang="zh-CN" dirty="0"/>
              <a:t>IP</a:t>
            </a:r>
            <a:r>
              <a:rPr lang="zh-CN" altLang="en-US" dirty="0"/>
              <a:t>不能作为目的操作数。</a:t>
            </a:r>
            <a:endParaRPr lang="zh-CN" altLang="en-US" dirty="0"/>
          </a:p>
          <a:p>
            <a:endParaRPr lang="zh-CN" altLang="en-US" dirty="0"/>
          </a:p>
        </p:txBody>
      </p:sp>
      <p:sp>
        <p:nvSpPr>
          <p:cNvPr id="4" name="日期占位符 3"/>
          <p:cNvSpPr>
            <a:spLocks noGrp="1"/>
          </p:cNvSpPr>
          <p:nvPr>
            <p:ph type="dt" sz="half" idx="10"/>
          </p:nvPr>
        </p:nvSpPr>
        <p:spPr/>
        <p:txBody>
          <a:bodyPr/>
          <a:lstStyle/>
          <a:p>
            <a:pPr>
              <a:defRPr/>
            </a:pPr>
            <a:fld id="{D1974FAC-5D45-4549-BFC0-38CE33520E61}"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698500" y="479425"/>
            <a:ext cx="9839289" cy="1325563"/>
          </a:xfrm>
        </p:spPr>
        <p:txBody>
          <a:bodyPr/>
          <a:lstStyle/>
          <a:p>
            <a:pPr marL="0" indent="0" algn="l">
              <a:lnSpc>
                <a:spcPct val="9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例：假设在指令执行前，(SP)=0FFEH，(BX)=2004H，并且堆栈段栈顶(0FFEH)单元内存放34H，(0FFFH)单元内存放12H。试分析POP  BX指令的执行结果。</a:t>
            </a:r>
            <a:endParaRPr lang="zh-CN" altLang="zh-CN" sz="2800" dirty="0"/>
          </a:p>
        </p:txBody>
      </p:sp>
      <p:sp>
        <p:nvSpPr>
          <p:cNvPr id="5" name="AutoShape 4"/>
          <p:cNvSpPr/>
          <p:nvPr/>
        </p:nvSpPr>
        <p:spPr bwMode="auto">
          <a:xfrm>
            <a:off x="6285945" y="3705225"/>
            <a:ext cx="230188" cy="468313"/>
          </a:xfrm>
          <a:prstGeom prst="rightBrace">
            <a:avLst>
              <a:gd name="adj1" fmla="val 16954"/>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6" name="Text Box 5"/>
          <p:cNvSpPr txBox="1">
            <a:spLocks noChangeArrowheads="1"/>
          </p:cNvSpPr>
          <p:nvPr/>
        </p:nvSpPr>
        <p:spPr bwMode="auto">
          <a:xfrm>
            <a:off x="2587070" y="4319588"/>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SP</a:t>
            </a:r>
            <a:endParaRPr lang="zh-CN" altLang="zh-CN">
              <a:latin typeface="Times New Roman" panose="02020603050405020304" pitchFamily="18" charset="0"/>
            </a:endParaRPr>
          </a:p>
        </p:txBody>
      </p:sp>
      <p:sp>
        <p:nvSpPr>
          <p:cNvPr id="7" name="Line 6"/>
          <p:cNvSpPr>
            <a:spLocks noChangeShapeType="1"/>
          </p:cNvSpPr>
          <p:nvPr/>
        </p:nvSpPr>
        <p:spPr bwMode="auto">
          <a:xfrm>
            <a:off x="3198258" y="3797300"/>
            <a:ext cx="957262"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8" name="Group 7"/>
          <p:cNvGrpSpPr/>
          <p:nvPr/>
        </p:nvGrpSpPr>
        <p:grpSpPr bwMode="auto">
          <a:xfrm>
            <a:off x="4138058" y="2101850"/>
            <a:ext cx="2166937" cy="3581400"/>
            <a:chOff x="0" y="0"/>
            <a:chExt cx="1365" cy="2256"/>
          </a:xfrm>
        </p:grpSpPr>
        <p:sp>
          <p:nvSpPr>
            <p:cNvPr id="9" name="Rectangle 8"/>
            <p:cNvSpPr>
              <a:spLocks noChangeArrowheads="1"/>
            </p:cNvSpPr>
            <p:nvPr/>
          </p:nvSpPr>
          <p:spPr bwMode="auto">
            <a:xfrm>
              <a:off x="668" y="427"/>
              <a:ext cx="665" cy="1427"/>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 name="Line 9"/>
            <p:cNvSpPr>
              <a:spLocks noChangeShapeType="1"/>
            </p:cNvSpPr>
            <p:nvPr/>
          </p:nvSpPr>
          <p:spPr bwMode="auto">
            <a:xfrm>
              <a:off x="667" y="654"/>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p:cNvSpPr>
              <a:spLocks noChangeShapeType="1"/>
            </p:cNvSpPr>
            <p:nvPr/>
          </p:nvSpPr>
          <p:spPr bwMode="auto">
            <a:xfrm>
              <a:off x="670" y="90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p:cNvSpPr>
              <a:spLocks noChangeShapeType="1"/>
            </p:cNvSpPr>
            <p:nvPr/>
          </p:nvSpPr>
          <p:spPr bwMode="auto">
            <a:xfrm>
              <a:off x="670" y="1168"/>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p:cNvSpPr>
              <a:spLocks noChangeShapeType="1"/>
            </p:cNvSpPr>
            <p:nvPr/>
          </p:nvSpPr>
          <p:spPr bwMode="auto">
            <a:xfrm>
              <a:off x="677" y="1623"/>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3"/>
            <p:cNvSpPr>
              <a:spLocks noChangeShapeType="1"/>
            </p:cNvSpPr>
            <p:nvPr/>
          </p:nvSpPr>
          <p:spPr bwMode="auto">
            <a:xfrm>
              <a:off x="677" y="140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4"/>
            <p:cNvSpPr txBox="1">
              <a:spLocks noChangeArrowheads="1"/>
            </p:cNvSpPr>
            <p:nvPr/>
          </p:nvSpPr>
          <p:spPr bwMode="auto">
            <a:xfrm>
              <a:off x="626" y="0"/>
              <a:ext cx="6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solidFill>
                    <a:srgbClr val="FF0066"/>
                  </a:solidFill>
                  <a:latin typeface="Times New Roman" panose="02020603050405020304" pitchFamily="18" charset="0"/>
                </a:rPr>
                <a:t>堆栈段</a:t>
              </a:r>
              <a:endParaRPr lang="zh-CN" altLang="zh-CN">
                <a:solidFill>
                  <a:srgbClr val="FF0066"/>
                </a:solidFill>
                <a:latin typeface="Times New Roman" panose="02020603050405020304" pitchFamily="18" charset="0"/>
              </a:endParaRPr>
            </a:p>
          </p:txBody>
        </p:sp>
        <p:sp>
          <p:nvSpPr>
            <p:cNvPr id="16" name="Text Box 15"/>
            <p:cNvSpPr txBox="1">
              <a:spLocks noChangeArrowheads="1"/>
            </p:cNvSpPr>
            <p:nvPr/>
          </p:nvSpPr>
          <p:spPr bwMode="auto">
            <a:xfrm>
              <a:off x="631" y="1968"/>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b="1">
                  <a:solidFill>
                    <a:schemeClr val="folHlink"/>
                  </a:solidFill>
                  <a:latin typeface="Times New Roman" panose="02020603050405020304" pitchFamily="18" charset="0"/>
                  <a:ea typeface="宋体" panose="02010600030101010101" pitchFamily="2" charset="-122"/>
                </a:rPr>
                <a:t>存储器</a:t>
              </a:r>
              <a:endParaRPr lang="zh-CN" altLang="zh-CN" b="1">
                <a:solidFill>
                  <a:schemeClr val="folHlink"/>
                </a:solidFill>
                <a:latin typeface="Times New Roman" panose="02020603050405020304" pitchFamily="18" charset="0"/>
                <a:ea typeface="宋体" panose="02010600030101010101" pitchFamily="2" charset="-122"/>
              </a:endParaRPr>
            </a:p>
          </p:txBody>
        </p:sp>
        <p:sp>
          <p:nvSpPr>
            <p:cNvPr id="17" name="Line 16"/>
            <p:cNvSpPr>
              <a:spLocks noChangeShapeType="1"/>
            </p:cNvSpPr>
            <p:nvPr/>
          </p:nvSpPr>
          <p:spPr bwMode="auto">
            <a:xfrm flipV="1">
              <a:off x="668"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7"/>
            <p:cNvSpPr>
              <a:spLocks noChangeShapeType="1"/>
            </p:cNvSpPr>
            <p:nvPr/>
          </p:nvSpPr>
          <p:spPr bwMode="auto">
            <a:xfrm flipV="1">
              <a:off x="1333" y="290"/>
              <a:ext cx="0" cy="13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8"/>
            <p:cNvSpPr>
              <a:spLocks noChangeShapeType="1"/>
            </p:cNvSpPr>
            <p:nvPr/>
          </p:nvSpPr>
          <p:spPr bwMode="auto">
            <a:xfrm>
              <a:off x="667" y="1846"/>
              <a:ext cx="0" cy="14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9"/>
            <p:cNvSpPr>
              <a:spLocks noChangeShapeType="1"/>
            </p:cNvSpPr>
            <p:nvPr/>
          </p:nvSpPr>
          <p:spPr bwMode="auto">
            <a:xfrm>
              <a:off x="1333" y="1846"/>
              <a:ext cx="0" cy="13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Text Box 20"/>
            <p:cNvSpPr txBox="1">
              <a:spLocks noChangeArrowheads="1"/>
            </p:cNvSpPr>
            <p:nvPr/>
          </p:nvSpPr>
          <p:spPr bwMode="auto">
            <a:xfrm>
              <a:off x="21" y="1395"/>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1000H</a:t>
              </a:r>
              <a:endParaRPr lang="zh-CN" altLang="zh-CN">
                <a:latin typeface="Times New Roman" panose="02020603050405020304" pitchFamily="18" charset="0"/>
              </a:endParaRPr>
            </a:p>
          </p:txBody>
        </p:sp>
        <p:sp>
          <p:nvSpPr>
            <p:cNvPr id="22" name="Text Box 21"/>
            <p:cNvSpPr txBox="1">
              <a:spLocks noChangeArrowheads="1"/>
            </p:cNvSpPr>
            <p:nvPr/>
          </p:nvSpPr>
          <p:spPr bwMode="auto">
            <a:xfrm>
              <a:off x="0" y="1160"/>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0FFFH</a:t>
              </a:r>
              <a:endParaRPr lang="zh-CN" altLang="zh-CN">
                <a:latin typeface="Times New Roman" panose="02020603050405020304" pitchFamily="18" charset="0"/>
              </a:endParaRPr>
            </a:p>
          </p:txBody>
        </p:sp>
        <p:sp>
          <p:nvSpPr>
            <p:cNvPr id="23" name="Text Box 22"/>
            <p:cNvSpPr txBox="1">
              <a:spLocks noChangeArrowheads="1"/>
            </p:cNvSpPr>
            <p:nvPr/>
          </p:nvSpPr>
          <p:spPr bwMode="auto">
            <a:xfrm>
              <a:off x="0" y="913"/>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0FFEH</a:t>
              </a:r>
              <a:endParaRPr lang="zh-CN" altLang="zh-CN">
                <a:latin typeface="Times New Roman" panose="02020603050405020304" pitchFamily="18" charset="0"/>
              </a:endParaRPr>
            </a:p>
          </p:txBody>
        </p:sp>
      </p:grpSp>
      <p:sp>
        <p:nvSpPr>
          <p:cNvPr id="24" name="Text Box 23"/>
          <p:cNvSpPr txBox="1">
            <a:spLocks noChangeArrowheads="1"/>
          </p:cNvSpPr>
          <p:nvPr/>
        </p:nvSpPr>
        <p:spPr bwMode="auto">
          <a:xfrm>
            <a:off x="2617233" y="3598863"/>
            <a:ext cx="642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SP</a:t>
            </a:r>
            <a:endParaRPr lang="zh-CN" altLang="zh-CN">
              <a:latin typeface="Times New Roman" panose="02020603050405020304" pitchFamily="18" charset="0"/>
            </a:endParaRPr>
          </a:p>
        </p:txBody>
      </p:sp>
      <p:sp>
        <p:nvSpPr>
          <p:cNvPr id="25" name="Line 24"/>
          <p:cNvSpPr>
            <a:spLocks noChangeShapeType="1"/>
          </p:cNvSpPr>
          <p:nvPr/>
        </p:nvSpPr>
        <p:spPr bwMode="auto">
          <a:xfrm>
            <a:off x="6605033" y="3949700"/>
            <a:ext cx="957262" cy="0"/>
          </a:xfrm>
          <a:prstGeom prst="line">
            <a:avLst/>
          </a:prstGeom>
          <a:noFill/>
          <a:ln w="38100" cmpd="sng">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25"/>
          <p:cNvSpPr txBox="1">
            <a:spLocks noChangeArrowheads="1"/>
          </p:cNvSpPr>
          <p:nvPr/>
        </p:nvSpPr>
        <p:spPr bwMode="auto">
          <a:xfrm>
            <a:off x="7568645" y="3716338"/>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BX</a:t>
            </a:r>
            <a:endParaRPr lang="zh-CN" altLang="zh-CN">
              <a:latin typeface="Times New Roman" panose="02020603050405020304" pitchFamily="18" charset="0"/>
            </a:endParaRPr>
          </a:p>
        </p:txBody>
      </p:sp>
      <p:sp>
        <p:nvSpPr>
          <p:cNvPr id="27" name="Line 26"/>
          <p:cNvSpPr>
            <a:spLocks noChangeShapeType="1"/>
          </p:cNvSpPr>
          <p:nvPr/>
        </p:nvSpPr>
        <p:spPr bwMode="auto">
          <a:xfrm>
            <a:off x="3206195" y="4532313"/>
            <a:ext cx="957263" cy="0"/>
          </a:xfrm>
          <a:prstGeom prst="line">
            <a:avLst/>
          </a:prstGeom>
          <a:noFill/>
          <a:ln w="38100" cmpd="sng">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Text Box 27"/>
          <p:cNvSpPr txBox="1">
            <a:spLocks noChangeArrowheads="1"/>
          </p:cNvSpPr>
          <p:nvPr/>
        </p:nvSpPr>
        <p:spPr bwMode="auto">
          <a:xfrm>
            <a:off x="6868558" y="3492500"/>
            <a:ext cx="477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hlink"/>
                </a:solidFill>
              </a:rPr>
              <a:t>①</a:t>
            </a:r>
            <a:endParaRPr lang="zh-CN" altLang="zh-CN" b="1">
              <a:solidFill>
                <a:schemeClr val="hlink"/>
              </a:solidFill>
            </a:endParaRPr>
          </a:p>
        </p:txBody>
      </p:sp>
      <p:sp>
        <p:nvSpPr>
          <p:cNvPr id="29" name="Text Box 28"/>
          <p:cNvSpPr txBox="1">
            <a:spLocks noChangeArrowheads="1"/>
          </p:cNvSpPr>
          <p:nvPr/>
        </p:nvSpPr>
        <p:spPr bwMode="auto">
          <a:xfrm>
            <a:off x="3439558" y="4086225"/>
            <a:ext cx="477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b="1">
                <a:solidFill>
                  <a:schemeClr val="folHlink"/>
                </a:solidFill>
              </a:rPr>
              <a:t>②</a:t>
            </a:r>
            <a:endParaRPr lang="zh-CN" altLang="zh-CN" b="1">
              <a:solidFill>
                <a:schemeClr val="folHlink"/>
              </a:solidFill>
            </a:endParaRPr>
          </a:p>
        </p:txBody>
      </p:sp>
      <p:sp>
        <p:nvSpPr>
          <p:cNvPr id="30" name="Text Box 29"/>
          <p:cNvSpPr txBox="1">
            <a:spLocks noChangeArrowheads="1"/>
          </p:cNvSpPr>
          <p:nvPr/>
        </p:nvSpPr>
        <p:spPr bwMode="auto">
          <a:xfrm>
            <a:off x="5306458" y="3941763"/>
            <a:ext cx="78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12H</a:t>
            </a:r>
            <a:endParaRPr lang="zh-CN" altLang="zh-CN">
              <a:latin typeface="Times New Roman" panose="02020603050405020304" pitchFamily="18" charset="0"/>
            </a:endParaRPr>
          </a:p>
        </p:txBody>
      </p:sp>
      <p:sp>
        <p:nvSpPr>
          <p:cNvPr id="31" name="Text Box 30"/>
          <p:cNvSpPr txBox="1">
            <a:spLocks noChangeArrowheads="1"/>
          </p:cNvSpPr>
          <p:nvPr/>
        </p:nvSpPr>
        <p:spPr bwMode="auto">
          <a:xfrm>
            <a:off x="5323920" y="3522663"/>
            <a:ext cx="78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a:latin typeface="Times New Roman" panose="02020603050405020304" pitchFamily="18" charset="0"/>
              </a:rPr>
              <a:t>34H</a:t>
            </a:r>
            <a:endParaRPr lang="zh-CN" altLang="zh-CN">
              <a:latin typeface="Times New Roman" panose="02020603050405020304" pitchFamily="18" charset="0"/>
            </a:endParaRPr>
          </a:p>
        </p:txBody>
      </p:sp>
      <p:sp>
        <p:nvSpPr>
          <p:cNvPr id="32" name="Text Box 31"/>
          <p:cNvSpPr txBox="1">
            <a:spLocks noChangeArrowheads="1"/>
          </p:cNvSpPr>
          <p:nvPr/>
        </p:nvSpPr>
        <p:spPr bwMode="auto">
          <a:xfrm>
            <a:off x="8116333" y="3724275"/>
            <a:ext cx="1196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a:latin typeface="Times New Roman" panose="02020603050405020304" pitchFamily="18" charset="0"/>
              </a:rPr>
              <a:t>=1234H</a:t>
            </a:r>
            <a:endParaRPr lang="zh-CN" altLang="zh-CN">
              <a:latin typeface="Times New Roman" panose="02020603050405020304" pitchFamily="18" charset="0"/>
            </a:endParaRPr>
          </a:p>
        </p:txBody>
      </p:sp>
      <p:sp>
        <p:nvSpPr>
          <p:cNvPr id="2" name="日期占位符 1"/>
          <p:cNvSpPr>
            <a:spLocks noGrp="1"/>
          </p:cNvSpPr>
          <p:nvPr>
            <p:ph type="dt" sz="half" idx="10"/>
          </p:nvPr>
        </p:nvSpPr>
        <p:spPr/>
        <p:txBody>
          <a:bodyPr/>
          <a:lstStyle/>
          <a:p>
            <a:pPr>
              <a:defRPr/>
            </a:pPr>
            <a:fld id="{17CDE831-031C-42E0-BB70-55D2B977C30B}" type="datetime10">
              <a:rPr lang="zh-CN" altLang="en-US" smtClean="0"/>
            </a:fld>
            <a:endParaRPr lang="en-US" altLang="zh-CN"/>
          </a:p>
        </p:txBody>
      </p:sp>
      <p:sp>
        <p:nvSpPr>
          <p:cNvPr id="3" name="灯片编号占位符 2"/>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17" presetClass="entr" presetSubtype="8" fill="hold"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ppt_x</p:attrName>
                                        </p:attrNameLst>
                                      </p:cBhvr>
                                      <p:tavLst>
                                        <p:tav tm="0">
                                          <p:val>
                                            <p:strVal val="#ppt_x-#ppt_w/2"/>
                                          </p:val>
                                        </p:tav>
                                        <p:tav tm="100000">
                                          <p:val>
                                            <p:strVal val="#ppt_x"/>
                                          </p:val>
                                        </p:tav>
                                      </p:tavLst>
                                    </p:anim>
                                    <p:anim calcmode="lin" valueType="num">
                                      <p:cBhvr>
                                        <p:cTn id="18" dur="500" fill="hold"/>
                                        <p:tgtEl>
                                          <p:spTgt spid="25"/>
                                        </p:tgtEl>
                                        <p:attrNameLst>
                                          <p:attrName>ppt_y</p:attrName>
                                        </p:attrNameLst>
                                      </p:cBhvr>
                                      <p:tavLst>
                                        <p:tav tm="0">
                                          <p:val>
                                            <p:strVal val="#ppt_y"/>
                                          </p:val>
                                        </p:tav>
                                        <p:tav tm="100000">
                                          <p:val>
                                            <p:strVal val="#ppt_y"/>
                                          </p:val>
                                        </p:tav>
                                      </p:tavLst>
                                    </p:anim>
                                    <p:anim calcmode="lin" valueType="num">
                                      <p:cBhvr>
                                        <p:cTn id="19" dur="500" fill="hold"/>
                                        <p:tgtEl>
                                          <p:spTgt spid="25"/>
                                        </p:tgtEl>
                                        <p:attrNameLst>
                                          <p:attrName>ppt_w</p:attrName>
                                        </p:attrNameLst>
                                      </p:cBhvr>
                                      <p:tavLst>
                                        <p:tav tm="0">
                                          <p:val>
                                            <p:fltVal val="0"/>
                                          </p:val>
                                        </p:tav>
                                        <p:tav tm="100000">
                                          <p:val>
                                            <p:strVal val="#ppt_w"/>
                                          </p:val>
                                        </p:tav>
                                      </p:tavLst>
                                    </p:anim>
                                    <p:anim calcmode="lin" valueType="num">
                                      <p:cBhvr>
                                        <p:cTn id="20" dur="500" fill="hold"/>
                                        <p:tgtEl>
                                          <p:spTgt spid="25"/>
                                        </p:tgtEl>
                                        <p:attrNameLst>
                                          <p:attrName>ppt_h</p:attrName>
                                        </p:attrNameLst>
                                      </p:cBhvr>
                                      <p:tavLst>
                                        <p:tav tm="0">
                                          <p:val>
                                            <p:strVal val="#ppt_h"/>
                                          </p:val>
                                        </p:tav>
                                        <p:tav tm="100000">
                                          <p:val>
                                            <p:strVal val="#ppt_h"/>
                                          </p:val>
                                        </p:tav>
                                      </p:tavLst>
                                    </p:anim>
                                  </p:childTnLst>
                                </p:cTn>
                              </p:par>
                            </p:childTnLst>
                          </p:cTn>
                        </p:par>
                        <p:par>
                          <p:cTn id="21" fill="hold">
                            <p:stCondLst>
                              <p:cond delay="1500"/>
                            </p:stCondLst>
                            <p:childTnLst>
                              <p:par>
                                <p:cTn id="22" presetID="2" presetClass="entr" presetSubtype="4"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additive="base">
                                        <p:cTn id="24" dur="500" fill="hold"/>
                                        <p:tgtEl>
                                          <p:spTgt spid="26"/>
                                        </p:tgtEl>
                                        <p:attrNameLst>
                                          <p:attrName>ppt_x</p:attrName>
                                        </p:attrNameLst>
                                      </p:cBhvr>
                                      <p:tavLst>
                                        <p:tav tm="0">
                                          <p:val>
                                            <p:strVal val="#ppt_x"/>
                                          </p:val>
                                        </p:tav>
                                        <p:tav tm="100000">
                                          <p:val>
                                            <p:strVal val="#ppt_x"/>
                                          </p:val>
                                        </p:tav>
                                      </p:tavLst>
                                    </p:anim>
                                    <p:anim calcmode="lin" valueType="num">
                                      <p:cBhvr additive="base">
                                        <p:cTn id="25" dur="500" fill="hold"/>
                                        <p:tgtEl>
                                          <p:spTgt spid="26"/>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ppt_x"/>
                                          </p:val>
                                        </p:tav>
                                        <p:tav tm="100000">
                                          <p:val>
                                            <p:strVal val="#ppt_x"/>
                                          </p:val>
                                        </p:tav>
                                      </p:tavLst>
                                    </p:anim>
                                    <p:anim calcmode="lin" valueType="num">
                                      <p:cBhvr additive="base">
                                        <p:cTn id="3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hidden"/>
                                      </p:to>
                                    </p:set>
                                  </p:childTnLst>
                                </p:cTn>
                              </p:par>
                            </p:childTnLst>
                          </p:cTn>
                        </p:par>
                        <p:par>
                          <p:cTn id="35" fill="hold">
                            <p:stCondLst>
                              <p:cond delay="0"/>
                            </p:stCondLst>
                            <p:childTnLst>
                              <p:par>
                                <p:cTn id="36" presetID="1" presetClass="exit" presetSubtype="0" fill="hold" nodeType="afterEffect">
                                  <p:stCondLst>
                                    <p:cond delay="0"/>
                                  </p:stCondLst>
                                  <p:childTnLst>
                                    <p:set>
                                      <p:cBhvr>
                                        <p:cTn id="37" dur="1" fill="hold">
                                          <p:stCondLst>
                                            <p:cond delay="0"/>
                                          </p:stCondLst>
                                        </p:cTn>
                                        <p:tgtEl>
                                          <p:spTgt spid="7"/>
                                        </p:tgtEl>
                                        <p:attrNameLst>
                                          <p:attrName>style.visibility</p:attrName>
                                        </p:attrNameLst>
                                      </p:cBhvr>
                                      <p:to>
                                        <p:strVal val="hidden"/>
                                      </p:to>
                                    </p:set>
                                  </p:childTnLst>
                                </p:cTn>
                              </p:par>
                            </p:childTnLst>
                          </p:cTn>
                        </p:par>
                        <p:par>
                          <p:cTn id="38" fill="hold">
                            <p:stCondLst>
                              <p:cond delay="0"/>
                            </p:stCondLst>
                            <p:childTnLst>
                              <p:par>
                                <p:cTn id="39" presetID="2" presetClass="entr" presetSubtype="4"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1+#ppt_h/2"/>
                                          </p:val>
                                        </p:tav>
                                        <p:tav tm="100000">
                                          <p:val>
                                            <p:strVal val="#ppt_y"/>
                                          </p:val>
                                        </p:tav>
                                      </p:tavLst>
                                    </p:anim>
                                  </p:childTnLst>
                                </p:cTn>
                              </p:par>
                            </p:childTnLst>
                          </p:cTn>
                        </p:par>
                        <p:par>
                          <p:cTn id="43" fill="hold">
                            <p:stCondLst>
                              <p:cond delay="500"/>
                            </p:stCondLst>
                            <p:childTnLst>
                              <p:par>
                                <p:cTn id="44" presetID="2" presetClass="entr" presetSubtype="4"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additive="base">
                                        <p:cTn id="46" dur="500" fill="hold"/>
                                        <p:tgtEl>
                                          <p:spTgt spid="6"/>
                                        </p:tgtEl>
                                        <p:attrNameLst>
                                          <p:attrName>ppt_x</p:attrName>
                                        </p:attrNameLst>
                                      </p:cBhvr>
                                      <p:tavLst>
                                        <p:tav tm="0">
                                          <p:val>
                                            <p:strVal val="#ppt_x"/>
                                          </p:val>
                                        </p:tav>
                                        <p:tav tm="100000">
                                          <p:val>
                                            <p:strVal val="#ppt_x"/>
                                          </p:val>
                                        </p:tav>
                                      </p:tavLst>
                                    </p:anim>
                                    <p:anim calcmode="lin" valueType="num">
                                      <p:cBhvr additive="base">
                                        <p:cTn id="47" dur="500" fill="hold"/>
                                        <p:tgtEl>
                                          <p:spTgt spid="6"/>
                                        </p:tgtEl>
                                        <p:attrNameLst>
                                          <p:attrName>ppt_y</p:attrName>
                                        </p:attrNameLst>
                                      </p:cBhvr>
                                      <p:tavLst>
                                        <p:tav tm="0">
                                          <p:val>
                                            <p:strVal val="1+#ppt_h/2"/>
                                          </p:val>
                                        </p:tav>
                                        <p:tav tm="100000">
                                          <p:val>
                                            <p:strVal val="#ppt_y"/>
                                          </p:val>
                                        </p:tav>
                                      </p:tavLst>
                                    </p:anim>
                                  </p:childTnLst>
                                </p:cTn>
                              </p:par>
                            </p:childTnLst>
                          </p:cTn>
                        </p:par>
                        <p:par>
                          <p:cTn id="48" fill="hold">
                            <p:stCondLst>
                              <p:cond delay="1000"/>
                            </p:stCondLst>
                            <p:childTnLst>
                              <p:par>
                                <p:cTn id="49" presetID="17" presetClass="entr" presetSubtype="8" fill="hold" nodeType="after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p:cTn id="51" dur="500" fill="hold"/>
                                        <p:tgtEl>
                                          <p:spTgt spid="27"/>
                                        </p:tgtEl>
                                        <p:attrNameLst>
                                          <p:attrName>ppt_x</p:attrName>
                                        </p:attrNameLst>
                                      </p:cBhvr>
                                      <p:tavLst>
                                        <p:tav tm="0">
                                          <p:val>
                                            <p:strVal val="#ppt_x-#ppt_w/2"/>
                                          </p:val>
                                        </p:tav>
                                        <p:tav tm="100000">
                                          <p:val>
                                            <p:strVal val="#ppt_x"/>
                                          </p:val>
                                        </p:tav>
                                      </p:tavLst>
                                    </p:anim>
                                    <p:anim calcmode="lin" valueType="num">
                                      <p:cBhvr>
                                        <p:cTn id="52" dur="500" fill="hold"/>
                                        <p:tgtEl>
                                          <p:spTgt spid="27"/>
                                        </p:tgtEl>
                                        <p:attrNameLst>
                                          <p:attrName>ppt_y</p:attrName>
                                        </p:attrNameLst>
                                      </p:cBhvr>
                                      <p:tavLst>
                                        <p:tav tm="0">
                                          <p:val>
                                            <p:strVal val="#ppt_y"/>
                                          </p:val>
                                        </p:tav>
                                        <p:tav tm="100000">
                                          <p:val>
                                            <p:strVal val="#ppt_y"/>
                                          </p:val>
                                        </p:tav>
                                      </p:tavLst>
                                    </p:anim>
                                    <p:anim calcmode="lin" valueType="num">
                                      <p:cBhvr>
                                        <p:cTn id="53" dur="500" fill="hold"/>
                                        <p:tgtEl>
                                          <p:spTgt spid="27"/>
                                        </p:tgtEl>
                                        <p:attrNameLst>
                                          <p:attrName>ppt_w</p:attrName>
                                        </p:attrNameLst>
                                      </p:cBhvr>
                                      <p:tavLst>
                                        <p:tav tm="0">
                                          <p:val>
                                            <p:fltVal val="0"/>
                                          </p:val>
                                        </p:tav>
                                        <p:tav tm="100000">
                                          <p:val>
                                            <p:strVal val="#ppt_w"/>
                                          </p:val>
                                        </p:tav>
                                      </p:tavLst>
                                    </p:anim>
                                    <p:anim calcmode="lin" valueType="num">
                                      <p:cBhvr>
                                        <p:cTn id="54" dur="500" fill="hold"/>
                                        <p:tgtEl>
                                          <p:spTgt spid="2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utoUpdateAnimBg="0"/>
      <p:bldP spid="24" grpId="0" autoUpdateAnimBg="0"/>
      <p:bldP spid="26" grpId="0" autoUpdateAnimBg="0"/>
      <p:bldP spid="28" grpId="0" autoUpdateAnimBg="0"/>
      <p:bldP spid="29" grpId="0" autoUpdateAnimBg="0"/>
      <p:bldP spid="32"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输入输出指令</a:t>
            </a:r>
            <a:endParaRPr lang="zh-CN" altLang="en-US" dirty="0"/>
          </a:p>
        </p:txBody>
      </p:sp>
      <p:sp>
        <p:nvSpPr>
          <p:cNvPr id="3" name="内容占位符 2"/>
          <p:cNvSpPr>
            <a:spLocks noGrp="1"/>
          </p:cNvSpPr>
          <p:nvPr>
            <p:ph idx="1"/>
          </p:nvPr>
        </p:nvSpPr>
        <p:spPr/>
        <p:txBody>
          <a:bodyPr>
            <a:normAutofit/>
          </a:bodyPr>
          <a:lstStyle/>
          <a:p>
            <a:r>
              <a:rPr lang="zh-CN" altLang="en-US" dirty="0"/>
              <a:t>输入</a:t>
            </a:r>
            <a:r>
              <a:rPr lang="en-US" altLang="zh-CN" dirty="0"/>
              <a:t>/</a:t>
            </a:r>
            <a:r>
              <a:rPr lang="zh-CN" altLang="en-US" dirty="0"/>
              <a:t>输出指令用于完成输入</a:t>
            </a:r>
            <a:r>
              <a:rPr lang="en-US" altLang="zh-CN" dirty="0"/>
              <a:t>/</a:t>
            </a:r>
            <a:r>
              <a:rPr lang="zh-CN" altLang="en-US" dirty="0"/>
              <a:t>输出端口与累加器</a:t>
            </a:r>
            <a:r>
              <a:rPr lang="en-US" altLang="zh-CN" dirty="0"/>
              <a:t>(AL/AX)</a:t>
            </a:r>
            <a:r>
              <a:rPr lang="zh-CN" altLang="en-US" dirty="0"/>
              <a:t>之间的数据传送，指令中给出输入</a:t>
            </a:r>
            <a:r>
              <a:rPr lang="en-US" altLang="zh-CN" dirty="0"/>
              <a:t>/</a:t>
            </a:r>
            <a:r>
              <a:rPr lang="zh-CN" altLang="en-US" dirty="0"/>
              <a:t>输出端口的地址。</a:t>
            </a:r>
            <a:endParaRPr lang="zh-CN" altLang="en-US" dirty="0"/>
          </a:p>
          <a:p>
            <a:r>
              <a:rPr lang="zh-CN" altLang="en-US" dirty="0"/>
              <a:t>包括：</a:t>
            </a:r>
            <a:endParaRPr lang="en-US" altLang="zh-CN" dirty="0"/>
          </a:p>
          <a:p>
            <a:pPr lvl="1"/>
            <a:r>
              <a:rPr lang="zh-CN" altLang="en-US" dirty="0"/>
              <a:t>输入指令</a:t>
            </a:r>
            <a:r>
              <a:rPr lang="en-US" altLang="zh-CN" dirty="0"/>
              <a:t>IN</a:t>
            </a:r>
            <a:endParaRPr lang="en-US" altLang="zh-CN" dirty="0"/>
          </a:p>
          <a:p>
            <a:pPr lvl="1"/>
            <a:r>
              <a:rPr lang="zh-CN" altLang="en-US" dirty="0"/>
              <a:t>输出指令</a:t>
            </a:r>
            <a:r>
              <a:rPr lang="en-US" altLang="zh-CN" dirty="0"/>
              <a:t>OUT</a:t>
            </a:r>
            <a:endParaRPr lang="en-US" altLang="zh-CN" dirty="0"/>
          </a:p>
          <a:p>
            <a:r>
              <a:rPr lang="zh-CN" altLang="en-US" dirty="0"/>
              <a:t>输入</a:t>
            </a:r>
            <a:r>
              <a:rPr lang="en-US" altLang="zh-CN" dirty="0"/>
              <a:t>/</a:t>
            </a:r>
            <a:r>
              <a:rPr lang="zh-CN" altLang="en-US" dirty="0"/>
              <a:t>输出指令对标志寄存器没有影响。</a:t>
            </a:r>
            <a:endParaRPr lang="zh-CN" altLang="en-US" dirty="0"/>
          </a:p>
          <a:p>
            <a:r>
              <a:rPr lang="zh-CN" altLang="en-US" dirty="0"/>
              <a:t>端口地址大于</a:t>
            </a:r>
            <a:r>
              <a:rPr lang="en-US" altLang="zh-CN" dirty="0"/>
              <a:t>255</a:t>
            </a:r>
            <a:r>
              <a:rPr lang="zh-CN" altLang="en-US" dirty="0"/>
              <a:t>时，必须用</a:t>
            </a:r>
            <a:r>
              <a:rPr lang="en-US" altLang="zh-CN" dirty="0"/>
              <a:t>DX</a:t>
            </a:r>
            <a:r>
              <a:rPr lang="zh-CN" altLang="en-US" dirty="0"/>
              <a:t>指定端口地址。</a:t>
            </a:r>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输入指令</a:t>
            </a:r>
            <a:r>
              <a:rPr lang="en-US" altLang="zh-CN" dirty="0"/>
              <a:t>IN</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IN OPD</a:t>
            </a:r>
            <a:r>
              <a:rPr lang="zh-CN" altLang="en-US" dirty="0"/>
              <a:t>，</a:t>
            </a:r>
            <a:r>
              <a:rPr lang="en-US" altLang="zh-CN" dirty="0"/>
              <a:t>OPS</a:t>
            </a:r>
            <a:endParaRPr lang="en-US" altLang="zh-CN" dirty="0"/>
          </a:p>
          <a:p>
            <a:r>
              <a:rPr lang="zh-CN" altLang="en-US" dirty="0"/>
              <a:t>功能：从端口</a:t>
            </a:r>
            <a:r>
              <a:rPr lang="en-US" altLang="zh-CN" dirty="0"/>
              <a:t>(</a:t>
            </a:r>
            <a:r>
              <a:rPr lang="zh-CN" altLang="en-US" dirty="0"/>
              <a:t>地址为</a:t>
            </a:r>
            <a:r>
              <a:rPr lang="en-US" altLang="zh-CN" dirty="0"/>
              <a:t>n</a:t>
            </a:r>
            <a:r>
              <a:rPr lang="zh-CN" altLang="en-US" dirty="0"/>
              <a:t>或在</a:t>
            </a:r>
            <a:r>
              <a:rPr lang="en-US" altLang="zh-CN" dirty="0"/>
              <a:t>DX</a:t>
            </a:r>
            <a:r>
              <a:rPr lang="zh-CN" altLang="en-US" dirty="0"/>
              <a:t>中</a:t>
            </a:r>
            <a:r>
              <a:rPr lang="en-US" altLang="zh-CN" dirty="0"/>
              <a:t>)</a:t>
            </a:r>
            <a:r>
              <a:rPr lang="zh-CN" altLang="en-US" dirty="0"/>
              <a:t>输入８位数据到</a:t>
            </a:r>
            <a:r>
              <a:rPr lang="en-US" altLang="zh-CN" dirty="0"/>
              <a:t>AL</a:t>
            </a:r>
            <a:r>
              <a:rPr lang="zh-CN" altLang="en-US" dirty="0"/>
              <a:t>或输入</a:t>
            </a:r>
            <a:r>
              <a:rPr lang="en-US" altLang="zh-CN" dirty="0"/>
              <a:t>16</a:t>
            </a:r>
            <a:r>
              <a:rPr lang="zh-CN" altLang="en-US" dirty="0"/>
              <a:t>位数据到</a:t>
            </a:r>
            <a:r>
              <a:rPr lang="en-US" altLang="zh-CN" dirty="0"/>
              <a:t>AX</a:t>
            </a:r>
            <a:r>
              <a:rPr lang="zh-CN" altLang="en-US" dirty="0"/>
              <a:t>。</a:t>
            </a:r>
            <a:endParaRPr lang="en-US" altLang="zh-CN" dirty="0"/>
          </a:p>
          <a:p>
            <a:pPr lvl="1"/>
            <a:r>
              <a:rPr lang="en-US" altLang="zh-CN" dirty="0"/>
              <a:t>IN AL</a:t>
            </a:r>
            <a:r>
              <a:rPr lang="zh-CN" altLang="en-US" dirty="0"/>
              <a:t>，</a:t>
            </a:r>
            <a:r>
              <a:rPr lang="en-US" altLang="zh-CN" dirty="0"/>
              <a:t>40H</a:t>
            </a:r>
            <a:r>
              <a:rPr lang="zh-CN" altLang="en-US" dirty="0"/>
              <a:t>；从</a:t>
            </a:r>
            <a:r>
              <a:rPr lang="en-US" altLang="zh-CN" dirty="0"/>
              <a:t>40H</a:t>
            </a:r>
            <a:r>
              <a:rPr lang="zh-CN" altLang="en-US" dirty="0"/>
              <a:t>端口读入一个字节送</a:t>
            </a:r>
            <a:r>
              <a:rPr lang="en-US" altLang="zh-CN" dirty="0"/>
              <a:t>AL</a:t>
            </a:r>
            <a:endParaRPr lang="en-US" altLang="zh-CN" dirty="0"/>
          </a:p>
          <a:p>
            <a:pPr lvl="1"/>
            <a:r>
              <a:rPr lang="en-US" altLang="zh-CN" dirty="0"/>
              <a:t>IN AX</a:t>
            </a:r>
            <a:r>
              <a:rPr lang="zh-CN" altLang="en-US" dirty="0"/>
              <a:t>，</a:t>
            </a:r>
            <a:r>
              <a:rPr lang="en-US" altLang="zh-CN" dirty="0"/>
              <a:t>80H</a:t>
            </a:r>
            <a:r>
              <a:rPr lang="zh-CN" altLang="en-US" dirty="0"/>
              <a:t>；从</a:t>
            </a:r>
            <a:r>
              <a:rPr lang="en-US" altLang="zh-CN" dirty="0"/>
              <a:t>80H</a:t>
            </a:r>
            <a:r>
              <a:rPr lang="zh-CN" altLang="en-US" dirty="0"/>
              <a:t>端口读入一个字节送</a:t>
            </a:r>
            <a:r>
              <a:rPr lang="en-US" altLang="zh-CN" dirty="0"/>
              <a:t>AL</a:t>
            </a:r>
            <a:r>
              <a:rPr lang="zh-CN" altLang="en-US" dirty="0"/>
              <a:t>，从</a:t>
            </a:r>
            <a:r>
              <a:rPr lang="en-US" altLang="zh-CN" dirty="0"/>
              <a:t>81H</a:t>
            </a:r>
            <a:r>
              <a:rPr lang="zh-CN" altLang="en-US" dirty="0"/>
              <a:t>端口读入一个字节送</a:t>
            </a:r>
            <a:r>
              <a:rPr lang="en-US" altLang="zh-CN" dirty="0"/>
              <a:t>AH</a:t>
            </a:r>
            <a:endParaRPr lang="en-US" altLang="zh-CN" dirty="0"/>
          </a:p>
          <a:p>
            <a:pPr lvl="1"/>
            <a:r>
              <a:rPr lang="en-US" altLang="zh-CN" dirty="0"/>
              <a:t>MOV DX</a:t>
            </a:r>
            <a:r>
              <a:rPr lang="zh-CN" altLang="en-US" dirty="0"/>
              <a:t>，</a:t>
            </a:r>
            <a:r>
              <a:rPr lang="en-US" altLang="zh-CN" dirty="0"/>
              <a:t>8F00H</a:t>
            </a:r>
            <a:r>
              <a:rPr lang="zh-CN" altLang="en-US" dirty="0"/>
              <a:t>；将端口地址</a:t>
            </a:r>
            <a:r>
              <a:rPr lang="en-US" altLang="zh-CN" dirty="0"/>
              <a:t>8F00H</a:t>
            </a:r>
            <a:r>
              <a:rPr lang="zh-CN" altLang="en-US" dirty="0"/>
              <a:t>送</a:t>
            </a:r>
            <a:r>
              <a:rPr lang="en-US" altLang="zh-CN" dirty="0"/>
              <a:t>DX</a:t>
            </a:r>
            <a:endParaRPr lang="en-US" altLang="zh-CN" dirty="0"/>
          </a:p>
          <a:p>
            <a:pPr lvl="1"/>
            <a:r>
              <a:rPr lang="en-US" altLang="zh-CN" dirty="0"/>
              <a:t>IN AL</a:t>
            </a:r>
            <a:r>
              <a:rPr lang="zh-CN" altLang="en-US" dirty="0"/>
              <a:t>，</a:t>
            </a:r>
            <a:r>
              <a:rPr lang="en-US" altLang="zh-CN" dirty="0"/>
              <a:t>DX</a:t>
            </a:r>
            <a:r>
              <a:rPr lang="zh-CN" altLang="en-US" dirty="0"/>
              <a:t>；从</a:t>
            </a:r>
            <a:r>
              <a:rPr lang="en-US" altLang="zh-CN" dirty="0"/>
              <a:t>8F00H</a:t>
            </a:r>
            <a:r>
              <a:rPr lang="zh-CN" altLang="en-US" dirty="0"/>
              <a:t>端口读入一个字节送</a:t>
            </a:r>
            <a:r>
              <a:rPr lang="en-US" altLang="zh-CN" dirty="0"/>
              <a:t>AL</a:t>
            </a:r>
            <a:endParaRPr lang="zh-CN" alt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输出指令</a:t>
            </a:r>
            <a:r>
              <a:rPr lang="en-US" altLang="zh-CN" dirty="0"/>
              <a:t>OUT</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OUT OPD</a:t>
            </a:r>
            <a:r>
              <a:rPr lang="zh-CN" altLang="en-US" dirty="0"/>
              <a:t>，</a:t>
            </a:r>
            <a:r>
              <a:rPr lang="en-US" altLang="zh-CN" dirty="0"/>
              <a:t>OPS</a:t>
            </a:r>
            <a:endParaRPr lang="en-US" altLang="zh-CN" dirty="0"/>
          </a:p>
          <a:p>
            <a:r>
              <a:rPr lang="zh-CN" altLang="en-US" dirty="0"/>
              <a:t>功能：从</a:t>
            </a:r>
            <a:r>
              <a:rPr lang="en-US" altLang="zh-CN" dirty="0"/>
              <a:t>AL</a:t>
            </a:r>
            <a:r>
              <a:rPr lang="zh-CN" altLang="en-US" dirty="0"/>
              <a:t>输出</a:t>
            </a:r>
            <a:r>
              <a:rPr lang="en-US" altLang="zh-CN" dirty="0"/>
              <a:t>8</a:t>
            </a:r>
            <a:r>
              <a:rPr lang="zh-CN" altLang="en-US" dirty="0"/>
              <a:t>位数据或从</a:t>
            </a:r>
            <a:r>
              <a:rPr lang="en-US" altLang="zh-CN" dirty="0"/>
              <a:t>AX</a:t>
            </a:r>
            <a:r>
              <a:rPr lang="zh-CN" altLang="en-US" dirty="0"/>
              <a:t>输出</a:t>
            </a:r>
            <a:r>
              <a:rPr lang="en-US" altLang="zh-CN" dirty="0"/>
              <a:t>16</a:t>
            </a:r>
            <a:r>
              <a:rPr lang="zh-CN" altLang="en-US" dirty="0"/>
              <a:t>位数据到端口</a:t>
            </a:r>
            <a:r>
              <a:rPr lang="en-US" altLang="zh-CN" dirty="0"/>
              <a:t>(</a:t>
            </a:r>
            <a:r>
              <a:rPr lang="zh-CN" altLang="en-US" dirty="0"/>
              <a:t>地址为</a:t>
            </a:r>
            <a:r>
              <a:rPr lang="en-US" altLang="zh-CN" dirty="0"/>
              <a:t>n</a:t>
            </a:r>
            <a:r>
              <a:rPr lang="zh-CN" altLang="en-US" dirty="0"/>
              <a:t>或在</a:t>
            </a:r>
            <a:r>
              <a:rPr lang="en-US" altLang="zh-CN" dirty="0"/>
              <a:t>DX</a:t>
            </a:r>
            <a:r>
              <a:rPr lang="zh-CN" altLang="en-US" dirty="0"/>
              <a:t>中</a:t>
            </a:r>
            <a:r>
              <a:rPr lang="en-US" altLang="zh-CN" dirty="0"/>
              <a:t>)</a:t>
            </a:r>
            <a:r>
              <a:rPr lang="zh-CN" altLang="en-US" dirty="0"/>
              <a:t>。</a:t>
            </a:r>
            <a:endParaRPr lang="en-US" altLang="zh-CN" dirty="0"/>
          </a:p>
          <a:p>
            <a:pPr lvl="1"/>
            <a:r>
              <a:rPr lang="en-US" altLang="zh-CN" dirty="0"/>
              <a:t>OUT  40H</a:t>
            </a:r>
            <a:r>
              <a:rPr lang="zh-CN" altLang="en-US" dirty="0"/>
              <a:t>，</a:t>
            </a:r>
            <a:r>
              <a:rPr lang="en-US" altLang="zh-CN" dirty="0"/>
              <a:t>AL</a:t>
            </a:r>
            <a:r>
              <a:rPr lang="zh-CN" altLang="en-US" dirty="0"/>
              <a:t>；     将</a:t>
            </a:r>
            <a:r>
              <a:rPr lang="en-US" altLang="zh-CN" dirty="0"/>
              <a:t>AL</a:t>
            </a:r>
            <a:r>
              <a:rPr lang="zh-CN" altLang="en-US" dirty="0"/>
              <a:t>内容送</a:t>
            </a:r>
            <a:r>
              <a:rPr lang="en-US" altLang="zh-CN" dirty="0"/>
              <a:t>40H</a:t>
            </a:r>
            <a:r>
              <a:rPr lang="zh-CN" altLang="en-US" dirty="0"/>
              <a:t>端口</a:t>
            </a:r>
            <a:endParaRPr lang="en-US" altLang="zh-CN" dirty="0"/>
          </a:p>
          <a:p>
            <a:pPr lvl="1"/>
            <a:r>
              <a:rPr lang="en-US" altLang="zh-CN" dirty="0"/>
              <a:t>OUT  80H</a:t>
            </a:r>
            <a:r>
              <a:rPr lang="zh-CN" altLang="en-US" dirty="0"/>
              <a:t>，</a:t>
            </a:r>
            <a:r>
              <a:rPr lang="en-US" altLang="zh-CN" dirty="0"/>
              <a:t>AX</a:t>
            </a:r>
            <a:r>
              <a:rPr lang="zh-CN" altLang="en-US" dirty="0"/>
              <a:t>；    将</a:t>
            </a:r>
            <a:r>
              <a:rPr lang="en-US" altLang="zh-CN" dirty="0"/>
              <a:t>AL</a:t>
            </a:r>
            <a:r>
              <a:rPr lang="zh-CN" altLang="en-US" dirty="0"/>
              <a:t>内容送</a:t>
            </a:r>
            <a:r>
              <a:rPr lang="en-US" altLang="zh-CN" dirty="0"/>
              <a:t>80H</a:t>
            </a:r>
            <a:r>
              <a:rPr lang="zh-CN" altLang="en-US" dirty="0"/>
              <a:t>端口，</a:t>
            </a:r>
            <a:endParaRPr lang="en-US" altLang="zh-CN" dirty="0"/>
          </a:p>
          <a:p>
            <a:pPr marL="457200" lvl="1" indent="0">
              <a:buNone/>
            </a:pPr>
            <a:r>
              <a:rPr lang="zh-CN" altLang="en-US" dirty="0"/>
              <a:t>                                       将</a:t>
            </a:r>
            <a:r>
              <a:rPr lang="en-US" altLang="zh-CN" dirty="0"/>
              <a:t>AH</a:t>
            </a:r>
            <a:r>
              <a:rPr lang="zh-CN" altLang="en-US" dirty="0"/>
              <a:t>的内容送</a:t>
            </a:r>
            <a:r>
              <a:rPr lang="en-US" altLang="zh-CN" dirty="0"/>
              <a:t>81H</a:t>
            </a:r>
            <a:r>
              <a:rPr lang="zh-CN" altLang="en-US" dirty="0"/>
              <a:t>端口</a:t>
            </a:r>
            <a:endParaRPr lang="en-US" altLang="zh-CN" dirty="0"/>
          </a:p>
          <a:p>
            <a:pPr lvl="1"/>
            <a:r>
              <a:rPr lang="en-US" altLang="zh-CN" dirty="0"/>
              <a:t>MOV  DX</a:t>
            </a:r>
            <a:r>
              <a:rPr lang="zh-CN" altLang="en-US" dirty="0"/>
              <a:t>，</a:t>
            </a:r>
            <a:r>
              <a:rPr lang="en-US" altLang="zh-CN" dirty="0"/>
              <a:t>8F00H</a:t>
            </a:r>
            <a:r>
              <a:rPr lang="zh-CN" altLang="en-US" dirty="0"/>
              <a:t>；将端口地址</a:t>
            </a:r>
            <a:r>
              <a:rPr lang="en-US" altLang="zh-CN" dirty="0"/>
              <a:t>8F00H</a:t>
            </a:r>
            <a:r>
              <a:rPr lang="zh-CN" altLang="en-US" dirty="0"/>
              <a:t>送</a:t>
            </a:r>
            <a:r>
              <a:rPr lang="en-US" altLang="zh-CN" dirty="0"/>
              <a:t>DX</a:t>
            </a:r>
            <a:endParaRPr lang="en-US" altLang="zh-CN" dirty="0"/>
          </a:p>
          <a:p>
            <a:pPr lvl="1"/>
            <a:r>
              <a:rPr lang="en-US" altLang="zh-CN" dirty="0"/>
              <a:t>OUT  DX</a:t>
            </a:r>
            <a:r>
              <a:rPr lang="zh-CN" altLang="en-US" dirty="0"/>
              <a:t>，</a:t>
            </a:r>
            <a:r>
              <a:rPr lang="en-US" altLang="zh-CN" dirty="0"/>
              <a:t>AL</a:t>
            </a:r>
            <a:r>
              <a:rPr lang="zh-CN" altLang="en-US" dirty="0"/>
              <a:t>；       将</a:t>
            </a:r>
            <a:r>
              <a:rPr lang="en-US" altLang="zh-CN" dirty="0"/>
              <a:t>AL</a:t>
            </a:r>
            <a:r>
              <a:rPr lang="zh-CN" altLang="en-US" dirty="0"/>
              <a:t>内容送</a:t>
            </a:r>
            <a:r>
              <a:rPr lang="en-US" altLang="zh-CN" dirty="0"/>
              <a:t>8F00H</a:t>
            </a:r>
            <a:r>
              <a:rPr lang="zh-CN" altLang="en-US" dirty="0"/>
              <a:t>端口</a:t>
            </a:r>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算术运算类指令</a:t>
            </a:r>
            <a:endParaRPr lang="zh-CN" altLang="en-US" dirty="0"/>
          </a:p>
        </p:txBody>
      </p:sp>
      <p:sp>
        <p:nvSpPr>
          <p:cNvPr id="3" name="内容占位符 2"/>
          <p:cNvSpPr>
            <a:spLocks noGrp="1"/>
          </p:cNvSpPr>
          <p:nvPr>
            <p:ph idx="1"/>
          </p:nvPr>
        </p:nvSpPr>
        <p:spPr/>
        <p:txBody>
          <a:bodyPr>
            <a:normAutofit/>
          </a:bodyPr>
          <a:lstStyle/>
          <a:p>
            <a:r>
              <a:rPr lang="zh-CN" altLang="en-US" dirty="0"/>
              <a:t>加法指令</a:t>
            </a:r>
            <a:endParaRPr lang="zh-CN" altLang="en-US" dirty="0"/>
          </a:p>
          <a:p>
            <a:r>
              <a:rPr lang="zh-CN" altLang="en-US" dirty="0"/>
              <a:t>减法指令</a:t>
            </a:r>
            <a:endParaRPr lang="zh-CN" altLang="en-US" dirty="0"/>
          </a:p>
          <a:p>
            <a:r>
              <a:rPr lang="zh-CN" altLang="en-US" dirty="0"/>
              <a:t>乘法指令</a:t>
            </a:r>
            <a:endParaRPr lang="zh-CN" altLang="en-US" dirty="0"/>
          </a:p>
          <a:p>
            <a:r>
              <a:rPr lang="zh-CN" altLang="en-US" dirty="0"/>
              <a:t>符号扩展指令</a:t>
            </a:r>
            <a:endParaRPr lang="zh-CN" altLang="en-US" dirty="0"/>
          </a:p>
          <a:p>
            <a:r>
              <a:rPr lang="zh-CN" altLang="en-US" dirty="0"/>
              <a:t>除运算指令</a:t>
            </a:r>
            <a:endParaRPr lang="zh-CN" altLang="en-US" dirty="0"/>
          </a:p>
          <a:p>
            <a:r>
              <a:rPr lang="zh-CN" altLang="en-US" dirty="0"/>
              <a:t>十进制调整指令</a:t>
            </a:r>
            <a:endParaRPr lang="zh-CN" altLang="en-US" dirty="0"/>
          </a:p>
        </p:txBody>
      </p:sp>
      <p:sp>
        <p:nvSpPr>
          <p:cNvPr id="4" name="日期占位符 3"/>
          <p:cNvSpPr>
            <a:spLocks noGrp="1"/>
          </p:cNvSpPr>
          <p:nvPr>
            <p:ph type="dt" sz="half" idx="10"/>
          </p:nvPr>
        </p:nvSpPr>
        <p:spPr/>
        <p:txBody>
          <a:bodyPr/>
          <a:lstStyle/>
          <a:p>
            <a:pPr>
              <a:defRPr/>
            </a:pPr>
            <a:fld id="{620B3CE8-A08B-4C55-A2A0-A142CC253B4D}"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加１指令</a:t>
            </a:r>
            <a:endParaRPr lang="zh-CN" altLang="en-US" dirty="0"/>
          </a:p>
        </p:txBody>
      </p:sp>
      <p:sp>
        <p:nvSpPr>
          <p:cNvPr id="3" name="内容占位符 2"/>
          <p:cNvSpPr>
            <a:spLocks noGrp="1"/>
          </p:cNvSpPr>
          <p:nvPr>
            <p:ph idx="1"/>
          </p:nvPr>
        </p:nvSpPr>
        <p:spPr/>
        <p:txBody>
          <a:bodyPr>
            <a:normAutofit fontScale="92500"/>
          </a:bodyPr>
          <a:lstStyle/>
          <a:p>
            <a:pPr>
              <a:lnSpc>
                <a:spcPct val="110000"/>
              </a:lnSpc>
              <a:buFont typeface="Wingdings" panose="05000000000000000000" pitchFamily="2" charset="2"/>
              <a:buChar char="Ø"/>
            </a:pPr>
            <a:r>
              <a:rPr lang="zh-CN" altLang="zh-CN" sz="3000" b="0" dirty="0"/>
              <a:t>格式：INC  OPD</a:t>
            </a:r>
            <a:endParaRPr lang="zh-CN" altLang="zh-CN" sz="3000" b="0" dirty="0"/>
          </a:p>
          <a:p>
            <a:pPr>
              <a:lnSpc>
                <a:spcPct val="110000"/>
              </a:lnSpc>
              <a:buFont typeface="Wingdings" panose="05000000000000000000" pitchFamily="2" charset="2"/>
              <a:buChar char="Ø"/>
            </a:pPr>
            <a:r>
              <a:rPr lang="zh-CN" altLang="zh-CN" sz="3000" b="0" dirty="0"/>
              <a:t>功能：将目的操作数OPD的内容加１，并将结果回送到目的操作数。</a:t>
            </a:r>
            <a:endParaRPr lang="zh-CN" altLang="zh-CN" sz="3000" b="0" dirty="0"/>
          </a:p>
          <a:p>
            <a:pPr>
              <a:lnSpc>
                <a:spcPct val="110000"/>
              </a:lnSpc>
              <a:buFont typeface="Wingdings" panose="05000000000000000000" pitchFamily="2" charset="2"/>
              <a:buChar char="Ø"/>
            </a:pPr>
            <a:r>
              <a:rPr lang="zh-CN" altLang="zh-CN" sz="3000" b="0" dirty="0"/>
              <a:t>影响标志位AF、PF、SF、OF和ZF，但</a:t>
            </a:r>
            <a:r>
              <a:rPr lang="zh-CN" altLang="zh-CN" sz="3000" b="0" dirty="0">
                <a:solidFill>
                  <a:schemeClr val="hlink"/>
                </a:solidFill>
              </a:rPr>
              <a:t>不影响CF标志</a:t>
            </a:r>
            <a:r>
              <a:rPr lang="zh-CN" altLang="zh-CN" sz="3000" b="0" dirty="0"/>
              <a:t>。</a:t>
            </a:r>
            <a:endParaRPr lang="zh-CN" altLang="zh-CN" sz="3000" b="0" dirty="0"/>
          </a:p>
          <a:p>
            <a:pPr marL="0" indent="0">
              <a:lnSpc>
                <a:spcPct val="110000"/>
              </a:lnSpc>
              <a:buNone/>
            </a:pPr>
            <a:r>
              <a:rPr lang="zh-CN" altLang="en-US" sz="3000" dirty="0"/>
              <a:t>   例：</a:t>
            </a:r>
            <a:r>
              <a:rPr lang="zh-CN" altLang="zh-CN" sz="3000" b="0" dirty="0"/>
              <a:t>INC </a:t>
            </a:r>
            <a:r>
              <a:rPr lang="en-US" altLang="zh-CN" sz="3000" b="0" dirty="0"/>
              <a:t> </a:t>
            </a:r>
            <a:r>
              <a:rPr lang="zh-CN" altLang="zh-CN" sz="3000" b="0" dirty="0"/>
              <a:t> AX；</a:t>
            </a:r>
            <a:r>
              <a:rPr lang="en-US" altLang="zh-CN" sz="3000" b="0" dirty="0"/>
              <a:t>            </a:t>
            </a:r>
            <a:r>
              <a:rPr lang="zh-CN" altLang="zh-CN" sz="3000" b="0" dirty="0"/>
              <a:t>AX中内容加１，结果送回AX</a:t>
            </a:r>
            <a:endParaRPr lang="zh-CN" altLang="zh-CN" sz="3000" b="0" dirty="0"/>
          </a:p>
          <a:p>
            <a:pPr marL="0" indent="0">
              <a:lnSpc>
                <a:spcPct val="110000"/>
              </a:lnSpc>
              <a:buNone/>
            </a:pPr>
            <a:r>
              <a:rPr lang="en-US" altLang="zh-CN" sz="3000" b="0" dirty="0"/>
              <a:t>       </a:t>
            </a:r>
            <a:r>
              <a:rPr lang="zh-CN" altLang="zh-CN" sz="3000" b="0" dirty="0"/>
              <a:t>INC  </a:t>
            </a:r>
            <a:r>
              <a:rPr lang="en-US" altLang="zh-CN" sz="3000" b="0" dirty="0"/>
              <a:t>  </a:t>
            </a:r>
            <a:r>
              <a:rPr lang="zh-CN" altLang="zh-CN" sz="3000" b="0" dirty="0"/>
              <a:t>BL；</a:t>
            </a:r>
            <a:r>
              <a:rPr lang="en-US" altLang="zh-CN" sz="3000" b="0" dirty="0"/>
              <a:t>           </a:t>
            </a:r>
            <a:r>
              <a:rPr lang="zh-CN" altLang="zh-CN" sz="3000" b="0" dirty="0"/>
              <a:t>BL中内容加１，结果送回BL</a:t>
            </a:r>
            <a:endParaRPr lang="zh-CN" altLang="zh-CN" sz="3000" dirty="0"/>
          </a:p>
          <a:p>
            <a:pPr marL="0" indent="0">
              <a:lnSpc>
                <a:spcPct val="110000"/>
              </a:lnSpc>
              <a:buNone/>
            </a:pPr>
            <a:r>
              <a:rPr lang="en-US" altLang="zh-CN" sz="3000" b="0" dirty="0"/>
              <a:t>       </a:t>
            </a:r>
            <a:r>
              <a:rPr lang="zh-CN" altLang="zh-CN" sz="3000" b="0" dirty="0"/>
              <a:t>INC  </a:t>
            </a:r>
            <a:r>
              <a:rPr lang="zh-CN" altLang="zh-CN" sz="3000" b="0" dirty="0">
                <a:solidFill>
                  <a:srgbClr val="FF0000"/>
                </a:solidFill>
              </a:rPr>
              <a:t>BYTE </a:t>
            </a:r>
            <a:r>
              <a:rPr lang="en-US" altLang="zh-CN" sz="3000" b="0" dirty="0">
                <a:solidFill>
                  <a:srgbClr val="FF0000"/>
                </a:solidFill>
              </a:rPr>
              <a:t> </a:t>
            </a:r>
            <a:r>
              <a:rPr lang="zh-CN" altLang="zh-CN" sz="3000" b="0" dirty="0">
                <a:solidFill>
                  <a:srgbClr val="FF0000"/>
                </a:solidFill>
              </a:rPr>
              <a:t>PTR [SI] </a:t>
            </a:r>
            <a:r>
              <a:rPr lang="zh-CN" altLang="zh-CN" sz="3000" b="0" dirty="0"/>
              <a:t>；将SI所指内存字节单元内容加</a:t>
            </a:r>
            <a:r>
              <a:rPr lang="en-US" altLang="zh-CN" sz="3000" b="0" dirty="0"/>
              <a:t>                     </a:t>
            </a:r>
            <a:endParaRPr lang="en-US" altLang="zh-CN" sz="3000" b="0" dirty="0"/>
          </a:p>
          <a:p>
            <a:pPr marL="0" indent="0">
              <a:lnSpc>
                <a:spcPct val="110000"/>
              </a:lnSpc>
              <a:buNone/>
            </a:pPr>
            <a:r>
              <a:rPr lang="en-US" altLang="zh-CN" sz="3000" dirty="0"/>
              <a:t>            </a:t>
            </a:r>
            <a:r>
              <a:rPr lang="zh-CN" altLang="en-US" sz="3000" dirty="0" smtClean="0">
                <a:solidFill>
                  <a:srgbClr val="FF0000"/>
                </a:solidFill>
              </a:rPr>
              <a:t>类型设置运算符</a:t>
            </a:r>
            <a:r>
              <a:rPr lang="en-US" altLang="zh-CN" sz="3000" dirty="0" smtClean="0"/>
              <a:t>   </a:t>
            </a:r>
            <a:r>
              <a:rPr lang="zh-CN" altLang="zh-CN" sz="3000" b="0" dirty="0" smtClean="0"/>
              <a:t>１</a:t>
            </a:r>
            <a:r>
              <a:rPr lang="en-US" altLang="zh-CN" sz="3000" dirty="0"/>
              <a:t>,</a:t>
            </a:r>
            <a:r>
              <a:rPr lang="zh-CN" altLang="zh-CN" sz="3000" b="0" dirty="0"/>
              <a:t>并回存</a:t>
            </a:r>
            <a:r>
              <a:rPr lang="zh-CN" altLang="zh-CN" sz="2800" b="0" dirty="0">
                <a:latin typeface="Times New Roman" panose="02020603050405020304" pitchFamily="18" charset="0"/>
                <a:ea typeface="楷体_GB2312" pitchFamily="1" charset="-122"/>
              </a:rPr>
              <a:t>。 </a:t>
            </a:r>
            <a:endParaRPr lang="zh-CN" altLang="zh-CN" sz="2800"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比较指令</a:t>
            </a:r>
            <a:r>
              <a:rPr lang="en-US" altLang="zh-CN" dirty="0"/>
              <a:t>CMP</a:t>
            </a:r>
            <a:endParaRPr lang="zh-CN" altLang="en-US" dirty="0"/>
          </a:p>
        </p:txBody>
      </p:sp>
      <p:sp>
        <p:nvSpPr>
          <p:cNvPr id="3" name="内容占位符 2"/>
          <p:cNvSpPr>
            <a:spLocks noGrp="1"/>
          </p:cNvSpPr>
          <p:nvPr>
            <p:ph idx="1"/>
          </p:nvPr>
        </p:nvSpPr>
        <p:spPr/>
        <p:txBody>
          <a:bodyPr>
            <a:normAutofit/>
          </a:bodyPr>
          <a:lstStyle/>
          <a:p>
            <a:r>
              <a:rPr lang="zh-CN" altLang="en-US" dirty="0"/>
              <a:t>格式：</a:t>
            </a:r>
            <a:r>
              <a:rPr lang="en-US" altLang="zh-CN" dirty="0"/>
              <a:t>CMP</a:t>
            </a:r>
            <a:r>
              <a:rPr lang="zh-CN" altLang="en-US" dirty="0"/>
              <a:t> </a:t>
            </a:r>
            <a:r>
              <a:rPr lang="en-US" altLang="zh-CN" dirty="0"/>
              <a:t>OPD</a:t>
            </a:r>
            <a:r>
              <a:rPr lang="zh-CN" altLang="en-US" dirty="0"/>
              <a:t>，</a:t>
            </a:r>
            <a:r>
              <a:rPr lang="en-US" altLang="zh-CN" dirty="0"/>
              <a:t>OPS</a:t>
            </a:r>
            <a:endParaRPr lang="en-US" altLang="zh-CN" dirty="0"/>
          </a:p>
          <a:p>
            <a:r>
              <a:rPr lang="zh-CN" altLang="en-US" dirty="0"/>
              <a:t>功能：目的操作数</a:t>
            </a:r>
            <a:r>
              <a:rPr lang="en-US" altLang="zh-CN" dirty="0"/>
              <a:t>OPD</a:t>
            </a:r>
            <a:r>
              <a:rPr lang="zh-CN" altLang="en-US" dirty="0"/>
              <a:t>减去源操作数</a:t>
            </a:r>
            <a:r>
              <a:rPr lang="en-US" altLang="zh-CN" dirty="0"/>
              <a:t>OPS</a:t>
            </a:r>
            <a:r>
              <a:rPr lang="zh-CN" altLang="en-US" dirty="0"/>
              <a:t>，结果不回送。</a:t>
            </a:r>
            <a:endParaRPr lang="zh-CN" altLang="en-US" dirty="0"/>
          </a:p>
          <a:p>
            <a:r>
              <a:rPr lang="zh-CN" altLang="en-US" dirty="0"/>
              <a:t>影响标志位</a:t>
            </a:r>
            <a:r>
              <a:rPr lang="en-US" altLang="zh-CN" dirty="0"/>
              <a:t>CF</a:t>
            </a:r>
            <a:r>
              <a:rPr lang="zh-CN" altLang="en-US" dirty="0"/>
              <a:t>、</a:t>
            </a:r>
            <a:r>
              <a:rPr lang="en-US" altLang="zh-CN" dirty="0"/>
              <a:t>AF</a:t>
            </a:r>
            <a:r>
              <a:rPr lang="zh-CN" altLang="en-US" dirty="0"/>
              <a:t>、</a:t>
            </a:r>
            <a:r>
              <a:rPr lang="en-US" altLang="zh-CN" dirty="0"/>
              <a:t>PF</a:t>
            </a:r>
            <a:r>
              <a:rPr lang="zh-CN" altLang="en-US" dirty="0"/>
              <a:t>、</a:t>
            </a:r>
            <a:r>
              <a:rPr lang="en-US" altLang="zh-CN" dirty="0"/>
              <a:t>SF</a:t>
            </a:r>
            <a:r>
              <a:rPr lang="zh-CN" altLang="en-US" dirty="0"/>
              <a:t>、</a:t>
            </a:r>
            <a:r>
              <a:rPr lang="en-US" altLang="zh-CN" dirty="0"/>
              <a:t>OF</a:t>
            </a:r>
            <a:r>
              <a:rPr lang="zh-CN" altLang="en-US" dirty="0"/>
              <a:t>和</a:t>
            </a:r>
            <a:r>
              <a:rPr lang="en-US" altLang="zh-CN" dirty="0"/>
              <a:t>ZF</a:t>
            </a:r>
            <a:r>
              <a:rPr lang="zh-CN" altLang="en-US" dirty="0"/>
              <a:t>。</a:t>
            </a:r>
            <a:endParaRPr lang="zh-CN" altLang="en-US" dirty="0"/>
          </a:p>
          <a:p>
            <a:r>
              <a:rPr lang="zh-CN" altLang="en-US" dirty="0"/>
              <a:t>例：</a:t>
            </a:r>
            <a:r>
              <a:rPr lang="en-US" altLang="zh-CN" dirty="0"/>
              <a:t>CMP</a:t>
            </a:r>
            <a:r>
              <a:rPr lang="zh-CN" altLang="en-US" dirty="0"/>
              <a:t> </a:t>
            </a:r>
            <a:r>
              <a:rPr lang="en-US" altLang="zh-CN" dirty="0"/>
              <a:t>AL</a:t>
            </a:r>
            <a:r>
              <a:rPr lang="zh-CN" altLang="en-US" dirty="0"/>
              <a:t>，</a:t>
            </a:r>
            <a:r>
              <a:rPr lang="en-US" altLang="zh-CN" dirty="0"/>
              <a:t>09H</a:t>
            </a:r>
            <a:r>
              <a:rPr lang="zh-CN" altLang="en-US" dirty="0"/>
              <a:t>；将</a:t>
            </a:r>
            <a:r>
              <a:rPr lang="en-US" altLang="zh-CN" dirty="0"/>
              <a:t>AL</a:t>
            </a:r>
            <a:r>
              <a:rPr lang="zh-CN" altLang="en-US" dirty="0"/>
              <a:t>的内容和</a:t>
            </a:r>
            <a:r>
              <a:rPr lang="en-US" altLang="zh-CN" dirty="0"/>
              <a:t>09H</a:t>
            </a:r>
            <a:r>
              <a:rPr lang="zh-CN" altLang="en-US" dirty="0"/>
              <a:t>比较，结果影响标志位</a:t>
            </a:r>
            <a:endParaRPr lang="en-US" altLang="zh-CN" dirty="0"/>
          </a:p>
          <a:p>
            <a:pPr marL="0" indent="0">
              <a:buNone/>
            </a:pPr>
            <a:r>
              <a:rPr lang="en-US" altLang="zh-CN" dirty="0"/>
              <a:t>                 </a:t>
            </a:r>
            <a:r>
              <a:rPr lang="zh-CN" altLang="en-US" dirty="0"/>
              <a:t>可以根据标志位的变化，来判断比较结果。</a:t>
            </a:r>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比较指令</a:t>
            </a:r>
            <a:r>
              <a:rPr lang="en-US" altLang="zh-CN" dirty="0"/>
              <a:t>CMP</a:t>
            </a:r>
            <a:endParaRPr lang="zh-CN" altLang="en-US" dirty="0"/>
          </a:p>
        </p:txBody>
      </p:sp>
      <p:sp>
        <p:nvSpPr>
          <p:cNvPr id="3" name="内容占位符 2"/>
          <p:cNvSpPr>
            <a:spLocks noGrp="1"/>
          </p:cNvSpPr>
          <p:nvPr>
            <p:ph idx="1"/>
          </p:nvPr>
        </p:nvSpPr>
        <p:spPr/>
        <p:txBody>
          <a:bodyPr>
            <a:normAutofit/>
          </a:bodyPr>
          <a:lstStyle/>
          <a:p>
            <a:pPr algn="l"/>
            <a:endParaRPr lang="zh-CN" altLang="en-US" sz="1800" b="0" i="0" u="none" strike="noStrike" baseline="0" dirty="0">
              <a:solidFill>
                <a:srgbClr val="000000"/>
              </a:solidFill>
              <a:latin typeface="楷体" panose="02010609060101010101" pitchFamily="49" charset="-122"/>
              <a:ea typeface="楷体" panose="02010609060101010101" pitchFamily="49" charset="-122"/>
            </a:endParaRPr>
          </a:p>
          <a:p>
            <a:pPr>
              <a:lnSpc>
                <a:spcPct val="110000"/>
              </a:lnSpc>
            </a:pPr>
            <a:r>
              <a:rPr lang="zh-CN" altLang="en-US" b="0" i="0" u="none" strike="noStrike" baseline="0" dirty="0">
                <a:solidFill>
                  <a:srgbClr val="000000"/>
                </a:solidFill>
              </a:rPr>
              <a:t>通过</a:t>
            </a:r>
            <a:r>
              <a:rPr lang="en-US" altLang="zh-CN" b="0" i="0" u="none" strike="noStrike" baseline="0" dirty="0">
                <a:solidFill>
                  <a:srgbClr val="000000"/>
                </a:solidFill>
              </a:rPr>
              <a:t>ZF</a:t>
            </a:r>
            <a:r>
              <a:rPr lang="zh-CN" altLang="en-US" b="0" i="0" u="none" strike="noStrike" baseline="0" dirty="0">
                <a:solidFill>
                  <a:srgbClr val="000000"/>
                </a:solidFill>
              </a:rPr>
              <a:t>的值来判断两数是否相等。若</a:t>
            </a:r>
            <a:r>
              <a:rPr lang="en-US" altLang="zh-CN" b="1" i="0" u="none" strike="noStrike" baseline="0" dirty="0">
                <a:solidFill>
                  <a:srgbClr val="000000"/>
                </a:solidFill>
              </a:rPr>
              <a:t>ZF=1</a:t>
            </a:r>
            <a:r>
              <a:rPr lang="zh-CN" altLang="en-US" b="0" i="0" u="none" strike="noStrike" baseline="0" dirty="0">
                <a:solidFill>
                  <a:srgbClr val="000000"/>
                </a:solidFill>
              </a:rPr>
              <a:t>，说明两数相等；否则，两数不等。</a:t>
            </a:r>
            <a:endParaRPr lang="zh-CN" altLang="en-US" b="0" i="0" u="none" strike="noStrike" baseline="0" dirty="0">
              <a:solidFill>
                <a:srgbClr val="000000"/>
              </a:solidFill>
            </a:endParaRPr>
          </a:p>
          <a:p>
            <a:pPr>
              <a:lnSpc>
                <a:spcPct val="110000"/>
              </a:lnSpc>
            </a:pPr>
            <a:r>
              <a:rPr lang="zh-CN" altLang="en-US" b="0" i="0" u="none" strike="noStrike" baseline="0" dirty="0">
                <a:solidFill>
                  <a:srgbClr val="000000"/>
                </a:solidFill>
              </a:rPr>
              <a:t>通过</a:t>
            </a:r>
            <a:r>
              <a:rPr lang="en-US" altLang="zh-CN" b="0" i="0" u="none" strike="noStrike" baseline="0" dirty="0">
                <a:solidFill>
                  <a:srgbClr val="000000"/>
                </a:solidFill>
              </a:rPr>
              <a:t>CF</a:t>
            </a:r>
            <a:r>
              <a:rPr lang="zh-CN" altLang="en-US" b="0" i="0" u="none" strike="noStrike" baseline="0" dirty="0">
                <a:solidFill>
                  <a:srgbClr val="000000"/>
                </a:solidFill>
              </a:rPr>
              <a:t>、</a:t>
            </a:r>
            <a:r>
              <a:rPr lang="en-US" altLang="zh-CN" b="0" i="0" u="none" strike="noStrike" baseline="0" dirty="0">
                <a:solidFill>
                  <a:srgbClr val="000000"/>
                </a:solidFill>
              </a:rPr>
              <a:t>OF</a:t>
            </a:r>
            <a:r>
              <a:rPr lang="zh-CN" altLang="en-US" b="0" i="0" u="none" strike="noStrike" baseline="0" dirty="0">
                <a:solidFill>
                  <a:srgbClr val="000000"/>
                </a:solidFill>
              </a:rPr>
              <a:t>和</a:t>
            </a:r>
            <a:r>
              <a:rPr lang="en-US" altLang="zh-CN" b="0" i="0" u="none" strike="noStrike" baseline="0" dirty="0">
                <a:solidFill>
                  <a:srgbClr val="000000"/>
                </a:solidFill>
              </a:rPr>
              <a:t>SF</a:t>
            </a:r>
            <a:r>
              <a:rPr lang="zh-CN" altLang="en-US" b="0" i="0" u="none" strike="noStrike" baseline="0" dirty="0">
                <a:solidFill>
                  <a:srgbClr val="000000"/>
                </a:solidFill>
              </a:rPr>
              <a:t>的变化来判断无符号数或有符号数的大小：</a:t>
            </a:r>
            <a:endParaRPr lang="en-US" altLang="zh-CN" b="0" i="0" u="none" strike="noStrike" baseline="0" dirty="0">
              <a:solidFill>
                <a:srgbClr val="000000"/>
              </a:solidFill>
            </a:endParaRPr>
          </a:p>
          <a:p>
            <a:pPr lvl="1">
              <a:lnSpc>
                <a:spcPct val="110000"/>
              </a:lnSpc>
            </a:pPr>
            <a:r>
              <a:rPr lang="zh-CN" altLang="en-US" b="0" i="0" u="none" strike="noStrike" baseline="0" dirty="0">
                <a:solidFill>
                  <a:srgbClr val="000000"/>
                </a:solidFill>
              </a:rPr>
              <a:t>对于无符号数，如</a:t>
            </a:r>
            <a:r>
              <a:rPr lang="en-US" altLang="zh-CN" b="0" i="0" u="none" strike="noStrike" baseline="0" dirty="0">
                <a:solidFill>
                  <a:srgbClr val="000000"/>
                </a:solidFill>
              </a:rPr>
              <a:t>CF=0</a:t>
            </a:r>
            <a:r>
              <a:rPr lang="zh-CN" altLang="en-US" b="0" i="0" u="none" strike="noStrike" baseline="0" dirty="0">
                <a:solidFill>
                  <a:srgbClr val="000000"/>
                </a:solidFill>
              </a:rPr>
              <a:t>，则目的操作数﹥源操作数，如</a:t>
            </a:r>
            <a:r>
              <a:rPr lang="en-US" altLang="zh-CN" b="0" i="0" u="none" strike="noStrike" baseline="0" dirty="0">
                <a:solidFill>
                  <a:srgbClr val="000000"/>
                </a:solidFill>
              </a:rPr>
              <a:t>CF=1</a:t>
            </a:r>
            <a:r>
              <a:rPr lang="zh-CN" altLang="en-US" b="0" i="0" u="none" strike="noStrike" baseline="0" dirty="0">
                <a:solidFill>
                  <a:srgbClr val="000000"/>
                </a:solidFill>
              </a:rPr>
              <a:t>，则目的操作数＜源操作数。</a:t>
            </a:r>
            <a:endParaRPr lang="en-US" altLang="zh-CN" dirty="0">
              <a:solidFill>
                <a:srgbClr val="000000"/>
              </a:solidFill>
            </a:endParaRPr>
          </a:p>
          <a:p>
            <a:pPr lvl="1">
              <a:lnSpc>
                <a:spcPct val="110000"/>
              </a:lnSpc>
            </a:pPr>
            <a:r>
              <a:rPr lang="zh-CN" altLang="en-US" b="0" i="0" u="none" strike="noStrike" baseline="0" dirty="0">
                <a:solidFill>
                  <a:srgbClr val="000000"/>
                </a:solidFill>
              </a:rPr>
              <a:t>对于有符号数，如</a:t>
            </a:r>
            <a:r>
              <a:rPr lang="en-US" altLang="zh-CN" b="0" i="0" u="none" strike="noStrike" baseline="0" dirty="0">
                <a:solidFill>
                  <a:srgbClr val="000000"/>
                </a:solidFill>
              </a:rPr>
              <a:t>OF=SF</a:t>
            </a:r>
            <a:r>
              <a:rPr lang="zh-CN" altLang="en-US" b="0" i="0" u="none" strike="noStrike" baseline="0" dirty="0">
                <a:solidFill>
                  <a:srgbClr val="000000"/>
                </a:solidFill>
              </a:rPr>
              <a:t>，则目的操作数比源操作数大；如</a:t>
            </a:r>
            <a:r>
              <a:rPr lang="en-US" altLang="zh-CN" b="0" i="0" u="none" strike="noStrike" baseline="0" dirty="0">
                <a:solidFill>
                  <a:srgbClr val="000000"/>
                </a:solidFill>
              </a:rPr>
              <a:t>OF≠SF</a:t>
            </a:r>
            <a:r>
              <a:rPr lang="zh-CN" altLang="en-US" b="0" i="0" u="none" strike="noStrike" baseline="0" dirty="0">
                <a:solidFill>
                  <a:srgbClr val="000000"/>
                </a:solidFill>
              </a:rPr>
              <a:t>，则目的操作数比源操作数小。 </a:t>
            </a:r>
            <a:endParaRPr lang="zh-CN" altLang="en-US" b="0" i="0" u="none" strike="noStrike" baseline="0" dirty="0">
              <a:solidFill>
                <a:srgbClr val="000000"/>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逻辑运算指令</a:t>
            </a:r>
            <a:endParaRPr lang="zh-CN" altLang="en-US" dirty="0"/>
          </a:p>
        </p:txBody>
      </p:sp>
      <p:sp>
        <p:nvSpPr>
          <p:cNvPr id="3" name="内容占位符 2"/>
          <p:cNvSpPr>
            <a:spLocks noGrp="1"/>
          </p:cNvSpPr>
          <p:nvPr>
            <p:ph idx="1"/>
          </p:nvPr>
        </p:nvSpPr>
        <p:spPr/>
        <p:txBody>
          <a:bodyPr>
            <a:normAutofit/>
          </a:bodyPr>
          <a:lstStyle/>
          <a:p>
            <a:r>
              <a:rPr lang="zh-CN" altLang="en-US" dirty="0"/>
              <a:t>可以对字或字节按位进行逻辑运算。</a:t>
            </a:r>
            <a:endParaRPr lang="zh-CN" altLang="en-US" dirty="0"/>
          </a:p>
          <a:p>
            <a:r>
              <a:rPr lang="zh-CN" altLang="en-US" dirty="0"/>
              <a:t>包括：</a:t>
            </a:r>
            <a:endParaRPr lang="en-US" altLang="zh-CN" dirty="0"/>
          </a:p>
          <a:p>
            <a:pPr lvl="1"/>
            <a:r>
              <a:rPr lang="zh-CN" altLang="en-US" dirty="0"/>
              <a:t>非运算指令</a:t>
            </a:r>
            <a:r>
              <a:rPr lang="en-US" altLang="zh-CN" dirty="0"/>
              <a:t>NOT</a:t>
            </a:r>
            <a:endParaRPr lang="en-US" altLang="zh-CN" dirty="0"/>
          </a:p>
          <a:p>
            <a:pPr lvl="1"/>
            <a:r>
              <a:rPr lang="zh-CN" altLang="en-US" dirty="0"/>
              <a:t>与运算指令</a:t>
            </a:r>
            <a:r>
              <a:rPr lang="en-US" altLang="zh-CN" dirty="0"/>
              <a:t>AND</a:t>
            </a:r>
            <a:endParaRPr lang="en-US" altLang="zh-CN" dirty="0"/>
          </a:p>
          <a:p>
            <a:pPr lvl="1"/>
            <a:r>
              <a:rPr lang="zh-CN" altLang="en-US" dirty="0"/>
              <a:t>测试指令</a:t>
            </a:r>
            <a:r>
              <a:rPr lang="en-US" altLang="zh-CN" dirty="0"/>
              <a:t>TEST</a:t>
            </a:r>
            <a:endParaRPr lang="en-US" altLang="zh-CN" dirty="0"/>
          </a:p>
          <a:p>
            <a:pPr lvl="1"/>
            <a:r>
              <a:rPr lang="zh-CN" altLang="en-US" dirty="0"/>
              <a:t>或运算指令</a:t>
            </a:r>
            <a:r>
              <a:rPr lang="en-US" altLang="zh-CN" dirty="0"/>
              <a:t>OR</a:t>
            </a:r>
            <a:endParaRPr lang="en-US" altLang="zh-CN" dirty="0"/>
          </a:p>
          <a:p>
            <a:pPr lvl="1"/>
            <a:r>
              <a:rPr lang="zh-CN" altLang="en-US" dirty="0"/>
              <a:t>异或运算指令</a:t>
            </a:r>
            <a:r>
              <a:rPr lang="en-US" altLang="zh-CN" dirty="0"/>
              <a:t>XOR</a:t>
            </a:r>
            <a:endParaRPr lang="zh-CN" altLang="en-US" dirty="0"/>
          </a:p>
        </p:txBody>
      </p:sp>
      <p:sp>
        <p:nvSpPr>
          <p:cNvPr id="4" name="日期占位符 3"/>
          <p:cNvSpPr>
            <a:spLocks noGrp="1"/>
          </p:cNvSpPr>
          <p:nvPr>
            <p:ph type="dt" sz="half" idx="10"/>
          </p:nvPr>
        </p:nvSpPr>
        <p:spPr/>
        <p:txBody>
          <a:bodyPr/>
          <a:lstStyle/>
          <a:p>
            <a:pPr>
              <a:defRPr/>
            </a:pPr>
            <a:fld id="{A8D4A6E1-5158-4564-8CC9-057A14C16E6E}"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测试指令</a:t>
            </a:r>
            <a:r>
              <a:rPr lang="en-US" altLang="zh-CN" dirty="0"/>
              <a:t>TEST</a:t>
            </a:r>
            <a:endParaRPr lang="zh-CN" altLang="en-US" dirty="0"/>
          </a:p>
        </p:txBody>
      </p:sp>
      <p:sp>
        <p:nvSpPr>
          <p:cNvPr id="3" name="内容占位符 2"/>
          <p:cNvSpPr>
            <a:spLocks noGrp="1"/>
          </p:cNvSpPr>
          <p:nvPr>
            <p:ph idx="1"/>
          </p:nvPr>
        </p:nvSpPr>
        <p:spPr/>
        <p:txBody>
          <a:bodyPr>
            <a:normAutofit/>
          </a:bodyPr>
          <a:lstStyle/>
          <a:p>
            <a:pPr>
              <a:lnSpc>
                <a:spcPct val="80000"/>
              </a:lnSpc>
              <a:buFont typeface="Wingdings" panose="05000000000000000000" pitchFamily="2" charset="2"/>
              <a:buChar char="Ø"/>
            </a:pPr>
            <a:r>
              <a:rPr lang="zh-CN" altLang="zh-CN" sz="2800" b="0" dirty="0"/>
              <a:t>格式：TEST  OPD，OPS</a:t>
            </a:r>
            <a:endParaRPr lang="zh-CN" altLang="zh-CN" sz="2800" b="0" dirty="0"/>
          </a:p>
          <a:p>
            <a:pPr>
              <a:lnSpc>
                <a:spcPct val="80000"/>
              </a:lnSpc>
              <a:buFont typeface="Wingdings" panose="05000000000000000000" pitchFamily="2" charset="2"/>
              <a:buChar char="Ø"/>
            </a:pPr>
            <a:r>
              <a:rPr lang="zh-CN" altLang="zh-CN" sz="2800" b="0" dirty="0"/>
              <a:t>功能：将目的操作数的内容与源操作数按位相与，但</a:t>
            </a:r>
            <a:r>
              <a:rPr lang="zh-CN" altLang="zh-CN" sz="2800" b="0" dirty="0">
                <a:solidFill>
                  <a:schemeClr val="hlink"/>
                </a:solidFill>
              </a:rPr>
              <a:t>结果不送回目的操作数</a:t>
            </a:r>
            <a:r>
              <a:rPr lang="zh-CN" altLang="zh-CN" sz="2800" b="0" dirty="0"/>
              <a:t>。</a:t>
            </a:r>
            <a:endParaRPr lang="zh-CN" altLang="zh-CN" sz="2800" b="0" dirty="0"/>
          </a:p>
          <a:p>
            <a:pPr>
              <a:lnSpc>
                <a:spcPct val="80000"/>
              </a:lnSpc>
              <a:buFont typeface="Wingdings" panose="05000000000000000000" pitchFamily="2" charset="2"/>
              <a:buChar char="Ø"/>
            </a:pPr>
            <a:r>
              <a:rPr lang="zh-CN" altLang="zh-CN" sz="2800" b="0" dirty="0"/>
              <a:t>影响标志位SF、ZF、PF，使OF=0，CF=0，对AF无定义。</a:t>
            </a:r>
            <a:endParaRPr lang="zh-CN" altLang="zh-CN" sz="2800" b="0" dirty="0"/>
          </a:p>
          <a:p>
            <a:pPr>
              <a:lnSpc>
                <a:spcPct val="80000"/>
              </a:lnSpc>
              <a:buFont typeface="Wingdings" panose="05000000000000000000" pitchFamily="2" charset="2"/>
              <a:buChar char="Ø"/>
            </a:pPr>
            <a:r>
              <a:rPr lang="zh-CN" altLang="zh-CN" sz="2800" b="0" dirty="0"/>
              <a:t>例子： TEST  AL，80H</a:t>
            </a:r>
            <a:endParaRPr lang="zh-CN" altLang="zh-CN" sz="2800" b="0" dirty="0"/>
          </a:p>
          <a:p>
            <a:pPr>
              <a:lnSpc>
                <a:spcPct val="80000"/>
              </a:lnSpc>
              <a:buFont typeface="Wingdings" panose="05000000000000000000" pitchFamily="2" charset="2"/>
              <a:buNone/>
            </a:pPr>
            <a:r>
              <a:rPr lang="zh-CN" altLang="zh-CN" sz="2800" b="0" dirty="0"/>
              <a:t>                 执行前：(AL) =39H</a:t>
            </a:r>
            <a:endParaRPr lang="zh-CN" altLang="zh-CN" sz="2800" b="0" dirty="0"/>
          </a:p>
          <a:p>
            <a:pPr>
              <a:lnSpc>
                <a:spcPct val="80000"/>
              </a:lnSpc>
              <a:buFont typeface="Wingdings" panose="05000000000000000000" pitchFamily="2" charset="2"/>
              <a:buNone/>
            </a:pPr>
            <a:r>
              <a:rPr lang="zh-CN" altLang="zh-CN" sz="2800" b="0" dirty="0"/>
              <a:t>                 执行后： ZF=1</a:t>
            </a:r>
            <a:endParaRPr lang="zh-CN" altLang="zh-CN" sz="2800" b="0" dirty="0"/>
          </a:p>
          <a:p>
            <a:pPr>
              <a:lnSpc>
                <a:spcPct val="80000"/>
              </a:lnSpc>
              <a:buFont typeface="Wingdings" panose="05000000000000000000" pitchFamily="2" charset="2"/>
              <a:buChar char="Ø"/>
            </a:pPr>
            <a:r>
              <a:rPr lang="zh-CN" altLang="zh-CN" sz="2800" b="0" dirty="0">
                <a:solidFill>
                  <a:schemeClr val="hlink"/>
                </a:solidFill>
              </a:rPr>
              <a:t>该指令可以用于判断目的操作数的某个数位是否1</a:t>
            </a:r>
            <a:r>
              <a:rPr lang="zh-CN" altLang="zh-CN" sz="2800" b="0" dirty="0"/>
              <a:t>。上例中可以根据ZF=1，判断出AL内容的最高位为零</a:t>
            </a:r>
            <a:endParaRPr lang="zh-CN" altLang="en-US" dirty="0"/>
          </a:p>
        </p:txBody>
      </p:sp>
      <p:pic>
        <p:nvPicPr>
          <p:cNvPr id="4" name="图片 3"/>
          <p:cNvPicPr>
            <a:picLocks noChangeAspect="1"/>
          </p:cNvPicPr>
          <p:nvPr/>
        </p:nvPicPr>
        <p:blipFill>
          <a:blip r:embed="rId1" cstate="print"/>
          <a:stretch>
            <a:fillRect/>
          </a:stretch>
        </p:blipFill>
        <p:spPr>
          <a:xfrm>
            <a:off x="7946819" y="3429000"/>
            <a:ext cx="2108019" cy="1159411"/>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控制转移类指令</a:t>
            </a:r>
            <a:endParaRPr lang="zh-CN" altLang="en-US" dirty="0"/>
          </a:p>
        </p:txBody>
      </p:sp>
      <p:sp>
        <p:nvSpPr>
          <p:cNvPr id="3" name="内容占位符 2"/>
          <p:cNvSpPr>
            <a:spLocks noGrp="1"/>
          </p:cNvSpPr>
          <p:nvPr>
            <p:ph idx="1"/>
          </p:nvPr>
        </p:nvSpPr>
        <p:spPr/>
        <p:txBody>
          <a:bodyPr/>
          <a:lstStyle/>
          <a:p>
            <a:pPr>
              <a:lnSpc>
                <a:spcPct val="90000"/>
              </a:lnSpc>
              <a:buFont typeface="Wingdings" panose="05000000000000000000" pitchFamily="2" charset="2"/>
              <a:buChar char="Ø"/>
            </a:pPr>
            <a:r>
              <a:rPr lang="zh-CN" altLang="en-US" sz="2800" b="0" dirty="0">
                <a:latin typeface="楷体_GB2312" pitchFamily="1" charset="-122"/>
                <a:ea typeface="楷体_GB2312" pitchFamily="1" charset="-122"/>
              </a:rPr>
              <a:t>控制转移指令用来控制程序的执行流程。</a:t>
            </a:r>
            <a:endParaRPr lang="zh-CN" altLang="en-US" sz="2800" b="0" dirty="0">
              <a:latin typeface="楷体_GB2312" pitchFamily="1" charset="-122"/>
              <a:ea typeface="楷体_GB2312" pitchFamily="1" charset="-122"/>
            </a:endParaRPr>
          </a:p>
          <a:p>
            <a:pPr>
              <a:lnSpc>
                <a:spcPct val="90000"/>
              </a:lnSpc>
              <a:buFont typeface="Wingdings" panose="05000000000000000000" pitchFamily="2" charset="2"/>
              <a:buChar char="Ø"/>
            </a:pPr>
            <a:r>
              <a:rPr lang="zh-CN" altLang="en-US" sz="2800" b="0" dirty="0">
                <a:solidFill>
                  <a:schemeClr val="hlink"/>
                </a:solidFill>
                <a:latin typeface="楷体_GB2312" pitchFamily="1" charset="-122"/>
                <a:ea typeface="楷体_GB2312" pitchFamily="1" charset="-122"/>
              </a:rPr>
              <a:t>程序执行顺序的改变实际上是通过修改代码段寄存器CS和指令指针IP的内容来实现的</a:t>
            </a:r>
            <a:r>
              <a:rPr lang="zh-CN" altLang="en-US" sz="2800" b="0" dirty="0">
                <a:latin typeface="楷体_GB2312" pitchFamily="1" charset="-122"/>
                <a:ea typeface="楷体_GB2312" pitchFamily="1" charset="-122"/>
              </a:rPr>
              <a:t>。</a:t>
            </a:r>
            <a:endParaRPr lang="zh-CN" altLang="en-US" sz="2800" b="0" dirty="0">
              <a:latin typeface="楷体_GB2312" pitchFamily="1" charset="-122"/>
              <a:ea typeface="楷体_GB2312" pitchFamily="1" charset="-122"/>
            </a:endParaRPr>
          </a:p>
          <a:p>
            <a:pPr>
              <a:lnSpc>
                <a:spcPct val="90000"/>
              </a:lnSpc>
              <a:buFont typeface="Wingdings" panose="05000000000000000000" pitchFamily="2" charset="2"/>
              <a:buChar char="Ø"/>
            </a:pPr>
            <a:r>
              <a:rPr lang="zh-CN" altLang="en-US" sz="2800" b="0" dirty="0">
                <a:latin typeface="楷体_GB2312" pitchFamily="1" charset="-122"/>
                <a:ea typeface="楷体_GB2312" pitchFamily="1" charset="-122"/>
              </a:rPr>
              <a:t>包括：</a:t>
            </a:r>
            <a:endParaRPr lang="zh-CN" altLang="en-US" sz="2800"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无条件转移指令</a:t>
            </a:r>
            <a:endParaRPr lang="zh-CN" altLang="en-US"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条件转移指令</a:t>
            </a:r>
            <a:endParaRPr lang="zh-CN" altLang="en-US"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循环转移指令</a:t>
            </a:r>
            <a:endParaRPr lang="zh-CN" altLang="en-US"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子程序调用和返回指令</a:t>
            </a:r>
            <a:endParaRPr lang="zh-CN" altLang="en-US" b="0" dirty="0">
              <a:latin typeface="楷体_GB2312" pitchFamily="1" charset="-122"/>
              <a:ea typeface="楷体_GB2312" pitchFamily="1" charset="-122"/>
            </a:endParaRPr>
          </a:p>
          <a:p>
            <a:pPr lvl="1">
              <a:lnSpc>
                <a:spcPct val="90000"/>
              </a:lnSpc>
            </a:pPr>
            <a:r>
              <a:rPr lang="zh-CN" altLang="en-US" b="0" dirty="0">
                <a:latin typeface="楷体_GB2312" pitchFamily="1" charset="-122"/>
                <a:ea typeface="楷体_GB2312" pitchFamily="1" charset="-122"/>
              </a:rPr>
              <a:t>中断和中断返回指令</a:t>
            </a:r>
            <a:endParaRPr lang="zh-CN" altLang="en-US" b="0" dirty="0">
              <a:latin typeface="楷体_GB2312" pitchFamily="1" charset="-122"/>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9653195" cy="716858"/>
          </a:xfrm>
        </p:spPr>
        <p:txBody>
          <a:bodyPr/>
          <a:lstStyle/>
          <a:p>
            <a:r>
              <a:rPr lang="zh-CN" altLang="en-US" dirty="0"/>
              <a:t>子程序调用和返回指令</a:t>
            </a:r>
            <a:endParaRPr lang="zh-CN" altLang="en-US" dirty="0"/>
          </a:p>
        </p:txBody>
      </p:sp>
      <p:sp>
        <p:nvSpPr>
          <p:cNvPr id="3" name="内容占位符 2"/>
          <p:cNvSpPr>
            <a:spLocks noGrp="1"/>
          </p:cNvSpPr>
          <p:nvPr>
            <p:ph idx="1"/>
          </p:nvPr>
        </p:nvSpPr>
        <p:spPr>
          <a:xfrm>
            <a:off x="577328" y="880166"/>
            <a:ext cx="10642898" cy="5977833"/>
          </a:xfrm>
        </p:spPr>
        <p:txBody>
          <a:bodyPr>
            <a:normAutofit/>
          </a:bodyPr>
          <a:lstStyle/>
          <a:p>
            <a:r>
              <a:rPr lang="zh-CN" altLang="en-US" dirty="0"/>
              <a:t>子程序调用指令</a:t>
            </a:r>
            <a:r>
              <a:rPr lang="en-US" altLang="zh-CN" dirty="0"/>
              <a:t>CALL</a:t>
            </a:r>
            <a:endParaRPr lang="en-US" altLang="zh-CN" dirty="0"/>
          </a:p>
          <a:p>
            <a:pPr lvl="1"/>
            <a:r>
              <a:rPr lang="zh-CN" altLang="en-US" dirty="0"/>
              <a:t>段内直接</a:t>
            </a:r>
            <a:r>
              <a:rPr lang="zh-CN" altLang="en-US" dirty="0" smtClean="0"/>
              <a:t>调用  </a:t>
            </a:r>
            <a:r>
              <a:rPr lang="en-US" altLang="zh-CN" dirty="0" smtClean="0"/>
              <a:t>CALL </a:t>
            </a:r>
            <a:r>
              <a:rPr lang="zh-CN" altLang="en-US" dirty="0" smtClean="0"/>
              <a:t>标号</a:t>
            </a:r>
            <a:endParaRPr lang="en-US" altLang="zh-CN" dirty="0" smtClean="0"/>
          </a:p>
          <a:p>
            <a:pPr lvl="1"/>
            <a:endParaRPr lang="en-US" altLang="zh-CN" dirty="0" smtClean="0"/>
          </a:p>
          <a:p>
            <a:pPr lvl="1"/>
            <a:endParaRPr lang="zh-CN" altLang="en-US" dirty="0"/>
          </a:p>
          <a:p>
            <a:pPr lvl="1"/>
            <a:r>
              <a:rPr lang="zh-CN" altLang="en-US" dirty="0"/>
              <a:t>段内间接</a:t>
            </a:r>
            <a:r>
              <a:rPr lang="zh-CN" altLang="en-US" dirty="0" smtClean="0"/>
              <a:t>调用  </a:t>
            </a:r>
            <a:r>
              <a:rPr lang="en-US" altLang="zh-CN" dirty="0" smtClean="0"/>
              <a:t>CALL WORD PTR OPD</a:t>
            </a:r>
            <a:endParaRPr lang="zh-CN" altLang="en-US" dirty="0"/>
          </a:p>
          <a:p>
            <a:pPr lvl="1"/>
            <a:r>
              <a:rPr lang="zh-CN" altLang="en-US" dirty="0"/>
              <a:t>段间直接</a:t>
            </a:r>
            <a:r>
              <a:rPr lang="zh-CN" altLang="en-US" dirty="0" smtClean="0"/>
              <a:t>调用 </a:t>
            </a:r>
            <a:r>
              <a:rPr lang="en-US" altLang="zh-CN" dirty="0" smtClean="0"/>
              <a:t>CALL FAR PTR </a:t>
            </a:r>
            <a:r>
              <a:rPr lang="zh-CN" altLang="en-US" dirty="0" smtClean="0"/>
              <a:t>标号</a:t>
            </a:r>
            <a:endParaRPr lang="en-US" altLang="zh-CN" dirty="0" smtClean="0"/>
          </a:p>
          <a:p>
            <a:pPr lvl="1"/>
            <a:endParaRPr lang="en-US" altLang="zh-CN" dirty="0" smtClean="0"/>
          </a:p>
          <a:p>
            <a:pPr lvl="1"/>
            <a:endParaRPr lang="zh-CN" altLang="en-US" dirty="0"/>
          </a:p>
          <a:p>
            <a:pPr lvl="1"/>
            <a:r>
              <a:rPr lang="zh-CN" altLang="en-US" dirty="0"/>
              <a:t>段间间接</a:t>
            </a:r>
            <a:r>
              <a:rPr lang="zh-CN" altLang="en-US" dirty="0" smtClean="0"/>
              <a:t>调用 </a:t>
            </a:r>
            <a:r>
              <a:rPr lang="en-US" altLang="zh-CN" dirty="0" smtClean="0"/>
              <a:t>CALL DWORD PTR OPD</a:t>
            </a:r>
            <a:endParaRPr lang="zh-CN" altLang="en-US" dirty="0"/>
          </a:p>
        </p:txBody>
      </p:sp>
      <p:pic>
        <p:nvPicPr>
          <p:cNvPr id="1026" name="Picture 2"/>
          <p:cNvPicPr>
            <a:picLocks noChangeAspect="1" noChangeArrowheads="1"/>
          </p:cNvPicPr>
          <p:nvPr/>
        </p:nvPicPr>
        <p:blipFill>
          <a:blip r:embed="rId1" cstate="print"/>
          <a:srcRect/>
          <a:stretch>
            <a:fillRect/>
          </a:stretch>
        </p:blipFill>
        <p:spPr bwMode="auto">
          <a:xfrm>
            <a:off x="142875" y="1912788"/>
            <a:ext cx="12049125" cy="923925"/>
          </a:xfrm>
          <a:prstGeom prst="rect">
            <a:avLst/>
          </a:prstGeom>
          <a:noFill/>
          <a:ln w="9525">
            <a:noFill/>
            <a:miter lim="800000"/>
            <a:headEnd/>
            <a:tailEnd/>
          </a:ln>
        </p:spPr>
      </p:pic>
      <p:pic>
        <p:nvPicPr>
          <p:cNvPr id="1027" name="Picture 3"/>
          <p:cNvPicPr>
            <a:picLocks noChangeAspect="1" noChangeArrowheads="1"/>
          </p:cNvPicPr>
          <p:nvPr/>
        </p:nvPicPr>
        <p:blipFill>
          <a:blip r:embed="rId2" cstate="print"/>
          <a:srcRect/>
          <a:stretch>
            <a:fillRect/>
          </a:stretch>
        </p:blipFill>
        <p:spPr bwMode="auto">
          <a:xfrm>
            <a:off x="152400" y="3844234"/>
            <a:ext cx="12039600" cy="847725"/>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161925" y="5291754"/>
            <a:ext cx="12030075" cy="857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a:t>
            </a:r>
            <a:r>
              <a:rPr lang="en-US" altLang="zh-CN" dirty="0"/>
              <a:t>4</a:t>
            </a:r>
            <a:r>
              <a:rPr lang="zh-CN" altLang="en-US" dirty="0"/>
              <a:t>章  汇编语言程序设计</a:t>
            </a:r>
            <a:endParaRPr lang="zh-CN" altLang="en-US" dirty="0"/>
          </a:p>
        </p:txBody>
      </p:sp>
      <p:sp>
        <p:nvSpPr>
          <p:cNvPr id="3" name="内容占位符 2"/>
          <p:cNvSpPr>
            <a:spLocks noGrp="1"/>
          </p:cNvSpPr>
          <p:nvPr>
            <p:ph idx="1"/>
          </p:nvPr>
        </p:nvSpPr>
        <p:spPr>
          <a:xfrm>
            <a:off x="838200" y="1770540"/>
            <a:ext cx="10515600" cy="3506854"/>
          </a:xfrm>
        </p:spPr>
        <p:txBody>
          <a:bodyPr>
            <a:normAutofit fontScale="40000" lnSpcReduction="20000"/>
          </a:bodyPr>
          <a:lstStyle/>
          <a:p>
            <a:pPr>
              <a:lnSpc>
                <a:spcPct val="120000"/>
              </a:lnSpc>
            </a:pPr>
            <a:r>
              <a:rPr lang="zh-CN" altLang="en-US" sz="8600" b="0" i="0" u="none" strike="noStrike" baseline="0" dirty="0">
                <a:solidFill>
                  <a:srgbClr val="7030A0"/>
                </a:solidFill>
                <a:latin typeface="Wingdings" panose="05000000000000000000" pitchFamily="2" charset="2"/>
              </a:rPr>
              <a:t>汇编语言概述及源程序格式</a:t>
            </a:r>
            <a:endParaRPr lang="en-US" altLang="zh-CN" sz="8600" b="0" i="0" u="none" strike="noStrike" baseline="0" dirty="0">
              <a:solidFill>
                <a:srgbClr val="7030A0"/>
              </a:solidFill>
              <a:latin typeface="Wingdings" panose="05000000000000000000" pitchFamily="2" charset="2"/>
            </a:endParaRPr>
          </a:p>
          <a:p>
            <a:pPr>
              <a:lnSpc>
                <a:spcPct val="120000"/>
              </a:lnSpc>
            </a:pPr>
            <a:r>
              <a:rPr lang="zh-CN" altLang="en-US" sz="8600" b="0" i="0" u="none" strike="noStrike" baseline="0" dirty="0">
                <a:solidFill>
                  <a:srgbClr val="7030A0"/>
                </a:solidFill>
                <a:latin typeface="Wingdings" panose="05000000000000000000" pitchFamily="2" charset="2"/>
              </a:rPr>
              <a:t>伪指令</a:t>
            </a:r>
            <a:endParaRPr lang="en-US" altLang="zh-CN" sz="8600" b="0" i="0" u="none" strike="noStrike" baseline="0" dirty="0">
              <a:solidFill>
                <a:srgbClr val="7030A0"/>
              </a:solidFill>
              <a:latin typeface="Wingdings" panose="05000000000000000000" pitchFamily="2" charset="2"/>
            </a:endParaRPr>
          </a:p>
          <a:p>
            <a:pPr>
              <a:lnSpc>
                <a:spcPct val="120000"/>
              </a:lnSpc>
            </a:pPr>
            <a:r>
              <a:rPr lang="zh-CN" altLang="en-US" sz="8600" b="0" i="0" u="none" strike="noStrike" baseline="0" dirty="0">
                <a:solidFill>
                  <a:srgbClr val="7030A0"/>
                </a:solidFill>
                <a:latin typeface="Wingdings" panose="05000000000000000000" pitchFamily="2" charset="2"/>
              </a:rPr>
              <a:t>顺序和分支</a:t>
            </a:r>
            <a:endParaRPr lang="en-US" altLang="zh-CN" sz="8600" b="0" i="0" u="none" strike="noStrike" baseline="0" dirty="0">
              <a:solidFill>
                <a:srgbClr val="7030A0"/>
              </a:solidFill>
              <a:latin typeface="Wingdings" panose="05000000000000000000" pitchFamily="2" charset="2"/>
            </a:endParaRPr>
          </a:p>
          <a:p>
            <a:pPr>
              <a:lnSpc>
                <a:spcPct val="120000"/>
              </a:lnSpc>
            </a:pPr>
            <a:r>
              <a:rPr lang="zh-CN" altLang="en-US" sz="8600" b="0" i="0" u="none" strike="noStrike" baseline="0" dirty="0">
                <a:solidFill>
                  <a:srgbClr val="7030A0"/>
                </a:solidFill>
                <a:latin typeface="Wingdings" panose="05000000000000000000" pitchFamily="2" charset="2"/>
              </a:rPr>
              <a:t>循环程序设计</a:t>
            </a:r>
            <a:endParaRPr lang="en-US" altLang="zh-CN" sz="8600" dirty="0">
              <a:solidFill>
                <a:srgbClr val="7030A0"/>
              </a:solidFill>
              <a:latin typeface="Wingdings" panose="05000000000000000000" pitchFamily="2" charset="2"/>
            </a:endParaRPr>
          </a:p>
          <a:p>
            <a:pPr>
              <a:lnSpc>
                <a:spcPct val="120000"/>
              </a:lnSpc>
            </a:pPr>
            <a:r>
              <a:rPr lang="zh-CN" altLang="en-US" sz="8600" b="0" i="0" u="none" strike="noStrike" baseline="0" dirty="0">
                <a:solidFill>
                  <a:srgbClr val="7030A0"/>
                </a:solidFill>
                <a:latin typeface="Wingdings" panose="05000000000000000000" pitchFamily="2" charset="2"/>
              </a:rPr>
              <a:t>子程序结构及系统功能调用</a:t>
            </a:r>
            <a:endParaRPr lang="en-US" altLang="zh-CN" sz="8600" b="0" i="0" u="none" strike="noStrike" baseline="0" dirty="0">
              <a:solidFill>
                <a:srgbClr val="7030A0"/>
              </a:solidFill>
              <a:latin typeface="Wingdings" panose="05000000000000000000" pitchFamily="2" charset="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操作数举例</a:t>
            </a:r>
            <a:endParaRPr lang="zh-CN" altLang="en-US" dirty="0"/>
          </a:p>
        </p:txBody>
      </p:sp>
      <p:sp>
        <p:nvSpPr>
          <p:cNvPr id="3" name="内容占位符 2"/>
          <p:cNvSpPr>
            <a:spLocks noGrp="1"/>
          </p:cNvSpPr>
          <p:nvPr>
            <p:ph idx="1"/>
          </p:nvPr>
        </p:nvSpPr>
        <p:spPr/>
        <p:txBody>
          <a:bodyPr>
            <a:normAutofit lnSpcReduction="10000"/>
          </a:bodyPr>
          <a:lstStyle/>
          <a:p>
            <a:pPr>
              <a:lnSpc>
                <a:spcPct val="120000"/>
              </a:lnSpc>
            </a:pPr>
            <a:r>
              <a:rPr lang="zh-CN" altLang="en-US" dirty="0"/>
              <a:t>例</a:t>
            </a:r>
            <a:r>
              <a:rPr lang="en-US" altLang="zh-CN" dirty="0"/>
              <a:t>1</a:t>
            </a:r>
            <a:r>
              <a:rPr lang="zh-CN" altLang="en-US" dirty="0"/>
              <a:t>：</a:t>
            </a:r>
            <a:r>
              <a:rPr lang="en-US" altLang="zh-CN" dirty="0"/>
              <a:t>MOV  AL</a:t>
            </a:r>
            <a:r>
              <a:rPr lang="zh-CN" altLang="en-US" dirty="0"/>
              <a:t>，</a:t>
            </a:r>
            <a:r>
              <a:rPr lang="en-US" altLang="zh-CN" dirty="0"/>
              <a:t>10 MOD 4 </a:t>
            </a:r>
            <a:r>
              <a:rPr lang="zh-CN" altLang="en-US" dirty="0"/>
              <a:t>；</a:t>
            </a:r>
            <a:r>
              <a:rPr lang="en-US" altLang="zh-CN" dirty="0"/>
              <a:t>10 MOD 4=2</a:t>
            </a:r>
            <a:r>
              <a:rPr lang="zh-CN" altLang="en-US" dirty="0"/>
              <a:t>，</a:t>
            </a:r>
            <a:r>
              <a:rPr lang="en-US" altLang="zh-CN" dirty="0"/>
              <a:t>(AL)=2</a:t>
            </a:r>
            <a:endParaRPr lang="en-US" altLang="zh-CN" dirty="0"/>
          </a:p>
          <a:p>
            <a:pPr>
              <a:lnSpc>
                <a:spcPct val="120000"/>
              </a:lnSpc>
            </a:pPr>
            <a:r>
              <a:rPr lang="zh-CN" altLang="en-US" dirty="0"/>
              <a:t>例</a:t>
            </a:r>
            <a:r>
              <a:rPr lang="en-US" altLang="zh-CN" dirty="0"/>
              <a:t>2</a:t>
            </a:r>
            <a:r>
              <a:rPr lang="zh-CN" altLang="en-US" dirty="0"/>
              <a:t>：</a:t>
            </a:r>
            <a:r>
              <a:rPr lang="en-US" altLang="zh-CN" dirty="0"/>
              <a:t>MOV  AX</a:t>
            </a:r>
            <a:r>
              <a:rPr lang="zh-CN" altLang="en-US" dirty="0"/>
              <a:t>，</a:t>
            </a:r>
            <a:r>
              <a:rPr lang="en-US" altLang="zh-CN" dirty="0"/>
              <a:t>789AH XOR 000FH </a:t>
            </a:r>
            <a:r>
              <a:rPr lang="zh-CN" altLang="en-US" dirty="0"/>
              <a:t>；（</a:t>
            </a:r>
            <a:r>
              <a:rPr lang="en-US" altLang="zh-CN" dirty="0"/>
              <a:t>AX</a:t>
            </a:r>
            <a:r>
              <a:rPr lang="zh-CN" altLang="en-US" dirty="0"/>
              <a:t>）</a:t>
            </a:r>
            <a:r>
              <a:rPr lang="en-US" altLang="zh-CN" dirty="0"/>
              <a:t>=7895H</a:t>
            </a:r>
            <a:endParaRPr lang="en-US" altLang="zh-CN" dirty="0"/>
          </a:p>
          <a:p>
            <a:pPr>
              <a:lnSpc>
                <a:spcPct val="120000"/>
              </a:lnSpc>
            </a:pPr>
            <a:r>
              <a:rPr lang="zh-CN" altLang="en-US" dirty="0"/>
              <a:t>例</a:t>
            </a:r>
            <a:r>
              <a:rPr lang="en-US" altLang="zh-CN" dirty="0"/>
              <a:t>3:MOV  AL</a:t>
            </a:r>
            <a:r>
              <a:rPr lang="zh-CN" altLang="en-US" dirty="0"/>
              <a:t>，</a:t>
            </a:r>
            <a:r>
              <a:rPr lang="en-US" altLang="zh-CN" dirty="0"/>
              <a:t>5 NE 2;5</a:t>
            </a:r>
            <a:r>
              <a:rPr lang="zh-CN" altLang="en-US" dirty="0"/>
              <a:t>不等于</a:t>
            </a:r>
            <a:r>
              <a:rPr lang="en-US" altLang="zh-CN" dirty="0"/>
              <a:t>2</a:t>
            </a:r>
            <a:r>
              <a:rPr lang="zh-CN" altLang="en-US" dirty="0"/>
              <a:t>关系成立，</a:t>
            </a:r>
            <a:r>
              <a:rPr lang="en-US" altLang="zh-CN" dirty="0"/>
              <a:t>(AL)=0FFH</a:t>
            </a:r>
            <a:endParaRPr lang="en-US" altLang="zh-CN" dirty="0"/>
          </a:p>
          <a:p>
            <a:pPr marL="0" indent="0">
              <a:lnSpc>
                <a:spcPct val="120000"/>
              </a:lnSpc>
              <a:buNone/>
            </a:pPr>
            <a:r>
              <a:rPr lang="en-US" altLang="zh-CN" dirty="0"/>
              <a:t>      MOV  AL</a:t>
            </a:r>
            <a:r>
              <a:rPr lang="zh-CN" altLang="en-US" dirty="0"/>
              <a:t>，</a:t>
            </a:r>
            <a:r>
              <a:rPr lang="en-US" altLang="zh-CN" dirty="0"/>
              <a:t>5 LT 2;5</a:t>
            </a:r>
            <a:r>
              <a:rPr lang="zh-CN" altLang="en-US" dirty="0"/>
              <a:t>小于</a:t>
            </a:r>
            <a:r>
              <a:rPr lang="en-US" altLang="zh-CN" dirty="0"/>
              <a:t>2</a:t>
            </a:r>
            <a:r>
              <a:rPr lang="zh-CN" altLang="en-US" dirty="0"/>
              <a:t>关系不成立，</a:t>
            </a:r>
            <a:r>
              <a:rPr lang="en-US" altLang="zh-CN" dirty="0"/>
              <a:t>(AL)=00H</a:t>
            </a:r>
            <a:endParaRPr lang="en-US" altLang="zh-CN" dirty="0"/>
          </a:p>
          <a:p>
            <a:pPr>
              <a:lnSpc>
                <a:spcPct val="120000"/>
              </a:lnSpc>
            </a:pPr>
            <a:r>
              <a:rPr lang="zh-CN" altLang="en-US" dirty="0"/>
              <a:t>例</a:t>
            </a:r>
            <a:r>
              <a:rPr lang="en-US" altLang="zh-CN" dirty="0"/>
              <a:t>4</a:t>
            </a:r>
            <a:r>
              <a:rPr lang="zh-CN" altLang="en-US" dirty="0"/>
              <a:t>：</a:t>
            </a:r>
            <a:r>
              <a:rPr lang="en-US" altLang="zh-CN" dirty="0"/>
              <a:t>MOV SI</a:t>
            </a:r>
            <a:r>
              <a:rPr lang="zh-CN" altLang="en-US" dirty="0"/>
              <a:t>，</a:t>
            </a:r>
            <a:r>
              <a:rPr lang="en-US" altLang="zh-CN" dirty="0"/>
              <a:t>OFFSET BUF</a:t>
            </a:r>
            <a:r>
              <a:rPr lang="zh-CN" altLang="en-US" dirty="0"/>
              <a:t>；将</a:t>
            </a:r>
            <a:r>
              <a:rPr lang="en-US" altLang="zh-CN" dirty="0"/>
              <a:t>BUF</a:t>
            </a:r>
            <a:r>
              <a:rPr lang="zh-CN" altLang="en-US" dirty="0"/>
              <a:t>所在段的偏移地址送</a:t>
            </a:r>
            <a:r>
              <a:rPr lang="en-US" altLang="zh-CN" dirty="0"/>
              <a:t>SI</a:t>
            </a:r>
            <a:endParaRPr lang="en-US" altLang="zh-CN" dirty="0"/>
          </a:p>
          <a:p>
            <a:pPr marL="0" indent="0">
              <a:lnSpc>
                <a:spcPct val="120000"/>
              </a:lnSpc>
              <a:buNone/>
            </a:pPr>
            <a:r>
              <a:rPr lang="zh-CN" altLang="en-US" dirty="0"/>
              <a:t>      等价于</a:t>
            </a:r>
            <a:r>
              <a:rPr lang="en-US" altLang="zh-CN" dirty="0"/>
              <a:t>LEA SI</a:t>
            </a:r>
            <a:r>
              <a:rPr lang="zh-CN" altLang="en-US" dirty="0"/>
              <a:t>，</a:t>
            </a:r>
            <a:r>
              <a:rPr lang="en-US" altLang="zh-CN" dirty="0"/>
              <a:t>BUF;OFFSET</a:t>
            </a:r>
            <a:r>
              <a:rPr lang="zh-CN" altLang="en-US" dirty="0"/>
              <a:t>后面只能是变量或标号。</a:t>
            </a:r>
            <a:endParaRPr lang="zh-CN" altLang="en-US" dirty="0"/>
          </a:p>
          <a:p>
            <a:pPr>
              <a:lnSpc>
                <a:spcPct val="120000"/>
              </a:lnSpc>
            </a:pPr>
            <a:r>
              <a:rPr lang="zh-CN" altLang="en-US" dirty="0"/>
              <a:t>例</a:t>
            </a:r>
            <a:r>
              <a:rPr lang="en-US" altLang="zh-CN" dirty="0"/>
              <a:t>5</a:t>
            </a:r>
            <a:r>
              <a:rPr lang="zh-CN" altLang="en-US" dirty="0"/>
              <a:t>：</a:t>
            </a:r>
            <a:r>
              <a:rPr lang="en-US" altLang="zh-CN" dirty="0"/>
              <a:t>MOV AX</a:t>
            </a:r>
            <a:r>
              <a:rPr lang="zh-CN" altLang="en-US" dirty="0"/>
              <a:t>，</a:t>
            </a:r>
            <a:r>
              <a:rPr lang="en-US" altLang="zh-CN" dirty="0"/>
              <a:t>SEG BUF</a:t>
            </a:r>
            <a:r>
              <a:rPr lang="zh-CN" altLang="en-US" dirty="0"/>
              <a:t>；将</a:t>
            </a:r>
            <a:r>
              <a:rPr lang="en-US" altLang="zh-CN" dirty="0"/>
              <a:t>BUF</a:t>
            </a:r>
            <a:r>
              <a:rPr lang="zh-CN" altLang="en-US" dirty="0"/>
              <a:t>所在段的段基址送</a:t>
            </a:r>
            <a:r>
              <a:rPr lang="en-US" altLang="zh-CN" dirty="0"/>
              <a:t>AX</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数据定义伪指令</a:t>
            </a:r>
            <a:endParaRPr lang="zh-CN" altLang="en-US" dirty="0"/>
          </a:p>
        </p:txBody>
      </p:sp>
      <p:sp>
        <p:nvSpPr>
          <p:cNvPr id="3" name="内容占位符 2"/>
          <p:cNvSpPr>
            <a:spLocks noGrp="1"/>
          </p:cNvSpPr>
          <p:nvPr>
            <p:ph idx="1"/>
          </p:nvPr>
        </p:nvSpPr>
        <p:spPr/>
        <p:txBody>
          <a:bodyPr/>
          <a:lstStyle/>
          <a:p>
            <a:pPr marL="457200" indent="-457200"/>
            <a:r>
              <a:rPr lang="zh-CN" altLang="zh-CN" b="0" dirty="0">
                <a:latin typeface="Times New Roman" panose="02020603050405020304" pitchFamily="18" charset="0"/>
                <a:ea typeface="楷体_GB2312" pitchFamily="1" charset="-122"/>
              </a:rPr>
              <a:t>数据定义伪指令用来定义一个变量，为变量分配存储空间，赋初值等。</a:t>
            </a:r>
            <a:endParaRPr lang="zh-CN" altLang="zh-CN" b="0" dirty="0">
              <a:latin typeface="Times New Roman" panose="02020603050405020304" pitchFamily="18" charset="0"/>
              <a:ea typeface="楷体_GB2312" pitchFamily="1" charset="-122"/>
            </a:endParaRPr>
          </a:p>
          <a:p>
            <a:pPr marL="457200" indent="-457200"/>
            <a:r>
              <a:rPr lang="zh-CN" altLang="zh-CN" dirty="0">
                <a:latin typeface="Times New Roman" panose="02020603050405020304" pitchFamily="18" charset="0"/>
              </a:rPr>
              <a:t>格式：[变量名]  伪指令  表达式[，表达式]</a:t>
            </a:r>
            <a:endParaRPr lang="zh-CN" altLang="zh-CN" dirty="0">
              <a:latin typeface="Times New Roman" panose="02020603050405020304" pitchFamily="18" charset="0"/>
            </a:endParaRPr>
          </a:p>
          <a:p>
            <a:pPr marL="457200" indent="-457200"/>
            <a:r>
              <a:rPr lang="zh-CN" altLang="zh-CN" b="0" dirty="0">
                <a:latin typeface="Times New Roman" panose="02020603050405020304" pitchFamily="18" charset="0"/>
                <a:ea typeface="楷体_GB2312" pitchFamily="1" charset="-122"/>
              </a:rPr>
              <a:t>变量名字段为可选项，可有可无。</a:t>
            </a:r>
            <a:endParaRPr lang="zh-CN" altLang="zh-CN" b="0" dirty="0">
              <a:latin typeface="Times New Roman" panose="02020603050405020304" pitchFamily="18" charset="0"/>
              <a:ea typeface="楷体_GB2312" pitchFamily="1" charset="-122"/>
            </a:endParaRPr>
          </a:p>
          <a:p>
            <a:pPr marL="457200" indent="-457200"/>
            <a:r>
              <a:rPr lang="zh-CN" altLang="zh-CN" b="0" dirty="0">
                <a:latin typeface="Times New Roman" panose="02020603050405020304" pitchFamily="18" charset="0"/>
                <a:ea typeface="楷体_GB2312" pitchFamily="1" charset="-122"/>
              </a:rPr>
              <a:t>表达式可以不止一个，但相互之间应以逗号分开。</a:t>
            </a:r>
            <a:endParaRPr lang="zh-CN" altLang="zh-CN" b="0" dirty="0">
              <a:latin typeface="Times New Roman" panose="02020603050405020304" pitchFamily="18" charset="0"/>
              <a:ea typeface="楷体_GB2312" pitchFamily="1"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数据定义伪指令</a:t>
            </a:r>
            <a:endParaRPr lang="zh-CN" altLang="en-US" dirty="0"/>
          </a:p>
        </p:txBody>
      </p:sp>
      <p:sp>
        <p:nvSpPr>
          <p:cNvPr id="3" name="内容占位符 2"/>
          <p:cNvSpPr>
            <a:spLocks noGrp="1"/>
          </p:cNvSpPr>
          <p:nvPr>
            <p:ph idx="1"/>
          </p:nvPr>
        </p:nvSpPr>
        <p:spPr/>
        <p:txBody>
          <a:bodyPr>
            <a:normAutofit/>
          </a:bodyPr>
          <a:lstStyle/>
          <a:p>
            <a:r>
              <a:rPr lang="zh-CN" altLang="en-US" dirty="0"/>
              <a:t>数据定义伪指令有五种，分别为：</a:t>
            </a:r>
            <a:endParaRPr lang="en-US" altLang="zh-CN" dirty="0"/>
          </a:p>
          <a:p>
            <a:pPr lvl="1"/>
            <a:r>
              <a:rPr lang="zh-CN" altLang="en-US" dirty="0"/>
              <a:t>用</a:t>
            </a:r>
            <a:r>
              <a:rPr lang="en-US" altLang="zh-CN" dirty="0"/>
              <a:t>DB</a:t>
            </a:r>
            <a:r>
              <a:rPr lang="zh-CN" altLang="en-US" dirty="0"/>
              <a:t>定义的变量类型为字节</a:t>
            </a:r>
            <a:r>
              <a:rPr lang="en-US" altLang="zh-CN" dirty="0"/>
              <a:t>(BYTE)</a:t>
            </a:r>
            <a:r>
              <a:rPr lang="zh-CN" altLang="en-US" dirty="0"/>
              <a:t>；</a:t>
            </a:r>
            <a:endParaRPr lang="zh-CN" altLang="en-US" dirty="0"/>
          </a:p>
          <a:p>
            <a:pPr lvl="1"/>
            <a:r>
              <a:rPr lang="zh-CN" altLang="en-US" dirty="0"/>
              <a:t>用</a:t>
            </a:r>
            <a:r>
              <a:rPr lang="en-US" altLang="zh-CN" dirty="0"/>
              <a:t>DW</a:t>
            </a:r>
            <a:r>
              <a:rPr lang="zh-CN" altLang="en-US" dirty="0"/>
              <a:t>定义的变量类型为字</a:t>
            </a:r>
            <a:r>
              <a:rPr lang="en-US" altLang="zh-CN" dirty="0"/>
              <a:t>(WORD)</a:t>
            </a:r>
            <a:r>
              <a:rPr lang="zh-CN" altLang="en-US" dirty="0"/>
              <a:t>；</a:t>
            </a:r>
            <a:endParaRPr lang="zh-CN" altLang="en-US" dirty="0"/>
          </a:p>
          <a:p>
            <a:pPr lvl="1"/>
            <a:r>
              <a:rPr lang="zh-CN" altLang="en-US" dirty="0"/>
              <a:t>用</a:t>
            </a:r>
            <a:r>
              <a:rPr lang="en-US" altLang="zh-CN" dirty="0"/>
              <a:t>DD</a:t>
            </a:r>
            <a:r>
              <a:rPr lang="zh-CN" altLang="en-US" dirty="0"/>
              <a:t>定义的变量类型为双字</a:t>
            </a:r>
            <a:r>
              <a:rPr lang="en-US" altLang="zh-CN" dirty="0"/>
              <a:t>(DWORD)</a:t>
            </a:r>
            <a:r>
              <a:rPr lang="zh-CN" altLang="en-US" dirty="0"/>
              <a:t>；</a:t>
            </a:r>
            <a:endParaRPr lang="zh-CN" altLang="en-US" dirty="0"/>
          </a:p>
          <a:p>
            <a:pPr lvl="1"/>
            <a:r>
              <a:rPr lang="zh-CN" altLang="en-US" dirty="0"/>
              <a:t>用</a:t>
            </a:r>
            <a:r>
              <a:rPr lang="en-US" altLang="zh-CN" dirty="0"/>
              <a:t>DQ</a:t>
            </a:r>
            <a:r>
              <a:rPr lang="zh-CN" altLang="en-US" dirty="0"/>
              <a:t>定义的变量类型为四字</a:t>
            </a:r>
            <a:r>
              <a:rPr lang="en-US" altLang="zh-CN" dirty="0"/>
              <a:t>(QWORD)</a:t>
            </a:r>
            <a:r>
              <a:rPr lang="zh-CN" altLang="en-US" dirty="0"/>
              <a:t>；</a:t>
            </a:r>
            <a:endParaRPr lang="zh-CN" altLang="en-US" dirty="0"/>
          </a:p>
          <a:p>
            <a:pPr lvl="1"/>
            <a:r>
              <a:rPr lang="zh-CN" altLang="en-US" dirty="0"/>
              <a:t>用</a:t>
            </a:r>
            <a:r>
              <a:rPr lang="en-US" altLang="zh-CN" dirty="0"/>
              <a:t>DT</a:t>
            </a:r>
            <a:r>
              <a:rPr lang="zh-CN" altLang="en-US" dirty="0"/>
              <a:t>定义的变量类型为</a:t>
            </a:r>
            <a:r>
              <a:rPr lang="en-US" altLang="zh-CN" dirty="0"/>
              <a:t>10</a:t>
            </a:r>
            <a:r>
              <a:rPr lang="zh-CN" altLang="en-US" dirty="0"/>
              <a:t>个字节</a:t>
            </a:r>
            <a:r>
              <a:rPr lang="en-US" altLang="zh-CN" dirty="0"/>
              <a:t>(TBYTE)</a:t>
            </a:r>
            <a:r>
              <a:rPr lang="zh-CN" altLang="en-US" dirty="0"/>
              <a:t>。</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数据定义伪指令</a:t>
            </a:r>
            <a:endParaRPr lang="zh-CN" altLang="en-US" dirty="0"/>
          </a:p>
        </p:txBody>
      </p:sp>
      <p:sp>
        <p:nvSpPr>
          <p:cNvPr id="3" name="内容占位符 2"/>
          <p:cNvSpPr>
            <a:spLocks noGrp="1"/>
          </p:cNvSpPr>
          <p:nvPr>
            <p:ph idx="1"/>
          </p:nvPr>
        </p:nvSpPr>
        <p:spPr/>
        <p:txBody>
          <a:bodyPr/>
          <a:lstStyle/>
          <a:p>
            <a:pPr>
              <a:lnSpc>
                <a:spcPct val="100000"/>
              </a:lnSpc>
              <a:buFont typeface="Wingdings" panose="05000000000000000000" pitchFamily="2" charset="2"/>
              <a:buNone/>
            </a:pPr>
            <a:r>
              <a:rPr lang="zh-CN" altLang="zh-CN" sz="2800" b="0" dirty="0">
                <a:latin typeface="楷体_GB2312" pitchFamily="1" charset="-122"/>
                <a:ea typeface="楷体_GB2312" pitchFamily="1" charset="-122"/>
              </a:rPr>
              <a:t>表达式可以是以下几种：</a:t>
            </a:r>
            <a:endParaRPr lang="zh-CN" altLang="zh-CN" sz="2800" b="0" dirty="0">
              <a:latin typeface="楷体_GB2312" pitchFamily="1" charset="-122"/>
              <a:ea typeface="楷体_GB2312" pitchFamily="1" charset="-122"/>
            </a:endParaRPr>
          </a:p>
          <a:p>
            <a:pPr lvl="1"/>
            <a:r>
              <a:rPr lang="zh-CN" altLang="zh-CN" b="0" dirty="0">
                <a:latin typeface="楷体_GB2312" pitchFamily="1" charset="-122"/>
                <a:ea typeface="楷体_GB2312" pitchFamily="1" charset="-122"/>
              </a:rPr>
              <a:t>常量或常量表达式。</a:t>
            </a:r>
            <a:endParaRPr lang="zh-CN" altLang="zh-CN" b="0" dirty="0">
              <a:latin typeface="楷体_GB2312" pitchFamily="1" charset="-122"/>
              <a:ea typeface="楷体_GB2312" pitchFamily="1" charset="-122"/>
            </a:endParaRPr>
          </a:p>
          <a:p>
            <a:pPr lvl="1"/>
            <a:r>
              <a:rPr lang="zh-CN" altLang="zh-CN" b="0" dirty="0">
                <a:latin typeface="楷体_GB2312" pitchFamily="1" charset="-122"/>
                <a:ea typeface="楷体_GB2312" pitchFamily="1" charset="-122"/>
              </a:rPr>
              <a:t>ASCII码字节或字节串。</a:t>
            </a:r>
            <a:endParaRPr lang="zh-CN" altLang="zh-CN" b="0" dirty="0">
              <a:latin typeface="楷体_GB2312" pitchFamily="1" charset="-122"/>
              <a:ea typeface="楷体_GB2312" pitchFamily="1" charset="-122"/>
            </a:endParaRPr>
          </a:p>
          <a:p>
            <a:pPr lvl="1"/>
            <a:r>
              <a:rPr lang="zh-CN" altLang="zh-CN" b="0" dirty="0">
                <a:latin typeface="楷体_GB2312" pitchFamily="1" charset="-122"/>
                <a:ea typeface="楷体_GB2312" pitchFamily="1" charset="-122"/>
              </a:rPr>
              <a:t>问号“？”表示初值未确定，常用来预留存储空间。</a:t>
            </a:r>
            <a:endParaRPr lang="zh-CN" altLang="zh-CN" b="0" dirty="0">
              <a:latin typeface="楷体_GB2312" pitchFamily="1" charset="-122"/>
              <a:ea typeface="楷体_GB2312" pitchFamily="1" charset="-122"/>
            </a:endParaRPr>
          </a:p>
          <a:p>
            <a:pPr lvl="1"/>
            <a:r>
              <a:rPr lang="zh-CN" altLang="zh-CN" b="0" dirty="0">
                <a:latin typeface="楷体_GB2312" pitchFamily="1" charset="-122"/>
                <a:ea typeface="楷体_GB2312" pitchFamily="1" charset="-122"/>
              </a:rPr>
              <a:t>重复子句</a:t>
            </a:r>
            <a:r>
              <a:rPr lang="zh-CN" altLang="zh-CN" dirty="0">
                <a:solidFill>
                  <a:schemeClr val="hlink"/>
                </a:solidFill>
                <a:latin typeface="楷体_GB2312" pitchFamily="1" charset="-122"/>
                <a:ea typeface="楷体_GB2312" pitchFamily="1" charset="-122"/>
              </a:rPr>
              <a:t>DUP格式</a:t>
            </a:r>
            <a:r>
              <a:rPr lang="zh-CN" altLang="zh-CN" b="0" dirty="0">
                <a:latin typeface="楷体_GB2312" pitchFamily="1" charset="-122"/>
                <a:ea typeface="楷体_GB2312" pitchFamily="1" charset="-122"/>
              </a:rPr>
              <a:t>为：</a:t>
            </a:r>
            <a:r>
              <a:rPr lang="zh-CN" altLang="zh-CN" sz="2800" b="0" dirty="0">
                <a:latin typeface="楷体_GB2312" pitchFamily="1" charset="-122"/>
                <a:ea typeface="楷体_GB2312" pitchFamily="1" charset="-122"/>
              </a:rPr>
              <a:t>N   DUP  (表达式)</a:t>
            </a:r>
            <a:endParaRPr lang="zh-CN" altLang="zh-CN" sz="2800" b="0" dirty="0">
              <a:latin typeface="楷体_GB2312" pitchFamily="1" charset="-122"/>
              <a:ea typeface="楷体_GB2312" pitchFamily="1" charset="-122"/>
            </a:endParaRPr>
          </a:p>
          <a:p>
            <a:pPr>
              <a:lnSpc>
                <a:spcPct val="100000"/>
              </a:lnSpc>
              <a:buFont typeface="Wingdings" panose="05000000000000000000" pitchFamily="2" charset="2"/>
              <a:buNone/>
            </a:pPr>
            <a:r>
              <a:rPr lang="zh-CN" altLang="zh-CN" sz="2800" b="0" dirty="0">
                <a:latin typeface="楷体_GB2312" pitchFamily="1" charset="-122"/>
                <a:ea typeface="楷体_GB2312" pitchFamily="1" charset="-122"/>
              </a:rPr>
              <a:t>   </a:t>
            </a:r>
            <a:r>
              <a:rPr lang="en-US" altLang="zh-CN" sz="2800" b="0" dirty="0">
                <a:latin typeface="楷体_GB2312" pitchFamily="1" charset="-122"/>
                <a:ea typeface="楷体_GB2312" pitchFamily="1" charset="-122"/>
              </a:rPr>
              <a:t>   </a:t>
            </a:r>
            <a:r>
              <a:rPr lang="zh-CN" altLang="zh-CN" sz="2800" b="0" dirty="0">
                <a:latin typeface="楷体_GB2312" pitchFamily="1" charset="-122"/>
                <a:ea typeface="楷体_GB2312" pitchFamily="1" charset="-122"/>
              </a:rPr>
              <a:t> 其中N为重复次数，括号内的表达式为重复的内容。</a:t>
            </a:r>
            <a:endParaRPr lang="zh-CN" altLang="zh-CN" sz="2800" b="0" dirty="0">
              <a:latin typeface="楷体_GB2312" pitchFamily="1" charset="-122"/>
              <a:ea typeface="楷体_GB2312" pitchFamily="1" charset="-122"/>
            </a:endParaRPr>
          </a:p>
          <a:p>
            <a:pPr lvl="1"/>
            <a:r>
              <a:rPr lang="zh-CN" altLang="zh-CN" b="0" dirty="0">
                <a:latin typeface="楷体_GB2312" pitchFamily="1" charset="-122"/>
                <a:ea typeface="楷体_GB2312" pitchFamily="1" charset="-122"/>
              </a:rPr>
              <a:t>地址表达式。即用变量名来表示的变量地址。 </a:t>
            </a:r>
            <a:endParaRPr lang="zh-CN" altLang="zh-CN" b="0" dirty="0">
              <a:latin typeface="楷体_GB2312" pitchFamily="1" charset="-122"/>
              <a:ea typeface="楷体_GB2312" pitchFamily="1"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869932"/>
            <a:ext cx="10515600" cy="776288"/>
          </a:xfrm>
        </p:spPr>
        <p:txBody>
          <a:bodyPr/>
          <a:lstStyle/>
          <a:p>
            <a:r>
              <a:rPr lang="zh-CN" altLang="en-US" dirty="0"/>
              <a:t>例：定义一字节变量</a:t>
            </a:r>
            <a:r>
              <a:rPr lang="en-US" altLang="zh-CN" dirty="0"/>
              <a:t>X1</a:t>
            </a:r>
            <a:r>
              <a:rPr lang="zh-CN" altLang="en-US" dirty="0"/>
              <a:t>和字变量</a:t>
            </a:r>
            <a:r>
              <a:rPr lang="en-US" altLang="zh-CN" dirty="0"/>
              <a:t>BUF</a:t>
            </a:r>
            <a:r>
              <a:rPr lang="zh-CN" altLang="en-US" dirty="0"/>
              <a:t>。</a:t>
            </a:r>
            <a:endParaRPr lang="zh-CN" altLang="en-US" dirty="0"/>
          </a:p>
        </p:txBody>
      </p:sp>
      <p:sp>
        <p:nvSpPr>
          <p:cNvPr id="4" name="Rectangle 3"/>
          <p:cNvSpPr txBox="1">
            <a:spLocks noChangeArrowheads="1"/>
          </p:cNvSpPr>
          <p:nvPr/>
        </p:nvSpPr>
        <p:spPr>
          <a:xfrm>
            <a:off x="1598612" y="2957513"/>
            <a:ext cx="4716462" cy="1203325"/>
          </a:xfrm>
          <a:prstGeom prst="rect">
            <a:avLst/>
          </a:prstGeom>
          <a:noFill/>
          <a:ln>
            <a:solidFill>
              <a:srgbClr val="008000"/>
            </a:solidFill>
            <a:miter lim="800000"/>
          </a:ln>
        </p:spPr>
        <p:txBody>
          <a:bodyPr vert="horz" lIns="91440" tIns="45720" rIns="91440" bIns="45720" rtlCol="0">
            <a:normAutofit fontScale="85000" lnSpcReduction="20000"/>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zh-CN">
                <a:latin typeface="Times New Roman" panose="02020603050405020304" pitchFamily="18" charset="0"/>
              </a:rPr>
              <a:t>X1     </a:t>
            </a:r>
            <a:r>
              <a:rPr lang="zh-CN" altLang="zh-CN">
                <a:solidFill>
                  <a:schemeClr val="hlink"/>
                </a:solidFill>
                <a:latin typeface="Times New Roman" panose="02020603050405020304" pitchFamily="18" charset="0"/>
              </a:rPr>
              <a:t>DB</a:t>
            </a:r>
            <a:r>
              <a:rPr lang="zh-CN" altLang="zh-CN">
                <a:latin typeface="Times New Roman" panose="02020603050405020304" pitchFamily="18" charset="0"/>
              </a:rPr>
              <a:t>  08H</a:t>
            </a:r>
            <a:endParaRPr lang="zh-CN" altLang="zh-CN">
              <a:latin typeface="Times New Roman" panose="02020603050405020304" pitchFamily="18" charset="0"/>
            </a:endParaRPr>
          </a:p>
          <a:p>
            <a:pPr>
              <a:buFont typeface="Wingdings" panose="05000000000000000000" pitchFamily="2" charset="2"/>
              <a:buNone/>
            </a:pPr>
            <a:r>
              <a:rPr lang="zh-CN" altLang="zh-CN">
                <a:latin typeface="Times New Roman" panose="02020603050405020304" pitchFamily="18" charset="0"/>
              </a:rPr>
              <a:t>BUF  </a:t>
            </a:r>
            <a:r>
              <a:rPr lang="zh-CN" altLang="zh-CN">
                <a:solidFill>
                  <a:schemeClr val="hlink"/>
                </a:solidFill>
                <a:latin typeface="Times New Roman" panose="02020603050405020304" pitchFamily="18" charset="0"/>
              </a:rPr>
              <a:t>DW</a:t>
            </a:r>
            <a:r>
              <a:rPr lang="zh-CN" altLang="zh-CN">
                <a:latin typeface="Times New Roman" panose="02020603050405020304" pitchFamily="18" charset="0"/>
              </a:rPr>
              <a:t>  01H,02H,03H,04H</a:t>
            </a:r>
            <a:endParaRPr lang="zh-CN" altLang="zh-CN">
              <a:latin typeface="Times New Roman" panose="02020603050405020304" pitchFamily="18" charset="0"/>
            </a:endParaRPr>
          </a:p>
        </p:txBody>
      </p:sp>
      <p:grpSp>
        <p:nvGrpSpPr>
          <p:cNvPr id="5" name="Group 4"/>
          <p:cNvGrpSpPr/>
          <p:nvPr/>
        </p:nvGrpSpPr>
        <p:grpSpPr bwMode="auto">
          <a:xfrm>
            <a:off x="6321424" y="1704975"/>
            <a:ext cx="3741738" cy="4424363"/>
            <a:chOff x="0" y="0"/>
            <a:chExt cx="2357" cy="2787"/>
          </a:xfrm>
        </p:grpSpPr>
        <p:sp>
          <p:nvSpPr>
            <p:cNvPr id="6" name="AutoShape 5"/>
            <p:cNvSpPr/>
            <p:nvPr/>
          </p:nvSpPr>
          <p:spPr bwMode="auto">
            <a:xfrm>
              <a:off x="1751" y="451"/>
              <a:ext cx="96" cy="384"/>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7" name="Rectangle 6"/>
            <p:cNvSpPr>
              <a:spLocks noChangeArrowheads="1"/>
            </p:cNvSpPr>
            <p:nvPr/>
          </p:nvSpPr>
          <p:spPr bwMode="auto">
            <a:xfrm>
              <a:off x="1053" y="206"/>
              <a:ext cx="665" cy="2139"/>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8" name="Line 7"/>
            <p:cNvSpPr>
              <a:spLocks noChangeShapeType="1"/>
            </p:cNvSpPr>
            <p:nvPr/>
          </p:nvSpPr>
          <p:spPr bwMode="auto">
            <a:xfrm>
              <a:off x="1052" y="41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8"/>
            <p:cNvSpPr>
              <a:spLocks noChangeShapeType="1"/>
            </p:cNvSpPr>
            <p:nvPr/>
          </p:nvSpPr>
          <p:spPr bwMode="auto">
            <a:xfrm>
              <a:off x="1055" y="632"/>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9"/>
            <p:cNvSpPr>
              <a:spLocks noChangeShapeType="1"/>
            </p:cNvSpPr>
            <p:nvPr/>
          </p:nvSpPr>
          <p:spPr bwMode="auto">
            <a:xfrm>
              <a:off x="1055" y="898"/>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p:cNvSpPr>
              <a:spLocks noChangeShapeType="1"/>
            </p:cNvSpPr>
            <p:nvPr/>
          </p:nvSpPr>
          <p:spPr bwMode="auto">
            <a:xfrm>
              <a:off x="1055" y="162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p:cNvSpPr>
              <a:spLocks noChangeShapeType="1"/>
            </p:cNvSpPr>
            <p:nvPr/>
          </p:nvSpPr>
          <p:spPr bwMode="auto">
            <a:xfrm>
              <a:off x="1056" y="1373"/>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p:cNvSpPr>
              <a:spLocks noChangeShapeType="1"/>
            </p:cNvSpPr>
            <p:nvPr/>
          </p:nvSpPr>
          <p:spPr bwMode="auto">
            <a:xfrm>
              <a:off x="1055" y="113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Text Box 13"/>
            <p:cNvSpPr txBox="1">
              <a:spLocks noChangeArrowheads="1"/>
            </p:cNvSpPr>
            <p:nvPr/>
          </p:nvSpPr>
          <p:spPr bwMode="auto">
            <a:xfrm>
              <a:off x="89" y="177"/>
              <a:ext cx="3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X1</a:t>
              </a:r>
              <a:endParaRPr lang="zh-CN" altLang="zh-CN" sz="2400"/>
            </a:p>
          </p:txBody>
        </p:sp>
        <p:sp>
          <p:nvSpPr>
            <p:cNvPr id="15" name="Text Box 14"/>
            <p:cNvSpPr txBox="1">
              <a:spLocks noChangeArrowheads="1"/>
            </p:cNvSpPr>
            <p:nvPr/>
          </p:nvSpPr>
          <p:spPr bwMode="auto">
            <a:xfrm>
              <a:off x="1135" y="171"/>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08H</a:t>
              </a:r>
              <a:endParaRPr lang="zh-CN" altLang="zh-CN" sz="2400"/>
            </a:p>
          </p:txBody>
        </p:sp>
        <p:sp>
          <p:nvSpPr>
            <p:cNvPr id="16" name="Text Box 15"/>
            <p:cNvSpPr txBox="1">
              <a:spLocks noChangeArrowheads="1"/>
            </p:cNvSpPr>
            <p:nvPr/>
          </p:nvSpPr>
          <p:spPr bwMode="auto">
            <a:xfrm>
              <a:off x="1168" y="37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01H</a:t>
              </a:r>
              <a:endParaRPr lang="zh-CN" altLang="zh-CN" sz="2400"/>
            </a:p>
          </p:txBody>
        </p:sp>
        <p:sp>
          <p:nvSpPr>
            <p:cNvPr id="17" name="Text Box 16"/>
            <p:cNvSpPr txBox="1">
              <a:spLocks noChangeArrowheads="1"/>
            </p:cNvSpPr>
            <p:nvPr/>
          </p:nvSpPr>
          <p:spPr bwMode="auto">
            <a:xfrm>
              <a:off x="1035" y="2499"/>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b="1">
                  <a:solidFill>
                    <a:schemeClr val="folHlink"/>
                  </a:solidFill>
                  <a:ea typeface="宋体" panose="02010600030101010101" pitchFamily="2" charset="-122"/>
                </a:rPr>
                <a:t>存储器</a:t>
              </a:r>
              <a:endParaRPr lang="zh-CN" altLang="zh-CN" sz="2400" b="1">
                <a:solidFill>
                  <a:schemeClr val="folHlink"/>
                </a:solidFill>
                <a:ea typeface="宋体" panose="02010600030101010101" pitchFamily="2" charset="-122"/>
              </a:endParaRPr>
            </a:p>
          </p:txBody>
        </p:sp>
        <p:sp>
          <p:nvSpPr>
            <p:cNvPr id="18" name="Line 17"/>
            <p:cNvSpPr>
              <a:spLocks noChangeShapeType="1"/>
            </p:cNvSpPr>
            <p:nvPr/>
          </p:nvSpPr>
          <p:spPr bwMode="auto">
            <a:xfrm>
              <a:off x="506" y="316"/>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 name="Text Box 18"/>
            <p:cNvSpPr txBox="1">
              <a:spLocks noChangeArrowheads="1"/>
            </p:cNvSpPr>
            <p:nvPr/>
          </p:nvSpPr>
          <p:spPr bwMode="auto">
            <a:xfrm>
              <a:off x="1164" y="601"/>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00H</a:t>
              </a:r>
              <a:endParaRPr lang="zh-CN" altLang="zh-CN" sz="2400"/>
            </a:p>
          </p:txBody>
        </p:sp>
        <p:sp>
          <p:nvSpPr>
            <p:cNvPr id="20" name="Text Box 19"/>
            <p:cNvSpPr txBox="1">
              <a:spLocks noChangeArrowheads="1"/>
            </p:cNvSpPr>
            <p:nvPr/>
          </p:nvSpPr>
          <p:spPr bwMode="auto">
            <a:xfrm>
              <a:off x="0" y="412"/>
              <a:ext cx="5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BUF</a:t>
              </a:r>
              <a:endParaRPr lang="zh-CN" altLang="zh-CN" sz="2400"/>
            </a:p>
          </p:txBody>
        </p:sp>
        <p:sp>
          <p:nvSpPr>
            <p:cNvPr id="21" name="Line 20"/>
            <p:cNvSpPr>
              <a:spLocks noChangeShapeType="1"/>
            </p:cNvSpPr>
            <p:nvPr/>
          </p:nvSpPr>
          <p:spPr bwMode="auto">
            <a:xfrm>
              <a:off x="516" y="557"/>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 name="Text Box 21"/>
            <p:cNvSpPr txBox="1">
              <a:spLocks noChangeArrowheads="1"/>
            </p:cNvSpPr>
            <p:nvPr/>
          </p:nvSpPr>
          <p:spPr bwMode="auto">
            <a:xfrm>
              <a:off x="1150" y="861"/>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02H</a:t>
              </a:r>
              <a:endParaRPr lang="zh-CN" altLang="zh-CN" sz="2400"/>
            </a:p>
          </p:txBody>
        </p:sp>
        <p:sp>
          <p:nvSpPr>
            <p:cNvPr id="23" name="Text Box 22"/>
            <p:cNvSpPr txBox="1">
              <a:spLocks noChangeArrowheads="1"/>
            </p:cNvSpPr>
            <p:nvPr/>
          </p:nvSpPr>
          <p:spPr bwMode="auto">
            <a:xfrm>
              <a:off x="1150" y="1093"/>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00H</a:t>
              </a:r>
              <a:endParaRPr lang="zh-CN" altLang="zh-CN" sz="2400"/>
            </a:p>
          </p:txBody>
        </p:sp>
        <p:sp>
          <p:nvSpPr>
            <p:cNvPr id="24" name="AutoShape 23"/>
            <p:cNvSpPr/>
            <p:nvPr/>
          </p:nvSpPr>
          <p:spPr bwMode="auto">
            <a:xfrm>
              <a:off x="1768" y="930"/>
              <a:ext cx="96" cy="384"/>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25" name="Text Box 24"/>
            <p:cNvSpPr txBox="1">
              <a:spLocks noChangeArrowheads="1"/>
            </p:cNvSpPr>
            <p:nvPr/>
          </p:nvSpPr>
          <p:spPr bwMode="auto">
            <a:xfrm>
              <a:off x="1146" y="1347"/>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03H</a:t>
              </a:r>
              <a:endParaRPr lang="zh-CN" altLang="zh-CN" sz="2400"/>
            </a:p>
          </p:txBody>
        </p:sp>
        <p:sp>
          <p:nvSpPr>
            <p:cNvPr id="26" name="Line 25"/>
            <p:cNvSpPr>
              <a:spLocks noChangeShapeType="1"/>
            </p:cNvSpPr>
            <p:nvPr/>
          </p:nvSpPr>
          <p:spPr bwMode="auto">
            <a:xfrm>
              <a:off x="1055" y="1855"/>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Text Box 26"/>
            <p:cNvSpPr txBox="1">
              <a:spLocks noChangeArrowheads="1"/>
            </p:cNvSpPr>
            <p:nvPr/>
          </p:nvSpPr>
          <p:spPr bwMode="auto">
            <a:xfrm>
              <a:off x="1153" y="1595"/>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00H</a:t>
              </a:r>
              <a:endParaRPr lang="zh-CN" altLang="zh-CN" sz="2400"/>
            </a:p>
          </p:txBody>
        </p:sp>
        <p:sp>
          <p:nvSpPr>
            <p:cNvPr id="28" name="AutoShape 27"/>
            <p:cNvSpPr/>
            <p:nvPr/>
          </p:nvSpPr>
          <p:spPr bwMode="auto">
            <a:xfrm>
              <a:off x="1757" y="1417"/>
              <a:ext cx="96" cy="384"/>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29" name="Line 28"/>
            <p:cNvSpPr>
              <a:spLocks noChangeShapeType="1"/>
            </p:cNvSpPr>
            <p:nvPr/>
          </p:nvSpPr>
          <p:spPr bwMode="auto">
            <a:xfrm>
              <a:off x="1057" y="2104"/>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Text Box 29"/>
            <p:cNvSpPr txBox="1">
              <a:spLocks noChangeArrowheads="1"/>
            </p:cNvSpPr>
            <p:nvPr/>
          </p:nvSpPr>
          <p:spPr bwMode="auto">
            <a:xfrm>
              <a:off x="1149" y="1849"/>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04H</a:t>
              </a:r>
              <a:endParaRPr lang="zh-CN" altLang="zh-CN" sz="2400"/>
            </a:p>
          </p:txBody>
        </p:sp>
        <p:sp>
          <p:nvSpPr>
            <p:cNvPr id="31" name="Text Box 30"/>
            <p:cNvSpPr txBox="1">
              <a:spLocks noChangeArrowheads="1"/>
            </p:cNvSpPr>
            <p:nvPr/>
          </p:nvSpPr>
          <p:spPr bwMode="auto">
            <a:xfrm>
              <a:off x="1156" y="2082"/>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00H</a:t>
              </a:r>
              <a:endParaRPr lang="zh-CN" altLang="zh-CN" sz="2400"/>
            </a:p>
          </p:txBody>
        </p:sp>
        <p:sp>
          <p:nvSpPr>
            <p:cNvPr id="32" name="AutoShape 31"/>
            <p:cNvSpPr/>
            <p:nvPr/>
          </p:nvSpPr>
          <p:spPr bwMode="auto">
            <a:xfrm>
              <a:off x="1760" y="1905"/>
              <a:ext cx="96" cy="384"/>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33" name="Line 32"/>
            <p:cNvSpPr>
              <a:spLocks noChangeShapeType="1"/>
            </p:cNvSpPr>
            <p:nvPr/>
          </p:nvSpPr>
          <p:spPr bwMode="auto">
            <a:xfrm>
              <a:off x="1054" y="0"/>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4" name="Line 33"/>
            <p:cNvSpPr>
              <a:spLocks noChangeShapeType="1"/>
            </p:cNvSpPr>
            <p:nvPr/>
          </p:nvSpPr>
          <p:spPr bwMode="auto">
            <a:xfrm>
              <a:off x="1715" y="10"/>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 name="Line 34"/>
            <p:cNvSpPr>
              <a:spLocks noChangeShapeType="1"/>
            </p:cNvSpPr>
            <p:nvPr/>
          </p:nvSpPr>
          <p:spPr bwMode="auto">
            <a:xfrm>
              <a:off x="1054" y="2338"/>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6" name="Line 35"/>
            <p:cNvSpPr>
              <a:spLocks noChangeShapeType="1"/>
            </p:cNvSpPr>
            <p:nvPr/>
          </p:nvSpPr>
          <p:spPr bwMode="auto">
            <a:xfrm>
              <a:off x="1719" y="2338"/>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7" name="Text Box 36"/>
            <p:cNvSpPr txBox="1">
              <a:spLocks noChangeArrowheads="1"/>
            </p:cNvSpPr>
            <p:nvPr/>
          </p:nvSpPr>
          <p:spPr bwMode="auto">
            <a:xfrm>
              <a:off x="1904" y="489"/>
              <a:ext cx="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01H</a:t>
              </a:r>
              <a:endParaRPr lang="zh-CN" altLang="zh-CN" sz="2400"/>
            </a:p>
          </p:txBody>
        </p:sp>
        <p:sp>
          <p:nvSpPr>
            <p:cNvPr id="38" name="Text Box 37"/>
            <p:cNvSpPr txBox="1">
              <a:spLocks noChangeArrowheads="1"/>
            </p:cNvSpPr>
            <p:nvPr/>
          </p:nvSpPr>
          <p:spPr bwMode="auto">
            <a:xfrm>
              <a:off x="1906" y="949"/>
              <a:ext cx="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02H</a:t>
              </a:r>
              <a:endParaRPr lang="zh-CN" altLang="zh-CN" sz="2400"/>
            </a:p>
          </p:txBody>
        </p:sp>
        <p:sp>
          <p:nvSpPr>
            <p:cNvPr id="39" name="Text Box 38"/>
            <p:cNvSpPr txBox="1">
              <a:spLocks noChangeArrowheads="1"/>
            </p:cNvSpPr>
            <p:nvPr/>
          </p:nvSpPr>
          <p:spPr bwMode="auto">
            <a:xfrm>
              <a:off x="1892" y="1454"/>
              <a:ext cx="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03H</a:t>
              </a:r>
              <a:endParaRPr lang="zh-CN" altLang="zh-CN" sz="2400"/>
            </a:p>
          </p:txBody>
        </p:sp>
        <p:sp>
          <p:nvSpPr>
            <p:cNvPr id="40" name="Text Box 39"/>
            <p:cNvSpPr txBox="1">
              <a:spLocks noChangeArrowheads="1"/>
            </p:cNvSpPr>
            <p:nvPr/>
          </p:nvSpPr>
          <p:spPr bwMode="auto">
            <a:xfrm>
              <a:off x="1892" y="1932"/>
              <a:ext cx="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04H</a:t>
              </a:r>
              <a:endParaRPr lang="zh-CN" altLang="zh-CN" sz="2400"/>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0635" y="716254"/>
            <a:ext cx="10515600" cy="696915"/>
          </a:xfrm>
        </p:spPr>
        <p:txBody>
          <a:bodyPr/>
          <a:lstStyle/>
          <a:p>
            <a:r>
              <a:rPr lang="zh-CN" altLang="en-US" dirty="0"/>
              <a:t>例：用</a:t>
            </a:r>
            <a:r>
              <a:rPr lang="en-US" altLang="zh-CN" dirty="0"/>
              <a:t>DB</a:t>
            </a:r>
            <a:r>
              <a:rPr lang="zh-CN" altLang="en-US" dirty="0"/>
              <a:t>、</a:t>
            </a:r>
            <a:r>
              <a:rPr lang="en-US" altLang="zh-CN" dirty="0"/>
              <a:t>DW</a:t>
            </a:r>
            <a:r>
              <a:rPr lang="zh-CN" altLang="en-US" dirty="0"/>
              <a:t>定义字符串。</a:t>
            </a:r>
            <a:endParaRPr lang="zh-CN" altLang="en-US" dirty="0"/>
          </a:p>
        </p:txBody>
      </p:sp>
      <p:sp>
        <p:nvSpPr>
          <p:cNvPr id="4" name="Rectangle 3"/>
          <p:cNvSpPr txBox="1">
            <a:spLocks noChangeArrowheads="1"/>
          </p:cNvSpPr>
          <p:nvPr/>
        </p:nvSpPr>
        <p:spPr>
          <a:xfrm>
            <a:off x="2121492" y="1785938"/>
            <a:ext cx="3478212" cy="1601787"/>
          </a:xfrm>
          <a:prstGeom prst="rect">
            <a:avLst/>
          </a:prstGeom>
          <a:noFill/>
          <a:ln>
            <a:solidFill>
              <a:srgbClr val="808000"/>
            </a:solidFill>
            <a:miter lim="800000"/>
          </a:ln>
        </p:spPr>
        <p:txBody>
          <a:bodyPr vert="horz" lIns="91440" tIns="45720" rIns="91440" bIns="45720" rtlCol="0">
            <a:normAutofit fontScale="70000" lnSpcReduction="20000"/>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zh-CN">
                <a:latin typeface="Times New Roman" panose="02020603050405020304" pitchFamily="18" charset="0"/>
              </a:rPr>
              <a:t>BUF1  </a:t>
            </a:r>
            <a:r>
              <a:rPr lang="zh-CN" altLang="zh-CN">
                <a:solidFill>
                  <a:schemeClr val="hlink"/>
                </a:solidFill>
                <a:latin typeface="Times New Roman" panose="02020603050405020304" pitchFamily="18" charset="0"/>
              </a:rPr>
              <a:t>DB</a:t>
            </a:r>
            <a:r>
              <a:rPr lang="zh-CN" altLang="zh-CN">
                <a:latin typeface="Times New Roman" panose="02020603050405020304" pitchFamily="18" charset="0"/>
              </a:rPr>
              <a:t>  ‘HELLO’</a:t>
            </a:r>
            <a:endParaRPr lang="zh-CN" altLang="zh-CN">
              <a:latin typeface="Times New Roman" panose="02020603050405020304" pitchFamily="18" charset="0"/>
            </a:endParaRPr>
          </a:p>
          <a:p>
            <a:pPr>
              <a:buFont typeface="Wingdings" panose="05000000000000000000" pitchFamily="2" charset="2"/>
              <a:buNone/>
            </a:pPr>
            <a:r>
              <a:rPr lang="zh-CN" altLang="zh-CN">
                <a:latin typeface="Times New Roman" panose="02020603050405020304" pitchFamily="18" charset="0"/>
              </a:rPr>
              <a:t>BUF2  </a:t>
            </a:r>
            <a:r>
              <a:rPr lang="zh-CN" altLang="zh-CN">
                <a:solidFill>
                  <a:schemeClr val="hlink"/>
                </a:solidFill>
                <a:latin typeface="Times New Roman" panose="02020603050405020304" pitchFamily="18" charset="0"/>
              </a:rPr>
              <a:t>DB</a:t>
            </a:r>
            <a:r>
              <a:rPr lang="zh-CN" altLang="zh-CN">
                <a:latin typeface="Times New Roman" panose="02020603050405020304" pitchFamily="18" charset="0"/>
              </a:rPr>
              <a:t>  ‘AB’</a:t>
            </a:r>
            <a:endParaRPr lang="zh-CN" altLang="zh-CN">
              <a:latin typeface="Times New Roman" panose="02020603050405020304" pitchFamily="18" charset="0"/>
            </a:endParaRPr>
          </a:p>
          <a:p>
            <a:pPr>
              <a:buFont typeface="Wingdings" panose="05000000000000000000" pitchFamily="2" charset="2"/>
              <a:buNone/>
            </a:pPr>
            <a:r>
              <a:rPr lang="zh-CN" altLang="zh-CN">
                <a:latin typeface="Times New Roman" panose="02020603050405020304" pitchFamily="18" charset="0"/>
              </a:rPr>
              <a:t>BUF3  </a:t>
            </a:r>
            <a:r>
              <a:rPr lang="zh-CN" altLang="zh-CN">
                <a:solidFill>
                  <a:schemeClr val="hlink"/>
                </a:solidFill>
                <a:latin typeface="Times New Roman" panose="02020603050405020304" pitchFamily="18" charset="0"/>
              </a:rPr>
              <a:t>DW</a:t>
            </a:r>
            <a:r>
              <a:rPr lang="zh-CN" altLang="zh-CN">
                <a:latin typeface="Times New Roman" panose="02020603050405020304" pitchFamily="18" charset="0"/>
              </a:rPr>
              <a:t>  ‘AB’</a:t>
            </a:r>
            <a:endParaRPr lang="zh-CN" altLang="zh-CN">
              <a:latin typeface="Times New Roman" panose="02020603050405020304" pitchFamily="18" charset="0"/>
            </a:endParaRPr>
          </a:p>
        </p:txBody>
      </p:sp>
      <p:grpSp>
        <p:nvGrpSpPr>
          <p:cNvPr id="5" name="Group 4"/>
          <p:cNvGrpSpPr/>
          <p:nvPr/>
        </p:nvGrpSpPr>
        <p:grpSpPr bwMode="auto">
          <a:xfrm>
            <a:off x="6423617" y="1839913"/>
            <a:ext cx="3030537" cy="4413250"/>
            <a:chOff x="0" y="0"/>
            <a:chExt cx="1909" cy="2780"/>
          </a:xfrm>
        </p:grpSpPr>
        <p:sp>
          <p:nvSpPr>
            <p:cNvPr id="6" name="Rectangle 5"/>
            <p:cNvSpPr>
              <a:spLocks noChangeArrowheads="1"/>
            </p:cNvSpPr>
            <p:nvPr/>
          </p:nvSpPr>
          <p:spPr bwMode="auto">
            <a:xfrm>
              <a:off x="1193" y="199"/>
              <a:ext cx="665" cy="2139"/>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7" name="Line 6"/>
            <p:cNvSpPr>
              <a:spLocks noChangeShapeType="1"/>
            </p:cNvSpPr>
            <p:nvPr/>
          </p:nvSpPr>
          <p:spPr bwMode="auto">
            <a:xfrm>
              <a:off x="1192" y="412"/>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7"/>
            <p:cNvSpPr>
              <a:spLocks noChangeShapeType="1"/>
            </p:cNvSpPr>
            <p:nvPr/>
          </p:nvSpPr>
          <p:spPr bwMode="auto">
            <a:xfrm>
              <a:off x="1195" y="625"/>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8"/>
            <p:cNvSpPr>
              <a:spLocks noChangeShapeType="1"/>
            </p:cNvSpPr>
            <p:nvPr/>
          </p:nvSpPr>
          <p:spPr bwMode="auto">
            <a:xfrm>
              <a:off x="1195" y="891"/>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9"/>
            <p:cNvSpPr>
              <a:spLocks noChangeShapeType="1"/>
            </p:cNvSpPr>
            <p:nvPr/>
          </p:nvSpPr>
          <p:spPr bwMode="auto">
            <a:xfrm>
              <a:off x="1195" y="161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p:cNvSpPr>
              <a:spLocks noChangeShapeType="1"/>
            </p:cNvSpPr>
            <p:nvPr/>
          </p:nvSpPr>
          <p:spPr bwMode="auto">
            <a:xfrm>
              <a:off x="1196" y="136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p:cNvSpPr>
              <a:spLocks noChangeShapeType="1"/>
            </p:cNvSpPr>
            <p:nvPr/>
          </p:nvSpPr>
          <p:spPr bwMode="auto">
            <a:xfrm>
              <a:off x="1195" y="112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Text Box 12"/>
            <p:cNvSpPr txBox="1">
              <a:spLocks noChangeArrowheads="1"/>
            </p:cNvSpPr>
            <p:nvPr/>
          </p:nvSpPr>
          <p:spPr bwMode="auto">
            <a:xfrm>
              <a:off x="81" y="170"/>
              <a:ext cx="5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BUF1</a:t>
              </a:r>
              <a:endParaRPr lang="zh-CN" altLang="zh-CN" sz="2400"/>
            </a:p>
          </p:txBody>
        </p:sp>
        <p:sp>
          <p:nvSpPr>
            <p:cNvPr id="14" name="Text Box 13"/>
            <p:cNvSpPr txBox="1">
              <a:spLocks noChangeArrowheads="1"/>
            </p:cNvSpPr>
            <p:nvPr/>
          </p:nvSpPr>
          <p:spPr bwMode="auto">
            <a:xfrm>
              <a:off x="1296" y="16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’H’</a:t>
              </a:r>
              <a:endParaRPr lang="zh-CN" altLang="zh-CN" sz="2400"/>
            </a:p>
          </p:txBody>
        </p:sp>
        <p:sp>
          <p:nvSpPr>
            <p:cNvPr id="15" name="Text Box 14"/>
            <p:cNvSpPr txBox="1">
              <a:spLocks noChangeArrowheads="1"/>
            </p:cNvSpPr>
            <p:nvPr/>
          </p:nvSpPr>
          <p:spPr bwMode="auto">
            <a:xfrm>
              <a:off x="1308" y="367"/>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‘E’</a:t>
              </a:r>
              <a:endParaRPr lang="zh-CN" altLang="zh-CN" sz="2400"/>
            </a:p>
          </p:txBody>
        </p:sp>
        <p:sp>
          <p:nvSpPr>
            <p:cNvPr id="16" name="Text Box 15"/>
            <p:cNvSpPr txBox="1">
              <a:spLocks noChangeArrowheads="1"/>
            </p:cNvSpPr>
            <p:nvPr/>
          </p:nvSpPr>
          <p:spPr bwMode="auto">
            <a:xfrm>
              <a:off x="1175" y="2492"/>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b="1">
                  <a:solidFill>
                    <a:schemeClr val="folHlink"/>
                  </a:solidFill>
                  <a:ea typeface="宋体" panose="02010600030101010101" pitchFamily="2" charset="-122"/>
                </a:rPr>
                <a:t>存储器</a:t>
              </a:r>
              <a:endParaRPr lang="zh-CN" altLang="zh-CN" sz="2400" b="1">
                <a:solidFill>
                  <a:schemeClr val="folHlink"/>
                </a:solidFill>
                <a:ea typeface="宋体" panose="02010600030101010101" pitchFamily="2" charset="-122"/>
              </a:endParaRPr>
            </a:p>
          </p:txBody>
        </p:sp>
        <p:sp>
          <p:nvSpPr>
            <p:cNvPr id="17" name="Line 16"/>
            <p:cNvSpPr>
              <a:spLocks noChangeShapeType="1"/>
            </p:cNvSpPr>
            <p:nvPr/>
          </p:nvSpPr>
          <p:spPr bwMode="auto">
            <a:xfrm>
              <a:off x="646" y="309"/>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 name="Text Box 17"/>
            <p:cNvSpPr txBox="1">
              <a:spLocks noChangeArrowheads="1"/>
            </p:cNvSpPr>
            <p:nvPr/>
          </p:nvSpPr>
          <p:spPr bwMode="auto">
            <a:xfrm>
              <a:off x="1304" y="59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‘L’</a:t>
              </a:r>
              <a:endParaRPr lang="zh-CN" altLang="zh-CN" sz="2400"/>
            </a:p>
          </p:txBody>
        </p:sp>
        <p:sp>
          <p:nvSpPr>
            <p:cNvPr id="19" name="Text Box 18"/>
            <p:cNvSpPr txBox="1">
              <a:spLocks noChangeArrowheads="1"/>
            </p:cNvSpPr>
            <p:nvPr/>
          </p:nvSpPr>
          <p:spPr bwMode="auto">
            <a:xfrm>
              <a:off x="0" y="1353"/>
              <a:ext cx="6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BUF2</a:t>
              </a:r>
              <a:endParaRPr lang="zh-CN" altLang="zh-CN" sz="2400"/>
            </a:p>
          </p:txBody>
        </p:sp>
        <p:sp>
          <p:nvSpPr>
            <p:cNvPr id="20" name="Line 19"/>
            <p:cNvSpPr>
              <a:spLocks noChangeShapeType="1"/>
            </p:cNvSpPr>
            <p:nvPr/>
          </p:nvSpPr>
          <p:spPr bwMode="auto">
            <a:xfrm>
              <a:off x="656" y="1978"/>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 name="Text Box 20"/>
            <p:cNvSpPr txBox="1">
              <a:spLocks noChangeArrowheads="1"/>
            </p:cNvSpPr>
            <p:nvPr/>
          </p:nvSpPr>
          <p:spPr bwMode="auto">
            <a:xfrm>
              <a:off x="1290" y="85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‘L’</a:t>
              </a:r>
              <a:endParaRPr lang="zh-CN" altLang="zh-CN" sz="2400"/>
            </a:p>
          </p:txBody>
        </p:sp>
        <p:sp>
          <p:nvSpPr>
            <p:cNvPr id="22" name="Text Box 21"/>
            <p:cNvSpPr txBox="1">
              <a:spLocks noChangeArrowheads="1"/>
            </p:cNvSpPr>
            <p:nvPr/>
          </p:nvSpPr>
          <p:spPr bwMode="auto">
            <a:xfrm>
              <a:off x="1290" y="1086"/>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‘O’</a:t>
              </a:r>
              <a:endParaRPr lang="zh-CN" altLang="zh-CN" sz="2400"/>
            </a:p>
          </p:txBody>
        </p:sp>
        <p:sp>
          <p:nvSpPr>
            <p:cNvPr id="23" name="Text Box 22"/>
            <p:cNvSpPr txBox="1">
              <a:spLocks noChangeArrowheads="1"/>
            </p:cNvSpPr>
            <p:nvPr/>
          </p:nvSpPr>
          <p:spPr bwMode="auto">
            <a:xfrm>
              <a:off x="1286" y="1340"/>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’A’</a:t>
              </a:r>
              <a:endParaRPr lang="zh-CN" altLang="zh-CN" sz="2400"/>
            </a:p>
          </p:txBody>
        </p:sp>
        <p:sp>
          <p:nvSpPr>
            <p:cNvPr id="24" name="Line 23"/>
            <p:cNvSpPr>
              <a:spLocks noChangeShapeType="1"/>
            </p:cNvSpPr>
            <p:nvPr/>
          </p:nvSpPr>
          <p:spPr bwMode="auto">
            <a:xfrm>
              <a:off x="1195" y="1848"/>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Text Box 24"/>
            <p:cNvSpPr txBox="1">
              <a:spLocks noChangeArrowheads="1"/>
            </p:cNvSpPr>
            <p:nvPr/>
          </p:nvSpPr>
          <p:spPr bwMode="auto">
            <a:xfrm>
              <a:off x="1293" y="1588"/>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‘B’</a:t>
              </a:r>
              <a:endParaRPr lang="zh-CN" altLang="zh-CN" sz="2400"/>
            </a:p>
          </p:txBody>
        </p:sp>
        <p:sp>
          <p:nvSpPr>
            <p:cNvPr id="26" name="Line 25"/>
            <p:cNvSpPr>
              <a:spLocks noChangeShapeType="1"/>
            </p:cNvSpPr>
            <p:nvPr/>
          </p:nvSpPr>
          <p:spPr bwMode="auto">
            <a:xfrm>
              <a:off x="1197" y="2097"/>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Text Box 26"/>
            <p:cNvSpPr txBox="1">
              <a:spLocks noChangeArrowheads="1"/>
            </p:cNvSpPr>
            <p:nvPr/>
          </p:nvSpPr>
          <p:spPr bwMode="auto">
            <a:xfrm>
              <a:off x="1289" y="1842"/>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‘B’</a:t>
              </a:r>
              <a:endParaRPr lang="zh-CN" altLang="zh-CN" sz="2400"/>
            </a:p>
          </p:txBody>
        </p:sp>
        <p:sp>
          <p:nvSpPr>
            <p:cNvPr id="28" name="Text Box 27"/>
            <p:cNvSpPr txBox="1">
              <a:spLocks noChangeArrowheads="1"/>
            </p:cNvSpPr>
            <p:nvPr/>
          </p:nvSpPr>
          <p:spPr bwMode="auto">
            <a:xfrm>
              <a:off x="1296" y="2075"/>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‘A’</a:t>
              </a:r>
              <a:endParaRPr lang="zh-CN" altLang="zh-CN" sz="2400"/>
            </a:p>
          </p:txBody>
        </p:sp>
        <p:sp>
          <p:nvSpPr>
            <p:cNvPr id="29" name="Line 28"/>
            <p:cNvSpPr>
              <a:spLocks noChangeShapeType="1"/>
            </p:cNvSpPr>
            <p:nvPr/>
          </p:nvSpPr>
          <p:spPr bwMode="auto">
            <a:xfrm>
              <a:off x="1194" y="0"/>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0" name="Line 29"/>
            <p:cNvSpPr>
              <a:spLocks noChangeShapeType="1"/>
            </p:cNvSpPr>
            <p:nvPr/>
          </p:nvSpPr>
          <p:spPr bwMode="auto">
            <a:xfrm>
              <a:off x="1862" y="3"/>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1" name="Line 30"/>
            <p:cNvSpPr>
              <a:spLocks noChangeShapeType="1"/>
            </p:cNvSpPr>
            <p:nvPr/>
          </p:nvSpPr>
          <p:spPr bwMode="auto">
            <a:xfrm>
              <a:off x="1194" y="2338"/>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2" name="Line 31"/>
            <p:cNvSpPr>
              <a:spLocks noChangeShapeType="1"/>
            </p:cNvSpPr>
            <p:nvPr/>
          </p:nvSpPr>
          <p:spPr bwMode="auto">
            <a:xfrm>
              <a:off x="1859" y="2331"/>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3" name="Line 32"/>
            <p:cNvSpPr>
              <a:spLocks noChangeShapeType="1"/>
            </p:cNvSpPr>
            <p:nvPr/>
          </p:nvSpPr>
          <p:spPr bwMode="auto">
            <a:xfrm>
              <a:off x="644" y="1496"/>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4" name="Text Box 33"/>
            <p:cNvSpPr txBox="1">
              <a:spLocks noChangeArrowheads="1"/>
            </p:cNvSpPr>
            <p:nvPr/>
          </p:nvSpPr>
          <p:spPr bwMode="auto">
            <a:xfrm>
              <a:off x="1" y="1848"/>
              <a:ext cx="6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BUF3</a:t>
              </a:r>
              <a:endParaRPr lang="zh-CN" altLang="zh-CN" sz="2400"/>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966651"/>
            <a:ext cx="7704909" cy="5210312"/>
          </a:xfrm>
        </p:spPr>
        <p:txBody>
          <a:bodyPr>
            <a:normAutofit lnSpcReduction="10000"/>
          </a:bodyPr>
          <a:lstStyle/>
          <a:p>
            <a:pPr marL="0" indent="0">
              <a:lnSpc>
                <a:spcPct val="120000"/>
              </a:lnSpc>
              <a:buNone/>
            </a:pPr>
            <a:r>
              <a:rPr lang="zh-CN" altLang="en-US" dirty="0"/>
              <a:t>例</a:t>
            </a:r>
            <a:r>
              <a:rPr lang="en-US" altLang="zh-CN" dirty="0"/>
              <a:t>1</a:t>
            </a:r>
            <a:r>
              <a:rPr lang="zh-CN" altLang="en-US" dirty="0"/>
              <a:t>：</a:t>
            </a:r>
            <a:r>
              <a:rPr lang="en-US" altLang="zh-CN" dirty="0"/>
              <a:t>SUM DW ? </a:t>
            </a:r>
            <a:r>
              <a:rPr lang="zh-CN" altLang="en-US" dirty="0"/>
              <a:t>；</a:t>
            </a:r>
            <a:endParaRPr lang="zh-CN" altLang="en-US" dirty="0"/>
          </a:p>
          <a:p>
            <a:pPr marL="0" indent="0">
              <a:lnSpc>
                <a:spcPct val="120000"/>
              </a:lnSpc>
              <a:buNone/>
            </a:pPr>
            <a:r>
              <a:rPr lang="zh-CN" altLang="en-US" dirty="0"/>
              <a:t>例</a:t>
            </a:r>
            <a:r>
              <a:rPr lang="en-US" altLang="zh-CN" dirty="0"/>
              <a:t>2</a:t>
            </a:r>
            <a:r>
              <a:rPr lang="zh-CN" altLang="en-US" dirty="0"/>
              <a:t>：</a:t>
            </a:r>
            <a:r>
              <a:rPr lang="en-US" altLang="zh-CN" dirty="0"/>
              <a:t>N DB 3 DUP (01H</a:t>
            </a:r>
            <a:r>
              <a:rPr lang="zh-CN" altLang="en-US" dirty="0"/>
              <a:t>，</a:t>
            </a:r>
            <a:r>
              <a:rPr lang="en-US" altLang="zh-CN" dirty="0"/>
              <a:t>02H) </a:t>
            </a:r>
            <a:r>
              <a:rPr lang="zh-CN" altLang="en-US" dirty="0"/>
              <a:t>；</a:t>
            </a:r>
            <a:endParaRPr lang="zh-CN" altLang="en-US" dirty="0"/>
          </a:p>
          <a:p>
            <a:pPr marL="0" indent="0">
              <a:lnSpc>
                <a:spcPct val="120000"/>
              </a:lnSpc>
              <a:buNone/>
            </a:pPr>
            <a:r>
              <a:rPr lang="zh-CN" altLang="en-US" dirty="0"/>
              <a:t>该定义等价于：</a:t>
            </a:r>
            <a:endParaRPr lang="zh-CN" altLang="en-US" dirty="0"/>
          </a:p>
          <a:p>
            <a:pPr marL="0" indent="0">
              <a:lnSpc>
                <a:spcPct val="120000"/>
              </a:lnSpc>
              <a:buNone/>
            </a:pPr>
            <a:r>
              <a:rPr lang="en-US" altLang="zh-CN" dirty="0"/>
              <a:t>N DB 01H</a:t>
            </a:r>
            <a:r>
              <a:rPr lang="zh-CN" altLang="en-US" dirty="0"/>
              <a:t>，</a:t>
            </a:r>
            <a:r>
              <a:rPr lang="en-US" altLang="zh-CN" dirty="0"/>
              <a:t>02H</a:t>
            </a:r>
            <a:r>
              <a:rPr lang="zh-CN" altLang="en-US" dirty="0"/>
              <a:t>，</a:t>
            </a:r>
            <a:r>
              <a:rPr lang="en-US" altLang="zh-CN" dirty="0"/>
              <a:t>01H</a:t>
            </a:r>
            <a:r>
              <a:rPr lang="zh-CN" altLang="en-US" dirty="0"/>
              <a:t>，</a:t>
            </a:r>
            <a:r>
              <a:rPr lang="en-US" altLang="zh-CN" dirty="0"/>
              <a:t>02H</a:t>
            </a:r>
            <a:r>
              <a:rPr lang="zh-CN" altLang="en-US" dirty="0"/>
              <a:t>，</a:t>
            </a:r>
            <a:r>
              <a:rPr lang="en-US" altLang="zh-CN" dirty="0"/>
              <a:t>01H</a:t>
            </a:r>
            <a:r>
              <a:rPr lang="zh-CN" altLang="en-US" dirty="0"/>
              <a:t>，</a:t>
            </a:r>
            <a:r>
              <a:rPr lang="en-US" altLang="zh-CN" dirty="0"/>
              <a:t>02H</a:t>
            </a:r>
            <a:r>
              <a:rPr lang="zh-CN" altLang="en-US" dirty="0"/>
              <a:t>。</a:t>
            </a:r>
            <a:endParaRPr lang="zh-CN" altLang="en-US" dirty="0"/>
          </a:p>
          <a:p>
            <a:pPr marL="0" indent="0">
              <a:lnSpc>
                <a:spcPct val="120000"/>
              </a:lnSpc>
              <a:buNone/>
            </a:pPr>
            <a:r>
              <a:rPr lang="zh-CN" altLang="en-US" dirty="0"/>
              <a:t>例</a:t>
            </a:r>
            <a:r>
              <a:rPr lang="en-US" altLang="zh-CN" dirty="0"/>
              <a:t>3</a:t>
            </a:r>
            <a:r>
              <a:rPr lang="zh-CN" altLang="en-US" dirty="0"/>
              <a:t>：</a:t>
            </a:r>
            <a:r>
              <a:rPr lang="en-US" altLang="zh-CN" dirty="0"/>
              <a:t>M DB 2 DUP(2</a:t>
            </a:r>
            <a:r>
              <a:rPr lang="zh-CN" altLang="en-US" dirty="0"/>
              <a:t>，</a:t>
            </a:r>
            <a:r>
              <a:rPr lang="en-US" altLang="zh-CN" dirty="0"/>
              <a:t>2 DUP (2</a:t>
            </a:r>
            <a:r>
              <a:rPr lang="zh-CN" altLang="en-US" dirty="0"/>
              <a:t>，‘</a:t>
            </a:r>
            <a:r>
              <a:rPr lang="en-US" altLang="zh-CN" dirty="0"/>
              <a:t>2’))</a:t>
            </a:r>
            <a:endParaRPr lang="en-US" altLang="zh-CN" dirty="0"/>
          </a:p>
          <a:p>
            <a:pPr marL="0" indent="0">
              <a:lnSpc>
                <a:spcPct val="120000"/>
              </a:lnSpc>
              <a:buNone/>
            </a:pPr>
            <a:r>
              <a:rPr lang="zh-CN" altLang="en-US" dirty="0"/>
              <a:t>重复子句允许嵌套。</a:t>
            </a:r>
            <a:endParaRPr lang="zh-CN" altLang="en-US" dirty="0"/>
          </a:p>
          <a:p>
            <a:pPr marL="0" indent="0">
              <a:lnSpc>
                <a:spcPct val="120000"/>
              </a:lnSpc>
              <a:buNone/>
            </a:pPr>
            <a:r>
              <a:rPr lang="zh-CN" altLang="en-US" dirty="0"/>
              <a:t>该定义等价于：</a:t>
            </a:r>
            <a:endParaRPr lang="zh-CN" altLang="en-US" dirty="0"/>
          </a:p>
          <a:p>
            <a:pPr marL="0" indent="0">
              <a:lnSpc>
                <a:spcPct val="120000"/>
              </a:lnSpc>
              <a:buNone/>
            </a:pPr>
            <a:r>
              <a:rPr lang="en-US" altLang="zh-CN" dirty="0"/>
              <a:t>M DB 2</a:t>
            </a:r>
            <a:r>
              <a:rPr lang="zh-CN" altLang="en-US" dirty="0"/>
              <a:t>，</a:t>
            </a:r>
            <a:r>
              <a:rPr lang="en-US" altLang="zh-CN" dirty="0"/>
              <a:t>2</a:t>
            </a:r>
            <a:r>
              <a:rPr lang="zh-CN" altLang="en-US" dirty="0"/>
              <a:t>，</a:t>
            </a:r>
            <a:r>
              <a:rPr lang="en-US" altLang="zh-CN" dirty="0"/>
              <a:t>32H</a:t>
            </a:r>
            <a:r>
              <a:rPr lang="zh-CN" altLang="en-US" dirty="0"/>
              <a:t>，</a:t>
            </a:r>
            <a:r>
              <a:rPr lang="en-US" altLang="zh-CN" dirty="0"/>
              <a:t>2</a:t>
            </a:r>
            <a:r>
              <a:rPr lang="zh-CN" altLang="en-US" dirty="0"/>
              <a:t>，</a:t>
            </a:r>
            <a:r>
              <a:rPr lang="en-US" altLang="zh-CN" dirty="0"/>
              <a:t>32H</a:t>
            </a:r>
            <a:r>
              <a:rPr lang="zh-CN" altLang="en-US" dirty="0"/>
              <a:t>，</a:t>
            </a:r>
            <a:r>
              <a:rPr lang="en-US" altLang="zh-CN" dirty="0"/>
              <a:t>2</a:t>
            </a:r>
            <a:r>
              <a:rPr lang="zh-CN" altLang="en-US" dirty="0"/>
              <a:t>，</a:t>
            </a:r>
            <a:r>
              <a:rPr lang="en-US" altLang="zh-CN" dirty="0"/>
              <a:t>2</a:t>
            </a:r>
            <a:r>
              <a:rPr lang="zh-CN" altLang="en-US" dirty="0"/>
              <a:t>，</a:t>
            </a:r>
            <a:r>
              <a:rPr lang="en-US" altLang="zh-CN" dirty="0"/>
              <a:t>32H</a:t>
            </a:r>
            <a:r>
              <a:rPr lang="zh-CN" altLang="en-US" dirty="0"/>
              <a:t>，</a:t>
            </a:r>
            <a:r>
              <a:rPr lang="en-US" altLang="zh-CN" dirty="0"/>
              <a:t>2</a:t>
            </a:r>
            <a:r>
              <a:rPr lang="zh-CN" altLang="en-US" dirty="0"/>
              <a:t>，</a:t>
            </a:r>
            <a:r>
              <a:rPr lang="en-US" altLang="zh-CN" dirty="0"/>
              <a:t>32H</a:t>
            </a:r>
            <a:r>
              <a:rPr lang="zh-CN" altLang="en-US" dirty="0"/>
              <a:t>。</a:t>
            </a:r>
            <a:endParaRPr lang="zh-CN" altLang="en-US" dirty="0"/>
          </a:p>
        </p:txBody>
      </p:sp>
      <p:pic>
        <p:nvPicPr>
          <p:cNvPr id="4" name="图片 3"/>
          <p:cNvPicPr>
            <a:picLocks noChangeAspect="1"/>
          </p:cNvPicPr>
          <p:nvPr/>
        </p:nvPicPr>
        <p:blipFill>
          <a:blip r:embed="rId1" cstate="print"/>
          <a:stretch>
            <a:fillRect/>
          </a:stretch>
        </p:blipFill>
        <p:spPr>
          <a:xfrm>
            <a:off x="8488300" y="682532"/>
            <a:ext cx="2083118" cy="4330261"/>
          </a:xfrm>
          <a:prstGeom prst="rect">
            <a:avLst/>
          </a:prstGeom>
        </p:spPr>
      </p:pic>
      <p:sp>
        <p:nvSpPr>
          <p:cNvPr id="6" name="文本框 5"/>
          <p:cNvSpPr txBox="1"/>
          <p:nvPr/>
        </p:nvSpPr>
        <p:spPr>
          <a:xfrm>
            <a:off x="9499963" y="5321328"/>
            <a:ext cx="1295416" cy="369332"/>
          </a:xfrm>
          <a:prstGeom prst="rect">
            <a:avLst/>
          </a:prstGeom>
          <a:noFill/>
        </p:spPr>
        <p:txBody>
          <a:bodyPr wrap="square">
            <a:spAutoFit/>
          </a:bodyPr>
          <a:lstStyle/>
          <a:p>
            <a:r>
              <a:rPr lang="zh-CN" altLang="en-US"/>
              <a:t>存储器</a:t>
            </a:r>
            <a:endParaRPr lang="zh-CN" altLang="en-US" dirty="0"/>
          </a:p>
        </p:txBody>
      </p:sp>
      <p:sp>
        <p:nvSpPr>
          <p:cNvPr id="8" name="文本框 7"/>
          <p:cNvSpPr txBox="1"/>
          <p:nvPr/>
        </p:nvSpPr>
        <p:spPr>
          <a:xfrm>
            <a:off x="8069321" y="4226973"/>
            <a:ext cx="788157" cy="369332"/>
          </a:xfrm>
          <a:prstGeom prst="rect">
            <a:avLst/>
          </a:prstGeom>
          <a:noFill/>
        </p:spPr>
        <p:txBody>
          <a:bodyPr wrap="square">
            <a:spAutoFit/>
          </a:bodyPr>
          <a:lstStyle/>
          <a:p>
            <a:r>
              <a:rPr lang="en-US" altLang="zh-CN" sz="1800" b="0" i="0" u="none" strike="noStrike" baseline="0" dirty="0">
                <a:solidFill>
                  <a:srgbClr val="000000"/>
                </a:solidFill>
                <a:latin typeface="Times New Roman" panose="02020603050405020304" pitchFamily="18" charset="0"/>
              </a:rPr>
              <a:t>M</a:t>
            </a:r>
            <a:endParaRPr lang="zh-CN" altLang="en-US" dirty="0"/>
          </a:p>
        </p:txBody>
      </p:sp>
      <p:sp>
        <p:nvSpPr>
          <p:cNvPr id="10" name="文本框 9"/>
          <p:cNvSpPr txBox="1"/>
          <p:nvPr/>
        </p:nvSpPr>
        <p:spPr>
          <a:xfrm flipV="1">
            <a:off x="7862533" y="1846163"/>
            <a:ext cx="625767" cy="369332"/>
          </a:xfrm>
          <a:prstGeom prst="rect">
            <a:avLst/>
          </a:prstGeom>
          <a:noFill/>
        </p:spPr>
        <p:txBody>
          <a:bodyPr wrap="square">
            <a:spAutoFit/>
          </a:bodyPr>
          <a:lstStyle/>
          <a:p>
            <a:r>
              <a:rPr lang="en-US" altLang="zh-CN" dirty="0">
                <a:solidFill>
                  <a:srgbClr val="000000"/>
                </a:solidFill>
                <a:latin typeface="Times New Roman" panose="02020603050405020304" pitchFamily="18" charset="0"/>
              </a:rPr>
              <a:t>N</a:t>
            </a:r>
            <a:endParaRPr lang="zh-CN" altLang="en-US" dirty="0"/>
          </a:p>
        </p:txBody>
      </p:sp>
      <p:sp>
        <p:nvSpPr>
          <p:cNvPr id="12" name="文本框 11"/>
          <p:cNvSpPr txBox="1"/>
          <p:nvPr/>
        </p:nvSpPr>
        <p:spPr>
          <a:xfrm>
            <a:off x="7862533" y="1123829"/>
            <a:ext cx="1552432" cy="369332"/>
          </a:xfrm>
          <a:prstGeom prst="rect">
            <a:avLst/>
          </a:prstGeom>
          <a:noFill/>
        </p:spPr>
        <p:txBody>
          <a:bodyPr wrap="square">
            <a:spAutoFit/>
          </a:bodyPr>
          <a:lstStyle/>
          <a:p>
            <a:r>
              <a:rPr lang="en-US" altLang="zh-CN" sz="1800" b="0" i="0" u="none" strike="noStrike" baseline="0" dirty="0">
                <a:solidFill>
                  <a:srgbClr val="000000"/>
                </a:solidFill>
                <a:latin typeface="Times New Roman" panose="02020603050405020304" pitchFamily="18" charset="0"/>
              </a:rPr>
              <a:t>SUM</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1496231" y="1023864"/>
            <a:ext cx="3389313" cy="2546350"/>
          </a:xfrm>
          <a:prstGeom prst="rect">
            <a:avLst/>
          </a:prstGeom>
          <a:noFill/>
          <a:ln>
            <a:solidFill>
              <a:srgbClr val="808000"/>
            </a:solidFill>
            <a:miter lim="800000"/>
          </a:ln>
        </p:spPr>
        <p:txBody>
          <a:bodyPr vert="horz" lIns="91440" tIns="45720" rIns="91440" bIns="45720" rtlCol="0">
            <a:normAutofit fontScale="92500" lnSpcReduction="20000"/>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Times New Roman" panose="02020603050405020304" pitchFamily="18" charset="0"/>
              </a:rPr>
              <a:t>例</a:t>
            </a:r>
            <a:endParaRPr lang="en-US" altLang="zh-CN" dirty="0">
              <a:latin typeface="Times New Roman" panose="02020603050405020304" pitchFamily="18" charset="0"/>
            </a:endParaRPr>
          </a:p>
          <a:p>
            <a:pPr>
              <a:buFont typeface="Wingdings" panose="05000000000000000000" pitchFamily="2" charset="2"/>
              <a:buNone/>
            </a:pPr>
            <a:r>
              <a:rPr lang="zh-CN" altLang="zh-CN" dirty="0">
                <a:latin typeface="Times New Roman" panose="02020603050405020304" pitchFamily="18" charset="0"/>
              </a:rPr>
              <a:t>BUF1  </a:t>
            </a:r>
            <a:r>
              <a:rPr lang="zh-CN" altLang="zh-CN" dirty="0">
                <a:solidFill>
                  <a:schemeClr val="hlink"/>
                </a:solidFill>
                <a:latin typeface="Times New Roman" panose="02020603050405020304" pitchFamily="18" charset="0"/>
              </a:rPr>
              <a:t>DB</a:t>
            </a:r>
            <a:r>
              <a:rPr lang="zh-CN" altLang="zh-CN" dirty="0">
                <a:latin typeface="Times New Roman" panose="02020603050405020304" pitchFamily="18" charset="0"/>
              </a:rPr>
              <a:t>  ‘HELLO’</a:t>
            </a:r>
            <a:endParaRPr lang="zh-CN" altLang="zh-CN" dirty="0">
              <a:latin typeface="Times New Roman" panose="02020603050405020304" pitchFamily="18" charset="0"/>
            </a:endParaRPr>
          </a:p>
          <a:p>
            <a:pPr>
              <a:buFont typeface="Wingdings" panose="05000000000000000000" pitchFamily="2" charset="2"/>
              <a:buNone/>
            </a:pPr>
            <a:r>
              <a:rPr lang="zh-CN" altLang="zh-CN" dirty="0">
                <a:latin typeface="Times New Roman" panose="02020603050405020304" pitchFamily="18" charset="0"/>
              </a:rPr>
              <a:t>SA_BUF  </a:t>
            </a:r>
            <a:r>
              <a:rPr lang="zh-CN" altLang="zh-CN" dirty="0">
                <a:solidFill>
                  <a:schemeClr val="hlink"/>
                </a:solidFill>
                <a:latin typeface="Times New Roman" panose="02020603050405020304" pitchFamily="18" charset="0"/>
              </a:rPr>
              <a:t>DW</a:t>
            </a:r>
            <a:r>
              <a:rPr lang="zh-CN" altLang="zh-CN" dirty="0">
                <a:latin typeface="Times New Roman" panose="02020603050405020304" pitchFamily="18" charset="0"/>
              </a:rPr>
              <a:t>  BUF1</a:t>
            </a:r>
            <a:endParaRPr lang="zh-CN" altLang="zh-CN" dirty="0">
              <a:latin typeface="Times New Roman" panose="02020603050405020304" pitchFamily="18" charset="0"/>
            </a:endParaRPr>
          </a:p>
          <a:p>
            <a:pPr>
              <a:buFont typeface="Wingdings" panose="05000000000000000000" pitchFamily="2" charset="2"/>
              <a:buNone/>
            </a:pPr>
            <a:r>
              <a:rPr lang="zh-CN" altLang="zh-CN" dirty="0">
                <a:latin typeface="Times New Roman" panose="02020603050405020304" pitchFamily="18" charset="0"/>
              </a:rPr>
              <a:t>LA_BUF  </a:t>
            </a:r>
            <a:r>
              <a:rPr lang="zh-CN" altLang="zh-CN" dirty="0">
                <a:solidFill>
                  <a:schemeClr val="hlink"/>
                </a:solidFill>
                <a:latin typeface="Times New Roman" panose="02020603050405020304" pitchFamily="18" charset="0"/>
              </a:rPr>
              <a:t>DD</a:t>
            </a:r>
            <a:r>
              <a:rPr lang="zh-CN" altLang="zh-CN" dirty="0">
                <a:latin typeface="Times New Roman" panose="02020603050405020304" pitchFamily="18" charset="0"/>
              </a:rPr>
              <a:t>  BUF1</a:t>
            </a:r>
            <a:endParaRPr lang="zh-CN" altLang="zh-CN" dirty="0">
              <a:latin typeface="Times New Roman" panose="02020603050405020304" pitchFamily="18" charset="0"/>
            </a:endParaRPr>
          </a:p>
        </p:txBody>
      </p:sp>
      <p:grpSp>
        <p:nvGrpSpPr>
          <p:cNvPr id="7" name="Group 4"/>
          <p:cNvGrpSpPr/>
          <p:nvPr/>
        </p:nvGrpSpPr>
        <p:grpSpPr bwMode="auto">
          <a:xfrm>
            <a:off x="5207217" y="965127"/>
            <a:ext cx="6037262" cy="5014912"/>
            <a:chOff x="0" y="0"/>
            <a:chExt cx="3803" cy="3159"/>
          </a:xfrm>
        </p:grpSpPr>
        <p:sp>
          <p:nvSpPr>
            <p:cNvPr id="8" name="Rectangle 5"/>
            <p:cNvSpPr>
              <a:spLocks noChangeArrowheads="1"/>
            </p:cNvSpPr>
            <p:nvPr/>
          </p:nvSpPr>
          <p:spPr bwMode="auto">
            <a:xfrm>
              <a:off x="1450" y="199"/>
              <a:ext cx="665" cy="2586"/>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9" name="Line 6"/>
            <p:cNvSpPr>
              <a:spLocks noChangeShapeType="1"/>
            </p:cNvSpPr>
            <p:nvPr/>
          </p:nvSpPr>
          <p:spPr bwMode="auto">
            <a:xfrm>
              <a:off x="1449" y="412"/>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7"/>
            <p:cNvSpPr>
              <a:spLocks noChangeShapeType="1"/>
            </p:cNvSpPr>
            <p:nvPr/>
          </p:nvSpPr>
          <p:spPr bwMode="auto">
            <a:xfrm>
              <a:off x="1452" y="625"/>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8"/>
            <p:cNvSpPr>
              <a:spLocks noChangeShapeType="1"/>
            </p:cNvSpPr>
            <p:nvPr/>
          </p:nvSpPr>
          <p:spPr bwMode="auto">
            <a:xfrm>
              <a:off x="1452" y="891"/>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9"/>
            <p:cNvSpPr>
              <a:spLocks noChangeShapeType="1"/>
            </p:cNvSpPr>
            <p:nvPr/>
          </p:nvSpPr>
          <p:spPr bwMode="auto">
            <a:xfrm>
              <a:off x="1452" y="1619"/>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0"/>
            <p:cNvSpPr>
              <a:spLocks noChangeShapeType="1"/>
            </p:cNvSpPr>
            <p:nvPr/>
          </p:nvSpPr>
          <p:spPr bwMode="auto">
            <a:xfrm>
              <a:off x="1453" y="1366"/>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1"/>
            <p:cNvSpPr>
              <a:spLocks noChangeShapeType="1"/>
            </p:cNvSpPr>
            <p:nvPr/>
          </p:nvSpPr>
          <p:spPr bwMode="auto">
            <a:xfrm>
              <a:off x="1452" y="1129"/>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2"/>
            <p:cNvSpPr txBox="1">
              <a:spLocks noChangeArrowheads="1"/>
            </p:cNvSpPr>
            <p:nvPr/>
          </p:nvSpPr>
          <p:spPr bwMode="auto">
            <a:xfrm>
              <a:off x="338" y="170"/>
              <a:ext cx="5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BUF1</a:t>
              </a:r>
              <a:endParaRPr lang="zh-CN" altLang="zh-CN" sz="2400"/>
            </a:p>
          </p:txBody>
        </p:sp>
        <p:sp>
          <p:nvSpPr>
            <p:cNvPr id="16" name="Text Box 13"/>
            <p:cNvSpPr txBox="1">
              <a:spLocks noChangeArrowheads="1"/>
            </p:cNvSpPr>
            <p:nvPr/>
          </p:nvSpPr>
          <p:spPr bwMode="auto">
            <a:xfrm>
              <a:off x="1553" y="16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’H’</a:t>
              </a:r>
              <a:endParaRPr lang="zh-CN" altLang="zh-CN" sz="2400"/>
            </a:p>
          </p:txBody>
        </p:sp>
        <p:sp>
          <p:nvSpPr>
            <p:cNvPr id="17" name="Text Box 14"/>
            <p:cNvSpPr txBox="1">
              <a:spLocks noChangeArrowheads="1"/>
            </p:cNvSpPr>
            <p:nvPr/>
          </p:nvSpPr>
          <p:spPr bwMode="auto">
            <a:xfrm>
              <a:off x="1565" y="367"/>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‘E’</a:t>
              </a:r>
              <a:endParaRPr lang="zh-CN" altLang="zh-CN" sz="2400"/>
            </a:p>
          </p:txBody>
        </p:sp>
        <p:sp>
          <p:nvSpPr>
            <p:cNvPr id="18" name="Text Box 15"/>
            <p:cNvSpPr txBox="1">
              <a:spLocks noChangeArrowheads="1"/>
            </p:cNvSpPr>
            <p:nvPr/>
          </p:nvSpPr>
          <p:spPr bwMode="auto">
            <a:xfrm>
              <a:off x="1432" y="2871"/>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b="1">
                  <a:solidFill>
                    <a:schemeClr val="folHlink"/>
                  </a:solidFill>
                  <a:ea typeface="宋体" panose="02010600030101010101" pitchFamily="2" charset="-122"/>
                </a:rPr>
                <a:t>存储器</a:t>
              </a:r>
              <a:endParaRPr lang="zh-CN" altLang="zh-CN" sz="2400" b="1">
                <a:solidFill>
                  <a:schemeClr val="folHlink"/>
                </a:solidFill>
                <a:ea typeface="宋体" panose="02010600030101010101" pitchFamily="2" charset="-122"/>
              </a:endParaRPr>
            </a:p>
          </p:txBody>
        </p:sp>
        <p:sp>
          <p:nvSpPr>
            <p:cNvPr id="19" name="Line 16"/>
            <p:cNvSpPr>
              <a:spLocks noChangeShapeType="1"/>
            </p:cNvSpPr>
            <p:nvPr/>
          </p:nvSpPr>
          <p:spPr bwMode="auto">
            <a:xfrm>
              <a:off x="903" y="309"/>
              <a:ext cx="450" cy="1"/>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 name="Text Box 17"/>
            <p:cNvSpPr txBox="1">
              <a:spLocks noChangeArrowheads="1"/>
            </p:cNvSpPr>
            <p:nvPr/>
          </p:nvSpPr>
          <p:spPr bwMode="auto">
            <a:xfrm>
              <a:off x="1561" y="59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‘L’</a:t>
              </a:r>
              <a:endParaRPr lang="zh-CN" altLang="zh-CN" sz="2400"/>
            </a:p>
          </p:txBody>
        </p:sp>
        <p:sp>
          <p:nvSpPr>
            <p:cNvPr id="21" name="Text Box 18"/>
            <p:cNvSpPr txBox="1">
              <a:spLocks noChangeArrowheads="1"/>
            </p:cNvSpPr>
            <p:nvPr/>
          </p:nvSpPr>
          <p:spPr bwMode="auto">
            <a:xfrm>
              <a:off x="0" y="1353"/>
              <a:ext cx="8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SA_BUF</a:t>
              </a:r>
              <a:endParaRPr lang="zh-CN" altLang="zh-CN" sz="2400"/>
            </a:p>
          </p:txBody>
        </p:sp>
        <p:sp>
          <p:nvSpPr>
            <p:cNvPr id="22" name="Line 19"/>
            <p:cNvSpPr>
              <a:spLocks noChangeShapeType="1"/>
            </p:cNvSpPr>
            <p:nvPr/>
          </p:nvSpPr>
          <p:spPr bwMode="auto">
            <a:xfrm>
              <a:off x="913" y="1978"/>
              <a:ext cx="450" cy="1"/>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 name="Text Box 20"/>
            <p:cNvSpPr txBox="1">
              <a:spLocks noChangeArrowheads="1"/>
            </p:cNvSpPr>
            <p:nvPr/>
          </p:nvSpPr>
          <p:spPr bwMode="auto">
            <a:xfrm>
              <a:off x="1547" y="85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‘L’</a:t>
              </a:r>
              <a:endParaRPr lang="zh-CN" altLang="zh-CN" sz="2400"/>
            </a:p>
          </p:txBody>
        </p:sp>
        <p:sp>
          <p:nvSpPr>
            <p:cNvPr id="24" name="Text Box 21"/>
            <p:cNvSpPr txBox="1">
              <a:spLocks noChangeArrowheads="1"/>
            </p:cNvSpPr>
            <p:nvPr/>
          </p:nvSpPr>
          <p:spPr bwMode="auto">
            <a:xfrm>
              <a:off x="1547" y="1086"/>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‘O’</a:t>
              </a:r>
              <a:endParaRPr lang="zh-CN" altLang="zh-CN" sz="2400"/>
            </a:p>
          </p:txBody>
        </p:sp>
        <p:sp>
          <p:nvSpPr>
            <p:cNvPr id="25" name="Line 22"/>
            <p:cNvSpPr>
              <a:spLocks noChangeShapeType="1"/>
            </p:cNvSpPr>
            <p:nvPr/>
          </p:nvSpPr>
          <p:spPr bwMode="auto">
            <a:xfrm>
              <a:off x="1452" y="1848"/>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23"/>
            <p:cNvSpPr>
              <a:spLocks noChangeShapeType="1"/>
            </p:cNvSpPr>
            <p:nvPr/>
          </p:nvSpPr>
          <p:spPr bwMode="auto">
            <a:xfrm>
              <a:off x="1454" y="2097"/>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Line 24"/>
            <p:cNvSpPr>
              <a:spLocks noChangeShapeType="1"/>
            </p:cNvSpPr>
            <p:nvPr/>
          </p:nvSpPr>
          <p:spPr bwMode="auto">
            <a:xfrm>
              <a:off x="1451" y="0"/>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8" name="Line 25"/>
            <p:cNvSpPr>
              <a:spLocks noChangeShapeType="1"/>
            </p:cNvSpPr>
            <p:nvPr/>
          </p:nvSpPr>
          <p:spPr bwMode="auto">
            <a:xfrm>
              <a:off x="2119" y="3"/>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9" name="Line 26"/>
            <p:cNvSpPr>
              <a:spLocks noChangeShapeType="1"/>
            </p:cNvSpPr>
            <p:nvPr/>
          </p:nvSpPr>
          <p:spPr bwMode="auto">
            <a:xfrm>
              <a:off x="1451" y="2793"/>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0" name="Line 27"/>
            <p:cNvSpPr>
              <a:spLocks noChangeShapeType="1"/>
            </p:cNvSpPr>
            <p:nvPr/>
          </p:nvSpPr>
          <p:spPr bwMode="auto">
            <a:xfrm>
              <a:off x="2116" y="2779"/>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1" name="Line 28"/>
            <p:cNvSpPr>
              <a:spLocks noChangeShapeType="1"/>
            </p:cNvSpPr>
            <p:nvPr/>
          </p:nvSpPr>
          <p:spPr bwMode="auto">
            <a:xfrm>
              <a:off x="901" y="1496"/>
              <a:ext cx="450" cy="1"/>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2" name="Text Box 29"/>
            <p:cNvSpPr txBox="1">
              <a:spLocks noChangeArrowheads="1"/>
            </p:cNvSpPr>
            <p:nvPr/>
          </p:nvSpPr>
          <p:spPr bwMode="auto">
            <a:xfrm>
              <a:off x="54" y="1848"/>
              <a:ext cx="8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LA_BUF</a:t>
              </a:r>
              <a:endParaRPr lang="zh-CN" altLang="zh-CN" sz="2400"/>
            </a:p>
          </p:txBody>
        </p:sp>
        <p:sp>
          <p:nvSpPr>
            <p:cNvPr id="33" name="AutoShape 30"/>
            <p:cNvSpPr/>
            <p:nvPr/>
          </p:nvSpPr>
          <p:spPr bwMode="auto">
            <a:xfrm>
              <a:off x="2130" y="1497"/>
              <a:ext cx="128" cy="226"/>
            </a:xfrm>
            <a:prstGeom prst="rightBrace">
              <a:avLst>
                <a:gd name="adj1" fmla="val 14714"/>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endParaRPr lang="zh-CN" altLang="zh-CN"/>
            </a:p>
          </p:txBody>
        </p:sp>
        <p:sp>
          <p:nvSpPr>
            <p:cNvPr id="34" name="AutoShape 31"/>
            <p:cNvSpPr/>
            <p:nvPr/>
          </p:nvSpPr>
          <p:spPr bwMode="auto">
            <a:xfrm>
              <a:off x="2127" y="1982"/>
              <a:ext cx="122" cy="226"/>
            </a:xfrm>
            <a:prstGeom prst="rightBrace">
              <a:avLst>
                <a:gd name="adj1" fmla="val 15437"/>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endParaRPr lang="zh-CN" altLang="zh-CN"/>
            </a:p>
          </p:txBody>
        </p:sp>
        <p:sp>
          <p:nvSpPr>
            <p:cNvPr id="35" name="Line 32"/>
            <p:cNvSpPr>
              <a:spLocks noChangeShapeType="1"/>
            </p:cNvSpPr>
            <p:nvPr/>
          </p:nvSpPr>
          <p:spPr bwMode="auto">
            <a:xfrm>
              <a:off x="1447" y="2340"/>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AutoShape 33"/>
            <p:cNvSpPr/>
            <p:nvPr/>
          </p:nvSpPr>
          <p:spPr bwMode="auto">
            <a:xfrm>
              <a:off x="2155" y="2462"/>
              <a:ext cx="122" cy="226"/>
            </a:xfrm>
            <a:prstGeom prst="rightBrace">
              <a:avLst>
                <a:gd name="adj1" fmla="val 15437"/>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endParaRPr lang="zh-CN" altLang="zh-CN"/>
            </a:p>
          </p:txBody>
        </p:sp>
        <p:sp>
          <p:nvSpPr>
            <p:cNvPr id="37" name="Line 34"/>
            <p:cNvSpPr>
              <a:spLocks noChangeShapeType="1"/>
            </p:cNvSpPr>
            <p:nvPr/>
          </p:nvSpPr>
          <p:spPr bwMode="auto">
            <a:xfrm>
              <a:off x="1454" y="2564"/>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Text Box 35"/>
            <p:cNvSpPr txBox="1">
              <a:spLocks noChangeArrowheads="1"/>
            </p:cNvSpPr>
            <p:nvPr/>
          </p:nvSpPr>
          <p:spPr bwMode="auto">
            <a:xfrm>
              <a:off x="2204" y="1456"/>
              <a:ext cx="15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400"/>
                <a:t>BUF1的偏移地址</a:t>
              </a:r>
              <a:endParaRPr lang="zh-CN" altLang="zh-CN" sz="2400"/>
            </a:p>
          </p:txBody>
        </p:sp>
        <p:sp>
          <p:nvSpPr>
            <p:cNvPr id="39" name="Text Box 36"/>
            <p:cNvSpPr txBox="1">
              <a:spLocks noChangeArrowheads="1"/>
            </p:cNvSpPr>
            <p:nvPr/>
          </p:nvSpPr>
          <p:spPr bwMode="auto">
            <a:xfrm>
              <a:off x="2214" y="1940"/>
              <a:ext cx="15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400"/>
                <a:t>BUF1的偏移地址</a:t>
              </a:r>
              <a:endParaRPr lang="zh-CN" altLang="zh-CN" sz="2400"/>
            </a:p>
          </p:txBody>
        </p:sp>
        <p:sp>
          <p:nvSpPr>
            <p:cNvPr id="40" name="Text Box 37"/>
            <p:cNvSpPr txBox="1">
              <a:spLocks noChangeArrowheads="1"/>
            </p:cNvSpPr>
            <p:nvPr/>
          </p:nvSpPr>
          <p:spPr bwMode="auto">
            <a:xfrm>
              <a:off x="2254" y="2416"/>
              <a:ext cx="14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400"/>
                <a:t>BUF1的段基址</a:t>
              </a:r>
              <a:endParaRPr lang="zh-CN" altLang="zh-CN" sz="2400"/>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a:t>
            </a:r>
            <a:r>
              <a:rPr lang="en-US" altLang="zh-CN" dirty="0"/>
              <a:t>5</a:t>
            </a:r>
            <a:r>
              <a:rPr lang="zh-CN" altLang="en-US" dirty="0"/>
              <a:t>章 存储器</a:t>
            </a:r>
            <a:endParaRPr lang="zh-CN" altLang="en-US" dirty="0"/>
          </a:p>
        </p:txBody>
      </p:sp>
      <p:sp>
        <p:nvSpPr>
          <p:cNvPr id="3" name="内容占位符 2"/>
          <p:cNvSpPr>
            <a:spLocks noGrp="1"/>
          </p:cNvSpPr>
          <p:nvPr>
            <p:ph idx="1"/>
          </p:nvPr>
        </p:nvSpPr>
        <p:spPr>
          <a:xfrm>
            <a:off x="838200" y="1770540"/>
            <a:ext cx="10515600" cy="3506854"/>
          </a:xfrm>
        </p:spPr>
        <p:txBody>
          <a:bodyPr>
            <a:normAutofit/>
          </a:bodyPr>
          <a:lstStyle/>
          <a:p>
            <a:pPr>
              <a:lnSpc>
                <a:spcPct val="120000"/>
              </a:lnSpc>
            </a:pPr>
            <a:r>
              <a:rPr lang="zh-CN" altLang="en-US" b="0" i="0" u="none" strike="noStrike" baseline="0" dirty="0">
                <a:latin typeface="Wingdings" panose="05000000000000000000" pitchFamily="2" charset="2"/>
              </a:rPr>
              <a:t>存储器概述</a:t>
            </a:r>
            <a:endParaRPr lang="zh-CN" altLang="en-US" b="0" i="0" u="none" strike="noStrike" baseline="0" dirty="0">
              <a:latin typeface="Wingdings" panose="05000000000000000000" pitchFamily="2" charset="2"/>
            </a:endParaRPr>
          </a:p>
          <a:p>
            <a:pPr>
              <a:lnSpc>
                <a:spcPct val="120000"/>
              </a:lnSpc>
            </a:pPr>
            <a:r>
              <a:rPr lang="zh-CN" altLang="en-US" b="0" i="0" u="none" strike="noStrike" baseline="0" dirty="0">
                <a:latin typeface="Wingdings" panose="05000000000000000000" pitchFamily="2" charset="2"/>
              </a:rPr>
              <a:t>半导体存储芯片结构及使用</a:t>
            </a:r>
            <a:endParaRPr lang="zh-CN" altLang="en-US" b="0" i="0" u="none" strike="noStrike" baseline="0" dirty="0">
              <a:latin typeface="Wingdings" panose="05000000000000000000" pitchFamily="2" charset="2"/>
            </a:endParaRPr>
          </a:p>
          <a:p>
            <a:pPr>
              <a:lnSpc>
                <a:spcPct val="120000"/>
              </a:lnSpc>
            </a:pPr>
            <a:r>
              <a:rPr kumimoji="0" lang="zh-CN" altLang="en-US" b="0" i="0" u="none" strike="noStrike" kern="1200" cap="none" spc="0" normalizeH="0" baseline="0" noProof="0" dirty="0">
                <a:ln>
                  <a:noFill/>
                </a:ln>
                <a:effectLst/>
                <a:uLnTx/>
                <a:uFillTx/>
                <a:latin typeface="楷体_GB2312" pitchFamily="1" charset="-122"/>
                <a:ea typeface="楷体_GB2312"/>
                <a:cs typeface="+mn-cs"/>
              </a:rPr>
              <a:t>16位</a:t>
            </a:r>
            <a:r>
              <a:rPr lang="zh-CN" altLang="en-US" b="0" i="0" u="none" strike="noStrike" baseline="0" dirty="0">
                <a:latin typeface="Wingdings" panose="05000000000000000000" pitchFamily="2" charset="2"/>
              </a:rPr>
              <a:t>系统的存储器接口</a:t>
            </a:r>
            <a:endParaRPr lang="zh-CN" altLang="en-US" b="0" i="0" u="none" strike="noStrike" baseline="0" dirty="0">
              <a:latin typeface="Wingdings" panose="05000000000000000000" pitchFamily="2" charset="2"/>
            </a:endParaRPr>
          </a:p>
        </p:txBody>
      </p:sp>
      <p:sp>
        <p:nvSpPr>
          <p:cNvPr id="4" name="日期占位符 3"/>
          <p:cNvSpPr>
            <a:spLocks noGrp="1"/>
          </p:cNvSpPr>
          <p:nvPr>
            <p:ph type="dt" sz="half" idx="10"/>
          </p:nvPr>
        </p:nvSpPr>
        <p:spPr/>
        <p:txBody>
          <a:bodyPr/>
          <a:lstStyle/>
          <a:p>
            <a:pPr>
              <a:defRPr/>
            </a:pPr>
            <a:fld id="{C0701496-46F3-472C-A288-0CD68100156D}"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半导体存储器的分类</a:t>
            </a:r>
            <a:endParaRPr lang="zh-CN" altLang="en-US" dirty="0"/>
          </a:p>
        </p:txBody>
      </p:sp>
      <p:sp>
        <p:nvSpPr>
          <p:cNvPr id="3" name="内容占位符 2"/>
          <p:cNvSpPr>
            <a:spLocks noGrp="1"/>
          </p:cNvSpPr>
          <p:nvPr>
            <p:ph idx="1"/>
          </p:nvPr>
        </p:nvSpPr>
        <p:spPr>
          <a:xfrm>
            <a:off x="838200" y="1825625"/>
            <a:ext cx="4073434" cy="4351338"/>
          </a:xfrm>
        </p:spPr>
        <p:txBody>
          <a:bodyPr/>
          <a:lstStyle/>
          <a:p>
            <a:r>
              <a:rPr lang="zh-CN" altLang="en-US" dirty="0"/>
              <a:t>从存储器的使用特点，半导体存储器可以分为三大类：</a:t>
            </a:r>
            <a:endParaRPr lang="en-US" altLang="zh-CN" dirty="0"/>
          </a:p>
          <a:p>
            <a:pPr lvl="1"/>
            <a:r>
              <a:rPr lang="zh-CN" altLang="en-US" dirty="0"/>
              <a:t>随机存储器</a:t>
            </a:r>
            <a:r>
              <a:rPr lang="en-US" altLang="zh-CN" dirty="0"/>
              <a:t>RAM</a:t>
            </a:r>
            <a:endParaRPr lang="en-US" altLang="zh-CN" dirty="0"/>
          </a:p>
          <a:p>
            <a:pPr lvl="1"/>
            <a:r>
              <a:rPr lang="zh-CN" altLang="en-US" dirty="0"/>
              <a:t>只读存储器</a:t>
            </a:r>
            <a:r>
              <a:rPr lang="en-US" altLang="zh-CN" dirty="0"/>
              <a:t>ROM</a:t>
            </a:r>
            <a:endParaRPr lang="en-US" altLang="zh-CN" dirty="0"/>
          </a:p>
          <a:p>
            <a:pPr lvl="1"/>
            <a:r>
              <a:rPr lang="zh-CN" altLang="en-US" dirty="0"/>
              <a:t>闪存</a:t>
            </a:r>
            <a:r>
              <a:rPr lang="en-US" altLang="zh-CN" dirty="0"/>
              <a:t>Flash</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10456" y="1588294"/>
            <a:ext cx="4616870" cy="4907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日期占位符 4"/>
          <p:cNvSpPr>
            <a:spLocks noGrp="1"/>
          </p:cNvSpPr>
          <p:nvPr>
            <p:ph type="dt" sz="half" idx="10"/>
          </p:nvPr>
        </p:nvSpPr>
        <p:spPr/>
        <p:txBody>
          <a:bodyPr/>
          <a:lstStyle/>
          <a:p>
            <a:pPr>
              <a:defRPr/>
            </a:pPr>
            <a:fld id="{E972EDDA-808E-4DEA-9F93-A2EB2EB35E8D}" type="datetime10">
              <a:rPr lang="zh-CN" altLang="en-US" smtClean="0"/>
            </a:fld>
            <a:endParaRPr lang="en-US" altLang="zh-CN"/>
          </a:p>
        </p:txBody>
      </p:sp>
      <p:sp>
        <p:nvSpPr>
          <p:cNvPr id="6" name="灯片编号占位符 5"/>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lnSpc>
                <a:spcPct val="120000"/>
              </a:lnSpc>
              <a:buNone/>
            </a:pPr>
            <a:r>
              <a:rPr lang="en-US" altLang="zh-CN" sz="4000" b="0" dirty="0">
                <a:latin typeface="Times New Roman" panose="02020603050405020304" pitchFamily="18" charset="0"/>
              </a:rPr>
              <a:t>1.</a:t>
            </a:r>
            <a:r>
              <a:rPr lang="zh-CN" altLang="en-US" sz="4000" b="0" dirty="0">
                <a:latin typeface="Times New Roman" panose="02020603050405020304" pitchFamily="18" charset="0"/>
              </a:rPr>
              <a:t>存储器容量</a:t>
            </a:r>
            <a:endParaRPr lang="en-US" altLang="zh-CN" sz="4000" b="0" dirty="0">
              <a:latin typeface="Times New Roman" panose="02020603050405020304" pitchFamily="18" charset="0"/>
            </a:endParaRPr>
          </a:p>
        </p:txBody>
      </p:sp>
      <p:sp>
        <p:nvSpPr>
          <p:cNvPr id="3" name="内容占位符 2"/>
          <p:cNvSpPr>
            <a:spLocks noGrp="1"/>
          </p:cNvSpPr>
          <p:nvPr>
            <p:ph idx="1"/>
          </p:nvPr>
        </p:nvSpPr>
        <p:spPr/>
        <p:txBody>
          <a:bodyPr>
            <a:normAutofit fontScale="85000" lnSpcReduction="20000"/>
          </a:bodyPr>
          <a:lstStyle/>
          <a:p>
            <a:pPr marL="0" indent="0">
              <a:lnSpc>
                <a:spcPct val="120000"/>
              </a:lnSpc>
              <a:buNone/>
            </a:pPr>
            <a:r>
              <a:rPr lang="zh-CN" altLang="en-US" sz="3600" b="0" dirty="0">
                <a:latin typeface="Times New Roman" panose="02020603050405020304" pitchFamily="18" charset="0"/>
              </a:rPr>
              <a:t>指存储器可以容纳的二进制信息量。</a:t>
            </a:r>
            <a:endParaRPr lang="zh-CN" altLang="en-US" sz="3600" b="0" dirty="0">
              <a:latin typeface="Times New Roman" panose="02020603050405020304" pitchFamily="18" charset="0"/>
            </a:endParaRPr>
          </a:p>
          <a:p>
            <a:pPr>
              <a:lnSpc>
                <a:spcPct val="120000"/>
              </a:lnSpc>
            </a:pPr>
            <a:r>
              <a:rPr lang="zh-CN" altLang="en-US" sz="3600" b="0" dirty="0">
                <a:latin typeface="Times New Roman" panose="02020603050405020304" pitchFamily="18" charset="0"/>
              </a:rPr>
              <a:t>一般存储器都采用一维线性编址，存储器中</a:t>
            </a:r>
            <a:r>
              <a:rPr lang="zh-CN" altLang="en-US" sz="3600" b="0" dirty="0">
                <a:solidFill>
                  <a:schemeClr val="hlink"/>
                </a:solidFill>
                <a:latin typeface="Times New Roman" panose="02020603050405020304" pitchFamily="18" charset="0"/>
              </a:rPr>
              <a:t>每个存储单元都被赋予一个地址</a:t>
            </a:r>
            <a:r>
              <a:rPr lang="zh-CN" altLang="en-US" sz="3600" b="0" dirty="0">
                <a:latin typeface="Times New Roman" panose="02020603050405020304" pitchFamily="18" charset="0"/>
              </a:rPr>
              <a:t>。</a:t>
            </a:r>
            <a:endParaRPr lang="zh-CN" altLang="en-US" sz="3600" b="0" dirty="0">
              <a:latin typeface="Times New Roman" panose="02020603050405020304" pitchFamily="18" charset="0"/>
            </a:endParaRPr>
          </a:p>
          <a:p>
            <a:pPr>
              <a:lnSpc>
                <a:spcPct val="120000"/>
              </a:lnSpc>
            </a:pPr>
            <a:r>
              <a:rPr lang="zh-CN" altLang="en-US" sz="3600" b="0" dirty="0">
                <a:latin typeface="Times New Roman" panose="02020603050405020304" pitchFamily="18" charset="0"/>
              </a:rPr>
              <a:t>存储器的存储容量</a:t>
            </a:r>
            <a:r>
              <a:rPr lang="en-US" altLang="zh-CN" sz="3600" b="0" dirty="0">
                <a:latin typeface="Times New Roman" panose="02020603050405020304" pitchFamily="18" charset="0"/>
              </a:rPr>
              <a:t>=2</a:t>
            </a:r>
            <a:r>
              <a:rPr lang="en-US" altLang="zh-CN" sz="3600" b="0" baseline="30000" dirty="0">
                <a:latin typeface="Times New Roman" panose="02020603050405020304" pitchFamily="18" charset="0"/>
              </a:rPr>
              <a:t>M</a:t>
            </a:r>
            <a:r>
              <a:rPr lang="en-US" altLang="zh-CN" sz="3600" b="0" dirty="0">
                <a:latin typeface="Times New Roman" panose="02020603050405020304" pitchFamily="18" charset="0"/>
              </a:rPr>
              <a:t>×N</a:t>
            </a:r>
            <a:endParaRPr lang="en-US" altLang="zh-CN" sz="3600" b="0" dirty="0">
              <a:latin typeface="Times New Roman" panose="02020603050405020304" pitchFamily="18" charset="0"/>
            </a:endParaRPr>
          </a:p>
          <a:p>
            <a:pPr lvl="1">
              <a:lnSpc>
                <a:spcPct val="120000"/>
              </a:lnSpc>
            </a:pPr>
            <a:r>
              <a:rPr lang="en-US" altLang="zh-CN" sz="3600" b="0" dirty="0">
                <a:latin typeface="Times New Roman" panose="02020603050405020304" pitchFamily="18" charset="0"/>
              </a:rPr>
              <a:t>M</a:t>
            </a:r>
            <a:r>
              <a:rPr lang="zh-CN" altLang="en-US" sz="3600" b="0" dirty="0">
                <a:latin typeface="Times New Roman" panose="02020603050405020304" pitchFamily="18" charset="0"/>
              </a:rPr>
              <a:t>是存储器的地址数</a:t>
            </a:r>
            <a:endParaRPr lang="zh-CN" altLang="en-US" sz="3600" b="0" dirty="0">
              <a:latin typeface="Times New Roman" panose="02020603050405020304" pitchFamily="18" charset="0"/>
            </a:endParaRPr>
          </a:p>
          <a:p>
            <a:pPr lvl="1">
              <a:lnSpc>
                <a:spcPct val="120000"/>
              </a:lnSpc>
            </a:pPr>
            <a:r>
              <a:rPr lang="en-US" altLang="zh-CN" sz="3600" b="0" dirty="0">
                <a:latin typeface="Times New Roman" panose="02020603050405020304" pitchFamily="18" charset="0"/>
              </a:rPr>
              <a:t>N</a:t>
            </a:r>
            <a:r>
              <a:rPr lang="zh-CN" altLang="en-US" sz="3600" b="0" dirty="0">
                <a:latin typeface="Times New Roman" panose="02020603050405020304" pitchFamily="18" charset="0"/>
              </a:rPr>
              <a:t>是存储器的每个存储单元的位数。</a:t>
            </a:r>
            <a:endParaRPr lang="zh-CN" altLang="en-US" sz="3600" b="0" dirty="0">
              <a:latin typeface="Times New Roman" panose="02020603050405020304" pitchFamily="18" charset="0"/>
            </a:endParaRPr>
          </a:p>
          <a:p>
            <a:pPr algn="l">
              <a:lnSpc>
                <a:spcPct val="120000"/>
              </a:lnSpc>
            </a:pPr>
            <a:r>
              <a:rPr lang="zh-CN" altLang="en-US" sz="3600" b="0" dirty="0">
                <a:latin typeface="Times New Roman" panose="02020603050405020304" pitchFamily="18" charset="0"/>
              </a:rPr>
              <a:t>某存储器芯片的地址数为</a:t>
            </a:r>
            <a:r>
              <a:rPr lang="en-US" altLang="zh-CN" sz="3600" b="0" dirty="0">
                <a:latin typeface="Times New Roman" panose="02020603050405020304" pitchFamily="18" charset="0"/>
              </a:rPr>
              <a:t>16</a:t>
            </a:r>
            <a:r>
              <a:rPr lang="zh-CN" altLang="en-US" sz="3600" b="0" dirty="0">
                <a:latin typeface="Times New Roman" panose="02020603050405020304" pitchFamily="18" charset="0"/>
              </a:rPr>
              <a:t>位，存储字长为</a:t>
            </a:r>
            <a:r>
              <a:rPr lang="en-US" altLang="zh-CN" sz="3600" b="0" dirty="0">
                <a:latin typeface="Times New Roman" panose="02020603050405020304" pitchFamily="18" charset="0"/>
              </a:rPr>
              <a:t>8</a:t>
            </a:r>
            <a:r>
              <a:rPr lang="zh-CN" altLang="en-US" sz="3600" b="0" dirty="0">
                <a:latin typeface="Times New Roman" panose="02020603050405020304" pitchFamily="18" charset="0"/>
              </a:rPr>
              <a:t>位，则该存储器的存储容量为：</a:t>
            </a:r>
            <a:r>
              <a:rPr lang="en-US" altLang="zh-CN" sz="3600" b="0" dirty="0">
                <a:latin typeface="Times New Roman" panose="02020603050405020304" pitchFamily="18" charset="0"/>
              </a:rPr>
              <a:t>2</a:t>
            </a:r>
            <a:r>
              <a:rPr lang="en-US" altLang="zh-CN" sz="3600" b="0" baseline="30000" dirty="0">
                <a:latin typeface="Times New Roman" panose="02020603050405020304" pitchFamily="18" charset="0"/>
              </a:rPr>
              <a:t>16</a:t>
            </a:r>
            <a:r>
              <a:rPr lang="en-US" altLang="zh-CN" sz="3600" b="0" dirty="0">
                <a:latin typeface="Times New Roman" panose="02020603050405020304" pitchFamily="18" charset="0"/>
              </a:rPr>
              <a:t>×8b=64KB=512Kb</a:t>
            </a:r>
            <a:r>
              <a:rPr lang="zh-CN" altLang="en-US" sz="3600" b="0" dirty="0">
                <a:latin typeface="Times New Roman" panose="02020603050405020304" pitchFamily="18" charset="0"/>
              </a:rPr>
              <a:t>。</a:t>
            </a:r>
            <a:endParaRPr lang="zh-CN" altLang="en-US" sz="3600" dirty="0"/>
          </a:p>
          <a:p>
            <a:endParaRPr lang="zh-CN" altLang="en-US" dirty="0"/>
          </a:p>
        </p:txBody>
      </p:sp>
      <p:sp>
        <p:nvSpPr>
          <p:cNvPr id="4" name="日期占位符 3"/>
          <p:cNvSpPr>
            <a:spLocks noGrp="1"/>
          </p:cNvSpPr>
          <p:nvPr>
            <p:ph type="dt" sz="half" idx="10"/>
          </p:nvPr>
        </p:nvSpPr>
        <p:spPr/>
        <p:txBody>
          <a:bodyPr/>
          <a:lstStyle/>
          <a:p>
            <a:pPr>
              <a:defRPr/>
            </a:pPr>
            <a:fld id="{8F5C1EE1-1CB1-4EB4-A519-BCEEC81074D8}"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5.3.2 </a:t>
            </a:r>
            <a:r>
              <a:rPr lang="zh-CN" altLang="en-US" dirty="0"/>
              <a:t>存储器容量的扩展</a:t>
            </a:r>
            <a:endParaRPr lang="zh-CN" altLang="en-US" dirty="0"/>
          </a:p>
        </p:txBody>
      </p:sp>
      <p:sp>
        <p:nvSpPr>
          <p:cNvPr id="3" name="内容占位符 2"/>
          <p:cNvSpPr>
            <a:spLocks noGrp="1"/>
          </p:cNvSpPr>
          <p:nvPr>
            <p:ph idx="1"/>
          </p:nvPr>
        </p:nvSpPr>
        <p:spPr>
          <a:xfrm>
            <a:off x="609601" y="1719263"/>
            <a:ext cx="10203542" cy="4411662"/>
          </a:xfrm>
        </p:spPr>
        <p:txBody>
          <a:bodyPr/>
          <a:lstStyle/>
          <a:p>
            <a:pPr marL="0" indent="0">
              <a:lnSpc>
                <a:spcPct val="100000"/>
              </a:lnSpc>
              <a:buNone/>
            </a:pPr>
            <a:r>
              <a:rPr lang="zh-CN" altLang="en-US" sz="2800" b="0" dirty="0">
                <a:solidFill>
                  <a:schemeClr val="hlink"/>
                </a:solidFill>
                <a:latin typeface="Times New Roman" panose="02020603050405020304" pitchFamily="18" charset="0"/>
              </a:rPr>
              <a:t>存储器的扩展：</a:t>
            </a:r>
            <a:r>
              <a:rPr lang="zh-CN" altLang="en-US" dirty="0"/>
              <a:t>每个存储芯片的容量是有限的。当实际系统需要更大的存储容量时，必须采用多片存储器芯片构成较大容量的存储器模块，即为存储器的扩展。存储器容量扩展的方法有：</a:t>
            </a:r>
            <a:endParaRPr lang="zh-CN" altLang="en-US" b="0" i="0" u="none" strike="noStrike" baseline="0" dirty="0">
              <a:solidFill>
                <a:srgbClr val="000000"/>
              </a:solidFill>
              <a:latin typeface="Arial" panose="020B0604020202020204" pitchFamily="34" charset="0"/>
            </a:endParaRPr>
          </a:p>
          <a:p>
            <a:pPr lvl="1"/>
            <a:r>
              <a:rPr lang="zh-CN" altLang="en-US" b="0" i="0" u="none" strike="noStrike" baseline="0" dirty="0">
                <a:solidFill>
                  <a:srgbClr val="000000"/>
                </a:solidFill>
                <a:latin typeface="Arial" panose="020B0604020202020204" pitchFamily="34" charset="0"/>
              </a:rPr>
              <a:t>位扩展</a:t>
            </a:r>
            <a:endParaRPr lang="zh-CN" altLang="en-US" b="0" i="0" u="none" strike="noStrike" baseline="0" dirty="0">
              <a:solidFill>
                <a:srgbClr val="000000"/>
              </a:solidFill>
              <a:latin typeface="Arial" panose="020B0604020202020204" pitchFamily="34" charset="0"/>
            </a:endParaRPr>
          </a:p>
          <a:p>
            <a:pPr lvl="1"/>
            <a:r>
              <a:rPr lang="zh-CN" altLang="en-US" dirty="0">
                <a:solidFill>
                  <a:srgbClr val="000000"/>
                </a:solidFill>
                <a:latin typeface="Arial" panose="020B0604020202020204" pitchFamily="34" charset="0"/>
              </a:rPr>
              <a:t>字扩展</a:t>
            </a:r>
            <a:endParaRPr lang="zh-CN" altLang="en-US" dirty="0">
              <a:solidFill>
                <a:srgbClr val="000000"/>
              </a:solidFill>
              <a:latin typeface="Arial" panose="020B0604020202020204" pitchFamily="34" charset="0"/>
            </a:endParaRPr>
          </a:p>
          <a:p>
            <a:pPr lvl="1"/>
            <a:r>
              <a:rPr lang="zh-CN" altLang="en-US" dirty="0">
                <a:solidFill>
                  <a:srgbClr val="000000"/>
                </a:solidFill>
                <a:latin typeface="Arial" panose="020B0604020202020204" pitchFamily="34" charset="0"/>
              </a:rPr>
              <a:t>字位扩展</a:t>
            </a:r>
            <a:endParaRPr lang="zh-CN" altLang="en-US" dirty="0">
              <a:solidFill>
                <a:srgbClr val="000000"/>
              </a:solidFill>
              <a:latin typeface="Arial" panose="020B0604020202020204" pitchFamily="34" charset="0"/>
            </a:endParaRPr>
          </a:p>
          <a:p>
            <a:endParaRPr lang="zh-CN" altLang="en-US" dirty="0"/>
          </a:p>
        </p:txBody>
      </p:sp>
      <p:sp>
        <p:nvSpPr>
          <p:cNvPr id="4" name="日期占位符 3"/>
          <p:cNvSpPr>
            <a:spLocks noGrp="1"/>
          </p:cNvSpPr>
          <p:nvPr>
            <p:ph type="dt" sz="half" idx="10"/>
          </p:nvPr>
        </p:nvSpPr>
        <p:spPr/>
        <p:txBody>
          <a:bodyPr/>
          <a:lstStyle/>
          <a:p>
            <a:pPr>
              <a:defRPr/>
            </a:pPr>
            <a:fld id="{7F112772-6DC5-4DA0-93D4-32B89F5E897C}"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734105"/>
          </a:xfrm>
        </p:spPr>
        <p:txBody>
          <a:bodyPr/>
          <a:lstStyle/>
          <a:p>
            <a:r>
              <a:rPr lang="en-US" altLang="zh-CN" dirty="0"/>
              <a:t>1.</a:t>
            </a:r>
            <a:r>
              <a:rPr lang="zh-CN" altLang="en-US" dirty="0"/>
              <a:t>位扩展</a:t>
            </a:r>
            <a:endParaRPr lang="zh-CN" altLang="en-US" dirty="0"/>
          </a:p>
        </p:txBody>
      </p:sp>
      <p:sp>
        <p:nvSpPr>
          <p:cNvPr id="3" name="内容占位符 2"/>
          <p:cNvSpPr>
            <a:spLocks noGrp="1"/>
          </p:cNvSpPr>
          <p:nvPr>
            <p:ph idx="1"/>
          </p:nvPr>
        </p:nvSpPr>
        <p:spPr>
          <a:xfrm>
            <a:off x="609600" y="4131807"/>
            <a:ext cx="11176000" cy="1999117"/>
          </a:xfrm>
        </p:spPr>
        <p:txBody>
          <a:bodyPr/>
          <a:lstStyle/>
          <a:p>
            <a:r>
              <a:rPr lang="zh-CN" altLang="en-US" sz="2400" dirty="0"/>
              <a:t>芯片的地址线全部并联，并与</a:t>
            </a:r>
            <a:r>
              <a:rPr lang="en-US" altLang="zh-CN" sz="2400" dirty="0"/>
              <a:t>CPU</a:t>
            </a:r>
            <a:r>
              <a:rPr lang="zh-CN" altLang="en-US" sz="2400" dirty="0"/>
              <a:t>地址总线中相应的地址线相连；</a:t>
            </a:r>
            <a:endParaRPr lang="zh-CN" altLang="en-US" sz="2400" dirty="0"/>
          </a:p>
          <a:p>
            <a:r>
              <a:rPr lang="zh-CN" altLang="en-US" sz="2400" dirty="0"/>
              <a:t>芯片的数据线分别与</a:t>
            </a:r>
            <a:r>
              <a:rPr lang="en-US" altLang="zh-CN" sz="2400" dirty="0"/>
              <a:t>CPU</a:t>
            </a:r>
            <a:r>
              <a:rPr lang="zh-CN" altLang="en-US" sz="2400" dirty="0"/>
              <a:t>数据总线的相应位相连；</a:t>
            </a:r>
            <a:endParaRPr lang="zh-CN" altLang="en-US" sz="2400" dirty="0"/>
          </a:p>
          <a:p>
            <a:r>
              <a:rPr lang="zh-CN" altLang="en-US" sz="2400" dirty="0"/>
              <a:t>芯片的读</a:t>
            </a:r>
            <a:r>
              <a:rPr lang="en-US" altLang="zh-CN" sz="2400" dirty="0"/>
              <a:t>/</a:t>
            </a:r>
            <a:r>
              <a:rPr lang="zh-CN" altLang="en-US" sz="2400" dirty="0"/>
              <a:t>写控制信号线并联，与</a:t>
            </a:r>
            <a:r>
              <a:rPr lang="en-US" altLang="zh-CN" sz="2400" dirty="0"/>
              <a:t>CPU</a:t>
            </a:r>
            <a:r>
              <a:rPr lang="zh-CN" altLang="en-US" sz="2400" dirty="0"/>
              <a:t>控制总线中的读</a:t>
            </a:r>
            <a:r>
              <a:rPr lang="en-US" altLang="zh-CN" sz="2400" dirty="0"/>
              <a:t>/</a:t>
            </a:r>
            <a:r>
              <a:rPr lang="zh-CN" altLang="en-US" sz="2400" dirty="0"/>
              <a:t>写控制线相连；</a:t>
            </a:r>
            <a:endParaRPr lang="zh-CN" altLang="en-US" sz="2400" dirty="0"/>
          </a:p>
          <a:p>
            <a:r>
              <a:rPr lang="zh-CN" altLang="en-US" sz="2400" dirty="0"/>
              <a:t>芯片的片选信号并联，可接</a:t>
            </a:r>
            <a:r>
              <a:rPr lang="en-US" altLang="zh-CN" sz="2400" dirty="0"/>
              <a:t>CPU</a:t>
            </a:r>
            <a:r>
              <a:rPr lang="zh-CN" altLang="en-US" sz="2400" dirty="0"/>
              <a:t>控制总线中的存储器选择信号，也可接高位地址线或地址译码器的输出端。</a:t>
            </a:r>
            <a:endParaRPr lang="zh-CN" altLang="en-US" sz="2400" dirty="0"/>
          </a:p>
        </p:txBody>
      </p:sp>
      <p:pic>
        <p:nvPicPr>
          <p:cNvPr id="4" name="图片 3"/>
          <p:cNvPicPr>
            <a:picLocks noChangeAspect="1"/>
          </p:cNvPicPr>
          <p:nvPr/>
        </p:nvPicPr>
        <p:blipFill>
          <a:blip r:embed="rId1" cstate="print"/>
          <a:stretch>
            <a:fillRect/>
          </a:stretch>
        </p:blipFill>
        <p:spPr>
          <a:xfrm>
            <a:off x="1736725" y="856343"/>
            <a:ext cx="7804150" cy="3144837"/>
          </a:xfrm>
          <a:prstGeom prst="rect">
            <a:avLst/>
          </a:prstGeom>
          <a:noFill/>
          <a:ln w="9525">
            <a:noFill/>
          </a:ln>
        </p:spPr>
      </p:pic>
      <p:sp>
        <p:nvSpPr>
          <p:cNvPr id="5" name="日期占位符 4"/>
          <p:cNvSpPr>
            <a:spLocks noGrp="1"/>
          </p:cNvSpPr>
          <p:nvPr>
            <p:ph type="dt" sz="half" idx="10"/>
          </p:nvPr>
        </p:nvSpPr>
        <p:spPr/>
        <p:txBody>
          <a:bodyPr/>
          <a:lstStyle/>
          <a:p>
            <a:pPr>
              <a:defRPr/>
            </a:pPr>
            <a:fld id="{CFF41A51-3529-48CC-9570-6A4709B59CE6}" type="datetime10">
              <a:rPr lang="zh-CN" altLang="en-US" smtClean="0"/>
            </a:fld>
            <a:endParaRPr lang="en-US" altLang="zh-CN"/>
          </a:p>
        </p:txBody>
      </p:sp>
      <p:sp>
        <p:nvSpPr>
          <p:cNvPr id="6" name="灯片编号占位符 5"/>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字扩展</a:t>
            </a:r>
            <a:endParaRPr lang="zh-CN" altLang="en-US" dirty="0"/>
          </a:p>
        </p:txBody>
      </p:sp>
      <p:sp>
        <p:nvSpPr>
          <p:cNvPr id="3" name="内容占位符 2"/>
          <p:cNvSpPr>
            <a:spLocks noGrp="1"/>
          </p:cNvSpPr>
          <p:nvPr>
            <p:ph idx="1"/>
          </p:nvPr>
        </p:nvSpPr>
        <p:spPr>
          <a:xfrm>
            <a:off x="609600" y="1693409"/>
            <a:ext cx="10604501" cy="4351338"/>
          </a:xfrm>
        </p:spPr>
        <p:txBody>
          <a:bodyPr>
            <a:noAutofit/>
          </a:bodyPr>
          <a:lstStyle/>
          <a:p>
            <a:pPr>
              <a:lnSpc>
                <a:spcPct val="80000"/>
              </a:lnSpc>
            </a:pPr>
            <a:r>
              <a:rPr lang="zh-CN" altLang="en-US" sz="2800" b="0" dirty="0">
                <a:latin typeface="Times New Roman" panose="02020603050405020304" pitchFamily="18" charset="0"/>
              </a:rPr>
              <a:t>当存储芯片的存储字长</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存储单元的位数</a:t>
            </a:r>
            <a:r>
              <a:rPr lang="en-US" altLang="zh-CN" sz="2800" b="0" dirty="0">
                <a:latin typeface="Times New Roman" panose="02020603050405020304" pitchFamily="18" charset="0"/>
              </a:rPr>
              <a:t>)</a:t>
            </a:r>
            <a:r>
              <a:rPr lang="zh-CN" altLang="en-US" sz="2800" b="0" dirty="0">
                <a:latin typeface="Times New Roman" panose="02020603050405020304" pitchFamily="18" charset="0"/>
              </a:rPr>
              <a:t>满足需要，而存储字的数量不满足需要时，就需要增加存储字的数量，即进行字扩展。</a:t>
            </a:r>
            <a:endParaRPr lang="en-US" altLang="zh-CN" sz="2800" b="0" dirty="0">
              <a:latin typeface="Times New Roman" panose="02020603050405020304" pitchFamily="18" charset="0"/>
            </a:endParaRPr>
          </a:p>
          <a:p>
            <a:pPr>
              <a:lnSpc>
                <a:spcPct val="80000"/>
              </a:lnSpc>
            </a:pPr>
            <a:r>
              <a:rPr lang="zh-CN" altLang="en-US" sz="2800" b="0" dirty="0">
                <a:latin typeface="Times New Roman" panose="02020603050405020304" pitchFamily="18" charset="0"/>
              </a:rPr>
              <a:t>字扩展时，各存储芯片的信号线的连接方法如下：</a:t>
            </a:r>
            <a:endParaRPr lang="zh-CN" altLang="en-US" sz="2800" b="0" dirty="0">
              <a:latin typeface="Times New Roman" panose="02020603050405020304" pitchFamily="18" charset="0"/>
            </a:endParaRPr>
          </a:p>
          <a:p>
            <a:pPr marL="514350" indent="-514350">
              <a:lnSpc>
                <a:spcPct val="100000"/>
              </a:lnSpc>
              <a:buFont typeface="+mj-ea"/>
              <a:buAutoNum type="circleNumDbPlain"/>
            </a:pPr>
            <a:r>
              <a:rPr lang="zh-CN" altLang="en-US" sz="2600" dirty="0"/>
              <a:t>芯片的地址线全部并联，并与</a:t>
            </a:r>
            <a:r>
              <a:rPr lang="en-US" altLang="zh-CN" sz="2600" dirty="0"/>
              <a:t>CPU</a:t>
            </a:r>
            <a:r>
              <a:rPr lang="zh-CN" altLang="en-US" sz="2600" dirty="0"/>
              <a:t>地址总线中相应的地址线相连；</a:t>
            </a:r>
            <a:endParaRPr lang="zh-CN" altLang="en-US" sz="2600" dirty="0"/>
          </a:p>
          <a:p>
            <a:pPr marL="514350" indent="-514350">
              <a:lnSpc>
                <a:spcPct val="100000"/>
              </a:lnSpc>
              <a:buFont typeface="+mj-ea"/>
              <a:buAutoNum type="circleNumDbPlain"/>
            </a:pPr>
            <a:r>
              <a:rPr lang="zh-CN" altLang="en-US" sz="2600" dirty="0"/>
              <a:t>芯片的数据线全部并联，并与</a:t>
            </a:r>
            <a:r>
              <a:rPr lang="en-US" altLang="zh-CN" sz="2600" dirty="0"/>
              <a:t>CPU</a:t>
            </a:r>
            <a:r>
              <a:rPr lang="zh-CN" altLang="en-US" sz="2600" dirty="0"/>
              <a:t>数据总线中相应的数据线相连；</a:t>
            </a:r>
            <a:endParaRPr lang="zh-CN" altLang="en-US" sz="2600" dirty="0"/>
          </a:p>
          <a:p>
            <a:pPr marL="514350" indent="-514350">
              <a:lnSpc>
                <a:spcPct val="100000"/>
              </a:lnSpc>
              <a:buFont typeface="+mj-ea"/>
              <a:buAutoNum type="circleNumDbPlain"/>
            </a:pPr>
            <a:r>
              <a:rPr lang="zh-CN" altLang="en-US" sz="2600" dirty="0"/>
              <a:t>芯片的读</a:t>
            </a:r>
            <a:r>
              <a:rPr lang="en-US" altLang="zh-CN" sz="2600" dirty="0"/>
              <a:t>/</a:t>
            </a:r>
            <a:r>
              <a:rPr lang="zh-CN" altLang="en-US" sz="2600" dirty="0"/>
              <a:t>写控制信号线并联，接</a:t>
            </a:r>
            <a:r>
              <a:rPr lang="en-US" altLang="zh-CN" sz="2600" dirty="0"/>
              <a:t>CPU</a:t>
            </a:r>
            <a:r>
              <a:rPr lang="zh-CN" altLang="en-US" sz="2600" dirty="0"/>
              <a:t>控制总线中的读</a:t>
            </a:r>
            <a:r>
              <a:rPr lang="en-US" altLang="zh-CN" sz="2600" dirty="0"/>
              <a:t>/</a:t>
            </a:r>
            <a:r>
              <a:rPr lang="zh-CN" altLang="en-US" sz="2600" dirty="0"/>
              <a:t>写控制线；芯片的片选信号分别接高位地址线或地址译码器的输出端。</a:t>
            </a:r>
            <a:endParaRPr lang="en-US" altLang="zh-CN" sz="2600" dirty="0"/>
          </a:p>
          <a:p>
            <a:r>
              <a:rPr lang="zh-CN" altLang="en-US" sz="2800" b="0" dirty="0">
                <a:latin typeface="Times New Roman" panose="02020603050405020304" pitchFamily="18" charset="0"/>
              </a:rPr>
              <a:t>实现片选控制的方法有三种：</a:t>
            </a:r>
            <a:endParaRPr lang="en-US" altLang="zh-CN" sz="2600" dirty="0"/>
          </a:p>
          <a:p>
            <a:pPr lvl="1"/>
            <a:r>
              <a:rPr lang="zh-CN" altLang="en-US" sz="2600" dirty="0"/>
              <a:t>线选法</a:t>
            </a:r>
            <a:endParaRPr lang="zh-CN" altLang="en-US" sz="2600" dirty="0"/>
          </a:p>
          <a:p>
            <a:pPr lvl="1"/>
            <a:r>
              <a:rPr lang="zh-CN" altLang="en-US" sz="2600" dirty="0"/>
              <a:t>部分译码法</a:t>
            </a:r>
            <a:endParaRPr lang="zh-CN" altLang="en-US" sz="2600" dirty="0"/>
          </a:p>
          <a:p>
            <a:pPr lvl="1"/>
            <a:r>
              <a:rPr lang="zh-CN" altLang="en-US" sz="2600" dirty="0"/>
              <a:t>全译码法</a:t>
            </a:r>
            <a:endParaRPr lang="zh-CN" altLang="en-US" sz="2600" dirty="0"/>
          </a:p>
        </p:txBody>
      </p:sp>
      <p:sp>
        <p:nvSpPr>
          <p:cNvPr id="4" name="日期占位符 3"/>
          <p:cNvSpPr>
            <a:spLocks noGrp="1"/>
          </p:cNvSpPr>
          <p:nvPr>
            <p:ph type="dt" sz="half" idx="10"/>
          </p:nvPr>
        </p:nvSpPr>
        <p:spPr/>
        <p:txBody>
          <a:bodyPr/>
          <a:lstStyle/>
          <a:p>
            <a:pPr>
              <a:defRPr/>
            </a:pPr>
            <a:fld id="{93B13878-A5D6-4E40-B843-FE9CF62D7AE5}"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字位扩展</a:t>
            </a:r>
            <a:endParaRPr lang="zh-CN" altLang="en-US" dirty="0"/>
          </a:p>
        </p:txBody>
      </p:sp>
      <p:sp>
        <p:nvSpPr>
          <p:cNvPr id="3" name="内容占位符 2"/>
          <p:cNvSpPr>
            <a:spLocks noGrp="1"/>
          </p:cNvSpPr>
          <p:nvPr>
            <p:ph idx="1"/>
          </p:nvPr>
        </p:nvSpPr>
        <p:spPr/>
        <p:txBody>
          <a:bodyPr/>
          <a:lstStyle/>
          <a:p>
            <a:r>
              <a:rPr lang="zh-CN" altLang="en-US" b="0" dirty="0">
                <a:latin typeface="Times New Roman" panose="02020603050405020304" pitchFamily="18" charset="0"/>
              </a:rPr>
              <a:t>当存储芯片的存储字长</a:t>
            </a:r>
            <a:r>
              <a:rPr lang="en-US" altLang="zh-CN" b="0" dirty="0">
                <a:latin typeface="Times New Roman" panose="02020603050405020304" pitchFamily="18" charset="0"/>
              </a:rPr>
              <a:t>(</a:t>
            </a:r>
            <a:r>
              <a:rPr lang="zh-CN" altLang="en-US" b="0" dirty="0">
                <a:latin typeface="Times New Roman" panose="02020603050405020304" pitchFamily="18" charset="0"/>
              </a:rPr>
              <a:t>存储单元的位数</a:t>
            </a:r>
            <a:r>
              <a:rPr lang="en-US" altLang="zh-CN" b="0" dirty="0">
                <a:latin typeface="Times New Roman" panose="02020603050405020304" pitchFamily="18" charset="0"/>
              </a:rPr>
              <a:t>)</a:t>
            </a:r>
            <a:r>
              <a:rPr lang="zh-CN" altLang="en-US" b="0" dirty="0">
                <a:latin typeface="Times New Roman" panose="02020603050405020304" pitchFamily="18" charset="0"/>
              </a:rPr>
              <a:t>和存储字的数量都不满足需要时，则字和位都需要进行扩展，即进行字位扩展。</a:t>
            </a:r>
            <a:endParaRPr lang="zh-CN" altLang="en-US" b="0" dirty="0">
              <a:latin typeface="Times New Roman" panose="02020603050405020304" pitchFamily="18" charset="0"/>
            </a:endParaRPr>
          </a:p>
          <a:p>
            <a:r>
              <a:rPr lang="zh-CN" altLang="en-US" b="0" dirty="0">
                <a:latin typeface="Times New Roman" panose="02020603050405020304" pitchFamily="18" charset="0"/>
              </a:rPr>
              <a:t>字位扩展是字扩展和位扩展的组合，字位全扩展时，先把存储芯片分组，然后可以采取组内位扩展、组间字扩展或者采取组内字扩展、组间位扩展两种方案。 </a:t>
            </a:r>
            <a:endParaRPr lang="zh-CN" altLang="en-US" b="0" dirty="0">
              <a:latin typeface="Times New Roman" panose="02020603050405020304" pitchFamily="18" charset="0"/>
            </a:endParaRPr>
          </a:p>
        </p:txBody>
      </p:sp>
      <p:sp>
        <p:nvSpPr>
          <p:cNvPr id="4" name="日期占位符 3"/>
          <p:cNvSpPr>
            <a:spLocks noGrp="1"/>
          </p:cNvSpPr>
          <p:nvPr>
            <p:ph type="dt" sz="half" idx="10"/>
          </p:nvPr>
        </p:nvSpPr>
        <p:spPr/>
        <p:txBody>
          <a:bodyPr/>
          <a:lstStyle/>
          <a:p>
            <a:pPr>
              <a:defRPr/>
            </a:pPr>
            <a:fld id="{ABE84F85-738E-48B7-8FD4-2937DA3F6460}"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9640" y="182245"/>
            <a:ext cx="10515600" cy="925625"/>
          </a:xfrm>
        </p:spPr>
        <p:txBody>
          <a:bodyPr/>
          <a:lstStyle/>
          <a:p>
            <a:r>
              <a:rPr lang="zh-CN" altLang="en-US" sz="4000" dirty="0"/>
              <a:t>图5.15  8088系统字位扩展的接线图</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b="5052"/>
          <a:stretch>
            <a:fillRect/>
          </a:stretch>
        </p:blipFill>
        <p:spPr bwMode="auto">
          <a:xfrm>
            <a:off x="2200138" y="1226457"/>
            <a:ext cx="7557815" cy="4869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3972409" y="6214090"/>
            <a:ext cx="6093822" cy="461665"/>
          </a:xfrm>
          <a:prstGeom prst="rect">
            <a:avLst/>
          </a:prstGeom>
          <a:noFill/>
        </p:spPr>
        <p:txBody>
          <a:bodyPr wrap="square">
            <a:spAutoFit/>
          </a:bodyPr>
          <a:lstStyle/>
          <a:p>
            <a:r>
              <a:rPr lang="zh-CN" altLang="en-US" sz="2400" b="0" i="0" u="none" strike="noStrike" baseline="0" dirty="0">
                <a:solidFill>
                  <a:srgbClr val="000000"/>
                </a:solidFill>
                <a:latin typeface="楷体" panose="02010609060101010101" pitchFamily="49" charset="-122"/>
                <a:ea typeface="楷体" panose="02010609060101010101" pitchFamily="49" charset="-122"/>
              </a:rPr>
              <a:t>字位扩展连接图</a:t>
            </a:r>
            <a:r>
              <a:rPr lang="zh-CN" altLang="en-US" sz="1800" b="0" i="0" u="none" strike="noStrike" baseline="0" dirty="0">
                <a:solidFill>
                  <a:srgbClr val="000000"/>
                </a:solidFill>
                <a:latin typeface="Times New Roman" panose="02020603050405020304" pitchFamily="18" charset="0"/>
                <a:ea typeface="楷体" panose="02010609060101010101" pitchFamily="49" charset="-122"/>
              </a:rPr>
              <a:t>（</a:t>
            </a:r>
            <a:r>
              <a:rPr lang="en-US" altLang="zh-CN" sz="2400" dirty="0">
                <a:solidFill>
                  <a:srgbClr val="000000"/>
                </a:solidFill>
                <a:latin typeface="楷体" panose="02010609060101010101" pitchFamily="49" charset="-122"/>
                <a:ea typeface="楷体" panose="02010609060101010101" pitchFamily="49" charset="-122"/>
              </a:rPr>
              <a:t>4kX8b</a:t>
            </a:r>
            <a:r>
              <a:rPr lang="zh-CN" altLang="en-US" sz="2400" dirty="0">
                <a:solidFill>
                  <a:srgbClr val="000000"/>
                </a:solidFill>
                <a:latin typeface="楷体" panose="02010609060101010101" pitchFamily="49" charset="-122"/>
                <a:ea typeface="楷体" panose="02010609060101010101" pitchFamily="49" charset="-122"/>
              </a:rPr>
              <a:t>）</a:t>
            </a:r>
            <a:r>
              <a:rPr lang="en-US" altLang="zh-CN" sz="2400" dirty="0">
                <a:solidFill>
                  <a:srgbClr val="000000"/>
                </a:solidFill>
                <a:latin typeface="楷体" panose="02010609060101010101" pitchFamily="49" charset="-122"/>
                <a:ea typeface="楷体" panose="02010609060101010101" pitchFamily="49" charset="-122"/>
              </a:rPr>
              <a:t>/</a:t>
            </a:r>
            <a:r>
              <a:rPr lang="zh-CN" altLang="en-US" sz="2400" dirty="0">
                <a:solidFill>
                  <a:srgbClr val="000000"/>
                </a:solidFill>
                <a:latin typeface="楷体" panose="02010609060101010101" pitchFamily="49" charset="-122"/>
                <a:ea typeface="楷体" panose="02010609060101010101" pitchFamily="49" charset="-122"/>
              </a:rPr>
              <a:t> （</a:t>
            </a:r>
            <a:r>
              <a:rPr lang="en-US" altLang="zh-CN" sz="2400" dirty="0">
                <a:solidFill>
                  <a:srgbClr val="000000"/>
                </a:solidFill>
                <a:latin typeface="楷体" panose="02010609060101010101" pitchFamily="49" charset="-122"/>
                <a:ea typeface="楷体" panose="02010609060101010101" pitchFamily="49" charset="-122"/>
              </a:rPr>
              <a:t>1kX4b</a:t>
            </a:r>
            <a:r>
              <a:rPr lang="zh-CN" altLang="en-US" sz="2400" dirty="0">
                <a:solidFill>
                  <a:srgbClr val="000000"/>
                </a:solidFill>
                <a:latin typeface="楷体" panose="02010609060101010101" pitchFamily="49" charset="-122"/>
                <a:ea typeface="楷体" panose="02010609060101010101" pitchFamily="49" charset="-122"/>
              </a:rPr>
              <a:t>）</a:t>
            </a:r>
            <a:endParaRPr lang="zh-CN" altLang="en-US" sz="2400" dirty="0">
              <a:solidFill>
                <a:srgbClr val="000000"/>
              </a:solidFill>
              <a:latin typeface="楷体" panose="02010609060101010101" pitchFamily="49" charset="-122"/>
              <a:ea typeface="楷体" panose="02010609060101010101" pitchFamily="49" charset="-122"/>
            </a:endParaRPr>
          </a:p>
        </p:txBody>
      </p:sp>
      <p:sp>
        <p:nvSpPr>
          <p:cNvPr id="3" name="日期占位符 2"/>
          <p:cNvSpPr>
            <a:spLocks noGrp="1"/>
          </p:cNvSpPr>
          <p:nvPr>
            <p:ph type="dt" sz="half" idx="10"/>
          </p:nvPr>
        </p:nvSpPr>
        <p:spPr/>
        <p:txBody>
          <a:bodyPr/>
          <a:lstStyle/>
          <a:p>
            <a:pPr>
              <a:defRPr/>
            </a:pPr>
            <a:fld id="{F7FD2F25-9152-40D4-ACDB-CDB4CDE005E2}"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t>指导书</a:t>
            </a:r>
            <a:endParaRPr lang="zh-CN" altLang="en-US" dirty="0"/>
          </a:p>
        </p:txBody>
      </p:sp>
      <p:sp>
        <p:nvSpPr>
          <p:cNvPr id="3" name="内容占位符 2"/>
          <p:cNvSpPr>
            <a:spLocks noGrp="1"/>
          </p:cNvSpPr>
          <p:nvPr>
            <p:ph idx="1"/>
          </p:nvPr>
        </p:nvSpPr>
        <p:spPr/>
        <p:txBody>
          <a:bodyPr/>
          <a:lstStyle/>
          <a:p>
            <a:r>
              <a:rPr lang="en-US" altLang="zh-CN" dirty="0" smtClean="0"/>
              <a:t>1.5.1</a:t>
            </a:r>
            <a:r>
              <a:rPr lang="zh-CN" altLang="en-US" dirty="0" smtClean="0"/>
              <a:t>例题</a:t>
            </a:r>
            <a:endParaRPr lang="en-US" altLang="zh-CN" dirty="0" smtClean="0"/>
          </a:p>
          <a:p>
            <a:pPr>
              <a:buNone/>
            </a:pPr>
            <a:r>
              <a:rPr lang="zh-CN" altLang="en-US" dirty="0" smtClean="0"/>
              <a:t>    </a:t>
            </a:r>
            <a:r>
              <a:rPr lang="en-US" altLang="zh-CN" dirty="0" smtClean="0"/>
              <a:t>1</a:t>
            </a:r>
            <a:r>
              <a:rPr lang="zh-CN" altLang="en-US" dirty="0" smtClean="0"/>
              <a:t>   </a:t>
            </a:r>
            <a:r>
              <a:rPr lang="en-US" altLang="zh-CN" dirty="0" smtClean="0"/>
              <a:t>2</a:t>
            </a:r>
            <a:r>
              <a:rPr lang="zh-CN" altLang="en-US" dirty="0" smtClean="0"/>
              <a:t>  </a:t>
            </a:r>
            <a:endParaRPr lang="zh-CN" altLang="en-US" dirty="0"/>
          </a:p>
        </p:txBody>
      </p:sp>
      <p:sp>
        <p:nvSpPr>
          <p:cNvPr id="4" name="日期占位符 3"/>
          <p:cNvSpPr>
            <a:spLocks noGrp="1"/>
          </p:cNvSpPr>
          <p:nvPr>
            <p:ph type="dt" sz="half" idx="10"/>
          </p:nvPr>
        </p:nvSpPr>
        <p:spPr/>
        <p:txBody>
          <a:bodyPr/>
          <a:lstStyle/>
          <a:p>
            <a:pPr>
              <a:defRPr/>
            </a:pPr>
            <a:fld id="{8CA3637B-B2FB-46AE-8905-94B5A5178E86}"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l"/>
            <a:r>
              <a:rPr lang="en-US" altLang="zh-CN" sz="3200" dirty="0" smtClean="0"/>
              <a:t>1</a:t>
            </a:r>
            <a:r>
              <a:rPr lang="zh-CN" altLang="en-US" sz="3200" dirty="0" smtClean="0"/>
              <a:t>、</a:t>
            </a:r>
            <a:r>
              <a:rPr lang="zh-CN" altLang="zh-CN" sz="3200" dirty="0" smtClean="0"/>
              <a:t> </a:t>
            </a:r>
            <a:r>
              <a:rPr lang="zh-CN" altLang="zh-CN" sz="3200" dirty="0"/>
              <a:t>CPU</a:t>
            </a:r>
            <a:r>
              <a:rPr lang="zh-CN" sz="3200" dirty="0"/>
              <a:t>与外设之间的数据传送方式</a:t>
            </a:r>
            <a:endParaRPr lang="zh-CN" sz="3200" dirty="0"/>
          </a:p>
        </p:txBody>
      </p:sp>
      <p:sp>
        <p:nvSpPr>
          <p:cNvPr id="19459" name="Rectangle 3"/>
          <p:cNvSpPr>
            <a:spLocks noGrp="1" noChangeArrowheads="1"/>
          </p:cNvSpPr>
          <p:nvPr>
            <p:ph type="body" idx="1"/>
          </p:nvPr>
        </p:nvSpPr>
        <p:spPr/>
        <p:txBody>
          <a:bodyPr/>
          <a:lstStyle/>
          <a:p>
            <a:r>
              <a:rPr lang="zh-CN" sz="2800" dirty="0"/>
              <a:t>微型计算机系统中，由于外设的工作速度与</a:t>
            </a:r>
            <a:r>
              <a:rPr lang="zh-CN" altLang="zh-CN" sz="2800" dirty="0"/>
              <a:t>CPU</a:t>
            </a:r>
            <a:r>
              <a:rPr lang="zh-CN" sz="2800" dirty="0"/>
              <a:t>的速度差别很大，主机与外设之间的数据传送过程中，要实现数据的正确传送，关键问题是数据传送的控制方式，简称数据传送方式。</a:t>
            </a:r>
            <a:endParaRPr lang="zh-CN" sz="2800" dirty="0"/>
          </a:p>
          <a:p>
            <a:r>
              <a:rPr lang="zh-CN" altLang="zh-CN" sz="2800" dirty="0">
                <a:solidFill>
                  <a:srgbClr val="FF0000"/>
                </a:solidFill>
              </a:rPr>
              <a:t>CPU</a:t>
            </a:r>
            <a:r>
              <a:rPr lang="zh-CN" sz="2800" dirty="0">
                <a:solidFill>
                  <a:srgbClr val="FF0000"/>
                </a:solidFill>
              </a:rPr>
              <a:t>与外设之间的数据传送方式主要有以下</a:t>
            </a:r>
            <a:r>
              <a:rPr lang="zh-CN" altLang="zh-CN" sz="2800" dirty="0">
                <a:solidFill>
                  <a:srgbClr val="FF0000"/>
                </a:solidFill>
              </a:rPr>
              <a:t>4</a:t>
            </a:r>
            <a:r>
              <a:rPr lang="zh-CN" sz="2800" dirty="0" smtClean="0">
                <a:solidFill>
                  <a:srgbClr val="FF0000"/>
                </a:solidFill>
              </a:rPr>
              <a:t>种</a:t>
            </a:r>
            <a:r>
              <a:rPr lang="zh-CN" altLang="en-US" dirty="0" smtClean="0">
                <a:solidFill>
                  <a:srgbClr val="FF0000"/>
                </a:solidFill>
                <a:sym typeface="Wingdings" panose="05000000000000000000" pitchFamily="2" charset="2"/>
              </a:rPr>
              <a:t>（</a:t>
            </a:r>
            <a:r>
              <a:rPr lang="zh-CN" altLang="en-US" sz="2800" dirty="0" smtClean="0">
                <a:solidFill>
                  <a:srgbClr val="FF0000"/>
                </a:solidFill>
                <a:sym typeface="Wingdings" panose="05000000000000000000" pitchFamily="2" charset="2"/>
              </a:rPr>
              <a:t>简述</a:t>
            </a:r>
            <a:r>
              <a:rPr lang="zh-CN" altLang="en-US" sz="2800" dirty="0" smtClean="0">
                <a:solidFill>
                  <a:srgbClr val="FF0000"/>
                </a:solidFill>
                <a:sym typeface="Wingdings" panose="05000000000000000000" pitchFamily="2" charset="2"/>
              </a:rPr>
              <a:t>之）</a:t>
            </a:r>
            <a:endParaRPr lang="zh-CN" sz="2800" dirty="0">
              <a:solidFill>
                <a:srgbClr val="FF0000"/>
              </a:solidFill>
            </a:endParaRPr>
          </a:p>
          <a:p>
            <a:pPr lvl="1"/>
            <a:r>
              <a:rPr lang="zh-CN" sz="2800" dirty="0">
                <a:solidFill>
                  <a:srgbClr val="FF0000"/>
                </a:solidFill>
              </a:rPr>
              <a:t>无条件方式</a:t>
            </a:r>
            <a:endParaRPr lang="zh-CN" sz="2800" dirty="0">
              <a:solidFill>
                <a:srgbClr val="FF0000"/>
              </a:solidFill>
            </a:endParaRPr>
          </a:p>
          <a:p>
            <a:pPr lvl="1"/>
            <a:r>
              <a:rPr lang="zh-CN" sz="2800" dirty="0">
                <a:solidFill>
                  <a:srgbClr val="FF0000"/>
                </a:solidFill>
              </a:rPr>
              <a:t>查询方式</a:t>
            </a:r>
            <a:endParaRPr lang="zh-CN" sz="2800" dirty="0">
              <a:solidFill>
                <a:srgbClr val="FF0000"/>
              </a:solidFill>
            </a:endParaRPr>
          </a:p>
          <a:p>
            <a:pPr lvl="1"/>
            <a:r>
              <a:rPr lang="zh-CN" sz="2800" dirty="0">
                <a:solidFill>
                  <a:srgbClr val="FF0000"/>
                </a:solidFill>
              </a:rPr>
              <a:t>中断方式</a:t>
            </a:r>
            <a:endParaRPr lang="zh-CN" sz="2800" dirty="0">
              <a:solidFill>
                <a:srgbClr val="FF0000"/>
              </a:solidFill>
            </a:endParaRPr>
          </a:p>
          <a:p>
            <a:pPr lvl="1"/>
            <a:r>
              <a:rPr lang="zh-CN" altLang="zh-CN" sz="2800" dirty="0">
                <a:solidFill>
                  <a:srgbClr val="FF0000"/>
                </a:solidFill>
              </a:rPr>
              <a:t>DMA</a:t>
            </a:r>
            <a:r>
              <a:rPr lang="zh-CN" sz="2800" dirty="0" smtClean="0">
                <a:solidFill>
                  <a:srgbClr val="FF0000"/>
                </a:solidFill>
              </a:rPr>
              <a:t>方式</a:t>
            </a:r>
            <a:r>
              <a:rPr lang="zh-CN" altLang="en-US" sz="2800" dirty="0" smtClean="0">
                <a:solidFill>
                  <a:srgbClr val="FF0000"/>
                </a:solidFill>
              </a:rPr>
              <a:t>      </a:t>
            </a:r>
            <a:endParaRPr lang="en-US" altLang="zh-CN" sz="2800" dirty="0" smtClean="0">
              <a:solidFill>
                <a:srgbClr val="FF0000"/>
              </a:solidFill>
            </a:endParaRPr>
          </a:p>
        </p:txBody>
      </p:sp>
      <p:sp>
        <p:nvSpPr>
          <p:cNvPr id="4" name="矩形 3"/>
          <p:cNvSpPr/>
          <p:nvPr/>
        </p:nvSpPr>
        <p:spPr>
          <a:xfrm>
            <a:off x="511681" y="210678"/>
            <a:ext cx="5086649" cy="707886"/>
          </a:xfrm>
          <a:prstGeom prst="rect">
            <a:avLst/>
          </a:prstGeom>
        </p:spPr>
        <p:txBody>
          <a:bodyPr wrap="none">
            <a:spAutoFit/>
          </a:bodyPr>
          <a:lstStyle/>
          <a:p>
            <a:r>
              <a:rPr lang="zh-CN" altLang="en-US" sz="4000" dirty="0" smtClean="0"/>
              <a:t>第</a:t>
            </a:r>
            <a:r>
              <a:rPr lang="en-US" altLang="zh-CN" sz="4000" dirty="0" smtClean="0"/>
              <a:t>6</a:t>
            </a:r>
            <a:r>
              <a:rPr lang="zh-CN" altLang="en-US" sz="4000" dirty="0" smtClean="0"/>
              <a:t>章输入输出与中断</a:t>
            </a:r>
            <a:endParaRPr lang="zh-CN" altLang="en-US" sz="4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 calcmode="lin" valueType="num">
                                      <p:cBhvr additive="base">
                                        <p:cTn id="7"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anim calcmode="lin" valueType="num">
                                      <p:cBhvr additive="base">
                                        <p:cTn id="11"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 calcmode="lin" valueType="num">
                                      <p:cBhvr additive="base">
                                        <p:cTn id="1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anim calcmode="lin" valueType="num">
                                      <p:cBhvr additive="base">
                                        <p:cTn id="19"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459">
                                            <p:txEl>
                                              <p:pRg st="5" end="5"/>
                                            </p:txEl>
                                          </p:spTgt>
                                        </p:tgtEl>
                                        <p:attrNameLst>
                                          <p:attrName>style.visibility</p:attrName>
                                        </p:attrNameLst>
                                      </p:cBhvr>
                                      <p:to>
                                        <p:strVal val="visible"/>
                                      </p:to>
                                    </p:set>
                                    <p:anim calcmode="lin" valueType="num">
                                      <p:cBhvr additive="base">
                                        <p:cTn id="23"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zh-CN" dirty="0"/>
              <a:t>中断</a:t>
            </a:r>
            <a:r>
              <a:rPr lang="zh-CN" altLang="en-US" dirty="0"/>
              <a:t>的概念</a:t>
            </a:r>
            <a:endParaRPr lang="zh-CN" altLang="zh-CN" dirty="0"/>
          </a:p>
        </p:txBody>
      </p:sp>
      <p:sp>
        <p:nvSpPr>
          <p:cNvPr id="38915" name="Rectangle 3"/>
          <p:cNvSpPr>
            <a:spLocks noGrp="1" noChangeArrowheads="1"/>
          </p:cNvSpPr>
          <p:nvPr>
            <p:ph idx="1"/>
          </p:nvPr>
        </p:nvSpPr>
        <p:spPr>
          <a:xfrm>
            <a:off x="442332" y="1853078"/>
            <a:ext cx="10058400" cy="4411662"/>
          </a:xfrm>
        </p:spPr>
        <p:txBody>
          <a:bodyPr>
            <a:normAutofit/>
          </a:bodyPr>
          <a:lstStyle/>
          <a:p>
            <a:pPr>
              <a:lnSpc>
                <a:spcPct val="200000"/>
              </a:lnSpc>
            </a:pPr>
            <a:r>
              <a:rPr lang="zh-CN" altLang="en-US" sz="2800" dirty="0"/>
              <a:t>中断，是指在程序执行过程中，出现某种紧急事件，CPU暂时停止正在执行的程序，而转去执行处理该事件的程序—</a:t>
            </a:r>
            <a:r>
              <a:rPr lang="en-US" altLang="zh-CN" sz="2800" dirty="0"/>
              <a:t>——</a:t>
            </a:r>
            <a:r>
              <a:rPr lang="zh-CN" altLang="en-US" sz="2800" dirty="0"/>
              <a:t>称为中断服务程序(或中断处理程序)，执行完后又返回被中止的程序断点处继续执行，这一过程就称为中断。</a:t>
            </a:r>
            <a:endParaRPr lang="zh-CN" altLang="en-US" sz="2800" dirty="0"/>
          </a:p>
        </p:txBody>
      </p:sp>
      <p:sp>
        <p:nvSpPr>
          <p:cNvPr id="2" name="日期占位符 1"/>
          <p:cNvSpPr>
            <a:spLocks noGrp="1"/>
          </p:cNvSpPr>
          <p:nvPr>
            <p:ph type="dt" sz="half" idx="10"/>
          </p:nvPr>
        </p:nvSpPr>
        <p:spPr/>
        <p:txBody>
          <a:bodyPr/>
          <a:lstStyle/>
          <a:p>
            <a:pPr>
              <a:defRPr/>
            </a:pPr>
            <a:fld id="{FAA186D0-4BAC-4614-906C-D26A822C5401}" type="datetime10">
              <a:rPr lang="zh-CN" altLang="en-US" smtClean="0"/>
            </a:fld>
            <a:endParaRPr lang="en-US" altLang="zh-CN"/>
          </a:p>
        </p:txBody>
      </p:sp>
      <p:sp>
        <p:nvSpPr>
          <p:cNvPr id="3" name="灯片编号占位符 2"/>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57200" y="1360017"/>
            <a:ext cx="10058400" cy="4411662"/>
          </a:xfrm>
        </p:spPr>
        <p:txBody>
          <a:bodyPr>
            <a:normAutofit/>
          </a:bodyPr>
          <a:lstStyle/>
          <a:p>
            <a:pPr>
              <a:buFont typeface="Wingdings" panose="05000000000000000000" pitchFamily="2" charset="2"/>
              <a:buNone/>
            </a:pPr>
            <a:r>
              <a:rPr lang="zh-CN" altLang="zh-CN" sz="2800" dirty="0"/>
              <a:t>计算机处理中断的</a:t>
            </a:r>
            <a:r>
              <a:rPr lang="zh-CN" altLang="en-US" sz="2800" dirty="0"/>
              <a:t>基本过程包括</a:t>
            </a:r>
            <a:r>
              <a:rPr lang="zh-CN" altLang="zh-CN" sz="2800" dirty="0"/>
              <a:t>：</a:t>
            </a:r>
            <a:endParaRPr lang="zh-CN" altLang="zh-CN" sz="2800" dirty="0"/>
          </a:p>
          <a:p>
            <a:pPr lvl="1"/>
            <a:r>
              <a:rPr lang="zh-CN" altLang="zh-CN" sz="2800" dirty="0"/>
              <a:t>中断请求</a:t>
            </a:r>
            <a:endParaRPr lang="en-US" altLang="zh-CN" sz="2800" dirty="0"/>
          </a:p>
          <a:p>
            <a:pPr lvl="1"/>
            <a:r>
              <a:rPr lang="zh-CN" altLang="en-US" sz="2800" dirty="0"/>
              <a:t>中断判优</a:t>
            </a:r>
            <a:endParaRPr lang="zh-CN" altLang="zh-CN" sz="2800" dirty="0"/>
          </a:p>
          <a:p>
            <a:pPr lvl="1"/>
            <a:r>
              <a:rPr lang="zh-CN" altLang="zh-CN" sz="2800" dirty="0"/>
              <a:t>中断响应</a:t>
            </a:r>
            <a:endParaRPr lang="zh-CN" altLang="zh-CN" sz="2800" dirty="0"/>
          </a:p>
          <a:p>
            <a:pPr lvl="1"/>
            <a:r>
              <a:rPr lang="zh-CN" altLang="zh-CN" sz="2800" dirty="0"/>
              <a:t>中断</a:t>
            </a:r>
            <a:r>
              <a:rPr lang="zh-CN" altLang="en-US" sz="2800" dirty="0"/>
              <a:t>服务</a:t>
            </a:r>
            <a:endParaRPr lang="en-US" altLang="zh-CN" sz="2800" dirty="0"/>
          </a:p>
          <a:p>
            <a:pPr lvl="1"/>
            <a:r>
              <a:rPr lang="zh-CN" altLang="en-US" sz="2800" dirty="0"/>
              <a:t>中断返回</a:t>
            </a:r>
            <a:endParaRPr lang="zh-CN" altLang="en-US" sz="2800" dirty="0"/>
          </a:p>
        </p:txBody>
      </p:sp>
      <p:grpSp>
        <p:nvGrpSpPr>
          <p:cNvPr id="4" name="Group 3"/>
          <p:cNvGrpSpPr/>
          <p:nvPr/>
        </p:nvGrpSpPr>
        <p:grpSpPr bwMode="auto">
          <a:xfrm>
            <a:off x="4062761" y="1543063"/>
            <a:ext cx="6227763" cy="4240213"/>
            <a:chOff x="0" y="0"/>
            <a:chExt cx="3657" cy="2453"/>
          </a:xfrm>
        </p:grpSpPr>
        <p:sp>
          <p:nvSpPr>
            <p:cNvPr id="5" name="Line 4"/>
            <p:cNvSpPr>
              <a:spLocks noChangeShapeType="1"/>
            </p:cNvSpPr>
            <p:nvPr/>
          </p:nvSpPr>
          <p:spPr bwMode="auto">
            <a:xfrm>
              <a:off x="1392" y="342"/>
              <a:ext cx="0" cy="845"/>
            </a:xfrm>
            <a:prstGeom prst="line">
              <a:avLst/>
            </a:prstGeom>
            <a:noFill/>
            <a:ln w="38100" cmpd="sng">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6" name="Line 5"/>
            <p:cNvSpPr>
              <a:spLocks noChangeShapeType="1"/>
            </p:cNvSpPr>
            <p:nvPr/>
          </p:nvSpPr>
          <p:spPr bwMode="auto">
            <a:xfrm>
              <a:off x="1392" y="1313"/>
              <a:ext cx="0" cy="1140"/>
            </a:xfrm>
            <a:prstGeom prst="line">
              <a:avLst/>
            </a:prstGeom>
            <a:noFill/>
            <a:ln w="38100" cmpd="sng">
              <a:solidFill>
                <a:srgbClr val="333399"/>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7" name="Line 6"/>
            <p:cNvSpPr>
              <a:spLocks noChangeShapeType="1"/>
            </p:cNvSpPr>
            <p:nvPr/>
          </p:nvSpPr>
          <p:spPr bwMode="auto">
            <a:xfrm>
              <a:off x="2628" y="976"/>
              <a:ext cx="0" cy="717"/>
            </a:xfrm>
            <a:prstGeom prst="line">
              <a:avLst/>
            </a:prstGeom>
            <a:noFill/>
            <a:ln w="38100" cmpd="sng">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8" name="AutoShape 7"/>
            <p:cNvSpPr>
              <a:spLocks noChangeArrowheads="1"/>
            </p:cNvSpPr>
            <p:nvPr/>
          </p:nvSpPr>
          <p:spPr bwMode="auto">
            <a:xfrm>
              <a:off x="0" y="1277"/>
              <a:ext cx="734" cy="369"/>
            </a:xfrm>
            <a:prstGeom prst="wedgeEllipseCallout">
              <a:avLst>
                <a:gd name="adj1" fmla="val 119889"/>
                <a:gd name="adj2" fmla="val -40829"/>
              </a:avLst>
            </a:prstGeom>
            <a:noFill/>
            <a:ln w="28575" cmpd="sng">
              <a:solidFill>
                <a:srgbClr val="FFCF0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0" cap="none" spc="0" normalizeH="0" baseline="0" noProof="0">
                <a:ln>
                  <a:noFill/>
                </a:ln>
                <a:solidFill>
                  <a:srgbClr val="000000"/>
                </a:solidFill>
                <a:effectLst/>
                <a:uLnTx/>
                <a:uFillTx/>
              </a:endParaRPr>
            </a:p>
          </p:txBody>
        </p:sp>
        <p:sp>
          <p:nvSpPr>
            <p:cNvPr id="9" name="Text Box 8"/>
            <p:cNvSpPr txBox="1">
              <a:spLocks noChangeArrowheads="1"/>
            </p:cNvSpPr>
            <p:nvPr/>
          </p:nvSpPr>
          <p:spPr bwMode="auto">
            <a:xfrm>
              <a:off x="159" y="1308"/>
              <a:ext cx="468"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断点</a:t>
              </a:r>
              <a:endParaRPr kumimoji="0" lang="zh-CN" altLang="zh-CN" sz="2400" b="1" i="0" u="none" strike="noStrike" kern="0" cap="none" spc="0" normalizeH="0" baseline="0" noProof="0">
                <a:ln>
                  <a:noFill/>
                </a:ln>
                <a:solidFill>
                  <a:srgbClr val="000000"/>
                </a:solidFill>
                <a:effectLst/>
                <a:uLnTx/>
                <a:uFillTx/>
              </a:endParaRPr>
            </a:p>
          </p:txBody>
        </p:sp>
        <p:sp>
          <p:nvSpPr>
            <p:cNvPr id="10" name="Text Box 9"/>
            <p:cNvSpPr txBox="1">
              <a:spLocks noChangeArrowheads="1"/>
            </p:cNvSpPr>
            <p:nvPr/>
          </p:nvSpPr>
          <p:spPr bwMode="auto">
            <a:xfrm>
              <a:off x="1078" y="0"/>
              <a:ext cx="647"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主程序</a:t>
              </a:r>
              <a:endParaRPr kumimoji="0" lang="zh-CN" altLang="zh-CN" sz="2400" b="1" i="0" u="none" strike="noStrike" kern="0" cap="none" spc="0" normalizeH="0" baseline="0" noProof="0">
                <a:ln>
                  <a:noFill/>
                </a:ln>
                <a:solidFill>
                  <a:srgbClr val="000000"/>
                </a:solidFill>
                <a:effectLst/>
                <a:uLnTx/>
                <a:uFillTx/>
              </a:endParaRPr>
            </a:p>
          </p:txBody>
        </p:sp>
        <p:sp>
          <p:nvSpPr>
            <p:cNvPr id="11" name="Text Box 10"/>
            <p:cNvSpPr txBox="1">
              <a:spLocks noChangeArrowheads="1"/>
            </p:cNvSpPr>
            <p:nvPr/>
          </p:nvSpPr>
          <p:spPr bwMode="auto">
            <a:xfrm>
              <a:off x="2152" y="421"/>
              <a:ext cx="1187"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中断服务程序</a:t>
              </a:r>
              <a:endParaRPr kumimoji="0" lang="zh-CN" altLang="zh-CN" sz="2400" b="1" i="0" u="none" strike="noStrike" kern="0" cap="none" spc="0" normalizeH="0" baseline="0" noProof="0">
                <a:ln>
                  <a:noFill/>
                </a:ln>
                <a:solidFill>
                  <a:srgbClr val="000000"/>
                </a:solidFill>
                <a:effectLst/>
                <a:uLnTx/>
                <a:uFillTx/>
              </a:endParaRPr>
            </a:p>
          </p:txBody>
        </p:sp>
        <p:sp>
          <p:nvSpPr>
            <p:cNvPr id="12" name="Line 11"/>
            <p:cNvSpPr>
              <a:spLocks noChangeShapeType="1"/>
            </p:cNvSpPr>
            <p:nvPr/>
          </p:nvSpPr>
          <p:spPr bwMode="auto">
            <a:xfrm>
              <a:off x="624" y="1144"/>
              <a:ext cx="624" cy="0"/>
            </a:xfrm>
            <a:prstGeom prst="line">
              <a:avLst/>
            </a:prstGeom>
            <a:noFill/>
            <a:ln w="28575" cmpd="sng">
              <a:solidFill>
                <a:srgbClr val="FFCF0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13" name="Text Box 12"/>
            <p:cNvSpPr txBox="1">
              <a:spLocks noChangeArrowheads="1"/>
            </p:cNvSpPr>
            <p:nvPr/>
          </p:nvSpPr>
          <p:spPr bwMode="auto">
            <a:xfrm>
              <a:off x="172" y="844"/>
              <a:ext cx="827"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中断请求</a:t>
              </a:r>
              <a:endParaRPr kumimoji="0" lang="zh-CN" altLang="zh-CN" sz="2400" b="1" i="0" u="none" strike="noStrike" kern="0" cap="none" spc="0" normalizeH="0" baseline="0" noProof="0">
                <a:ln>
                  <a:noFill/>
                </a:ln>
                <a:solidFill>
                  <a:srgbClr val="000000"/>
                </a:solidFill>
                <a:effectLst/>
                <a:uLnTx/>
                <a:uFillTx/>
              </a:endParaRPr>
            </a:p>
          </p:txBody>
        </p:sp>
        <p:sp>
          <p:nvSpPr>
            <p:cNvPr id="14" name="Line 13"/>
            <p:cNvSpPr>
              <a:spLocks noChangeShapeType="1"/>
            </p:cNvSpPr>
            <p:nvPr/>
          </p:nvSpPr>
          <p:spPr bwMode="auto">
            <a:xfrm flipV="1">
              <a:off x="1488" y="933"/>
              <a:ext cx="1104" cy="254"/>
            </a:xfrm>
            <a:prstGeom prst="line">
              <a:avLst/>
            </a:prstGeom>
            <a:noFill/>
            <a:ln w="28575" cmpd="sng">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15" name="Line 14"/>
            <p:cNvSpPr>
              <a:spLocks noChangeShapeType="1"/>
            </p:cNvSpPr>
            <p:nvPr/>
          </p:nvSpPr>
          <p:spPr bwMode="auto">
            <a:xfrm flipH="1" flipV="1">
              <a:off x="1488" y="1271"/>
              <a:ext cx="1056" cy="464"/>
            </a:xfrm>
            <a:prstGeom prst="line">
              <a:avLst/>
            </a:prstGeom>
            <a:noFill/>
            <a:ln w="28575" cmpd="sng">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16" name="Text Box 15"/>
            <p:cNvSpPr txBox="1">
              <a:spLocks noChangeArrowheads="1"/>
            </p:cNvSpPr>
            <p:nvPr/>
          </p:nvSpPr>
          <p:spPr bwMode="auto">
            <a:xfrm>
              <a:off x="2829" y="1008"/>
              <a:ext cx="828" cy="4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dirty="0">
                  <a:ln>
                    <a:noFill/>
                  </a:ln>
                  <a:solidFill>
                    <a:srgbClr val="000000"/>
                  </a:solidFill>
                  <a:effectLst/>
                  <a:uLnTx/>
                  <a:uFillTx/>
                </a:rPr>
                <a:t>对外设</a:t>
              </a:r>
              <a:endParaRPr kumimoji="0" lang="zh-CN" altLang="zh-CN" sz="2400" b="1" i="0" u="none" strike="noStrike" kern="0" cap="none" spc="0" normalizeH="0" baseline="0" noProof="0" dirty="0">
                <a:ln>
                  <a:noFill/>
                </a:ln>
                <a:solidFill>
                  <a:srgbClr val="000000"/>
                </a:solidFill>
                <a:effectLst/>
                <a:uLnTx/>
                <a:uFillTx/>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dirty="0">
                  <a:ln>
                    <a:noFill/>
                  </a:ln>
                  <a:solidFill>
                    <a:srgbClr val="000000"/>
                  </a:solidFill>
                  <a:effectLst/>
                  <a:uLnTx/>
                  <a:uFillTx/>
                </a:rPr>
                <a:t>进行处理</a:t>
              </a:r>
              <a:endParaRPr kumimoji="0" lang="zh-CN" altLang="zh-CN" sz="2400" b="1" i="0" u="none" strike="noStrike" kern="0" cap="none" spc="0" normalizeH="0" baseline="0" noProof="0" dirty="0">
                <a:ln>
                  <a:noFill/>
                </a:ln>
                <a:solidFill>
                  <a:srgbClr val="000000"/>
                </a:solidFill>
                <a:effectLst/>
                <a:uLnTx/>
                <a:uFillTx/>
              </a:endParaRPr>
            </a:p>
          </p:txBody>
        </p:sp>
        <p:sp>
          <p:nvSpPr>
            <p:cNvPr id="17" name="Text Box 16"/>
            <p:cNvSpPr txBox="1">
              <a:spLocks noChangeArrowheads="1"/>
            </p:cNvSpPr>
            <p:nvPr/>
          </p:nvSpPr>
          <p:spPr bwMode="auto">
            <a:xfrm>
              <a:off x="460" y="1815"/>
              <a:ext cx="827"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继续执行</a:t>
              </a:r>
              <a:endParaRPr kumimoji="0" lang="zh-CN" altLang="zh-CN" sz="2400" b="1" i="0" u="none" strike="noStrike" kern="0" cap="none" spc="0" normalizeH="0" baseline="0" noProof="0">
                <a:ln>
                  <a:noFill/>
                </a:ln>
                <a:solidFill>
                  <a:srgbClr val="000000"/>
                </a:solidFill>
                <a:effectLst/>
                <a:uLnTx/>
                <a:uFillTx/>
              </a:endParaRPr>
            </a:p>
          </p:txBody>
        </p:sp>
        <p:sp>
          <p:nvSpPr>
            <p:cNvPr id="18" name="Text Box 17"/>
            <p:cNvSpPr txBox="1">
              <a:spLocks noChangeArrowheads="1"/>
            </p:cNvSpPr>
            <p:nvPr/>
          </p:nvSpPr>
          <p:spPr bwMode="auto">
            <a:xfrm>
              <a:off x="2284" y="1815"/>
              <a:ext cx="828"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返回断点</a:t>
              </a:r>
              <a:endParaRPr kumimoji="0" lang="zh-CN" altLang="zh-CN" sz="2400" b="1" i="0" u="none" strike="noStrike" kern="0" cap="none" spc="0" normalizeH="0" baseline="0" noProof="0">
                <a:ln>
                  <a:noFill/>
                </a:ln>
                <a:solidFill>
                  <a:srgbClr val="000000"/>
                </a:solidFill>
                <a:effectLst/>
                <a:uLnTx/>
                <a:uFillTx/>
              </a:endParaRPr>
            </a:p>
          </p:txBody>
        </p:sp>
      </p:grpSp>
      <p:sp>
        <p:nvSpPr>
          <p:cNvPr id="19" name="日期占位符 18"/>
          <p:cNvSpPr>
            <a:spLocks noGrp="1"/>
          </p:cNvSpPr>
          <p:nvPr>
            <p:ph type="dt" sz="half" idx="10"/>
          </p:nvPr>
        </p:nvSpPr>
        <p:spPr/>
        <p:txBody>
          <a:bodyPr/>
          <a:lstStyle/>
          <a:p>
            <a:pPr>
              <a:defRPr/>
            </a:pPr>
            <a:fld id="{494E61B6-83DF-432F-95E7-7841F76AA00F}" type="datetime10">
              <a:rPr lang="zh-CN" altLang="en-US" smtClean="0"/>
            </a:fld>
            <a:endParaRPr lang="en-US" altLang="zh-CN"/>
          </a:p>
        </p:txBody>
      </p:sp>
      <p:sp>
        <p:nvSpPr>
          <p:cNvPr id="20" name="灯片编号占位符 19"/>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p:txBody>
          <a:bodyPr/>
          <a:lstStyle/>
          <a:p>
            <a:pPr eaLnBrk="1" hangingPunct="1"/>
            <a:r>
              <a:rPr lang="zh-CN" altLang="en-US" sz="4000" dirty="0"/>
              <a:t>      </a:t>
            </a:r>
            <a:r>
              <a:rPr lang="en-US" altLang="zh-CN" sz="4000" dirty="0"/>
              <a:t>3.</a:t>
            </a:r>
            <a:r>
              <a:rPr lang="zh-CN" altLang="en-US" sz="4000" dirty="0"/>
              <a:t>中</a:t>
            </a:r>
            <a:r>
              <a:rPr lang="zh-CN" altLang="en-US" sz="4000" b="1" dirty="0"/>
              <a:t>断向量和中断向量表</a:t>
            </a:r>
            <a:endParaRPr lang="zh-CN" altLang="en-US" sz="4000" b="1" dirty="0"/>
          </a:p>
        </p:txBody>
      </p:sp>
      <p:sp>
        <p:nvSpPr>
          <p:cNvPr id="4" name="灯片编号占位符 3"/>
          <p:cNvSpPr>
            <a:spLocks noGrp="1"/>
          </p:cNvSpPr>
          <p:nvPr>
            <p:ph type="sldNum" sz="quarter" idx="12"/>
          </p:nvPr>
        </p:nvSpPr>
        <p:spPr/>
        <p:txBody>
          <a:bodyPr/>
          <a:lstStyle/>
          <a:p>
            <a:pPr defTabSz="914400" fontAlgn="base">
              <a:spcBef>
                <a:spcPct val="0"/>
              </a:spcBef>
              <a:spcAft>
                <a:spcPct val="0"/>
              </a:spcAft>
              <a:defRPr/>
            </a:pPr>
            <a:fld id="{11E55663-CA7D-4F2A-BBF8-A31285F3B837}" type="slidenum">
              <a:rPr lang="en-US" altLang="zh-CN">
                <a:solidFill>
                  <a:srgbClr val="000000"/>
                </a:solidFill>
                <a:latin typeface="Arial" panose="020B0604020202020204" pitchFamily="34" charset="0"/>
                <a:cs typeface="Times New Roman" panose="02020603050405020304"/>
              </a:rPr>
            </a:fld>
            <a:endParaRPr lang="en-US" altLang="zh-CN">
              <a:solidFill>
                <a:srgbClr val="000000"/>
              </a:solidFill>
              <a:latin typeface="Arial" panose="020B0604020202020204" pitchFamily="34" charset="0"/>
              <a:cs typeface="Times New Roman" panose="02020603050405020304"/>
            </a:endParaRPr>
          </a:p>
        </p:txBody>
      </p:sp>
      <p:sp>
        <p:nvSpPr>
          <p:cNvPr id="3" name="内容占位符 2"/>
          <p:cNvSpPr>
            <a:spLocks noGrp="1"/>
          </p:cNvSpPr>
          <p:nvPr>
            <p:ph idx="1"/>
          </p:nvPr>
        </p:nvSpPr>
        <p:spPr>
          <a:xfrm>
            <a:off x="1244338" y="2024108"/>
            <a:ext cx="9911342" cy="3878539"/>
          </a:xfrm>
        </p:spPr>
        <p:txBody>
          <a:bodyPr/>
          <a:lstStyle/>
          <a:p>
            <a:r>
              <a:rPr lang="en-US" altLang="zh-CN" sz="2800" dirty="0"/>
              <a:t>8086/8088CPU</a:t>
            </a:r>
            <a:r>
              <a:rPr lang="zh-CN" altLang="en-US" sz="2800" dirty="0"/>
              <a:t>的中断系统可以处理</a:t>
            </a:r>
            <a:r>
              <a:rPr lang="en-US" altLang="zh-CN" sz="2800" dirty="0"/>
              <a:t>256</a:t>
            </a:r>
            <a:r>
              <a:rPr lang="zh-CN" altLang="en-US" sz="2800" dirty="0"/>
              <a:t>种中断。</a:t>
            </a:r>
            <a:r>
              <a:rPr lang="zh-CN" altLang="zh-CN" sz="2800" dirty="0"/>
              <a:t>每种中断都有对应的中断服务程序。中断服务程序的入口地址称为中断向量。</a:t>
            </a:r>
            <a:r>
              <a:rPr lang="en-US" altLang="zh-CN" sz="2800" dirty="0"/>
              <a:t>256</a:t>
            </a:r>
            <a:r>
              <a:rPr lang="zh-CN" altLang="en-US" sz="2800" dirty="0"/>
              <a:t>种</a:t>
            </a:r>
            <a:r>
              <a:rPr lang="zh-CN" altLang="zh-CN" sz="2800" dirty="0"/>
              <a:t>中断向量存储在内存中构成一张表，称为中断向量表</a:t>
            </a:r>
            <a:r>
              <a:rPr lang="zh-CN" altLang="en-US" sz="2800" dirty="0"/>
              <a:t>。</a:t>
            </a:r>
            <a:endParaRPr lang="en-US" altLang="zh-CN" sz="2800" dirty="0"/>
          </a:p>
          <a:p>
            <a:r>
              <a:rPr lang="zh-CN" altLang="zh-CN" sz="2800" dirty="0"/>
              <a:t>每个中断向量都包括两部分：段基址和偏移地址。因此，存放</a:t>
            </a:r>
            <a:r>
              <a:rPr lang="en-US" altLang="zh-CN" sz="2800" dirty="0"/>
              <a:t>1</a:t>
            </a:r>
            <a:r>
              <a:rPr lang="zh-CN" altLang="zh-CN" sz="2800" dirty="0"/>
              <a:t>个中断向量需要</a:t>
            </a:r>
            <a:r>
              <a:rPr lang="en-US" altLang="zh-CN" sz="2800" dirty="0"/>
              <a:t>4</a:t>
            </a:r>
            <a:r>
              <a:rPr lang="zh-CN" altLang="zh-CN" sz="2800" dirty="0"/>
              <a:t>个内存单元，</a:t>
            </a:r>
            <a:r>
              <a:rPr lang="en-US" altLang="zh-CN" sz="2800" dirty="0"/>
              <a:t>256</a:t>
            </a:r>
            <a:r>
              <a:rPr lang="zh-CN" altLang="zh-CN" sz="2800" dirty="0"/>
              <a:t>种中断向量共需要</a:t>
            </a:r>
            <a:r>
              <a:rPr lang="en-US" altLang="zh-CN" sz="2800" dirty="0"/>
              <a:t>1K</a:t>
            </a:r>
            <a:r>
              <a:rPr lang="zh-CN" altLang="zh-CN" sz="2800" dirty="0"/>
              <a:t>个内存单元。</a:t>
            </a:r>
            <a:endParaRPr lang="zh-CN" altLang="zh-CN" sz="2800" dirty="0"/>
          </a:p>
          <a:p>
            <a:endParaRPr lang="zh-CN" altLang="en-US" sz="2000" dirty="0"/>
          </a:p>
        </p:txBody>
      </p:sp>
      <p:sp>
        <p:nvSpPr>
          <p:cNvPr id="2" name="日期占位符 1"/>
          <p:cNvSpPr>
            <a:spLocks noGrp="1"/>
          </p:cNvSpPr>
          <p:nvPr>
            <p:ph type="dt" sz="half" idx="10"/>
          </p:nvPr>
        </p:nvSpPr>
        <p:spPr/>
        <p:txBody>
          <a:bodyPr/>
          <a:lstStyle/>
          <a:p>
            <a:pPr>
              <a:defRPr/>
            </a:pPr>
            <a:fld id="{A52351D3-B450-4F8A-B77A-8DD791DC7860}" type="datetime10">
              <a:rPr lang="zh-CN" altLang="en-US" smtClean="0"/>
            </a:fld>
            <a:endParaRPr lang="en-US" altLang="zh-CN"/>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914400" fontAlgn="base">
              <a:spcBef>
                <a:spcPct val="0"/>
              </a:spcBef>
              <a:spcAft>
                <a:spcPct val="0"/>
              </a:spcAft>
              <a:defRPr/>
            </a:pPr>
            <a:fld id="{11E55663-CA7D-4F2A-BBF8-A31285F3B837}" type="slidenum">
              <a:rPr lang="en-US" altLang="zh-CN">
                <a:solidFill>
                  <a:srgbClr val="000000"/>
                </a:solidFill>
                <a:latin typeface="Arial" panose="020B0604020202020204" pitchFamily="34" charset="0"/>
                <a:cs typeface="Times New Roman" panose="02020603050405020304"/>
              </a:rPr>
            </a:fld>
            <a:endParaRPr lang="en-US" altLang="zh-CN">
              <a:solidFill>
                <a:srgbClr val="000000"/>
              </a:solidFill>
              <a:latin typeface="Arial" panose="020B0604020202020204" pitchFamily="34" charset="0"/>
              <a:cs typeface="Times New Roman" panose="02020603050405020304"/>
            </a:endParaRPr>
          </a:p>
        </p:txBody>
      </p:sp>
      <p:sp>
        <p:nvSpPr>
          <p:cNvPr id="3" name="内容占位符 2"/>
          <p:cNvSpPr>
            <a:spLocks noGrp="1"/>
          </p:cNvSpPr>
          <p:nvPr>
            <p:ph idx="1"/>
          </p:nvPr>
        </p:nvSpPr>
        <p:spPr>
          <a:xfrm>
            <a:off x="695859" y="1340116"/>
            <a:ext cx="5316982" cy="3798640"/>
          </a:xfrm>
        </p:spPr>
        <p:txBody>
          <a:bodyPr/>
          <a:lstStyle/>
          <a:p>
            <a:r>
              <a:rPr lang="zh-CN" altLang="zh-CN" sz="2800" dirty="0"/>
              <a:t>中断向量在中断向量表中的存放首地址称为向量地址，其值为：中断类型码×</a:t>
            </a:r>
            <a:r>
              <a:rPr lang="en-US" altLang="zh-CN" sz="2800" dirty="0"/>
              <a:t>4</a:t>
            </a:r>
            <a:r>
              <a:rPr lang="zh-CN" altLang="zh-CN" sz="2800" dirty="0"/>
              <a:t>。</a:t>
            </a:r>
            <a:endParaRPr lang="en-US" altLang="zh-CN" sz="2800" dirty="0"/>
          </a:p>
          <a:p>
            <a:pPr marL="0" indent="0">
              <a:buNone/>
            </a:pPr>
            <a:r>
              <a:rPr lang="zh-CN" altLang="zh-CN" sz="2800" dirty="0"/>
              <a:t>如</a:t>
            </a:r>
            <a:r>
              <a:rPr lang="en-US" altLang="zh-CN" sz="2800" dirty="0"/>
              <a:t>DOS</a:t>
            </a:r>
            <a:r>
              <a:rPr lang="zh-CN" altLang="zh-CN" sz="2800" dirty="0"/>
              <a:t>系统功能调用的中断类型号为</a:t>
            </a:r>
            <a:r>
              <a:rPr lang="en-US" altLang="zh-CN" sz="2800" dirty="0"/>
              <a:t>21H</a:t>
            </a:r>
            <a:r>
              <a:rPr lang="zh-CN" altLang="zh-CN" sz="2800" dirty="0"/>
              <a:t>，向量地址为：</a:t>
            </a:r>
            <a:r>
              <a:rPr lang="en-US" altLang="zh-CN" sz="2800" dirty="0"/>
              <a:t>  n×4=84H</a:t>
            </a:r>
            <a:r>
              <a:rPr lang="zh-CN" altLang="zh-CN" sz="2800" dirty="0"/>
              <a:t>。</a:t>
            </a:r>
            <a:endParaRPr lang="en-US" altLang="zh-CN" sz="2800" dirty="0"/>
          </a:p>
          <a:p>
            <a:pPr marL="0" indent="0">
              <a:buNone/>
            </a:pPr>
            <a:endParaRPr lang="zh-CN" altLang="zh-CN" sz="2000" dirty="0"/>
          </a:p>
          <a:p>
            <a:pPr marL="0" indent="0">
              <a:buNone/>
            </a:pPr>
            <a:endParaRPr lang="zh-CN" altLang="zh-CN" sz="2000" dirty="0"/>
          </a:p>
          <a:p>
            <a:pPr marL="0" indent="0">
              <a:buNone/>
            </a:pPr>
            <a:endParaRPr lang="zh-CN" altLang="en-US" sz="2000" dirty="0"/>
          </a:p>
        </p:txBody>
      </p:sp>
      <p:pic>
        <p:nvPicPr>
          <p:cNvPr id="8" name="Picture 1127" descr="中断向量表"/>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668037" y="474518"/>
            <a:ext cx="3888433" cy="5529837"/>
          </a:xfrm>
          <a:prstGeom prst="rect">
            <a:avLst/>
          </a:prstGeom>
          <a:noFill/>
          <a:ln w="28575">
            <a:solidFill>
              <a:srgbClr val="00B0F0"/>
            </a:solidFill>
            <a:miter lim="800000"/>
            <a:headEnd/>
            <a:tailEnd/>
          </a:ln>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pPr>
              <a:defRPr/>
            </a:pPr>
            <a:fld id="{2DA54609-7458-4D65-B266-B5E1A393BCB6}" type="datetime10">
              <a:rPr lang="zh-CN" altLang="en-US" smtClean="0"/>
            </a:fld>
            <a:endParaRPr lang="en-US" altLang="zh-CN"/>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914400" fontAlgn="base">
              <a:spcBef>
                <a:spcPct val="0"/>
              </a:spcBef>
              <a:spcAft>
                <a:spcPct val="0"/>
              </a:spcAft>
              <a:defRPr/>
            </a:pPr>
            <a:fld id="{11E55663-CA7D-4F2A-BBF8-A31285F3B837}" type="slidenum">
              <a:rPr lang="en-US" altLang="zh-CN">
                <a:solidFill>
                  <a:srgbClr val="000000"/>
                </a:solidFill>
                <a:latin typeface="Arial" panose="020B0604020202020204" pitchFamily="34" charset="0"/>
                <a:cs typeface="Times New Roman" panose="02020603050405020304"/>
              </a:rPr>
            </a:fld>
            <a:endParaRPr lang="en-US" altLang="zh-CN">
              <a:solidFill>
                <a:srgbClr val="000000"/>
              </a:solidFill>
              <a:latin typeface="Arial" panose="020B0604020202020204" pitchFamily="34" charset="0"/>
              <a:cs typeface="Times New Roman" panose="02020603050405020304"/>
            </a:endParaRPr>
          </a:p>
        </p:txBody>
      </p:sp>
      <p:sp>
        <p:nvSpPr>
          <p:cNvPr id="3" name="内容占位符 2"/>
          <p:cNvSpPr>
            <a:spLocks noGrp="1"/>
          </p:cNvSpPr>
          <p:nvPr>
            <p:ph idx="1"/>
          </p:nvPr>
        </p:nvSpPr>
        <p:spPr>
          <a:xfrm>
            <a:off x="1512661" y="2064884"/>
            <a:ext cx="9166678" cy="3869662"/>
          </a:xfrm>
        </p:spPr>
        <p:txBody>
          <a:bodyPr/>
          <a:lstStyle/>
          <a:p>
            <a:r>
              <a:rPr lang="zh-CN" altLang="zh-CN" sz="2800" dirty="0"/>
              <a:t>当</a:t>
            </a:r>
            <a:r>
              <a:rPr lang="en-US" altLang="zh-CN" sz="2800" dirty="0"/>
              <a:t>CPU</a:t>
            </a:r>
            <a:r>
              <a:rPr lang="zh-CN" altLang="zh-CN" sz="2800" dirty="0"/>
              <a:t>调用中断类型码为</a:t>
            </a:r>
            <a:r>
              <a:rPr lang="en-US" altLang="zh-CN" sz="2800" dirty="0"/>
              <a:t>n</a:t>
            </a:r>
            <a:r>
              <a:rPr lang="zh-CN" altLang="zh-CN" sz="2800" dirty="0"/>
              <a:t>的中断服务程序时，首先把</a:t>
            </a:r>
            <a:r>
              <a:rPr lang="en-US" altLang="zh-CN" sz="2800" dirty="0"/>
              <a:t>n</a:t>
            </a:r>
            <a:r>
              <a:rPr lang="zh-CN" altLang="zh-CN" sz="2800" dirty="0"/>
              <a:t>乘以</a:t>
            </a:r>
            <a:r>
              <a:rPr lang="en-US" altLang="zh-CN" sz="2800" dirty="0"/>
              <a:t>4</a:t>
            </a:r>
            <a:r>
              <a:rPr lang="zh-CN" altLang="zh-CN" sz="2800" dirty="0"/>
              <a:t>，得到它的向量地址</a:t>
            </a:r>
            <a:r>
              <a:rPr lang="en-US" altLang="zh-CN" sz="2800" dirty="0"/>
              <a:t>4n</a:t>
            </a:r>
            <a:r>
              <a:rPr lang="zh-CN" altLang="zh-CN" sz="2800" dirty="0"/>
              <a:t>，然后把</a:t>
            </a:r>
            <a:r>
              <a:rPr lang="en-US" altLang="zh-CN" sz="2800" dirty="0"/>
              <a:t>4n+1:4n</a:t>
            </a:r>
            <a:r>
              <a:rPr lang="zh-CN" altLang="zh-CN" sz="2800" dirty="0"/>
              <a:t>两个单元的内容取出并装入</a:t>
            </a:r>
            <a:r>
              <a:rPr lang="en-US" altLang="zh-CN" sz="2800" dirty="0"/>
              <a:t>IP</a:t>
            </a:r>
            <a:r>
              <a:rPr lang="zh-CN" altLang="zh-CN" sz="2800" dirty="0"/>
              <a:t>寄存器；再把（</a:t>
            </a:r>
            <a:r>
              <a:rPr lang="en-US" altLang="zh-CN" sz="2800" dirty="0"/>
              <a:t>4n+3</a:t>
            </a:r>
            <a:r>
              <a:rPr lang="zh-CN" altLang="zh-CN" sz="2800" dirty="0"/>
              <a:t>：</a:t>
            </a:r>
            <a:r>
              <a:rPr lang="en-US" altLang="zh-CN" sz="2800" dirty="0"/>
              <a:t>4n+2</a:t>
            </a:r>
            <a:r>
              <a:rPr lang="zh-CN" altLang="zh-CN" sz="2800" dirty="0"/>
              <a:t>）两个单元的内容取出并装入</a:t>
            </a:r>
            <a:r>
              <a:rPr lang="en-US" altLang="zh-CN" sz="2800" dirty="0"/>
              <a:t>CS</a:t>
            </a:r>
            <a:r>
              <a:rPr lang="zh-CN" altLang="zh-CN" sz="2800" dirty="0"/>
              <a:t>寄存器，</a:t>
            </a:r>
            <a:r>
              <a:rPr lang="en-US" altLang="zh-CN" sz="2800" dirty="0"/>
              <a:t>CPU</a:t>
            </a:r>
            <a:r>
              <a:rPr lang="zh-CN" altLang="zh-CN" sz="2800" dirty="0"/>
              <a:t>就获得了</a:t>
            </a:r>
            <a:r>
              <a:rPr lang="en-US" altLang="zh-CN" sz="2800" dirty="0"/>
              <a:t>n</a:t>
            </a:r>
            <a:r>
              <a:rPr lang="zh-CN" altLang="zh-CN" sz="2800" dirty="0"/>
              <a:t>的中断服务程序的入口地址，进而转去执行中断服务程序。</a:t>
            </a:r>
            <a:endParaRPr lang="zh-CN" altLang="zh-CN" sz="2800" dirty="0"/>
          </a:p>
          <a:p>
            <a:endParaRPr lang="zh-CN" altLang="en-US" sz="2000" dirty="0"/>
          </a:p>
        </p:txBody>
      </p:sp>
      <p:sp>
        <p:nvSpPr>
          <p:cNvPr id="2" name="日期占位符 1"/>
          <p:cNvSpPr>
            <a:spLocks noGrp="1"/>
          </p:cNvSpPr>
          <p:nvPr>
            <p:ph type="dt" sz="half" idx="10"/>
          </p:nvPr>
        </p:nvSpPr>
        <p:spPr/>
        <p:txBody>
          <a:bodyPr/>
          <a:lstStyle/>
          <a:p>
            <a:pPr>
              <a:defRPr/>
            </a:pPr>
            <a:fld id="{27D6256A-AF62-49DB-8A2B-4581D4E5EC74}" type="datetime10">
              <a:rPr lang="zh-CN" altLang="en-US" smtClean="0"/>
            </a:fld>
            <a:endParaRPr lang="en-US" altLang="zh-CN"/>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defTabSz="914400" fontAlgn="base">
              <a:spcBef>
                <a:spcPct val="0"/>
              </a:spcBef>
              <a:spcAft>
                <a:spcPct val="0"/>
              </a:spcAft>
              <a:defRPr/>
            </a:pPr>
            <a:fld id="{FA3B0ADD-A917-4F87-B2CA-1EB4674E2223}" type="slidenum">
              <a:rPr lang="en-US" altLang="zh-CN">
                <a:solidFill>
                  <a:srgbClr val="000000"/>
                </a:solidFill>
                <a:latin typeface="Arial" panose="020B0604020202020204" pitchFamily="34" charset="0"/>
                <a:cs typeface="Times New Roman" panose="02020603050405020304"/>
              </a:rPr>
            </a:fld>
            <a:endParaRPr lang="en-US" altLang="zh-CN" dirty="0">
              <a:solidFill>
                <a:srgbClr val="000000"/>
              </a:solidFill>
              <a:latin typeface="Arial" panose="020B0604020202020204" pitchFamily="34" charset="0"/>
              <a:cs typeface="Times New Roman" panose="02020603050405020304"/>
            </a:endParaRPr>
          </a:p>
        </p:txBody>
      </p:sp>
      <p:sp>
        <p:nvSpPr>
          <p:cNvPr id="4" name="内容占位符 3"/>
          <p:cNvSpPr>
            <a:spLocks noGrp="1"/>
          </p:cNvSpPr>
          <p:nvPr>
            <p:ph idx="1"/>
          </p:nvPr>
        </p:nvSpPr>
        <p:spPr>
          <a:xfrm>
            <a:off x="1391418" y="767668"/>
            <a:ext cx="8352928" cy="3849933"/>
          </a:xfrm>
        </p:spPr>
        <p:txBody>
          <a:bodyPr>
            <a:normAutofit/>
          </a:bodyPr>
          <a:lstStyle/>
          <a:p>
            <a:pPr marL="0" indent="0">
              <a:buNone/>
            </a:pPr>
            <a:r>
              <a:rPr lang="zh-CN" altLang="zh-CN" sz="2800" dirty="0"/>
              <a:t>【例】 假设中断向量表部分内容如图所示。中断类型号为</a:t>
            </a:r>
            <a:r>
              <a:rPr lang="en-US" altLang="zh-CN" sz="2800" dirty="0"/>
              <a:t>20H</a:t>
            </a:r>
            <a:r>
              <a:rPr lang="zh-CN" altLang="zh-CN" sz="2800" dirty="0"/>
              <a:t>的向量地址为</a:t>
            </a:r>
            <a:r>
              <a:rPr lang="en-US" altLang="zh-CN" sz="2800" dirty="0"/>
              <a:t>20H</a:t>
            </a:r>
            <a:r>
              <a:rPr lang="zh-CN" altLang="zh-CN" sz="2800" dirty="0"/>
              <a:t>×</a:t>
            </a:r>
            <a:r>
              <a:rPr lang="en-US" altLang="zh-CN" sz="2800" dirty="0"/>
              <a:t>4</a:t>
            </a:r>
            <a:r>
              <a:rPr lang="zh-CN" altLang="zh-CN" sz="2800" dirty="0"/>
              <a:t>＝</a:t>
            </a:r>
            <a:r>
              <a:rPr lang="en-US" altLang="zh-CN" sz="2800" dirty="0"/>
              <a:t>80H</a:t>
            </a:r>
            <a:r>
              <a:rPr lang="zh-CN" altLang="zh-CN" sz="2800" dirty="0"/>
              <a:t>。该中断的中断服务程序的入口地址为：</a:t>
            </a:r>
            <a:endParaRPr lang="zh-CN" altLang="zh-CN" sz="2800" dirty="0"/>
          </a:p>
          <a:p>
            <a:r>
              <a:rPr lang="en-US" altLang="zh-CN" sz="2800" dirty="0"/>
              <a:t>CS:IP =4000H:2010H</a:t>
            </a:r>
            <a:r>
              <a:rPr lang="zh-CN" altLang="zh-CN" sz="2800" dirty="0"/>
              <a:t>。</a:t>
            </a:r>
            <a:endParaRPr lang="zh-CN" altLang="en-US" sz="2800" dirty="0"/>
          </a:p>
        </p:txBody>
      </p:sp>
      <p:grpSp>
        <p:nvGrpSpPr>
          <p:cNvPr id="6" name="组合 5"/>
          <p:cNvGrpSpPr/>
          <p:nvPr/>
        </p:nvGrpSpPr>
        <p:grpSpPr>
          <a:xfrm>
            <a:off x="5924064" y="2163585"/>
            <a:ext cx="4074949" cy="3446516"/>
            <a:chOff x="0" y="0"/>
            <a:chExt cx="1443873" cy="1196796"/>
          </a:xfrm>
        </p:grpSpPr>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8636" y="0"/>
              <a:ext cx="1210614" cy="914400"/>
            </a:xfrm>
            <a:prstGeom prst="rect">
              <a:avLst/>
            </a:prstGeom>
            <a:noFill/>
            <a:ln>
              <a:noFill/>
            </a:ln>
          </p:spPr>
        </p:pic>
        <p:sp>
          <p:nvSpPr>
            <p:cNvPr id="8" name="Text Box 1164"/>
            <p:cNvSpPr txBox="1">
              <a:spLocks noChangeArrowheads="1"/>
            </p:cNvSpPr>
            <p:nvPr/>
          </p:nvSpPr>
          <p:spPr bwMode="auto">
            <a:xfrm>
              <a:off x="0" y="901521"/>
              <a:ext cx="1443873"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ctr" defTabSz="914400" fontAlgn="base">
                <a:lnSpc>
                  <a:spcPts val="1500"/>
                </a:lnSpc>
                <a:spcBef>
                  <a:spcPct val="0"/>
                </a:spcBef>
                <a:spcAft>
                  <a:spcPts val="600"/>
                </a:spcAft>
              </a:pPr>
              <a:r>
                <a:rPr lang="zh-CN" altLang="en-US" sz="1400" kern="500" dirty="0">
                  <a:solidFill>
                    <a:srgbClr val="000000"/>
                  </a:solidFill>
                  <a:latin typeface="Times New Roman" panose="02020603050405020304"/>
                  <a:ea typeface="宋体" panose="02010600030101010101" pitchFamily="2" charset="-122"/>
                  <a:cs typeface="宋体" panose="02010600030101010101" pitchFamily="2" charset="-122"/>
                </a:rPr>
                <a:t>图</a:t>
              </a:r>
              <a:r>
                <a:rPr lang="en-US" sz="1400" kern="500" dirty="0">
                  <a:solidFill>
                    <a:srgbClr val="000000"/>
                  </a:solidFill>
                  <a:latin typeface="Times New Roman" panose="02020603050405020304"/>
                  <a:ea typeface="宋体" panose="02010600030101010101" pitchFamily="2" charset="-122"/>
                  <a:cs typeface="宋体" panose="02010600030101010101" pitchFamily="2" charset="-122"/>
                </a:rPr>
                <a:t>1 </a:t>
              </a:r>
              <a:r>
                <a:rPr lang="zh-CN" altLang="en-US" sz="1400" kern="500" dirty="0">
                  <a:solidFill>
                    <a:srgbClr val="000000"/>
                  </a:solidFill>
                  <a:latin typeface="Times New Roman" panose="02020603050405020304"/>
                  <a:ea typeface="宋体" panose="02010600030101010101" pitchFamily="2" charset="-122"/>
                  <a:cs typeface="宋体" panose="02010600030101010101" pitchFamily="2" charset="-122"/>
                </a:rPr>
                <a:t>中断向量事例</a:t>
              </a:r>
              <a:endParaRPr lang="zh-CN" altLang="en-US" sz="1400" kern="500" dirty="0">
                <a:solidFill>
                  <a:srgbClr val="000000"/>
                </a:solidFill>
                <a:latin typeface="Times New Roman" panose="02020603050405020304"/>
                <a:ea typeface="宋体" panose="02010600030101010101" pitchFamily="2" charset="-122"/>
                <a:cs typeface="宋体" panose="02010600030101010101" pitchFamily="2" charset="-122"/>
              </a:endParaRPr>
            </a:p>
          </p:txBody>
        </p:sp>
      </p:grpSp>
      <p:sp>
        <p:nvSpPr>
          <p:cNvPr id="2" name="日期占位符 1"/>
          <p:cNvSpPr>
            <a:spLocks noGrp="1"/>
          </p:cNvSpPr>
          <p:nvPr>
            <p:ph type="dt" sz="half" idx="10"/>
          </p:nvPr>
        </p:nvSpPr>
        <p:spPr/>
        <p:txBody>
          <a:bodyPr/>
          <a:lstStyle/>
          <a:p>
            <a:pPr>
              <a:defRPr/>
            </a:pPr>
            <a:fld id="{C90F3148-3022-4E59-A3F0-68984BE2D284}" type="datetime10">
              <a:rPr lang="zh-CN" altLang="en-US" smtClean="0"/>
            </a:fld>
            <a:endParaRPr lang="en-US" altLang="zh-CN"/>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8259A</a:t>
            </a:r>
            <a:r>
              <a:rPr lang="zh-CN" altLang="en-US" dirty="0" smtClean="0"/>
              <a:t>概述</a:t>
            </a:r>
            <a:endParaRPr lang="zh-CN" altLang="en-US" dirty="0"/>
          </a:p>
        </p:txBody>
      </p:sp>
      <p:sp>
        <p:nvSpPr>
          <p:cNvPr id="3" name="内容占位符 2"/>
          <p:cNvSpPr>
            <a:spLocks noGrp="1"/>
          </p:cNvSpPr>
          <p:nvPr>
            <p:ph idx="1"/>
          </p:nvPr>
        </p:nvSpPr>
        <p:spPr/>
        <p:txBody>
          <a:bodyPr>
            <a:normAutofit/>
          </a:bodyPr>
          <a:lstStyle/>
          <a:p>
            <a:r>
              <a:rPr lang="en-US" altLang="zh-CN" dirty="0"/>
              <a:t>Intel 8259A </a:t>
            </a:r>
            <a:r>
              <a:rPr lang="zh-CN" altLang="en-US" dirty="0"/>
              <a:t>是</a:t>
            </a:r>
            <a:r>
              <a:rPr lang="en-US" altLang="zh-CN" dirty="0"/>
              <a:t>8</a:t>
            </a:r>
            <a:r>
              <a:rPr lang="zh-CN" altLang="en-US" dirty="0"/>
              <a:t>位可编程的中断控制器。它具有</a:t>
            </a:r>
            <a:r>
              <a:rPr lang="en-US" altLang="zh-CN" dirty="0"/>
              <a:t>8 </a:t>
            </a:r>
            <a:r>
              <a:rPr lang="zh-CN" altLang="en-US" dirty="0"/>
              <a:t>级优先权控制，多片</a:t>
            </a:r>
            <a:r>
              <a:rPr lang="en-US" altLang="zh-CN" dirty="0"/>
              <a:t>8259A</a:t>
            </a:r>
            <a:r>
              <a:rPr lang="zh-CN" altLang="en-US" dirty="0"/>
              <a:t>通过级联还可扩展至对</a:t>
            </a:r>
            <a:r>
              <a:rPr lang="en-US" altLang="zh-CN" dirty="0"/>
              <a:t>64</a:t>
            </a:r>
            <a:r>
              <a:rPr lang="zh-CN" altLang="en-US" dirty="0"/>
              <a:t>个中断源实现优先级控制。</a:t>
            </a:r>
            <a:endParaRPr lang="zh-CN" altLang="en-US" dirty="0"/>
          </a:p>
          <a:p>
            <a:r>
              <a:rPr lang="en-US" altLang="zh-CN" dirty="0"/>
              <a:t>8259A</a:t>
            </a:r>
            <a:r>
              <a:rPr lang="zh-CN" altLang="en-US" dirty="0"/>
              <a:t>可以根据不同的中断源向</a:t>
            </a:r>
            <a:r>
              <a:rPr lang="en-US" altLang="zh-CN" dirty="0"/>
              <a:t>CPU</a:t>
            </a:r>
            <a:r>
              <a:rPr lang="zh-CN" altLang="en-US" dirty="0"/>
              <a:t>提供不同的中断类型码，还可根据需要对中断源进行中断屏蔽。</a:t>
            </a:r>
            <a:endParaRPr lang="zh-CN" altLang="en-US" dirty="0"/>
          </a:p>
          <a:p>
            <a:r>
              <a:rPr lang="en-US" altLang="zh-CN" dirty="0"/>
              <a:t>8259A</a:t>
            </a:r>
            <a:r>
              <a:rPr lang="zh-CN" altLang="en-US" dirty="0"/>
              <a:t>有多种工作方式，可以通过编程来选择，以适应不同的应用场合。</a:t>
            </a:r>
            <a:endParaRPr lang="zh-CN" alt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的编程</a:t>
            </a:r>
            <a:endParaRPr lang="zh-CN" altLang="en-US" dirty="0"/>
          </a:p>
        </p:txBody>
      </p:sp>
      <p:sp>
        <p:nvSpPr>
          <p:cNvPr id="3" name="内容占位符 2"/>
          <p:cNvSpPr>
            <a:spLocks noGrp="1"/>
          </p:cNvSpPr>
          <p:nvPr>
            <p:ph idx="1"/>
          </p:nvPr>
        </p:nvSpPr>
        <p:spPr/>
        <p:txBody>
          <a:bodyPr/>
          <a:lstStyle/>
          <a:p>
            <a:pPr>
              <a:lnSpc>
                <a:spcPct val="80000"/>
              </a:lnSpc>
            </a:pPr>
            <a:r>
              <a:rPr lang="zh-CN" altLang="zh-CN" sz="2800" dirty="0"/>
              <a:t>8259A是可编程中断控制器，在它工作之前，必须通过软件向其写入控制命令的方法来确定其工作状态，这就是8259A的编程。</a:t>
            </a:r>
            <a:endParaRPr lang="zh-CN" altLang="zh-CN" sz="2800" dirty="0"/>
          </a:p>
          <a:p>
            <a:pPr>
              <a:lnSpc>
                <a:spcPct val="80000"/>
              </a:lnSpc>
            </a:pPr>
            <a:r>
              <a:rPr lang="zh-CN" altLang="zh-CN" sz="2800" dirty="0"/>
              <a:t>控制命令分为：</a:t>
            </a:r>
            <a:endParaRPr lang="zh-CN" altLang="zh-CN" sz="2800" dirty="0"/>
          </a:p>
          <a:p>
            <a:pPr lvl="1">
              <a:lnSpc>
                <a:spcPct val="80000"/>
              </a:lnSpc>
            </a:pPr>
            <a:r>
              <a:rPr lang="zh-CN" altLang="zh-CN" sz="2800" dirty="0">
                <a:solidFill>
                  <a:schemeClr val="hlink"/>
                </a:solidFill>
              </a:rPr>
              <a:t>初始化命令字</a:t>
            </a:r>
            <a:r>
              <a:rPr lang="zh-CN" altLang="zh-CN" sz="2800" dirty="0"/>
              <a:t>(ICW) </a:t>
            </a:r>
            <a:endParaRPr lang="zh-CN" altLang="zh-CN" sz="2800" dirty="0"/>
          </a:p>
          <a:p>
            <a:pPr lvl="1">
              <a:lnSpc>
                <a:spcPct val="80000"/>
              </a:lnSpc>
            </a:pPr>
            <a:r>
              <a:rPr lang="zh-CN" altLang="zh-CN" sz="2800" dirty="0">
                <a:solidFill>
                  <a:schemeClr val="hlink"/>
                </a:solidFill>
              </a:rPr>
              <a:t>操作命令字</a:t>
            </a:r>
            <a:r>
              <a:rPr lang="zh-CN" altLang="zh-CN" sz="2800" dirty="0"/>
              <a:t>(OCW)</a:t>
            </a:r>
            <a:endParaRPr lang="zh-CN" altLang="zh-CN" sz="2800" dirty="0"/>
          </a:p>
          <a:p>
            <a:pPr>
              <a:lnSpc>
                <a:spcPct val="80000"/>
              </a:lnSpc>
            </a:pPr>
            <a:r>
              <a:rPr lang="zh-CN" altLang="zh-CN" sz="2800" dirty="0"/>
              <a:t>8259A的编程分为初始化编程和操作方式编程</a:t>
            </a:r>
            <a:endParaRPr lang="zh-CN" altLang="en-US" dirty="0"/>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b="13383"/>
          <a:stretch>
            <a:fillRect/>
          </a:stretch>
        </p:blipFill>
        <p:spPr bwMode="auto">
          <a:xfrm>
            <a:off x="5274763" y="478032"/>
            <a:ext cx="2737124" cy="6206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1101909" y="2505892"/>
            <a:ext cx="3078206" cy="2246769"/>
          </a:xfrm>
          <a:prstGeom prst="rect">
            <a:avLst/>
          </a:prstGeom>
          <a:noFill/>
        </p:spPr>
        <p:txBody>
          <a:bodyPr wrap="square">
            <a:spAutoFit/>
          </a:bodyPr>
          <a:lstStyle/>
          <a:p>
            <a:pPr algn="l"/>
            <a:endParaRPr lang="zh-CN" altLang="en-US" sz="2800" b="0" i="0" u="none" strike="noStrike" baseline="0" dirty="0">
              <a:solidFill>
                <a:srgbClr val="000000"/>
              </a:solidFill>
              <a:latin typeface="Wingdings" panose="05000000000000000000" pitchFamily="2" charset="2"/>
            </a:endParaRPr>
          </a:p>
          <a:p>
            <a:r>
              <a:rPr lang="zh-CN" altLang="en-US" sz="2800" b="0" i="0" u="none" strike="noStrike" baseline="0" dirty="0">
                <a:solidFill>
                  <a:srgbClr val="000000"/>
                </a:solidFill>
                <a:latin typeface="黑体" panose="02010609060101010101" pitchFamily="49" charset="-122"/>
                <a:ea typeface="黑体" panose="02010609060101010101" pitchFamily="49" charset="-122"/>
              </a:rPr>
              <a:t>初始化编程流程。</a:t>
            </a:r>
            <a:endParaRPr lang="en-US" altLang="zh-CN" sz="2800" b="0" i="0" u="none" strike="noStrike" baseline="0" dirty="0">
              <a:solidFill>
                <a:srgbClr val="000000"/>
              </a:solidFill>
              <a:latin typeface="黑体" panose="02010609060101010101" pitchFamily="49" charset="-122"/>
              <a:ea typeface="黑体" panose="02010609060101010101" pitchFamily="49" charset="-122"/>
            </a:endParaRPr>
          </a:p>
          <a:p>
            <a:endParaRPr lang="zh-CN" altLang="en-US" sz="2800" b="0" i="0" u="none" strike="noStrike" baseline="0" dirty="0">
              <a:solidFill>
                <a:srgbClr val="000000"/>
              </a:solidFill>
              <a:latin typeface="黑体" panose="02010609060101010101" pitchFamily="49" charset="-122"/>
              <a:ea typeface="黑体" panose="02010609060101010101" pitchFamily="49" charset="-122"/>
            </a:endParaRPr>
          </a:p>
          <a:p>
            <a:r>
              <a:rPr lang="zh-CN" altLang="en-US" sz="2800" b="0" i="0" u="none" strike="noStrike" baseline="0" dirty="0">
                <a:solidFill>
                  <a:srgbClr val="000000"/>
                </a:solidFill>
                <a:latin typeface="黑体" panose="02010609060101010101" pitchFamily="49" charset="-122"/>
                <a:ea typeface="黑体" panose="02010609060101010101" pitchFamily="49" charset="-122"/>
              </a:rPr>
              <a:t>初始化命令字有严格的写入顺序。</a:t>
            </a:r>
            <a:endParaRPr lang="zh-CN" altLang="en-US" sz="2800" b="0" i="0" u="none" strike="noStrike" baseline="0"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初始化编程</a:t>
            </a:r>
            <a:endParaRPr lang="zh-CN" altLang="en-US" dirty="0"/>
          </a:p>
        </p:txBody>
      </p:sp>
      <p:sp>
        <p:nvSpPr>
          <p:cNvPr id="3" name="内容占位符 2"/>
          <p:cNvSpPr>
            <a:spLocks noGrp="1"/>
          </p:cNvSpPr>
          <p:nvPr>
            <p:ph idx="1"/>
          </p:nvPr>
        </p:nvSpPr>
        <p:spPr>
          <a:xfrm>
            <a:off x="838200" y="1825625"/>
            <a:ext cx="10515600" cy="2511244"/>
          </a:xfrm>
        </p:spPr>
        <p:txBody>
          <a:bodyPr/>
          <a:lstStyle/>
          <a:p>
            <a:pPr>
              <a:lnSpc>
                <a:spcPct val="100000"/>
              </a:lnSpc>
            </a:pPr>
            <a:r>
              <a:rPr lang="zh-CN" altLang="en-US" dirty="0"/>
              <a:t>初始化命令字</a:t>
            </a:r>
            <a:r>
              <a:rPr lang="en-US" altLang="zh-CN" dirty="0"/>
              <a:t>ICW2</a:t>
            </a:r>
            <a:endParaRPr lang="en-US" altLang="zh-CN" dirty="0"/>
          </a:p>
          <a:p>
            <a:pPr>
              <a:lnSpc>
                <a:spcPct val="100000"/>
              </a:lnSpc>
            </a:pPr>
            <a:r>
              <a:rPr kumimoji="0" lang="zh-CN"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ICW</a:t>
            </a:r>
            <a:r>
              <a:rPr kumimoji="0" lang="en-US" altLang="zh-CN" sz="2800" b="0" i="0" u="none" strike="noStrike" kern="1200" cap="none" spc="0" normalizeH="0" baseline="-25000" noProof="0" dirty="0">
                <a:ln>
                  <a:noFill/>
                </a:ln>
                <a:solidFill>
                  <a:prstClr val="black"/>
                </a:solidFill>
                <a:effectLst/>
                <a:uLnTx/>
                <a:uFillTx/>
                <a:latin typeface="黑体" panose="02010609060101010101" pitchFamily="49" charset="-122"/>
                <a:ea typeface="黑体" panose="02010609060101010101" pitchFamily="49" charset="-122"/>
                <a:cs typeface="+mn-cs"/>
              </a:rPr>
              <a:t>2</a:t>
            </a:r>
            <a:r>
              <a:rPr lang="zh-CN" altLang="en-US" dirty="0"/>
              <a:t>应写入奇地址中。</a:t>
            </a:r>
            <a:endParaRPr lang="zh-CN" altLang="en-US" dirty="0"/>
          </a:p>
          <a:p>
            <a:pPr>
              <a:lnSpc>
                <a:spcPct val="100000"/>
              </a:lnSpc>
            </a:pPr>
            <a:r>
              <a:rPr lang="zh-CN" altLang="en-US" dirty="0"/>
              <a:t>在</a:t>
            </a:r>
            <a:r>
              <a:rPr lang="en-US" altLang="zh-CN" dirty="0"/>
              <a:t>8086/8088</a:t>
            </a:r>
            <a:r>
              <a:rPr lang="zh-CN" altLang="en-US" dirty="0"/>
              <a:t>系统中，</a:t>
            </a:r>
            <a:r>
              <a:rPr lang="en-US" altLang="zh-CN" dirty="0"/>
              <a:t>8259A</a:t>
            </a:r>
            <a:r>
              <a:rPr lang="zh-CN" altLang="en-US" dirty="0"/>
              <a:t>在第二个中断响应周期，将向</a:t>
            </a:r>
            <a:r>
              <a:rPr lang="en-US" altLang="zh-CN" dirty="0"/>
              <a:t>CPU</a:t>
            </a:r>
            <a:r>
              <a:rPr lang="zh-CN" altLang="en-US" dirty="0"/>
              <a:t>输送中断向量码，其中的</a:t>
            </a:r>
            <a:r>
              <a:rPr kumimoji="0" lang="en-US"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T</a:t>
            </a:r>
            <a:r>
              <a:rPr kumimoji="0" lang="en-US" altLang="zh-CN" sz="2800" b="0" i="0" u="none" strike="noStrike" kern="1200" cap="none" spc="0" normalizeH="0" baseline="-25000" noProof="0" dirty="0">
                <a:ln>
                  <a:noFill/>
                </a:ln>
                <a:solidFill>
                  <a:prstClr val="black"/>
                </a:solidFill>
                <a:effectLst/>
                <a:uLnTx/>
                <a:uFillTx/>
                <a:latin typeface="黑体" panose="02010609060101010101" pitchFamily="49" charset="-122"/>
                <a:ea typeface="黑体" panose="02010609060101010101" pitchFamily="49" charset="-122"/>
                <a:cs typeface="+mn-cs"/>
              </a:rPr>
              <a:t>7 </a:t>
            </a:r>
            <a:r>
              <a:rPr lang="zh-CN" altLang="en-US" dirty="0"/>
              <a:t>～</a:t>
            </a:r>
            <a:r>
              <a:rPr lang="en-US" altLang="zh-CN" dirty="0"/>
              <a:t>T</a:t>
            </a:r>
            <a:r>
              <a:rPr lang="en-US" altLang="zh-CN" baseline="-25000" dirty="0">
                <a:solidFill>
                  <a:prstClr val="black"/>
                </a:solidFill>
              </a:rPr>
              <a:t>3</a:t>
            </a:r>
            <a:r>
              <a:rPr lang="zh-CN" altLang="en-US" dirty="0"/>
              <a:t>是由</a:t>
            </a:r>
            <a:r>
              <a:rPr kumimoji="0" lang="zh-CN"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ICW</a:t>
            </a:r>
            <a:r>
              <a:rPr kumimoji="0" lang="en-US" altLang="zh-CN" sz="2800" b="0" i="0" u="none" strike="noStrike" kern="1200" cap="none" spc="0" normalizeH="0" baseline="-25000" noProof="0" dirty="0">
                <a:ln>
                  <a:noFill/>
                </a:ln>
                <a:solidFill>
                  <a:prstClr val="black"/>
                </a:solidFill>
                <a:effectLst/>
                <a:uLnTx/>
                <a:uFillTx/>
                <a:latin typeface="黑体" panose="02010609060101010101" pitchFamily="49" charset="-122"/>
                <a:ea typeface="黑体" panose="02010609060101010101" pitchFamily="49" charset="-122"/>
                <a:cs typeface="+mn-cs"/>
              </a:rPr>
              <a:t>2</a:t>
            </a:r>
            <a:r>
              <a:rPr lang="zh-CN" altLang="en-US" dirty="0"/>
              <a:t>规定的，而低</a:t>
            </a:r>
            <a:r>
              <a:rPr lang="en-US" altLang="zh-CN" dirty="0"/>
              <a:t>3</a:t>
            </a:r>
            <a:r>
              <a:rPr lang="zh-CN" altLang="en-US" dirty="0"/>
              <a:t>位则由</a:t>
            </a:r>
            <a:r>
              <a:rPr lang="en-US" altLang="zh-CN" dirty="0"/>
              <a:t>8259A</a:t>
            </a:r>
            <a:r>
              <a:rPr lang="zh-CN" altLang="en-US" dirty="0"/>
              <a:t>自动插入。</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b="18217"/>
          <a:stretch>
            <a:fillRect/>
          </a:stretch>
        </p:blipFill>
        <p:spPr bwMode="auto">
          <a:xfrm>
            <a:off x="2737576" y="4471806"/>
            <a:ext cx="6552039" cy="1654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初始化编程</a:t>
            </a:r>
            <a:endParaRPr lang="zh-CN" altLang="en-US" dirty="0"/>
          </a:p>
        </p:txBody>
      </p:sp>
      <p:sp>
        <p:nvSpPr>
          <p:cNvPr id="3" name="内容占位符 2"/>
          <p:cNvSpPr>
            <a:spLocks noGrp="1"/>
          </p:cNvSpPr>
          <p:nvPr>
            <p:ph idx="1"/>
          </p:nvPr>
        </p:nvSpPr>
        <p:spPr>
          <a:xfrm>
            <a:off x="838200" y="1825625"/>
            <a:ext cx="10515600" cy="721632"/>
          </a:xfrm>
        </p:spPr>
        <p:txBody>
          <a:bodyPr/>
          <a:lstStyle/>
          <a:p>
            <a:r>
              <a:rPr lang="en-US" altLang="zh-CN" dirty="0"/>
              <a:t>8259A</a:t>
            </a:r>
            <a:r>
              <a:rPr lang="zh-CN" altLang="en-US" dirty="0"/>
              <a:t>的中断向量码</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t="9966"/>
          <a:stretch>
            <a:fillRect/>
          </a:stretch>
        </p:blipFill>
        <p:spPr bwMode="auto">
          <a:xfrm>
            <a:off x="1849392" y="2820942"/>
            <a:ext cx="7585075" cy="246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lvl="1"/>
            <a:r>
              <a:rPr lang="zh-CN" altLang="en-US" sz="2800" dirty="0" smtClean="0">
                <a:solidFill>
                  <a:srgbClr val="FF0000"/>
                </a:solidFill>
                <a:sym typeface="+mn-ea"/>
              </a:rPr>
              <a:t>指导书</a:t>
            </a:r>
            <a:r>
              <a:rPr lang="en-US" altLang="zh-CN" sz="2800" dirty="0" smtClean="0">
                <a:solidFill>
                  <a:srgbClr val="FF0000"/>
                </a:solidFill>
                <a:sym typeface="+mn-ea"/>
              </a:rPr>
              <a:t>  </a:t>
            </a:r>
            <a:r>
              <a:rPr lang="en-US" altLang="zh-CN" sz="2800" dirty="0" smtClean="0">
                <a:solidFill>
                  <a:srgbClr val="FF0000"/>
                </a:solidFill>
                <a:sym typeface="+mn-ea"/>
              </a:rPr>
              <a:t>1.6.1</a:t>
            </a:r>
            <a:r>
              <a:rPr lang="zh-CN" altLang="en-US" sz="2800" dirty="0" smtClean="0">
                <a:solidFill>
                  <a:srgbClr val="FF0000"/>
                </a:solidFill>
                <a:sym typeface="+mn-ea"/>
              </a:rPr>
              <a:t>例题</a:t>
            </a:r>
            <a:r>
              <a:rPr lang="en-US" altLang="zh-CN" sz="2800" dirty="0" smtClean="0">
                <a:solidFill>
                  <a:srgbClr val="FF0000"/>
                </a:solidFill>
                <a:sym typeface="+mn-ea"/>
              </a:rPr>
              <a:t>3</a:t>
            </a:r>
            <a:endParaRPr lang="zh-CN" altLang="en-US" sz="2800" dirty="0" smtClean="0">
              <a:solidFill>
                <a:srgbClr val="FF0000"/>
              </a:solidFill>
              <a:sym typeface="+mn-ea"/>
            </a:endParaRPr>
          </a:p>
          <a:p>
            <a:pPr marL="0" lvl="1"/>
            <a:r>
              <a:rPr lang="en-US" altLang="zh-CN" sz="2800" dirty="0" smtClean="0">
                <a:solidFill>
                  <a:srgbClr val="FF0000"/>
                </a:solidFill>
                <a:sym typeface="+mn-ea"/>
              </a:rPr>
              <a:t>1.6.2</a:t>
            </a:r>
            <a:r>
              <a:rPr lang="zh-CN" altLang="en-US" sz="2800" dirty="0" smtClean="0">
                <a:solidFill>
                  <a:srgbClr val="FF0000"/>
                </a:solidFill>
                <a:sym typeface="+mn-ea"/>
              </a:rPr>
              <a:t>习题  </a:t>
            </a:r>
            <a:r>
              <a:rPr lang="en-US" altLang="zh-CN" sz="2800" dirty="0" smtClean="0">
                <a:solidFill>
                  <a:srgbClr val="FF0000"/>
                </a:solidFill>
                <a:sym typeface="+mn-ea"/>
              </a:rPr>
              <a:t>5</a:t>
            </a:r>
            <a:r>
              <a:rPr lang="zh-CN" altLang="en-US" sz="2800" dirty="0" smtClean="0">
                <a:solidFill>
                  <a:srgbClr val="FF0000"/>
                </a:solidFill>
                <a:sym typeface="+mn-ea"/>
              </a:rPr>
              <a:t>  </a:t>
            </a:r>
            <a:endParaRPr lang="en-US" altLang="zh-CN" sz="2800" dirty="0" smtClean="0">
              <a:solidFill>
                <a:srgbClr val="FF0000"/>
              </a:solidFill>
            </a:endParaRPr>
          </a:p>
          <a:p>
            <a:endParaRPr lang="zh-CN" altLang="en-US"/>
          </a:p>
        </p:txBody>
      </p:sp>
      <p:sp>
        <p:nvSpPr>
          <p:cNvPr id="4" name="日期占位符 3"/>
          <p:cNvSpPr>
            <a:spLocks noGrp="1"/>
          </p:cNvSpPr>
          <p:nvPr>
            <p:ph type="dt" sz="half" idx="10"/>
          </p:nvPr>
        </p:nvSpPr>
        <p:spPr/>
        <p:txBody>
          <a:bodyPr/>
          <a:p>
            <a:pPr>
              <a:defRPr/>
            </a:pPr>
            <a:fld id="{8CA3637B-B2FB-46AE-8905-94B5A5178E86}" type="datetime10">
              <a:rPr lang="zh-CN" altLang="en-US" smtClean="0"/>
            </a:fld>
            <a:endParaRPr lang="en-US" altLang="zh-CN"/>
          </a:p>
        </p:txBody>
      </p:sp>
      <p:sp>
        <p:nvSpPr>
          <p:cNvPr id="5" name="灯片编号占位符 4"/>
          <p:cNvSpPr>
            <a:spLocks noGrp="1"/>
          </p:cNvSpPr>
          <p:nvPr>
            <p:ph type="sldNum" sz="quarter" idx="12"/>
          </p:nvPr>
        </p:nvSpPr>
        <p:spPr/>
        <p:txBody>
          <a:bodyPr/>
          <a:p>
            <a:pPr>
              <a:defRPr/>
            </a:pPr>
            <a:fld id="{8F4C0CD6-327D-499A-9754-0F1E4D84582B}" type="slidenum">
              <a:rPr lang="en-US" altLang="zh-CN"/>
            </a:fld>
            <a:endParaRPr lang="en-US" altLang="zh-C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a:t>
            </a:r>
            <a:r>
              <a:rPr lang="zh-CN" altLang="zh-CN" dirty="0" smtClean="0"/>
              <a:t>7</a:t>
            </a:r>
            <a:r>
              <a:rPr lang="zh-CN" altLang="en-US" dirty="0" smtClean="0"/>
              <a:t>章</a:t>
            </a:r>
            <a:r>
              <a:rPr lang="en-US" altLang="zh-CN" dirty="0" smtClean="0"/>
              <a:t> </a:t>
            </a:r>
            <a:r>
              <a:rPr lang="zh-CN" altLang="zh-CN" dirty="0" smtClean="0"/>
              <a:t>可编程</a:t>
            </a:r>
            <a:r>
              <a:rPr lang="zh-CN" altLang="zh-CN" dirty="0"/>
              <a:t>并行接口8255A</a:t>
            </a:r>
            <a:endParaRPr lang="zh-CN" altLang="en-US" dirty="0"/>
          </a:p>
        </p:txBody>
      </p:sp>
      <p:sp>
        <p:nvSpPr>
          <p:cNvPr id="3" name="内容占位符 2"/>
          <p:cNvSpPr>
            <a:spLocks noGrp="1"/>
          </p:cNvSpPr>
          <p:nvPr>
            <p:ph idx="1"/>
          </p:nvPr>
        </p:nvSpPr>
        <p:spPr/>
        <p:txBody>
          <a:bodyPr/>
          <a:lstStyle/>
          <a:p>
            <a:r>
              <a:rPr lang="en-US" altLang="zh-CN" dirty="0"/>
              <a:t>8255A</a:t>
            </a:r>
            <a:r>
              <a:rPr lang="zh-CN" altLang="en-US" dirty="0"/>
              <a:t>的内部结构和引脚特性</a:t>
            </a:r>
            <a:endParaRPr lang="zh-CN" altLang="en-US" dirty="0"/>
          </a:p>
          <a:p>
            <a:r>
              <a:rPr lang="en-US" altLang="zh-CN" dirty="0"/>
              <a:t>8255A</a:t>
            </a:r>
            <a:r>
              <a:rPr lang="zh-CN" altLang="en-US" dirty="0"/>
              <a:t>的控制字</a:t>
            </a:r>
            <a:endParaRPr lang="zh-CN" altLang="en-US" dirty="0"/>
          </a:p>
          <a:p>
            <a:r>
              <a:rPr lang="en-US" altLang="zh-CN" dirty="0"/>
              <a:t>8255A</a:t>
            </a:r>
            <a:r>
              <a:rPr lang="zh-CN" altLang="en-US" dirty="0"/>
              <a:t>的工作方式</a:t>
            </a:r>
            <a:endParaRPr lang="zh-CN" altLang="en-US" dirty="0"/>
          </a:p>
          <a:p>
            <a:r>
              <a:rPr lang="en-US" altLang="zh-CN" dirty="0"/>
              <a:t>8255A</a:t>
            </a:r>
            <a:r>
              <a:rPr lang="zh-CN" altLang="en-US" dirty="0"/>
              <a:t>的编程及应用</a:t>
            </a:r>
            <a:endParaRPr lang="zh-CN" altLang="en-US" dirty="0"/>
          </a:p>
          <a:p>
            <a:endParaRPr lang="zh-CN" altLang="en-US" dirty="0"/>
          </a:p>
        </p:txBody>
      </p:sp>
      <p:sp>
        <p:nvSpPr>
          <p:cNvPr id="4" name="日期占位符 3"/>
          <p:cNvSpPr>
            <a:spLocks noGrp="1"/>
          </p:cNvSpPr>
          <p:nvPr>
            <p:ph type="dt" sz="half" idx="10"/>
          </p:nvPr>
        </p:nvSpPr>
        <p:spPr/>
        <p:txBody>
          <a:bodyPr/>
          <a:lstStyle/>
          <a:p>
            <a:pPr>
              <a:defRPr/>
            </a:pPr>
            <a:fld id="{CA533C80-28AF-47FA-A091-60F17B8F637A}"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1.8255A的内部结构</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None/>
            </a:pPr>
            <a:r>
              <a:rPr lang="zh-CN" altLang="en-US" dirty="0"/>
              <a:t>包括：</a:t>
            </a:r>
            <a:endParaRPr lang="zh-CN" altLang="en-US" dirty="0"/>
          </a:p>
          <a:p>
            <a:pPr lvl="1"/>
            <a:r>
              <a:rPr lang="zh-CN" altLang="en-US" dirty="0"/>
              <a:t>数据总线缓冲器</a:t>
            </a:r>
            <a:endParaRPr lang="zh-CN" altLang="en-US" dirty="0"/>
          </a:p>
          <a:p>
            <a:pPr lvl="1"/>
            <a:r>
              <a:rPr lang="zh-CN" altLang="en-US" dirty="0"/>
              <a:t>数据端口A、B、C</a:t>
            </a:r>
            <a:endParaRPr lang="zh-CN" altLang="en-US" dirty="0"/>
          </a:p>
          <a:p>
            <a:pPr lvl="1"/>
            <a:r>
              <a:rPr lang="zh-CN" altLang="en-US" dirty="0"/>
              <a:t>A组和B组控制电路</a:t>
            </a:r>
            <a:endParaRPr lang="zh-CN" altLang="en-US" dirty="0"/>
          </a:p>
          <a:p>
            <a:pPr lvl="1"/>
            <a:r>
              <a:rPr lang="zh-CN" altLang="en-US" dirty="0"/>
              <a:t>读/写控制逻辑</a:t>
            </a:r>
            <a:endParaRPr lang="zh-CN" altLang="en-US" dirty="0"/>
          </a:p>
        </p:txBody>
      </p:sp>
      <p:sp>
        <p:nvSpPr>
          <p:cNvPr id="4" name="日期占位符 3"/>
          <p:cNvSpPr>
            <a:spLocks noGrp="1"/>
          </p:cNvSpPr>
          <p:nvPr>
            <p:ph type="dt" sz="half" idx="10"/>
          </p:nvPr>
        </p:nvSpPr>
        <p:spPr/>
        <p:txBody>
          <a:bodyPr/>
          <a:lstStyle/>
          <a:p>
            <a:pPr>
              <a:defRPr/>
            </a:pPr>
            <a:fld id="{3C3AB362-64BD-47B7-B274-E1A394154759}"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1026" name="Picture 2"/>
          <p:cNvPicPr>
            <a:picLocks noChangeAspect="1" noChangeArrowheads="1"/>
          </p:cNvPicPr>
          <p:nvPr/>
        </p:nvPicPr>
        <p:blipFill>
          <a:blip r:embed="rId1" cstate="print"/>
          <a:srcRect/>
          <a:stretch>
            <a:fillRect/>
          </a:stretch>
        </p:blipFill>
        <p:spPr bwMode="auto">
          <a:xfrm>
            <a:off x="4624195" y="1951602"/>
            <a:ext cx="4811268" cy="39471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8255A的</a:t>
            </a:r>
            <a:r>
              <a:rPr lang="zh-CN" altLang="en-US" dirty="0"/>
              <a:t>方式选择控制字</a:t>
            </a:r>
            <a:endParaRPr lang="zh-CN" altLang="en-US" dirty="0"/>
          </a:p>
        </p:txBody>
      </p:sp>
      <p:sp>
        <p:nvSpPr>
          <p:cNvPr id="3" name="内容占位符 2"/>
          <p:cNvSpPr>
            <a:spLocks noGrp="1"/>
          </p:cNvSpPr>
          <p:nvPr>
            <p:ph idx="1"/>
          </p:nvPr>
        </p:nvSpPr>
        <p:spPr>
          <a:xfrm>
            <a:off x="609601" y="1719263"/>
            <a:ext cx="10058400" cy="1392072"/>
          </a:xfrm>
        </p:spPr>
        <p:txBody>
          <a:bodyPr/>
          <a:lstStyle/>
          <a:p>
            <a:r>
              <a:rPr lang="zh-CN" altLang="zh-CN" dirty="0"/>
              <a:t>8255A的控制字有两种：</a:t>
            </a:r>
            <a:endParaRPr lang="zh-CN" altLang="zh-CN" dirty="0"/>
          </a:p>
          <a:p>
            <a:pPr lvl="1"/>
            <a:r>
              <a:rPr lang="zh-CN" altLang="zh-CN" dirty="0">
                <a:latin typeface="楷体_GB2312" pitchFamily="1" charset="-122"/>
              </a:rPr>
              <a:t>方式选择控制字</a:t>
            </a:r>
            <a:endParaRPr lang="zh-CN" altLang="zh-CN" dirty="0">
              <a:latin typeface="楷体_GB2312" pitchFamily="1" charset="-122"/>
            </a:endParaRPr>
          </a:p>
          <a:p>
            <a:pPr lvl="1"/>
            <a:r>
              <a:rPr lang="zh-CN" altLang="zh-CN" dirty="0">
                <a:latin typeface="楷体_GB2312" pitchFamily="1" charset="-122"/>
              </a:rPr>
              <a:t>端口C置1/置0控制字</a:t>
            </a:r>
            <a:endParaRPr lang="zh-CN" altLang="zh-CN" dirty="0">
              <a:latin typeface="楷体_GB2312" pitchFamily="1" charset="-122"/>
            </a:endParaRPr>
          </a:p>
          <a:p>
            <a:r>
              <a:rPr lang="zh-CN" altLang="zh-CN" b="1" dirty="0">
                <a:solidFill>
                  <a:schemeClr val="hlink"/>
                </a:solidFill>
              </a:rPr>
              <a:t>这两个控制字均写入8255A的控制口</a:t>
            </a:r>
            <a:r>
              <a:rPr lang="zh-CN" altLang="zh-CN" dirty="0"/>
              <a:t>。 </a:t>
            </a:r>
            <a:endParaRPr lang="zh-CN" altLang="zh-CN" dirty="0"/>
          </a:p>
          <a:p>
            <a:endParaRPr lang="zh-CN" altLang="en-US" dirty="0"/>
          </a:p>
        </p:txBody>
      </p:sp>
      <p:sp>
        <p:nvSpPr>
          <p:cNvPr id="4" name="日期占位符 3"/>
          <p:cNvSpPr>
            <a:spLocks noGrp="1"/>
          </p:cNvSpPr>
          <p:nvPr>
            <p:ph type="dt" sz="half" idx="10"/>
          </p:nvPr>
        </p:nvSpPr>
        <p:spPr/>
        <p:txBody>
          <a:bodyPr/>
          <a:lstStyle/>
          <a:p>
            <a:pPr>
              <a:defRPr/>
            </a:pPr>
            <a:fld id="{7D78B642-99D6-4D66-9A74-DB69B4572EA8}"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1.方式选择控制字</a:t>
            </a:r>
            <a:endParaRPr lang="zh-CN" altLang="en-US" dirty="0"/>
          </a:p>
        </p:txBody>
      </p:sp>
      <p:sp>
        <p:nvSpPr>
          <p:cNvPr id="3" name="内容占位符 2"/>
          <p:cNvSpPr>
            <a:spLocks noGrp="1"/>
          </p:cNvSpPr>
          <p:nvPr>
            <p:ph idx="1"/>
          </p:nvPr>
        </p:nvSpPr>
        <p:spPr>
          <a:xfrm>
            <a:off x="609601" y="1719263"/>
            <a:ext cx="10058400" cy="1392072"/>
          </a:xfrm>
        </p:spPr>
        <p:txBody>
          <a:bodyPr/>
          <a:lstStyle/>
          <a:p>
            <a:r>
              <a:rPr lang="zh-CN" altLang="zh-CN" dirty="0"/>
              <a:t>方式选择控制字用来决定8255A三个数据端口各自的工作方式。其格式如图7.8所示。</a:t>
            </a:r>
            <a:endParaRPr lang="zh-CN" altLang="zh-CN" dirty="0"/>
          </a:p>
          <a:p>
            <a:r>
              <a:rPr lang="zh-CN" altLang="zh-CN" dirty="0"/>
              <a:t>8255A有3 种基本工作方式：</a:t>
            </a:r>
            <a:endParaRPr lang="zh-CN" altLang="zh-CN" dirty="0"/>
          </a:p>
          <a:p>
            <a:pPr lvl="1"/>
            <a:r>
              <a:rPr lang="zh-CN" altLang="zh-CN" dirty="0"/>
              <a:t>方式0：基本输入/输出工作方式</a:t>
            </a:r>
            <a:endParaRPr lang="zh-CN" altLang="zh-CN" dirty="0"/>
          </a:p>
          <a:p>
            <a:pPr lvl="1"/>
            <a:r>
              <a:rPr lang="zh-CN" altLang="zh-CN" dirty="0"/>
              <a:t>方式1：选通的输入/输出工作方式</a:t>
            </a:r>
            <a:endParaRPr lang="zh-CN" altLang="zh-CN" dirty="0"/>
          </a:p>
          <a:p>
            <a:pPr lvl="1"/>
            <a:r>
              <a:rPr lang="zh-CN" altLang="zh-CN" dirty="0"/>
              <a:t>方式2：双向传输方式</a:t>
            </a:r>
            <a:endParaRPr lang="zh-CN" altLang="en-US" dirty="0"/>
          </a:p>
        </p:txBody>
      </p:sp>
      <p:sp>
        <p:nvSpPr>
          <p:cNvPr id="4" name="日期占位符 3"/>
          <p:cNvSpPr>
            <a:spLocks noGrp="1"/>
          </p:cNvSpPr>
          <p:nvPr>
            <p:ph type="dt" sz="half" idx="10"/>
          </p:nvPr>
        </p:nvSpPr>
        <p:spPr/>
        <p:txBody>
          <a:bodyPr/>
          <a:lstStyle/>
          <a:p>
            <a:pPr>
              <a:defRPr/>
            </a:pPr>
            <a:fld id="{B1B712C7-416B-4AB2-91B7-623B581522B0}"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图7.8 8255A的</a:t>
            </a:r>
            <a:r>
              <a:rPr lang="zh-CN" altLang="en-US" dirty="0"/>
              <a:t>方式选择控制字格式</a:t>
            </a:r>
            <a:endParaRPr lang="zh-CN" altLang="en-US" dirty="0"/>
          </a:p>
        </p:txBody>
      </p:sp>
      <p:sp>
        <p:nvSpPr>
          <p:cNvPr id="4" name="日期占位符 3"/>
          <p:cNvSpPr>
            <a:spLocks noGrp="1"/>
          </p:cNvSpPr>
          <p:nvPr>
            <p:ph type="dt" sz="half" idx="10"/>
          </p:nvPr>
        </p:nvSpPr>
        <p:spPr/>
        <p:txBody>
          <a:bodyPr/>
          <a:lstStyle/>
          <a:p>
            <a:pPr>
              <a:defRPr/>
            </a:pPr>
            <a:fld id="{25D55918-CCB2-4AAF-9FF3-EBBE6E8F20ED}"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6"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82792" y="1878137"/>
            <a:ext cx="7577138"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362960" y="3489960"/>
            <a:ext cx="233680" cy="369332"/>
          </a:xfrm>
          <a:prstGeom prst="rect">
            <a:avLst/>
          </a:prstGeom>
          <a:noFill/>
        </p:spPr>
        <p:txBody>
          <a:bodyPr wrap="square" rtlCol="0">
            <a:spAutoFit/>
          </a:bodyPr>
          <a:lstStyle/>
          <a:p>
            <a:r>
              <a:rPr lang="en-US" altLang="zh-CN" b="1" dirty="0">
                <a:solidFill>
                  <a:srgbClr val="FF0000"/>
                </a:solidFill>
              </a:rPr>
              <a:t>0</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方式选择控制字设置举例</a:t>
            </a:r>
            <a:endParaRPr lang="zh-CN" altLang="en-US" dirty="0"/>
          </a:p>
        </p:txBody>
      </p:sp>
      <p:sp>
        <p:nvSpPr>
          <p:cNvPr id="3" name="内容占位符 2"/>
          <p:cNvSpPr>
            <a:spLocks noGrp="1"/>
          </p:cNvSpPr>
          <p:nvPr>
            <p:ph idx="1"/>
          </p:nvPr>
        </p:nvSpPr>
        <p:spPr>
          <a:xfrm>
            <a:off x="609601" y="1719263"/>
            <a:ext cx="10058400" cy="1295400"/>
          </a:xfrm>
        </p:spPr>
        <p:txBody>
          <a:bodyPr/>
          <a:lstStyle/>
          <a:p>
            <a:r>
              <a:rPr lang="zh-CN" altLang="en-US" dirty="0"/>
              <a:t>一个</a:t>
            </a:r>
            <a:r>
              <a:rPr lang="en-US" altLang="zh-CN" dirty="0"/>
              <a:t>8086</a:t>
            </a:r>
            <a:r>
              <a:rPr lang="zh-CN" altLang="en-US" dirty="0"/>
              <a:t>系统，设</a:t>
            </a:r>
            <a:r>
              <a:rPr lang="en-US" altLang="zh-CN" dirty="0"/>
              <a:t>8255A</a:t>
            </a:r>
            <a:r>
              <a:rPr lang="zh-CN" altLang="en-US" dirty="0"/>
              <a:t>的控制端口地址为</a:t>
            </a:r>
            <a:r>
              <a:rPr lang="en-US" altLang="zh-CN" dirty="0"/>
              <a:t>0046H</a:t>
            </a:r>
            <a:r>
              <a:rPr lang="zh-CN" altLang="en-US" dirty="0"/>
              <a:t>。要求将该</a:t>
            </a:r>
            <a:r>
              <a:rPr lang="en-US" altLang="zh-CN" dirty="0"/>
              <a:t>8255A</a:t>
            </a:r>
            <a:r>
              <a:rPr lang="zh-CN" altLang="en-US" dirty="0"/>
              <a:t>的端口</a:t>
            </a:r>
            <a:r>
              <a:rPr lang="en-US" altLang="zh-CN" dirty="0"/>
              <a:t>A</a:t>
            </a:r>
            <a:r>
              <a:rPr lang="zh-CN" altLang="en-US" dirty="0"/>
              <a:t>工作在方式</a:t>
            </a:r>
            <a:r>
              <a:rPr lang="en-US" altLang="zh-CN" dirty="0"/>
              <a:t>0</a:t>
            </a:r>
            <a:r>
              <a:rPr lang="zh-CN" altLang="en-US" dirty="0"/>
              <a:t>，作输出口；端口</a:t>
            </a:r>
            <a:r>
              <a:rPr lang="en-US" altLang="zh-CN" dirty="0"/>
              <a:t>B</a:t>
            </a:r>
            <a:r>
              <a:rPr lang="zh-CN" altLang="en-US" dirty="0"/>
              <a:t>工作在方式</a:t>
            </a:r>
            <a:r>
              <a:rPr lang="en-US" altLang="zh-CN" dirty="0"/>
              <a:t>1</a:t>
            </a:r>
            <a:r>
              <a:rPr lang="zh-CN" altLang="en-US" dirty="0"/>
              <a:t>，作输入口；端口</a:t>
            </a:r>
            <a:r>
              <a:rPr lang="en-US" altLang="zh-CN" dirty="0"/>
              <a:t>C</a:t>
            </a:r>
            <a:r>
              <a:rPr lang="zh-CN" altLang="en-US" dirty="0"/>
              <a:t>的高</a:t>
            </a:r>
            <a:r>
              <a:rPr lang="en-US" altLang="zh-CN" dirty="0"/>
              <a:t>4</a:t>
            </a:r>
            <a:r>
              <a:rPr lang="zh-CN" altLang="en-US" dirty="0"/>
              <a:t>位设为输出，低</a:t>
            </a:r>
            <a:r>
              <a:rPr lang="en-US" altLang="zh-CN" dirty="0"/>
              <a:t>4</a:t>
            </a:r>
            <a:r>
              <a:rPr lang="zh-CN" altLang="en-US" dirty="0"/>
              <a:t>位设为输出。</a:t>
            </a:r>
            <a:endParaRPr lang="zh-CN" altLang="en-US" dirty="0"/>
          </a:p>
        </p:txBody>
      </p:sp>
      <p:sp>
        <p:nvSpPr>
          <p:cNvPr id="4" name="日期占位符 3"/>
          <p:cNvSpPr>
            <a:spLocks noGrp="1"/>
          </p:cNvSpPr>
          <p:nvPr>
            <p:ph type="dt" sz="half" idx="10"/>
          </p:nvPr>
        </p:nvSpPr>
        <p:spPr/>
        <p:txBody>
          <a:bodyPr/>
          <a:lstStyle/>
          <a:p>
            <a:pPr>
              <a:defRPr/>
            </a:pPr>
            <a:fld id="{AB738B32-61BA-4019-8D3F-1F36FEB77CB9}"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
        <p:nvSpPr>
          <p:cNvPr id="7" name="文本框 6"/>
          <p:cNvSpPr txBox="1"/>
          <p:nvPr/>
        </p:nvSpPr>
        <p:spPr>
          <a:xfrm>
            <a:off x="1505197" y="3310308"/>
            <a:ext cx="3529941" cy="923330"/>
          </a:xfrm>
          <a:prstGeom prst="rect">
            <a:avLst/>
          </a:prstGeom>
          <a:noFill/>
        </p:spPr>
        <p:txBody>
          <a:bodyPr wrap="square">
            <a:spAutoFit/>
          </a:bodyPr>
          <a:lstStyle/>
          <a:p>
            <a:r>
              <a:rPr lang="zh-CN" altLang="en-US" dirty="0"/>
              <a:t>要求：</a:t>
            </a:r>
            <a:r>
              <a:rPr lang="en-US" altLang="zh-CN" dirty="0"/>
              <a:t>PA</a:t>
            </a:r>
            <a:r>
              <a:rPr lang="zh-CN" altLang="en-US" dirty="0"/>
              <a:t>工作于方式</a:t>
            </a:r>
            <a:r>
              <a:rPr lang="en-US" altLang="zh-CN" dirty="0"/>
              <a:t>0</a:t>
            </a:r>
            <a:r>
              <a:rPr lang="zh-CN" altLang="en-US" dirty="0"/>
              <a:t>，输出；</a:t>
            </a:r>
            <a:endParaRPr lang="zh-CN" altLang="en-US" dirty="0"/>
          </a:p>
          <a:p>
            <a:r>
              <a:rPr lang="en-US" altLang="zh-CN" dirty="0"/>
              <a:t>           PB</a:t>
            </a:r>
            <a:r>
              <a:rPr lang="zh-CN" altLang="en-US" dirty="0"/>
              <a:t>工作于方式</a:t>
            </a:r>
            <a:r>
              <a:rPr lang="en-US" altLang="zh-CN" dirty="0"/>
              <a:t>1</a:t>
            </a:r>
            <a:r>
              <a:rPr lang="zh-CN" altLang="en-US" dirty="0"/>
              <a:t>，输入；</a:t>
            </a:r>
            <a:endParaRPr lang="zh-CN" altLang="en-US" dirty="0"/>
          </a:p>
          <a:p>
            <a:r>
              <a:rPr lang="en-US" altLang="zh-CN" dirty="0"/>
              <a:t>           PC7~4</a:t>
            </a:r>
            <a:r>
              <a:rPr lang="zh-CN" altLang="en-US" dirty="0"/>
              <a:t>，</a:t>
            </a:r>
            <a:r>
              <a:rPr lang="en-US" altLang="zh-CN" dirty="0"/>
              <a:t>PC3~0</a:t>
            </a:r>
            <a:r>
              <a:rPr lang="zh-CN" altLang="en-US" dirty="0"/>
              <a:t>，输出。</a:t>
            </a:r>
            <a:endParaRPr lang="zh-CN" altLang="en-US" dirty="0"/>
          </a:p>
        </p:txBody>
      </p:sp>
      <p:sp>
        <p:nvSpPr>
          <p:cNvPr id="9" name="文本框 8"/>
          <p:cNvSpPr txBox="1"/>
          <p:nvPr/>
        </p:nvSpPr>
        <p:spPr>
          <a:xfrm>
            <a:off x="5958444" y="3429000"/>
            <a:ext cx="6097978" cy="1495794"/>
          </a:xfrm>
          <a:prstGeom prst="rect">
            <a:avLst/>
          </a:prstGeom>
          <a:noFill/>
        </p:spPr>
        <p:txBody>
          <a:bodyPr wrap="square">
            <a:spAutoFit/>
          </a:bodyPr>
          <a:lstStyle/>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Char char="Ø"/>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a:cs typeface="+mn-cs"/>
              </a:rPr>
              <a:t>方式选择控制字为86H</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cs typeface="+mn-cs"/>
              </a:rPr>
              <a:t>。</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Char char="Ø"/>
              <a:defRPr/>
            </a:pPr>
            <a:r>
              <a:rPr kumimoji="0" lang="zh-CN" altLang="en-US" sz="2400" b="0" i="0" u="none" strike="noStrike" kern="1200" cap="none" spc="0" normalizeH="0" baseline="0" noProof="0" dirty="0">
                <a:ln>
                  <a:noFill/>
                </a:ln>
                <a:solidFill>
                  <a:srgbClr val="3333CC"/>
                </a:solidFill>
                <a:effectLst/>
                <a:uLnTx/>
                <a:uFillTx/>
                <a:latin typeface="Times New Roman" panose="02020603050405020304"/>
                <a:cs typeface="+mn-cs"/>
              </a:rPr>
              <a:t>初始化程序</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cs typeface="+mn-cs"/>
              </a:rPr>
              <a:t>：</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a:cs typeface="+mn-cs"/>
              </a:rPr>
              <a:t>    </a:t>
            </a:r>
            <a:r>
              <a:rPr kumimoji="0" lang="pt-BR" altLang="en-US" sz="2400" b="0" i="0" u="none" strike="noStrike" kern="1200" cap="none" spc="0" normalizeH="0" baseline="0" noProof="0" dirty="0">
                <a:ln>
                  <a:noFill/>
                </a:ln>
                <a:solidFill>
                  <a:srgbClr val="000000"/>
                </a:solidFill>
                <a:effectLst/>
                <a:uLnTx/>
                <a:uFillTx/>
                <a:latin typeface="Times New Roman" panose="02020603050405020304"/>
                <a:cs typeface="+mn-cs"/>
              </a:rPr>
              <a:t>MOV  AL</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cs typeface="+mn-cs"/>
              </a:rPr>
              <a:t>，</a:t>
            </a:r>
            <a:r>
              <a:rPr kumimoji="0" lang="pt-BR" altLang="en-US" sz="2400" b="0" i="0" u="none" strike="noStrike" kern="1200" cap="none" spc="0" normalizeH="0" baseline="0" noProof="0" dirty="0">
                <a:ln>
                  <a:noFill/>
                </a:ln>
                <a:solidFill>
                  <a:srgbClr val="000000"/>
                </a:solidFill>
                <a:effectLst/>
                <a:uLnTx/>
                <a:uFillTx/>
                <a:latin typeface="Times New Roman" panose="02020603050405020304"/>
                <a:cs typeface="+mn-cs"/>
              </a:rPr>
              <a:t>86H   </a:t>
            </a:r>
            <a:endParaRPr kumimoji="0" lang="pt-BR" altLang="en-US" sz="24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pt-BR" altLang="en-US" sz="2400" b="0" i="0" u="none" strike="noStrike" kern="1200" cap="none" spc="0" normalizeH="0" baseline="0" noProof="0" dirty="0">
                <a:ln>
                  <a:noFill/>
                </a:ln>
                <a:solidFill>
                  <a:srgbClr val="000000"/>
                </a:solidFill>
                <a:effectLst/>
                <a:uLnTx/>
                <a:uFillTx/>
                <a:latin typeface="Times New Roman" panose="02020603050405020304"/>
                <a:cs typeface="+mn-cs"/>
              </a:rPr>
              <a:t>    </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a:cs typeface="+mn-cs"/>
              </a:rPr>
              <a:t>OUT   46H，AL</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a:cs typeface="+mn-cs"/>
            </a:endParaRPr>
          </a:p>
        </p:txBody>
      </p:sp>
      <p:pic>
        <p:nvPicPr>
          <p:cNvPr id="11" name="图片 10"/>
          <p:cNvPicPr>
            <a:picLocks noChangeAspect="1"/>
          </p:cNvPicPr>
          <p:nvPr/>
        </p:nvPicPr>
        <p:blipFill>
          <a:blip r:embed="rId1" cstate="print"/>
          <a:stretch>
            <a:fillRect/>
          </a:stretch>
        </p:blipFill>
        <p:spPr>
          <a:xfrm>
            <a:off x="1019717" y="4618079"/>
            <a:ext cx="5209459" cy="815892"/>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端口</a:t>
            </a:r>
            <a:r>
              <a:rPr lang="en-US" altLang="zh-CN" dirty="0"/>
              <a:t>C</a:t>
            </a:r>
            <a:r>
              <a:rPr lang="zh-CN" altLang="en-US" dirty="0"/>
              <a:t>置</a:t>
            </a:r>
            <a:r>
              <a:rPr lang="en-US" altLang="zh-CN" dirty="0"/>
              <a:t>1/</a:t>
            </a:r>
            <a:r>
              <a:rPr lang="zh-CN" altLang="en-US" dirty="0"/>
              <a:t>置</a:t>
            </a:r>
            <a:r>
              <a:rPr lang="en-US" altLang="zh-CN" dirty="0"/>
              <a:t>0</a:t>
            </a:r>
            <a:r>
              <a:rPr lang="zh-CN" altLang="en-US" dirty="0"/>
              <a:t>控制字</a:t>
            </a:r>
            <a:endParaRPr lang="zh-CN" altLang="en-US" dirty="0"/>
          </a:p>
        </p:txBody>
      </p:sp>
      <p:sp>
        <p:nvSpPr>
          <p:cNvPr id="3" name="内容占位符 2"/>
          <p:cNvSpPr>
            <a:spLocks noGrp="1"/>
          </p:cNvSpPr>
          <p:nvPr>
            <p:ph idx="1"/>
          </p:nvPr>
        </p:nvSpPr>
        <p:spPr/>
        <p:txBody>
          <a:bodyPr/>
          <a:lstStyle/>
          <a:p>
            <a:r>
              <a:rPr lang="zh-CN" altLang="en-US" dirty="0"/>
              <a:t>可将端口</a:t>
            </a:r>
            <a:r>
              <a:rPr lang="en-US" altLang="zh-CN" dirty="0"/>
              <a:t>C</a:t>
            </a:r>
            <a:r>
              <a:rPr lang="zh-CN" altLang="en-US" dirty="0"/>
              <a:t>的数位作为控制信号使用，以配合端口</a:t>
            </a:r>
            <a:r>
              <a:rPr lang="en-US" altLang="zh-CN" dirty="0"/>
              <a:t>A</a:t>
            </a:r>
            <a:r>
              <a:rPr lang="zh-CN" altLang="en-US" dirty="0"/>
              <a:t>或端口</a:t>
            </a:r>
            <a:r>
              <a:rPr lang="en-US" altLang="zh-CN" dirty="0"/>
              <a:t>B</a:t>
            </a:r>
            <a:r>
              <a:rPr lang="zh-CN" altLang="en-US" dirty="0"/>
              <a:t>工作。</a:t>
            </a:r>
            <a:endParaRPr lang="zh-CN" altLang="en-US" dirty="0"/>
          </a:p>
          <a:p>
            <a:r>
              <a:rPr lang="zh-CN" altLang="en-US" dirty="0"/>
              <a:t>可以设置端口</a:t>
            </a:r>
            <a:r>
              <a:rPr lang="en-US" altLang="zh-CN" dirty="0"/>
              <a:t>C</a:t>
            </a:r>
            <a:r>
              <a:rPr lang="zh-CN" altLang="en-US" dirty="0"/>
              <a:t>的某个数位为</a:t>
            </a:r>
            <a:r>
              <a:rPr lang="en-US" altLang="zh-CN" dirty="0"/>
              <a:t>1</a:t>
            </a:r>
            <a:r>
              <a:rPr lang="zh-CN" altLang="en-US" dirty="0"/>
              <a:t>或为</a:t>
            </a:r>
            <a:r>
              <a:rPr lang="en-US" altLang="zh-CN" dirty="0"/>
              <a:t>0</a:t>
            </a:r>
            <a:r>
              <a:rPr lang="zh-CN" altLang="en-US" dirty="0"/>
              <a:t>，实现信息传输过程中的信号设置</a:t>
            </a:r>
            <a:r>
              <a:rPr lang="zh-CN" altLang="en-US"/>
              <a:t>要求。</a:t>
            </a:r>
            <a:r>
              <a:rPr lang="zh-CN" altLang="zh-CN"/>
              <a:t>其格式如图7.10所示。</a:t>
            </a:r>
            <a:endParaRPr lang="zh-CN" altLang="zh-CN"/>
          </a:p>
          <a:p>
            <a:endParaRPr lang="zh-CN" altLang="en-US" dirty="0"/>
          </a:p>
        </p:txBody>
      </p:sp>
      <p:sp>
        <p:nvSpPr>
          <p:cNvPr id="4" name="日期占位符 3"/>
          <p:cNvSpPr>
            <a:spLocks noGrp="1"/>
          </p:cNvSpPr>
          <p:nvPr>
            <p:ph type="dt" sz="half" idx="10"/>
          </p:nvPr>
        </p:nvSpPr>
        <p:spPr/>
        <p:txBody>
          <a:bodyPr/>
          <a:lstStyle/>
          <a:p>
            <a:pPr>
              <a:defRPr/>
            </a:pPr>
            <a:fld id="{FE720A32-8C9F-4737-A58D-10EBDB3F320B}"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端口</a:t>
            </a:r>
            <a:r>
              <a:rPr lang="en-US" altLang="zh-CN" dirty="0"/>
              <a:t>C</a:t>
            </a:r>
            <a:r>
              <a:rPr lang="zh-CN" altLang="en-US" dirty="0"/>
              <a:t>置</a:t>
            </a:r>
            <a:r>
              <a:rPr lang="en-US" altLang="zh-CN" dirty="0"/>
              <a:t>1/</a:t>
            </a:r>
            <a:r>
              <a:rPr lang="zh-CN" altLang="en-US" dirty="0"/>
              <a:t>置</a:t>
            </a:r>
            <a:r>
              <a:rPr lang="en-US" altLang="zh-CN" dirty="0"/>
              <a:t>0</a:t>
            </a:r>
            <a:r>
              <a:rPr lang="zh-CN" altLang="en-US" dirty="0"/>
              <a:t>控制字格式</a:t>
            </a:r>
            <a:endParaRPr lang="zh-CN" altLang="en-US" dirty="0"/>
          </a:p>
        </p:txBody>
      </p:sp>
      <p:sp>
        <p:nvSpPr>
          <p:cNvPr id="4" name="日期占位符 3"/>
          <p:cNvSpPr>
            <a:spLocks noGrp="1"/>
          </p:cNvSpPr>
          <p:nvPr>
            <p:ph type="dt" sz="half" idx="10"/>
          </p:nvPr>
        </p:nvSpPr>
        <p:spPr/>
        <p:txBody>
          <a:bodyPr/>
          <a:lstStyle/>
          <a:p>
            <a:pPr>
              <a:defRPr/>
            </a:pPr>
            <a:fld id="{37A7CB4E-6A75-4784-B679-8A0904A770CC}"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93328" y="2071523"/>
            <a:ext cx="7577137"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端口</a:t>
            </a:r>
            <a:r>
              <a:rPr lang="en-US" altLang="zh-CN" dirty="0"/>
              <a:t>C</a:t>
            </a:r>
            <a:r>
              <a:rPr lang="zh-CN" altLang="en-US" dirty="0"/>
              <a:t>置</a:t>
            </a:r>
            <a:r>
              <a:rPr lang="en-US" altLang="zh-CN" dirty="0"/>
              <a:t>1/</a:t>
            </a:r>
            <a:r>
              <a:rPr lang="zh-CN" altLang="en-US" dirty="0"/>
              <a:t>置</a:t>
            </a:r>
            <a:r>
              <a:rPr lang="en-US" altLang="zh-CN" dirty="0"/>
              <a:t>0</a:t>
            </a:r>
            <a:r>
              <a:rPr lang="zh-CN" altLang="en-US" dirty="0"/>
              <a:t>控制字设置举例</a:t>
            </a:r>
            <a:endParaRPr lang="zh-CN" altLang="en-US" dirty="0"/>
          </a:p>
        </p:txBody>
      </p:sp>
      <p:sp>
        <p:nvSpPr>
          <p:cNvPr id="3" name="内容占位符 2"/>
          <p:cNvSpPr>
            <a:spLocks noGrp="1"/>
          </p:cNvSpPr>
          <p:nvPr>
            <p:ph idx="1"/>
          </p:nvPr>
        </p:nvSpPr>
        <p:spPr>
          <a:xfrm>
            <a:off x="423553" y="1731139"/>
            <a:ext cx="10632373" cy="881433"/>
          </a:xfrm>
        </p:spPr>
        <p:txBody>
          <a:bodyPr/>
          <a:lstStyle/>
          <a:p>
            <a:r>
              <a:rPr lang="zh-CN" altLang="en-US" dirty="0"/>
              <a:t>设</a:t>
            </a:r>
            <a:r>
              <a:rPr lang="en-US" altLang="zh-CN" dirty="0"/>
              <a:t>8255A</a:t>
            </a:r>
            <a:r>
              <a:rPr lang="zh-CN" altLang="en-US" dirty="0"/>
              <a:t>的控制端口地址为</a:t>
            </a:r>
            <a:r>
              <a:rPr lang="en-US" altLang="zh-CN" dirty="0"/>
              <a:t>B0F6H</a:t>
            </a:r>
            <a:r>
              <a:rPr lang="zh-CN" altLang="en-US" dirty="0"/>
              <a:t>，要求将</a:t>
            </a:r>
            <a:r>
              <a:rPr lang="en-US" altLang="zh-CN" dirty="0"/>
              <a:t>PC6</a:t>
            </a:r>
            <a:r>
              <a:rPr lang="zh-CN" altLang="en-US" dirty="0"/>
              <a:t>置</a:t>
            </a:r>
            <a:r>
              <a:rPr lang="en-US" altLang="zh-CN" dirty="0"/>
              <a:t>0</a:t>
            </a:r>
            <a:r>
              <a:rPr lang="zh-CN" altLang="en-US" dirty="0"/>
              <a:t>，</a:t>
            </a:r>
            <a:r>
              <a:rPr lang="en-US" altLang="zh-CN" dirty="0"/>
              <a:t>PC3</a:t>
            </a:r>
            <a:r>
              <a:rPr lang="zh-CN" altLang="en-US" dirty="0"/>
              <a:t>置</a:t>
            </a:r>
            <a:r>
              <a:rPr lang="en-US" altLang="zh-CN" dirty="0"/>
              <a:t>1</a:t>
            </a:r>
            <a:r>
              <a:rPr lang="zh-CN" altLang="en-US" dirty="0"/>
              <a:t>。</a:t>
            </a:r>
            <a:endParaRPr lang="zh-CN" altLang="en-US" dirty="0"/>
          </a:p>
        </p:txBody>
      </p:sp>
      <p:sp>
        <p:nvSpPr>
          <p:cNvPr id="4" name="日期占位符 3"/>
          <p:cNvSpPr>
            <a:spLocks noGrp="1"/>
          </p:cNvSpPr>
          <p:nvPr>
            <p:ph type="dt" sz="half" idx="10"/>
          </p:nvPr>
        </p:nvSpPr>
        <p:spPr/>
        <p:txBody>
          <a:bodyPr/>
          <a:lstStyle/>
          <a:p>
            <a:pPr>
              <a:defRPr/>
            </a:pPr>
            <a:fld id="{C3EE8653-77B0-479A-B8A5-E2BE98CBBB34}"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
        <p:nvSpPr>
          <p:cNvPr id="7" name="文本框 6"/>
          <p:cNvSpPr txBox="1"/>
          <p:nvPr/>
        </p:nvSpPr>
        <p:spPr>
          <a:xfrm>
            <a:off x="1986313" y="3228737"/>
            <a:ext cx="2936173" cy="2031325"/>
          </a:xfrm>
          <a:prstGeom prst="rect">
            <a:avLst/>
          </a:prstGeom>
          <a:noFill/>
        </p:spPr>
        <p:txBody>
          <a:bodyPr wrap="square">
            <a:spAutoFit/>
          </a:bodyPr>
          <a:lstStyle/>
          <a:p>
            <a:r>
              <a:rPr lang="en-US" altLang="zh-CN" dirty="0"/>
              <a:t>       …...</a:t>
            </a:r>
            <a:endParaRPr lang="en-US" altLang="zh-CN" dirty="0"/>
          </a:p>
          <a:p>
            <a:r>
              <a:rPr lang="en-US" altLang="zh-CN" dirty="0"/>
              <a:t>   MOV  DX</a:t>
            </a:r>
            <a:r>
              <a:rPr lang="zh-CN" altLang="en-US" dirty="0"/>
              <a:t>，</a:t>
            </a:r>
            <a:r>
              <a:rPr lang="en-US" altLang="zh-CN" dirty="0"/>
              <a:t>0B0F6H</a:t>
            </a:r>
            <a:endParaRPr lang="en-US" altLang="zh-CN" dirty="0"/>
          </a:p>
          <a:p>
            <a:r>
              <a:rPr lang="en-US" altLang="zh-CN" dirty="0"/>
              <a:t>   MOV  AL</a:t>
            </a:r>
            <a:r>
              <a:rPr lang="zh-CN" altLang="en-US" dirty="0"/>
              <a:t>，</a:t>
            </a:r>
            <a:r>
              <a:rPr lang="en-US" altLang="zh-CN" dirty="0"/>
              <a:t>0CH   </a:t>
            </a:r>
            <a:endParaRPr lang="en-US" altLang="zh-CN" dirty="0"/>
          </a:p>
          <a:p>
            <a:r>
              <a:rPr lang="en-US" altLang="zh-CN" dirty="0"/>
              <a:t>   OUT   DX</a:t>
            </a:r>
            <a:r>
              <a:rPr lang="zh-CN" altLang="en-US" dirty="0"/>
              <a:t>，</a:t>
            </a:r>
            <a:r>
              <a:rPr lang="en-US" altLang="zh-CN" dirty="0"/>
              <a:t>AL</a:t>
            </a:r>
            <a:endParaRPr lang="en-US" altLang="zh-CN" dirty="0"/>
          </a:p>
          <a:p>
            <a:r>
              <a:rPr lang="en-US" altLang="zh-CN" dirty="0"/>
              <a:t>   MOV  AL</a:t>
            </a:r>
            <a:r>
              <a:rPr lang="zh-CN" altLang="en-US" dirty="0"/>
              <a:t>，</a:t>
            </a:r>
            <a:r>
              <a:rPr lang="en-US" altLang="zh-CN" dirty="0"/>
              <a:t>07H   </a:t>
            </a:r>
            <a:endParaRPr lang="en-US" altLang="zh-CN" dirty="0"/>
          </a:p>
          <a:p>
            <a:r>
              <a:rPr lang="en-US" altLang="zh-CN" dirty="0"/>
              <a:t>   OUT   DX</a:t>
            </a:r>
            <a:r>
              <a:rPr lang="zh-CN" altLang="en-US" dirty="0"/>
              <a:t>，</a:t>
            </a:r>
            <a:r>
              <a:rPr lang="en-US" altLang="zh-CN" dirty="0"/>
              <a:t>AL </a:t>
            </a:r>
            <a:endParaRPr lang="en-US" altLang="zh-CN" dirty="0"/>
          </a:p>
          <a:p>
            <a:r>
              <a:rPr lang="en-US" altLang="zh-CN" dirty="0"/>
              <a:t>        ……</a:t>
            </a:r>
            <a:endParaRPr lang="en-US" altLang="zh-CN" dirty="0"/>
          </a:p>
        </p:txBody>
      </p:sp>
      <p:sp>
        <p:nvSpPr>
          <p:cNvPr id="9" name="文本框 8"/>
          <p:cNvSpPr txBox="1"/>
          <p:nvPr/>
        </p:nvSpPr>
        <p:spPr>
          <a:xfrm>
            <a:off x="1136074" y="2350962"/>
            <a:ext cx="6097978" cy="523220"/>
          </a:xfrm>
          <a:prstGeom prst="rect">
            <a:avLst/>
          </a:prstGeom>
          <a:noFill/>
        </p:spPr>
        <p:txBody>
          <a:bodyPr wrap="square">
            <a:spAutoFit/>
          </a:bodyPr>
          <a:lstStyle/>
          <a:p>
            <a:r>
              <a:rPr lang="zh-CN" altLang="en-US" sz="2800" dirty="0"/>
              <a:t>程序段：</a:t>
            </a:r>
            <a:endParaRPr lang="zh-CN" altLang="en-US" sz="2800" dirty="0"/>
          </a:p>
        </p:txBody>
      </p:sp>
      <p:sp>
        <p:nvSpPr>
          <p:cNvPr id="11" name="文本框 10"/>
          <p:cNvSpPr txBox="1"/>
          <p:nvPr/>
        </p:nvSpPr>
        <p:spPr>
          <a:xfrm>
            <a:off x="5163788" y="2458818"/>
            <a:ext cx="6097978" cy="523220"/>
          </a:xfrm>
          <a:prstGeom prst="rect">
            <a:avLst/>
          </a:prstGeom>
          <a:noFill/>
        </p:spPr>
        <p:txBody>
          <a:bodyPr wrap="square">
            <a:spAutoFit/>
          </a:bodyPr>
          <a:lstStyle/>
          <a:p>
            <a:r>
              <a:rPr lang="zh-CN" altLang="en-US" sz="2800" dirty="0">
                <a:solidFill>
                  <a:srgbClr val="0070C0"/>
                </a:solidFill>
              </a:rPr>
              <a:t>要求</a:t>
            </a:r>
            <a:r>
              <a:rPr lang="en-US" altLang="zh-CN" sz="2800" dirty="0">
                <a:solidFill>
                  <a:srgbClr val="0070C0"/>
                </a:solidFill>
              </a:rPr>
              <a:t>1</a:t>
            </a:r>
            <a:r>
              <a:rPr lang="zh-CN" altLang="en-US" sz="2800" dirty="0">
                <a:solidFill>
                  <a:srgbClr val="0070C0"/>
                </a:solidFill>
              </a:rPr>
              <a:t>：</a:t>
            </a:r>
            <a:r>
              <a:rPr lang="en-US" altLang="zh-CN" sz="2800" dirty="0">
                <a:solidFill>
                  <a:srgbClr val="0070C0"/>
                </a:solidFill>
              </a:rPr>
              <a:t>PC6</a:t>
            </a:r>
            <a:r>
              <a:rPr lang="zh-CN" altLang="en-US" sz="2800" dirty="0">
                <a:solidFill>
                  <a:srgbClr val="0070C0"/>
                </a:solidFill>
              </a:rPr>
              <a:t>置</a:t>
            </a:r>
            <a:r>
              <a:rPr lang="en-US" altLang="zh-CN" sz="2800" dirty="0">
                <a:solidFill>
                  <a:srgbClr val="0070C0"/>
                </a:solidFill>
              </a:rPr>
              <a:t>0</a:t>
            </a:r>
            <a:r>
              <a:rPr lang="zh-CN" altLang="en-US" sz="2800" dirty="0">
                <a:solidFill>
                  <a:srgbClr val="0070C0"/>
                </a:solidFill>
              </a:rPr>
              <a:t>。控制字为</a:t>
            </a:r>
            <a:r>
              <a:rPr lang="en-US" altLang="zh-CN" sz="2800" dirty="0">
                <a:solidFill>
                  <a:srgbClr val="0070C0"/>
                </a:solidFill>
              </a:rPr>
              <a:t>0CH</a:t>
            </a:r>
            <a:endParaRPr lang="zh-CN" altLang="en-US" sz="2800" dirty="0">
              <a:solidFill>
                <a:srgbClr val="0070C0"/>
              </a:solidFill>
            </a:endParaRPr>
          </a:p>
        </p:txBody>
      </p:sp>
      <p:pic>
        <p:nvPicPr>
          <p:cNvPr id="13" name="图片 12"/>
          <p:cNvPicPr>
            <a:picLocks noChangeAspect="1"/>
          </p:cNvPicPr>
          <p:nvPr/>
        </p:nvPicPr>
        <p:blipFill>
          <a:blip r:embed="rId1" cstate="print"/>
          <a:stretch>
            <a:fillRect/>
          </a:stretch>
        </p:blipFill>
        <p:spPr>
          <a:xfrm>
            <a:off x="5342255" y="3104429"/>
            <a:ext cx="5226784" cy="816785"/>
          </a:xfrm>
          <a:prstGeom prst="rect">
            <a:avLst/>
          </a:prstGeom>
        </p:spPr>
      </p:pic>
      <p:sp>
        <p:nvSpPr>
          <p:cNvPr id="14" name="文本框 13"/>
          <p:cNvSpPr txBox="1"/>
          <p:nvPr/>
        </p:nvSpPr>
        <p:spPr>
          <a:xfrm>
            <a:off x="5082642" y="3982790"/>
            <a:ext cx="6097978" cy="523220"/>
          </a:xfrm>
          <a:prstGeom prst="rect">
            <a:avLst/>
          </a:prstGeom>
          <a:noFill/>
        </p:spPr>
        <p:txBody>
          <a:bodyPr wrap="square">
            <a:spAutoFit/>
          </a:bodyPr>
          <a:lstStyle/>
          <a:p>
            <a:r>
              <a:rPr lang="zh-CN" altLang="en-US" sz="2800" dirty="0">
                <a:solidFill>
                  <a:srgbClr val="0070C0"/>
                </a:solidFill>
              </a:rPr>
              <a:t>要求</a:t>
            </a:r>
            <a:r>
              <a:rPr lang="en-US" altLang="zh-CN" sz="2800" dirty="0">
                <a:solidFill>
                  <a:srgbClr val="0070C0"/>
                </a:solidFill>
              </a:rPr>
              <a:t>2</a:t>
            </a:r>
            <a:r>
              <a:rPr lang="zh-CN" altLang="en-US" sz="2800" dirty="0">
                <a:solidFill>
                  <a:srgbClr val="0070C0"/>
                </a:solidFill>
              </a:rPr>
              <a:t>：</a:t>
            </a:r>
            <a:r>
              <a:rPr lang="en-US" altLang="zh-CN" sz="2800" dirty="0">
                <a:solidFill>
                  <a:srgbClr val="0070C0"/>
                </a:solidFill>
              </a:rPr>
              <a:t>PC3</a:t>
            </a:r>
            <a:r>
              <a:rPr lang="zh-CN" altLang="en-US" sz="2800" dirty="0">
                <a:solidFill>
                  <a:srgbClr val="0070C0"/>
                </a:solidFill>
              </a:rPr>
              <a:t>置</a:t>
            </a:r>
            <a:r>
              <a:rPr lang="en-US" altLang="zh-CN" sz="2800" dirty="0">
                <a:solidFill>
                  <a:srgbClr val="0070C0"/>
                </a:solidFill>
              </a:rPr>
              <a:t>1</a:t>
            </a:r>
            <a:r>
              <a:rPr lang="zh-CN" altLang="en-US" sz="2800" dirty="0">
                <a:solidFill>
                  <a:srgbClr val="0070C0"/>
                </a:solidFill>
              </a:rPr>
              <a:t>。控制字为</a:t>
            </a:r>
            <a:r>
              <a:rPr lang="en-US" altLang="zh-CN" sz="2800" dirty="0">
                <a:solidFill>
                  <a:srgbClr val="0070C0"/>
                </a:solidFill>
              </a:rPr>
              <a:t>07H</a:t>
            </a:r>
            <a:endParaRPr lang="zh-CN" altLang="en-US" sz="2800" dirty="0">
              <a:solidFill>
                <a:srgbClr val="0070C0"/>
              </a:solidFill>
            </a:endParaRPr>
          </a:p>
        </p:txBody>
      </p:sp>
      <p:pic>
        <p:nvPicPr>
          <p:cNvPr id="16" name="图片 15"/>
          <p:cNvPicPr>
            <a:picLocks noChangeAspect="1"/>
          </p:cNvPicPr>
          <p:nvPr/>
        </p:nvPicPr>
        <p:blipFill>
          <a:blip r:embed="rId2" cstate="print"/>
          <a:stretch>
            <a:fillRect/>
          </a:stretch>
        </p:blipFill>
        <p:spPr>
          <a:xfrm>
            <a:off x="5391397" y="4665315"/>
            <a:ext cx="4962720" cy="775520"/>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8255A</a:t>
            </a:r>
            <a:r>
              <a:rPr lang="zh-CN" altLang="en-US" dirty="0"/>
              <a:t>的工作方式</a:t>
            </a:r>
            <a:endParaRPr lang="zh-CN" altLang="en-US" dirty="0"/>
          </a:p>
        </p:txBody>
      </p:sp>
      <p:sp>
        <p:nvSpPr>
          <p:cNvPr id="3" name="内容占位符 2"/>
          <p:cNvSpPr>
            <a:spLocks noGrp="1"/>
          </p:cNvSpPr>
          <p:nvPr>
            <p:ph idx="1"/>
          </p:nvPr>
        </p:nvSpPr>
        <p:spPr/>
        <p:txBody>
          <a:bodyPr/>
          <a:lstStyle/>
          <a:p>
            <a:r>
              <a:rPr lang="zh-CN" altLang="en-US" dirty="0"/>
              <a:t>方式</a:t>
            </a:r>
            <a:r>
              <a:rPr lang="en-US" altLang="zh-CN" dirty="0"/>
              <a:t>0 —</a:t>
            </a:r>
            <a:r>
              <a:rPr lang="zh-CN" altLang="en-US" dirty="0"/>
              <a:t>基本的输入输出方式</a:t>
            </a:r>
            <a:endParaRPr lang="zh-CN" altLang="en-US" dirty="0"/>
          </a:p>
          <a:p>
            <a:r>
              <a:rPr lang="zh-CN" altLang="en-US" dirty="0"/>
              <a:t>方式</a:t>
            </a:r>
            <a:r>
              <a:rPr lang="en-US" altLang="zh-CN" dirty="0"/>
              <a:t>1 —</a:t>
            </a:r>
            <a:r>
              <a:rPr lang="zh-CN" altLang="en-US" dirty="0"/>
              <a:t>选通的输入输出方式</a:t>
            </a:r>
            <a:endParaRPr lang="en-US" altLang="zh-CN" dirty="0"/>
          </a:p>
          <a:p>
            <a:r>
              <a:rPr lang="zh-CN" altLang="en-US" dirty="0"/>
              <a:t>方式</a:t>
            </a:r>
            <a:r>
              <a:rPr lang="en-US" altLang="zh-CN" dirty="0"/>
              <a:t>2 —</a:t>
            </a:r>
            <a:r>
              <a:rPr lang="zh-CN" altLang="en-US" dirty="0"/>
              <a:t>双向传输方式</a:t>
            </a:r>
            <a:endParaRPr lang="en-US" altLang="zh-CN" dirty="0"/>
          </a:p>
          <a:p>
            <a:pPr lvl="1" eaLnBrk="1" hangingPunct="1"/>
            <a:r>
              <a:rPr lang="zh-CN" altLang="zh-CN" sz="2800" dirty="0"/>
              <a:t>端口A可以工作在这3种方式的任何一种。</a:t>
            </a:r>
            <a:endParaRPr lang="zh-CN" altLang="zh-CN" sz="2800" dirty="0"/>
          </a:p>
          <a:p>
            <a:pPr lvl="1" eaLnBrk="1" hangingPunct="1"/>
            <a:r>
              <a:rPr lang="zh-CN" altLang="zh-CN" sz="2800" dirty="0"/>
              <a:t>端口B只能工作在方式0或方式1。</a:t>
            </a:r>
            <a:endParaRPr lang="zh-CN" altLang="zh-CN" sz="2800" dirty="0"/>
          </a:p>
          <a:p>
            <a:pPr lvl="1" eaLnBrk="1" hangingPunct="1"/>
            <a:r>
              <a:rPr lang="zh-CN" altLang="zh-CN" sz="2800" dirty="0"/>
              <a:t>端口C除作为一般输入/输出口之外，常用作配合端口A和端口B工作的控制联络口。</a:t>
            </a:r>
            <a:endParaRPr lang="zh-CN" altLang="zh-CN" sz="2800" dirty="0"/>
          </a:p>
          <a:p>
            <a:pPr eaLnBrk="1" hangingPunct="1"/>
            <a:r>
              <a:rPr lang="zh-CN" altLang="zh-CN" dirty="0"/>
              <a:t>工作方式可以通过向控制口写入方式控制字来设置。</a:t>
            </a:r>
            <a:endParaRPr lang="zh-CN" altLang="zh-CN" dirty="0"/>
          </a:p>
          <a:p>
            <a:endParaRPr lang="zh-CN" altLang="en-US" dirty="0"/>
          </a:p>
        </p:txBody>
      </p:sp>
      <p:sp>
        <p:nvSpPr>
          <p:cNvPr id="4" name="日期占位符 3"/>
          <p:cNvSpPr>
            <a:spLocks noGrp="1"/>
          </p:cNvSpPr>
          <p:nvPr>
            <p:ph type="dt" sz="half" idx="10"/>
          </p:nvPr>
        </p:nvSpPr>
        <p:spPr/>
        <p:txBody>
          <a:bodyPr/>
          <a:lstStyle/>
          <a:p>
            <a:pPr>
              <a:defRPr/>
            </a:pPr>
            <a:fld id="{80DD7305-223D-49FE-A180-307A32466C26}"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方式</a:t>
            </a:r>
            <a:r>
              <a:rPr lang="en-US" altLang="zh-CN" dirty="0"/>
              <a:t>0</a:t>
            </a:r>
            <a:r>
              <a:rPr lang="zh-CN" altLang="en-US" dirty="0"/>
              <a:t>的工作特点</a:t>
            </a:r>
            <a:endParaRPr lang="zh-CN" altLang="en-US" dirty="0"/>
          </a:p>
        </p:txBody>
      </p:sp>
      <p:sp>
        <p:nvSpPr>
          <p:cNvPr id="3" name="内容占位符 2"/>
          <p:cNvSpPr>
            <a:spLocks noGrp="1"/>
          </p:cNvSpPr>
          <p:nvPr>
            <p:ph idx="1"/>
          </p:nvPr>
        </p:nvSpPr>
        <p:spPr/>
        <p:txBody>
          <a:bodyPr/>
          <a:lstStyle/>
          <a:p>
            <a:r>
              <a:rPr lang="zh-CN" altLang="en-US" dirty="0"/>
              <a:t>三个端口都可作为输入口，也可作为输出口，各个端口之间没有必然的联系。其中，端口</a:t>
            </a:r>
            <a:r>
              <a:rPr lang="en-US" altLang="zh-CN" dirty="0"/>
              <a:t>C</a:t>
            </a:r>
            <a:r>
              <a:rPr lang="zh-CN" altLang="en-US" dirty="0"/>
              <a:t>的高</a:t>
            </a:r>
            <a:r>
              <a:rPr lang="en-US" altLang="zh-CN" dirty="0"/>
              <a:t>4</a:t>
            </a:r>
            <a:r>
              <a:rPr lang="zh-CN" altLang="en-US" dirty="0"/>
              <a:t>位和低</a:t>
            </a:r>
            <a:r>
              <a:rPr lang="en-US" altLang="zh-CN" dirty="0"/>
              <a:t>4</a:t>
            </a:r>
            <a:r>
              <a:rPr lang="zh-CN" altLang="en-US" dirty="0"/>
              <a:t>位定义为两个独立的</a:t>
            </a:r>
            <a:r>
              <a:rPr lang="en-US" altLang="zh-CN" dirty="0"/>
              <a:t>4</a:t>
            </a:r>
            <a:r>
              <a:rPr lang="zh-CN" altLang="en-US" dirty="0"/>
              <a:t>位输入或输出口。</a:t>
            </a:r>
            <a:endParaRPr lang="zh-CN" altLang="en-US" dirty="0"/>
          </a:p>
          <a:p>
            <a:r>
              <a:rPr lang="zh-CN" altLang="en-US" dirty="0"/>
              <a:t>常用于无条件数据传送或查询方式数据传送等场合。</a:t>
            </a:r>
            <a:endParaRPr lang="en-US" altLang="zh-CN" dirty="0"/>
          </a:p>
          <a:p>
            <a:pPr lvl="1"/>
            <a:r>
              <a:rPr lang="zh-CN" altLang="en-US" dirty="0"/>
              <a:t>无条件传送方式下，可以对三个端口直接进行读写操作；</a:t>
            </a:r>
            <a:endParaRPr lang="en-US" altLang="zh-CN" dirty="0"/>
          </a:p>
          <a:p>
            <a:pPr lvl="1"/>
            <a:r>
              <a:rPr lang="zh-CN" altLang="en-US" dirty="0"/>
              <a:t>查询方式下，可以将端口</a:t>
            </a:r>
            <a:r>
              <a:rPr lang="en-US" altLang="zh-CN" dirty="0"/>
              <a:t>C</a:t>
            </a:r>
            <a:r>
              <a:rPr lang="zh-CN" altLang="en-US" dirty="0"/>
              <a:t>的部分位作为状态位或联络信号使用。</a:t>
            </a:r>
            <a:endParaRPr lang="zh-CN" altLang="en-US" dirty="0"/>
          </a:p>
        </p:txBody>
      </p:sp>
      <p:sp>
        <p:nvSpPr>
          <p:cNvPr id="4" name="日期占位符 3"/>
          <p:cNvSpPr>
            <a:spLocks noGrp="1"/>
          </p:cNvSpPr>
          <p:nvPr>
            <p:ph type="dt" sz="half" idx="10"/>
          </p:nvPr>
        </p:nvSpPr>
        <p:spPr/>
        <p:txBody>
          <a:bodyPr/>
          <a:lstStyle/>
          <a:p>
            <a:pPr>
              <a:defRPr/>
            </a:pPr>
            <a:fld id="{2D1779A5-BCC8-41D4-A766-1293F155F448}"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方式</a:t>
            </a:r>
            <a:r>
              <a:rPr lang="en-US" altLang="zh-CN" dirty="0"/>
              <a:t>1</a:t>
            </a:r>
            <a:r>
              <a:rPr lang="zh-CN" altLang="en-US" dirty="0"/>
              <a:t>的工作特点</a:t>
            </a:r>
            <a:endParaRPr lang="zh-CN" altLang="en-US" dirty="0"/>
          </a:p>
        </p:txBody>
      </p:sp>
      <p:sp>
        <p:nvSpPr>
          <p:cNvPr id="3" name="内容占位符 2"/>
          <p:cNvSpPr>
            <a:spLocks noGrp="1"/>
          </p:cNvSpPr>
          <p:nvPr>
            <p:ph idx="1"/>
          </p:nvPr>
        </p:nvSpPr>
        <p:spPr/>
        <p:txBody>
          <a:bodyPr/>
          <a:lstStyle/>
          <a:p>
            <a:r>
              <a:rPr lang="zh-CN" altLang="en-US" dirty="0"/>
              <a:t>端口</a:t>
            </a:r>
            <a:r>
              <a:rPr lang="en-US" altLang="zh-CN" dirty="0"/>
              <a:t>A</a:t>
            </a:r>
            <a:r>
              <a:rPr lang="zh-CN" altLang="en-US" dirty="0"/>
              <a:t>和端口</a:t>
            </a:r>
            <a:r>
              <a:rPr lang="en-US" altLang="zh-CN" dirty="0"/>
              <a:t>B</a:t>
            </a:r>
            <a:r>
              <a:rPr lang="zh-CN" altLang="en-US" dirty="0"/>
              <a:t>可分别作为数据口工作于方式</a:t>
            </a:r>
            <a:r>
              <a:rPr lang="en-US" altLang="zh-CN" dirty="0"/>
              <a:t>1</a:t>
            </a:r>
            <a:r>
              <a:rPr lang="zh-CN" altLang="en-US" dirty="0"/>
              <a:t>，它们可设置为输入或输出；</a:t>
            </a:r>
            <a:endParaRPr lang="zh-CN" altLang="en-US" dirty="0"/>
          </a:p>
          <a:p>
            <a:r>
              <a:rPr lang="zh-CN" altLang="en-US" dirty="0"/>
              <a:t>端口</a:t>
            </a:r>
            <a:r>
              <a:rPr lang="en-US" altLang="zh-CN" dirty="0"/>
              <a:t>A</a:t>
            </a:r>
            <a:r>
              <a:rPr lang="zh-CN" altLang="en-US" dirty="0"/>
              <a:t>或端口</a:t>
            </a:r>
            <a:r>
              <a:rPr lang="en-US" altLang="zh-CN" dirty="0"/>
              <a:t>B</a:t>
            </a:r>
            <a:r>
              <a:rPr lang="zh-CN" altLang="en-US" dirty="0"/>
              <a:t>中如有一个端口工作于方式</a:t>
            </a:r>
            <a:r>
              <a:rPr lang="en-US" altLang="zh-CN" dirty="0"/>
              <a:t>1</a:t>
            </a:r>
            <a:r>
              <a:rPr lang="zh-CN" altLang="en-US" dirty="0"/>
              <a:t>，则端口</a:t>
            </a:r>
            <a:r>
              <a:rPr lang="en-US" altLang="zh-CN" dirty="0"/>
              <a:t>C</a:t>
            </a:r>
            <a:r>
              <a:rPr lang="zh-CN" altLang="en-US" dirty="0"/>
              <a:t>中会有</a:t>
            </a:r>
            <a:r>
              <a:rPr lang="en-US" altLang="zh-CN" dirty="0"/>
              <a:t>3</a:t>
            </a:r>
            <a:r>
              <a:rPr lang="zh-CN" altLang="en-US" dirty="0"/>
              <a:t>位作为该端口的控制信号，此时，另外一个端口和端口</a:t>
            </a:r>
            <a:r>
              <a:rPr lang="en-US" altLang="zh-CN" dirty="0"/>
              <a:t>C</a:t>
            </a:r>
            <a:r>
              <a:rPr lang="zh-CN" altLang="en-US" dirty="0"/>
              <a:t>中的其它数位可工作于方式</a:t>
            </a:r>
            <a:r>
              <a:rPr lang="en-US" altLang="zh-CN" dirty="0"/>
              <a:t>0</a:t>
            </a:r>
            <a:r>
              <a:rPr lang="zh-CN" altLang="en-US" dirty="0"/>
              <a:t>。</a:t>
            </a:r>
            <a:endParaRPr lang="zh-CN" altLang="en-US" dirty="0"/>
          </a:p>
          <a:p>
            <a:r>
              <a:rPr lang="zh-CN" altLang="en-US" dirty="0"/>
              <a:t>端口</a:t>
            </a:r>
            <a:r>
              <a:rPr lang="en-US" altLang="zh-CN" dirty="0"/>
              <a:t>A</a:t>
            </a:r>
            <a:r>
              <a:rPr lang="zh-CN" altLang="en-US" dirty="0"/>
              <a:t>或端口</a:t>
            </a:r>
            <a:r>
              <a:rPr lang="en-US" altLang="zh-CN" dirty="0"/>
              <a:t>B</a:t>
            </a:r>
            <a:r>
              <a:rPr lang="zh-CN" altLang="en-US" dirty="0"/>
              <a:t>如都工作于方式</a:t>
            </a:r>
            <a:r>
              <a:rPr lang="en-US" altLang="zh-CN" dirty="0"/>
              <a:t>1</a:t>
            </a:r>
            <a:r>
              <a:rPr lang="zh-CN" altLang="en-US" dirty="0"/>
              <a:t>，则端口</a:t>
            </a:r>
            <a:r>
              <a:rPr lang="en-US" altLang="zh-CN" dirty="0"/>
              <a:t>C</a:t>
            </a:r>
            <a:r>
              <a:rPr lang="zh-CN" altLang="en-US" dirty="0"/>
              <a:t>中会有</a:t>
            </a:r>
            <a:r>
              <a:rPr lang="en-US" altLang="zh-CN" dirty="0"/>
              <a:t>6</a:t>
            </a:r>
            <a:r>
              <a:rPr lang="zh-CN" altLang="en-US" dirty="0"/>
              <a:t>位作为二个端口的控制信号，剩余</a:t>
            </a:r>
            <a:r>
              <a:rPr lang="en-US" altLang="zh-CN" dirty="0"/>
              <a:t>2</a:t>
            </a:r>
            <a:r>
              <a:rPr lang="zh-CN" altLang="en-US" dirty="0"/>
              <a:t>位，仍可作为输入</a:t>
            </a:r>
            <a:r>
              <a:rPr lang="en-US" altLang="zh-CN" dirty="0"/>
              <a:t>/</a:t>
            </a:r>
            <a:r>
              <a:rPr lang="zh-CN" altLang="en-US" dirty="0"/>
              <a:t>输出使用。</a:t>
            </a:r>
            <a:endParaRPr lang="zh-CN" altLang="en-US" dirty="0"/>
          </a:p>
        </p:txBody>
      </p:sp>
      <p:sp>
        <p:nvSpPr>
          <p:cNvPr id="4" name="日期占位符 3"/>
          <p:cNvSpPr>
            <a:spLocks noGrp="1"/>
          </p:cNvSpPr>
          <p:nvPr>
            <p:ph type="dt" sz="half" idx="10"/>
          </p:nvPr>
        </p:nvSpPr>
        <p:spPr/>
        <p:txBody>
          <a:bodyPr/>
          <a:lstStyle/>
          <a:p>
            <a:pPr>
              <a:defRPr/>
            </a:pPr>
            <a:fld id="{6D831F81-3CB4-44E9-BC5E-8AC7031B49AC}"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3.方式2-双向传输方式</a:t>
            </a:r>
            <a:endParaRPr lang="zh-CN" altLang="en-US" dirty="0"/>
          </a:p>
        </p:txBody>
      </p:sp>
      <p:sp>
        <p:nvSpPr>
          <p:cNvPr id="3" name="内容占位符 2"/>
          <p:cNvSpPr>
            <a:spLocks noGrp="1"/>
          </p:cNvSpPr>
          <p:nvPr>
            <p:ph idx="1"/>
          </p:nvPr>
        </p:nvSpPr>
        <p:spPr/>
        <p:txBody>
          <a:bodyPr/>
          <a:lstStyle/>
          <a:p>
            <a:pPr eaLnBrk="1" hangingPunct="1">
              <a:lnSpc>
                <a:spcPct val="90000"/>
              </a:lnSpc>
            </a:pPr>
            <a:r>
              <a:rPr lang="zh-CN" altLang="zh-CN" dirty="0"/>
              <a:t>8255A的数据端口中，只有端口A可以工作在此种方式下。</a:t>
            </a:r>
            <a:endParaRPr lang="zh-CN" altLang="zh-CN" dirty="0"/>
          </a:p>
          <a:p>
            <a:pPr eaLnBrk="1" hangingPunct="1">
              <a:lnSpc>
                <a:spcPct val="90000"/>
              </a:lnSpc>
            </a:pPr>
            <a:r>
              <a:rPr lang="zh-CN" altLang="zh-CN" dirty="0"/>
              <a:t>当端口A工作在方式2时，CPU通过8255A既可以向外设发送数据，又可以从外设接收数据，故称为双向传输方式。 </a:t>
            </a:r>
            <a:endParaRPr lang="zh-CN" altLang="zh-CN" dirty="0"/>
          </a:p>
          <a:p>
            <a:r>
              <a:rPr lang="zh-CN" altLang="en-US" dirty="0"/>
              <a:t>端口</a:t>
            </a:r>
            <a:r>
              <a:rPr lang="en-US" altLang="zh-CN" dirty="0"/>
              <a:t>C</a:t>
            </a:r>
            <a:r>
              <a:rPr lang="zh-CN" altLang="en-US" dirty="0"/>
              <a:t>的</a:t>
            </a:r>
            <a:r>
              <a:rPr lang="en-US" altLang="zh-CN" dirty="0"/>
              <a:t>PC3~PC7</a:t>
            </a:r>
            <a:r>
              <a:rPr lang="zh-CN" altLang="en-US" dirty="0"/>
              <a:t>作为控制信号。</a:t>
            </a:r>
            <a:endParaRPr lang="zh-CN" altLang="en-US" dirty="0"/>
          </a:p>
        </p:txBody>
      </p:sp>
      <p:sp>
        <p:nvSpPr>
          <p:cNvPr id="4" name="日期占位符 3"/>
          <p:cNvSpPr>
            <a:spLocks noGrp="1"/>
          </p:cNvSpPr>
          <p:nvPr>
            <p:ph type="dt" sz="half" idx="10"/>
          </p:nvPr>
        </p:nvSpPr>
        <p:spPr/>
        <p:txBody>
          <a:bodyPr/>
          <a:lstStyle/>
          <a:p>
            <a:pPr>
              <a:defRPr/>
            </a:pPr>
            <a:fld id="{F173895E-9FAB-4C0A-9B68-33CE10BAAB2E}"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8255A</a:t>
            </a:r>
            <a:r>
              <a:rPr lang="zh-CN" altLang="en-US" dirty="0"/>
              <a:t>的编程及应用</a:t>
            </a:r>
            <a:endParaRPr lang="zh-CN" altLang="en-US" dirty="0"/>
          </a:p>
        </p:txBody>
      </p:sp>
      <p:sp>
        <p:nvSpPr>
          <p:cNvPr id="3" name="内容占位符 2"/>
          <p:cNvSpPr>
            <a:spLocks noGrp="1"/>
          </p:cNvSpPr>
          <p:nvPr>
            <p:ph idx="1"/>
          </p:nvPr>
        </p:nvSpPr>
        <p:spPr/>
        <p:txBody>
          <a:bodyPr/>
          <a:lstStyle/>
          <a:p>
            <a:r>
              <a:rPr lang="zh-CN" altLang="en-US" dirty="0" smtClean="0"/>
              <a:t>习题集 例题   习题</a:t>
            </a:r>
            <a:r>
              <a:rPr lang="zh-CN" altLang="zh-CN" dirty="0" smtClean="0"/>
              <a:t>（端口地址，编程实现具体应用）。</a:t>
            </a:r>
            <a:endParaRPr lang="zh-CN" altLang="zh-CN" dirty="0" smtClean="0"/>
          </a:p>
          <a:p>
            <a:r>
              <a:rPr lang="en-US" altLang="zh-CN" dirty="0"/>
              <a:t>1.7.1</a:t>
            </a:r>
            <a:r>
              <a:rPr lang="zh-CN" altLang="en-US" dirty="0"/>
              <a:t>例题</a:t>
            </a:r>
            <a:r>
              <a:rPr lang="en-US" altLang="zh-CN" dirty="0"/>
              <a:t> 2  6  1.7.2</a:t>
            </a:r>
            <a:r>
              <a:rPr lang="zh-CN" altLang="en-US" dirty="0"/>
              <a:t>习题</a:t>
            </a:r>
            <a:r>
              <a:rPr lang="en-US" altLang="zh-CN" dirty="0"/>
              <a:t>7</a:t>
            </a:r>
            <a:endParaRPr lang="en-US" altLang="zh-CN"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lgn="l">
              <a:buNone/>
            </a:pPr>
            <a:r>
              <a:rPr lang="zh-CN" altLang="en-US" dirty="0" smtClean="0"/>
              <a:t>                   第</a:t>
            </a:r>
            <a:r>
              <a:rPr lang="en-US" altLang="zh-CN" dirty="0" smtClean="0"/>
              <a:t>8</a:t>
            </a:r>
            <a:r>
              <a:rPr lang="zh-CN" altLang="en-US" dirty="0" smtClean="0"/>
              <a:t>章串行接口</a:t>
            </a:r>
            <a:br>
              <a:rPr lang="en-US" altLang="zh-CN" dirty="0" smtClean="0"/>
            </a:br>
            <a:r>
              <a:rPr lang="zh-CN" altLang="en-US" sz="3200" dirty="0" smtClean="0"/>
              <a:t>波特率</a:t>
            </a:r>
            <a:endParaRPr lang="zh-CN" altLang="en-US" sz="3200" dirty="0"/>
          </a:p>
        </p:txBody>
      </p:sp>
      <p:sp>
        <p:nvSpPr>
          <p:cNvPr id="3" name="内容占位符 2"/>
          <p:cNvSpPr>
            <a:spLocks noGrp="1"/>
          </p:cNvSpPr>
          <p:nvPr>
            <p:ph idx="1"/>
          </p:nvPr>
        </p:nvSpPr>
        <p:spPr/>
        <p:txBody>
          <a:bodyPr/>
          <a:lstStyle/>
          <a:p>
            <a:r>
              <a:rPr lang="zh-CN" altLang="en-US" dirty="0"/>
              <a:t>串行通信的传输速率也称波特率</a:t>
            </a:r>
            <a:r>
              <a:rPr lang="en-US" altLang="zh-CN" dirty="0"/>
              <a:t>(Baud Rate)</a:t>
            </a:r>
            <a:r>
              <a:rPr lang="zh-CN" altLang="en-US" dirty="0"/>
              <a:t>，即</a:t>
            </a:r>
            <a:r>
              <a:rPr lang="zh-CN" altLang="en-US" dirty="0">
                <a:solidFill>
                  <a:srgbClr val="FF0000"/>
                </a:solidFill>
              </a:rPr>
              <a:t>每秒传输的二进制位数。</a:t>
            </a:r>
            <a:r>
              <a:rPr lang="zh-CN" altLang="en-US" dirty="0"/>
              <a:t>标准波特率系列为</a:t>
            </a:r>
            <a:r>
              <a:rPr lang="en-US" altLang="zh-CN" dirty="0"/>
              <a:t>110</a:t>
            </a:r>
            <a:r>
              <a:rPr lang="zh-CN" altLang="en-US" dirty="0"/>
              <a:t>、</a:t>
            </a:r>
            <a:r>
              <a:rPr lang="en-US" altLang="zh-CN" dirty="0"/>
              <a:t>300</a:t>
            </a:r>
            <a:r>
              <a:rPr lang="zh-CN" altLang="en-US" dirty="0"/>
              <a:t>、</a:t>
            </a:r>
            <a:r>
              <a:rPr lang="en-US" altLang="zh-CN" dirty="0"/>
              <a:t>600</a:t>
            </a:r>
            <a:r>
              <a:rPr lang="zh-CN" altLang="en-US" dirty="0"/>
              <a:t>、</a:t>
            </a:r>
            <a:r>
              <a:rPr lang="en-US" altLang="zh-CN" dirty="0"/>
              <a:t>1200</a:t>
            </a:r>
            <a:r>
              <a:rPr lang="zh-CN" altLang="en-US" dirty="0"/>
              <a:t>、</a:t>
            </a:r>
            <a:r>
              <a:rPr lang="en-US" altLang="zh-CN" dirty="0"/>
              <a:t>1800</a:t>
            </a:r>
            <a:r>
              <a:rPr lang="zh-CN" altLang="en-US" dirty="0"/>
              <a:t>、</a:t>
            </a:r>
            <a:r>
              <a:rPr lang="en-US" altLang="zh-CN" dirty="0"/>
              <a:t>2400</a:t>
            </a:r>
            <a:r>
              <a:rPr lang="zh-CN" altLang="en-US" dirty="0"/>
              <a:t>、</a:t>
            </a:r>
            <a:r>
              <a:rPr lang="en-US" altLang="zh-CN" dirty="0"/>
              <a:t>4800</a:t>
            </a:r>
            <a:r>
              <a:rPr lang="zh-CN" altLang="en-US" dirty="0"/>
              <a:t>、</a:t>
            </a:r>
            <a:r>
              <a:rPr lang="en-US" altLang="zh-CN" dirty="0"/>
              <a:t>9600</a:t>
            </a:r>
            <a:r>
              <a:rPr lang="zh-CN" altLang="en-US" dirty="0"/>
              <a:t>和</a:t>
            </a:r>
            <a:r>
              <a:rPr lang="en-US" altLang="zh-CN" dirty="0"/>
              <a:t>19200</a:t>
            </a:r>
            <a:r>
              <a:rPr lang="zh-CN" altLang="en-US" dirty="0"/>
              <a:t>。现在，数据传输速率可以达到</a:t>
            </a:r>
            <a:r>
              <a:rPr lang="en-US" altLang="zh-CN" dirty="0"/>
              <a:t>115200bps</a:t>
            </a:r>
            <a:r>
              <a:rPr lang="zh-CN" altLang="en-US" dirty="0"/>
              <a:t>或更高。</a:t>
            </a:r>
            <a:endParaRPr lang="zh-CN" altLang="en-US" dirty="0"/>
          </a:p>
          <a:p>
            <a:r>
              <a:rPr lang="zh-CN" altLang="en-US" dirty="0"/>
              <a:t>例如，波特率为</a:t>
            </a:r>
            <a:r>
              <a:rPr lang="en-US" altLang="zh-CN" dirty="0"/>
              <a:t>1200</a:t>
            </a:r>
            <a:r>
              <a:rPr lang="zh-CN" altLang="en-US" dirty="0"/>
              <a:t>，对于采用</a:t>
            </a:r>
            <a:r>
              <a:rPr lang="en-US" altLang="zh-CN" dirty="0"/>
              <a:t>1</a:t>
            </a:r>
            <a:r>
              <a:rPr lang="zh-CN" altLang="en-US" dirty="0"/>
              <a:t>个停止位、不用校验的</a:t>
            </a:r>
            <a:r>
              <a:rPr lang="en-US" altLang="zh-CN" dirty="0"/>
              <a:t>8</a:t>
            </a:r>
            <a:r>
              <a:rPr lang="zh-CN" altLang="en-US" dirty="0"/>
              <a:t>位数据传送来说，一个字符共有</a:t>
            </a:r>
            <a:r>
              <a:rPr lang="en-US" altLang="zh-CN" dirty="0"/>
              <a:t>10</a:t>
            </a:r>
            <a:r>
              <a:rPr lang="zh-CN" altLang="en-US" dirty="0"/>
              <a:t>位，则每秒能传送</a:t>
            </a:r>
            <a:r>
              <a:rPr lang="en-US" altLang="zh-CN" dirty="0"/>
              <a:t>120(=1200/10)</a:t>
            </a:r>
            <a:r>
              <a:rPr lang="zh-CN" altLang="en-US" dirty="0"/>
              <a:t>个字符</a:t>
            </a:r>
            <a:r>
              <a:rPr lang="zh-CN" altLang="en-US" dirty="0" smtClean="0"/>
              <a:t>。</a:t>
            </a:r>
            <a:endParaRPr lang="zh-CN" altLang="en-US" dirty="0"/>
          </a:p>
        </p:txBody>
      </p:sp>
      <p:sp>
        <p:nvSpPr>
          <p:cNvPr id="4" name="日期占位符 3"/>
          <p:cNvSpPr>
            <a:spLocks noGrp="1"/>
          </p:cNvSpPr>
          <p:nvPr>
            <p:ph type="dt" sz="half" idx="10"/>
          </p:nvPr>
        </p:nvSpPr>
        <p:spPr/>
        <p:txBody>
          <a:bodyPr/>
          <a:lstStyle/>
          <a:p>
            <a:pPr>
              <a:defRPr/>
            </a:pPr>
            <a:fld id="{6FC3F85C-E45A-46E5-B5A6-5FC810671269}"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noProof="1" smtClean="0"/>
              <a:t>                 第</a:t>
            </a:r>
            <a:r>
              <a:rPr lang="en-US" altLang="zh-CN" noProof="1" smtClean="0"/>
              <a:t>9</a:t>
            </a:r>
            <a:r>
              <a:rPr lang="zh-CN" altLang="en-US" noProof="1" smtClean="0"/>
              <a:t>章  计数器、定时器</a:t>
            </a:r>
            <a:br>
              <a:rPr lang="en-US" altLang="zh-CN" noProof="1" smtClean="0"/>
            </a:br>
            <a:r>
              <a:rPr lang="en-US" altLang="zh-CN" noProof="1" smtClean="0"/>
              <a:t> </a:t>
            </a:r>
            <a:r>
              <a:rPr lang="en-US" altLang="zh-CN" sz="3200" dirty="0"/>
              <a:t>8253</a:t>
            </a:r>
            <a:r>
              <a:rPr lang="zh-CN" altLang="en-US" sz="3200" dirty="0"/>
              <a:t>的控制字</a:t>
            </a:r>
            <a:endParaRPr lang="zh-CN" altLang="en-US" sz="3200" dirty="0"/>
          </a:p>
        </p:txBody>
      </p:sp>
      <p:sp>
        <p:nvSpPr>
          <p:cNvPr id="3" name="内容占位符 2"/>
          <p:cNvSpPr>
            <a:spLocks noGrp="1"/>
          </p:cNvSpPr>
          <p:nvPr>
            <p:ph idx="1"/>
          </p:nvPr>
        </p:nvSpPr>
        <p:spPr>
          <a:xfrm>
            <a:off x="609601" y="1719263"/>
            <a:ext cx="4698669" cy="4411662"/>
          </a:xfrm>
        </p:spPr>
        <p:txBody>
          <a:bodyPr/>
          <a:lstStyle/>
          <a:p>
            <a:pPr lvl="1"/>
            <a:r>
              <a:rPr lang="zh-CN" altLang="en-US" dirty="0"/>
              <a:t>在使用</a:t>
            </a:r>
            <a:r>
              <a:rPr lang="en-US" altLang="zh-CN" dirty="0"/>
              <a:t>8253</a:t>
            </a:r>
            <a:r>
              <a:rPr lang="zh-CN" altLang="en-US" dirty="0"/>
              <a:t>前，必须对它进行初始化编程</a:t>
            </a:r>
            <a:r>
              <a:rPr lang="en-US" altLang="zh-CN" dirty="0"/>
              <a:t>;</a:t>
            </a:r>
            <a:endParaRPr lang="en-US" altLang="zh-CN" dirty="0"/>
          </a:p>
          <a:p>
            <a:pPr lvl="1"/>
            <a:r>
              <a:rPr lang="zh-CN" altLang="en-US" dirty="0"/>
              <a:t>对</a:t>
            </a:r>
            <a:r>
              <a:rPr lang="en-US" altLang="zh-CN" dirty="0"/>
              <a:t>8253</a:t>
            </a:r>
            <a:r>
              <a:rPr lang="zh-CN" altLang="en-US" dirty="0"/>
              <a:t>的工作方式、计数方式、操作方式的确定和计数器的选择都是由控制字来确定的</a:t>
            </a:r>
            <a:r>
              <a:rPr lang="en-US" altLang="zh-CN" dirty="0"/>
              <a:t>;</a:t>
            </a:r>
            <a:endParaRPr lang="en-US" altLang="zh-CN" dirty="0"/>
          </a:p>
          <a:p>
            <a:pPr lvl="1"/>
            <a:r>
              <a:rPr lang="zh-CN" altLang="en-US" dirty="0"/>
              <a:t>不同计数器的控制字必须分别设置，但它的端口地址共用一个。</a:t>
            </a:r>
            <a:endParaRPr lang="zh-CN" altLang="en-US" dirty="0"/>
          </a:p>
        </p:txBody>
      </p:sp>
      <p:sp>
        <p:nvSpPr>
          <p:cNvPr id="4" name="日期占位符 3"/>
          <p:cNvSpPr>
            <a:spLocks noGrp="1"/>
          </p:cNvSpPr>
          <p:nvPr>
            <p:ph type="dt" sz="half" idx="10"/>
          </p:nvPr>
        </p:nvSpPr>
        <p:spPr/>
        <p:txBody>
          <a:bodyPr/>
          <a:lstStyle/>
          <a:p>
            <a:pPr>
              <a:defRPr/>
            </a:pPr>
            <a:fld id="{AF0AA5C2-A770-4C8A-A16C-035E6EE812F2}"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438899" y="1592588"/>
            <a:ext cx="4857398" cy="3969123"/>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8253</a:t>
            </a:r>
            <a:r>
              <a:rPr lang="zh-CN" altLang="en-US" dirty="0"/>
              <a:t>的初始化编程</a:t>
            </a:r>
            <a:endParaRPr lang="zh-CN" altLang="en-US" dirty="0"/>
          </a:p>
        </p:txBody>
      </p:sp>
      <p:sp>
        <p:nvSpPr>
          <p:cNvPr id="3" name="内容占位符 2"/>
          <p:cNvSpPr>
            <a:spLocks noGrp="1"/>
          </p:cNvSpPr>
          <p:nvPr>
            <p:ph idx="1"/>
          </p:nvPr>
        </p:nvSpPr>
        <p:spPr/>
        <p:txBody>
          <a:bodyPr/>
          <a:lstStyle/>
          <a:p>
            <a:r>
              <a:rPr lang="zh-CN" altLang="en-US" dirty="0"/>
              <a:t>初始化编程的步骤为：</a:t>
            </a:r>
            <a:endParaRPr lang="zh-CN" altLang="en-US" dirty="0"/>
          </a:p>
          <a:p>
            <a:pPr marL="0" indent="0">
              <a:buNone/>
            </a:pPr>
            <a:r>
              <a:rPr lang="en-US" altLang="zh-CN" dirty="0"/>
              <a:t>   (1)</a:t>
            </a:r>
            <a:r>
              <a:rPr lang="zh-CN" altLang="en-US" dirty="0"/>
              <a:t>规定计数器的工作方式；</a:t>
            </a:r>
            <a:endParaRPr lang="zh-CN" altLang="en-US" dirty="0"/>
          </a:p>
          <a:p>
            <a:pPr marL="0" indent="0">
              <a:buNone/>
            </a:pPr>
            <a:r>
              <a:rPr lang="en-US" altLang="zh-CN" dirty="0"/>
              <a:t>   (2)</a:t>
            </a:r>
            <a:r>
              <a:rPr lang="zh-CN" altLang="en-US" dirty="0"/>
              <a:t>确定计数初值；</a:t>
            </a:r>
            <a:endParaRPr lang="zh-CN" altLang="en-US" dirty="0"/>
          </a:p>
          <a:p>
            <a:pPr marL="0" indent="0">
              <a:buNone/>
            </a:pPr>
            <a:r>
              <a:rPr lang="zh-CN" altLang="en-US" dirty="0"/>
              <a:t>   计数初值计算：</a:t>
            </a:r>
            <a:endParaRPr lang="zh-CN" altLang="en-US" dirty="0"/>
          </a:p>
          <a:p>
            <a:pPr marL="0" indent="0">
              <a:buNone/>
            </a:pPr>
            <a:r>
              <a:rPr lang="en-US" altLang="zh-CN" dirty="0"/>
              <a:t>   n=</a:t>
            </a:r>
            <a:r>
              <a:rPr lang="zh-CN" altLang="en-US" dirty="0"/>
              <a:t>时钟频率</a:t>
            </a:r>
            <a:r>
              <a:rPr lang="en-US" altLang="zh-CN" dirty="0"/>
              <a:t>f</a:t>
            </a:r>
            <a:r>
              <a:rPr lang="en-US" altLang="zh-CN" baseline="-25000" dirty="0"/>
              <a:t>c</a:t>
            </a:r>
            <a:r>
              <a:rPr lang="en-US" altLang="zh-CN" dirty="0"/>
              <a:t>/</a:t>
            </a:r>
            <a:r>
              <a:rPr lang="zh-CN" altLang="en-US" dirty="0"/>
              <a:t>输出频率</a:t>
            </a:r>
            <a:r>
              <a:rPr lang="en-US" altLang="zh-CN" dirty="0" err="1"/>
              <a:t>f</a:t>
            </a:r>
            <a:r>
              <a:rPr lang="en-US" altLang="zh-CN" baseline="-25000" dirty="0" err="1"/>
              <a:t>out</a:t>
            </a:r>
            <a:endParaRPr lang="en-US" altLang="zh-CN" dirty="0"/>
          </a:p>
          <a:p>
            <a:pPr marL="0" indent="0">
              <a:buNone/>
            </a:pPr>
            <a:r>
              <a:rPr lang="zh-CN" altLang="en-US" dirty="0"/>
              <a:t>   或者，定时时间</a:t>
            </a:r>
            <a:r>
              <a:rPr lang="en-US" altLang="zh-CN" dirty="0"/>
              <a:t>T</a:t>
            </a:r>
            <a:r>
              <a:rPr lang="en-US" altLang="zh-CN" baseline="-25000" dirty="0"/>
              <a:t>out</a:t>
            </a:r>
            <a:r>
              <a:rPr lang="en-US" altLang="zh-CN" dirty="0"/>
              <a:t>/</a:t>
            </a:r>
            <a:r>
              <a:rPr lang="zh-CN" altLang="en-US" dirty="0"/>
              <a:t>时钟脉冲周期时间</a:t>
            </a:r>
            <a:r>
              <a:rPr lang="en-US" altLang="zh-CN" dirty="0"/>
              <a:t>T</a:t>
            </a:r>
            <a:r>
              <a:rPr lang="en-US" altLang="zh-CN" baseline="-25000" dirty="0"/>
              <a:t>c</a:t>
            </a:r>
            <a:endParaRPr lang="en-US" altLang="zh-CN" baseline="-25000" dirty="0"/>
          </a:p>
          <a:p>
            <a:pPr marL="0" indent="0">
              <a:buNone/>
            </a:pPr>
            <a:r>
              <a:rPr lang="en-US" altLang="zh-CN" dirty="0"/>
              <a:t>   (3)</a:t>
            </a:r>
            <a:r>
              <a:rPr lang="zh-CN" altLang="en-US" dirty="0"/>
              <a:t>确定控制字</a:t>
            </a:r>
            <a:r>
              <a:rPr lang="en-US" altLang="zh-CN" dirty="0"/>
              <a:t>,</a:t>
            </a:r>
            <a:r>
              <a:rPr lang="zh-CN" altLang="en-US" dirty="0"/>
              <a:t>写控制字；</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8253</a:t>
            </a:r>
            <a:r>
              <a:rPr lang="zh-CN" altLang="en-US" dirty="0"/>
              <a:t>的初始化编程</a:t>
            </a:r>
            <a:endParaRPr lang="zh-CN" altLang="en-US" dirty="0"/>
          </a:p>
        </p:txBody>
      </p:sp>
      <p:sp>
        <p:nvSpPr>
          <p:cNvPr id="3" name="内容占位符 2"/>
          <p:cNvSpPr>
            <a:spLocks noGrp="1"/>
          </p:cNvSpPr>
          <p:nvPr>
            <p:ph idx="1"/>
          </p:nvPr>
        </p:nvSpPr>
        <p:spPr/>
        <p:txBody>
          <a:bodyPr/>
          <a:lstStyle/>
          <a:p>
            <a:pPr marL="0" indent="0">
              <a:buNone/>
            </a:pPr>
            <a:r>
              <a:rPr lang="en-US" altLang="zh-CN" dirty="0"/>
              <a:t>(4)</a:t>
            </a:r>
            <a:r>
              <a:rPr lang="zh-CN" altLang="en-US" dirty="0"/>
              <a:t>写计数初值</a:t>
            </a:r>
            <a:r>
              <a:rPr lang="en-US" altLang="zh-CN" dirty="0"/>
              <a:t>;</a:t>
            </a:r>
            <a:endParaRPr lang="en-US" altLang="zh-CN" dirty="0"/>
          </a:p>
          <a:p>
            <a:pPr lvl="1"/>
            <a:r>
              <a:rPr lang="zh-CN" altLang="en-US" dirty="0"/>
              <a:t>若规定只写低</a:t>
            </a:r>
            <a:r>
              <a:rPr lang="en-US" altLang="zh-CN" dirty="0"/>
              <a:t>8</a:t>
            </a:r>
            <a:r>
              <a:rPr lang="zh-CN" altLang="en-US" dirty="0"/>
              <a:t>位，则写入的为计数初值的低</a:t>
            </a:r>
            <a:r>
              <a:rPr lang="en-US" altLang="zh-CN" dirty="0"/>
              <a:t>8</a:t>
            </a:r>
            <a:r>
              <a:rPr lang="zh-CN" altLang="en-US" dirty="0"/>
              <a:t>位，高</a:t>
            </a:r>
            <a:r>
              <a:rPr lang="en-US" altLang="zh-CN" dirty="0"/>
              <a:t>8</a:t>
            </a:r>
            <a:r>
              <a:rPr lang="zh-CN" altLang="en-US" dirty="0"/>
              <a:t>位自动置</a:t>
            </a:r>
            <a:r>
              <a:rPr lang="en-US" altLang="zh-CN" dirty="0"/>
              <a:t>0;</a:t>
            </a:r>
            <a:endParaRPr lang="en-US" altLang="zh-CN" dirty="0"/>
          </a:p>
          <a:p>
            <a:pPr lvl="1"/>
            <a:r>
              <a:rPr lang="zh-CN" altLang="en-US" dirty="0"/>
              <a:t>若规定只写高</a:t>
            </a:r>
            <a:r>
              <a:rPr lang="en-US" altLang="zh-CN" dirty="0"/>
              <a:t>8</a:t>
            </a:r>
            <a:r>
              <a:rPr lang="zh-CN" altLang="en-US" dirty="0"/>
              <a:t>位，则写入的为计数初值的高</a:t>
            </a:r>
            <a:r>
              <a:rPr lang="en-US" altLang="zh-CN" dirty="0"/>
              <a:t>8</a:t>
            </a:r>
            <a:r>
              <a:rPr lang="zh-CN" altLang="en-US" dirty="0"/>
              <a:t>位，低</a:t>
            </a:r>
            <a:r>
              <a:rPr lang="en-US" altLang="zh-CN" dirty="0"/>
              <a:t>8</a:t>
            </a:r>
            <a:r>
              <a:rPr lang="zh-CN" altLang="en-US" dirty="0"/>
              <a:t>位自动置</a:t>
            </a:r>
            <a:r>
              <a:rPr lang="en-US" altLang="zh-CN" dirty="0"/>
              <a:t>0;</a:t>
            </a:r>
            <a:endParaRPr lang="en-US" altLang="zh-CN" dirty="0"/>
          </a:p>
          <a:p>
            <a:pPr lvl="1"/>
            <a:r>
              <a:rPr lang="zh-CN" altLang="en-US" dirty="0"/>
              <a:t>若是</a:t>
            </a:r>
            <a:r>
              <a:rPr lang="en-US" altLang="zh-CN" dirty="0"/>
              <a:t>16</a:t>
            </a:r>
            <a:r>
              <a:rPr lang="zh-CN" altLang="en-US" dirty="0"/>
              <a:t>位计数初值，则分两次写入，先写入低</a:t>
            </a:r>
            <a:r>
              <a:rPr lang="en-US" altLang="zh-CN" dirty="0"/>
              <a:t>8</a:t>
            </a:r>
            <a:r>
              <a:rPr lang="zh-CN" altLang="en-US" dirty="0"/>
              <a:t>位，再写入高</a:t>
            </a:r>
            <a:r>
              <a:rPr lang="en-US" altLang="zh-CN" dirty="0"/>
              <a:t>8</a:t>
            </a:r>
            <a:r>
              <a:rPr lang="zh-CN" altLang="en-US" dirty="0"/>
              <a:t>位。</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例</a:t>
            </a:r>
            <a:r>
              <a:rPr lang="en-US" altLang="zh-CN" noProof="1"/>
              <a:t>9.1</a:t>
            </a:r>
            <a:endParaRPr lang="zh-CN" altLang="en-US" dirty="0"/>
          </a:p>
        </p:txBody>
      </p:sp>
      <p:sp>
        <p:nvSpPr>
          <p:cNvPr id="3" name="内容占位符 2"/>
          <p:cNvSpPr>
            <a:spLocks noGrp="1"/>
          </p:cNvSpPr>
          <p:nvPr>
            <p:ph idx="1"/>
          </p:nvPr>
        </p:nvSpPr>
        <p:spPr>
          <a:xfrm>
            <a:off x="609600" y="1719263"/>
            <a:ext cx="10256321" cy="1071438"/>
          </a:xfrm>
        </p:spPr>
        <p:txBody>
          <a:bodyPr/>
          <a:lstStyle/>
          <a:p>
            <a:r>
              <a:rPr lang="zh-CN" altLang="en-US" dirty="0"/>
              <a:t>例</a:t>
            </a:r>
            <a:r>
              <a:rPr lang="en-US" altLang="zh-CN" dirty="0"/>
              <a:t>:</a:t>
            </a:r>
            <a:r>
              <a:rPr lang="zh-CN" altLang="en-US" dirty="0"/>
              <a:t>若要使计数器</a:t>
            </a:r>
            <a:r>
              <a:rPr lang="en-US" altLang="zh-CN" dirty="0"/>
              <a:t>0</a:t>
            </a:r>
            <a:r>
              <a:rPr lang="zh-CN" altLang="en-US" dirty="0"/>
              <a:t>工作在方式</a:t>
            </a:r>
            <a:r>
              <a:rPr lang="en-US" altLang="zh-CN" dirty="0"/>
              <a:t>1</a:t>
            </a:r>
            <a:r>
              <a:rPr lang="zh-CN" altLang="en-US" dirty="0"/>
              <a:t>，按</a:t>
            </a:r>
            <a:r>
              <a:rPr lang="en-US" altLang="zh-CN" dirty="0"/>
              <a:t>BCD</a:t>
            </a:r>
            <a:r>
              <a:rPr lang="zh-CN" altLang="en-US" dirty="0"/>
              <a:t>码计数，计数初值</a:t>
            </a:r>
            <a:endParaRPr lang="zh-CN" altLang="en-US" dirty="0"/>
          </a:p>
          <a:p>
            <a:r>
              <a:rPr lang="zh-CN" altLang="en-US" dirty="0"/>
              <a:t>为</a:t>
            </a:r>
            <a:r>
              <a:rPr lang="en-US" altLang="zh-CN" dirty="0"/>
              <a:t>5080</a:t>
            </a:r>
            <a:r>
              <a:rPr lang="zh-CN" altLang="en-US" dirty="0"/>
              <a:t>，若端口地址分别为</a:t>
            </a:r>
            <a:r>
              <a:rPr lang="en-US" altLang="zh-CN" dirty="0"/>
              <a:t>0F8H~0FBH</a:t>
            </a:r>
            <a:r>
              <a:rPr lang="zh-CN" altLang="en-US" dirty="0"/>
              <a:t>，则初始化程序为：</a:t>
            </a:r>
            <a:endParaRPr lang="zh-CN" altLang="en-US" dirty="0"/>
          </a:p>
        </p:txBody>
      </p:sp>
      <p:sp>
        <p:nvSpPr>
          <p:cNvPr id="4" name="日期占位符 3"/>
          <p:cNvSpPr>
            <a:spLocks noGrp="1"/>
          </p:cNvSpPr>
          <p:nvPr>
            <p:ph type="dt" sz="half" idx="10"/>
          </p:nvPr>
        </p:nvSpPr>
        <p:spPr/>
        <p:txBody>
          <a:bodyPr/>
          <a:lstStyle/>
          <a:p>
            <a:pPr>
              <a:defRPr/>
            </a:pPr>
            <a:fld id="{4C6E9E54-A11E-4A68-80BD-2C3846D9BC40}"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
        <p:nvSpPr>
          <p:cNvPr id="7" name="文本框 6"/>
          <p:cNvSpPr txBox="1"/>
          <p:nvPr/>
        </p:nvSpPr>
        <p:spPr>
          <a:xfrm>
            <a:off x="989496" y="3115838"/>
            <a:ext cx="6097978" cy="1938992"/>
          </a:xfrm>
          <a:prstGeom prst="rect">
            <a:avLst/>
          </a:prstGeom>
          <a:noFill/>
        </p:spPr>
        <p:txBody>
          <a:bodyPr wrap="square">
            <a:spAutoFit/>
          </a:bodyPr>
          <a:lstStyle/>
          <a:p>
            <a:r>
              <a:rPr lang="en-US" altLang="zh-CN" sz="2000" b="0" i="0" u="none" strike="noStrike" baseline="0" dirty="0">
                <a:solidFill>
                  <a:srgbClr val="000000"/>
                </a:solidFill>
                <a:latin typeface="Times New Roman" panose="02020603050405020304" pitchFamily="18" charset="0"/>
              </a:rPr>
              <a:t>MOV AL</a:t>
            </a:r>
            <a:r>
              <a:rPr lang="zh-CN" altLang="en-US" sz="2000" b="0" i="0" u="none" strike="noStrike" baseline="0" dirty="0">
                <a:solidFill>
                  <a:srgbClr val="000000"/>
                </a:solidFill>
                <a:latin typeface="楷体" panose="02010609060101010101" pitchFamily="49" charset="-122"/>
                <a:ea typeface="楷体" panose="02010609060101010101" pitchFamily="49" charset="-122"/>
              </a:rPr>
              <a:t>，</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33H </a:t>
            </a:r>
            <a:r>
              <a:rPr lang="zh-CN" altLang="en-US" sz="2000" b="0" i="0" u="none" strike="noStrike" baseline="0" dirty="0">
                <a:solidFill>
                  <a:srgbClr val="000000"/>
                </a:solidFill>
                <a:latin typeface="楷体" panose="02010609060101010101" pitchFamily="49" charset="-122"/>
                <a:ea typeface="楷体" panose="02010609060101010101" pitchFamily="49" charset="-122"/>
              </a:rPr>
              <a:t>；控制字为</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00110011B </a:t>
            </a:r>
            <a:endParaRPr lang="en-US" altLang="zh-CN" sz="2000" b="0" i="0" u="none" strike="noStrike" baseline="0" dirty="0">
              <a:solidFill>
                <a:srgbClr val="000000"/>
              </a:solidFill>
              <a:latin typeface="Times New Roman" panose="02020603050405020304" pitchFamily="18" charset="0"/>
              <a:ea typeface="楷体" panose="02010609060101010101" pitchFamily="49" charset="-122"/>
            </a:endParaRPr>
          </a:p>
          <a:p>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OUT 0FBH</a:t>
            </a:r>
            <a:r>
              <a:rPr lang="zh-CN" altLang="en-US" sz="2000" b="0" i="0" u="none" strike="noStrike" baseline="0" dirty="0">
                <a:solidFill>
                  <a:srgbClr val="000000"/>
                </a:solidFill>
                <a:latin typeface="楷体" panose="02010609060101010101" pitchFamily="49" charset="-122"/>
                <a:ea typeface="楷体" panose="02010609060101010101" pitchFamily="49" charset="-122"/>
              </a:rPr>
              <a:t>，</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AL </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；向计数器</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0</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写控制字</a:t>
            </a:r>
            <a:endParaRPr lang="zh-CN" altLang="en-US" sz="20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MOV AL</a:t>
            </a:r>
            <a:r>
              <a:rPr lang="zh-CN" altLang="en-US" sz="2000" b="0" i="0" u="none" strike="noStrike" baseline="0" dirty="0">
                <a:solidFill>
                  <a:srgbClr val="000000"/>
                </a:solidFill>
                <a:latin typeface="楷体" panose="02010609060101010101" pitchFamily="49" charset="-122"/>
                <a:ea typeface="楷体" panose="02010609060101010101" pitchFamily="49" charset="-122"/>
              </a:rPr>
              <a:t>，</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80H </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；十进制数值后加</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H </a:t>
            </a:r>
            <a:endParaRPr lang="en-US" altLang="zh-CN" sz="2000" b="0" i="0" u="none" strike="noStrike" baseline="0" dirty="0">
              <a:solidFill>
                <a:srgbClr val="000000"/>
              </a:solidFill>
              <a:latin typeface="Times New Roman" panose="02020603050405020304" pitchFamily="18" charset="0"/>
              <a:ea typeface="楷体" panose="02010609060101010101" pitchFamily="49" charset="-122"/>
            </a:endParaRPr>
          </a:p>
          <a:p>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OUT 0F8H</a:t>
            </a:r>
            <a:r>
              <a:rPr lang="zh-CN" altLang="en-US" sz="2000" b="0" i="0" u="none" strike="noStrike" baseline="0" dirty="0">
                <a:solidFill>
                  <a:srgbClr val="000000"/>
                </a:solidFill>
                <a:latin typeface="楷体" panose="02010609060101010101" pitchFamily="49" charset="-122"/>
                <a:ea typeface="楷体" panose="02010609060101010101" pitchFamily="49" charset="-122"/>
              </a:rPr>
              <a:t>，</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AL </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；向计数器</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0</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写计数初值的低</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8</a:t>
            </a:r>
            <a:r>
              <a:rPr lang="zh-CN" altLang="en-US" sz="2000" b="0" i="0" u="none" strike="noStrike" baseline="0" dirty="0">
                <a:solidFill>
                  <a:srgbClr val="000000"/>
                </a:solidFill>
                <a:latin typeface="楷体" panose="02010609060101010101" pitchFamily="49" charset="-122"/>
                <a:ea typeface="楷体" panose="02010609060101010101" pitchFamily="49" charset="-122"/>
              </a:rPr>
              <a:t>位</a:t>
            </a:r>
            <a:endParaRPr lang="zh-CN" altLang="en-US" sz="2000" b="0" i="0" u="none" strike="noStrike" baseline="0" dirty="0">
              <a:solidFill>
                <a:srgbClr val="000000"/>
              </a:solidFill>
              <a:latin typeface="楷体" panose="02010609060101010101" pitchFamily="49" charset="-122"/>
              <a:ea typeface="楷体" panose="02010609060101010101" pitchFamily="49" charset="-122"/>
            </a:endParaRPr>
          </a:p>
          <a:p>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MOV AL</a:t>
            </a:r>
            <a:r>
              <a:rPr lang="zh-CN" altLang="en-US" sz="2000" b="0" i="0" u="none" strike="noStrike" baseline="0" dirty="0">
                <a:solidFill>
                  <a:srgbClr val="000000"/>
                </a:solidFill>
                <a:latin typeface="楷体" panose="02010609060101010101" pitchFamily="49" charset="-122"/>
                <a:ea typeface="楷体" panose="02010609060101010101" pitchFamily="49" charset="-122"/>
              </a:rPr>
              <a:t>，</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50H </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；十进制数值后加</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H </a:t>
            </a:r>
            <a:endParaRPr lang="en-US" altLang="zh-CN" sz="2000" b="0" i="0" u="none" strike="noStrike" baseline="0" dirty="0">
              <a:solidFill>
                <a:srgbClr val="000000"/>
              </a:solidFill>
              <a:latin typeface="Times New Roman" panose="02020603050405020304" pitchFamily="18" charset="0"/>
              <a:ea typeface="楷体" panose="02010609060101010101" pitchFamily="49" charset="-122"/>
            </a:endParaRPr>
          </a:p>
          <a:p>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OUT 0F8H</a:t>
            </a:r>
            <a:r>
              <a:rPr lang="zh-CN" altLang="en-US" sz="2000" b="0" i="0" u="none" strike="noStrike" baseline="0" dirty="0">
                <a:solidFill>
                  <a:srgbClr val="000000"/>
                </a:solidFill>
                <a:latin typeface="楷体" panose="02010609060101010101" pitchFamily="49" charset="-122"/>
                <a:ea typeface="楷体" panose="02010609060101010101" pitchFamily="49" charset="-122"/>
              </a:rPr>
              <a:t>，</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AL </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；向计数器</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0</a:t>
            </a:r>
            <a:r>
              <a:rPr lang="zh-CN" altLang="en-US" sz="2000" b="0" i="0" u="none" strike="noStrike" baseline="0" dirty="0">
                <a:solidFill>
                  <a:srgbClr val="000000"/>
                </a:solidFill>
                <a:latin typeface="楷体" panose="02010609060101010101" pitchFamily="49" charset="-122"/>
                <a:ea typeface="楷体" panose="02010609060101010101" pitchFamily="49" charset="-122"/>
              </a:rPr>
              <a:t>写计数初值的高</a:t>
            </a:r>
            <a:r>
              <a:rPr lang="en-US" altLang="zh-CN" sz="2000" b="0" i="0" u="none" strike="noStrike" baseline="0" dirty="0">
                <a:solidFill>
                  <a:srgbClr val="000000"/>
                </a:solidFill>
                <a:latin typeface="Times New Roman" panose="02020603050405020304" pitchFamily="18" charset="0"/>
                <a:ea typeface="楷体" panose="02010609060101010101" pitchFamily="49" charset="-122"/>
              </a:rPr>
              <a:t>8</a:t>
            </a:r>
            <a:r>
              <a:rPr lang="zh-CN" altLang="en-US" sz="2000" b="0" i="0" u="none" strike="noStrike" baseline="0" dirty="0">
                <a:solidFill>
                  <a:srgbClr val="000000"/>
                </a:solidFill>
                <a:latin typeface="楷体" panose="02010609060101010101" pitchFamily="49" charset="-122"/>
                <a:ea typeface="楷体" panose="02010609060101010101" pitchFamily="49" charset="-122"/>
              </a:rPr>
              <a:t>位</a:t>
            </a:r>
            <a:endParaRPr lang="zh-CN" altLang="en-US" dirty="0"/>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484461" y="2790701"/>
            <a:ext cx="3930197" cy="3259188"/>
          </a:xfrm>
          <a:prstGeom prst="rect">
            <a:avLst/>
          </a:prstGeom>
        </p:spPr>
      </p:pic>
      <p:sp>
        <p:nvSpPr>
          <p:cNvPr id="9" name="文本框 8"/>
          <p:cNvSpPr txBox="1"/>
          <p:nvPr/>
        </p:nvSpPr>
        <p:spPr>
          <a:xfrm>
            <a:off x="609600" y="5334139"/>
            <a:ext cx="6094140" cy="590931"/>
          </a:xfrm>
          <a:prstGeom prst="rect">
            <a:avLst/>
          </a:prstGeom>
          <a:noFill/>
        </p:spPr>
        <p:txBody>
          <a:bodyPr wrap="square">
            <a:spAutoFit/>
          </a:bodyPr>
          <a:lstStyle/>
          <a:p>
            <a:pPr>
              <a:lnSpc>
                <a:spcPct val="90000"/>
              </a:lnSpc>
            </a:pPr>
            <a:r>
              <a:rPr lang="zh-CN" altLang="en-US" sz="1800" dirty="0">
                <a:solidFill>
                  <a:schemeClr val="hlink"/>
                </a:solidFill>
              </a:rPr>
              <a:t>注意</a:t>
            </a:r>
            <a:r>
              <a:rPr lang="zh-CN" altLang="en-US" sz="1800" dirty="0"/>
              <a:t>：采用</a:t>
            </a:r>
            <a:r>
              <a:rPr lang="en-US" altLang="zh-CN" sz="1800" dirty="0"/>
              <a:t>BCD</a:t>
            </a:r>
            <a:r>
              <a:rPr lang="zh-CN" altLang="en-US" sz="1800" dirty="0"/>
              <a:t>码计数时，计数初值为十进制数，但在初始化写初值时，一定要在十进制数值后加十六进制后缀</a:t>
            </a:r>
            <a:r>
              <a:rPr lang="en-US" altLang="zh-CN" sz="1800" dirty="0"/>
              <a:t>H</a:t>
            </a:r>
            <a:r>
              <a:rPr lang="zh-CN" altLang="en-US" sz="1800" dirty="0"/>
              <a:t>。 </a:t>
            </a:r>
            <a:endParaRPr lang="zh-CN" altLang="en-US" sz="1800"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noProof="1"/>
              <a:t>9.2.3 8253</a:t>
            </a:r>
            <a:r>
              <a:rPr lang="zh-CN" altLang="en-US" noProof="1"/>
              <a:t>的工作方式</a:t>
            </a:r>
            <a:endParaRPr lang="zh-CN" altLang="en-US" dirty="0"/>
          </a:p>
        </p:txBody>
      </p:sp>
      <p:sp>
        <p:nvSpPr>
          <p:cNvPr id="3" name="内容占位符 2"/>
          <p:cNvSpPr>
            <a:spLocks noGrp="1"/>
          </p:cNvSpPr>
          <p:nvPr>
            <p:ph idx="1"/>
          </p:nvPr>
        </p:nvSpPr>
        <p:spPr/>
        <p:txBody>
          <a:bodyPr/>
          <a:lstStyle/>
          <a:p>
            <a:pPr marL="0" indent="0">
              <a:lnSpc>
                <a:spcPct val="80000"/>
              </a:lnSpc>
              <a:buFont typeface="Wingdings" panose="05000000000000000000" pitchFamily="2" charset="2"/>
              <a:buNone/>
            </a:pPr>
            <a:r>
              <a:rPr lang="zh-CN" altLang="en-US" sz="2800" b="1" dirty="0">
                <a:solidFill>
                  <a:schemeClr val="hlink"/>
                </a:solidFill>
              </a:rPr>
              <a:t>基本规则</a:t>
            </a:r>
            <a:r>
              <a:rPr lang="zh-CN" altLang="en-US" sz="2800" dirty="0"/>
              <a:t>：</a:t>
            </a:r>
            <a:endParaRPr lang="zh-CN" altLang="en-US" sz="2800" dirty="0"/>
          </a:p>
          <a:p>
            <a:pPr lvl="1">
              <a:lnSpc>
                <a:spcPct val="80000"/>
              </a:lnSpc>
            </a:pPr>
            <a:r>
              <a:rPr lang="zh-CN" altLang="en-US" sz="2800" dirty="0"/>
              <a:t>控制字写入计数器时，所有的控制逻辑电路立即复位，输出端</a:t>
            </a:r>
            <a:r>
              <a:rPr lang="en-US" altLang="zh-CN" sz="2800" dirty="0"/>
              <a:t>OUT</a:t>
            </a:r>
            <a:r>
              <a:rPr lang="zh-CN" altLang="en-US" sz="2800" dirty="0"/>
              <a:t>进入初始状态</a:t>
            </a:r>
            <a:r>
              <a:rPr lang="en-US" altLang="zh-CN" sz="2800" dirty="0"/>
              <a:t>(</a:t>
            </a:r>
            <a:r>
              <a:rPr lang="zh-CN" altLang="en-US" sz="2800" dirty="0"/>
              <a:t>高电平或者低电平</a:t>
            </a:r>
            <a:r>
              <a:rPr lang="en-US" altLang="zh-CN" sz="2800" dirty="0"/>
              <a:t>)</a:t>
            </a:r>
            <a:r>
              <a:rPr lang="zh-CN" altLang="en-US" sz="2800" dirty="0"/>
              <a:t>。</a:t>
            </a:r>
            <a:endParaRPr lang="zh-CN" altLang="en-US" sz="2800" dirty="0"/>
          </a:p>
          <a:p>
            <a:pPr lvl="1">
              <a:lnSpc>
                <a:spcPct val="80000"/>
              </a:lnSpc>
            </a:pPr>
            <a:r>
              <a:rPr lang="zh-CN" altLang="en-US" sz="2800" dirty="0"/>
              <a:t>初始值写入以后，要经过时钟的一个上升沿和一个下降沿，计数执行部件才开始进行计数。</a:t>
            </a:r>
            <a:endParaRPr lang="zh-CN" altLang="en-US" sz="2800" dirty="0"/>
          </a:p>
          <a:p>
            <a:pPr lvl="1">
              <a:lnSpc>
                <a:spcPct val="80000"/>
              </a:lnSpc>
            </a:pPr>
            <a:r>
              <a:rPr lang="zh-CN" altLang="en-US" sz="2800" dirty="0"/>
              <a:t>通常，在时钟脉冲</a:t>
            </a:r>
            <a:r>
              <a:rPr lang="en-US" altLang="zh-CN" sz="2800" dirty="0"/>
              <a:t>CLK</a:t>
            </a:r>
            <a:r>
              <a:rPr lang="zh-CN" altLang="en-US" sz="2800" dirty="0"/>
              <a:t>的</a:t>
            </a:r>
            <a:r>
              <a:rPr lang="zh-CN" altLang="en-US" sz="2800" dirty="0">
                <a:solidFill>
                  <a:schemeClr val="hlink"/>
                </a:solidFill>
              </a:rPr>
              <a:t>上升沿</a:t>
            </a:r>
            <a:r>
              <a:rPr lang="zh-CN" altLang="en-US" sz="2800" dirty="0"/>
              <a:t>，门控信号</a:t>
            </a:r>
            <a:r>
              <a:rPr lang="en-US" altLang="zh-CN" sz="2800" dirty="0"/>
              <a:t>GATE</a:t>
            </a:r>
            <a:r>
              <a:rPr lang="zh-CN" altLang="en-US" sz="2800" dirty="0"/>
              <a:t>被采样。</a:t>
            </a:r>
            <a:endParaRPr lang="zh-CN" altLang="en-US" sz="2800" dirty="0"/>
          </a:p>
          <a:p>
            <a:pPr lvl="1">
              <a:lnSpc>
                <a:spcPct val="80000"/>
              </a:lnSpc>
            </a:pPr>
            <a:r>
              <a:rPr lang="zh-CN" altLang="en-US" sz="2800" dirty="0"/>
              <a:t>在时钟脉冲的</a:t>
            </a:r>
            <a:r>
              <a:rPr lang="zh-CN" altLang="en-US" sz="2800" dirty="0">
                <a:solidFill>
                  <a:schemeClr val="hlink"/>
                </a:solidFill>
              </a:rPr>
              <a:t>下降沿</a:t>
            </a:r>
            <a:r>
              <a:rPr lang="zh-CN" altLang="en-US" sz="2800" dirty="0"/>
              <a:t>，计数器作减</a:t>
            </a:r>
            <a:r>
              <a:rPr lang="en-US" altLang="zh-CN" sz="2800" dirty="0"/>
              <a:t>1</a:t>
            </a:r>
            <a:r>
              <a:rPr lang="zh-CN" altLang="en-US" sz="2800" dirty="0"/>
              <a:t>计数。</a:t>
            </a:r>
            <a:endParaRPr lang="zh-CN" altLang="en-US" sz="2800" dirty="0"/>
          </a:p>
          <a:p>
            <a:pPr lvl="1">
              <a:lnSpc>
                <a:spcPct val="80000"/>
              </a:lnSpc>
            </a:pPr>
            <a:r>
              <a:rPr lang="en-US" altLang="zh-CN" sz="2800" dirty="0"/>
              <a:t>0</a:t>
            </a:r>
            <a:r>
              <a:rPr lang="zh-CN" altLang="en-US" sz="2800" dirty="0"/>
              <a:t>是计数器所能容纳的最大初始值，当选用二进制时，</a:t>
            </a:r>
            <a:r>
              <a:rPr lang="en-US" altLang="zh-CN" sz="2800" dirty="0"/>
              <a:t>0</a:t>
            </a:r>
            <a:r>
              <a:rPr lang="zh-CN" altLang="en-US" sz="2800" dirty="0"/>
              <a:t>相当于</a:t>
            </a:r>
            <a:r>
              <a:rPr lang="en-US" altLang="zh-CN" sz="2800" dirty="0"/>
              <a:t>2</a:t>
            </a:r>
            <a:r>
              <a:rPr lang="en-US" altLang="zh-CN" sz="2800" baseline="30000" dirty="0"/>
              <a:t>16</a:t>
            </a:r>
            <a:r>
              <a:rPr lang="zh-CN" altLang="en-US" sz="2800" dirty="0"/>
              <a:t>；用</a:t>
            </a:r>
            <a:r>
              <a:rPr lang="en-US" altLang="zh-CN" sz="2800" dirty="0"/>
              <a:t>BCD</a:t>
            </a:r>
            <a:r>
              <a:rPr lang="zh-CN" altLang="en-US" sz="2800" dirty="0"/>
              <a:t>码时，</a:t>
            </a:r>
            <a:r>
              <a:rPr lang="en-US" altLang="zh-CN" sz="2800" dirty="0"/>
              <a:t>0</a:t>
            </a:r>
            <a:r>
              <a:rPr lang="zh-CN" altLang="en-US" sz="2800" dirty="0"/>
              <a:t>相当于</a:t>
            </a:r>
            <a:r>
              <a:rPr lang="en-US" altLang="zh-CN" sz="2800" dirty="0"/>
              <a:t>l0</a:t>
            </a:r>
            <a:r>
              <a:rPr lang="en-US" altLang="zh-CN" sz="2800" baseline="30000" dirty="0"/>
              <a:t>4</a:t>
            </a:r>
            <a:r>
              <a:rPr lang="zh-CN" altLang="en-US" sz="2800" dirty="0"/>
              <a:t>。</a:t>
            </a:r>
            <a:endParaRPr lang="zh-CN" altLang="en-US" sz="2800" dirty="0"/>
          </a:p>
          <a:p>
            <a:endParaRPr lang="zh-CN" altLang="en-US" dirty="0"/>
          </a:p>
        </p:txBody>
      </p:sp>
      <p:sp>
        <p:nvSpPr>
          <p:cNvPr id="4" name="日期占位符 3"/>
          <p:cNvSpPr>
            <a:spLocks noGrp="1"/>
          </p:cNvSpPr>
          <p:nvPr>
            <p:ph type="dt" sz="half" idx="10"/>
          </p:nvPr>
        </p:nvSpPr>
        <p:spPr/>
        <p:txBody>
          <a:bodyPr/>
          <a:lstStyle/>
          <a:p>
            <a:pPr>
              <a:defRPr/>
            </a:pPr>
            <a:fld id="{63328B41-B677-4D35-98EC-5B8355681E04}"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3056878" cy="1002723"/>
          </a:xfrm>
        </p:spPr>
        <p:txBody>
          <a:bodyPr/>
          <a:lstStyle/>
          <a:p>
            <a:r>
              <a:rPr lang="zh-CN" altLang="en-US" sz="4000" dirty="0"/>
              <a:t>工作方式</a:t>
            </a:r>
            <a:r>
              <a:rPr lang="en-US" altLang="zh-CN" sz="4000" dirty="0"/>
              <a:t>0</a:t>
            </a:r>
            <a:endParaRPr lang="zh-CN" altLang="en-US" dirty="0"/>
          </a:p>
        </p:txBody>
      </p:sp>
      <p:sp>
        <p:nvSpPr>
          <p:cNvPr id="3" name="内容占位符 2"/>
          <p:cNvSpPr>
            <a:spLocks noGrp="1"/>
          </p:cNvSpPr>
          <p:nvPr>
            <p:ph idx="1"/>
          </p:nvPr>
        </p:nvSpPr>
        <p:spPr>
          <a:xfrm>
            <a:off x="419594" y="1124961"/>
            <a:ext cx="10508817" cy="4913889"/>
          </a:xfrm>
        </p:spPr>
        <p:txBody>
          <a:bodyPr/>
          <a:lstStyle/>
          <a:p>
            <a:pPr marL="344170" lvl="1" indent="0">
              <a:buNone/>
            </a:pPr>
            <a:endParaRPr lang="en-US" altLang="zh-CN" sz="2400" dirty="0"/>
          </a:p>
          <a:p>
            <a:pPr marL="344170" lvl="1" indent="0">
              <a:buNone/>
            </a:pPr>
            <a:endParaRPr lang="en-US" altLang="zh-CN" sz="2400" dirty="0"/>
          </a:p>
          <a:p>
            <a:pPr marL="344170" lvl="1" indent="0">
              <a:buNone/>
            </a:pPr>
            <a:endParaRPr lang="en-US" altLang="zh-CN" sz="2400" dirty="0"/>
          </a:p>
          <a:p>
            <a:pPr marL="344170" lvl="1" indent="0">
              <a:buNone/>
            </a:pPr>
            <a:r>
              <a:rPr lang="zh-CN" altLang="en-US" sz="2400" dirty="0"/>
              <a:t>计数结束产生中断</a:t>
            </a:r>
            <a:endParaRPr lang="en-US" altLang="zh-CN" sz="2400" dirty="0"/>
          </a:p>
          <a:p>
            <a:pPr marL="344170" lvl="1" indent="0">
              <a:buNone/>
            </a:pPr>
            <a:endParaRPr lang="en-US" altLang="zh-CN" sz="2400" dirty="0"/>
          </a:p>
          <a:p>
            <a:pPr marL="344170" lvl="1" indent="0">
              <a:buNone/>
            </a:pPr>
            <a:endParaRPr lang="zh-CN" altLang="en-US" sz="2400" dirty="0"/>
          </a:p>
          <a:p>
            <a:pPr marL="344170" lvl="1" indent="0">
              <a:buNone/>
            </a:pPr>
            <a:r>
              <a:rPr lang="zh-CN" altLang="en-US" sz="2000" dirty="0"/>
              <a:t>（</a:t>
            </a:r>
            <a:r>
              <a:rPr lang="en-US" altLang="zh-CN" sz="2000" dirty="0"/>
              <a:t>1</a:t>
            </a:r>
            <a:r>
              <a:rPr lang="zh-CN" altLang="en-US" sz="2000" dirty="0"/>
              <a:t>）写入控制字</a:t>
            </a:r>
            <a:r>
              <a:rPr lang="en-US" altLang="zh-CN" sz="2000" dirty="0"/>
              <a:t>(CW)</a:t>
            </a:r>
            <a:r>
              <a:rPr lang="zh-CN" altLang="en-US" sz="2000" dirty="0"/>
              <a:t>后</a:t>
            </a:r>
            <a:r>
              <a:rPr lang="en-US" altLang="zh-CN" sz="2000" dirty="0"/>
              <a:t>,OUT</a:t>
            </a:r>
            <a:r>
              <a:rPr lang="zh-CN" altLang="en-US" sz="2000" dirty="0"/>
              <a:t>变为低电平；</a:t>
            </a:r>
            <a:endParaRPr lang="en-US" altLang="zh-CN" sz="2000" dirty="0"/>
          </a:p>
          <a:p>
            <a:pPr marL="344170" lvl="1" indent="0">
              <a:buNone/>
            </a:pPr>
            <a:r>
              <a:rPr lang="zh-CN" altLang="en-US" sz="2000" dirty="0"/>
              <a:t>（</a:t>
            </a:r>
            <a:r>
              <a:rPr lang="en-US" altLang="zh-CN" sz="2000" dirty="0"/>
              <a:t>2</a:t>
            </a:r>
            <a:r>
              <a:rPr lang="zh-CN" altLang="en-US" sz="2000" dirty="0"/>
              <a:t>）写入初值</a:t>
            </a:r>
            <a:r>
              <a:rPr lang="en-US" altLang="zh-CN" sz="2000" dirty="0"/>
              <a:t>(n=6)</a:t>
            </a:r>
            <a:r>
              <a:rPr lang="zh-CN" altLang="en-US" sz="2000" dirty="0"/>
              <a:t>后</a:t>
            </a:r>
            <a:r>
              <a:rPr lang="en-US" altLang="zh-CN" sz="2000" dirty="0"/>
              <a:t>,</a:t>
            </a:r>
            <a:r>
              <a:rPr lang="zh-CN" altLang="en-US" sz="2000" dirty="0"/>
              <a:t>初值进入</a:t>
            </a:r>
            <a:r>
              <a:rPr lang="en-US" altLang="zh-CN" sz="2000" dirty="0"/>
              <a:t>CR</a:t>
            </a:r>
            <a:r>
              <a:rPr lang="zh-CN" altLang="en-US" sz="2000" dirty="0"/>
              <a:t>寄存器，再经一个</a:t>
            </a:r>
            <a:r>
              <a:rPr lang="en-US" altLang="zh-CN" sz="2000" dirty="0"/>
              <a:t>CLK</a:t>
            </a:r>
            <a:r>
              <a:rPr lang="zh-CN" altLang="en-US" sz="2000" dirty="0"/>
              <a:t>信号</a:t>
            </a:r>
            <a:r>
              <a:rPr lang="en-US" altLang="zh-CN" sz="2000" dirty="0"/>
              <a:t>,</a:t>
            </a:r>
            <a:r>
              <a:rPr lang="zh-CN" altLang="en-US" sz="2000" dirty="0"/>
              <a:t>初值进入计数执行部件；</a:t>
            </a:r>
            <a:endParaRPr lang="en-US" altLang="zh-CN" sz="2000" dirty="0"/>
          </a:p>
          <a:p>
            <a:pPr marL="344170" lvl="1" indent="0">
              <a:buNone/>
            </a:pPr>
            <a:r>
              <a:rPr lang="zh-CN" altLang="en-US" sz="2000" dirty="0"/>
              <a:t>（</a:t>
            </a:r>
            <a:r>
              <a:rPr lang="en-US" altLang="zh-CN" sz="2000" dirty="0"/>
              <a:t>3</a:t>
            </a:r>
            <a:r>
              <a:rPr lang="zh-CN" altLang="en-US" sz="2000" dirty="0"/>
              <a:t>）</a:t>
            </a:r>
            <a:r>
              <a:rPr lang="en-US" altLang="zh-CN" sz="2000" dirty="0"/>
              <a:t>GATE=1</a:t>
            </a:r>
            <a:r>
              <a:rPr lang="zh-CN" altLang="en-US" sz="2000" dirty="0"/>
              <a:t>允许对</a:t>
            </a:r>
            <a:r>
              <a:rPr lang="en-US" altLang="zh-CN" sz="2000" dirty="0"/>
              <a:t>CLK</a:t>
            </a:r>
            <a:r>
              <a:rPr lang="zh-CN" altLang="en-US" sz="2000" dirty="0"/>
              <a:t>计数</a:t>
            </a:r>
            <a:r>
              <a:rPr lang="en-US" altLang="zh-CN" sz="2000" dirty="0"/>
              <a:t>,GATE=0</a:t>
            </a:r>
            <a:r>
              <a:rPr lang="zh-CN" altLang="en-US" sz="2000" dirty="0"/>
              <a:t>计数停止；</a:t>
            </a:r>
            <a:endParaRPr lang="zh-CN" altLang="en-US" sz="2000" dirty="0"/>
          </a:p>
          <a:p>
            <a:pPr marL="344170" lvl="1" indent="0">
              <a:buNone/>
            </a:pPr>
            <a:r>
              <a:rPr lang="zh-CN" altLang="en-US" sz="2000" dirty="0"/>
              <a:t>（</a:t>
            </a:r>
            <a:r>
              <a:rPr lang="en-US" altLang="zh-CN" sz="2000" dirty="0"/>
              <a:t>4</a:t>
            </a:r>
            <a:r>
              <a:rPr lang="zh-CN" altLang="en-US" sz="2000" dirty="0"/>
              <a:t>）计数值到</a:t>
            </a:r>
            <a:r>
              <a:rPr lang="en-US" altLang="zh-CN" sz="2000" dirty="0"/>
              <a:t>0</a:t>
            </a:r>
            <a:r>
              <a:rPr lang="zh-CN" altLang="en-US" sz="2000" dirty="0"/>
              <a:t>时计数结束</a:t>
            </a:r>
            <a:r>
              <a:rPr lang="en-US" altLang="zh-CN" sz="2000" dirty="0"/>
              <a:t>,OUT</a:t>
            </a:r>
            <a:r>
              <a:rPr lang="zh-CN" altLang="en-US" sz="2000" dirty="0"/>
              <a:t>变为高电平；</a:t>
            </a:r>
            <a:endParaRPr lang="en-US" altLang="zh-CN" sz="2000" dirty="0"/>
          </a:p>
          <a:p>
            <a:pPr marL="344170" lvl="1" indent="0">
              <a:buNone/>
            </a:pPr>
            <a:r>
              <a:rPr lang="zh-CN" altLang="en-US" sz="2000" dirty="0"/>
              <a:t>（</a:t>
            </a:r>
            <a:r>
              <a:rPr lang="en-US" altLang="zh-CN" sz="2000" dirty="0"/>
              <a:t>5</a:t>
            </a:r>
            <a:r>
              <a:rPr lang="zh-CN" altLang="en-US" sz="2000" dirty="0"/>
              <a:t>）计数结束后</a:t>
            </a:r>
            <a:r>
              <a:rPr lang="en-US" altLang="zh-CN" sz="2000" dirty="0"/>
              <a:t>,</a:t>
            </a:r>
            <a:r>
              <a:rPr lang="zh-CN" altLang="en-US" sz="2000" dirty="0"/>
              <a:t>重新送入计数值，可以进行下一轮计数。</a:t>
            </a:r>
            <a:endParaRPr lang="zh-CN" altLang="en-US" sz="2000" dirty="0"/>
          </a:p>
          <a:p>
            <a:pPr marL="344170" lvl="1" indent="0">
              <a:buNone/>
            </a:pPr>
            <a:r>
              <a:rPr lang="zh-CN" altLang="en-US" sz="2000" dirty="0"/>
              <a:t>注：方式</a:t>
            </a:r>
            <a:r>
              <a:rPr lang="en-US" altLang="zh-CN" sz="2000" dirty="0"/>
              <a:t>0</a:t>
            </a:r>
            <a:r>
              <a:rPr lang="zh-CN" altLang="en-US" sz="2000" dirty="0"/>
              <a:t>，一次定时或计数</a:t>
            </a:r>
            <a:r>
              <a:rPr lang="en-US" altLang="zh-CN" sz="2000" dirty="0"/>
              <a:t>,</a:t>
            </a:r>
            <a:r>
              <a:rPr lang="zh-CN" altLang="en-US" sz="2000" dirty="0"/>
              <a:t>重写初值</a:t>
            </a:r>
            <a:r>
              <a:rPr lang="en-US" altLang="zh-CN" sz="2000" dirty="0"/>
              <a:t>,</a:t>
            </a:r>
            <a:r>
              <a:rPr lang="zh-CN" altLang="en-US" sz="2000" dirty="0"/>
              <a:t>启动新一轮的计数</a:t>
            </a:r>
            <a:endParaRPr lang="zh-CN" altLang="en-US" sz="2000" dirty="0"/>
          </a:p>
        </p:txBody>
      </p:sp>
      <p:sp>
        <p:nvSpPr>
          <p:cNvPr id="4" name="日期占位符 3"/>
          <p:cNvSpPr>
            <a:spLocks noGrp="1"/>
          </p:cNvSpPr>
          <p:nvPr>
            <p:ph type="dt" sz="half" idx="10"/>
          </p:nvPr>
        </p:nvSpPr>
        <p:spPr/>
        <p:txBody>
          <a:bodyPr/>
          <a:lstStyle/>
          <a:p>
            <a:pPr>
              <a:defRPr/>
            </a:pPr>
            <a:fld id="{831330A4-C626-4F55-8162-83645BDFA72E}"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8" name="图片 26627" descr="tu9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54400" y="1113127"/>
            <a:ext cx="6632388"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19814" y="431156"/>
            <a:ext cx="8436746" cy="709035"/>
          </a:xfrm>
        </p:spPr>
        <p:txBody>
          <a:bodyPr/>
          <a:lstStyle/>
          <a:p>
            <a:r>
              <a:rPr lang="zh-CN" altLang="en-US" dirty="0"/>
              <a:t>工作方式</a:t>
            </a:r>
            <a:r>
              <a:rPr lang="en-US" altLang="zh-CN" dirty="0"/>
              <a:t>1</a:t>
            </a:r>
            <a:r>
              <a:rPr lang="zh-CN" altLang="en-US" dirty="0"/>
              <a:t>：单脉冲触发器</a:t>
            </a:r>
            <a:endParaRPr lang="zh-CN" altLang="en-US" dirty="0"/>
          </a:p>
        </p:txBody>
      </p:sp>
      <p:sp>
        <p:nvSpPr>
          <p:cNvPr id="3" name="内容占位符 2"/>
          <p:cNvSpPr>
            <a:spLocks noGrp="1"/>
          </p:cNvSpPr>
          <p:nvPr>
            <p:ph idx="1"/>
          </p:nvPr>
        </p:nvSpPr>
        <p:spPr>
          <a:xfrm>
            <a:off x="437489" y="3733771"/>
            <a:ext cx="10535311" cy="2338555"/>
          </a:xfrm>
        </p:spPr>
        <p:txBody>
          <a:bodyPr/>
          <a:lstStyle/>
          <a:p>
            <a:pPr marL="0" indent="0">
              <a:buNone/>
            </a:pPr>
            <a:r>
              <a:rPr lang="zh-CN" altLang="en-US" sz="2000" dirty="0"/>
              <a:t>（</a:t>
            </a:r>
            <a:r>
              <a:rPr lang="en-US" altLang="zh-CN" sz="2000" dirty="0"/>
              <a:t>1</a:t>
            </a:r>
            <a:r>
              <a:rPr lang="zh-CN" altLang="en-US" sz="2000" dirty="0"/>
              <a:t>）写入控制字</a:t>
            </a:r>
            <a:r>
              <a:rPr lang="en-US" altLang="zh-CN" sz="2000" dirty="0"/>
              <a:t>(CW)</a:t>
            </a:r>
            <a:r>
              <a:rPr lang="zh-CN" altLang="en-US" sz="2000" dirty="0"/>
              <a:t>后</a:t>
            </a:r>
            <a:r>
              <a:rPr lang="en-US" altLang="zh-CN" sz="2000" dirty="0"/>
              <a:t>,OUT</a:t>
            </a:r>
            <a:r>
              <a:rPr lang="zh-CN" altLang="en-US" sz="2000" dirty="0"/>
              <a:t>变为高电平；</a:t>
            </a:r>
            <a:endParaRPr lang="en-US" altLang="zh-CN" sz="2000" dirty="0"/>
          </a:p>
          <a:p>
            <a:pPr marL="0" indent="0">
              <a:buNone/>
            </a:pPr>
            <a:r>
              <a:rPr lang="zh-CN" altLang="en-US" sz="2000" dirty="0"/>
              <a:t>（</a:t>
            </a:r>
            <a:r>
              <a:rPr lang="en-US" altLang="zh-CN" sz="2000" dirty="0"/>
              <a:t>2</a:t>
            </a:r>
            <a:r>
              <a:rPr lang="zh-CN" altLang="en-US" sz="2000" dirty="0"/>
              <a:t>）写入初值</a:t>
            </a:r>
            <a:r>
              <a:rPr lang="en-US" altLang="zh-CN" sz="2000" dirty="0"/>
              <a:t>(n=3)</a:t>
            </a:r>
            <a:r>
              <a:rPr lang="zh-CN" altLang="en-US" sz="2000" dirty="0"/>
              <a:t>后</a:t>
            </a:r>
            <a:r>
              <a:rPr lang="en-US" altLang="zh-CN" sz="2000" dirty="0"/>
              <a:t>,</a:t>
            </a:r>
            <a:r>
              <a:rPr lang="zh-CN" altLang="en-US" sz="2000" dirty="0"/>
              <a:t>初值进入初值寄存器</a:t>
            </a:r>
            <a:r>
              <a:rPr lang="en-US" altLang="zh-CN" sz="2000" dirty="0"/>
              <a:t>CR</a:t>
            </a:r>
            <a:r>
              <a:rPr lang="zh-CN" altLang="en-US" sz="2000" dirty="0"/>
              <a:t>；</a:t>
            </a:r>
            <a:endParaRPr lang="en-US" altLang="zh-CN" sz="2000" dirty="0"/>
          </a:p>
          <a:p>
            <a:pPr marL="0" indent="0">
              <a:buNone/>
            </a:pPr>
            <a:r>
              <a:rPr lang="zh-CN" altLang="en-US" sz="2000" dirty="0"/>
              <a:t>（</a:t>
            </a:r>
            <a:r>
              <a:rPr lang="en-US" altLang="zh-CN" sz="2000" dirty="0"/>
              <a:t>3</a:t>
            </a:r>
            <a:r>
              <a:rPr lang="zh-CN" altLang="en-US" sz="2000" dirty="0"/>
              <a:t>）</a:t>
            </a:r>
            <a:r>
              <a:rPr lang="en-US" altLang="zh-CN" sz="2000" dirty="0"/>
              <a:t>GATE</a:t>
            </a:r>
            <a:r>
              <a:rPr lang="zh-CN" altLang="en-US" sz="2000" dirty="0"/>
              <a:t>上升沿使边沿触发器受到触发</a:t>
            </a:r>
            <a:r>
              <a:rPr lang="en-US" altLang="zh-CN" sz="2000" dirty="0"/>
              <a:t>,</a:t>
            </a:r>
            <a:r>
              <a:rPr lang="zh-CN" altLang="en-US" sz="2000" dirty="0"/>
              <a:t>再经一个</a:t>
            </a:r>
            <a:r>
              <a:rPr lang="en-US" altLang="zh-CN" sz="2000" dirty="0"/>
              <a:t>CLK</a:t>
            </a:r>
            <a:r>
              <a:rPr lang="zh-CN" altLang="en-US" sz="2000" dirty="0"/>
              <a:t>信号</a:t>
            </a:r>
            <a:r>
              <a:rPr lang="en-US" altLang="zh-CN" sz="2000" dirty="0"/>
              <a:t>,</a:t>
            </a:r>
            <a:r>
              <a:rPr lang="zh-CN" altLang="en-US" sz="2000" dirty="0"/>
              <a:t>初值进入计数执行部件</a:t>
            </a:r>
            <a:r>
              <a:rPr lang="en-US" altLang="zh-CN" sz="2000" dirty="0"/>
              <a:t>CE,OUT</a:t>
            </a:r>
            <a:r>
              <a:rPr lang="zh-CN" altLang="en-US" sz="2000" dirty="0"/>
              <a:t>信号变低，同时开始对</a:t>
            </a:r>
            <a:r>
              <a:rPr lang="en-US" altLang="zh-CN" sz="2000" dirty="0"/>
              <a:t>CLK</a:t>
            </a:r>
            <a:r>
              <a:rPr lang="zh-CN" altLang="en-US" sz="2000" dirty="0"/>
              <a:t>计数；</a:t>
            </a:r>
            <a:endParaRPr lang="zh-CN" altLang="en-US" sz="2000" dirty="0"/>
          </a:p>
          <a:p>
            <a:pPr marL="0" indent="0">
              <a:buNone/>
            </a:pPr>
            <a:r>
              <a:rPr lang="zh-CN" altLang="en-US" sz="2000" dirty="0"/>
              <a:t>（</a:t>
            </a:r>
            <a:r>
              <a:rPr lang="en-US" altLang="zh-CN" sz="2000" dirty="0"/>
              <a:t>4</a:t>
            </a:r>
            <a:r>
              <a:rPr lang="zh-CN" altLang="en-US" sz="2000" dirty="0"/>
              <a:t>）计数值到</a:t>
            </a:r>
            <a:r>
              <a:rPr lang="en-US" altLang="zh-CN" sz="2000" dirty="0"/>
              <a:t>0</a:t>
            </a:r>
            <a:r>
              <a:rPr lang="zh-CN" altLang="en-US" sz="2000" dirty="0"/>
              <a:t>时计数结束</a:t>
            </a:r>
            <a:r>
              <a:rPr lang="en-US" altLang="zh-CN" sz="2000" dirty="0"/>
              <a:t>,OUT</a:t>
            </a:r>
            <a:r>
              <a:rPr lang="zh-CN" altLang="en-US" sz="2000" dirty="0"/>
              <a:t>变为高电平；</a:t>
            </a:r>
            <a:endParaRPr lang="en-US" altLang="zh-CN" sz="2000" dirty="0"/>
          </a:p>
          <a:p>
            <a:pPr marL="0" indent="0">
              <a:buNone/>
            </a:pPr>
            <a:r>
              <a:rPr lang="zh-CN" altLang="en-US" sz="2000" dirty="0"/>
              <a:t>（</a:t>
            </a:r>
            <a:r>
              <a:rPr lang="en-US" altLang="zh-CN" sz="2000" dirty="0"/>
              <a:t>5</a:t>
            </a:r>
            <a:r>
              <a:rPr lang="zh-CN" altLang="en-US" sz="2000" dirty="0"/>
              <a:t>）计数结束后</a:t>
            </a:r>
            <a:r>
              <a:rPr lang="en-US" altLang="zh-CN" sz="2000" dirty="0"/>
              <a:t>,</a:t>
            </a:r>
            <a:r>
              <a:rPr lang="zh-CN" altLang="en-US" sz="2000" dirty="0"/>
              <a:t>如果</a:t>
            </a:r>
            <a:r>
              <a:rPr lang="en-US" altLang="zh-CN" sz="2000" dirty="0"/>
              <a:t>GATE</a:t>
            </a:r>
            <a:r>
              <a:rPr lang="zh-CN" altLang="en-US" sz="2000" dirty="0"/>
              <a:t>边沿再触发</a:t>
            </a:r>
            <a:r>
              <a:rPr lang="en-US" altLang="zh-CN" sz="2000" dirty="0"/>
              <a:t>,OUT</a:t>
            </a:r>
            <a:r>
              <a:rPr lang="zh-CN" altLang="en-US" sz="2000" dirty="0"/>
              <a:t>信号重新为低</a:t>
            </a:r>
            <a:r>
              <a:rPr lang="en-US" altLang="zh-CN" sz="2000" dirty="0"/>
              <a:t>,</a:t>
            </a:r>
            <a:r>
              <a:rPr lang="zh-CN" altLang="en-US" sz="2000" dirty="0"/>
              <a:t>才重新启动新一轮计数。</a:t>
            </a:r>
            <a:endParaRPr lang="zh-CN" altLang="en-US" sz="2000" dirty="0"/>
          </a:p>
        </p:txBody>
      </p:sp>
      <p:sp>
        <p:nvSpPr>
          <p:cNvPr id="4" name="日期占位符 3"/>
          <p:cNvSpPr>
            <a:spLocks noGrp="1"/>
          </p:cNvSpPr>
          <p:nvPr>
            <p:ph type="dt" sz="half" idx="10"/>
          </p:nvPr>
        </p:nvSpPr>
        <p:spPr/>
        <p:txBody>
          <a:bodyPr/>
          <a:lstStyle/>
          <a:p>
            <a:pPr>
              <a:defRPr/>
            </a:pPr>
            <a:fld id="{CE7DC3EA-C9D9-427F-809B-ABC8CC717B2C}"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12" name="图片 28675" descr="tu9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35587" y="1140191"/>
            <a:ext cx="6779573" cy="2591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27655" y="280040"/>
            <a:ext cx="6057051" cy="604837"/>
          </a:xfrm>
        </p:spPr>
        <p:txBody>
          <a:bodyPr/>
          <a:lstStyle/>
          <a:p>
            <a:r>
              <a:rPr lang="zh-CN" altLang="en-US" dirty="0"/>
              <a:t>工作方式</a:t>
            </a:r>
            <a:r>
              <a:rPr lang="en-US" altLang="zh-CN" dirty="0"/>
              <a:t>2</a:t>
            </a:r>
            <a:r>
              <a:rPr lang="zh-CN" altLang="en-US" dirty="0"/>
              <a:t>：分频器</a:t>
            </a:r>
            <a:endParaRPr lang="zh-CN" altLang="en-US" dirty="0"/>
          </a:p>
        </p:txBody>
      </p:sp>
      <p:sp>
        <p:nvSpPr>
          <p:cNvPr id="3" name="内容占位符 2"/>
          <p:cNvSpPr>
            <a:spLocks noGrp="1"/>
          </p:cNvSpPr>
          <p:nvPr>
            <p:ph idx="1"/>
          </p:nvPr>
        </p:nvSpPr>
        <p:spPr>
          <a:xfrm>
            <a:off x="609600" y="3608790"/>
            <a:ext cx="10247790" cy="2511487"/>
          </a:xfrm>
        </p:spPr>
        <p:txBody>
          <a:bodyPr/>
          <a:lstStyle/>
          <a:p>
            <a:pPr marL="0" indent="0">
              <a:buNone/>
            </a:pPr>
            <a:r>
              <a:rPr lang="zh-CN" altLang="en-US" sz="2000" dirty="0"/>
              <a:t>（</a:t>
            </a:r>
            <a:r>
              <a:rPr lang="en-US" altLang="zh-CN" sz="2000" dirty="0"/>
              <a:t>1</a:t>
            </a:r>
            <a:r>
              <a:rPr lang="zh-CN" altLang="en-US" sz="2000" dirty="0"/>
              <a:t>）写入控制字</a:t>
            </a:r>
            <a:r>
              <a:rPr lang="en-US" altLang="zh-CN" sz="2000" dirty="0"/>
              <a:t>(CW)</a:t>
            </a:r>
            <a:r>
              <a:rPr lang="zh-CN" altLang="en-US" sz="2000" dirty="0"/>
              <a:t>后</a:t>
            </a:r>
            <a:r>
              <a:rPr lang="en-US" altLang="zh-CN" sz="2000" dirty="0"/>
              <a:t>,OUT</a:t>
            </a:r>
            <a:r>
              <a:rPr lang="zh-CN" altLang="en-US" sz="2000" dirty="0"/>
              <a:t>变为高电平；</a:t>
            </a:r>
            <a:endParaRPr lang="en-US" altLang="zh-CN" sz="2000" dirty="0"/>
          </a:p>
          <a:p>
            <a:pPr marL="0" indent="0">
              <a:buNone/>
            </a:pPr>
            <a:r>
              <a:rPr lang="zh-CN" altLang="en-US" sz="2000" dirty="0"/>
              <a:t>（</a:t>
            </a:r>
            <a:r>
              <a:rPr lang="en-US" altLang="zh-CN" sz="2000" dirty="0"/>
              <a:t>2</a:t>
            </a:r>
            <a:r>
              <a:rPr lang="zh-CN" altLang="en-US" sz="2000" dirty="0"/>
              <a:t>）写入初值</a:t>
            </a:r>
            <a:r>
              <a:rPr lang="en-US" altLang="zh-CN" sz="2000" dirty="0"/>
              <a:t>(n=3)</a:t>
            </a:r>
            <a:r>
              <a:rPr lang="zh-CN" altLang="en-US" sz="2000" dirty="0"/>
              <a:t>后</a:t>
            </a:r>
            <a:r>
              <a:rPr lang="en-US" altLang="zh-CN" sz="2000" dirty="0"/>
              <a:t>,</a:t>
            </a:r>
            <a:r>
              <a:rPr lang="zh-CN" altLang="en-US" sz="2000" dirty="0"/>
              <a:t>再经一个</a:t>
            </a:r>
            <a:r>
              <a:rPr lang="en-US" altLang="zh-CN" sz="2000" dirty="0"/>
              <a:t>CLK</a:t>
            </a:r>
            <a:r>
              <a:rPr lang="zh-CN" altLang="en-US" sz="2000" dirty="0"/>
              <a:t>信号</a:t>
            </a:r>
            <a:r>
              <a:rPr lang="en-US" altLang="zh-CN" sz="2000" dirty="0"/>
              <a:t>,</a:t>
            </a:r>
            <a:r>
              <a:rPr lang="zh-CN" altLang="en-US" sz="2000" dirty="0"/>
              <a:t>初值进入计数执行部件</a:t>
            </a:r>
            <a:r>
              <a:rPr lang="en-US" altLang="zh-CN" sz="2000" dirty="0"/>
              <a:t>,</a:t>
            </a:r>
            <a:r>
              <a:rPr lang="zh-CN" altLang="en-US" sz="2000" dirty="0"/>
              <a:t>开始计数；</a:t>
            </a:r>
            <a:endParaRPr lang="en-US" altLang="zh-CN" sz="2000" dirty="0"/>
          </a:p>
          <a:p>
            <a:pPr marL="0" indent="0">
              <a:buNone/>
            </a:pPr>
            <a:r>
              <a:rPr lang="zh-CN" altLang="en-US" sz="2000" dirty="0"/>
              <a:t>（</a:t>
            </a:r>
            <a:r>
              <a:rPr lang="en-US" altLang="zh-CN" sz="2000" dirty="0"/>
              <a:t>3</a:t>
            </a:r>
            <a:r>
              <a:rPr lang="zh-CN" altLang="en-US" sz="2000" dirty="0"/>
              <a:t>）</a:t>
            </a:r>
            <a:r>
              <a:rPr lang="en-US" altLang="zh-CN" sz="2000" dirty="0"/>
              <a:t>GATE=1</a:t>
            </a:r>
            <a:r>
              <a:rPr lang="zh-CN" altLang="en-US" sz="2000" dirty="0"/>
              <a:t>允许对</a:t>
            </a:r>
            <a:r>
              <a:rPr lang="en-US" altLang="zh-CN" sz="2000" dirty="0"/>
              <a:t>CLK</a:t>
            </a:r>
            <a:r>
              <a:rPr lang="zh-CN" altLang="en-US" sz="2000" dirty="0"/>
              <a:t>计数</a:t>
            </a:r>
            <a:r>
              <a:rPr lang="en-US" altLang="zh-CN" sz="2000" dirty="0"/>
              <a:t>,GATE=0</a:t>
            </a:r>
            <a:r>
              <a:rPr lang="zh-CN" altLang="en-US" sz="2000" dirty="0"/>
              <a:t>计数停止；（既可用电平触发也可用上升沿触发）</a:t>
            </a:r>
            <a:endParaRPr lang="zh-CN" altLang="en-US" sz="2000" dirty="0"/>
          </a:p>
          <a:p>
            <a:pPr marL="0" indent="0">
              <a:buNone/>
            </a:pPr>
            <a:r>
              <a:rPr lang="zh-CN" altLang="en-US" sz="2000" dirty="0"/>
              <a:t>（</a:t>
            </a:r>
            <a:r>
              <a:rPr lang="en-US" altLang="zh-CN" sz="2000" dirty="0"/>
              <a:t>4</a:t>
            </a:r>
            <a:r>
              <a:rPr lang="zh-CN" altLang="en-US" sz="2000" dirty="0"/>
              <a:t>）计数值计数到</a:t>
            </a:r>
            <a:r>
              <a:rPr lang="en-US" altLang="zh-CN" sz="2000" dirty="0"/>
              <a:t>1</a:t>
            </a:r>
            <a:r>
              <a:rPr lang="zh-CN" altLang="en-US" sz="2000" dirty="0"/>
              <a:t>时</a:t>
            </a:r>
            <a:r>
              <a:rPr lang="en-US" altLang="zh-CN" sz="2000" dirty="0"/>
              <a:t>,OUT</a:t>
            </a:r>
            <a:r>
              <a:rPr lang="zh-CN" altLang="en-US" sz="2000" dirty="0"/>
              <a:t>变为低电平</a:t>
            </a:r>
            <a:r>
              <a:rPr lang="en-US" altLang="zh-CN" sz="2000" dirty="0"/>
              <a:t>,</a:t>
            </a:r>
            <a:r>
              <a:rPr lang="zh-CN" altLang="en-US" sz="2000" dirty="0"/>
              <a:t>经一个</a:t>
            </a:r>
            <a:r>
              <a:rPr lang="en-US" altLang="zh-CN" sz="2000" dirty="0"/>
              <a:t>CLK</a:t>
            </a:r>
            <a:r>
              <a:rPr lang="zh-CN" altLang="en-US" sz="2000" dirty="0"/>
              <a:t>后</a:t>
            </a:r>
            <a:r>
              <a:rPr lang="en-US" altLang="zh-CN" sz="2000" dirty="0"/>
              <a:t>,OUT</a:t>
            </a:r>
            <a:r>
              <a:rPr lang="zh-CN" altLang="en-US" sz="2000" dirty="0"/>
              <a:t>变高</a:t>
            </a:r>
            <a:r>
              <a:rPr lang="en-US" altLang="zh-CN" sz="2000" dirty="0"/>
              <a:t>,</a:t>
            </a:r>
            <a:r>
              <a:rPr lang="zh-CN" altLang="en-US" sz="2000" dirty="0"/>
              <a:t>计数执行部件自动从初值寄存器获得原初值</a:t>
            </a:r>
            <a:r>
              <a:rPr lang="en-US" altLang="zh-CN" sz="2000" dirty="0"/>
              <a:t>,</a:t>
            </a:r>
            <a:r>
              <a:rPr lang="zh-CN" altLang="en-US" sz="2000" dirty="0"/>
              <a:t>并自动重新开始新一轮计数</a:t>
            </a:r>
            <a:r>
              <a:rPr lang="en-US" altLang="zh-CN" sz="2000" dirty="0"/>
              <a:t>,</a:t>
            </a:r>
            <a:r>
              <a:rPr lang="zh-CN" altLang="en-US" sz="2000" dirty="0"/>
              <a:t>如此反复进行</a:t>
            </a:r>
            <a:r>
              <a:rPr lang="en-US" altLang="zh-CN" sz="2000" dirty="0"/>
              <a:t>,</a:t>
            </a:r>
            <a:r>
              <a:rPr lang="zh-CN" altLang="en-US" sz="2000" dirty="0"/>
              <a:t>直到重新对</a:t>
            </a:r>
            <a:r>
              <a:rPr lang="en-US" altLang="zh-CN" sz="2000" dirty="0"/>
              <a:t>8253</a:t>
            </a:r>
            <a:r>
              <a:rPr lang="zh-CN" altLang="en-US" sz="2000" dirty="0"/>
              <a:t>初始化或</a:t>
            </a:r>
            <a:r>
              <a:rPr lang="en-US" altLang="zh-CN" sz="2000" dirty="0"/>
              <a:t>GATE</a:t>
            </a:r>
            <a:r>
              <a:rPr lang="zh-CN" altLang="en-US" sz="2000" dirty="0"/>
              <a:t>变低。</a:t>
            </a:r>
            <a:endParaRPr lang="zh-CN" altLang="en-US" sz="2000" dirty="0"/>
          </a:p>
          <a:p>
            <a:pPr marL="0" indent="0">
              <a:buNone/>
            </a:pPr>
            <a:r>
              <a:rPr lang="zh-CN" altLang="en-US" sz="2000" dirty="0"/>
              <a:t>注：工作方式</a:t>
            </a:r>
            <a:r>
              <a:rPr lang="en-US" altLang="zh-CN" sz="2000" dirty="0"/>
              <a:t>2</a:t>
            </a:r>
            <a:r>
              <a:rPr lang="zh-CN" altLang="en-US" sz="2000" dirty="0"/>
              <a:t>，具有计数初值重装</a:t>
            </a:r>
            <a:r>
              <a:rPr lang="zh-CN" altLang="en-US" sz="2000" dirty="0" smtClean="0"/>
              <a:t>能力   </a:t>
            </a:r>
            <a:endParaRPr lang="zh-CN" altLang="en-US" sz="2000" dirty="0"/>
          </a:p>
        </p:txBody>
      </p:sp>
      <p:sp>
        <p:nvSpPr>
          <p:cNvPr id="4" name="日期占位符 3"/>
          <p:cNvSpPr>
            <a:spLocks noGrp="1"/>
          </p:cNvSpPr>
          <p:nvPr>
            <p:ph type="dt" sz="half" idx="10"/>
          </p:nvPr>
        </p:nvSpPr>
        <p:spPr/>
        <p:txBody>
          <a:bodyPr/>
          <a:lstStyle/>
          <a:p>
            <a:pPr>
              <a:defRPr/>
            </a:pPr>
            <a:fld id="{07841378-0C81-4800-93F7-E4A923C95354}"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6" name="图片 30723" descr="tu9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80700" y="1013000"/>
            <a:ext cx="7150962" cy="2681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0722" y="1626882"/>
            <a:ext cx="2464419" cy="1295400"/>
          </a:xfrm>
        </p:spPr>
        <p:txBody>
          <a:bodyPr/>
          <a:lstStyle/>
          <a:p>
            <a:r>
              <a:rPr lang="zh-CN" altLang="en-US" sz="3600" dirty="0"/>
              <a:t>工作方式</a:t>
            </a:r>
            <a:r>
              <a:rPr lang="en-US" altLang="zh-CN" sz="3600" dirty="0"/>
              <a:t>3</a:t>
            </a:r>
            <a:r>
              <a:rPr lang="zh-CN" altLang="en-US" sz="3600" dirty="0"/>
              <a:t>：方波发生器</a:t>
            </a:r>
            <a:endParaRPr lang="zh-CN" altLang="en-US" sz="3600" dirty="0"/>
          </a:p>
        </p:txBody>
      </p:sp>
      <p:sp>
        <p:nvSpPr>
          <p:cNvPr id="3" name="内容占位符 2"/>
          <p:cNvSpPr>
            <a:spLocks noGrp="1"/>
          </p:cNvSpPr>
          <p:nvPr>
            <p:ph idx="1"/>
          </p:nvPr>
        </p:nvSpPr>
        <p:spPr>
          <a:xfrm>
            <a:off x="844838" y="3806642"/>
            <a:ext cx="10058400" cy="2243071"/>
          </a:xfrm>
        </p:spPr>
        <p:txBody>
          <a:bodyPr/>
          <a:lstStyle/>
          <a:p>
            <a:r>
              <a:rPr lang="en-US" altLang="zh-CN" sz="2400" dirty="0"/>
              <a:t>(1)</a:t>
            </a:r>
            <a:r>
              <a:rPr lang="zh-CN" altLang="en-US" sz="2400" dirty="0"/>
              <a:t>写入控制字</a:t>
            </a:r>
            <a:r>
              <a:rPr lang="en-US" altLang="zh-CN" sz="2400" dirty="0"/>
              <a:t>(CW)</a:t>
            </a:r>
            <a:r>
              <a:rPr lang="zh-CN" altLang="en-US" sz="2400" dirty="0"/>
              <a:t>后</a:t>
            </a:r>
            <a:r>
              <a:rPr lang="en-US" altLang="zh-CN" sz="2400" dirty="0"/>
              <a:t>,OUT</a:t>
            </a:r>
            <a:r>
              <a:rPr lang="zh-CN" altLang="en-US" sz="2400" dirty="0"/>
              <a:t>变为高电平；</a:t>
            </a:r>
            <a:endParaRPr lang="en-US" altLang="zh-CN" sz="2400" dirty="0"/>
          </a:p>
          <a:p>
            <a:r>
              <a:rPr lang="en-US" altLang="zh-CN" sz="2400" dirty="0"/>
              <a:t>(2)</a:t>
            </a:r>
            <a:r>
              <a:rPr lang="zh-CN" altLang="en-US" sz="2400" dirty="0"/>
              <a:t>写入初值</a:t>
            </a:r>
            <a:r>
              <a:rPr lang="en-US" altLang="zh-CN" sz="2400" dirty="0"/>
              <a:t>n</a:t>
            </a:r>
            <a:r>
              <a:rPr lang="zh-CN" altLang="en-US" sz="2400" dirty="0"/>
              <a:t>后</a:t>
            </a:r>
            <a:r>
              <a:rPr lang="en-US" altLang="zh-CN" sz="2400" dirty="0"/>
              <a:t>,</a:t>
            </a:r>
            <a:r>
              <a:rPr lang="zh-CN" altLang="en-US" sz="2400" dirty="0"/>
              <a:t>经过</a:t>
            </a:r>
            <a:r>
              <a:rPr lang="en-US" altLang="zh-CN" sz="2400" dirty="0"/>
              <a:t>1</a:t>
            </a:r>
            <a:r>
              <a:rPr lang="zh-CN" altLang="en-US" sz="2400" dirty="0"/>
              <a:t>个</a:t>
            </a:r>
            <a:r>
              <a:rPr lang="en-US" altLang="zh-CN" sz="2400" dirty="0"/>
              <a:t>CLK</a:t>
            </a:r>
            <a:r>
              <a:rPr lang="zh-CN" altLang="en-US" sz="2400" dirty="0"/>
              <a:t>信号</a:t>
            </a:r>
            <a:r>
              <a:rPr lang="en-US" altLang="zh-CN" sz="2400" dirty="0"/>
              <a:t>,</a:t>
            </a:r>
            <a:r>
              <a:rPr lang="zh-CN" altLang="en-US" sz="2400" dirty="0"/>
              <a:t>初值进入执行部件</a:t>
            </a:r>
            <a:r>
              <a:rPr lang="en-US" altLang="zh-CN" sz="2400" dirty="0"/>
              <a:t>,</a:t>
            </a:r>
            <a:r>
              <a:rPr lang="zh-CN" altLang="en-US" sz="2400" dirty="0"/>
              <a:t>开始计数；</a:t>
            </a:r>
            <a:endParaRPr lang="en-US" altLang="zh-CN" sz="2400" dirty="0"/>
          </a:p>
          <a:p>
            <a:r>
              <a:rPr lang="zh-CN" altLang="en-US" sz="2400" dirty="0"/>
              <a:t>（</a:t>
            </a:r>
            <a:r>
              <a:rPr lang="en-US" altLang="zh-CN" sz="2400" dirty="0"/>
              <a:t>3</a:t>
            </a:r>
            <a:r>
              <a:rPr lang="zh-CN" altLang="en-US" sz="2400" dirty="0"/>
              <a:t>）</a:t>
            </a:r>
            <a:r>
              <a:rPr lang="en-US" altLang="zh-CN" sz="2400" dirty="0"/>
              <a:t>GATE=1</a:t>
            </a:r>
            <a:r>
              <a:rPr lang="zh-CN" altLang="en-US" sz="2400" dirty="0"/>
              <a:t>允许对</a:t>
            </a:r>
            <a:r>
              <a:rPr lang="en-US" altLang="zh-CN" sz="2400" dirty="0"/>
              <a:t>CLK</a:t>
            </a:r>
            <a:r>
              <a:rPr lang="zh-CN" altLang="en-US" sz="2400" dirty="0"/>
              <a:t>计数</a:t>
            </a:r>
            <a:r>
              <a:rPr lang="en-US" altLang="zh-CN" sz="2400" dirty="0"/>
              <a:t>,GATE=0</a:t>
            </a:r>
            <a:r>
              <a:rPr lang="zh-CN" altLang="en-US" sz="2400" dirty="0"/>
              <a:t>计数停止。（既可用电平触发也可用上升沿触发）</a:t>
            </a:r>
            <a:endParaRPr lang="zh-CN" altLang="en-US" sz="2400" dirty="0"/>
          </a:p>
          <a:p>
            <a:r>
              <a:rPr lang="zh-CN" altLang="en-US" sz="2400" dirty="0"/>
              <a:t>注：工作方式</a:t>
            </a:r>
            <a:r>
              <a:rPr lang="en-US" altLang="zh-CN" sz="2400" dirty="0"/>
              <a:t>3</a:t>
            </a:r>
            <a:r>
              <a:rPr lang="zh-CN" altLang="en-US" sz="2400" dirty="0"/>
              <a:t>，具有计数初值重装能力</a:t>
            </a:r>
            <a:endParaRPr lang="zh-CN" altLang="en-US" sz="2400" dirty="0"/>
          </a:p>
        </p:txBody>
      </p:sp>
      <p:sp>
        <p:nvSpPr>
          <p:cNvPr id="4" name="日期占位符 3"/>
          <p:cNvSpPr>
            <a:spLocks noGrp="1"/>
          </p:cNvSpPr>
          <p:nvPr>
            <p:ph type="dt" sz="half" idx="10"/>
          </p:nvPr>
        </p:nvSpPr>
        <p:spPr/>
        <p:txBody>
          <a:bodyPr/>
          <a:lstStyle/>
          <a:p>
            <a:pPr>
              <a:defRPr/>
            </a:pPr>
            <a:fld id="{88822498-B7A6-485B-A70D-1B30F9690641}"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6" name="图片 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07278" y="384540"/>
            <a:ext cx="7742752" cy="330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8CA3637B-B2FB-46AE-8905-94B5A5178E86}"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2821258" y="297490"/>
            <a:ext cx="6358124" cy="3242476"/>
          </a:xfrm>
          <a:prstGeom prst="rect">
            <a:avLst/>
          </a:prstGeom>
        </p:spPr>
      </p:pic>
      <p:sp>
        <p:nvSpPr>
          <p:cNvPr id="9" name="文本框 8"/>
          <p:cNvSpPr txBox="1"/>
          <p:nvPr/>
        </p:nvSpPr>
        <p:spPr>
          <a:xfrm>
            <a:off x="475785" y="3693854"/>
            <a:ext cx="10820400" cy="2246769"/>
          </a:xfrm>
          <a:prstGeom prst="rect">
            <a:avLst/>
          </a:prstGeom>
          <a:noFill/>
        </p:spPr>
        <p:txBody>
          <a:bodyPr wrap="square">
            <a:spAutoFit/>
          </a:bodyPr>
          <a:lstStyle/>
          <a:p>
            <a:pPr lvl="1"/>
            <a:r>
              <a:rPr lang="en-US" altLang="zh-CN" sz="2000" dirty="0"/>
              <a:t>n</a:t>
            </a:r>
            <a:r>
              <a:rPr lang="zh-CN" altLang="en-US" sz="2000" dirty="0"/>
              <a:t>为偶数时，每经过一个</a:t>
            </a:r>
            <a:r>
              <a:rPr lang="en-US" altLang="zh-CN" sz="2000" dirty="0"/>
              <a:t>CLK</a:t>
            </a:r>
            <a:r>
              <a:rPr lang="zh-CN" altLang="en-US" sz="2000" dirty="0"/>
              <a:t>信号，</a:t>
            </a:r>
            <a:r>
              <a:rPr lang="en-US" altLang="zh-CN" sz="2000" dirty="0"/>
              <a:t>n</a:t>
            </a:r>
            <a:r>
              <a:rPr lang="zh-CN" altLang="en-US" sz="2000" dirty="0"/>
              <a:t>减</a:t>
            </a:r>
            <a:r>
              <a:rPr lang="en-US" altLang="zh-CN" sz="2000" dirty="0"/>
              <a:t>2</a:t>
            </a:r>
            <a:r>
              <a:rPr lang="zh-CN" altLang="en-US" sz="2000" dirty="0"/>
              <a:t>；</a:t>
            </a:r>
            <a:r>
              <a:rPr lang="en-US" altLang="zh-CN" sz="2000" dirty="0"/>
              <a:t>n</a:t>
            </a:r>
            <a:r>
              <a:rPr lang="zh-CN" altLang="en-US" sz="2000" dirty="0"/>
              <a:t>减到</a:t>
            </a:r>
            <a:r>
              <a:rPr lang="en-US" altLang="zh-CN" sz="2000" dirty="0"/>
              <a:t>0</a:t>
            </a:r>
            <a:r>
              <a:rPr lang="zh-CN" altLang="en-US" sz="2000" dirty="0"/>
              <a:t>，</a:t>
            </a:r>
            <a:r>
              <a:rPr lang="en-US" altLang="zh-CN" sz="2000" dirty="0"/>
              <a:t>OUT</a:t>
            </a:r>
            <a:r>
              <a:rPr lang="zh-CN" altLang="en-US" sz="2000" dirty="0"/>
              <a:t>反转，重新装入计数值，进行</a:t>
            </a:r>
            <a:r>
              <a:rPr lang="en-US" altLang="zh-CN" sz="2000" dirty="0"/>
              <a:t>OUT</a:t>
            </a:r>
            <a:r>
              <a:rPr lang="zh-CN" altLang="en-US" sz="2000" dirty="0"/>
              <a:t>负半周计数。</a:t>
            </a:r>
            <a:endParaRPr lang="zh-CN" altLang="en-US" sz="2000" dirty="0"/>
          </a:p>
          <a:p>
            <a:pPr lvl="1"/>
            <a:r>
              <a:rPr lang="en-US" altLang="zh-CN" sz="2000" dirty="0"/>
              <a:t>OUT</a:t>
            </a:r>
            <a:r>
              <a:rPr lang="zh-CN" altLang="en-US" sz="2000" dirty="0"/>
              <a:t>正半周与负半周时间相等，为</a:t>
            </a:r>
            <a:r>
              <a:rPr lang="en-US" altLang="zh-CN" sz="2000" dirty="0"/>
              <a:t>T</a:t>
            </a:r>
            <a:r>
              <a:rPr lang="en-US" altLang="zh-CN" sz="2000" baseline="-25000" dirty="0"/>
              <a:t>CLK</a:t>
            </a:r>
            <a:r>
              <a:rPr lang="en-US" altLang="zh-CN" sz="2000" dirty="0"/>
              <a:t>*n/2</a:t>
            </a:r>
            <a:r>
              <a:rPr lang="zh-CN" altLang="en-US" sz="2000" dirty="0"/>
              <a:t>。</a:t>
            </a:r>
            <a:endParaRPr lang="en-US" altLang="zh-CN" sz="2000" dirty="0"/>
          </a:p>
          <a:p>
            <a:pPr lvl="1"/>
            <a:r>
              <a:rPr lang="zh-CN" altLang="en-US" sz="2000" dirty="0"/>
              <a:t>当</a:t>
            </a:r>
            <a:r>
              <a:rPr lang="en-US" altLang="zh-CN" sz="2000" dirty="0"/>
              <a:t>n</a:t>
            </a:r>
            <a:r>
              <a:rPr lang="zh-CN" altLang="en-US" sz="2000" dirty="0"/>
              <a:t>为奇数时，</a:t>
            </a:r>
            <a:r>
              <a:rPr lang="en-US" altLang="zh-CN" sz="2000" dirty="0"/>
              <a:t>OUT</a:t>
            </a:r>
            <a:r>
              <a:rPr lang="zh-CN" altLang="en-US" sz="2000" dirty="0"/>
              <a:t>正半周，第一个</a:t>
            </a:r>
            <a:r>
              <a:rPr lang="en-US" altLang="zh-CN" sz="2000" dirty="0"/>
              <a:t>CLK</a:t>
            </a:r>
            <a:r>
              <a:rPr lang="zh-CN" altLang="en-US" sz="2000" dirty="0"/>
              <a:t>到来时，</a:t>
            </a:r>
            <a:r>
              <a:rPr lang="en-US" altLang="zh-CN" sz="2000" dirty="0"/>
              <a:t>n-1</a:t>
            </a:r>
            <a:r>
              <a:rPr lang="zh-CN" altLang="en-US" sz="2000" dirty="0"/>
              <a:t>；随着随后的</a:t>
            </a:r>
            <a:r>
              <a:rPr lang="en-US" altLang="zh-CN" sz="2000" dirty="0"/>
              <a:t>CLK</a:t>
            </a:r>
            <a:r>
              <a:rPr lang="zh-CN" altLang="en-US" sz="2000" dirty="0"/>
              <a:t>到来，</a:t>
            </a:r>
            <a:r>
              <a:rPr lang="en-US" altLang="zh-CN" sz="2000" dirty="0"/>
              <a:t>n-2</a:t>
            </a:r>
            <a:r>
              <a:rPr lang="zh-CN" altLang="en-US" sz="2000" dirty="0"/>
              <a:t>直至计数到</a:t>
            </a:r>
            <a:r>
              <a:rPr lang="en-US" altLang="zh-CN" sz="2000" dirty="0"/>
              <a:t>0</a:t>
            </a:r>
            <a:r>
              <a:rPr lang="zh-CN" altLang="en-US" sz="2000" dirty="0"/>
              <a:t>，</a:t>
            </a:r>
            <a:r>
              <a:rPr lang="en-US" altLang="zh-CN" sz="2000" dirty="0"/>
              <a:t>OUT</a:t>
            </a:r>
            <a:r>
              <a:rPr lang="zh-CN" altLang="en-US" sz="2000" dirty="0"/>
              <a:t>反转为低电平；计数值重装后，第一个</a:t>
            </a:r>
            <a:r>
              <a:rPr lang="en-US" altLang="zh-CN" sz="2000" dirty="0"/>
              <a:t>CLK</a:t>
            </a:r>
            <a:r>
              <a:rPr lang="zh-CN" altLang="en-US" sz="2000" dirty="0"/>
              <a:t>到</a:t>
            </a:r>
            <a:r>
              <a:rPr lang="en-US" altLang="zh-CN" sz="2000" dirty="0"/>
              <a:t>n-3</a:t>
            </a:r>
            <a:r>
              <a:rPr lang="zh-CN" altLang="en-US" sz="2000" dirty="0"/>
              <a:t>，随着随后的</a:t>
            </a:r>
            <a:r>
              <a:rPr lang="en-US" altLang="zh-CN" sz="2000" dirty="0"/>
              <a:t>CLK</a:t>
            </a:r>
            <a:r>
              <a:rPr lang="zh-CN" altLang="en-US" sz="2000" dirty="0"/>
              <a:t>到来，</a:t>
            </a:r>
            <a:r>
              <a:rPr lang="en-US" altLang="zh-CN" sz="2000" dirty="0"/>
              <a:t>n-2</a:t>
            </a:r>
            <a:r>
              <a:rPr lang="zh-CN" altLang="en-US" sz="2000" dirty="0"/>
              <a:t>直至计数到</a:t>
            </a:r>
            <a:r>
              <a:rPr lang="en-US" altLang="zh-CN" sz="2000" dirty="0"/>
              <a:t>0</a:t>
            </a:r>
            <a:r>
              <a:rPr lang="zh-CN" altLang="en-US" sz="2000" dirty="0"/>
              <a:t>，</a:t>
            </a:r>
            <a:r>
              <a:rPr lang="en-US" altLang="zh-CN" sz="2000" dirty="0"/>
              <a:t>OUT</a:t>
            </a:r>
            <a:r>
              <a:rPr lang="zh-CN" altLang="en-US" sz="2000" dirty="0"/>
              <a:t>反转为高电平；自动重装计数值后新开始新一轮计数</a:t>
            </a:r>
            <a:r>
              <a:rPr lang="en-US" altLang="zh-CN" sz="2000" dirty="0"/>
              <a:t>,</a:t>
            </a:r>
            <a:r>
              <a:rPr lang="zh-CN" altLang="en-US" sz="2000" dirty="0"/>
              <a:t>如此重复进行。</a:t>
            </a:r>
            <a:endParaRPr lang="zh-CN" altLang="en-US" sz="2000" dirty="0"/>
          </a:p>
          <a:p>
            <a:pPr lvl="1"/>
            <a:r>
              <a:rPr lang="en-US" altLang="zh-CN" sz="2000" dirty="0"/>
              <a:t>n</a:t>
            </a:r>
            <a:r>
              <a:rPr lang="zh-CN" altLang="en-US" sz="2000" dirty="0"/>
              <a:t>为奇数时，</a:t>
            </a:r>
            <a:r>
              <a:rPr lang="en-US" altLang="zh-CN" sz="2000" dirty="0"/>
              <a:t>OUT</a:t>
            </a:r>
            <a:r>
              <a:rPr lang="zh-CN" altLang="en-US" sz="2000" dirty="0"/>
              <a:t>的正半周时间为</a:t>
            </a:r>
            <a:r>
              <a:rPr lang="en-US" altLang="zh-CN" sz="2000" dirty="0"/>
              <a:t>T</a:t>
            </a:r>
            <a:r>
              <a:rPr lang="en-US" altLang="zh-CN" sz="2000" baseline="-25000" dirty="0"/>
              <a:t>CLK</a:t>
            </a:r>
            <a:r>
              <a:rPr lang="en-US" altLang="zh-CN" sz="2000" dirty="0"/>
              <a:t>*(n+1</a:t>
            </a:r>
            <a:r>
              <a:rPr lang="zh-CN" altLang="en-US" sz="2000" dirty="0"/>
              <a:t>）</a:t>
            </a:r>
            <a:r>
              <a:rPr lang="en-US" altLang="zh-CN" sz="2000" dirty="0"/>
              <a:t>/2</a:t>
            </a:r>
            <a:r>
              <a:rPr lang="zh-CN" altLang="en-US" sz="2000" dirty="0"/>
              <a:t>，</a:t>
            </a:r>
            <a:r>
              <a:rPr lang="en-US" altLang="zh-CN" sz="2000" dirty="0"/>
              <a:t>OUT</a:t>
            </a:r>
            <a:r>
              <a:rPr lang="zh-CN" altLang="en-US" sz="2000" dirty="0"/>
              <a:t>的后半周时间为</a:t>
            </a:r>
            <a:r>
              <a:rPr lang="en-US" altLang="zh-CN" sz="2000" dirty="0"/>
              <a:t>T</a:t>
            </a:r>
            <a:r>
              <a:rPr lang="en-US" altLang="zh-CN" sz="2000" baseline="-25000" dirty="0"/>
              <a:t>CLK</a:t>
            </a:r>
            <a:r>
              <a:rPr lang="en-US" altLang="zh-CN" sz="2000" dirty="0"/>
              <a:t>*(n-1</a:t>
            </a:r>
            <a:r>
              <a:rPr lang="zh-CN" altLang="en-US" sz="2000" dirty="0"/>
              <a:t>）</a:t>
            </a:r>
            <a:r>
              <a:rPr lang="en-US" altLang="zh-CN" sz="2000" dirty="0"/>
              <a:t>/2</a:t>
            </a:r>
            <a:r>
              <a:rPr lang="zh-CN" altLang="en-US" sz="2000" dirty="0"/>
              <a:t>。</a:t>
            </a:r>
            <a:endParaRPr lang="zh-CN" altLang="en-US" sz="2000"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7600" y="1093878"/>
            <a:ext cx="2113091" cy="763772"/>
          </a:xfrm>
        </p:spPr>
        <p:txBody>
          <a:bodyPr/>
          <a:lstStyle/>
          <a:p>
            <a:r>
              <a:rPr lang="zh-CN" altLang="en-US" sz="2400" dirty="0"/>
              <a:t>工作方式</a:t>
            </a:r>
            <a:r>
              <a:rPr lang="en-US" altLang="zh-CN" sz="2400" dirty="0"/>
              <a:t>4</a:t>
            </a:r>
            <a:r>
              <a:rPr lang="zh-CN" altLang="en-US" sz="2400" dirty="0"/>
              <a:t>：软件触发的选通信号发生器</a:t>
            </a:r>
            <a:endParaRPr lang="zh-CN" altLang="en-US" sz="2400" dirty="0"/>
          </a:p>
        </p:txBody>
      </p:sp>
      <p:sp>
        <p:nvSpPr>
          <p:cNvPr id="3" name="内容占位符 2"/>
          <p:cNvSpPr>
            <a:spLocks noGrp="1"/>
          </p:cNvSpPr>
          <p:nvPr>
            <p:ph idx="1"/>
          </p:nvPr>
        </p:nvSpPr>
        <p:spPr>
          <a:xfrm>
            <a:off x="609600" y="3429000"/>
            <a:ext cx="10265546" cy="2574664"/>
          </a:xfrm>
        </p:spPr>
        <p:txBody>
          <a:bodyPr/>
          <a:lstStyle/>
          <a:p>
            <a:pPr marL="0" indent="0">
              <a:buNone/>
            </a:pPr>
            <a:r>
              <a:rPr lang="zh-CN" altLang="en-US" sz="2000" dirty="0"/>
              <a:t>（</a:t>
            </a:r>
            <a:r>
              <a:rPr lang="en-US" altLang="zh-CN" sz="2000" dirty="0"/>
              <a:t>1</a:t>
            </a:r>
            <a:r>
              <a:rPr lang="zh-CN" altLang="en-US" sz="2000" dirty="0"/>
              <a:t>）写入控制字</a:t>
            </a:r>
            <a:r>
              <a:rPr lang="en-US" altLang="zh-CN" sz="2000" dirty="0"/>
              <a:t>(CW)</a:t>
            </a:r>
            <a:r>
              <a:rPr lang="zh-CN" altLang="en-US" sz="2000" dirty="0"/>
              <a:t>后</a:t>
            </a:r>
            <a:r>
              <a:rPr lang="en-US" altLang="zh-CN" sz="2000" dirty="0"/>
              <a:t>,OUT</a:t>
            </a:r>
            <a:r>
              <a:rPr lang="zh-CN" altLang="en-US" sz="2000" dirty="0"/>
              <a:t>变为高电平；</a:t>
            </a:r>
            <a:endParaRPr lang="en-US" altLang="zh-CN" sz="2000" dirty="0"/>
          </a:p>
          <a:p>
            <a:pPr marL="0" indent="0">
              <a:buNone/>
            </a:pPr>
            <a:r>
              <a:rPr lang="zh-CN" altLang="en-US" sz="2000" dirty="0"/>
              <a:t>（</a:t>
            </a:r>
            <a:r>
              <a:rPr lang="en-US" altLang="zh-CN" sz="2000" dirty="0"/>
              <a:t>2</a:t>
            </a:r>
            <a:r>
              <a:rPr lang="zh-CN" altLang="en-US" sz="2000" dirty="0"/>
              <a:t>）写入初值</a:t>
            </a:r>
            <a:r>
              <a:rPr lang="en-US" altLang="zh-CN" sz="2000" dirty="0"/>
              <a:t>(n=2)</a:t>
            </a:r>
            <a:r>
              <a:rPr lang="zh-CN" altLang="en-US" sz="2000" dirty="0"/>
              <a:t>后</a:t>
            </a:r>
            <a:r>
              <a:rPr lang="en-US" altLang="zh-CN" sz="2000" dirty="0"/>
              <a:t>,GATE=1</a:t>
            </a:r>
            <a:r>
              <a:rPr lang="zh-CN" altLang="en-US" sz="2000" dirty="0"/>
              <a:t>，再经过一个</a:t>
            </a:r>
            <a:r>
              <a:rPr lang="en-US" altLang="zh-CN" sz="2000" dirty="0"/>
              <a:t>CLK</a:t>
            </a:r>
            <a:r>
              <a:rPr lang="zh-CN" altLang="en-US" sz="2000" dirty="0"/>
              <a:t>信号</a:t>
            </a:r>
            <a:r>
              <a:rPr lang="en-US" altLang="zh-CN" sz="2000" dirty="0"/>
              <a:t>,</a:t>
            </a:r>
            <a:r>
              <a:rPr lang="zh-CN" altLang="en-US" sz="2000" dirty="0"/>
              <a:t>初值进入计数执行部件</a:t>
            </a:r>
            <a:r>
              <a:rPr lang="en-US" altLang="zh-CN" sz="2000" dirty="0"/>
              <a:t>,</a:t>
            </a:r>
            <a:r>
              <a:rPr lang="zh-CN" altLang="en-US" sz="2000" dirty="0"/>
              <a:t>开始计数；</a:t>
            </a:r>
            <a:endParaRPr lang="en-US" altLang="zh-CN" sz="2000" dirty="0"/>
          </a:p>
          <a:p>
            <a:pPr marL="0" indent="0">
              <a:buNone/>
            </a:pPr>
            <a:r>
              <a:rPr lang="zh-CN" altLang="en-US" sz="2000" dirty="0"/>
              <a:t>（</a:t>
            </a:r>
            <a:r>
              <a:rPr lang="en-US" altLang="zh-CN" sz="2000" dirty="0"/>
              <a:t>3</a:t>
            </a:r>
            <a:r>
              <a:rPr lang="zh-CN" altLang="en-US" sz="2000" dirty="0"/>
              <a:t>）</a:t>
            </a:r>
            <a:r>
              <a:rPr lang="en-US" altLang="zh-CN" sz="2000" dirty="0"/>
              <a:t>GATE=1</a:t>
            </a:r>
            <a:r>
              <a:rPr lang="zh-CN" altLang="en-US" sz="2000" dirty="0"/>
              <a:t>允许对</a:t>
            </a:r>
            <a:r>
              <a:rPr lang="en-US" altLang="zh-CN" sz="2000" dirty="0"/>
              <a:t>CLK</a:t>
            </a:r>
            <a:r>
              <a:rPr lang="zh-CN" altLang="en-US" sz="2000" dirty="0"/>
              <a:t>计数</a:t>
            </a:r>
            <a:r>
              <a:rPr lang="en-US" altLang="zh-CN" sz="2000" dirty="0"/>
              <a:t>,GATE=0</a:t>
            </a:r>
            <a:r>
              <a:rPr lang="zh-CN" altLang="en-US" sz="2000" dirty="0"/>
              <a:t>计数停止；</a:t>
            </a:r>
            <a:endParaRPr lang="zh-CN" altLang="en-US" sz="2000" dirty="0"/>
          </a:p>
          <a:p>
            <a:pPr marL="0" indent="0">
              <a:buNone/>
            </a:pPr>
            <a:r>
              <a:rPr lang="en-US" altLang="zh-CN" sz="2000" dirty="0"/>
              <a:t>  (4)</a:t>
            </a:r>
            <a:r>
              <a:rPr lang="zh-CN" altLang="en-US" sz="2000" dirty="0"/>
              <a:t>写入初值后</a:t>
            </a:r>
            <a:r>
              <a:rPr lang="en-US" altLang="zh-CN" sz="2000" dirty="0"/>
              <a:t>,</a:t>
            </a:r>
            <a:r>
              <a:rPr lang="zh-CN" altLang="en-US" sz="2000" dirty="0"/>
              <a:t>计数到</a:t>
            </a:r>
            <a:r>
              <a:rPr lang="en-US" altLang="zh-CN" sz="2000" dirty="0"/>
              <a:t>0,OUT</a:t>
            </a:r>
            <a:r>
              <a:rPr lang="zh-CN" altLang="en-US" sz="2000" dirty="0"/>
              <a:t>变低；</a:t>
            </a:r>
            <a:endParaRPr lang="en-US" altLang="zh-CN" sz="2000" dirty="0"/>
          </a:p>
          <a:p>
            <a:pPr marL="0" indent="0">
              <a:buNone/>
            </a:pPr>
            <a:r>
              <a:rPr lang="en-US" altLang="zh-CN" sz="2000" dirty="0"/>
              <a:t>  (5)OUT</a:t>
            </a:r>
            <a:r>
              <a:rPr lang="zh-CN" altLang="en-US" sz="2000" dirty="0"/>
              <a:t>为低的时间仅为</a:t>
            </a:r>
            <a:r>
              <a:rPr lang="en-US" altLang="zh-CN" sz="2000" dirty="0"/>
              <a:t>1</a:t>
            </a:r>
            <a:r>
              <a:rPr lang="zh-CN" altLang="en-US" sz="2000" dirty="0"/>
              <a:t>个</a:t>
            </a:r>
            <a:r>
              <a:rPr lang="en-US" altLang="zh-CN" sz="2000" dirty="0"/>
              <a:t>CLK,</a:t>
            </a:r>
            <a:r>
              <a:rPr lang="zh-CN" altLang="en-US" sz="2000" dirty="0"/>
              <a:t>然后自动变高</a:t>
            </a:r>
            <a:r>
              <a:rPr lang="en-US" altLang="zh-CN" sz="2000" dirty="0"/>
              <a:t>,</a:t>
            </a:r>
            <a:r>
              <a:rPr lang="zh-CN" altLang="en-US" sz="2000" dirty="0"/>
              <a:t>并停止计数；</a:t>
            </a:r>
            <a:endParaRPr lang="en-US" altLang="zh-CN" sz="2000" dirty="0"/>
          </a:p>
          <a:p>
            <a:pPr marL="0" indent="0">
              <a:buNone/>
            </a:pPr>
            <a:r>
              <a:rPr lang="en-US" altLang="zh-CN" sz="2000" dirty="0"/>
              <a:t>  (6)</a:t>
            </a:r>
            <a:r>
              <a:rPr lang="zh-CN" altLang="en-US" sz="2000" dirty="0"/>
              <a:t>计数停止</a:t>
            </a:r>
            <a:r>
              <a:rPr lang="en-US" altLang="zh-CN" sz="2000" dirty="0"/>
              <a:t>,OUT</a:t>
            </a:r>
            <a:r>
              <a:rPr lang="zh-CN" altLang="en-US" sz="2000" dirty="0"/>
              <a:t>一直为高</a:t>
            </a:r>
            <a:r>
              <a:rPr lang="en-US" altLang="zh-CN" sz="2000" dirty="0"/>
              <a:t>,</a:t>
            </a:r>
            <a:r>
              <a:rPr lang="zh-CN" altLang="en-US" sz="2000" dirty="0"/>
              <a:t>除非重新初始化或送初值。</a:t>
            </a:r>
            <a:endParaRPr lang="zh-CN" altLang="en-US" sz="2000" dirty="0"/>
          </a:p>
        </p:txBody>
      </p:sp>
      <p:sp>
        <p:nvSpPr>
          <p:cNvPr id="4" name="日期占位符 3"/>
          <p:cNvSpPr>
            <a:spLocks noGrp="1"/>
          </p:cNvSpPr>
          <p:nvPr>
            <p:ph type="dt" sz="half" idx="10"/>
          </p:nvPr>
        </p:nvSpPr>
        <p:spPr/>
        <p:txBody>
          <a:bodyPr/>
          <a:lstStyle/>
          <a:p>
            <a:pPr>
              <a:defRPr/>
            </a:pPr>
            <a:fld id="{B00D73AA-2216-4010-A8BF-5885B16FEEA7}"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6" name="图片 34819" descr="tu9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65049" y="731968"/>
            <a:ext cx="7188032" cy="269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2650" y="727076"/>
            <a:ext cx="2051792" cy="871373"/>
          </a:xfrm>
        </p:spPr>
        <p:txBody>
          <a:bodyPr/>
          <a:lstStyle/>
          <a:p>
            <a:r>
              <a:rPr lang="zh-CN" altLang="en-US" sz="2400" dirty="0"/>
              <a:t>工作方式</a:t>
            </a:r>
            <a:r>
              <a:rPr lang="en-US" altLang="zh-CN" sz="2400" dirty="0"/>
              <a:t>5</a:t>
            </a:r>
            <a:r>
              <a:rPr lang="zh-CN" altLang="en-US" sz="2400" dirty="0"/>
              <a:t>：硬件触发的选通信号发生器</a:t>
            </a:r>
            <a:endParaRPr lang="zh-CN" altLang="en-US" sz="2400" dirty="0"/>
          </a:p>
        </p:txBody>
      </p:sp>
      <p:sp>
        <p:nvSpPr>
          <p:cNvPr id="3" name="内容占位符 2"/>
          <p:cNvSpPr>
            <a:spLocks noGrp="1"/>
          </p:cNvSpPr>
          <p:nvPr>
            <p:ph idx="1"/>
          </p:nvPr>
        </p:nvSpPr>
        <p:spPr>
          <a:xfrm>
            <a:off x="609600" y="3770944"/>
            <a:ext cx="10058400" cy="2304648"/>
          </a:xfrm>
        </p:spPr>
        <p:txBody>
          <a:bodyPr/>
          <a:lstStyle/>
          <a:p>
            <a:pPr marL="0" indent="0">
              <a:buNone/>
            </a:pPr>
            <a:r>
              <a:rPr lang="zh-CN" altLang="en-US" sz="2000" dirty="0"/>
              <a:t>（</a:t>
            </a:r>
            <a:r>
              <a:rPr lang="en-US" altLang="zh-CN" sz="2000" dirty="0"/>
              <a:t>1</a:t>
            </a:r>
            <a:r>
              <a:rPr lang="zh-CN" altLang="en-US" sz="2000" dirty="0"/>
              <a:t>）写入控制字</a:t>
            </a:r>
            <a:r>
              <a:rPr lang="en-US" altLang="zh-CN" sz="2000" dirty="0"/>
              <a:t>(CW)</a:t>
            </a:r>
            <a:r>
              <a:rPr lang="zh-CN" altLang="en-US" sz="2000" dirty="0"/>
              <a:t>后</a:t>
            </a:r>
            <a:r>
              <a:rPr lang="en-US" altLang="zh-CN" sz="2000" dirty="0"/>
              <a:t>,OUT</a:t>
            </a:r>
            <a:r>
              <a:rPr lang="zh-CN" altLang="en-US" sz="2000" dirty="0"/>
              <a:t>变为高电平；</a:t>
            </a:r>
            <a:endParaRPr lang="en-US" altLang="zh-CN" sz="2000" dirty="0"/>
          </a:p>
          <a:p>
            <a:pPr marL="0" indent="0">
              <a:buNone/>
            </a:pPr>
            <a:r>
              <a:rPr lang="zh-CN" altLang="en-US" sz="2000" dirty="0"/>
              <a:t>（</a:t>
            </a:r>
            <a:r>
              <a:rPr lang="en-US" altLang="zh-CN" sz="2000" dirty="0"/>
              <a:t>2</a:t>
            </a:r>
            <a:r>
              <a:rPr lang="zh-CN" altLang="en-US" sz="2000" dirty="0"/>
              <a:t>）写入初值</a:t>
            </a:r>
            <a:r>
              <a:rPr lang="en-US" altLang="zh-CN" sz="2000" dirty="0"/>
              <a:t>(n=3),</a:t>
            </a:r>
            <a:r>
              <a:rPr lang="zh-CN" altLang="en-US" sz="2000" dirty="0"/>
              <a:t>初值进入初值寄存器；</a:t>
            </a:r>
            <a:endParaRPr lang="en-US" altLang="zh-CN" sz="2000" dirty="0"/>
          </a:p>
          <a:p>
            <a:pPr marL="0" indent="0">
              <a:buNone/>
            </a:pPr>
            <a:r>
              <a:rPr lang="zh-CN" altLang="en-US" sz="2000" dirty="0"/>
              <a:t>（</a:t>
            </a:r>
            <a:r>
              <a:rPr lang="en-US" altLang="zh-CN" sz="2000" dirty="0"/>
              <a:t>3</a:t>
            </a:r>
            <a:r>
              <a:rPr lang="zh-CN" altLang="en-US" sz="2000" dirty="0"/>
              <a:t>）</a:t>
            </a:r>
            <a:r>
              <a:rPr lang="en-US" altLang="zh-CN" sz="2000" dirty="0"/>
              <a:t>GATE</a:t>
            </a:r>
            <a:r>
              <a:rPr lang="zh-CN" altLang="en-US" sz="2000" dirty="0"/>
              <a:t>上升沿使计数执行部件在一个</a:t>
            </a:r>
            <a:r>
              <a:rPr lang="en-US" altLang="zh-CN" sz="2000" dirty="0"/>
              <a:t>CLK</a:t>
            </a:r>
            <a:r>
              <a:rPr lang="zh-CN" altLang="en-US" sz="2000" dirty="0"/>
              <a:t>后获得初值</a:t>
            </a:r>
            <a:r>
              <a:rPr lang="en-US" altLang="zh-CN" sz="2000" dirty="0"/>
              <a:t>,</a:t>
            </a:r>
            <a:r>
              <a:rPr lang="zh-CN" altLang="en-US" sz="2000" dirty="0"/>
              <a:t>并启动计数；</a:t>
            </a:r>
            <a:endParaRPr lang="zh-CN" altLang="en-US" sz="2000" dirty="0"/>
          </a:p>
          <a:p>
            <a:pPr marL="0" indent="0">
              <a:buNone/>
            </a:pPr>
            <a:r>
              <a:rPr lang="zh-CN" altLang="en-US" sz="2000" dirty="0"/>
              <a:t>（</a:t>
            </a:r>
            <a:r>
              <a:rPr lang="en-US" altLang="zh-CN" sz="2000" dirty="0"/>
              <a:t>4</a:t>
            </a:r>
            <a:r>
              <a:rPr lang="zh-CN" altLang="en-US" sz="2000" dirty="0"/>
              <a:t>）计数结束时</a:t>
            </a:r>
            <a:r>
              <a:rPr lang="en-US" altLang="zh-CN" sz="2000" dirty="0"/>
              <a:t>,OUT</a:t>
            </a:r>
            <a:r>
              <a:rPr lang="zh-CN" altLang="en-US" sz="2000" dirty="0"/>
              <a:t>输出一个</a:t>
            </a:r>
            <a:r>
              <a:rPr lang="en-US" altLang="zh-CN" sz="2000" dirty="0"/>
              <a:t>CLK</a:t>
            </a:r>
            <a:r>
              <a:rPr lang="zh-CN" altLang="en-US" sz="2000" dirty="0"/>
              <a:t>宽度的负脉冲</a:t>
            </a:r>
            <a:r>
              <a:rPr lang="en-US" altLang="zh-CN" sz="2000" dirty="0"/>
              <a:t>,</a:t>
            </a:r>
            <a:r>
              <a:rPr lang="zh-CN" altLang="en-US" sz="2000" dirty="0"/>
              <a:t>该负脉冲可作选通信号；</a:t>
            </a:r>
            <a:endParaRPr lang="en-US" altLang="zh-CN" sz="2000" dirty="0"/>
          </a:p>
          <a:p>
            <a:pPr marL="0" indent="0">
              <a:buNone/>
            </a:pPr>
            <a:r>
              <a:rPr lang="zh-CN" altLang="en-US" sz="2000" dirty="0"/>
              <a:t>（</a:t>
            </a:r>
            <a:r>
              <a:rPr lang="en-US" altLang="zh-CN" sz="2000" dirty="0"/>
              <a:t>5</a:t>
            </a:r>
            <a:r>
              <a:rPr lang="zh-CN" altLang="en-US" sz="2000" dirty="0"/>
              <a:t>）计数结束后，计数停止；</a:t>
            </a:r>
            <a:endParaRPr lang="en-US" altLang="zh-CN" sz="2000" dirty="0"/>
          </a:p>
          <a:p>
            <a:pPr marL="0" indent="0">
              <a:buNone/>
            </a:pPr>
            <a:r>
              <a:rPr lang="zh-CN" altLang="en-US" sz="2000" dirty="0"/>
              <a:t>（</a:t>
            </a:r>
            <a:r>
              <a:rPr lang="en-US" altLang="zh-CN" sz="2000" dirty="0"/>
              <a:t>6</a:t>
            </a:r>
            <a:r>
              <a:rPr lang="zh-CN" altLang="en-US" sz="2000" dirty="0"/>
              <a:t>）新的</a:t>
            </a:r>
            <a:r>
              <a:rPr lang="en-US" altLang="zh-CN" sz="2000" dirty="0"/>
              <a:t>GATE</a:t>
            </a:r>
            <a:r>
              <a:rPr lang="zh-CN" altLang="en-US" sz="2000" dirty="0"/>
              <a:t>上升沿</a:t>
            </a:r>
            <a:r>
              <a:rPr lang="en-US" altLang="zh-CN" sz="2000" dirty="0"/>
              <a:t>,</a:t>
            </a:r>
            <a:r>
              <a:rPr lang="zh-CN" altLang="en-US" sz="2000" dirty="0"/>
              <a:t>启动新一次计数。</a:t>
            </a:r>
            <a:endParaRPr lang="zh-CN" altLang="en-US" sz="2000" dirty="0"/>
          </a:p>
        </p:txBody>
      </p:sp>
      <p:sp>
        <p:nvSpPr>
          <p:cNvPr id="4" name="日期占位符 3"/>
          <p:cNvSpPr>
            <a:spLocks noGrp="1"/>
          </p:cNvSpPr>
          <p:nvPr>
            <p:ph type="dt" sz="half" idx="10"/>
          </p:nvPr>
        </p:nvSpPr>
        <p:spPr/>
        <p:txBody>
          <a:bodyPr/>
          <a:lstStyle/>
          <a:p>
            <a:pPr>
              <a:defRPr/>
            </a:pPr>
            <a:fld id="{8C651B6F-7D40-4D2E-BC34-0D17D89D46B3}" type="datetime10">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6" name="图片 36867" descr="tu10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82181" y="966970"/>
            <a:ext cx="7427637" cy="2741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19595" y="152400"/>
            <a:ext cx="10398825" cy="4411662"/>
          </a:xfrm>
        </p:spPr>
        <p:txBody>
          <a:bodyPr/>
          <a:lstStyle/>
          <a:p>
            <a:r>
              <a:rPr lang="en-US" altLang="zh-CN" sz="2400" dirty="0"/>
              <a:t>8253</a:t>
            </a:r>
            <a:r>
              <a:rPr lang="zh-CN" altLang="en-US" sz="2400" dirty="0"/>
              <a:t>六种工作方式小结</a:t>
            </a:r>
            <a:endParaRPr lang="en-US" altLang="zh-CN" sz="2400" dirty="0"/>
          </a:p>
          <a:p>
            <a:pPr lvl="1"/>
            <a:r>
              <a:rPr lang="zh-CN" altLang="en-US" sz="2400" dirty="0"/>
              <a:t>方式</a:t>
            </a:r>
            <a:r>
              <a:rPr lang="en-US" altLang="zh-CN" sz="2400" dirty="0"/>
              <a:t>0——</a:t>
            </a:r>
            <a:r>
              <a:rPr lang="zh-CN" altLang="en-US" sz="2400" dirty="0"/>
              <a:t>计数结束产生中断</a:t>
            </a:r>
            <a:endParaRPr lang="zh-CN" altLang="en-US" sz="2400" dirty="0"/>
          </a:p>
          <a:p>
            <a:pPr marL="344170" lvl="1" indent="0">
              <a:buNone/>
            </a:pPr>
            <a:r>
              <a:rPr lang="en-US" altLang="zh-CN" sz="2400" dirty="0"/>
              <a:t>GATE</a:t>
            </a:r>
            <a:r>
              <a:rPr lang="zh-CN" altLang="en-US" sz="2400" dirty="0"/>
              <a:t>高电平触发；一次定时或计数</a:t>
            </a:r>
            <a:r>
              <a:rPr lang="en-US" altLang="zh-CN" sz="2400" dirty="0"/>
              <a:t>,</a:t>
            </a:r>
            <a:r>
              <a:rPr lang="zh-CN" altLang="en-US" sz="2400" dirty="0"/>
              <a:t>重写初值</a:t>
            </a:r>
            <a:r>
              <a:rPr lang="en-US" altLang="zh-CN" sz="2400" dirty="0"/>
              <a:t>,</a:t>
            </a:r>
            <a:r>
              <a:rPr lang="zh-CN" altLang="en-US" sz="2400" dirty="0"/>
              <a:t>启动新一轮的计数</a:t>
            </a:r>
            <a:endParaRPr lang="zh-CN" altLang="en-US" sz="2400" dirty="0"/>
          </a:p>
          <a:p>
            <a:pPr lvl="1"/>
            <a:r>
              <a:rPr lang="zh-CN" altLang="en-US" sz="2400" dirty="0"/>
              <a:t>方式</a:t>
            </a:r>
            <a:r>
              <a:rPr lang="en-US" altLang="zh-CN" sz="2400" dirty="0"/>
              <a:t>1——</a:t>
            </a:r>
            <a:r>
              <a:rPr lang="zh-CN" altLang="en-US" sz="2400" dirty="0"/>
              <a:t>可编程的单脉冲</a:t>
            </a:r>
            <a:r>
              <a:rPr lang="en-US" altLang="zh-CN" sz="2400" dirty="0"/>
              <a:t>(</a:t>
            </a:r>
            <a:r>
              <a:rPr lang="zh-CN" altLang="en-US" sz="2400" dirty="0"/>
              <a:t>单稳</a:t>
            </a:r>
            <a:r>
              <a:rPr lang="en-US" altLang="zh-CN" sz="2400" dirty="0"/>
              <a:t>)</a:t>
            </a:r>
            <a:r>
              <a:rPr lang="zh-CN" altLang="en-US" sz="2400" dirty="0"/>
              <a:t>触发器</a:t>
            </a:r>
            <a:endParaRPr lang="zh-CN" altLang="en-US" sz="2400" dirty="0"/>
          </a:p>
          <a:p>
            <a:pPr marL="344170" lvl="1" indent="0">
              <a:buNone/>
            </a:pPr>
            <a:r>
              <a:rPr lang="en-US" altLang="zh-CN" sz="2400" dirty="0"/>
              <a:t>GATE</a:t>
            </a:r>
            <a:r>
              <a:rPr lang="zh-CN" altLang="en-US" sz="2400" dirty="0"/>
              <a:t>边沿触发；一次定时或计数</a:t>
            </a:r>
            <a:r>
              <a:rPr lang="en-US" altLang="zh-CN" sz="2400" dirty="0"/>
              <a:t>,GATE</a:t>
            </a:r>
            <a:r>
              <a:rPr lang="zh-CN" altLang="en-US" sz="2400" dirty="0"/>
              <a:t>再触发，可以启动新一轮计数</a:t>
            </a:r>
            <a:endParaRPr lang="zh-CN" altLang="en-US" sz="2400" dirty="0"/>
          </a:p>
          <a:p>
            <a:pPr lvl="1"/>
            <a:r>
              <a:rPr lang="zh-CN" altLang="en-US" sz="2400" dirty="0"/>
              <a:t>方式</a:t>
            </a:r>
            <a:r>
              <a:rPr lang="en-US" altLang="zh-CN" sz="2400" dirty="0"/>
              <a:t>2——</a:t>
            </a:r>
            <a:r>
              <a:rPr lang="zh-CN" altLang="en-US" sz="2400" dirty="0"/>
              <a:t>分频器</a:t>
            </a:r>
            <a:endParaRPr lang="zh-CN" altLang="en-US" sz="2400" dirty="0"/>
          </a:p>
          <a:p>
            <a:pPr marL="344170" lvl="1" indent="0">
              <a:buNone/>
            </a:pPr>
            <a:r>
              <a:rPr lang="en-US" altLang="zh-CN" sz="2400" dirty="0"/>
              <a:t>GATE</a:t>
            </a:r>
            <a:r>
              <a:rPr lang="zh-CN" altLang="en-US" sz="2400" dirty="0"/>
              <a:t>既可用电平触发也可用上升沿触发，具有计数初值重装能力</a:t>
            </a:r>
            <a:endParaRPr lang="zh-CN" altLang="en-US" sz="2400" dirty="0"/>
          </a:p>
          <a:p>
            <a:pPr lvl="1"/>
            <a:r>
              <a:rPr lang="zh-CN" altLang="en-US" sz="2400" dirty="0"/>
              <a:t>方式</a:t>
            </a:r>
            <a:r>
              <a:rPr lang="en-US" altLang="zh-CN" sz="2400" dirty="0"/>
              <a:t>3——</a:t>
            </a:r>
            <a:r>
              <a:rPr lang="zh-CN" altLang="en-US" sz="2400" dirty="0"/>
              <a:t>方波发生器</a:t>
            </a:r>
            <a:endParaRPr lang="zh-CN" altLang="en-US" sz="2400" dirty="0"/>
          </a:p>
          <a:p>
            <a:pPr marL="344170" lvl="1" indent="0">
              <a:buNone/>
            </a:pPr>
            <a:r>
              <a:rPr lang="en-US" altLang="zh-CN" sz="2400" dirty="0"/>
              <a:t>GATE</a:t>
            </a:r>
            <a:r>
              <a:rPr lang="zh-CN" altLang="en-US" sz="2400" dirty="0"/>
              <a:t>既可用电平触发也可用上升沿触发，具有计数初值重装能力</a:t>
            </a:r>
            <a:endParaRPr lang="zh-CN" altLang="en-US" sz="2400" dirty="0"/>
          </a:p>
          <a:p>
            <a:pPr lvl="1"/>
            <a:r>
              <a:rPr lang="zh-CN" altLang="en-US" sz="2400" dirty="0"/>
              <a:t>方式</a:t>
            </a:r>
            <a:r>
              <a:rPr lang="en-US" altLang="zh-CN" sz="2400" dirty="0"/>
              <a:t>4——</a:t>
            </a:r>
            <a:r>
              <a:rPr lang="zh-CN" altLang="en-US" sz="2400" dirty="0"/>
              <a:t>软件触发的选通信号发生器</a:t>
            </a:r>
            <a:endParaRPr lang="zh-CN" altLang="en-US" sz="2400" dirty="0"/>
          </a:p>
          <a:p>
            <a:pPr marL="344170" lvl="1" indent="0">
              <a:buNone/>
            </a:pPr>
            <a:r>
              <a:rPr lang="en-US" altLang="zh-CN" sz="2400" dirty="0"/>
              <a:t>GATE</a:t>
            </a:r>
            <a:r>
              <a:rPr lang="zh-CN" altLang="en-US" sz="2400" dirty="0"/>
              <a:t>为高电平触发；一次定时</a:t>
            </a:r>
            <a:r>
              <a:rPr lang="en-US" altLang="zh-CN" sz="2400" dirty="0"/>
              <a:t>,</a:t>
            </a:r>
            <a:r>
              <a:rPr lang="zh-CN" altLang="en-US" sz="2400" dirty="0"/>
              <a:t>重写初值</a:t>
            </a:r>
            <a:r>
              <a:rPr lang="en-US" altLang="zh-CN" sz="2400" dirty="0"/>
              <a:t>,</a:t>
            </a:r>
            <a:r>
              <a:rPr lang="zh-CN" altLang="en-US" sz="2400" dirty="0"/>
              <a:t>启动新一轮的计数</a:t>
            </a:r>
            <a:endParaRPr lang="zh-CN" altLang="en-US" sz="2400" dirty="0"/>
          </a:p>
          <a:p>
            <a:pPr lvl="1"/>
            <a:r>
              <a:rPr lang="zh-CN" altLang="en-US" sz="2400" dirty="0"/>
              <a:t>方式</a:t>
            </a:r>
            <a:r>
              <a:rPr lang="en-US" altLang="zh-CN" sz="2400" dirty="0"/>
              <a:t>5——</a:t>
            </a:r>
            <a:r>
              <a:rPr lang="zh-CN" altLang="en-US" sz="2400" dirty="0"/>
              <a:t>硬件触发的选通信号发生器</a:t>
            </a:r>
            <a:endParaRPr lang="zh-CN" altLang="en-US" sz="2400" dirty="0"/>
          </a:p>
          <a:p>
            <a:pPr marL="344170" lvl="1" indent="0">
              <a:buNone/>
            </a:pPr>
            <a:r>
              <a:rPr lang="en-US" altLang="zh-CN" sz="2400" dirty="0"/>
              <a:t>GATE</a:t>
            </a:r>
            <a:r>
              <a:rPr lang="zh-CN" altLang="en-US" sz="2400" dirty="0"/>
              <a:t>边沿触发；一次定时</a:t>
            </a:r>
            <a:r>
              <a:rPr lang="en-US" altLang="zh-CN" sz="2400" dirty="0"/>
              <a:t>, GATE</a:t>
            </a:r>
            <a:r>
              <a:rPr lang="zh-CN" altLang="en-US" sz="2400" dirty="0"/>
              <a:t>再触发，可以新一轮计数</a:t>
            </a:r>
            <a:endParaRPr lang="zh-CN" altLang="en-US" sz="2400" dirty="0"/>
          </a:p>
          <a:p>
            <a:pPr marL="344170" lvl="1" indent="0">
              <a:buNone/>
            </a:pPr>
            <a:endParaRPr lang="zh-CN" altLang="en-US" dirty="0"/>
          </a:p>
        </p:txBody>
      </p:sp>
      <p:sp>
        <p:nvSpPr>
          <p:cNvPr id="4" name="日期占位符 3"/>
          <p:cNvSpPr>
            <a:spLocks noGrp="1"/>
          </p:cNvSpPr>
          <p:nvPr>
            <p:ph type="dt" sz="half" idx="10"/>
          </p:nvPr>
        </p:nvSpPr>
        <p:spPr/>
        <p:txBody>
          <a:bodyPr/>
          <a:lstStyle/>
          <a:p>
            <a:pPr>
              <a:defRPr/>
            </a:pPr>
            <a:fld id="{CCC7E44E-A6E0-4779-9040-B3E9ACE2585E}" type="datetime10">
              <a:rPr lang="zh-CN" altLang="en-US" smtClean="0"/>
            </a:fld>
            <a:endParaRPr lang="en-US" altLang="zh-CN" dirty="0"/>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sym typeface="+mn-ea"/>
              </a:rPr>
              <a:t>9.3 8253</a:t>
            </a:r>
            <a:r>
              <a:rPr lang="zh-CN" altLang="en-US" dirty="0">
                <a:sym typeface="+mn-ea"/>
              </a:rPr>
              <a:t>的应用</a:t>
            </a:r>
            <a:endParaRPr lang="zh-CN" altLang="en-US"/>
          </a:p>
        </p:txBody>
      </p:sp>
      <p:sp>
        <p:nvSpPr>
          <p:cNvPr id="3" name="内容占位符 2"/>
          <p:cNvSpPr>
            <a:spLocks noGrp="1"/>
          </p:cNvSpPr>
          <p:nvPr>
            <p:ph idx="1"/>
          </p:nvPr>
        </p:nvSpPr>
        <p:spPr/>
        <p:txBody>
          <a:bodyPr/>
          <a:p>
            <a:r>
              <a:rPr lang="zh-CN" altLang="en-US"/>
              <a:t>例</a:t>
            </a:r>
            <a:r>
              <a:rPr lang="en-US" altLang="zh-CN"/>
              <a:t>9.2  </a:t>
            </a:r>
            <a:r>
              <a:rPr lang="zh-CN" altLang="en-US"/>
              <a:t>在例</a:t>
            </a:r>
            <a:r>
              <a:rPr lang="en-US" altLang="zh-CN"/>
              <a:t>9.1</a:t>
            </a:r>
            <a:r>
              <a:rPr lang="zh-CN" altLang="en-US"/>
              <a:t>的计数过程中，若要读取计数器</a:t>
            </a:r>
            <a:r>
              <a:rPr lang="en-US" altLang="zh-CN"/>
              <a:t>0</a:t>
            </a:r>
            <a:r>
              <a:rPr lang="zh-CN" altLang="en-US"/>
              <a:t>的当前</a:t>
            </a:r>
            <a:r>
              <a:rPr lang="en-US" altLang="zh-CN"/>
              <a:t>16</a:t>
            </a:r>
            <a:r>
              <a:rPr lang="zh-CN" altLang="en-US"/>
              <a:t>位计数值，并且读取的数值存入</a:t>
            </a:r>
            <a:r>
              <a:rPr lang="en-US" altLang="zh-CN"/>
              <a:t>CX</a:t>
            </a:r>
            <a:r>
              <a:rPr lang="zh-CN" altLang="en-US"/>
              <a:t>寄存器中。</a:t>
            </a:r>
            <a:endParaRPr lang="zh-CN" altLang="en-US"/>
          </a:p>
          <a:p>
            <a:pPr marL="0" indent="0">
              <a:buNone/>
            </a:pPr>
            <a:r>
              <a:rPr lang="en-US" altLang="zh-CN"/>
              <a:t>MOV AL,03H;</a:t>
            </a:r>
            <a:r>
              <a:rPr lang="zh-CN" altLang="en-US"/>
              <a:t>锁存控制字为</a:t>
            </a:r>
            <a:r>
              <a:rPr lang="en-US" altLang="zh-CN"/>
              <a:t>00000011B</a:t>
            </a:r>
            <a:endParaRPr lang="en-US" altLang="zh-CN"/>
          </a:p>
          <a:p>
            <a:pPr marL="0" indent="0">
              <a:buNone/>
            </a:pPr>
            <a:r>
              <a:rPr lang="en-US" altLang="zh-CN"/>
              <a:t>OUT 0FBH,AL;</a:t>
            </a:r>
            <a:r>
              <a:rPr lang="zh-CN" altLang="en-US"/>
              <a:t>向计数器</a:t>
            </a:r>
            <a:r>
              <a:rPr lang="en-US" altLang="zh-CN"/>
              <a:t>0</a:t>
            </a:r>
            <a:r>
              <a:rPr lang="zh-CN" altLang="en-US"/>
              <a:t>写控制字，实现锁存</a:t>
            </a:r>
            <a:endParaRPr lang="zh-CN" altLang="en-US"/>
          </a:p>
          <a:p>
            <a:pPr marL="0" indent="0">
              <a:buNone/>
            </a:pPr>
            <a:r>
              <a:rPr lang="en-US" altLang="zh-CN"/>
              <a:t>IN AL,0F8H;</a:t>
            </a:r>
            <a:r>
              <a:rPr lang="zh-CN" altLang="en-US"/>
              <a:t>读取计数器</a:t>
            </a:r>
            <a:r>
              <a:rPr lang="en-US" altLang="zh-CN"/>
              <a:t>0</a:t>
            </a:r>
            <a:r>
              <a:rPr lang="zh-CN" altLang="en-US"/>
              <a:t>的锁存器低</a:t>
            </a:r>
            <a:r>
              <a:rPr lang="en-US" altLang="zh-CN"/>
              <a:t>8</a:t>
            </a:r>
            <a:r>
              <a:rPr lang="zh-CN" altLang="en-US"/>
              <a:t>位计数值</a:t>
            </a:r>
            <a:endParaRPr lang="zh-CN" altLang="en-US"/>
          </a:p>
          <a:p>
            <a:pPr marL="0" indent="0">
              <a:buNone/>
            </a:pPr>
            <a:r>
              <a:rPr lang="en-US" altLang="zh-CN"/>
              <a:t>MOV CL,AL;</a:t>
            </a:r>
            <a:r>
              <a:rPr lang="zh-CN" altLang="en-US"/>
              <a:t>保存至</a:t>
            </a:r>
            <a:r>
              <a:rPr lang="en-US" altLang="zh-CN"/>
              <a:t>CL</a:t>
            </a:r>
            <a:endParaRPr lang="en-US" altLang="zh-CN"/>
          </a:p>
          <a:p>
            <a:pPr marL="0" indent="0">
              <a:buNone/>
            </a:pPr>
            <a:r>
              <a:rPr lang="en-US" altLang="zh-CN"/>
              <a:t>IN AL,0F8H;</a:t>
            </a:r>
            <a:r>
              <a:rPr lang="zh-CN" altLang="en-US"/>
              <a:t>再读一次计数器</a:t>
            </a:r>
            <a:r>
              <a:rPr lang="en-US" altLang="zh-CN"/>
              <a:t>0</a:t>
            </a:r>
            <a:r>
              <a:rPr lang="zh-CN" altLang="en-US"/>
              <a:t>的锁存器，读取高</a:t>
            </a:r>
            <a:r>
              <a:rPr lang="en-US" altLang="zh-CN"/>
              <a:t>8</a:t>
            </a:r>
            <a:r>
              <a:rPr lang="zh-CN" altLang="en-US"/>
              <a:t>位计数值</a:t>
            </a:r>
            <a:r>
              <a:rPr lang="en-US" altLang="zh-CN"/>
              <a:t>MOV CH,AL;</a:t>
            </a:r>
            <a:r>
              <a:rPr lang="zh-CN" altLang="en-US"/>
              <a:t>保存至</a:t>
            </a:r>
            <a:r>
              <a:rPr lang="en-US" altLang="zh-CN"/>
              <a:t>CH</a:t>
            </a:r>
            <a:endParaRPr lang="en-US" altLang="zh-CN"/>
          </a:p>
        </p:txBody>
      </p:sp>
      <p:sp>
        <p:nvSpPr>
          <p:cNvPr id="4" name="日期占位符 3"/>
          <p:cNvSpPr>
            <a:spLocks noGrp="1"/>
          </p:cNvSpPr>
          <p:nvPr>
            <p:ph type="dt" sz="half" idx="10"/>
          </p:nvPr>
        </p:nvSpPr>
        <p:spPr/>
        <p:txBody>
          <a:bodyPr/>
          <a:p>
            <a:pPr>
              <a:defRPr/>
            </a:pPr>
            <a:fld id="{FFCF43AE-F8FD-49EE-9553-888B016E31A5}"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8F4C0CD6-327D-499A-9754-0F1E4D84582B}" type="slidenum">
              <a:rPr lang="en-US" altLang="zh-CN"/>
            </a:fld>
            <a:endParaRPr lang="en-US" altLang="zh-CN" dirty="0"/>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194675" y="2203450"/>
            <a:ext cx="3930015" cy="2567305"/>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a:t>1.9.1</a:t>
            </a:r>
            <a:r>
              <a:rPr lang="zh-CN" altLang="en-US"/>
              <a:t>例题</a:t>
            </a:r>
            <a:r>
              <a:rPr lang="en-US" altLang="zh-CN"/>
              <a:t>4   1.9.2</a:t>
            </a:r>
            <a:r>
              <a:rPr lang="zh-CN" altLang="en-US"/>
              <a:t>习题</a:t>
            </a:r>
            <a:r>
              <a:rPr lang="en-US" altLang="zh-CN"/>
              <a:t>6  9</a:t>
            </a:r>
            <a:endParaRPr lang="en-US" altLang="zh-CN"/>
          </a:p>
        </p:txBody>
      </p:sp>
      <p:sp>
        <p:nvSpPr>
          <p:cNvPr id="4" name="日期占位符 3"/>
          <p:cNvSpPr>
            <a:spLocks noGrp="1"/>
          </p:cNvSpPr>
          <p:nvPr>
            <p:ph type="dt" sz="half" idx="10"/>
          </p:nvPr>
        </p:nvSpPr>
        <p:spPr/>
        <p:txBody>
          <a:bodyPr/>
          <a:p>
            <a:pPr>
              <a:defRPr/>
            </a:pPr>
            <a:fld id="{8CA3637B-B2FB-46AE-8905-94B5A5178E86}" type="datetime10">
              <a:rPr lang="zh-CN" altLang="en-US" smtClean="0"/>
            </a:fld>
            <a:endParaRPr lang="en-US" altLang="zh-CN"/>
          </a:p>
        </p:txBody>
      </p:sp>
      <p:sp>
        <p:nvSpPr>
          <p:cNvPr id="5" name="灯片编号占位符 4"/>
          <p:cNvSpPr>
            <a:spLocks noGrp="1"/>
          </p:cNvSpPr>
          <p:nvPr>
            <p:ph type="sldNum" sz="quarter" idx="12"/>
          </p:nvPr>
        </p:nvSpPr>
        <p:spPr/>
        <p:txBody>
          <a:bodyPr/>
          <a:p>
            <a:pPr>
              <a:defRPr/>
            </a:pPr>
            <a:fld id="{8F4C0CD6-327D-499A-9754-0F1E4D84582B}" type="slidenum">
              <a:rPr lang="en-US" altLang="zh-CN"/>
            </a:fld>
            <a:endParaRPr lang="en-US" altLang="zh-CN"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smtClean="0"/>
              <a:t>            第</a:t>
            </a:r>
            <a:r>
              <a:rPr lang="zh-CN" altLang="zh-CN" dirty="0" smtClean="0"/>
              <a:t>10 </a:t>
            </a:r>
            <a:r>
              <a:rPr lang="zh-CN" altLang="en-US" dirty="0" smtClean="0"/>
              <a:t>章 数模和模数转换</a:t>
            </a:r>
            <a:br>
              <a:rPr lang="en-US" altLang="zh-CN" dirty="0" smtClean="0"/>
            </a:br>
            <a:r>
              <a:rPr lang="zh-CN" altLang="zh-CN" sz="3200" dirty="0" smtClean="0"/>
              <a:t> </a:t>
            </a:r>
            <a:r>
              <a:rPr lang="zh-CN" altLang="zh-CN" sz="3200" dirty="0"/>
              <a:t>D/A转换主要技术参数</a:t>
            </a:r>
            <a:endParaRPr lang="zh-CN" altLang="en-US" sz="3200" dirty="0"/>
          </a:p>
        </p:txBody>
      </p:sp>
      <p:sp>
        <p:nvSpPr>
          <p:cNvPr id="3" name="内容占位符 2"/>
          <p:cNvSpPr>
            <a:spLocks noGrp="1"/>
          </p:cNvSpPr>
          <p:nvPr>
            <p:ph idx="1"/>
          </p:nvPr>
        </p:nvSpPr>
        <p:spPr/>
        <p:txBody>
          <a:bodyPr/>
          <a:lstStyle/>
          <a:p>
            <a:pPr>
              <a:buFont typeface="Wingdings" panose="05000000000000000000" pitchFamily="2" charset="2"/>
              <a:buNone/>
            </a:pPr>
            <a:r>
              <a:rPr lang="zh-CN" altLang="en-US" dirty="0"/>
              <a:t>主要有：</a:t>
            </a:r>
            <a:endParaRPr lang="zh-CN" altLang="en-US" dirty="0"/>
          </a:p>
          <a:p>
            <a:pPr lvl="1"/>
            <a:r>
              <a:rPr lang="zh-CN" altLang="en-US" dirty="0"/>
              <a:t>分辨率</a:t>
            </a:r>
            <a:endParaRPr lang="zh-CN" altLang="en-US" dirty="0"/>
          </a:p>
          <a:p>
            <a:pPr lvl="1"/>
            <a:r>
              <a:rPr lang="zh-CN" altLang="en-US" dirty="0"/>
              <a:t>精度</a:t>
            </a:r>
            <a:endParaRPr lang="zh-CN" altLang="en-US" dirty="0"/>
          </a:p>
          <a:p>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a:t>
            </a:r>
            <a:r>
              <a:rPr lang="zh-CN" altLang="en-US" dirty="0"/>
              <a:t>转换原理</a:t>
            </a:r>
            <a:endParaRPr lang="zh-CN" altLang="en-US" dirty="0"/>
          </a:p>
        </p:txBody>
      </p:sp>
      <p:sp>
        <p:nvSpPr>
          <p:cNvPr id="3" name="内容占位符 2"/>
          <p:cNvSpPr>
            <a:spLocks noGrp="1"/>
          </p:cNvSpPr>
          <p:nvPr>
            <p:ph idx="1"/>
          </p:nvPr>
        </p:nvSpPr>
        <p:spPr>
          <a:xfrm>
            <a:off x="591846" y="1373034"/>
            <a:ext cx="10058400" cy="4411662"/>
          </a:xfrm>
        </p:spPr>
        <p:txBody>
          <a:bodyPr/>
          <a:lstStyle/>
          <a:p>
            <a:r>
              <a:rPr lang="zh-CN" altLang="en-US" dirty="0"/>
              <a:t>根据线性电路的叠加原理，输出电流</a:t>
            </a:r>
            <a:r>
              <a:rPr lang="en-US" altLang="zh-CN" dirty="0"/>
              <a:t>IOUT</a:t>
            </a:r>
            <a:r>
              <a:rPr lang="en-US" altLang="zh-CN" baseline="-25000" dirty="0"/>
              <a:t>1</a:t>
            </a:r>
            <a:r>
              <a:rPr lang="zh-CN" altLang="en-US" dirty="0"/>
              <a:t>为：</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4090" y="1936505"/>
            <a:ext cx="8516644" cy="709041"/>
          </a:xfrm>
          <a:prstGeom prst="rect">
            <a:avLst/>
          </a:prstGeom>
        </p:spPr>
      </p:pic>
      <p:pic>
        <p:nvPicPr>
          <p:cNvPr id="10" name="图片 9"/>
          <p:cNvPicPr>
            <a:picLocks noChangeAspect="1"/>
          </p:cNvPicPr>
          <p:nvPr/>
        </p:nvPicPr>
        <p:blipFill>
          <a:blip r:embed="rId2" cstate="print"/>
          <a:stretch>
            <a:fillRect/>
          </a:stretch>
        </p:blipFill>
        <p:spPr>
          <a:xfrm>
            <a:off x="2825762" y="3866615"/>
            <a:ext cx="7035800" cy="2991385"/>
          </a:xfrm>
          <a:prstGeom prst="rect">
            <a:avLst/>
          </a:prstGeom>
        </p:spPr>
      </p:pic>
      <p:graphicFrame>
        <p:nvGraphicFramePr>
          <p:cNvPr id="1026" name="Object 2"/>
          <p:cNvGraphicFramePr>
            <a:graphicFrameLocks noChangeAspect="1"/>
          </p:cNvGraphicFramePr>
          <p:nvPr/>
        </p:nvGraphicFramePr>
        <p:xfrm>
          <a:off x="489566" y="2929631"/>
          <a:ext cx="10367824" cy="530519"/>
        </p:xfrm>
        <a:graphic>
          <a:graphicData uri="http://schemas.openxmlformats.org/presentationml/2006/ole">
            <mc:AlternateContent xmlns:mc="http://schemas.openxmlformats.org/markup-compatibility/2006">
              <mc:Choice xmlns:v="urn:schemas-microsoft-com:vml" Requires="v">
                <p:oleObj spid="_x0000_s2049" name="" r:id="rId3" imgW="105156000" imgH="5181600" progId="">
                  <p:embed/>
                </p:oleObj>
              </mc:Choice>
              <mc:Fallback>
                <p:oleObj name="" r:id="rId3" imgW="105156000" imgH="5181600" progId="">
                  <p:embed/>
                  <p:pic>
                    <p:nvPicPr>
                      <p:cNvPr id="0" name="图片 2048"/>
                      <p:cNvPicPr>
                        <a:picLocks noChangeAspect="1"/>
                      </p:cNvPicPr>
                      <p:nvPr/>
                    </p:nvPicPr>
                    <p:blipFill>
                      <a:blip r:embed="rId4"/>
                      <a:stretch>
                        <a:fillRect/>
                      </a:stretch>
                    </p:blipFill>
                    <p:spPr>
                      <a:xfrm>
                        <a:off x="489566" y="2929631"/>
                        <a:ext cx="10367824" cy="530519"/>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1.分辨率(Resolution)</a:t>
            </a:r>
            <a:endParaRPr lang="zh-CN" altLang="en-US" dirty="0"/>
          </a:p>
        </p:txBody>
      </p:sp>
      <p:sp>
        <p:nvSpPr>
          <p:cNvPr id="3" name="内容占位符 2"/>
          <p:cNvSpPr>
            <a:spLocks noGrp="1"/>
          </p:cNvSpPr>
          <p:nvPr>
            <p:ph idx="1"/>
          </p:nvPr>
        </p:nvSpPr>
        <p:spPr>
          <a:xfrm>
            <a:off x="609600" y="1417638"/>
            <a:ext cx="10058400" cy="4411662"/>
          </a:xfrm>
        </p:spPr>
        <p:txBody>
          <a:bodyPr/>
          <a:lstStyle/>
          <a:p>
            <a:r>
              <a:rPr lang="zh-CN" altLang="zh-CN" dirty="0"/>
              <a:t>是指D/A转换器所能产生的最小模拟量增量，通常用输入数字量的最低有效位(LSB)对应的输出模拟电压值来表示。</a:t>
            </a:r>
            <a:endParaRPr lang="zh-CN" altLang="zh-CN" dirty="0"/>
          </a:p>
          <a:p>
            <a:r>
              <a:rPr lang="zh-CN" altLang="zh-CN" dirty="0"/>
              <a:t>D/A转换器位数越多，输出模拟电压的阶跃变化越小，分辨率越高。</a:t>
            </a:r>
            <a:endParaRPr lang="zh-CN" altLang="zh-CN" dirty="0"/>
          </a:p>
          <a:p>
            <a:r>
              <a:rPr lang="zh-CN" altLang="zh-CN" dirty="0"/>
              <a:t>通常用二进制数的位数表示，如分辨率为8位的DAC能给出满量程电压的1/2</a:t>
            </a:r>
            <a:r>
              <a:rPr lang="zh-CN" altLang="zh-CN" baseline="30000" dirty="0"/>
              <a:t>8</a:t>
            </a:r>
            <a:r>
              <a:rPr lang="zh-CN" altLang="zh-CN" dirty="0"/>
              <a:t>的分辨能力。</a:t>
            </a:r>
            <a:endParaRPr lang="zh-CN" altLang="zh-CN"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dirty="0"/>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2.精度(Accuracy) </a:t>
            </a:r>
            <a:endParaRPr lang="zh-CN" altLang="en-US" dirty="0"/>
          </a:p>
        </p:txBody>
      </p:sp>
      <p:sp>
        <p:nvSpPr>
          <p:cNvPr id="3" name="内容占位符 2"/>
          <p:cNvSpPr>
            <a:spLocks noGrp="1"/>
          </p:cNvSpPr>
          <p:nvPr>
            <p:ph idx="1"/>
          </p:nvPr>
        </p:nvSpPr>
        <p:spPr/>
        <p:txBody>
          <a:bodyPr/>
          <a:lstStyle/>
          <a:p>
            <a:r>
              <a:rPr lang="zh-CN" altLang="en-US" dirty="0"/>
              <a:t>精度用于衡量</a:t>
            </a:r>
            <a:r>
              <a:rPr lang="en-US" altLang="zh-CN" dirty="0"/>
              <a:t>D/A</a:t>
            </a:r>
            <a:r>
              <a:rPr lang="zh-CN" altLang="en-US" dirty="0"/>
              <a:t>转换器在将数字量转换成模拟量时，所得模拟量的精确程度。</a:t>
            </a:r>
            <a:endParaRPr lang="zh-CN" altLang="en-US" dirty="0"/>
          </a:p>
          <a:p>
            <a:r>
              <a:rPr lang="zh-CN" altLang="en-US" dirty="0"/>
              <a:t>它表明模拟输出实际值与理想值之间的偏差，可分为绝对精度与相对精度。</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p:txBody>
          <a:bodyPr/>
          <a:lstStyle/>
          <a:p>
            <a:r>
              <a:rPr lang="en-US" altLang="zh-CN" dirty="0"/>
              <a:t>A/D</a:t>
            </a:r>
            <a:r>
              <a:rPr lang="zh-CN" altLang="en-US" dirty="0"/>
              <a:t>转换器的主要技术参数有转换精度、转换时间等。</a:t>
            </a:r>
            <a:endParaRPr lang="zh-CN" altLang="en-US" dirty="0"/>
          </a:p>
          <a:p>
            <a:r>
              <a:rPr lang="zh-CN" altLang="en-US" dirty="0"/>
              <a:t>选择</a:t>
            </a:r>
            <a:r>
              <a:rPr lang="en-US" altLang="zh-CN" dirty="0"/>
              <a:t>A/D</a:t>
            </a:r>
            <a:r>
              <a:rPr lang="zh-CN" altLang="en-US" dirty="0"/>
              <a:t>转换器时，除考虑这两项技术参数外，还应注意满足其输入电压的范围、输出数字的编码、工作温度范围和电压稳定度等方面的要求。</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转换精度</a:t>
            </a:r>
            <a:endParaRPr lang="zh-CN" altLang="en-US" dirty="0"/>
          </a:p>
          <a:p>
            <a:r>
              <a:rPr lang="zh-CN" altLang="en-US" dirty="0"/>
              <a:t>单片集成</a:t>
            </a:r>
            <a:r>
              <a:rPr lang="en-US" altLang="zh-CN" dirty="0"/>
              <a:t>A/D</a:t>
            </a:r>
            <a:r>
              <a:rPr lang="zh-CN" altLang="en-US" dirty="0"/>
              <a:t>转换器的转换精度是用分辨率和转换误差来描述的。</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转换精度</a:t>
            </a:r>
            <a:endParaRPr lang="zh-CN" altLang="en-US" dirty="0"/>
          </a:p>
          <a:p>
            <a:r>
              <a:rPr lang="zh-CN" altLang="en-US" dirty="0"/>
              <a:t>分辨率：以输出二进制（或十进制）数的位数来表示。它说明</a:t>
            </a:r>
            <a:r>
              <a:rPr lang="en-US" altLang="zh-CN" dirty="0"/>
              <a:t>A/D</a:t>
            </a:r>
            <a:r>
              <a:rPr lang="zh-CN" altLang="en-US" dirty="0"/>
              <a:t>转换器对输入信号的分辨能力。</a:t>
            </a:r>
            <a:endParaRPr lang="zh-CN" altLang="en-US" dirty="0"/>
          </a:p>
          <a:p>
            <a:r>
              <a:rPr lang="zh-CN" altLang="en-US" dirty="0"/>
              <a:t>从理论上讲，</a:t>
            </a:r>
            <a:r>
              <a:rPr lang="en-US" altLang="zh-CN" dirty="0"/>
              <a:t>n</a:t>
            </a:r>
            <a:r>
              <a:rPr lang="zh-CN" altLang="en-US" dirty="0"/>
              <a:t>位输出的</a:t>
            </a:r>
            <a:r>
              <a:rPr lang="en-US" altLang="zh-CN" dirty="0"/>
              <a:t>A/D</a:t>
            </a:r>
            <a:r>
              <a:rPr lang="zh-CN" altLang="en-US" dirty="0"/>
              <a:t>转换器能区分</a:t>
            </a:r>
            <a:r>
              <a:rPr lang="en-US" altLang="zh-CN" dirty="0"/>
              <a:t>2</a:t>
            </a:r>
            <a:r>
              <a:rPr lang="en-US" altLang="zh-CN" baseline="30000" dirty="0"/>
              <a:t>n</a:t>
            </a:r>
            <a:r>
              <a:rPr lang="zh-CN" altLang="en-US" dirty="0"/>
              <a:t>个不同等级的输入模拟电压，能区分输入电压的最小值为满量程输入的</a:t>
            </a:r>
            <a:r>
              <a:rPr lang="en-US" altLang="zh-CN" dirty="0"/>
              <a:t>1/2</a:t>
            </a:r>
            <a:r>
              <a:rPr lang="en-US" altLang="zh-CN" baseline="30000" dirty="0"/>
              <a:t>n</a:t>
            </a:r>
            <a:r>
              <a:rPr lang="zh-CN" altLang="en-US" dirty="0"/>
              <a:t>。</a:t>
            </a:r>
            <a:endParaRPr lang="zh-CN" altLang="en-US" dirty="0"/>
          </a:p>
          <a:p>
            <a:r>
              <a:rPr lang="zh-CN" altLang="en-US" dirty="0"/>
              <a:t>在最大输入电压一定时，输出位数愈多，分辨率愈高。</a:t>
            </a:r>
            <a:endParaRPr lang="zh-CN" altLang="en-US" dirty="0"/>
          </a:p>
          <a:p>
            <a:r>
              <a:rPr lang="zh-CN" altLang="en-US" dirty="0"/>
              <a:t>例如</a:t>
            </a:r>
            <a:r>
              <a:rPr lang="en-US" altLang="zh-CN" dirty="0"/>
              <a:t>A/D</a:t>
            </a:r>
            <a:r>
              <a:rPr lang="zh-CN" altLang="en-US" dirty="0"/>
              <a:t>转换器输出为</a:t>
            </a:r>
            <a:r>
              <a:rPr lang="en-US" altLang="zh-CN" dirty="0"/>
              <a:t>8</a:t>
            </a:r>
            <a:r>
              <a:rPr lang="zh-CN" altLang="en-US" dirty="0"/>
              <a:t>位二进制数，输入信号最大值为</a:t>
            </a:r>
            <a:r>
              <a:rPr lang="en-US" altLang="zh-CN" dirty="0"/>
              <a:t>5V,</a:t>
            </a:r>
            <a:r>
              <a:rPr lang="zh-CN" altLang="en-US" dirty="0"/>
              <a:t>那么这个转换器应能区分出输入信号的最小电压为</a:t>
            </a:r>
            <a:r>
              <a:rPr lang="en-US" altLang="zh-CN" dirty="0"/>
              <a:t>19.53mV</a:t>
            </a:r>
            <a:r>
              <a:rPr lang="zh-CN" altLang="en-US" dirty="0"/>
              <a:t>。</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p:txBody>
          <a:bodyPr/>
          <a:lstStyle/>
          <a:p>
            <a:pPr marL="0" indent="0">
              <a:buNone/>
            </a:pPr>
            <a:r>
              <a:rPr lang="zh-CN" altLang="en-US" dirty="0"/>
              <a:t>转换精度</a:t>
            </a:r>
            <a:endParaRPr lang="zh-CN" altLang="en-US" dirty="0"/>
          </a:p>
          <a:p>
            <a:r>
              <a:rPr lang="zh-CN" altLang="en-US" dirty="0"/>
              <a:t>转换误差：通常是以输出误差的最大值形式给出。</a:t>
            </a:r>
            <a:endParaRPr lang="zh-CN" altLang="en-US" dirty="0"/>
          </a:p>
          <a:p>
            <a:r>
              <a:rPr lang="zh-CN" altLang="en-US" dirty="0"/>
              <a:t>它表示</a:t>
            </a:r>
            <a:r>
              <a:rPr lang="en-US" altLang="zh-CN" dirty="0"/>
              <a:t>A/D</a:t>
            </a:r>
            <a:r>
              <a:rPr lang="zh-CN" altLang="en-US" dirty="0"/>
              <a:t>转换器实际输出的数字量和理论上的输出数字量之间的差别。</a:t>
            </a:r>
            <a:endParaRPr lang="zh-CN" altLang="en-US" dirty="0"/>
          </a:p>
          <a:p>
            <a:r>
              <a:rPr lang="zh-CN" altLang="en-US" dirty="0"/>
              <a:t>常用最低有效位的倍数表示。</a:t>
            </a:r>
            <a:endParaRPr lang="zh-CN" altLang="en-US" dirty="0"/>
          </a:p>
          <a:p>
            <a:r>
              <a:rPr lang="zh-CN" altLang="en-US" dirty="0"/>
              <a:t>例如给出相对误差≤</a:t>
            </a:r>
            <a:r>
              <a:rPr lang="en-US" altLang="zh-CN" dirty="0"/>
              <a:t>±1/2LSB</a:t>
            </a:r>
            <a:r>
              <a:rPr lang="zh-CN" altLang="en-US" dirty="0"/>
              <a:t>，这就表明实际输出的数字量和理论上应得到的输出数字量之间的误差小于最低位的半个字。</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a:t>
            </a:r>
            <a:r>
              <a:rPr lang="zh-CN" altLang="en-US" dirty="0"/>
              <a:t>转换器主要技术参数</a:t>
            </a:r>
            <a:endParaRPr lang="zh-CN" altLang="en-US" dirty="0"/>
          </a:p>
        </p:txBody>
      </p:sp>
      <p:sp>
        <p:nvSpPr>
          <p:cNvPr id="3" name="内容占位符 2"/>
          <p:cNvSpPr>
            <a:spLocks noGrp="1"/>
          </p:cNvSpPr>
          <p:nvPr>
            <p:ph idx="1"/>
          </p:nvPr>
        </p:nvSpPr>
        <p:spPr>
          <a:xfrm>
            <a:off x="609600" y="1719263"/>
            <a:ext cx="10972799" cy="4411662"/>
          </a:xfrm>
        </p:spPr>
        <p:txBody>
          <a:bodyPr/>
          <a:lstStyle/>
          <a:p>
            <a:pPr marL="0" indent="0">
              <a:buNone/>
            </a:pPr>
            <a:r>
              <a:rPr lang="zh-CN" altLang="en-US" dirty="0"/>
              <a:t>转换时间</a:t>
            </a:r>
            <a:endParaRPr lang="zh-CN" altLang="en-US" dirty="0"/>
          </a:p>
          <a:p>
            <a:r>
              <a:rPr lang="zh-CN" altLang="en-US" dirty="0"/>
              <a:t>是指</a:t>
            </a:r>
            <a:r>
              <a:rPr lang="en-US" altLang="zh-CN" dirty="0"/>
              <a:t>A/D</a:t>
            </a:r>
            <a:r>
              <a:rPr lang="zh-CN" altLang="en-US" dirty="0"/>
              <a:t>转换器从转换控制信号到来开始，到输出端得到稳定的数字信号所经过的时间。</a:t>
            </a:r>
            <a:endParaRPr lang="zh-CN" altLang="en-US" dirty="0"/>
          </a:p>
          <a:p>
            <a:r>
              <a:rPr lang="zh-CN" altLang="en-US" dirty="0"/>
              <a:t>不同类型的转换器转换速度相差甚远。其中并行比较</a:t>
            </a:r>
            <a:r>
              <a:rPr lang="en-US" altLang="zh-CN" dirty="0"/>
              <a:t>A/D</a:t>
            </a:r>
            <a:r>
              <a:rPr lang="zh-CN" altLang="en-US" dirty="0"/>
              <a:t>转换器的转换速度最高，</a:t>
            </a:r>
            <a:r>
              <a:rPr lang="en-US" altLang="zh-CN" dirty="0"/>
              <a:t>8</a:t>
            </a:r>
            <a:r>
              <a:rPr lang="zh-CN" altLang="en-US" dirty="0"/>
              <a:t>位二进制输出的单片集成</a:t>
            </a:r>
            <a:r>
              <a:rPr lang="en-US" altLang="zh-CN" dirty="0"/>
              <a:t>A/D</a:t>
            </a:r>
            <a:r>
              <a:rPr lang="zh-CN" altLang="en-US" dirty="0"/>
              <a:t>转换器转换时间可达到</a:t>
            </a:r>
            <a:r>
              <a:rPr lang="en-US" altLang="zh-CN" dirty="0"/>
              <a:t>50ns</a:t>
            </a:r>
            <a:r>
              <a:rPr lang="zh-CN" altLang="en-US" dirty="0"/>
              <a:t>以内，逐次比较型</a:t>
            </a:r>
            <a:r>
              <a:rPr lang="en-US" altLang="zh-CN" dirty="0"/>
              <a:t>A/D</a:t>
            </a:r>
            <a:r>
              <a:rPr lang="zh-CN" altLang="en-US" dirty="0"/>
              <a:t>转换器次之，它们多数转换时间在</a:t>
            </a:r>
            <a:r>
              <a:rPr lang="en-US" altLang="zh-CN" dirty="0"/>
              <a:t>10</a:t>
            </a:r>
            <a:r>
              <a:rPr lang="zh-CN" altLang="en-US" dirty="0"/>
              <a:t>～</a:t>
            </a:r>
            <a:r>
              <a:rPr lang="en-US" altLang="zh-CN" dirty="0"/>
              <a:t>100μs</a:t>
            </a:r>
            <a:r>
              <a:rPr lang="zh-CN" altLang="en-US" dirty="0"/>
              <a:t>之间，间接</a:t>
            </a:r>
            <a:r>
              <a:rPr lang="en-US" altLang="zh-CN" dirty="0"/>
              <a:t>A/D</a:t>
            </a:r>
            <a:r>
              <a:rPr lang="zh-CN" altLang="en-US" dirty="0"/>
              <a:t>转换器的速度最慢，如双积分</a:t>
            </a:r>
            <a:r>
              <a:rPr lang="en-US" altLang="zh-CN" dirty="0"/>
              <a:t>A/D</a:t>
            </a:r>
            <a:r>
              <a:rPr lang="zh-CN" altLang="en-US" dirty="0"/>
              <a:t>转换器的转换时间大都在几十毫秒至几百毫秒之间。</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11</a:t>
            </a:r>
            <a:r>
              <a:rPr lang="zh-CN" altLang="en-US" dirty="0"/>
              <a:t>章总线技术</a:t>
            </a:r>
            <a:endParaRPr lang="zh-CN" altLang="en-US" dirty="0"/>
          </a:p>
        </p:txBody>
      </p:sp>
      <p:sp>
        <p:nvSpPr>
          <p:cNvPr id="3" name="内容占位符 2"/>
          <p:cNvSpPr>
            <a:spLocks noGrp="1"/>
          </p:cNvSpPr>
          <p:nvPr>
            <p:ph idx="1"/>
          </p:nvPr>
        </p:nvSpPr>
        <p:spPr/>
        <p:txBody>
          <a:bodyPr/>
          <a:lstStyle/>
          <a:p>
            <a:r>
              <a:rPr lang="zh-CN" altLang="en-US" dirty="0"/>
              <a:t>总线概述及其特点</a:t>
            </a:r>
            <a:endParaRPr lang="en-US" altLang="zh-CN" dirty="0"/>
          </a:p>
          <a:p>
            <a:r>
              <a:rPr lang="zh-CN" altLang="en-US" dirty="0"/>
              <a:t>系统总线及其功能</a:t>
            </a:r>
            <a:endParaRPr lang="en-US" altLang="zh-CN" dirty="0"/>
          </a:p>
          <a:p>
            <a:r>
              <a:rPr lang="zh-CN" altLang="en-US" dirty="0"/>
              <a:t>通信总线及其功能</a:t>
            </a:r>
            <a:endParaRPr lang="en-US" altLang="zh-CN" dirty="0"/>
          </a:p>
          <a:p>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11</a:t>
            </a:r>
            <a:r>
              <a:rPr lang="zh-CN" altLang="en-US" dirty="0"/>
              <a:t>章总线技术</a:t>
            </a:r>
            <a:endParaRPr lang="zh-CN" altLang="en-US" dirty="0"/>
          </a:p>
        </p:txBody>
      </p:sp>
      <p:sp>
        <p:nvSpPr>
          <p:cNvPr id="3" name="内容占位符 2"/>
          <p:cNvSpPr>
            <a:spLocks noGrp="1"/>
          </p:cNvSpPr>
          <p:nvPr>
            <p:ph idx="1"/>
          </p:nvPr>
        </p:nvSpPr>
        <p:spPr>
          <a:xfrm>
            <a:off x="609601" y="1417638"/>
            <a:ext cx="10058400" cy="4411662"/>
          </a:xfrm>
        </p:spPr>
        <p:txBody>
          <a:bodyPr/>
          <a:lstStyle/>
          <a:p>
            <a:r>
              <a:rPr lang="zh-CN" altLang="en-US" dirty="0" smtClean="0"/>
              <a:t>片内总线、系统总线、通信总线的概念和含义</a:t>
            </a:r>
            <a:endParaRPr lang="zh-CN" altLang="en-US" dirty="0" smtClean="0"/>
          </a:p>
          <a:p>
            <a:pPr lvl="1"/>
            <a:r>
              <a:rPr lang="zh-CN" altLang="en-US" sz="2800" dirty="0" smtClean="0">
                <a:sym typeface="+mn-ea"/>
              </a:rPr>
              <a:t>片内总线：在集成电路芯片内部，比如在</a:t>
            </a:r>
            <a:r>
              <a:rPr lang="en-US" altLang="zh-CN" sz="2800" dirty="0">
                <a:sym typeface="+mn-ea"/>
              </a:rPr>
              <a:t>CPU</a:t>
            </a:r>
            <a:r>
              <a:rPr lang="zh-CN" altLang="en-US" sz="2800" dirty="0">
                <a:sym typeface="+mn-ea"/>
              </a:rPr>
              <a:t>内部，连接</a:t>
            </a:r>
            <a:r>
              <a:rPr lang="en-US" altLang="zh-CN" sz="2800" dirty="0">
                <a:sym typeface="+mn-ea"/>
              </a:rPr>
              <a:t>CPU</a:t>
            </a:r>
            <a:r>
              <a:rPr lang="zh-CN" altLang="en-US" sz="2800" dirty="0">
                <a:sym typeface="+mn-ea"/>
              </a:rPr>
              <a:t>内部</a:t>
            </a:r>
            <a:r>
              <a:rPr lang="zh-CN" altLang="en-US" sz="2800" dirty="0" smtClean="0">
                <a:sym typeface="+mn-ea"/>
              </a:rPr>
              <a:t>部件（</a:t>
            </a:r>
            <a:r>
              <a:rPr lang="en-US" altLang="zh-CN" sz="2800" dirty="0" smtClean="0">
                <a:sym typeface="+mn-ea"/>
              </a:rPr>
              <a:t>ALU</a:t>
            </a:r>
            <a:r>
              <a:rPr lang="zh-CN" altLang="en-US" sz="2800" dirty="0" smtClean="0">
                <a:sym typeface="+mn-ea"/>
              </a:rPr>
              <a:t>和寄存器）</a:t>
            </a:r>
            <a:endParaRPr lang="zh-CN" altLang="en-US" sz="2800" dirty="0"/>
          </a:p>
          <a:p>
            <a:pPr lvl="1"/>
            <a:r>
              <a:rPr lang="zh-CN" altLang="en-US" sz="2800" dirty="0" smtClean="0">
                <a:sym typeface="+mn-ea"/>
              </a:rPr>
              <a:t>系统</a:t>
            </a:r>
            <a:r>
              <a:rPr lang="zh-CN" altLang="en-US" sz="2800" dirty="0">
                <a:sym typeface="+mn-ea"/>
              </a:rPr>
              <a:t>总线：也称为</a:t>
            </a:r>
            <a:r>
              <a:rPr lang="en-US" altLang="zh-CN" sz="2800" dirty="0">
                <a:sym typeface="+mn-ea"/>
              </a:rPr>
              <a:t>I/O</a:t>
            </a:r>
            <a:r>
              <a:rPr lang="zh-CN" altLang="en-US" sz="2800" dirty="0">
                <a:sym typeface="+mn-ea"/>
              </a:rPr>
              <a:t>总线</a:t>
            </a:r>
            <a:r>
              <a:rPr lang="zh-CN" altLang="en-US" sz="2800" dirty="0" smtClean="0">
                <a:sym typeface="+mn-ea"/>
              </a:rPr>
              <a:t>，主要用于各芯片之间的连接，是</a:t>
            </a:r>
            <a:r>
              <a:rPr lang="zh-CN" altLang="en-US" sz="2800" dirty="0">
                <a:sym typeface="+mn-ea"/>
              </a:rPr>
              <a:t>传统的通过总线扩展卡连接</a:t>
            </a:r>
            <a:r>
              <a:rPr lang="zh-CN" altLang="en-US" sz="2800" dirty="0" smtClean="0">
                <a:sym typeface="+mn-ea"/>
              </a:rPr>
              <a:t>外部设备（芯片）的</a:t>
            </a:r>
            <a:r>
              <a:rPr lang="zh-CN" altLang="en-US" sz="2800" dirty="0">
                <a:sym typeface="+mn-ea"/>
              </a:rPr>
              <a:t>总线。</a:t>
            </a:r>
            <a:endParaRPr lang="zh-CN" altLang="en-US" sz="2800" dirty="0"/>
          </a:p>
          <a:p>
            <a:pPr lvl="1"/>
            <a:r>
              <a:rPr lang="zh-CN" altLang="en-US" sz="2800" dirty="0">
                <a:sym typeface="+mn-ea"/>
              </a:rPr>
              <a:t>通信总线：也称为外部总线，是微机与微机，微机与外设之间进行通信的总线。</a:t>
            </a:r>
            <a:endParaRPr lang="en-US" altLang="zh-CN" dirty="0"/>
          </a:p>
          <a:p>
            <a:r>
              <a:rPr lang="en-US" altLang="zh-CN" dirty="0" smtClean="0"/>
              <a:t>PCI</a:t>
            </a:r>
            <a:r>
              <a:rPr lang="zh-CN" altLang="en-US" dirty="0" smtClean="0"/>
              <a:t>总线的特点</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zh-CN"/>
              <a:t>11.2.2  PCI</a:t>
            </a:r>
            <a:r>
              <a:rPr lang="zh-CN"/>
              <a:t>总线</a:t>
            </a:r>
            <a:endParaRPr lang="zh-CN"/>
          </a:p>
        </p:txBody>
      </p:sp>
      <p:sp>
        <p:nvSpPr>
          <p:cNvPr id="18435" name="Rectangle 3"/>
          <p:cNvSpPr>
            <a:spLocks noGrp="1" noChangeArrowheads="1"/>
          </p:cNvSpPr>
          <p:nvPr>
            <p:ph type="body" idx="1"/>
          </p:nvPr>
        </p:nvSpPr>
        <p:spPr>
          <a:xfrm>
            <a:off x="508000" y="1752600"/>
            <a:ext cx="11432117" cy="4967288"/>
          </a:xfrm>
        </p:spPr>
        <p:txBody>
          <a:bodyPr/>
          <a:lstStyle/>
          <a:p>
            <a:r>
              <a:rPr lang="zh-CN" altLang="zh-CN" sz="2800"/>
              <a:t>PCI</a:t>
            </a:r>
            <a:r>
              <a:rPr lang="zh-CN" sz="2800"/>
              <a:t>（</a:t>
            </a:r>
            <a:r>
              <a:rPr lang="zh-CN" altLang="zh-CN" sz="2800"/>
              <a:t>Peripheral Component Interconnect </a:t>
            </a:r>
            <a:r>
              <a:rPr lang="zh-CN" sz="2800"/>
              <a:t>即连接外部设备的计算机内部总线）总线是一种高性能的 </a:t>
            </a:r>
            <a:r>
              <a:rPr lang="zh-CN" altLang="zh-CN" sz="2800"/>
              <a:t>32 </a:t>
            </a:r>
            <a:r>
              <a:rPr lang="zh-CN" sz="2800"/>
              <a:t>位</a:t>
            </a:r>
            <a:r>
              <a:rPr lang="zh-CN" altLang="zh-CN" sz="2800"/>
              <a:t>/64 </a:t>
            </a:r>
            <a:r>
              <a:rPr lang="zh-CN" sz="2800"/>
              <a:t>位地址数据复用的高速外围设备接口局部总线。</a:t>
            </a:r>
            <a:endParaRPr lang="zh-CN" sz="2800"/>
          </a:p>
          <a:p>
            <a:r>
              <a:rPr lang="zh-CN" sz="2800"/>
              <a:t>其总线标准最早由 </a:t>
            </a:r>
            <a:r>
              <a:rPr lang="zh-CN" altLang="zh-CN" sz="2800"/>
              <a:t>Intel </a:t>
            </a:r>
            <a:r>
              <a:rPr lang="zh-CN" sz="2800"/>
              <a:t>公司的电脑结构实验室在 </a:t>
            </a:r>
            <a:r>
              <a:rPr lang="zh-CN" altLang="zh-CN" sz="2800"/>
              <a:t>1991 </a:t>
            </a:r>
            <a:r>
              <a:rPr lang="zh-CN" sz="2800"/>
              <a:t>年底提出，</a:t>
            </a:r>
            <a:r>
              <a:rPr lang="zh-CN" altLang="zh-CN" sz="2800"/>
              <a:t>1992 </a:t>
            </a:r>
            <a:r>
              <a:rPr lang="zh-CN" sz="2800"/>
              <a:t>年 </a:t>
            </a:r>
            <a:r>
              <a:rPr lang="zh-CN" altLang="zh-CN" sz="2800"/>
              <a:t>6 </a:t>
            </a:r>
            <a:r>
              <a:rPr lang="zh-CN" sz="2800"/>
              <a:t>月 </a:t>
            </a:r>
            <a:r>
              <a:rPr lang="zh-CN" altLang="zh-CN" sz="2800"/>
              <a:t>Intel </a:t>
            </a:r>
            <a:r>
              <a:rPr lang="zh-CN" sz="2800"/>
              <a:t>公司又联合 </a:t>
            </a:r>
            <a:r>
              <a:rPr lang="zh-CN" altLang="zh-CN" sz="2800"/>
              <a:t>IBM</a:t>
            </a:r>
            <a:r>
              <a:rPr lang="zh-CN" sz="2800"/>
              <a:t>、</a:t>
            </a:r>
            <a:r>
              <a:rPr lang="zh-CN" altLang="zh-CN" sz="2800"/>
              <a:t>Compaq</a:t>
            </a:r>
            <a:r>
              <a:rPr lang="zh-CN" sz="2800"/>
              <a:t>、</a:t>
            </a:r>
            <a:r>
              <a:rPr lang="zh-CN" altLang="zh-CN" sz="2800"/>
              <a:t>DEC </a:t>
            </a:r>
            <a:r>
              <a:rPr lang="zh-CN" sz="2800"/>
              <a:t>等公司组成 </a:t>
            </a:r>
            <a:r>
              <a:rPr lang="zh-CN" altLang="zh-CN" sz="2800"/>
              <a:t>PCISIG(PCI Special Interest Group)</a:t>
            </a:r>
            <a:r>
              <a:rPr lang="zh-CN" sz="2800"/>
              <a:t>，其致力于 </a:t>
            </a:r>
            <a:r>
              <a:rPr lang="zh-CN" altLang="zh-CN" sz="2800"/>
              <a:t>PCI</a:t>
            </a:r>
            <a:r>
              <a:rPr lang="zh-CN" sz="2800"/>
              <a:t>标准的推广，并公布了 </a:t>
            </a:r>
            <a:r>
              <a:rPr lang="zh-CN" altLang="zh-CN" sz="2800"/>
              <a:t>V1.0 </a:t>
            </a:r>
            <a:r>
              <a:rPr lang="zh-CN" sz="2800"/>
              <a:t>标准；在 </a:t>
            </a:r>
            <a:r>
              <a:rPr lang="zh-CN" altLang="zh-CN" sz="2800"/>
              <a:t>1993 </a:t>
            </a:r>
            <a:r>
              <a:rPr lang="zh-CN" sz="2800"/>
              <a:t>年 </a:t>
            </a:r>
            <a:r>
              <a:rPr lang="zh-CN" altLang="zh-CN" sz="2800"/>
              <a:t>4 </a:t>
            </a:r>
            <a:r>
              <a:rPr lang="zh-CN" sz="2800"/>
              <a:t>月升级到 </a:t>
            </a:r>
            <a:r>
              <a:rPr lang="zh-CN" altLang="zh-CN" sz="2800"/>
              <a:t>V2.0</a:t>
            </a:r>
            <a:r>
              <a:rPr lang="zh-CN" sz="2800"/>
              <a:t>，并扩展到 </a:t>
            </a:r>
            <a:r>
              <a:rPr lang="zh-CN" altLang="zh-CN" sz="2800"/>
              <a:t>64 </a:t>
            </a:r>
            <a:r>
              <a:rPr lang="zh-CN" sz="2800"/>
              <a:t>位，将总线带宽扩展到 </a:t>
            </a:r>
            <a:r>
              <a:rPr lang="zh-CN" altLang="zh-CN" sz="2800"/>
              <a:t>264MB/S</a:t>
            </a:r>
            <a:r>
              <a:rPr lang="zh-CN" sz="2800"/>
              <a:t>；</a:t>
            </a:r>
            <a:r>
              <a:rPr lang="zh-CN" altLang="zh-CN" sz="2800"/>
              <a:t>1995</a:t>
            </a:r>
            <a:r>
              <a:rPr lang="zh-CN" sz="2800"/>
              <a:t>年</a:t>
            </a:r>
            <a:r>
              <a:rPr lang="zh-CN" altLang="zh-CN" sz="2800"/>
              <a:t>1</a:t>
            </a:r>
            <a:r>
              <a:rPr lang="zh-CN" sz="2800"/>
              <a:t>月又升级到了 </a:t>
            </a:r>
            <a:r>
              <a:rPr lang="zh-CN" altLang="zh-CN" sz="2800"/>
              <a:t>V2.1</a:t>
            </a:r>
            <a:r>
              <a:rPr lang="zh-CN" sz="2800"/>
              <a:t>，总线时钟扩展到了 </a:t>
            </a:r>
            <a:r>
              <a:rPr lang="zh-CN" altLang="zh-CN" sz="2800"/>
              <a:t>66MHz</a:t>
            </a:r>
            <a:r>
              <a:rPr lang="zh-CN" sz="2800"/>
              <a:t>，将总线带宽扩展到了 </a:t>
            </a:r>
            <a:r>
              <a:rPr lang="zh-CN" altLang="zh-CN" sz="2800"/>
              <a:t>528MB/S</a:t>
            </a:r>
            <a:r>
              <a:rPr lang="zh-CN" sz="2800"/>
              <a:t>。</a:t>
            </a:r>
            <a:endParaRPr 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utoUpdateAnimBg="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PCI</a:t>
            </a:r>
            <a:r>
              <a:rPr lang="zh-CN" altLang="en-US" dirty="0"/>
              <a:t>总线主要性能</a:t>
            </a:r>
            <a:endParaRPr lang="zh-CN" altLang="en-US" dirty="0"/>
          </a:p>
        </p:txBody>
      </p:sp>
      <p:sp>
        <p:nvSpPr>
          <p:cNvPr id="3" name="内容占位符 2"/>
          <p:cNvSpPr>
            <a:spLocks noGrp="1"/>
          </p:cNvSpPr>
          <p:nvPr>
            <p:ph idx="1"/>
          </p:nvPr>
        </p:nvSpPr>
        <p:spPr/>
        <p:txBody>
          <a:bodyPr/>
          <a:lstStyle/>
          <a:p>
            <a:r>
              <a:rPr lang="zh-CN" altLang="en-US" dirty="0"/>
              <a:t>支持</a:t>
            </a:r>
            <a:r>
              <a:rPr lang="en-US" altLang="zh-CN" dirty="0"/>
              <a:t>10</a:t>
            </a:r>
            <a:r>
              <a:rPr lang="zh-CN" altLang="en-US" dirty="0"/>
              <a:t>台外设</a:t>
            </a:r>
            <a:endParaRPr lang="zh-CN" altLang="en-US" dirty="0"/>
          </a:p>
          <a:p>
            <a:r>
              <a:rPr lang="zh-CN" altLang="en-US" dirty="0"/>
              <a:t>总线时钟</a:t>
            </a:r>
            <a:r>
              <a:rPr lang="en-US" altLang="zh-CN" dirty="0"/>
              <a:t>33.3MHz/66M</a:t>
            </a:r>
            <a:endParaRPr lang="en-US" altLang="zh-CN" dirty="0"/>
          </a:p>
          <a:p>
            <a:r>
              <a:rPr lang="zh-CN" altLang="en-US" dirty="0"/>
              <a:t>最大数据率</a:t>
            </a:r>
            <a:r>
              <a:rPr lang="en-US" altLang="zh-CN" dirty="0"/>
              <a:t>133MB/S</a:t>
            </a:r>
            <a:endParaRPr lang="en-US" altLang="zh-CN" dirty="0"/>
          </a:p>
          <a:p>
            <a:r>
              <a:rPr lang="zh-CN" altLang="en-US" dirty="0"/>
              <a:t>总线宽度</a:t>
            </a:r>
            <a:r>
              <a:rPr lang="en-US" altLang="zh-CN" dirty="0"/>
              <a:t>32</a:t>
            </a:r>
            <a:r>
              <a:rPr lang="zh-CN" altLang="en-US" dirty="0"/>
              <a:t>位（</a:t>
            </a:r>
            <a:r>
              <a:rPr lang="en-US" altLang="zh-CN" dirty="0"/>
              <a:t>5V</a:t>
            </a:r>
            <a:r>
              <a:rPr lang="zh-CN" altLang="en-US" dirty="0"/>
              <a:t>）</a:t>
            </a:r>
            <a:r>
              <a:rPr lang="en-US" altLang="zh-CN" dirty="0"/>
              <a:t>/64</a:t>
            </a:r>
            <a:r>
              <a:rPr lang="zh-CN" altLang="en-US" dirty="0"/>
              <a:t>位（</a:t>
            </a:r>
            <a:r>
              <a:rPr lang="en-US" altLang="zh-CN" dirty="0"/>
              <a:t>3.3V</a:t>
            </a:r>
            <a:r>
              <a:rPr lang="zh-CN" altLang="en-US" dirty="0"/>
              <a:t>）</a:t>
            </a:r>
            <a:endParaRPr lang="zh-CN" altLang="en-US" dirty="0"/>
          </a:p>
          <a:p>
            <a:r>
              <a:rPr lang="zh-CN" altLang="en-US" dirty="0"/>
              <a:t>能自动识别外设</a:t>
            </a:r>
            <a:endParaRPr lang="zh-CN" altLang="en-US" dirty="0"/>
          </a:p>
          <a:p>
            <a:r>
              <a:rPr lang="zh-CN" altLang="en-US" dirty="0"/>
              <a:t>支持</a:t>
            </a:r>
            <a:r>
              <a:rPr lang="en-US" altLang="zh-CN" dirty="0"/>
              <a:t>64</a:t>
            </a:r>
            <a:r>
              <a:rPr lang="zh-CN" altLang="en-US" dirty="0"/>
              <a:t>位寻址</a:t>
            </a:r>
            <a:endParaRPr lang="zh-CN" altLang="en-US" dirty="0"/>
          </a:p>
          <a:p>
            <a:r>
              <a:rPr lang="zh-CN" altLang="en-US" dirty="0"/>
              <a:t>具有与处理器和存储器子系统完全并列操作的能力</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AGP</a:t>
            </a:r>
            <a:r>
              <a:rPr lang="zh-CN" altLang="en-US" dirty="0"/>
              <a:t>总线</a:t>
            </a:r>
            <a:endParaRPr lang="zh-CN" altLang="en-US" dirty="0"/>
          </a:p>
        </p:txBody>
      </p:sp>
      <p:sp>
        <p:nvSpPr>
          <p:cNvPr id="3" name="内容占位符 2"/>
          <p:cNvSpPr>
            <a:spLocks noGrp="1"/>
          </p:cNvSpPr>
          <p:nvPr>
            <p:ph idx="1"/>
          </p:nvPr>
        </p:nvSpPr>
        <p:spPr/>
        <p:txBody>
          <a:bodyPr/>
          <a:lstStyle/>
          <a:p>
            <a:r>
              <a:rPr lang="en-US" altLang="zh-CN" dirty="0"/>
              <a:t>Intel</a:t>
            </a:r>
            <a:r>
              <a:rPr lang="zh-CN" altLang="en-US" dirty="0"/>
              <a:t>公司为了解决高速视频或高品质画面的显示，在</a:t>
            </a:r>
            <a:r>
              <a:rPr lang="en-US" altLang="zh-CN" dirty="0"/>
              <a:t>1997</a:t>
            </a:r>
            <a:r>
              <a:rPr lang="zh-CN" altLang="en-US" dirty="0"/>
              <a:t>年又推出了一种高速图形接口的局部总线标准</a:t>
            </a:r>
            <a:r>
              <a:rPr lang="en-US" altLang="zh-CN" dirty="0"/>
              <a:t>—AGP</a:t>
            </a:r>
            <a:r>
              <a:rPr lang="zh-CN" altLang="en-US" dirty="0"/>
              <a:t>总线。</a:t>
            </a:r>
            <a:endParaRPr lang="zh-CN" altLang="en-US" dirty="0"/>
          </a:p>
          <a:p>
            <a:r>
              <a:rPr lang="en-US" altLang="zh-CN" dirty="0"/>
              <a:t>AGP</a:t>
            </a:r>
            <a:r>
              <a:rPr lang="zh-CN" altLang="en-US" dirty="0"/>
              <a:t>总线是对</a:t>
            </a:r>
            <a:r>
              <a:rPr lang="en-US" altLang="zh-CN" dirty="0"/>
              <a:t>PCI</a:t>
            </a:r>
            <a:r>
              <a:rPr lang="zh-CN" altLang="en-US" dirty="0"/>
              <a:t>总线的扩展和增强，但</a:t>
            </a:r>
            <a:r>
              <a:rPr lang="en-US" altLang="zh-CN" dirty="0"/>
              <a:t>AGP</a:t>
            </a:r>
            <a:r>
              <a:rPr lang="zh-CN" altLang="en-US" dirty="0"/>
              <a:t>接口只能为图形设备独占，不具有一般总线的共享特性。采用</a:t>
            </a:r>
            <a:r>
              <a:rPr lang="en-US" altLang="zh-CN" dirty="0"/>
              <a:t>AGP</a:t>
            </a:r>
            <a:r>
              <a:rPr lang="zh-CN" altLang="en-US" dirty="0"/>
              <a:t>接口，允许显示数据直接取自系统主存储器，而无需先预取至视频存储器中。通过系统设置，图形控制器可以从系统主存中划出一部分空间用于保存</a:t>
            </a:r>
            <a:r>
              <a:rPr lang="en-US" altLang="zh-CN" dirty="0"/>
              <a:t>AGP</a:t>
            </a:r>
            <a:r>
              <a:rPr lang="zh-CN" altLang="en-US" dirty="0"/>
              <a:t>数据。</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AGP</a:t>
            </a:r>
            <a:r>
              <a:rPr lang="zh-CN" altLang="en-US" dirty="0"/>
              <a:t>总线特点</a:t>
            </a:r>
            <a:endParaRPr lang="zh-CN" altLang="en-US" dirty="0"/>
          </a:p>
        </p:txBody>
      </p:sp>
      <p:sp>
        <p:nvSpPr>
          <p:cNvPr id="3" name="内容占位符 2"/>
          <p:cNvSpPr>
            <a:spLocks noGrp="1"/>
          </p:cNvSpPr>
          <p:nvPr>
            <p:ph idx="1"/>
          </p:nvPr>
        </p:nvSpPr>
        <p:spPr/>
        <p:txBody>
          <a:bodyPr/>
          <a:lstStyle/>
          <a:p>
            <a:r>
              <a:rPr lang="zh-CN" altLang="en-US" dirty="0"/>
              <a:t>具有双重驱动技术，允许在一个总线周期内传输两次数据从而将有效带宽提高</a:t>
            </a:r>
            <a:r>
              <a:rPr lang="en-US" altLang="zh-CN" dirty="0"/>
              <a:t>4</a:t>
            </a:r>
            <a:r>
              <a:rPr lang="zh-CN" altLang="en-US" dirty="0"/>
              <a:t>倍能达到</a:t>
            </a:r>
            <a:r>
              <a:rPr lang="en-US" altLang="zh-CN" dirty="0"/>
              <a:t>533MB/s</a:t>
            </a:r>
            <a:r>
              <a:rPr lang="zh-CN" altLang="en-US" dirty="0"/>
              <a:t>；</a:t>
            </a:r>
            <a:endParaRPr lang="zh-CN" altLang="en-US" dirty="0"/>
          </a:p>
          <a:p>
            <a:r>
              <a:rPr lang="zh-CN" altLang="en-US" dirty="0"/>
              <a:t>实现了地址和数据的多路复用，从而把整个</a:t>
            </a:r>
            <a:r>
              <a:rPr lang="en-US" altLang="zh-CN" dirty="0"/>
              <a:t>32</a:t>
            </a:r>
            <a:r>
              <a:rPr lang="zh-CN" altLang="en-US" dirty="0"/>
              <a:t>位的数据总线留出来给图形加速器；</a:t>
            </a:r>
            <a:endParaRPr lang="zh-CN" altLang="en-US" dirty="0"/>
          </a:p>
          <a:p>
            <a:r>
              <a:rPr lang="zh-CN" altLang="en-US" dirty="0"/>
              <a:t>采用内存请求流水线技术，对各种内存请求进行排队来减少延迟，从而加快了数据传输的速度；</a:t>
            </a:r>
            <a:endParaRPr lang="zh-CN" altLang="en-US" dirty="0"/>
          </a:p>
          <a:p>
            <a:r>
              <a:rPr lang="en-US" altLang="zh-CN" dirty="0"/>
              <a:t>AGP</a:t>
            </a:r>
            <a:r>
              <a:rPr lang="zh-CN" altLang="en-US" dirty="0"/>
              <a:t>总线是对</a:t>
            </a:r>
            <a:r>
              <a:rPr lang="en-US" altLang="zh-CN" dirty="0"/>
              <a:t>PCI</a:t>
            </a:r>
            <a:r>
              <a:rPr lang="zh-CN" altLang="en-US" dirty="0"/>
              <a:t>总线的扩展和增强，但</a:t>
            </a:r>
            <a:r>
              <a:rPr lang="en-US" altLang="zh-CN" dirty="0"/>
              <a:t>AGP</a:t>
            </a:r>
            <a:r>
              <a:rPr lang="zh-CN" altLang="en-US" dirty="0"/>
              <a:t>接口只能为图形设备独占，不具有一般总线的共享特性。所以，</a:t>
            </a:r>
            <a:r>
              <a:rPr lang="en-US" altLang="zh-CN" dirty="0"/>
              <a:t>AGP</a:t>
            </a:r>
            <a:r>
              <a:rPr lang="zh-CN" altLang="en-US" dirty="0"/>
              <a:t>是接口更合适。</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zh-CN"/>
              <a:t>11.2.4  PCI Express</a:t>
            </a:r>
            <a:r>
              <a:rPr lang="zh-CN"/>
              <a:t>总线</a:t>
            </a:r>
            <a:endParaRPr lang="zh-CN"/>
          </a:p>
        </p:txBody>
      </p:sp>
      <p:sp>
        <p:nvSpPr>
          <p:cNvPr id="24579" name="Rectangle 3"/>
          <p:cNvSpPr>
            <a:spLocks noGrp="1" noChangeArrowheads="1"/>
          </p:cNvSpPr>
          <p:nvPr>
            <p:ph type="body" idx="1"/>
          </p:nvPr>
        </p:nvSpPr>
        <p:spPr/>
        <p:txBody>
          <a:bodyPr/>
          <a:lstStyle/>
          <a:p>
            <a:pPr>
              <a:lnSpc>
                <a:spcPct val="80000"/>
              </a:lnSpc>
            </a:pPr>
            <a:r>
              <a:rPr lang="zh-CN"/>
              <a:t>早在</a:t>
            </a:r>
            <a:r>
              <a:rPr lang="zh-CN" altLang="zh-CN"/>
              <a:t>2001</a:t>
            </a:r>
            <a:r>
              <a:rPr lang="zh-CN"/>
              <a:t>年，</a:t>
            </a:r>
            <a:r>
              <a:rPr lang="zh-CN" altLang="zh-CN"/>
              <a:t>Intel</a:t>
            </a:r>
            <a:r>
              <a:rPr lang="zh-CN"/>
              <a:t>公司就提出了用新技术取代</a:t>
            </a:r>
            <a:r>
              <a:rPr lang="zh-CN" altLang="zh-CN"/>
              <a:t>PCI</a:t>
            </a:r>
            <a:r>
              <a:rPr lang="zh-CN"/>
              <a:t>总线和多种芯片的内部连接，并称为第三代</a:t>
            </a:r>
            <a:r>
              <a:rPr lang="zh-CN" altLang="zh-CN"/>
              <a:t>I/O</a:t>
            </a:r>
            <a:r>
              <a:rPr lang="zh-CN"/>
              <a:t>总线技术。</a:t>
            </a:r>
            <a:endParaRPr lang="zh-CN"/>
          </a:p>
          <a:p>
            <a:pPr>
              <a:lnSpc>
                <a:spcPct val="80000"/>
              </a:lnSpc>
            </a:pPr>
            <a:r>
              <a:rPr lang="zh-CN"/>
              <a:t>随后包括</a:t>
            </a:r>
            <a:r>
              <a:rPr lang="zh-CN" altLang="zh-CN"/>
              <a:t>Intel</a:t>
            </a:r>
            <a:r>
              <a:rPr lang="zh-CN"/>
              <a:t>、</a:t>
            </a:r>
            <a:r>
              <a:rPr lang="zh-CN" altLang="zh-CN"/>
              <a:t>AMD</a:t>
            </a:r>
            <a:r>
              <a:rPr lang="zh-CN"/>
              <a:t>、</a:t>
            </a:r>
            <a:r>
              <a:rPr lang="zh-CN" altLang="zh-CN"/>
              <a:t>DELL</a:t>
            </a:r>
            <a:r>
              <a:rPr lang="zh-CN"/>
              <a:t>和</a:t>
            </a:r>
            <a:r>
              <a:rPr lang="zh-CN" altLang="zh-CN"/>
              <a:t>IBM</a:t>
            </a:r>
            <a:r>
              <a:rPr lang="zh-CN"/>
              <a:t>在内的</a:t>
            </a:r>
            <a:r>
              <a:rPr lang="zh-CN" altLang="zh-CN"/>
              <a:t>20</a:t>
            </a:r>
            <a:r>
              <a:rPr lang="zh-CN"/>
              <a:t>多家公司开始起草新技术规范，并在</a:t>
            </a:r>
            <a:r>
              <a:rPr lang="zh-CN" altLang="zh-CN"/>
              <a:t>2002</a:t>
            </a:r>
            <a:r>
              <a:rPr lang="zh-CN"/>
              <a:t>年完成，将其正式命名为</a:t>
            </a:r>
            <a:r>
              <a:rPr lang="zh-CN" altLang="zh-CN"/>
              <a:t>PCI Express</a:t>
            </a:r>
            <a:r>
              <a:rPr lang="zh-CN"/>
              <a:t>。</a:t>
            </a:r>
            <a:endParaRPr lang="zh-CN"/>
          </a:p>
          <a:p>
            <a:pPr>
              <a:lnSpc>
                <a:spcPct val="80000"/>
              </a:lnSpc>
            </a:pPr>
            <a:r>
              <a:rPr lang="zh-CN"/>
              <a:t>它采用目前业内流行的点对点串行连接，比起</a:t>
            </a:r>
            <a:r>
              <a:rPr lang="zh-CN" altLang="zh-CN"/>
              <a:t>PCI</a:t>
            </a:r>
            <a:r>
              <a:rPr lang="zh-CN"/>
              <a:t>以及早期的计算机总线的共享并行架构，每个设备都有自己的专用连接，而且可以显著提高数据传输速率。</a:t>
            </a:r>
            <a:endParaRPr 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slide(fromBottom)">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slide(fromBottom)">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slide(fromBottom)">
                                      <p:cBhvr>
                                        <p:cTn id="17" dur="500"/>
                                        <p:tgtEl>
                                          <p:spTgt spid="245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通信总线</a:t>
            </a:r>
            <a:endParaRPr lang="zh-CN" altLang="en-US" dirty="0"/>
          </a:p>
        </p:txBody>
      </p:sp>
      <p:sp>
        <p:nvSpPr>
          <p:cNvPr id="3" name="内容占位符 2"/>
          <p:cNvSpPr>
            <a:spLocks noGrp="1"/>
          </p:cNvSpPr>
          <p:nvPr>
            <p:ph idx="1"/>
          </p:nvPr>
        </p:nvSpPr>
        <p:spPr/>
        <p:txBody>
          <a:bodyPr/>
          <a:lstStyle/>
          <a:p>
            <a:pPr marL="0" indent="0">
              <a:buNone/>
            </a:pPr>
            <a:r>
              <a:rPr lang="en-US" altLang="zh-CN" dirty="0"/>
              <a:t>USB</a:t>
            </a:r>
            <a:r>
              <a:rPr lang="zh-CN" altLang="en-US" dirty="0"/>
              <a:t>总线：</a:t>
            </a:r>
            <a:endParaRPr lang="en-US" altLang="zh-CN" dirty="0"/>
          </a:p>
          <a:p>
            <a:r>
              <a:rPr lang="en-US" altLang="zh-CN" dirty="0"/>
              <a:t>USB</a:t>
            </a:r>
            <a:r>
              <a:rPr lang="zh-CN" altLang="en-US" dirty="0"/>
              <a:t>是</a:t>
            </a:r>
            <a:r>
              <a:rPr lang="en-US" altLang="zh-CN" dirty="0"/>
              <a:t>Universal serial Bus(</a:t>
            </a:r>
            <a:r>
              <a:rPr lang="zh-CN" altLang="en-US" b="1" dirty="0">
                <a:solidFill>
                  <a:srgbClr val="FF0000"/>
                </a:solidFill>
              </a:rPr>
              <a:t>通用串行总线</a:t>
            </a:r>
            <a:r>
              <a:rPr lang="en-US" altLang="zh-CN" b="1" dirty="0"/>
              <a:t>)</a:t>
            </a:r>
            <a:r>
              <a:rPr lang="zh-CN" altLang="en-US" dirty="0"/>
              <a:t>的简称，是</a:t>
            </a:r>
            <a:r>
              <a:rPr lang="en-US" altLang="zh-CN" dirty="0"/>
              <a:t>1995</a:t>
            </a:r>
            <a:r>
              <a:rPr lang="zh-CN" altLang="en-US" dirty="0"/>
              <a:t>年由</a:t>
            </a:r>
            <a:r>
              <a:rPr lang="en-US" altLang="zh-CN" dirty="0"/>
              <a:t>Compaq</a:t>
            </a:r>
            <a:r>
              <a:rPr lang="zh-CN" altLang="en-US" dirty="0"/>
              <a:t>等公司为解决传统总线的不足而推广的一种新型串行标准化通讯标准。</a:t>
            </a:r>
            <a:endParaRPr lang="zh-CN" altLang="en-US" dirty="0"/>
          </a:p>
          <a:p>
            <a:r>
              <a:rPr lang="zh-CN" altLang="en-US" dirty="0"/>
              <a:t>由于</a:t>
            </a:r>
            <a:r>
              <a:rPr lang="en-US" altLang="zh-CN" dirty="0"/>
              <a:t>USB</a:t>
            </a:r>
            <a:r>
              <a:rPr lang="zh-CN" altLang="en-US" dirty="0"/>
              <a:t>具有易使用、</a:t>
            </a:r>
            <a:r>
              <a:rPr lang="zh-CN" altLang="en-US" dirty="0">
                <a:solidFill>
                  <a:srgbClr val="FF0000"/>
                </a:solidFill>
              </a:rPr>
              <a:t>热插拔</a:t>
            </a:r>
            <a:r>
              <a:rPr lang="zh-CN" altLang="en-US" dirty="0"/>
              <a:t>、高性能、造价低等优点，迅速被应用于摄像采集、扫描仪、监视器、</a:t>
            </a:r>
            <a:r>
              <a:rPr lang="en-US" altLang="zh-CN" dirty="0"/>
              <a:t>PC</a:t>
            </a:r>
            <a:r>
              <a:rPr lang="zh-CN" altLang="en-US" dirty="0"/>
              <a:t>、人机交互设备和游戏设备等领域。</a:t>
            </a:r>
            <a:r>
              <a:rPr lang="en-US" altLang="zh-CN" dirty="0"/>
              <a:t>USB</a:t>
            </a:r>
            <a:r>
              <a:rPr lang="zh-CN" altLang="en-US" dirty="0"/>
              <a:t>为个人电脑与其外围设备之间的连接提供了一种标准化接口的可能。</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47700"/>
            <a:ext cx="10058400" cy="1295400"/>
          </a:xfrm>
        </p:spPr>
        <p:txBody>
          <a:bodyPr/>
          <a:lstStyle/>
          <a:p>
            <a:r>
              <a:rPr lang="en-US" altLang="zh-CN" dirty="0"/>
              <a:t>USB</a:t>
            </a:r>
            <a:r>
              <a:rPr lang="zh-CN" altLang="en-US" dirty="0"/>
              <a:t>总线特点</a:t>
            </a:r>
            <a:endParaRPr lang="zh-CN" altLang="en-US" dirty="0"/>
          </a:p>
        </p:txBody>
      </p:sp>
      <p:sp>
        <p:nvSpPr>
          <p:cNvPr id="3" name="内容占位符 2"/>
          <p:cNvSpPr>
            <a:spLocks noGrp="1"/>
          </p:cNvSpPr>
          <p:nvPr>
            <p:ph idx="1"/>
          </p:nvPr>
        </p:nvSpPr>
        <p:spPr>
          <a:xfrm>
            <a:off x="609600" y="791611"/>
            <a:ext cx="10058400" cy="4411662"/>
          </a:xfrm>
        </p:spPr>
        <p:txBody>
          <a:bodyPr/>
          <a:lstStyle/>
          <a:p>
            <a:r>
              <a:rPr lang="zh-CN" altLang="en-US" dirty="0"/>
              <a:t>传输速度快。版本从</a:t>
            </a:r>
            <a:r>
              <a:rPr lang="en-US" altLang="zh-CN" dirty="0"/>
              <a:t>USB1.1-USB3.0</a:t>
            </a:r>
            <a:r>
              <a:rPr lang="zh-CN" altLang="en-US" dirty="0"/>
              <a:t>，传输速率从低速</a:t>
            </a:r>
            <a:r>
              <a:rPr lang="en-US" altLang="zh-CN" dirty="0"/>
              <a:t>1.1Mbps-5.0Gbps</a:t>
            </a:r>
            <a:r>
              <a:rPr lang="zh-CN" altLang="en-US" dirty="0"/>
              <a:t>。</a:t>
            </a:r>
            <a:endParaRPr lang="zh-CN" altLang="en-US" dirty="0"/>
          </a:p>
          <a:p>
            <a:r>
              <a:rPr lang="zh-CN" altLang="en-US" dirty="0">
                <a:solidFill>
                  <a:srgbClr val="FF0000"/>
                </a:solidFill>
              </a:rPr>
              <a:t>支持即插即用。</a:t>
            </a:r>
            <a:r>
              <a:rPr lang="en-US" altLang="zh-CN" dirty="0">
                <a:solidFill>
                  <a:srgbClr val="FF0000"/>
                </a:solidFill>
              </a:rPr>
              <a:t>USB</a:t>
            </a:r>
            <a:r>
              <a:rPr lang="zh-CN" altLang="en-US" dirty="0">
                <a:solidFill>
                  <a:srgbClr val="FF0000"/>
                </a:solidFill>
              </a:rPr>
              <a:t>支持热插拔，可自动检测到新设备。</a:t>
            </a:r>
            <a:endParaRPr lang="zh-CN" altLang="en-US" dirty="0"/>
          </a:p>
          <a:p>
            <a:r>
              <a:rPr lang="zh-CN" altLang="en-US" dirty="0"/>
              <a:t>易于扩展。</a:t>
            </a:r>
            <a:r>
              <a:rPr lang="en-US" altLang="zh-CN" dirty="0"/>
              <a:t>USB</a:t>
            </a:r>
            <a:r>
              <a:rPr lang="zh-CN" altLang="en-US" dirty="0"/>
              <a:t>接口支持多个不同设备，一个</a:t>
            </a:r>
            <a:r>
              <a:rPr lang="en-US" altLang="zh-CN" dirty="0"/>
              <a:t>USB</a:t>
            </a:r>
            <a:r>
              <a:rPr lang="zh-CN" altLang="en-US" dirty="0"/>
              <a:t>控制器可以连接多达</a:t>
            </a:r>
            <a:r>
              <a:rPr lang="en-US" altLang="zh-CN" dirty="0"/>
              <a:t>127</a:t>
            </a:r>
            <a:r>
              <a:rPr lang="zh-CN" altLang="en-US" dirty="0"/>
              <a:t>个外设。</a:t>
            </a:r>
            <a:endParaRPr lang="zh-CN" altLang="en-US" dirty="0"/>
          </a:p>
          <a:p>
            <a:r>
              <a:rPr lang="zh-CN" altLang="en-US" dirty="0"/>
              <a:t>优秀的电源管理。而</a:t>
            </a:r>
            <a:r>
              <a:rPr lang="en-US" altLang="zh-CN" dirty="0"/>
              <a:t>USB</a:t>
            </a:r>
            <a:r>
              <a:rPr lang="zh-CN" altLang="en-US" dirty="0"/>
              <a:t>采用总线供电方式，可提供最大</a:t>
            </a:r>
            <a:r>
              <a:rPr lang="en-US" altLang="zh-CN" dirty="0"/>
              <a:t>500mA</a:t>
            </a:r>
            <a:r>
              <a:rPr lang="zh-CN" altLang="en-US" dirty="0"/>
              <a:t>的电流。</a:t>
            </a:r>
            <a:endParaRPr lang="zh-CN" altLang="en-US" dirty="0"/>
          </a:p>
          <a:p>
            <a:r>
              <a:rPr lang="zh-CN" altLang="en-US" dirty="0"/>
              <a:t>抗干扰性强。由于</a:t>
            </a:r>
            <a:r>
              <a:rPr lang="en-US" altLang="zh-CN" dirty="0"/>
              <a:t>USB</a:t>
            </a:r>
            <a:r>
              <a:rPr lang="zh-CN" altLang="en-US" dirty="0"/>
              <a:t>可外置于计算机箱外，不受机箱内的板间电磁干扰。</a:t>
            </a:r>
            <a:endParaRPr lang="zh-CN" altLang="en-US" dirty="0"/>
          </a:p>
          <a:p>
            <a:r>
              <a:rPr lang="zh-CN" altLang="en-US" dirty="0"/>
              <a:t>兼容性良好。</a:t>
            </a:r>
            <a:r>
              <a:rPr lang="en-US" altLang="zh-CN" dirty="0"/>
              <a:t>USB</a:t>
            </a:r>
            <a:r>
              <a:rPr lang="zh-CN" altLang="en-US" dirty="0"/>
              <a:t>规范具有良好的向下兼容性，</a:t>
            </a:r>
            <a:r>
              <a:rPr lang="en-US" altLang="zh-CN" dirty="0"/>
              <a:t>USB2.0</a:t>
            </a:r>
            <a:r>
              <a:rPr lang="zh-CN" altLang="en-US" dirty="0"/>
              <a:t>的主控制器能很好地兼容</a:t>
            </a:r>
            <a:r>
              <a:rPr lang="en-US" altLang="zh-CN" dirty="0"/>
              <a:t>USB1.1</a:t>
            </a:r>
            <a:r>
              <a:rPr lang="zh-CN" altLang="en-US" dirty="0"/>
              <a:t>接口的产品。</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16718</Words>
  <Application>WPS 演示</Application>
  <PresentationFormat>自定义</PresentationFormat>
  <Paragraphs>1473</Paragraphs>
  <Slides>127</Slides>
  <Notes>2</Notes>
  <HiddenSlides>18</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8</vt:i4>
      </vt:variant>
      <vt:variant>
        <vt:lpstr>幻灯片标题</vt:lpstr>
      </vt:variant>
      <vt:variant>
        <vt:i4>127</vt:i4>
      </vt:variant>
    </vt:vector>
  </HeadingPairs>
  <TitlesOfParts>
    <vt:vector size="155" baseType="lpstr">
      <vt:lpstr>Arial</vt:lpstr>
      <vt:lpstr>宋体</vt:lpstr>
      <vt:lpstr>Wingdings</vt:lpstr>
      <vt:lpstr>Tahoma</vt:lpstr>
      <vt:lpstr>华文行楷</vt:lpstr>
      <vt:lpstr>黑体</vt:lpstr>
      <vt:lpstr>Calibri</vt:lpstr>
      <vt:lpstr>华文仿宋</vt:lpstr>
      <vt:lpstr>楷体</vt:lpstr>
      <vt:lpstr>Times New Roman</vt:lpstr>
      <vt:lpstr>微软雅黑</vt:lpstr>
      <vt:lpstr>Arial Unicode MS</vt:lpstr>
      <vt:lpstr>等线</vt:lpstr>
      <vt:lpstr>楷体_GB2312</vt:lpstr>
      <vt:lpstr>新宋体</vt:lpstr>
      <vt:lpstr>楷体_GB2312</vt:lpstr>
      <vt:lpstr>Times New Roman</vt:lpstr>
      <vt:lpstr>KSOF3FA5480E</vt:lpstr>
      <vt:lpstr>Segoe Print</vt:lpstr>
      <vt:lpstr>Network</vt:lpstr>
      <vt:lpstr>Equation.3</vt:lpstr>
      <vt:lpstr>Equation.3</vt:lpstr>
      <vt:lpstr>Equation.3</vt:lpstr>
      <vt:lpstr>Equation.3</vt:lpstr>
      <vt:lpstr>Equation.3</vt:lpstr>
      <vt:lpstr>Equation.3</vt:lpstr>
      <vt:lpstr>Equation.3</vt:lpstr>
      <vt:lpstr>Equation.3</vt:lpstr>
      <vt:lpstr>PowerPoint 演示文稿</vt:lpstr>
      <vt:lpstr>第1章  微型计算机基础</vt:lpstr>
      <vt:lpstr>常用数制及转换</vt:lpstr>
      <vt:lpstr>数的表示与运算</vt:lpstr>
      <vt:lpstr>补码的加减运算</vt:lpstr>
      <vt:lpstr>常用编码</vt:lpstr>
      <vt:lpstr>第二章16位和32位微处理器</vt:lpstr>
      <vt:lpstr>逻辑地址和物理地址</vt:lpstr>
      <vt:lpstr>逻辑地址和物理地址</vt:lpstr>
      <vt:lpstr>例题</vt:lpstr>
      <vt:lpstr>段寄存器的使用</vt:lpstr>
      <vt:lpstr>8086/8088CPU的引脚信号</vt:lpstr>
      <vt:lpstr>PowerPoint 演示文稿</vt:lpstr>
      <vt:lpstr>PowerPoint 演示文稿</vt:lpstr>
      <vt:lpstr>PowerPoint 演示文稿</vt:lpstr>
      <vt:lpstr>1.时钟周期</vt:lpstr>
      <vt:lpstr>2.总线周期与指令周期</vt:lpstr>
      <vt:lpstr>2.总线周期与指令周期(续)</vt:lpstr>
      <vt:lpstr>图2.8  典型的8086总线周期序列</vt:lpstr>
      <vt:lpstr>第3章  16位/32位微处理器指令系统 </vt:lpstr>
      <vt:lpstr>8086/8088的寻址方式</vt:lpstr>
      <vt:lpstr>立即寻址</vt:lpstr>
      <vt:lpstr>寄存器寻址</vt:lpstr>
      <vt:lpstr>直接寻址</vt:lpstr>
      <vt:lpstr>例子</vt:lpstr>
      <vt:lpstr>寄存器间接寻址</vt:lpstr>
      <vt:lpstr>基址寻址和变址寻址</vt:lpstr>
      <vt:lpstr>例子</vt:lpstr>
      <vt:lpstr>基址变址寻址</vt:lpstr>
      <vt:lpstr>固定寻址</vt:lpstr>
      <vt:lpstr>数据传送类指令</vt:lpstr>
      <vt:lpstr>MOV传送指令</vt:lpstr>
      <vt:lpstr>PUSH入栈指令与POP出栈指令</vt:lpstr>
      <vt:lpstr>入栈指令PUSH</vt:lpstr>
      <vt:lpstr>PowerPoint 演示文稿</vt:lpstr>
      <vt:lpstr>出栈指令POP</vt:lpstr>
      <vt:lpstr>PowerPoint 演示文稿</vt:lpstr>
      <vt:lpstr>输入输出指令</vt:lpstr>
      <vt:lpstr>输入指令IN</vt:lpstr>
      <vt:lpstr>输出指令OUT</vt:lpstr>
      <vt:lpstr>算术运算类指令</vt:lpstr>
      <vt:lpstr>加１指令</vt:lpstr>
      <vt:lpstr>比较指令CMP</vt:lpstr>
      <vt:lpstr>比较指令CMP</vt:lpstr>
      <vt:lpstr>逻辑运算指令</vt:lpstr>
      <vt:lpstr>测试指令TEST</vt:lpstr>
      <vt:lpstr>控制转移类指令</vt:lpstr>
      <vt:lpstr>子程序调用和返回指令</vt:lpstr>
      <vt:lpstr>第4章  汇编语言程序设计</vt:lpstr>
      <vt:lpstr>操作数举例</vt:lpstr>
      <vt:lpstr>数据定义伪指令</vt:lpstr>
      <vt:lpstr>数据定义伪指令</vt:lpstr>
      <vt:lpstr>数据定义伪指令</vt:lpstr>
      <vt:lpstr>PowerPoint 演示文稿</vt:lpstr>
      <vt:lpstr>PowerPoint 演示文稿</vt:lpstr>
      <vt:lpstr>PowerPoint 演示文稿</vt:lpstr>
      <vt:lpstr>PowerPoint 演示文稿</vt:lpstr>
      <vt:lpstr>第5章 存储器</vt:lpstr>
      <vt:lpstr>半导体存储器的分类</vt:lpstr>
      <vt:lpstr>1.存储器容量</vt:lpstr>
      <vt:lpstr>5.3.2 存储器容量的扩展</vt:lpstr>
      <vt:lpstr>1.位扩展</vt:lpstr>
      <vt:lpstr>2.字扩展</vt:lpstr>
      <vt:lpstr>3.字位扩展</vt:lpstr>
      <vt:lpstr>图5.15  8088系统字位扩展的接线图</vt:lpstr>
      <vt:lpstr>指导书</vt:lpstr>
      <vt:lpstr>1、 CPU与外设之间的数据传送方式</vt:lpstr>
      <vt:lpstr>中断的概念</vt:lpstr>
      <vt:lpstr>PowerPoint 演示文稿</vt:lpstr>
      <vt:lpstr>      3.中断向量和中断向量表</vt:lpstr>
      <vt:lpstr>PowerPoint 演示文稿</vt:lpstr>
      <vt:lpstr>PowerPoint 演示文稿</vt:lpstr>
      <vt:lpstr>PowerPoint 演示文稿</vt:lpstr>
      <vt:lpstr> 8259A概述</vt:lpstr>
      <vt:lpstr>8259A的编程</vt:lpstr>
      <vt:lpstr>PowerPoint 演示文稿</vt:lpstr>
      <vt:lpstr>初始化编程</vt:lpstr>
      <vt:lpstr>初始化编程</vt:lpstr>
      <vt:lpstr>PowerPoint 演示文稿</vt:lpstr>
      <vt:lpstr>第7章 可编程并行接口8255A</vt:lpstr>
      <vt:lpstr>1.8255A的内部结构</vt:lpstr>
      <vt:lpstr>8255A的方式选择控制字</vt:lpstr>
      <vt:lpstr>1.方式选择控制字</vt:lpstr>
      <vt:lpstr>图7.8 8255A的方式选择控制字格式</vt:lpstr>
      <vt:lpstr>方式选择控制字设置举例</vt:lpstr>
      <vt:lpstr>端口C置1/置0控制字</vt:lpstr>
      <vt:lpstr>端口C置1/置0控制字格式</vt:lpstr>
      <vt:lpstr>端口C置1/置0控制字设置举例</vt:lpstr>
      <vt:lpstr>8255A的工作方式</vt:lpstr>
      <vt:lpstr>方式0的工作特点</vt:lpstr>
      <vt:lpstr>方式1的工作特点</vt:lpstr>
      <vt:lpstr>3.方式2-双向传输方式</vt:lpstr>
      <vt:lpstr>8255A的编程及应用</vt:lpstr>
      <vt:lpstr>                   第8章串行接口 波特率</vt:lpstr>
      <vt:lpstr>                 第9章  计数器、定时器  8253的控制字</vt:lpstr>
      <vt:lpstr>8253的初始化编程</vt:lpstr>
      <vt:lpstr>8253的初始化编程</vt:lpstr>
      <vt:lpstr>例9.1</vt:lpstr>
      <vt:lpstr>9.2.3 8253的工作方式</vt:lpstr>
      <vt:lpstr>工作方式0</vt:lpstr>
      <vt:lpstr>工作方式1：单脉冲触发器</vt:lpstr>
      <vt:lpstr>工作方式2：分频器</vt:lpstr>
      <vt:lpstr>工作方式3：方波发生器</vt:lpstr>
      <vt:lpstr>PowerPoint 演示文稿</vt:lpstr>
      <vt:lpstr>工作方式4：软件触发的选通信号发生器</vt:lpstr>
      <vt:lpstr>工作方式5：硬件触发的选通信号发生器</vt:lpstr>
      <vt:lpstr>PowerPoint 演示文稿</vt:lpstr>
      <vt:lpstr>9.3 8253的应用</vt:lpstr>
      <vt:lpstr>PowerPoint 演示文稿</vt:lpstr>
      <vt:lpstr>            第10 章 数模和模数转换  D/A转换主要技术参数</vt:lpstr>
      <vt:lpstr>D/A转换原理</vt:lpstr>
      <vt:lpstr>1.分辨率(Resolution)</vt:lpstr>
      <vt:lpstr>2.精度(Accuracy) </vt:lpstr>
      <vt:lpstr>A/D转换器主要技术参数</vt:lpstr>
      <vt:lpstr>A/D转换器主要技术参数</vt:lpstr>
      <vt:lpstr>A/D转换器主要技术参数</vt:lpstr>
      <vt:lpstr>A/D转换器主要技术参数</vt:lpstr>
      <vt:lpstr>A/D转换器主要技术参数</vt:lpstr>
      <vt:lpstr>第11章总线技术</vt:lpstr>
      <vt:lpstr>第11章总线技术</vt:lpstr>
      <vt:lpstr>11.2.2  PCI总线</vt:lpstr>
      <vt:lpstr>PCI总线主要性能</vt:lpstr>
      <vt:lpstr>AGP总线</vt:lpstr>
      <vt:lpstr>AGP总线特点</vt:lpstr>
      <vt:lpstr>11.2.4  PCI Express总线</vt:lpstr>
      <vt:lpstr>通信总线</vt:lpstr>
      <vt:lpstr>USB总线特点</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 Jian</dc:creator>
  <cp:lastModifiedBy>杨领军</cp:lastModifiedBy>
  <cp:revision>206</cp:revision>
  <dcterms:created xsi:type="dcterms:W3CDTF">2021-02-04T09:02:00Z</dcterms:created>
  <dcterms:modified xsi:type="dcterms:W3CDTF">2026-06-16T04:11:58Z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ED33AD0CA0064D799AD0A79D1AA07639_13</vt:lpwstr>
  </property>
  <property fmtid="{D5CDD505-2E9C-101B-9397-08002B2CF9AE}" pid="3" name="KSOProductBuildVer">
    <vt:lpwstr>2052-12.1.0.26895</vt:lpwstr>
  </property>
</Properties>
</file>