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9"/>
  </p:notesMasterIdLst>
  <p:sldIdLst>
    <p:sldId id="465" r:id="rId3"/>
    <p:sldId id="518" r:id="rId4"/>
    <p:sldId id="466" r:id="rId5"/>
    <p:sldId id="468" r:id="rId6"/>
    <p:sldId id="469" r:id="rId7"/>
    <p:sldId id="470" r:id="rId8"/>
    <p:sldId id="474" r:id="rId9"/>
    <p:sldId id="475" r:id="rId10"/>
    <p:sldId id="476" r:id="rId11"/>
    <p:sldId id="478" r:id="rId12"/>
    <p:sldId id="479" r:id="rId13"/>
    <p:sldId id="480" r:id="rId14"/>
    <p:sldId id="481" r:id="rId15"/>
    <p:sldId id="482" r:id="rId16"/>
    <p:sldId id="483" r:id="rId17"/>
    <p:sldId id="484" r:id="rId18"/>
    <p:sldId id="485" r:id="rId19"/>
    <p:sldId id="486" r:id="rId20"/>
    <p:sldId id="489" r:id="rId21"/>
    <p:sldId id="490" r:id="rId22"/>
    <p:sldId id="491" r:id="rId23"/>
    <p:sldId id="492" r:id="rId24"/>
    <p:sldId id="493" r:id="rId25"/>
    <p:sldId id="494" r:id="rId26"/>
    <p:sldId id="496" r:id="rId27"/>
    <p:sldId id="497" r:id="rId28"/>
    <p:sldId id="498" r:id="rId29"/>
    <p:sldId id="499" r:id="rId30"/>
    <p:sldId id="500" r:id="rId31"/>
    <p:sldId id="501" r:id="rId32"/>
    <p:sldId id="502" r:id="rId33"/>
    <p:sldId id="503" r:id="rId34"/>
    <p:sldId id="504" r:id="rId35"/>
    <p:sldId id="505" r:id="rId36"/>
    <p:sldId id="506" r:id="rId37"/>
    <p:sldId id="507" r:id="rId38"/>
    <p:sldId id="508" r:id="rId39"/>
    <p:sldId id="509" r:id="rId40"/>
    <p:sldId id="510" r:id="rId41"/>
    <p:sldId id="511" r:id="rId42"/>
    <p:sldId id="512" r:id="rId43"/>
    <p:sldId id="513" r:id="rId44"/>
    <p:sldId id="514" r:id="rId45"/>
    <p:sldId id="515" r:id="rId46"/>
    <p:sldId id="516" r:id="rId47"/>
    <p:sldId id="517" r:id="rId4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5" autoAdjust="0"/>
    <p:restoredTop sz="94660"/>
  </p:normalViewPr>
  <p:slideViewPr>
    <p:cSldViewPr snapToGrid="0">
      <p:cViewPr varScale="1">
        <p:scale>
          <a:sx n="107" d="100"/>
          <a:sy n="107" d="100"/>
        </p:scale>
        <p:origin x="-102" y="-1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slide" Target="slides/slide3.xml"/><Relationship Id="rId49" Type="http://schemas.openxmlformats.org/officeDocument/2006/relationships/notesMaster" Target="notesMasters/notesMaster1.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79A3BD-9D4B-4A17-89AD-AB8D99722C6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74F641-F5F8-49D6-AB8D-CF80F2600D1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9753600" y="1066800"/>
            <a:ext cx="0" cy="4495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grpSp>
        <p:nvGrpSpPr>
          <p:cNvPr id="5" name="Group 8"/>
          <p:cNvGrpSpPr/>
          <p:nvPr/>
        </p:nvGrpSpPr>
        <p:grpSpPr bwMode="auto">
          <a:xfrm>
            <a:off x="9990667" y="2992438"/>
            <a:ext cx="1784351"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7" name="Oval 10"/>
            <p:cNvSpPr>
              <a:spLocks noChangeArrowheads="1"/>
            </p:cNvSpPr>
            <p:nvPr/>
          </p:nvSpPr>
          <p:spPr bwMode="auto">
            <a:xfrm>
              <a:off x="4883"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8" name="Oval 11"/>
            <p:cNvSpPr>
              <a:spLocks noChangeArrowheads="1"/>
            </p:cNvSpPr>
            <p:nvPr/>
          </p:nvSpPr>
          <p:spPr bwMode="auto">
            <a:xfrm>
              <a:off x="5062"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9" name="Oval 12"/>
            <p:cNvSpPr>
              <a:spLocks noChangeArrowheads="1"/>
            </p:cNvSpPr>
            <p:nvPr/>
          </p:nvSpPr>
          <p:spPr bwMode="auto">
            <a:xfrm>
              <a:off x="4704"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 name="Oval 13"/>
            <p:cNvSpPr>
              <a:spLocks noChangeArrowheads="1"/>
            </p:cNvSpPr>
            <p:nvPr/>
          </p:nvSpPr>
          <p:spPr bwMode="auto">
            <a:xfrm>
              <a:off x="4883"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1" name="Oval 14"/>
            <p:cNvSpPr>
              <a:spLocks noChangeArrowheads="1"/>
            </p:cNvSpPr>
            <p:nvPr/>
          </p:nvSpPr>
          <p:spPr bwMode="auto">
            <a:xfrm>
              <a:off x="5062"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2" name="Oval 15"/>
            <p:cNvSpPr>
              <a:spLocks noChangeArrowheads="1"/>
            </p:cNvSpPr>
            <p:nvPr/>
          </p:nvSpPr>
          <p:spPr bwMode="auto">
            <a:xfrm>
              <a:off x="5241" y="2064"/>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3" name="Oval 16"/>
            <p:cNvSpPr>
              <a:spLocks noChangeArrowheads="1"/>
            </p:cNvSpPr>
            <p:nvPr/>
          </p:nvSpPr>
          <p:spPr bwMode="auto">
            <a:xfrm>
              <a:off x="4704"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4" name="Oval 17"/>
            <p:cNvSpPr>
              <a:spLocks noChangeArrowheads="1"/>
            </p:cNvSpPr>
            <p:nvPr/>
          </p:nvSpPr>
          <p:spPr bwMode="auto">
            <a:xfrm>
              <a:off x="4883"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5" name="Oval 18"/>
            <p:cNvSpPr>
              <a:spLocks noChangeArrowheads="1"/>
            </p:cNvSpPr>
            <p:nvPr/>
          </p:nvSpPr>
          <p:spPr bwMode="auto">
            <a:xfrm>
              <a:off x="5062"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6" name="Oval 19"/>
            <p:cNvSpPr>
              <a:spLocks noChangeArrowheads="1"/>
            </p:cNvSpPr>
            <p:nvPr/>
          </p:nvSpPr>
          <p:spPr bwMode="auto">
            <a:xfrm>
              <a:off x="5241"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7" name="Oval 20"/>
            <p:cNvSpPr>
              <a:spLocks noChangeArrowheads="1"/>
            </p:cNvSpPr>
            <p:nvPr/>
          </p:nvSpPr>
          <p:spPr bwMode="auto">
            <a:xfrm>
              <a:off x="5420" y="2243"/>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8" name="Oval 21"/>
            <p:cNvSpPr>
              <a:spLocks noChangeArrowheads="1"/>
            </p:cNvSpPr>
            <p:nvPr/>
          </p:nvSpPr>
          <p:spPr bwMode="auto">
            <a:xfrm>
              <a:off x="4704" y="2421"/>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9" name="Oval 22"/>
            <p:cNvSpPr>
              <a:spLocks noChangeArrowheads="1"/>
            </p:cNvSpPr>
            <p:nvPr/>
          </p:nvSpPr>
          <p:spPr bwMode="auto">
            <a:xfrm>
              <a:off x="4883"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0" name="Oval 23"/>
            <p:cNvSpPr>
              <a:spLocks noChangeArrowheads="1"/>
            </p:cNvSpPr>
            <p:nvPr/>
          </p:nvSpPr>
          <p:spPr bwMode="auto">
            <a:xfrm>
              <a:off x="5062"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1" name="Oval 24"/>
            <p:cNvSpPr>
              <a:spLocks noChangeArrowheads="1"/>
            </p:cNvSpPr>
            <p:nvPr/>
          </p:nvSpPr>
          <p:spPr bwMode="auto">
            <a:xfrm>
              <a:off x="5241" y="2421"/>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2" name="Oval 25"/>
            <p:cNvSpPr>
              <a:spLocks noChangeArrowheads="1"/>
            </p:cNvSpPr>
            <p:nvPr/>
          </p:nvSpPr>
          <p:spPr bwMode="auto">
            <a:xfrm>
              <a:off x="4704"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3" name="Oval 26"/>
            <p:cNvSpPr>
              <a:spLocks noChangeArrowheads="1"/>
            </p:cNvSpPr>
            <p:nvPr/>
          </p:nvSpPr>
          <p:spPr bwMode="auto">
            <a:xfrm>
              <a:off x="4883"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4" name="Oval 27"/>
            <p:cNvSpPr>
              <a:spLocks noChangeArrowheads="1"/>
            </p:cNvSpPr>
            <p:nvPr/>
          </p:nvSpPr>
          <p:spPr bwMode="auto">
            <a:xfrm>
              <a:off x="5062"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5" name="Oval 28"/>
            <p:cNvSpPr>
              <a:spLocks noChangeArrowheads="1"/>
            </p:cNvSpPr>
            <p:nvPr/>
          </p:nvSpPr>
          <p:spPr bwMode="auto">
            <a:xfrm>
              <a:off x="5241"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6" name="Oval 29"/>
            <p:cNvSpPr>
              <a:spLocks noChangeArrowheads="1"/>
            </p:cNvSpPr>
            <p:nvPr/>
          </p:nvSpPr>
          <p:spPr bwMode="auto">
            <a:xfrm>
              <a:off x="5420" y="2600"/>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7" name="Oval 30"/>
            <p:cNvSpPr>
              <a:spLocks noChangeArrowheads="1"/>
            </p:cNvSpPr>
            <p:nvPr/>
          </p:nvSpPr>
          <p:spPr bwMode="auto">
            <a:xfrm>
              <a:off x="4704" y="2779"/>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8" name="Oval 31"/>
            <p:cNvSpPr>
              <a:spLocks noChangeArrowheads="1"/>
            </p:cNvSpPr>
            <p:nvPr/>
          </p:nvSpPr>
          <p:spPr bwMode="auto">
            <a:xfrm>
              <a:off x="4883"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9" name="Oval 32"/>
            <p:cNvSpPr>
              <a:spLocks noChangeArrowheads="1"/>
            </p:cNvSpPr>
            <p:nvPr/>
          </p:nvSpPr>
          <p:spPr bwMode="auto">
            <a:xfrm>
              <a:off x="5062"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0" name="Oval 33"/>
            <p:cNvSpPr>
              <a:spLocks noChangeArrowheads="1"/>
            </p:cNvSpPr>
            <p:nvPr/>
          </p:nvSpPr>
          <p:spPr bwMode="auto">
            <a:xfrm>
              <a:off x="5241" y="2779"/>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1" name="Oval 34"/>
            <p:cNvSpPr>
              <a:spLocks noChangeArrowheads="1"/>
            </p:cNvSpPr>
            <p:nvPr/>
          </p:nvSpPr>
          <p:spPr bwMode="auto">
            <a:xfrm>
              <a:off x="4704"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2" name="Oval 35"/>
            <p:cNvSpPr>
              <a:spLocks noChangeArrowheads="1"/>
            </p:cNvSpPr>
            <p:nvPr/>
          </p:nvSpPr>
          <p:spPr bwMode="auto">
            <a:xfrm>
              <a:off x="4883"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3" name="Oval 36"/>
            <p:cNvSpPr>
              <a:spLocks noChangeArrowheads="1"/>
            </p:cNvSpPr>
            <p:nvPr/>
          </p:nvSpPr>
          <p:spPr bwMode="auto">
            <a:xfrm>
              <a:off x="5062"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4" name="Oval 37"/>
            <p:cNvSpPr>
              <a:spLocks noChangeArrowheads="1"/>
            </p:cNvSpPr>
            <p:nvPr/>
          </p:nvSpPr>
          <p:spPr bwMode="auto">
            <a:xfrm>
              <a:off x="5241"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5" name="Oval 38"/>
            <p:cNvSpPr>
              <a:spLocks noChangeArrowheads="1"/>
            </p:cNvSpPr>
            <p:nvPr/>
          </p:nvSpPr>
          <p:spPr bwMode="auto">
            <a:xfrm>
              <a:off x="4883"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6" name="Oval 39"/>
            <p:cNvSpPr>
              <a:spLocks noChangeArrowheads="1"/>
            </p:cNvSpPr>
            <p:nvPr/>
          </p:nvSpPr>
          <p:spPr bwMode="auto">
            <a:xfrm>
              <a:off x="5241"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grpSp>
      <p:sp>
        <p:nvSpPr>
          <p:cNvPr id="37" name="Line 40"/>
          <p:cNvSpPr>
            <a:spLocks noChangeShapeType="1"/>
          </p:cNvSpPr>
          <p:nvPr/>
        </p:nvSpPr>
        <p:spPr bwMode="auto">
          <a:xfrm>
            <a:off x="406400" y="2819400"/>
            <a:ext cx="10972800" cy="0"/>
          </a:xfrm>
          <a:prstGeom prst="line">
            <a:avLst/>
          </a:prstGeom>
          <a:noFill/>
          <a:ln w="63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sp>
        <p:nvSpPr>
          <p:cNvPr id="175107" name="Rectangle 3"/>
          <p:cNvSpPr>
            <a:spLocks noGrp="1" noChangeArrowheads="1"/>
          </p:cNvSpPr>
          <p:nvPr>
            <p:ph type="ctrTitle"/>
          </p:nvPr>
        </p:nvSpPr>
        <p:spPr>
          <a:xfrm>
            <a:off x="421217" y="466725"/>
            <a:ext cx="9042400" cy="2133600"/>
          </a:xfrm>
        </p:spPr>
        <p:txBody>
          <a:bodyPr/>
          <a:lstStyle>
            <a:lvl1pPr>
              <a:defRPr/>
            </a:lvl1pPr>
          </a:lstStyle>
          <a:p>
            <a:pPr lvl="0"/>
            <a:r>
              <a:rPr lang="en-US" altLang="zh-CN" noProof="0"/>
              <a:t>单击此处编辑母版标题样式</a:t>
            </a:r>
            <a:endParaRPr lang="en-US" altLang="zh-CN" noProof="0"/>
          </a:p>
        </p:txBody>
      </p:sp>
      <p:sp>
        <p:nvSpPr>
          <p:cNvPr id="175108" name="Rectangle 4"/>
          <p:cNvSpPr>
            <a:spLocks noGrp="1" noChangeArrowheads="1"/>
          </p:cNvSpPr>
          <p:nvPr>
            <p:ph type="subTitle" idx="1"/>
          </p:nvPr>
        </p:nvSpPr>
        <p:spPr>
          <a:xfrm>
            <a:off x="1132417" y="3049588"/>
            <a:ext cx="8331200" cy="2362200"/>
          </a:xfrm>
        </p:spPr>
        <p:txBody>
          <a:bodyPr/>
          <a:lstStyle>
            <a:lvl1pPr marL="0" indent="0" algn="ctr">
              <a:buFont typeface="Wingdings" panose="05000000000000000000" pitchFamily="2" charset="2"/>
              <a:buNone/>
              <a:defRPr/>
            </a:lvl1pPr>
          </a:lstStyle>
          <a:p>
            <a:pPr lvl="0"/>
            <a:r>
              <a:rPr lang="en-US" altLang="zh-CN" noProof="0"/>
              <a:t>单击此处编辑母版副标题样式</a:t>
            </a:r>
            <a:endParaRPr lang="en-US" altLang="zh-CN" noProof="0"/>
          </a:p>
        </p:txBody>
      </p:sp>
      <p:sp>
        <p:nvSpPr>
          <p:cNvPr id="38" name="Rectangle 5"/>
          <p:cNvSpPr>
            <a:spLocks noGrp="1" noChangeArrowheads="1"/>
          </p:cNvSpPr>
          <p:nvPr>
            <p:ph type="dt" sz="half" idx="10"/>
          </p:nvPr>
        </p:nvSpPr>
        <p:spPr/>
        <p:txBody>
          <a:bodyPr/>
          <a:lstStyle>
            <a:lvl1pPr>
              <a:defRPr smtClean="0"/>
            </a:lvl1pPr>
          </a:lstStyle>
          <a:p>
            <a:pPr>
              <a:defRPr/>
            </a:pPr>
            <a:fld id="{B987ED82-D1A3-45FE-80F8-86D8D28D03CD}" type="datetime1">
              <a:rPr lang="zh-CN" altLang="en-US"/>
            </a:fld>
            <a:endParaRPr lang="en-US" altLang="zh-CN"/>
          </a:p>
        </p:txBody>
      </p:sp>
      <p:sp>
        <p:nvSpPr>
          <p:cNvPr id="39"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40" name="Rectangle 7"/>
          <p:cNvSpPr>
            <a:spLocks noGrp="1" noChangeArrowheads="1"/>
          </p:cNvSpPr>
          <p:nvPr>
            <p:ph type="sldNum" sz="quarter" idx="12"/>
          </p:nvPr>
        </p:nvSpPr>
        <p:spPr/>
        <p:txBody>
          <a:bodyPr/>
          <a:lstStyle>
            <a:lvl1pPr>
              <a:defRPr smtClean="0"/>
            </a:lvl1pPr>
          </a:lstStyle>
          <a:p>
            <a:pPr>
              <a:defRPr/>
            </a:pPr>
            <a:fld id="{F04872D5-BB51-432C-B3A3-4E481E81D33F}"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09601" y="1719263"/>
            <a:ext cx="10058400" cy="4411662"/>
          </a:xfrm>
        </p:spPr>
        <p:txBody>
          <a:bodyPr/>
          <a:lstStyle>
            <a:lvl1pPr>
              <a:buFont typeface="Wingdings" panose="05000000000000000000" pitchFamily="2" charset="2"/>
              <a:buChar char="u"/>
              <a:defRPr sz="2800" baseline="0">
                <a:latin typeface="Arial" panose="020B0604020202020204" pitchFamily="34" charset="0"/>
                <a:ea typeface="宋体" panose="02010600030101010101" pitchFamily="2" charset="-122"/>
              </a:defRPr>
            </a:lvl1pPr>
            <a:lvl2pPr>
              <a:defRPr baseline="0">
                <a:latin typeface="Arial" panose="020B0604020202020204" pitchFamily="34" charset="0"/>
                <a:ea typeface="宋体" panose="02010600030101010101" pitchFamily="2" charset="-122"/>
              </a:defRPr>
            </a:lvl2pPr>
            <a:lvl3pPr>
              <a:defRPr baseline="0">
                <a:latin typeface="Arial" panose="020B0604020202020204" pitchFamily="34" charset="0"/>
                <a:ea typeface="宋体" panose="02010600030101010101" pitchFamily="2" charset="-122"/>
              </a:defRPr>
            </a:lvl3pPr>
            <a:lvl4pPr>
              <a:defRPr baseline="0">
                <a:latin typeface="Arial" panose="020B0604020202020204" pitchFamily="34" charset="0"/>
                <a:ea typeface="宋体" panose="02010600030101010101" pitchFamily="2" charset="-122"/>
              </a:defRPr>
            </a:lvl4pPr>
            <a:lvl5pPr>
              <a:defRPr baseline="0">
                <a:latin typeface="Arial" panose="020B0604020202020204" pitchFamily="34" charset="0"/>
                <a:ea typeface="宋体" panose="02010600030101010101" pitchFamily="2" charset="-122"/>
              </a:defRPr>
            </a:lvl5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Rectangle 5"/>
          <p:cNvSpPr>
            <a:spLocks noGrp="1" noChangeArrowheads="1"/>
          </p:cNvSpPr>
          <p:nvPr>
            <p:ph type="dt" sz="half" idx="10"/>
          </p:nvPr>
        </p:nvSpPr>
        <p:spPr/>
        <p:txBody>
          <a:bodyPr/>
          <a:lstStyle>
            <a:lvl1pPr>
              <a:defRPr/>
            </a:lvl1pPr>
          </a:lstStyle>
          <a:p>
            <a:pPr>
              <a:defRPr/>
            </a:pPr>
            <a:fld id="{FFCF43AE-F8FD-49EE-9553-888B016E31A5}" type="datetime1">
              <a:rPr lang="zh-CN" altLang="en-US"/>
            </a:fld>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8F4C0CD6-327D-499A-9754-0F1E4D84582B}" type="slidenum">
              <a:rPr lang="en-US" altLang="zh-CN"/>
            </a:fld>
            <a:endParaRPr lang="en-US" altLang="zh-C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fld id="{4630820B-D0F1-47EF-A8DA-9994F9F83B6C}" type="datetime1">
              <a:rPr lang="zh-CN" altLang="en-US"/>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DC6CC5FF-F08F-495A-851B-EA259259A747}"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719263"/>
            <a:ext cx="5384800" cy="441166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7600" y="1719263"/>
            <a:ext cx="5384800" cy="441166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fld id="{69117693-7908-4A91-B471-8FEF6DA281B2}" type="datetime1">
              <a:rPr lang="zh-CN" altLang="en-US"/>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55274614-4E03-4DCB-98CE-097C97818E79}"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6"/>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40318" y="2505075"/>
            <a:ext cx="5158316"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71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Rectangle 5"/>
          <p:cNvSpPr>
            <a:spLocks noGrp="1" noChangeArrowheads="1"/>
          </p:cNvSpPr>
          <p:nvPr>
            <p:ph type="dt" sz="half" idx="10"/>
          </p:nvPr>
        </p:nvSpPr>
        <p:spPr/>
        <p:txBody>
          <a:bodyPr/>
          <a:lstStyle>
            <a:lvl1pPr>
              <a:defRPr/>
            </a:lvl1pPr>
          </a:lstStyle>
          <a:p>
            <a:pPr>
              <a:defRPr/>
            </a:pPr>
            <a:fld id="{88C2CC61-C6FC-4A0D-9DB9-9F02363F5AE9}" type="datetime1">
              <a:rPr lang="zh-CN" altLang="en-US"/>
            </a:fld>
            <a:endParaRPr lang="en-US" altLang="zh-CN"/>
          </a:p>
        </p:txBody>
      </p:sp>
      <p:sp>
        <p:nvSpPr>
          <p:cNvPr id="8"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9" name="Rectangle 7"/>
          <p:cNvSpPr>
            <a:spLocks noGrp="1" noChangeArrowheads="1"/>
          </p:cNvSpPr>
          <p:nvPr>
            <p:ph type="sldNum" sz="quarter" idx="12"/>
          </p:nvPr>
        </p:nvSpPr>
        <p:spPr/>
        <p:txBody>
          <a:bodyPr/>
          <a:lstStyle>
            <a:lvl1pPr>
              <a:defRPr/>
            </a:lvl1pPr>
          </a:lstStyle>
          <a:p>
            <a:pPr>
              <a:defRPr/>
            </a:pPr>
            <a:fld id="{F89CEBCD-7FCF-484B-9305-64C83D94B2D9}"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5"/>
          <p:cNvSpPr>
            <a:spLocks noGrp="1" noChangeArrowheads="1"/>
          </p:cNvSpPr>
          <p:nvPr>
            <p:ph type="dt" sz="half" idx="10"/>
          </p:nvPr>
        </p:nvSpPr>
        <p:spPr/>
        <p:txBody>
          <a:bodyPr/>
          <a:lstStyle>
            <a:lvl1pPr>
              <a:defRPr/>
            </a:lvl1pPr>
          </a:lstStyle>
          <a:p>
            <a:pPr>
              <a:defRPr/>
            </a:pPr>
            <a:fld id="{696741FA-DDBC-4EA0-94D5-FBD8154C3488}" type="datetime1">
              <a:rPr lang="zh-CN" altLang="en-US"/>
            </a:fld>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5" name="Rectangle 7"/>
          <p:cNvSpPr>
            <a:spLocks noGrp="1" noChangeArrowheads="1"/>
          </p:cNvSpPr>
          <p:nvPr>
            <p:ph type="sldNum" sz="quarter" idx="12"/>
          </p:nvPr>
        </p:nvSpPr>
        <p:spPr/>
        <p:txBody>
          <a:bodyPr/>
          <a:lstStyle>
            <a:lvl1pPr>
              <a:defRPr/>
            </a:lvl1pPr>
          </a:lstStyle>
          <a:p>
            <a:pPr>
              <a:defRPr/>
            </a:pPr>
            <a:fld id="{A074A460-7B25-4553-A69A-B2BB29F6AC23}"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pPr>
              <a:defRPr/>
            </a:pPr>
            <a:fld id="{9E163E86-D2F7-47EE-8733-36D525731CFA}" type="datetime1">
              <a:rPr lang="zh-CN" altLang="en-US"/>
            </a:fld>
            <a:endParaRPr lang="en-US" altLang="zh-CN"/>
          </a:p>
        </p:txBody>
      </p:sp>
      <p:sp>
        <p:nvSpPr>
          <p:cNvPr id="3"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4" name="Rectangle 7"/>
          <p:cNvSpPr>
            <a:spLocks noGrp="1" noChangeArrowheads="1"/>
          </p:cNvSpPr>
          <p:nvPr>
            <p:ph type="sldNum" sz="quarter" idx="12"/>
          </p:nvPr>
        </p:nvSpPr>
        <p:spPr/>
        <p:txBody>
          <a:bodyPr/>
          <a:lstStyle>
            <a:lvl1pPr>
              <a:defRPr/>
            </a:lvl1pPr>
          </a:lstStyle>
          <a:p>
            <a:pPr>
              <a:defRPr/>
            </a:pPr>
            <a:fld id="{302A3EF1-332A-4F12-8EA6-9ED17615C70E}"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fld id="{71B77AC4-9B6B-4955-98AD-6DB523334E40}" type="datetime1">
              <a:rPr lang="zh-CN" altLang="en-US"/>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BF467FF3-FD84-43F7-9698-CD5E53E22EED}"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fld id="{D12B7E4C-ECAE-4348-B44D-B6E27617DF07}" type="datetime1">
              <a:rPr lang="zh-CN" altLang="en-US"/>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F7AF11EB-CA78-49BC-B922-1C8209DB6A33}"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fld id="{7DA0FF42-8979-4AE7-AB32-AB2B478435CF}" type="datetime1">
              <a:rPr lang="zh-CN" altLang="en-US"/>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FBCA54F1-1552-454D-8C86-18F7606D2603}"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122239"/>
            <a:ext cx="2743200" cy="6008687"/>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122239"/>
            <a:ext cx="8026400" cy="6008687"/>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fld id="{D76E9331-9EC7-4BC1-9F19-95838F0AB25F}" type="datetime1">
              <a:rPr lang="zh-CN" altLang="en-US"/>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D55095CD-4004-401E-BA56-829390CFAA6A}"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8"/>
            <a:ext cx="10058400" cy="12954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09600" y="1719263"/>
            <a:ext cx="5384800" cy="441166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7600" y="1719263"/>
            <a:ext cx="5384800" cy="441166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fld id="{DBFF7F5F-45AA-4834-B66F-E424254E1B5E}" type="datetime1">
              <a:rPr lang="zh-CN" altLang="en-US"/>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C9A6D292-B2CC-4663-B63B-6660727BF522}"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10617200" y="152400"/>
            <a:ext cx="0" cy="1524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sp>
        <p:nvSpPr>
          <p:cNvPr id="1027" name="Rectangle 3"/>
          <p:cNvSpPr>
            <a:spLocks noGrp="1" noChangeArrowheads="1"/>
          </p:cNvSpPr>
          <p:nvPr>
            <p:ph type="title"/>
          </p:nvPr>
        </p:nvSpPr>
        <p:spPr bwMode="auto">
          <a:xfrm>
            <a:off x="609600" y="122238"/>
            <a:ext cx="100584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en-US" altLang="zh-CN" dirty="0" err="1"/>
              <a:t>单击此处编辑母版标题样式</a:t>
            </a:r>
            <a:endParaRPr lang="en-US" altLang="zh-CN" dirty="0"/>
          </a:p>
        </p:txBody>
      </p:sp>
      <p:sp>
        <p:nvSpPr>
          <p:cNvPr id="1028" name="Rectangle 4"/>
          <p:cNvSpPr>
            <a:spLocks noGrp="1" noChangeArrowheads="1"/>
          </p:cNvSpPr>
          <p:nvPr>
            <p:ph type="body" idx="1"/>
          </p:nvPr>
        </p:nvSpPr>
        <p:spPr bwMode="auto">
          <a:xfrm>
            <a:off x="609600" y="1719263"/>
            <a:ext cx="10101541" cy="441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zh-CN" dirty="0" err="1"/>
              <a:t>单击此处编辑母版文本样式</a:t>
            </a:r>
            <a:endParaRPr lang="en-US" altLang="zh-CN" dirty="0"/>
          </a:p>
          <a:p>
            <a:pPr lvl="1"/>
            <a:r>
              <a:rPr lang="en-US" altLang="zh-CN" dirty="0" err="1"/>
              <a:t>第二级</a:t>
            </a:r>
            <a:endParaRPr lang="en-US" altLang="zh-CN" dirty="0"/>
          </a:p>
          <a:p>
            <a:pPr lvl="2"/>
            <a:r>
              <a:rPr lang="en-US" altLang="zh-CN" dirty="0" err="1"/>
              <a:t>第三级</a:t>
            </a:r>
            <a:endParaRPr lang="en-US" altLang="zh-CN" dirty="0"/>
          </a:p>
          <a:p>
            <a:pPr lvl="3"/>
            <a:r>
              <a:rPr lang="en-US" altLang="zh-CN" dirty="0" err="1"/>
              <a:t>第四级</a:t>
            </a:r>
            <a:endParaRPr lang="en-US" altLang="zh-CN" dirty="0"/>
          </a:p>
          <a:p>
            <a:pPr lvl="4"/>
            <a:r>
              <a:rPr lang="en-US" altLang="zh-CN" dirty="0" err="1"/>
              <a:t>第五级</a:t>
            </a:r>
            <a:endParaRPr lang="en-US" altLang="zh-CN" dirty="0"/>
          </a:p>
        </p:txBody>
      </p:sp>
      <p:sp>
        <p:nvSpPr>
          <p:cNvPr id="174085" name="Rectangle 5"/>
          <p:cNvSpPr>
            <a:spLocks noGrp="1" noChangeArrowheads="1"/>
          </p:cNvSpPr>
          <p:nvPr>
            <p:ph type="dt" sz="half" idx="2"/>
          </p:nvPr>
        </p:nvSpPr>
        <p:spPr bwMode="auto">
          <a:xfrm>
            <a:off x="609600" y="6248400"/>
            <a:ext cx="2844800" cy="457200"/>
          </a:xfrm>
          <a:prstGeom prst="rect">
            <a:avLst/>
          </a:prstGeom>
          <a:noFill/>
          <a:ln>
            <a:noFill/>
          </a:ln>
          <a:effectLst/>
        </p:spPr>
        <p:txBody>
          <a:bodyPr vert="horz" wrap="square" lIns="91440" tIns="45720" rIns="91440" bIns="45720" numCol="1" anchor="t" anchorCtr="0" compatLnSpc="1"/>
          <a:lstStyle>
            <a:lvl1pPr eaLnBrk="1" hangingPunct="1">
              <a:defRPr sz="1000" smtClean="0"/>
            </a:lvl1pPr>
          </a:lstStyle>
          <a:p>
            <a:pPr>
              <a:defRPr/>
            </a:pPr>
            <a:fld id="{054E35A8-292F-4AEC-B83B-BB31DB8FE108}" type="datetime1">
              <a:rPr lang="zh-CN" altLang="en-US"/>
            </a:fld>
            <a:endParaRPr lang="en-US" altLang="zh-CN"/>
          </a:p>
        </p:txBody>
      </p:sp>
      <p:sp>
        <p:nvSpPr>
          <p:cNvPr id="174086" name="Rectangle 6"/>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1440" tIns="45720" rIns="91440" bIns="45720" numCol="1" anchor="t" anchorCtr="0" compatLnSpc="1"/>
          <a:lstStyle>
            <a:lvl1pPr algn="ctr" eaLnBrk="1" hangingPunct="1">
              <a:defRPr sz="1000"/>
            </a:lvl1pPr>
          </a:lstStyle>
          <a:p>
            <a:pPr>
              <a:defRPr/>
            </a:pPr>
            <a:r>
              <a:rPr lang="en-US" altLang="zh-CN"/>
              <a:t>逻辑代数基础----《数字电路》</a:t>
            </a:r>
            <a:endParaRPr lang="en-US" altLang="zh-CN"/>
          </a:p>
        </p:txBody>
      </p:sp>
      <p:sp>
        <p:nvSpPr>
          <p:cNvPr id="174087" name="Rectangle 7"/>
          <p:cNvSpPr>
            <a:spLocks noGrp="1" noChangeArrowheads="1"/>
          </p:cNvSpPr>
          <p:nvPr>
            <p:ph type="sldNum" sz="quarter" idx="4"/>
          </p:nvPr>
        </p:nvSpPr>
        <p:spPr bwMode="auto">
          <a:xfrm>
            <a:off x="8737600" y="6248400"/>
            <a:ext cx="2844800" cy="457200"/>
          </a:xfrm>
          <a:prstGeom prst="rect">
            <a:avLst/>
          </a:prstGeom>
          <a:noFill/>
          <a:ln>
            <a:noFill/>
          </a:ln>
          <a:effectLst/>
        </p:spPr>
        <p:txBody>
          <a:bodyPr vert="horz" wrap="square" lIns="91440" tIns="45720" rIns="91440" bIns="45720" numCol="1" anchor="t" anchorCtr="0" compatLnSpc="1"/>
          <a:lstStyle>
            <a:lvl1pPr algn="r" eaLnBrk="1" hangingPunct="1">
              <a:defRPr sz="1000" smtClean="0"/>
            </a:lvl1pPr>
          </a:lstStyle>
          <a:p>
            <a:pPr>
              <a:defRPr/>
            </a:pPr>
            <a:fld id="{1A8543FF-F682-49C5-9892-9CF2B52A8733}" type="slidenum">
              <a:rPr lang="en-US" altLang="zh-CN"/>
            </a:fld>
            <a:endParaRPr lang="en-US" altLang="zh-CN"/>
          </a:p>
        </p:txBody>
      </p:sp>
      <p:grpSp>
        <p:nvGrpSpPr>
          <p:cNvPr id="1032" name="Group 8"/>
          <p:cNvGrpSpPr/>
          <p:nvPr/>
        </p:nvGrpSpPr>
        <p:grpSpPr bwMode="auto">
          <a:xfrm>
            <a:off x="10871201" y="152400"/>
            <a:ext cx="1056217"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4"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5"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6"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7"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8"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9"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0"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1"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2"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3"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4"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5"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6"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7"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8"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9"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0"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1"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2"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3"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4"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5"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6"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7"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8"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9"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60"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61"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62"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63"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rtl="0" eaLnBrk="0" fontAlgn="base" hangingPunct="0">
        <a:spcBef>
          <a:spcPct val="0"/>
        </a:spcBef>
        <a:spcAft>
          <a:spcPct val="0"/>
        </a:spcAft>
        <a:defRPr sz="3900" b="1" kern="1200">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2800" kern="1200">
          <a:solidFill>
            <a:schemeClr val="tx1"/>
          </a:solidFill>
          <a:latin typeface="+mn-ea"/>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kern="1200">
          <a:solidFill>
            <a:schemeClr val="tx1"/>
          </a:solidFill>
          <a:latin typeface="+mn-lt"/>
          <a:ea typeface="+mn-ea"/>
          <a:cs typeface="+mn-cs"/>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kern="1200">
          <a:solidFill>
            <a:schemeClr val="tx1"/>
          </a:solidFill>
          <a:latin typeface="+mn-lt"/>
          <a:ea typeface="+mn-ea"/>
          <a:cs typeface="+mn-cs"/>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kern="1200">
          <a:solidFill>
            <a:schemeClr val="tx1"/>
          </a:solidFill>
          <a:latin typeface="+mn-lt"/>
          <a:ea typeface="+mn-ea"/>
          <a:cs typeface="+mn-cs"/>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4.wmf"/><Relationship Id="rId3" Type="http://schemas.openxmlformats.org/officeDocument/2006/relationships/oleObject" Target="../embeddings/oleObject1.bin"/><Relationship Id="rId2" Type="http://schemas.openxmlformats.org/officeDocument/2006/relationships/image" Target="../media/image3.emf"/><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5.wmf"/><Relationship Id="rId1"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emf"/></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emf"/></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emf"/></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emf"/></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emf"/></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emf"/></Relationships>
</file>

<file path=ppt/slides/_rels/slide38.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15.wmf"/><Relationship Id="rId3" Type="http://schemas.openxmlformats.org/officeDocument/2006/relationships/oleObject" Target="../embeddings/oleObject4.bin"/><Relationship Id="rId2" Type="http://schemas.openxmlformats.org/officeDocument/2006/relationships/image" Target="../media/image14.wmf"/><Relationship Id="rId1" Type="http://schemas.openxmlformats.org/officeDocument/2006/relationships/oleObject" Target="../embeddings/oleObject3.bin"/></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emf"/></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emf"/></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emf"/></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e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e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a:t>
            </a:r>
            <a:r>
              <a:rPr lang="en-US" altLang="zh-CN" dirty="0"/>
              <a:t>10</a:t>
            </a:r>
            <a:r>
              <a:rPr lang="zh-CN" altLang="en-US" dirty="0"/>
              <a:t>章  数</a:t>
            </a:r>
            <a:r>
              <a:rPr lang="en-US" altLang="zh-CN" dirty="0"/>
              <a:t>/</a:t>
            </a:r>
            <a:r>
              <a:rPr lang="zh-CN" altLang="en-US" dirty="0"/>
              <a:t>模和模</a:t>
            </a:r>
            <a:r>
              <a:rPr lang="en-US" altLang="zh-CN" dirty="0"/>
              <a:t>/</a:t>
            </a:r>
            <a:r>
              <a:rPr lang="zh-CN" altLang="en-US" dirty="0"/>
              <a:t>数转换</a:t>
            </a:r>
            <a:endParaRPr lang="zh-CN" altLang="en-US" dirty="0"/>
          </a:p>
        </p:txBody>
      </p:sp>
      <p:sp>
        <p:nvSpPr>
          <p:cNvPr id="3" name="内容占位符 2"/>
          <p:cNvSpPr>
            <a:spLocks noGrp="1"/>
          </p:cNvSpPr>
          <p:nvPr>
            <p:ph idx="1"/>
          </p:nvPr>
        </p:nvSpPr>
        <p:spPr/>
        <p:txBody>
          <a:bodyPr/>
          <a:lstStyle/>
          <a:p>
            <a:r>
              <a:rPr lang="zh-CN" altLang="en-US" dirty="0"/>
              <a:t>概述</a:t>
            </a:r>
            <a:endParaRPr lang="zh-CN" altLang="en-US" dirty="0"/>
          </a:p>
          <a:p>
            <a:r>
              <a:rPr lang="zh-CN" altLang="en-US" dirty="0"/>
              <a:t>数</a:t>
            </a:r>
            <a:r>
              <a:rPr lang="en-US" altLang="zh-CN" dirty="0"/>
              <a:t>/</a:t>
            </a:r>
            <a:r>
              <a:rPr lang="zh-CN" altLang="en-US" dirty="0"/>
              <a:t>模</a:t>
            </a:r>
            <a:r>
              <a:rPr lang="en-US" altLang="zh-CN" dirty="0"/>
              <a:t>(D/A)</a:t>
            </a:r>
            <a:r>
              <a:rPr lang="zh-CN" altLang="en-US" dirty="0"/>
              <a:t>转换器</a:t>
            </a:r>
            <a:endParaRPr lang="zh-CN" altLang="en-US" dirty="0"/>
          </a:p>
          <a:p>
            <a:r>
              <a:rPr lang="zh-CN" altLang="en-US" dirty="0"/>
              <a:t>模</a:t>
            </a:r>
            <a:r>
              <a:rPr lang="en-US" altLang="zh-CN" dirty="0"/>
              <a:t>/</a:t>
            </a:r>
            <a:r>
              <a:rPr lang="zh-CN" altLang="en-US" dirty="0"/>
              <a:t>数</a:t>
            </a:r>
            <a:r>
              <a:rPr lang="en-US" altLang="zh-CN" dirty="0"/>
              <a:t>(A/D)</a:t>
            </a:r>
            <a:r>
              <a:rPr lang="zh-CN" altLang="en-US" dirty="0"/>
              <a:t>转换器</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zh-CN" altLang="zh-CN"/>
              <a:t>10.1  </a:t>
            </a:r>
            <a:r>
              <a:rPr lang="zh-CN"/>
              <a:t>概述</a:t>
            </a:r>
            <a:endParaRPr lang="zh-CN"/>
          </a:p>
        </p:txBody>
      </p:sp>
      <p:sp>
        <p:nvSpPr>
          <p:cNvPr id="5123" name="Rectangle 3"/>
          <p:cNvSpPr>
            <a:spLocks noGrp="1" noChangeArrowheads="1"/>
          </p:cNvSpPr>
          <p:nvPr>
            <p:ph type="body" idx="1"/>
          </p:nvPr>
        </p:nvSpPr>
        <p:spPr>
          <a:xfrm>
            <a:off x="508000" y="1752600"/>
            <a:ext cx="11432117" cy="4859338"/>
          </a:xfrm>
        </p:spPr>
        <p:txBody>
          <a:bodyPr/>
          <a:lstStyle/>
          <a:p>
            <a:r>
              <a:rPr lang="zh-CN" sz="2400" dirty="0"/>
              <a:t>随着计算机的应用范围越来越广泛，已由过去的单纯的计算工具发展成为现在复杂控制系统的核心部分。人们通过计算机能对生产过程、科学实验以及军事控制系统等实现更加有效的自动控制，这也是微型计算机应用的一个非常重要的领域。</a:t>
            </a:r>
            <a:endParaRPr lang="zh-CN" sz="2400" dirty="0"/>
          </a:p>
          <a:p>
            <a:r>
              <a:rPr lang="zh-CN" sz="2400" dirty="0"/>
              <a:t>在测控系统中，参与测量和控制的物理量，往往是连续变化的模拟量，例如温度、压力、流量、速度、电压、电流等，而计算机只能处理数字量的信息。</a:t>
            </a:r>
            <a:endParaRPr lang="zh-CN" sz="2400" dirty="0"/>
          </a:p>
          <a:p>
            <a:r>
              <a:rPr lang="zh-CN" sz="2400" dirty="0"/>
              <a:t>外界的模拟量要输入计算机，首先要经过模</a:t>
            </a:r>
            <a:r>
              <a:rPr lang="zh-CN" altLang="zh-CN" sz="2400" dirty="0"/>
              <a:t>/</a:t>
            </a:r>
            <a:r>
              <a:rPr lang="zh-CN" sz="2400" dirty="0"/>
              <a:t>数转换器</a:t>
            </a:r>
            <a:r>
              <a:rPr lang="zh-CN" altLang="zh-CN" sz="2400" dirty="0"/>
              <a:t>ADC(Analog-Digital Converter)</a:t>
            </a:r>
            <a:r>
              <a:rPr lang="zh-CN" sz="2400" dirty="0"/>
              <a:t>，将其转换成计算机所能接受的数字量，才能进行运算、加工处理。</a:t>
            </a:r>
            <a:endParaRPr lang="zh-CN" sz="2400" dirty="0"/>
          </a:p>
          <a:p>
            <a:r>
              <a:rPr lang="zh-CN" sz="2400" dirty="0"/>
              <a:t>若计算机的控制对象是模拟量，也必须先把计算机输出的数字量经过数</a:t>
            </a:r>
            <a:r>
              <a:rPr lang="zh-CN" altLang="zh-CN" sz="2400" dirty="0"/>
              <a:t>/</a:t>
            </a:r>
            <a:r>
              <a:rPr lang="zh-CN" sz="2400" dirty="0"/>
              <a:t>模转换器</a:t>
            </a:r>
            <a:r>
              <a:rPr lang="zh-CN" altLang="zh-CN" sz="2400" dirty="0"/>
              <a:t>DAC(Digital-Analog Converter)</a:t>
            </a:r>
            <a:r>
              <a:rPr lang="zh-CN" sz="2400" dirty="0"/>
              <a:t>，将其转换成模拟量形式的控制信号，才能去驱动有关的控制对象。</a:t>
            </a:r>
            <a:endParaRPr lang="zh-CN"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 calcmode="lin" valueType="num">
                                      <p:cBhvr additive="base">
                                        <p:cTn id="7" dur="500" fill="hold"/>
                                        <p:tgtEl>
                                          <p:spTgt spid="51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123">
                                            <p:txEl>
                                              <p:pRg st="1" end="1"/>
                                            </p:txEl>
                                          </p:spTgt>
                                        </p:tgtEl>
                                        <p:attrNameLst>
                                          <p:attrName>style.visibility</p:attrName>
                                        </p:attrNameLst>
                                      </p:cBhvr>
                                      <p:to>
                                        <p:strVal val="visible"/>
                                      </p:to>
                                    </p:set>
                                    <p:anim calcmode="lin" valueType="num">
                                      <p:cBhvr additive="base">
                                        <p:cTn id="13" dur="500" fill="hold"/>
                                        <p:tgtEl>
                                          <p:spTgt spid="512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1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123">
                                            <p:txEl>
                                              <p:pRg st="2" end="2"/>
                                            </p:txEl>
                                          </p:spTgt>
                                        </p:tgtEl>
                                        <p:attrNameLst>
                                          <p:attrName>style.visibility</p:attrName>
                                        </p:attrNameLst>
                                      </p:cBhvr>
                                      <p:to>
                                        <p:strVal val="visible"/>
                                      </p:to>
                                    </p:set>
                                    <p:anim calcmode="lin" valueType="num">
                                      <p:cBhvr additive="base">
                                        <p:cTn id="19" dur="500" fill="hold"/>
                                        <p:tgtEl>
                                          <p:spTgt spid="512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12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123">
                                            <p:txEl>
                                              <p:pRg st="3" end="3"/>
                                            </p:txEl>
                                          </p:spTgt>
                                        </p:tgtEl>
                                        <p:attrNameLst>
                                          <p:attrName>style.visibility</p:attrName>
                                        </p:attrNameLst>
                                      </p:cBhvr>
                                      <p:to>
                                        <p:strVal val="visible"/>
                                      </p:to>
                                    </p:set>
                                    <p:anim calcmode="lin" valueType="num">
                                      <p:cBhvr additive="base">
                                        <p:cTn id="25" dur="500" fill="hold"/>
                                        <p:tgtEl>
                                          <p:spTgt spid="512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12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autoUpdateAnimBg="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10.2 </a:t>
            </a:r>
            <a:r>
              <a:rPr lang="zh-CN" altLang="en-US" dirty="0" smtClean="0"/>
              <a:t>数</a:t>
            </a:r>
            <a:r>
              <a:rPr lang="en-US" altLang="zh-CN" dirty="0"/>
              <a:t>/</a:t>
            </a:r>
            <a:r>
              <a:rPr lang="zh-CN" altLang="en-US" dirty="0"/>
              <a:t>模（</a:t>
            </a:r>
            <a:r>
              <a:rPr lang="en-US" altLang="zh-CN" dirty="0"/>
              <a:t>D/A</a:t>
            </a:r>
            <a:r>
              <a:rPr lang="zh-CN" altLang="en-US" dirty="0"/>
              <a:t>）</a:t>
            </a:r>
            <a:r>
              <a:rPr lang="zh-CN" altLang="en-US" dirty="0" smtClean="0"/>
              <a:t>转换器</a:t>
            </a:r>
            <a:endParaRPr lang="zh-CN" altLang="en-US" dirty="0"/>
          </a:p>
        </p:txBody>
      </p:sp>
      <p:sp>
        <p:nvSpPr>
          <p:cNvPr id="3" name="内容占位符 2"/>
          <p:cNvSpPr>
            <a:spLocks noGrp="1"/>
          </p:cNvSpPr>
          <p:nvPr>
            <p:ph idx="1"/>
          </p:nvPr>
        </p:nvSpPr>
        <p:spPr/>
        <p:txBody>
          <a:bodyPr/>
          <a:lstStyle/>
          <a:p>
            <a:r>
              <a:rPr lang="en-US" altLang="zh-CN" dirty="0" smtClean="0"/>
              <a:t>D/A</a:t>
            </a:r>
            <a:r>
              <a:rPr lang="zh-CN" altLang="en-US" dirty="0"/>
              <a:t>转换原理</a:t>
            </a:r>
            <a:endParaRPr lang="en-US" altLang="zh-CN" dirty="0"/>
          </a:p>
          <a:p>
            <a:r>
              <a:rPr lang="en-US" altLang="zh-CN" dirty="0"/>
              <a:t>D/A</a:t>
            </a:r>
            <a:r>
              <a:rPr lang="zh-CN" altLang="en-US" dirty="0"/>
              <a:t>转换器主要技术参数</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10.2.1 D/A</a:t>
            </a:r>
            <a:r>
              <a:rPr lang="zh-CN" altLang="en-US" dirty="0"/>
              <a:t>转换原理</a:t>
            </a:r>
            <a:endParaRPr lang="zh-CN" altLang="en-US" dirty="0"/>
          </a:p>
        </p:txBody>
      </p:sp>
      <p:sp>
        <p:nvSpPr>
          <p:cNvPr id="3" name="内容占位符 2"/>
          <p:cNvSpPr>
            <a:spLocks noGrp="1"/>
          </p:cNvSpPr>
          <p:nvPr>
            <p:ph idx="1"/>
          </p:nvPr>
        </p:nvSpPr>
        <p:spPr/>
        <p:txBody>
          <a:bodyPr/>
          <a:lstStyle/>
          <a:p>
            <a:r>
              <a:rPr lang="zh-CN" altLang="en-US" dirty="0"/>
              <a:t>数字量是由二进制代码按数位组合起来的，每一位代码都有一定的权。</a:t>
            </a:r>
            <a:endParaRPr lang="zh-CN" altLang="en-US" dirty="0"/>
          </a:p>
          <a:p>
            <a:r>
              <a:rPr lang="zh-CN" altLang="en-US" dirty="0"/>
              <a:t>为了实现数字量到模拟量的转换，必须将每位代码按其权值的大小转换成相应的模拟量，然后将各模拟分量相加，其总和就是与数字量对应的模拟量，这就是</a:t>
            </a:r>
            <a:r>
              <a:rPr lang="en-US" altLang="zh-CN" dirty="0"/>
              <a:t>D/A</a:t>
            </a:r>
            <a:r>
              <a:rPr lang="zh-CN" altLang="en-US" dirty="0"/>
              <a:t>转换的基本原理。</a:t>
            </a:r>
            <a:endParaRPr lang="zh-CN" altLang="en-US" dirty="0"/>
          </a:p>
          <a:p>
            <a:r>
              <a:rPr lang="en-US" altLang="zh-CN" dirty="0"/>
              <a:t>DAC</a:t>
            </a:r>
            <a:r>
              <a:rPr lang="zh-CN" altLang="en-US" dirty="0"/>
              <a:t>集成电路大多采用</a:t>
            </a:r>
            <a:r>
              <a:rPr lang="en-US" altLang="zh-CN" dirty="0"/>
              <a:t>T</a:t>
            </a:r>
            <a:r>
              <a:rPr lang="zh-CN" altLang="en-US" dirty="0"/>
              <a:t>形电阻网络型，在这种电阻网络中，只需要</a:t>
            </a:r>
            <a:r>
              <a:rPr lang="en-US" altLang="zh-CN" dirty="0"/>
              <a:t>R</a:t>
            </a:r>
            <a:r>
              <a:rPr lang="zh-CN" altLang="en-US" dirty="0"/>
              <a:t>和</a:t>
            </a:r>
            <a:r>
              <a:rPr lang="en-US" altLang="zh-CN" dirty="0"/>
              <a:t>2R</a:t>
            </a:r>
            <a:r>
              <a:rPr lang="zh-CN" altLang="en-US" dirty="0"/>
              <a:t>两种电阻。</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D/A</a:t>
            </a:r>
            <a:r>
              <a:rPr lang="zh-CN" altLang="en-US" dirty="0"/>
              <a:t>转换原理</a:t>
            </a:r>
            <a:endParaRPr lang="zh-CN" altLang="en-US" dirty="0"/>
          </a:p>
        </p:txBody>
      </p:sp>
      <p:sp>
        <p:nvSpPr>
          <p:cNvPr id="3" name="内容占位符 2"/>
          <p:cNvSpPr>
            <a:spLocks noGrp="1"/>
          </p:cNvSpPr>
          <p:nvPr>
            <p:ph idx="1"/>
          </p:nvPr>
        </p:nvSpPr>
        <p:spPr/>
        <p:txBody>
          <a:bodyPr/>
          <a:lstStyle/>
          <a:p>
            <a:r>
              <a:rPr lang="zh-CN" altLang="en-US" dirty="0"/>
              <a:t>输入的二进制数字量通过逻辑电路控制电子开关</a:t>
            </a:r>
            <a:r>
              <a:rPr lang="en-US" altLang="zh-CN" dirty="0"/>
              <a:t>S</a:t>
            </a:r>
            <a:r>
              <a:rPr lang="zh-CN" altLang="en-US" dirty="0"/>
              <a:t>：</a:t>
            </a:r>
            <a:endParaRPr lang="zh-CN" altLang="en-US" dirty="0"/>
          </a:p>
          <a:p>
            <a:pPr lvl="1"/>
            <a:r>
              <a:rPr lang="zh-CN" altLang="en-US" dirty="0"/>
              <a:t>该位为</a:t>
            </a:r>
            <a:r>
              <a:rPr lang="en-US" altLang="zh-CN" dirty="0"/>
              <a:t>1</a:t>
            </a:r>
            <a:r>
              <a:rPr lang="zh-CN" altLang="en-US" dirty="0"/>
              <a:t>时，开关与</a:t>
            </a:r>
            <a:r>
              <a:rPr lang="en-US" altLang="zh-CN" dirty="0"/>
              <a:t>IOUT1</a:t>
            </a:r>
            <a:r>
              <a:rPr lang="zh-CN" altLang="en-US" dirty="0"/>
              <a:t>端接通；</a:t>
            </a:r>
            <a:endParaRPr lang="zh-CN" altLang="en-US" dirty="0"/>
          </a:p>
          <a:p>
            <a:pPr lvl="1"/>
            <a:r>
              <a:rPr lang="zh-CN" altLang="en-US" dirty="0"/>
              <a:t>该位为</a:t>
            </a:r>
            <a:r>
              <a:rPr lang="en-US" altLang="zh-CN" dirty="0"/>
              <a:t>0</a:t>
            </a:r>
            <a:r>
              <a:rPr lang="zh-CN" altLang="en-US" dirty="0"/>
              <a:t>时，开关与</a:t>
            </a:r>
            <a:r>
              <a:rPr lang="en-US" altLang="zh-CN" dirty="0"/>
              <a:t>IOUT2</a:t>
            </a:r>
            <a:r>
              <a:rPr lang="zh-CN" altLang="en-US" dirty="0"/>
              <a:t>端接通。</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pic>
        <p:nvPicPr>
          <p:cNvPr id="6"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069749" y="3131927"/>
            <a:ext cx="6052502" cy="3057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D/A</a:t>
            </a:r>
            <a:r>
              <a:rPr lang="zh-CN" altLang="en-US" dirty="0"/>
              <a:t>转换原理</a:t>
            </a:r>
            <a:endParaRPr lang="zh-CN" altLang="en-US" dirty="0"/>
          </a:p>
        </p:txBody>
      </p:sp>
      <p:sp>
        <p:nvSpPr>
          <p:cNvPr id="3" name="内容占位符 2"/>
          <p:cNvSpPr>
            <a:spLocks noGrp="1"/>
          </p:cNvSpPr>
          <p:nvPr>
            <p:ph idx="1"/>
          </p:nvPr>
        </p:nvSpPr>
        <p:spPr>
          <a:xfrm>
            <a:off x="591846" y="1373034"/>
            <a:ext cx="10058400" cy="4411662"/>
          </a:xfrm>
        </p:spPr>
        <p:txBody>
          <a:bodyPr/>
          <a:lstStyle/>
          <a:p>
            <a:r>
              <a:rPr lang="zh-CN" altLang="en-US" dirty="0"/>
              <a:t>根据线性电路的叠加原理，输出电流</a:t>
            </a:r>
            <a:r>
              <a:rPr lang="en-US" altLang="zh-CN" dirty="0"/>
              <a:t>IOUT</a:t>
            </a:r>
            <a:r>
              <a:rPr lang="en-US" altLang="zh-CN" baseline="-25000" dirty="0"/>
              <a:t>1</a:t>
            </a:r>
            <a:r>
              <a:rPr lang="zh-CN" altLang="en-US" dirty="0"/>
              <a:t>为：</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74090" y="1936505"/>
            <a:ext cx="8516644" cy="709041"/>
          </a:xfrm>
          <a:prstGeom prst="rect">
            <a:avLst/>
          </a:prstGeom>
        </p:spPr>
      </p:pic>
      <p:pic>
        <p:nvPicPr>
          <p:cNvPr id="10" name="图片 9"/>
          <p:cNvPicPr>
            <a:picLocks noChangeAspect="1"/>
          </p:cNvPicPr>
          <p:nvPr/>
        </p:nvPicPr>
        <p:blipFill>
          <a:blip r:embed="rId2" cstate="print"/>
          <a:stretch>
            <a:fillRect/>
          </a:stretch>
        </p:blipFill>
        <p:spPr>
          <a:xfrm>
            <a:off x="2825762" y="3866615"/>
            <a:ext cx="7035800" cy="2991385"/>
          </a:xfrm>
          <a:prstGeom prst="rect">
            <a:avLst/>
          </a:prstGeom>
        </p:spPr>
      </p:pic>
      <p:graphicFrame>
        <p:nvGraphicFramePr>
          <p:cNvPr id="1026" name="Object 2"/>
          <p:cNvGraphicFramePr>
            <a:graphicFrameLocks noChangeAspect="1"/>
          </p:cNvGraphicFramePr>
          <p:nvPr/>
        </p:nvGraphicFramePr>
        <p:xfrm>
          <a:off x="489566" y="2929631"/>
          <a:ext cx="10367824" cy="530519"/>
        </p:xfrm>
        <a:graphic>
          <a:graphicData uri="http://schemas.openxmlformats.org/presentationml/2006/ole">
            <mc:AlternateContent xmlns:mc="http://schemas.openxmlformats.org/markup-compatibility/2006">
              <mc:Choice xmlns:v="urn:schemas-microsoft-com:vml" Requires="v">
                <p:oleObj spid="_x0000_s1025" name="" r:id="rId3" imgW="105156000" imgH="5181600" progId="">
                  <p:embed/>
                </p:oleObj>
              </mc:Choice>
              <mc:Fallback>
                <p:oleObj name="" r:id="rId3" imgW="105156000" imgH="5181600" progId="">
                  <p:embed/>
                  <p:pic>
                    <p:nvPicPr>
                      <p:cNvPr id="0" name="图片 1024"/>
                      <p:cNvPicPr>
                        <a:picLocks noChangeAspect="1"/>
                      </p:cNvPicPr>
                      <p:nvPr/>
                    </p:nvPicPr>
                    <p:blipFill>
                      <a:blip r:embed="rId4"/>
                      <a:stretch>
                        <a:fillRect/>
                      </a:stretch>
                    </p:blipFill>
                    <p:spPr>
                      <a:xfrm>
                        <a:off x="489566" y="2929631"/>
                        <a:ext cx="10367824" cy="530519"/>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10.2.2 D/A</a:t>
            </a:r>
            <a:r>
              <a:rPr lang="zh-CN" altLang="en-US" dirty="0"/>
              <a:t>转换器主要技术参数</a:t>
            </a:r>
            <a:endParaRPr lang="zh-CN" altLang="en-US" dirty="0"/>
          </a:p>
        </p:txBody>
      </p:sp>
      <p:sp>
        <p:nvSpPr>
          <p:cNvPr id="3" name="内容占位符 2"/>
          <p:cNvSpPr>
            <a:spLocks noGrp="1"/>
          </p:cNvSpPr>
          <p:nvPr>
            <p:ph idx="1"/>
          </p:nvPr>
        </p:nvSpPr>
        <p:spPr/>
        <p:txBody>
          <a:bodyPr/>
          <a:lstStyle/>
          <a:p>
            <a:pPr marL="0" indent="0">
              <a:buNone/>
            </a:pPr>
            <a:r>
              <a:rPr lang="zh-CN" altLang="en-US" dirty="0"/>
              <a:t>精度</a:t>
            </a:r>
            <a:r>
              <a:rPr lang="en-US" altLang="zh-CN" dirty="0"/>
              <a:t>(Accuracy)</a:t>
            </a:r>
            <a:endParaRPr lang="en-US" altLang="zh-CN" dirty="0"/>
          </a:p>
          <a:p>
            <a:r>
              <a:rPr lang="zh-CN" altLang="en-US" dirty="0"/>
              <a:t>精度用于衡量</a:t>
            </a:r>
            <a:r>
              <a:rPr lang="en-US" altLang="zh-CN" dirty="0"/>
              <a:t>D/A</a:t>
            </a:r>
            <a:r>
              <a:rPr lang="zh-CN" altLang="en-US" dirty="0"/>
              <a:t>转换器在将数字量转换成模拟量时，所得模拟量的精确程度。</a:t>
            </a:r>
            <a:endParaRPr lang="zh-CN" altLang="en-US" dirty="0"/>
          </a:p>
          <a:p>
            <a:r>
              <a:rPr lang="zh-CN" altLang="en-US" dirty="0"/>
              <a:t>它表明模拟输出实际值与理想值之间的偏差，可分为绝对精度与相对精度。</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D/A</a:t>
            </a:r>
            <a:r>
              <a:rPr lang="zh-CN" altLang="en-US" dirty="0"/>
              <a:t>转换器主要技术参数</a:t>
            </a:r>
            <a:endParaRPr lang="zh-CN" altLang="en-US" dirty="0"/>
          </a:p>
        </p:txBody>
      </p:sp>
      <p:sp>
        <p:nvSpPr>
          <p:cNvPr id="3" name="内容占位符 2"/>
          <p:cNvSpPr>
            <a:spLocks noGrp="1"/>
          </p:cNvSpPr>
          <p:nvPr>
            <p:ph idx="1"/>
          </p:nvPr>
        </p:nvSpPr>
        <p:spPr/>
        <p:txBody>
          <a:bodyPr/>
          <a:lstStyle/>
          <a:p>
            <a:pPr marL="0" indent="0">
              <a:buNone/>
            </a:pPr>
            <a:r>
              <a:rPr lang="zh-CN" altLang="en-US" dirty="0"/>
              <a:t>精度</a:t>
            </a:r>
            <a:r>
              <a:rPr lang="en-US" altLang="zh-CN" dirty="0"/>
              <a:t>(Accuracy)</a:t>
            </a:r>
            <a:endParaRPr lang="en-US" altLang="zh-CN" dirty="0"/>
          </a:p>
          <a:p>
            <a:r>
              <a:rPr lang="en-US" altLang="zh-CN" dirty="0"/>
              <a:t>1)</a:t>
            </a:r>
            <a:r>
              <a:rPr lang="zh-CN" altLang="en-US" dirty="0"/>
              <a:t>绝对精度</a:t>
            </a:r>
            <a:r>
              <a:rPr lang="en-US" altLang="zh-CN" dirty="0"/>
              <a:t>(Absolute Accuracy)</a:t>
            </a:r>
            <a:endParaRPr lang="en-US" altLang="zh-CN" dirty="0"/>
          </a:p>
          <a:p>
            <a:pPr marL="0" indent="0">
              <a:buNone/>
            </a:pPr>
            <a:r>
              <a:rPr lang="zh-CN" altLang="en-US" dirty="0"/>
              <a:t>       绝对精度指在数字输入端加入给定的代码时，在输出端实际测出的模拟输出值</a:t>
            </a:r>
            <a:r>
              <a:rPr lang="en-US" altLang="zh-CN" dirty="0"/>
              <a:t>(</a:t>
            </a:r>
            <a:r>
              <a:rPr lang="zh-CN" altLang="en-US" dirty="0"/>
              <a:t>电压或电流</a:t>
            </a:r>
            <a:r>
              <a:rPr lang="en-US" altLang="zh-CN" dirty="0"/>
              <a:t>)</a:t>
            </a:r>
            <a:r>
              <a:rPr lang="zh-CN" altLang="en-US" dirty="0"/>
              <a:t>与应有的理想输出值之差。</a:t>
            </a:r>
            <a:endParaRPr lang="zh-CN" altLang="en-US" dirty="0"/>
          </a:p>
          <a:p>
            <a:pPr marL="0" indent="0">
              <a:buNone/>
            </a:pPr>
            <a:r>
              <a:rPr lang="zh-CN" altLang="en-US" dirty="0"/>
              <a:t>       它是由</a:t>
            </a:r>
            <a:r>
              <a:rPr lang="en-US" altLang="zh-CN" dirty="0"/>
              <a:t>D/A</a:t>
            </a:r>
            <a:r>
              <a:rPr lang="zh-CN" altLang="en-US" dirty="0"/>
              <a:t>的增益误差、零点误差、线性误差和噪声等综合引起的。</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D/A</a:t>
            </a:r>
            <a:r>
              <a:rPr lang="zh-CN" altLang="en-US" dirty="0"/>
              <a:t>转换器主要技术参数</a:t>
            </a:r>
            <a:endParaRPr lang="zh-CN" altLang="en-US" dirty="0"/>
          </a:p>
        </p:txBody>
      </p:sp>
      <p:sp>
        <p:nvSpPr>
          <p:cNvPr id="3" name="内容占位符 2"/>
          <p:cNvSpPr>
            <a:spLocks noGrp="1"/>
          </p:cNvSpPr>
          <p:nvPr>
            <p:ph idx="1"/>
          </p:nvPr>
        </p:nvSpPr>
        <p:spPr/>
        <p:txBody>
          <a:bodyPr/>
          <a:lstStyle/>
          <a:p>
            <a:pPr marL="0" indent="0">
              <a:buNone/>
            </a:pPr>
            <a:r>
              <a:rPr lang="zh-CN" altLang="en-US" dirty="0"/>
              <a:t>精度</a:t>
            </a:r>
            <a:r>
              <a:rPr lang="en-US" altLang="zh-CN" dirty="0"/>
              <a:t>(Accuracy)</a:t>
            </a:r>
            <a:endParaRPr lang="en-US" altLang="zh-CN" dirty="0"/>
          </a:p>
          <a:p>
            <a:r>
              <a:rPr lang="en-US" altLang="zh-CN" dirty="0"/>
              <a:t>2)</a:t>
            </a:r>
            <a:r>
              <a:rPr lang="zh-CN" altLang="en-US" dirty="0"/>
              <a:t>相对精度</a:t>
            </a:r>
            <a:r>
              <a:rPr lang="en-US" altLang="zh-CN" dirty="0"/>
              <a:t>(Relative Accuracy)</a:t>
            </a:r>
            <a:endParaRPr lang="en-US" altLang="zh-CN" dirty="0"/>
          </a:p>
          <a:p>
            <a:pPr marL="0" indent="0">
              <a:buNone/>
            </a:pPr>
            <a:r>
              <a:rPr lang="zh-CN" altLang="en-US" dirty="0"/>
              <a:t>       相对精度指在满量程值校准以后，任一数字输入的模拟输出值与它的理论值之差与满量程电压</a:t>
            </a:r>
            <a:r>
              <a:rPr lang="en-US" altLang="zh-CN" dirty="0"/>
              <a:t>(</a:t>
            </a:r>
            <a:r>
              <a:rPr lang="zh-CN" altLang="en-US" dirty="0"/>
              <a:t>满度值</a:t>
            </a:r>
            <a:r>
              <a:rPr lang="en-US" altLang="zh-CN" dirty="0"/>
              <a:t>)V</a:t>
            </a:r>
            <a:r>
              <a:rPr lang="en-US" altLang="zh-CN" baseline="-25000" dirty="0"/>
              <a:t>FS</a:t>
            </a:r>
            <a:r>
              <a:rPr lang="zh-CN" altLang="en-US" dirty="0"/>
              <a:t>的比值，实际上就是</a:t>
            </a:r>
            <a:r>
              <a:rPr lang="en-US" altLang="zh-CN" dirty="0"/>
              <a:t>D/A</a:t>
            </a:r>
            <a:r>
              <a:rPr lang="zh-CN" altLang="en-US" dirty="0"/>
              <a:t>转换的线性度。</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D/A</a:t>
            </a:r>
            <a:r>
              <a:rPr lang="zh-CN" altLang="en-US" dirty="0"/>
              <a:t>转换器主要技术参数</a:t>
            </a:r>
            <a:endParaRPr lang="zh-CN" altLang="en-US" dirty="0"/>
          </a:p>
        </p:txBody>
      </p:sp>
      <p:sp>
        <p:nvSpPr>
          <p:cNvPr id="3" name="内容占位符 2"/>
          <p:cNvSpPr>
            <a:spLocks noGrp="1"/>
          </p:cNvSpPr>
          <p:nvPr>
            <p:ph idx="1"/>
          </p:nvPr>
        </p:nvSpPr>
        <p:spPr/>
        <p:txBody>
          <a:bodyPr/>
          <a:lstStyle/>
          <a:p>
            <a:r>
              <a:rPr lang="zh-CN" altLang="en-US" dirty="0" smtClean="0"/>
              <a:t>分辨率（</a:t>
            </a:r>
            <a:r>
              <a:rPr lang="en-US" altLang="zh-CN" dirty="0" smtClean="0"/>
              <a:t>Resolution)</a:t>
            </a:r>
            <a:r>
              <a:rPr lang="zh-CN" altLang="en-US" dirty="0" smtClean="0"/>
              <a:t>是指</a:t>
            </a:r>
            <a:r>
              <a:rPr lang="en-US" altLang="zh-CN" dirty="0" smtClean="0"/>
              <a:t>D/A</a:t>
            </a:r>
            <a:r>
              <a:rPr lang="zh-CN" altLang="en-US" dirty="0" smtClean="0"/>
              <a:t>转换器所能产生的最小模拟量增量，通常用输入数字量的最低有效位（</a:t>
            </a:r>
            <a:r>
              <a:rPr lang="en-US" altLang="zh-CN" dirty="0" smtClean="0"/>
              <a:t>LSB)</a:t>
            </a:r>
            <a:r>
              <a:rPr lang="zh-CN" altLang="en-US" dirty="0" smtClean="0"/>
              <a:t>对应的输出模拟电压值来表示，通常用二进制数的位数表示，如分辨率为</a:t>
            </a:r>
            <a:r>
              <a:rPr lang="en-US" altLang="zh-CN" dirty="0" smtClean="0"/>
              <a:t>8</a:t>
            </a:r>
            <a:r>
              <a:rPr lang="zh-CN" altLang="en-US" dirty="0" smtClean="0"/>
              <a:t>位的</a:t>
            </a:r>
            <a:r>
              <a:rPr lang="en-US" altLang="zh-CN" dirty="0" smtClean="0"/>
              <a:t>DAC</a:t>
            </a:r>
            <a:r>
              <a:rPr lang="zh-CN" altLang="en-US" dirty="0" smtClean="0"/>
              <a:t>能给出满量程电压的        的分辨能力。</a:t>
            </a:r>
            <a:endParaRPr lang="en-US" altLang="zh-CN" dirty="0" smtClean="0"/>
          </a:p>
          <a:p>
            <a:r>
              <a:rPr lang="zh-CN" altLang="en-US" dirty="0" smtClean="0"/>
              <a:t>分辨率</a:t>
            </a:r>
            <a:r>
              <a:rPr lang="zh-CN" altLang="en-US" dirty="0"/>
              <a:t>取决于转换器的位数，而精度则取决于转换器各个部件的精度和稳定性。</a:t>
            </a:r>
            <a:endParaRPr lang="zh-CN" altLang="en-US" dirty="0"/>
          </a:p>
          <a:p>
            <a:r>
              <a:rPr lang="zh-CN" altLang="en-US" dirty="0"/>
              <a:t>分辨率很高的</a:t>
            </a:r>
            <a:r>
              <a:rPr lang="en-US" altLang="zh-CN" dirty="0"/>
              <a:t>D/A</a:t>
            </a:r>
            <a:r>
              <a:rPr lang="zh-CN" altLang="en-US" dirty="0"/>
              <a:t>转换器不一定具有很高的精度，分辨率不高的</a:t>
            </a:r>
            <a:r>
              <a:rPr lang="en-US" altLang="zh-CN" dirty="0"/>
              <a:t>D/A</a:t>
            </a:r>
            <a:r>
              <a:rPr lang="zh-CN" altLang="en-US" dirty="0"/>
              <a:t>转换器则肯定不会有很高的精度。</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graphicFrame>
        <p:nvGraphicFramePr>
          <p:cNvPr id="6" name="对象 5"/>
          <p:cNvGraphicFramePr>
            <a:graphicFrameLocks noChangeAspect="1"/>
          </p:cNvGraphicFramePr>
          <p:nvPr/>
        </p:nvGraphicFramePr>
        <p:xfrm>
          <a:off x="5356207" y="3064622"/>
          <a:ext cx="673100" cy="450850"/>
        </p:xfrm>
        <a:graphic>
          <a:graphicData uri="http://schemas.openxmlformats.org/presentationml/2006/ole">
            <mc:AlternateContent xmlns:mc="http://schemas.openxmlformats.org/markup-compatibility/2006">
              <mc:Choice xmlns:v="urn:schemas-microsoft-com:vml" Requires="v">
                <p:oleObj spid="_x0000_s2049" name="Equation" r:id="rId1" imgW="7315200" imgH="4876800" progId="Equation.DSMT4">
                  <p:embed/>
                </p:oleObj>
              </mc:Choice>
              <mc:Fallback>
                <p:oleObj name="Equation" r:id="rId1" imgW="7315200" imgH="4876800" progId="Equation.DSMT4">
                  <p:embed/>
                  <p:pic>
                    <p:nvPicPr>
                      <p:cNvPr id="0" name="图片 2048"/>
                      <p:cNvPicPr>
                        <a:picLocks noChangeAspect="1"/>
                      </p:cNvPicPr>
                      <p:nvPr/>
                    </p:nvPicPr>
                    <p:blipFill>
                      <a:blip r:embed="rId2"/>
                      <a:stretch>
                        <a:fillRect/>
                      </a:stretch>
                    </p:blipFill>
                    <p:spPr>
                      <a:xfrm>
                        <a:off x="5356207" y="3064622"/>
                        <a:ext cx="673100" cy="45085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D/A</a:t>
            </a:r>
            <a:r>
              <a:rPr lang="zh-CN" altLang="en-US" dirty="0"/>
              <a:t>转换器主要技术参数</a:t>
            </a:r>
            <a:endParaRPr lang="zh-CN" altLang="en-US" dirty="0"/>
          </a:p>
        </p:txBody>
      </p:sp>
      <p:sp>
        <p:nvSpPr>
          <p:cNvPr id="3" name="内容占位符 2"/>
          <p:cNvSpPr>
            <a:spLocks noGrp="1"/>
          </p:cNvSpPr>
          <p:nvPr>
            <p:ph idx="1"/>
          </p:nvPr>
        </p:nvSpPr>
        <p:spPr/>
        <p:txBody>
          <a:bodyPr/>
          <a:lstStyle/>
          <a:p>
            <a:pPr marL="0" indent="0">
              <a:buNone/>
            </a:pPr>
            <a:r>
              <a:rPr lang="zh-CN" altLang="en-US" dirty="0"/>
              <a:t>转换速度</a:t>
            </a:r>
            <a:endParaRPr lang="zh-CN" altLang="en-US" dirty="0"/>
          </a:p>
          <a:p>
            <a:r>
              <a:rPr lang="zh-CN" altLang="en-US" dirty="0"/>
              <a:t>通常用建立时间</a:t>
            </a:r>
            <a:r>
              <a:rPr lang="en-US" altLang="zh-CN" dirty="0" err="1"/>
              <a:t>tset</a:t>
            </a:r>
            <a:r>
              <a:rPr lang="zh-CN" altLang="en-US" dirty="0"/>
              <a:t>来定量描述</a:t>
            </a:r>
            <a:r>
              <a:rPr lang="en-US" altLang="zh-CN" dirty="0"/>
              <a:t>D/A</a:t>
            </a:r>
            <a:r>
              <a:rPr lang="zh-CN" altLang="en-US" dirty="0"/>
              <a:t>转换器的转换速度。</a:t>
            </a:r>
            <a:endParaRPr lang="zh-CN" altLang="en-US" dirty="0"/>
          </a:p>
          <a:p>
            <a:r>
              <a:rPr lang="zh-CN" altLang="en-US" dirty="0">
                <a:solidFill>
                  <a:srgbClr val="FF0000"/>
                </a:solidFill>
              </a:rPr>
              <a:t>建立时间：</a:t>
            </a:r>
            <a:r>
              <a:rPr lang="zh-CN" altLang="en-US" dirty="0"/>
              <a:t>从输入的数字量发生突变开始，直到输出电压进入与稳态值相差</a:t>
            </a:r>
            <a:r>
              <a:rPr lang="en-US" altLang="zh-CN" dirty="0"/>
              <a:t>±1/2LSB</a:t>
            </a:r>
            <a:r>
              <a:rPr lang="zh-CN" altLang="en-US" dirty="0"/>
              <a:t>范围以内的这段时间。</a:t>
            </a:r>
            <a:endParaRPr lang="zh-CN" altLang="en-US" dirty="0"/>
          </a:p>
          <a:p>
            <a:r>
              <a:rPr lang="zh-CN" altLang="en-US" dirty="0"/>
              <a:t>一般产品说明书中给出的都是输入从全</a:t>
            </a:r>
            <a:r>
              <a:rPr lang="en-US" altLang="zh-CN" dirty="0"/>
              <a:t>0</a:t>
            </a:r>
            <a:r>
              <a:rPr lang="zh-CN" altLang="en-US" dirty="0"/>
              <a:t>跳变为全</a:t>
            </a:r>
            <a:r>
              <a:rPr lang="en-US" altLang="zh-CN" dirty="0"/>
              <a:t>1</a:t>
            </a:r>
            <a:r>
              <a:rPr lang="zh-CN" altLang="en-US" dirty="0"/>
              <a:t>（或从全</a:t>
            </a:r>
            <a:r>
              <a:rPr lang="en-US" altLang="zh-CN" dirty="0"/>
              <a:t>1</a:t>
            </a:r>
            <a:r>
              <a:rPr lang="zh-CN" altLang="en-US" dirty="0"/>
              <a:t>跳变为全</a:t>
            </a:r>
            <a:r>
              <a:rPr lang="en-US" altLang="zh-CN" dirty="0"/>
              <a:t>0</a:t>
            </a:r>
            <a:r>
              <a:rPr lang="zh-CN" altLang="en-US" dirty="0"/>
              <a:t>）时的建立时间。</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小结</a:t>
            </a:r>
            <a:endParaRPr lang="zh-CN" altLang="en-US" dirty="0"/>
          </a:p>
        </p:txBody>
      </p:sp>
      <p:sp>
        <p:nvSpPr>
          <p:cNvPr id="3" name="内容占位符 2"/>
          <p:cNvSpPr>
            <a:spLocks noGrp="1"/>
          </p:cNvSpPr>
          <p:nvPr>
            <p:ph idx="1"/>
          </p:nvPr>
        </p:nvSpPr>
        <p:spPr/>
        <p:txBody>
          <a:bodyPr/>
          <a:lstStyle/>
          <a:p>
            <a:r>
              <a:rPr lang="zh-CN" altLang="en-US" dirty="0"/>
              <a:t>本节课重点讲授了：</a:t>
            </a:r>
            <a:endParaRPr lang="zh-CN" altLang="en-US" dirty="0"/>
          </a:p>
          <a:p>
            <a:r>
              <a:rPr lang="en-US" altLang="zh-CN" dirty="0"/>
              <a:t>T</a:t>
            </a:r>
            <a:r>
              <a:rPr lang="zh-CN" altLang="en-US" dirty="0"/>
              <a:t>形电阻网络型</a:t>
            </a:r>
            <a:r>
              <a:rPr lang="en-US" altLang="zh-CN" dirty="0"/>
              <a:t>D/A</a:t>
            </a:r>
            <a:r>
              <a:rPr lang="zh-CN" altLang="en-US" dirty="0"/>
              <a:t>转换的基本原理。</a:t>
            </a:r>
            <a:endParaRPr lang="zh-CN" altLang="en-US" dirty="0"/>
          </a:p>
          <a:p>
            <a:r>
              <a:rPr lang="en-US" altLang="zh-CN" dirty="0"/>
              <a:t>D/A</a:t>
            </a:r>
            <a:r>
              <a:rPr lang="zh-CN" altLang="en-US" dirty="0"/>
              <a:t>转换器主要技术参数：分辨率、精度、转换速度。</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10.2.3 DAC0832</a:t>
            </a:r>
            <a:r>
              <a:rPr lang="zh-CN" altLang="en-US" dirty="0"/>
              <a:t>及接口电路</a:t>
            </a:r>
            <a:endParaRPr lang="zh-CN" altLang="en-US" dirty="0"/>
          </a:p>
        </p:txBody>
      </p:sp>
      <p:sp>
        <p:nvSpPr>
          <p:cNvPr id="3" name="内容占位符 2"/>
          <p:cNvSpPr>
            <a:spLocks noGrp="1"/>
          </p:cNvSpPr>
          <p:nvPr>
            <p:ph idx="1"/>
          </p:nvPr>
        </p:nvSpPr>
        <p:spPr/>
        <p:txBody>
          <a:bodyPr/>
          <a:lstStyle/>
          <a:p>
            <a:r>
              <a:rPr lang="en-US" altLang="zh-CN" dirty="0"/>
              <a:t>DAC0832</a:t>
            </a:r>
            <a:endParaRPr lang="en-US" altLang="zh-CN" dirty="0"/>
          </a:p>
          <a:p>
            <a:r>
              <a:rPr lang="en-US" altLang="zh-CN" dirty="0"/>
              <a:t>DAC0832</a:t>
            </a:r>
            <a:r>
              <a:rPr lang="zh-CN" altLang="en-US" dirty="0"/>
              <a:t>与</a:t>
            </a:r>
            <a:r>
              <a:rPr lang="en-US" altLang="zh-CN" dirty="0"/>
              <a:t>CPU</a:t>
            </a:r>
            <a:r>
              <a:rPr lang="zh-CN" altLang="en-US" dirty="0"/>
              <a:t>的接口</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DAC0832</a:t>
            </a:r>
            <a:endParaRPr lang="zh-CN" altLang="en-US" dirty="0"/>
          </a:p>
        </p:txBody>
      </p:sp>
      <p:sp>
        <p:nvSpPr>
          <p:cNvPr id="3" name="内容占位符 2"/>
          <p:cNvSpPr>
            <a:spLocks noGrp="1"/>
          </p:cNvSpPr>
          <p:nvPr>
            <p:ph idx="1"/>
          </p:nvPr>
        </p:nvSpPr>
        <p:spPr/>
        <p:txBody>
          <a:bodyPr/>
          <a:lstStyle/>
          <a:p>
            <a:pPr marL="0" indent="0">
              <a:buNone/>
            </a:pPr>
            <a:r>
              <a:rPr lang="zh-CN" altLang="en-US" dirty="0"/>
              <a:t>概述</a:t>
            </a:r>
            <a:endParaRPr lang="zh-CN" altLang="en-US" dirty="0"/>
          </a:p>
          <a:p>
            <a:r>
              <a:rPr lang="en-US" altLang="zh-CN" dirty="0"/>
              <a:t>DAC0832</a:t>
            </a:r>
            <a:r>
              <a:rPr lang="zh-CN" altLang="en-US" dirty="0"/>
              <a:t>是美国国家半导体公司生产的</a:t>
            </a:r>
            <a:r>
              <a:rPr lang="en-US" altLang="zh-CN" dirty="0"/>
              <a:t>8</a:t>
            </a:r>
            <a:r>
              <a:rPr lang="zh-CN" altLang="en-US" dirty="0"/>
              <a:t>位</a:t>
            </a:r>
            <a:r>
              <a:rPr lang="en-US" altLang="zh-CN" dirty="0"/>
              <a:t>D/A</a:t>
            </a:r>
            <a:r>
              <a:rPr lang="zh-CN" altLang="en-US" dirty="0"/>
              <a:t>转换芯片，采用</a:t>
            </a:r>
            <a:r>
              <a:rPr lang="en-US" altLang="zh-CN" dirty="0"/>
              <a:t>T</a:t>
            </a:r>
            <a:r>
              <a:rPr lang="zh-CN" altLang="en-US" dirty="0"/>
              <a:t>形电阻网络。</a:t>
            </a:r>
            <a:endParaRPr lang="zh-CN" altLang="en-US" dirty="0"/>
          </a:p>
          <a:p>
            <a:r>
              <a:rPr lang="zh-CN" altLang="en-US" dirty="0"/>
              <a:t>典型的</a:t>
            </a:r>
            <a:r>
              <a:rPr lang="en-US" altLang="zh-CN" dirty="0"/>
              <a:t>8</a:t>
            </a:r>
            <a:r>
              <a:rPr lang="zh-CN" altLang="en-US" dirty="0"/>
              <a:t>位电流输出型通用</a:t>
            </a:r>
            <a:r>
              <a:rPr lang="en-US" altLang="zh-CN" dirty="0"/>
              <a:t>DAC</a:t>
            </a:r>
            <a:r>
              <a:rPr lang="zh-CN" altLang="en-US" dirty="0"/>
              <a:t>芯片。</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8"/>
            <a:ext cx="10058400" cy="546100"/>
          </a:xfrm>
        </p:spPr>
        <p:txBody>
          <a:bodyPr/>
          <a:lstStyle/>
          <a:p>
            <a:r>
              <a:rPr lang="en-US" altLang="zh-CN" dirty="0"/>
              <a:t>DAC0832</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pic>
        <p:nvPicPr>
          <p:cNvPr id="7" name="图片 6"/>
          <p:cNvPicPr>
            <a:picLocks noChangeAspect="1"/>
          </p:cNvPicPr>
          <p:nvPr/>
        </p:nvPicPr>
        <p:blipFill>
          <a:blip r:embed="rId1" cstate="print"/>
          <a:stretch>
            <a:fillRect/>
          </a:stretch>
        </p:blipFill>
        <p:spPr>
          <a:xfrm>
            <a:off x="1108597" y="1537149"/>
            <a:ext cx="9051403" cy="4652513"/>
          </a:xfrm>
          <a:prstGeom prst="rect">
            <a:avLst/>
          </a:prstGeom>
        </p:spPr>
      </p:pic>
      <p:sp>
        <p:nvSpPr>
          <p:cNvPr id="9" name="文本框 8"/>
          <p:cNvSpPr txBox="1"/>
          <p:nvPr/>
        </p:nvSpPr>
        <p:spPr>
          <a:xfrm>
            <a:off x="4061126" y="870092"/>
            <a:ext cx="5872583" cy="523220"/>
          </a:xfrm>
          <a:prstGeom prst="rect">
            <a:avLst/>
          </a:prstGeom>
          <a:noFill/>
        </p:spPr>
        <p:txBody>
          <a:bodyPr wrap="square">
            <a:spAutoFit/>
          </a:bodyPr>
          <a:lstStyle/>
          <a:p>
            <a:r>
              <a:rPr lang="zh-CN" altLang="en-US" sz="2800" dirty="0"/>
              <a:t>主要引脚</a:t>
            </a:r>
            <a:endParaRPr lang="zh-CN" altLang="en-US" sz="2800" dirty="0"/>
          </a:p>
        </p:txBody>
      </p:sp>
      <p:sp>
        <p:nvSpPr>
          <p:cNvPr id="10" name="对话气泡: 矩形 9"/>
          <p:cNvSpPr/>
          <p:nvPr/>
        </p:nvSpPr>
        <p:spPr bwMode="auto">
          <a:xfrm>
            <a:off x="374073" y="322623"/>
            <a:ext cx="3080327" cy="1371167"/>
          </a:xfrm>
          <a:prstGeom prst="wedgeRectCallout">
            <a:avLst>
              <a:gd name="adj1" fmla="val -5707"/>
              <a:gd name="adj2" fmla="val 89781"/>
            </a:avLst>
          </a:prstGeom>
          <a:solidFill>
            <a:srgbClr val="00B0F0"/>
          </a:solidFill>
          <a:ln w="9525"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lstStyle/>
          <a:p>
            <a:pPr eaLnBrk="0" fontAlgn="base" hangingPunct="0">
              <a:spcBef>
                <a:spcPct val="0"/>
              </a:spcBef>
              <a:spcAft>
                <a:spcPct val="0"/>
              </a:spcAft>
            </a:pPr>
            <a:r>
              <a:rPr lang="en-US" altLang="zh-CN" sz="2800" b="1" dirty="0"/>
              <a:t>8</a:t>
            </a:r>
            <a:r>
              <a:rPr lang="zh-CN" altLang="en-US" sz="2800" dirty="0"/>
              <a:t>位数字量输入信号，可直接与</a:t>
            </a:r>
            <a:r>
              <a:rPr lang="en-US" altLang="zh-CN" sz="2800" b="1" dirty="0"/>
              <a:t>CPU</a:t>
            </a:r>
            <a:r>
              <a:rPr lang="zh-CN" altLang="en-US" sz="2800" dirty="0"/>
              <a:t>的数据线相连接</a:t>
            </a:r>
            <a:endParaRPr kumimoji="0" lang="zh-CN" altLang="en-US" sz="2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12" name="对话气泡: 矩形 11"/>
          <p:cNvSpPr/>
          <p:nvPr/>
        </p:nvSpPr>
        <p:spPr bwMode="auto">
          <a:xfrm>
            <a:off x="5091545" y="4739242"/>
            <a:ext cx="6726382" cy="1450420"/>
          </a:xfrm>
          <a:prstGeom prst="wedgeRectCallout">
            <a:avLst>
              <a:gd name="adj1" fmla="val 8263"/>
              <a:gd name="adj2" fmla="val -156574"/>
            </a:avLst>
          </a:prstGeom>
          <a:solidFill>
            <a:srgbClr val="00B0F0"/>
          </a:solidFill>
          <a:ln w="9525"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lstStyle/>
          <a:p>
            <a:pPr eaLnBrk="0" fontAlgn="base" hangingPunct="0">
              <a:spcBef>
                <a:spcPct val="0"/>
              </a:spcBef>
              <a:spcAft>
                <a:spcPct val="0"/>
              </a:spcAft>
            </a:pPr>
            <a:r>
              <a:rPr lang="zh-CN" altLang="en-US" sz="2800" b="1" dirty="0"/>
              <a:t>模拟电流输出</a:t>
            </a:r>
            <a:r>
              <a:rPr lang="en-US" altLang="zh-CN" sz="2800" b="1" dirty="0"/>
              <a:t>1</a:t>
            </a:r>
            <a:r>
              <a:rPr lang="zh-CN" altLang="en-US" sz="2800" b="1" dirty="0"/>
              <a:t>。当输入数字为全“</a:t>
            </a:r>
            <a:r>
              <a:rPr lang="en-US" altLang="zh-CN" sz="2800" b="1" dirty="0"/>
              <a:t>1”</a:t>
            </a:r>
            <a:r>
              <a:rPr lang="zh-CN" altLang="en-US" sz="2800" b="1" dirty="0"/>
              <a:t>时，其值最大，为</a:t>
            </a:r>
            <a:r>
              <a:rPr lang="en-US" altLang="zh-CN" sz="2800" b="1" dirty="0"/>
              <a:t>(255/256)(VREF/</a:t>
            </a:r>
            <a:r>
              <a:rPr lang="en-US" altLang="zh-CN" sz="2800" b="1" dirty="0" err="1"/>
              <a:t>Rfb</a:t>
            </a:r>
            <a:r>
              <a:rPr lang="en-US" altLang="zh-CN" sz="2800" b="1" dirty="0"/>
              <a:t>)</a:t>
            </a:r>
            <a:r>
              <a:rPr lang="zh-CN" altLang="en-US" sz="2800" b="1" dirty="0"/>
              <a:t>；当输入数字为全“</a:t>
            </a:r>
            <a:r>
              <a:rPr lang="en-US" altLang="zh-CN" sz="2800" b="1" dirty="0"/>
              <a:t>0”</a:t>
            </a:r>
            <a:r>
              <a:rPr lang="zh-CN" altLang="en-US" sz="2800" b="1" dirty="0"/>
              <a:t>时，其值最小</a:t>
            </a:r>
            <a:endParaRPr kumimoji="0" lang="zh-CN" altLang="en-US" sz="2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13" name="对话气泡: 矩形 12"/>
          <p:cNvSpPr/>
          <p:nvPr/>
        </p:nvSpPr>
        <p:spPr bwMode="auto">
          <a:xfrm>
            <a:off x="5877101" y="2871001"/>
            <a:ext cx="6266408" cy="602673"/>
          </a:xfrm>
          <a:prstGeom prst="wedgeRectCallout">
            <a:avLst>
              <a:gd name="adj1" fmla="val 3739"/>
              <a:gd name="adj2" fmla="val -99224"/>
            </a:avLst>
          </a:prstGeom>
          <a:solidFill>
            <a:srgbClr val="00B0F0"/>
          </a:solidFill>
          <a:ln w="9525"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lstStyle/>
          <a:p>
            <a:pPr eaLnBrk="0" fontAlgn="base" hangingPunct="0">
              <a:spcBef>
                <a:spcPct val="0"/>
              </a:spcBef>
              <a:spcAft>
                <a:spcPct val="0"/>
              </a:spcAft>
            </a:pPr>
            <a:r>
              <a:rPr lang="zh-CN" altLang="en-US" sz="2800" b="1" dirty="0"/>
              <a:t>模拟电流输出</a:t>
            </a:r>
            <a:r>
              <a:rPr lang="en-US" altLang="zh-CN" sz="2800" b="1" dirty="0"/>
              <a:t>2</a:t>
            </a:r>
            <a:r>
              <a:rPr lang="zh-CN" altLang="en-US" sz="2800" b="1" dirty="0"/>
              <a:t>。</a:t>
            </a:r>
            <a:r>
              <a:rPr lang="en-US" altLang="zh-CN" sz="2800" b="1" dirty="0"/>
              <a:t>I</a:t>
            </a:r>
            <a:r>
              <a:rPr lang="en-US" altLang="zh-CN" sz="2800" b="1" baseline="-25000" dirty="0"/>
              <a:t>OUT1</a:t>
            </a:r>
            <a:r>
              <a:rPr lang="en-US" altLang="zh-CN" sz="2800" b="1" dirty="0"/>
              <a:t>+ I</a:t>
            </a:r>
            <a:r>
              <a:rPr lang="en-US" altLang="zh-CN" sz="2800" b="1" baseline="-25000" dirty="0"/>
              <a:t>OUT2</a:t>
            </a:r>
            <a:r>
              <a:rPr lang="en-US" altLang="zh-CN" sz="2800" b="1" dirty="0"/>
              <a:t>=</a:t>
            </a:r>
            <a:r>
              <a:rPr lang="zh-CN" altLang="en-US" sz="2800" b="1" dirty="0"/>
              <a:t>常量。</a:t>
            </a:r>
            <a:endParaRPr kumimoji="0" lang="zh-CN" altLang="en-US" sz="2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14" name="对话气泡: 矩形 13"/>
          <p:cNvSpPr/>
          <p:nvPr/>
        </p:nvSpPr>
        <p:spPr bwMode="auto">
          <a:xfrm>
            <a:off x="7476603" y="165982"/>
            <a:ext cx="4341324" cy="1371167"/>
          </a:xfrm>
          <a:prstGeom prst="wedgeRectCallout">
            <a:avLst>
              <a:gd name="adj1" fmla="val 5782"/>
              <a:gd name="adj2" fmla="val 76141"/>
            </a:avLst>
          </a:prstGeom>
          <a:solidFill>
            <a:srgbClr val="00B0F0"/>
          </a:solidFill>
          <a:ln w="9525"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lstStyle/>
          <a:p>
            <a:pPr eaLnBrk="0" fontAlgn="base" hangingPunct="0">
              <a:spcBef>
                <a:spcPct val="0"/>
              </a:spcBef>
              <a:spcAft>
                <a:spcPct val="0"/>
              </a:spcAft>
            </a:pPr>
            <a:r>
              <a:rPr lang="zh-CN" altLang="en-US" sz="2800" b="1" dirty="0"/>
              <a:t>参考电压输入端。可接正电压，也可接负电压，范围为</a:t>
            </a:r>
            <a:r>
              <a:rPr lang="en-US" altLang="zh-CN" sz="2800" b="1" dirty="0"/>
              <a:t>-10V~+10V</a:t>
            </a:r>
            <a:r>
              <a:rPr lang="zh-CN" altLang="en-US" sz="2800" b="1" dirty="0"/>
              <a:t>。</a:t>
            </a:r>
            <a:endParaRPr kumimoji="0" lang="zh-CN" altLang="en-US" sz="2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15" name="对话气泡: 矩形 14"/>
          <p:cNvSpPr/>
          <p:nvPr/>
        </p:nvSpPr>
        <p:spPr bwMode="auto">
          <a:xfrm>
            <a:off x="2387949" y="2580409"/>
            <a:ext cx="2473036" cy="762000"/>
          </a:xfrm>
          <a:prstGeom prst="wedgeRectCallout">
            <a:avLst>
              <a:gd name="adj1" fmla="val -58648"/>
              <a:gd name="adj2" fmla="val 97963"/>
            </a:avLst>
          </a:prstGeom>
          <a:solidFill>
            <a:srgbClr val="00B0F0"/>
          </a:solidFill>
          <a:ln w="9525"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lstStyle/>
          <a:p>
            <a:pPr eaLnBrk="0" fontAlgn="base" hangingPunct="0">
              <a:spcBef>
                <a:spcPct val="0"/>
              </a:spcBef>
              <a:spcAft>
                <a:spcPct val="0"/>
              </a:spcAft>
            </a:pPr>
            <a:r>
              <a:rPr lang="zh-CN" altLang="en-US" sz="2800" b="1" dirty="0"/>
              <a:t>输入寄存器的允许信号</a:t>
            </a:r>
            <a:endParaRPr kumimoji="0" lang="zh-CN" altLang="en-US" sz="2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16" name="对话气泡: 矩形 15"/>
          <p:cNvSpPr/>
          <p:nvPr/>
        </p:nvSpPr>
        <p:spPr bwMode="auto">
          <a:xfrm>
            <a:off x="2604655" y="5052725"/>
            <a:ext cx="2473036" cy="457200"/>
          </a:xfrm>
          <a:prstGeom prst="wedgeRectCallout">
            <a:avLst>
              <a:gd name="adj1" fmla="val -67052"/>
              <a:gd name="adj2" fmla="val 157963"/>
            </a:avLst>
          </a:prstGeom>
          <a:solidFill>
            <a:srgbClr val="00B0F0"/>
          </a:solidFill>
          <a:ln w="9525"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lstStyle/>
          <a:p>
            <a:pPr eaLnBrk="0" fontAlgn="base" hangingPunct="0">
              <a:spcBef>
                <a:spcPct val="0"/>
              </a:spcBef>
              <a:spcAft>
                <a:spcPct val="0"/>
              </a:spcAft>
            </a:pPr>
            <a:r>
              <a:rPr lang="zh-CN" altLang="en-US" sz="2800" b="1" dirty="0"/>
              <a:t>传送控制信号</a:t>
            </a:r>
            <a:endParaRPr kumimoji="0" lang="zh-CN" altLang="en-US" sz="2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linds(horizontal)">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blinds(horizontal)">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linds(horizont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blinds(horizontal)">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blinds(horizontal)">
                                      <p:cBhvr>
                                        <p:cTn id="3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3" grpId="0" animBg="1"/>
      <p:bldP spid="14" grpId="0" animBg="1"/>
      <p:bldP spid="15" grpId="0" animBg="1"/>
      <p:bldP spid="1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DAC0832</a:t>
            </a:r>
            <a:endParaRPr lang="zh-CN" altLang="en-US" dirty="0"/>
          </a:p>
        </p:txBody>
      </p:sp>
      <p:sp>
        <p:nvSpPr>
          <p:cNvPr id="3" name="内容占位符 2"/>
          <p:cNvSpPr>
            <a:spLocks noGrp="1"/>
          </p:cNvSpPr>
          <p:nvPr>
            <p:ph idx="1"/>
          </p:nvPr>
        </p:nvSpPr>
        <p:spPr>
          <a:xfrm>
            <a:off x="609601" y="1719263"/>
            <a:ext cx="5486399" cy="4411662"/>
          </a:xfrm>
        </p:spPr>
        <p:txBody>
          <a:bodyPr/>
          <a:lstStyle/>
          <a:p>
            <a:pPr marL="0" indent="0">
              <a:buNone/>
            </a:pPr>
            <a:r>
              <a:rPr lang="en-US" altLang="zh-CN" dirty="0"/>
              <a:t>DAC0832</a:t>
            </a:r>
            <a:r>
              <a:rPr lang="zh-CN" altLang="en-US" dirty="0"/>
              <a:t>的工作方式：直通方式</a:t>
            </a:r>
            <a:endParaRPr lang="zh-CN" altLang="en-US" dirty="0"/>
          </a:p>
          <a:p>
            <a:r>
              <a:rPr lang="zh-CN" altLang="en-US" dirty="0"/>
              <a:t>当</a:t>
            </a:r>
            <a:r>
              <a:rPr lang="en-US" altLang="zh-CN" dirty="0"/>
              <a:t>CS</a:t>
            </a:r>
            <a:r>
              <a:rPr lang="zh-CN" altLang="en-US" dirty="0"/>
              <a:t>、</a:t>
            </a:r>
            <a:r>
              <a:rPr lang="en-US" altLang="zh-CN" dirty="0"/>
              <a:t>WR</a:t>
            </a:r>
            <a:r>
              <a:rPr lang="en-US" altLang="zh-CN" baseline="-25000" dirty="0"/>
              <a:t>1</a:t>
            </a:r>
            <a:r>
              <a:rPr lang="zh-CN" altLang="en-US" dirty="0"/>
              <a:t>、</a:t>
            </a:r>
            <a:r>
              <a:rPr lang="en-US" altLang="zh-CN" dirty="0"/>
              <a:t>WR</a:t>
            </a:r>
            <a:r>
              <a:rPr lang="en-US" altLang="zh-CN" baseline="-25000" dirty="0"/>
              <a:t>2</a:t>
            </a:r>
            <a:r>
              <a:rPr lang="zh-CN" altLang="en-US" dirty="0"/>
              <a:t>和</a:t>
            </a:r>
            <a:r>
              <a:rPr lang="en-US" altLang="zh-CN" dirty="0"/>
              <a:t>XFER</a:t>
            </a:r>
            <a:r>
              <a:rPr lang="zh-CN" altLang="en-US" dirty="0"/>
              <a:t>都接数字地，</a:t>
            </a:r>
            <a:r>
              <a:rPr lang="en-US" altLang="zh-CN" dirty="0"/>
              <a:t>ILE</a:t>
            </a:r>
            <a:r>
              <a:rPr lang="zh-CN" altLang="en-US" dirty="0"/>
              <a:t>接高电平时，芯片即处于直通状态。</a:t>
            </a:r>
            <a:endParaRPr lang="zh-CN" altLang="en-US" dirty="0"/>
          </a:p>
          <a:p>
            <a:r>
              <a:rPr lang="en-US" altLang="zh-CN" dirty="0"/>
              <a:t>8</a:t>
            </a:r>
            <a:r>
              <a:rPr lang="zh-CN" altLang="en-US" dirty="0"/>
              <a:t>位数字量一旦到达</a:t>
            </a:r>
            <a:r>
              <a:rPr lang="en-US" altLang="zh-CN" dirty="0"/>
              <a:t>DI</a:t>
            </a:r>
            <a:r>
              <a:rPr lang="en-US" altLang="zh-CN" baseline="-25000" dirty="0"/>
              <a:t>7</a:t>
            </a:r>
            <a:r>
              <a:rPr lang="en-US" altLang="zh-CN" dirty="0"/>
              <a:t>~DI</a:t>
            </a:r>
            <a:r>
              <a:rPr lang="en-US" altLang="zh-CN" baseline="-25000" dirty="0"/>
              <a:t>0</a:t>
            </a:r>
            <a:r>
              <a:rPr lang="zh-CN" altLang="en-US" dirty="0"/>
              <a:t>输入端，就立即进行</a:t>
            </a:r>
            <a:r>
              <a:rPr lang="en-US" altLang="zh-CN" dirty="0"/>
              <a:t>D/A</a:t>
            </a:r>
            <a:r>
              <a:rPr lang="zh-CN" altLang="en-US" dirty="0"/>
              <a:t>转换而输出。</a:t>
            </a:r>
            <a:endParaRPr lang="zh-CN" altLang="en-US" dirty="0"/>
          </a:p>
          <a:p>
            <a:r>
              <a:rPr lang="en-US" altLang="zh-CN" dirty="0"/>
              <a:t>DAC0832</a:t>
            </a:r>
            <a:r>
              <a:rPr lang="zh-CN" altLang="en-US" dirty="0"/>
              <a:t>不能直接和数据总线相连。（需接</a:t>
            </a:r>
            <a:r>
              <a:rPr lang="zh-CN" altLang="en-US" dirty="0"/>
              <a:t>缓冲器）</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cxnSp>
        <p:nvCxnSpPr>
          <p:cNvPr id="7" name="直接连接符 6"/>
          <p:cNvCxnSpPr/>
          <p:nvPr/>
        </p:nvCxnSpPr>
        <p:spPr bwMode="auto">
          <a:xfrm>
            <a:off x="1475509" y="2311961"/>
            <a:ext cx="353291" cy="0"/>
          </a:xfrm>
          <a:prstGeom prst="line">
            <a:avLst/>
          </a:prstGeom>
          <a:ln w="28575">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pic>
        <p:nvPicPr>
          <p:cNvPr id="9" name="图片 8"/>
          <p:cNvPicPr>
            <a:picLocks noChangeAspect="1"/>
          </p:cNvPicPr>
          <p:nvPr/>
        </p:nvPicPr>
        <p:blipFill>
          <a:blip r:embed="rId1" cstate="print"/>
          <a:stretch>
            <a:fillRect/>
          </a:stretch>
        </p:blipFill>
        <p:spPr>
          <a:xfrm>
            <a:off x="6018784" y="2458624"/>
            <a:ext cx="5716126" cy="2932937"/>
          </a:xfrm>
          <a:prstGeom prst="rect">
            <a:avLst/>
          </a:prstGeom>
        </p:spPr>
      </p:pic>
      <p:cxnSp>
        <p:nvCxnSpPr>
          <p:cNvPr id="10" name="直接连接符 9"/>
          <p:cNvCxnSpPr/>
          <p:nvPr/>
        </p:nvCxnSpPr>
        <p:spPr bwMode="auto">
          <a:xfrm>
            <a:off x="2304565" y="2311961"/>
            <a:ext cx="353291" cy="0"/>
          </a:xfrm>
          <a:prstGeom prst="line">
            <a:avLst/>
          </a:prstGeom>
          <a:ln w="28575">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 name="直接连接符 10"/>
          <p:cNvCxnSpPr/>
          <p:nvPr/>
        </p:nvCxnSpPr>
        <p:spPr bwMode="auto">
          <a:xfrm>
            <a:off x="3352800" y="2311961"/>
            <a:ext cx="353291" cy="0"/>
          </a:xfrm>
          <a:prstGeom prst="line">
            <a:avLst/>
          </a:prstGeom>
          <a:ln w="28575">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 name="直接连接符 11"/>
          <p:cNvCxnSpPr/>
          <p:nvPr/>
        </p:nvCxnSpPr>
        <p:spPr bwMode="auto">
          <a:xfrm>
            <a:off x="4526280" y="2311961"/>
            <a:ext cx="777240" cy="0"/>
          </a:xfrm>
          <a:prstGeom prst="line">
            <a:avLst/>
          </a:prstGeom>
          <a:ln w="28575">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7" name="文本框 16"/>
          <p:cNvSpPr txBox="1"/>
          <p:nvPr/>
        </p:nvSpPr>
        <p:spPr>
          <a:xfrm>
            <a:off x="6597396" y="3340318"/>
            <a:ext cx="404876" cy="584775"/>
          </a:xfrm>
          <a:prstGeom prst="rect">
            <a:avLst/>
          </a:prstGeom>
          <a:noFill/>
        </p:spPr>
        <p:txBody>
          <a:bodyPr wrap="square">
            <a:spAutoFit/>
          </a:bodyPr>
          <a:lstStyle/>
          <a:p>
            <a:r>
              <a:rPr lang="en-US" altLang="zh-CN" sz="3200" b="1" i="0" u="none" strike="noStrike" baseline="0" dirty="0">
                <a:solidFill>
                  <a:srgbClr val="FF0000"/>
                </a:solidFill>
                <a:latin typeface="Times New Roman" panose="02020603050405020304" pitchFamily="18" charset="0"/>
              </a:rPr>
              <a:t>1</a:t>
            </a:r>
            <a:endParaRPr lang="zh-CN" altLang="en-US" sz="3200" dirty="0">
              <a:solidFill>
                <a:srgbClr val="FF0000"/>
              </a:solidFill>
            </a:endParaRPr>
          </a:p>
        </p:txBody>
      </p:sp>
      <p:sp>
        <p:nvSpPr>
          <p:cNvPr id="18" name="文本框 17"/>
          <p:cNvSpPr txBox="1"/>
          <p:nvPr/>
        </p:nvSpPr>
        <p:spPr>
          <a:xfrm>
            <a:off x="7836661" y="3845334"/>
            <a:ext cx="404876" cy="584775"/>
          </a:xfrm>
          <a:prstGeom prst="rect">
            <a:avLst/>
          </a:prstGeom>
          <a:noFill/>
        </p:spPr>
        <p:txBody>
          <a:bodyPr wrap="square">
            <a:spAutoFit/>
          </a:bodyPr>
          <a:lstStyle/>
          <a:p>
            <a:r>
              <a:rPr lang="en-US" altLang="zh-CN" sz="3200" b="1" i="0" u="none" strike="noStrike" baseline="0" dirty="0">
                <a:solidFill>
                  <a:srgbClr val="FF0000"/>
                </a:solidFill>
                <a:latin typeface="Times New Roman" panose="02020603050405020304" pitchFamily="18" charset="0"/>
              </a:rPr>
              <a:t>1</a:t>
            </a:r>
            <a:endParaRPr lang="zh-CN" altLang="en-US" sz="3200" dirty="0">
              <a:solidFill>
                <a:srgbClr val="FF0000"/>
              </a:solidFill>
            </a:endParaRPr>
          </a:p>
        </p:txBody>
      </p:sp>
      <p:sp>
        <p:nvSpPr>
          <p:cNvPr id="19" name="文本框 18"/>
          <p:cNvSpPr txBox="1"/>
          <p:nvPr/>
        </p:nvSpPr>
        <p:spPr>
          <a:xfrm>
            <a:off x="9147809" y="3845334"/>
            <a:ext cx="404876" cy="584775"/>
          </a:xfrm>
          <a:prstGeom prst="rect">
            <a:avLst/>
          </a:prstGeom>
          <a:noFill/>
        </p:spPr>
        <p:txBody>
          <a:bodyPr wrap="square">
            <a:spAutoFit/>
          </a:bodyPr>
          <a:lstStyle/>
          <a:p>
            <a:r>
              <a:rPr lang="en-US" altLang="zh-CN" sz="3200" b="1" i="0" u="none" strike="noStrike" baseline="0" dirty="0">
                <a:solidFill>
                  <a:srgbClr val="FF0000"/>
                </a:solidFill>
                <a:latin typeface="Times New Roman" panose="02020603050405020304" pitchFamily="18" charset="0"/>
              </a:rPr>
              <a:t>1</a:t>
            </a:r>
            <a:endParaRPr lang="zh-CN" altLang="en-US" sz="3200" dirty="0">
              <a:solidFill>
                <a:srgbClr val="FF0000"/>
              </a:solidFill>
            </a:endParaRPr>
          </a:p>
        </p:txBody>
      </p:sp>
      <p:sp>
        <p:nvSpPr>
          <p:cNvPr id="20" name="文本框 19"/>
          <p:cNvSpPr txBox="1"/>
          <p:nvPr/>
        </p:nvSpPr>
        <p:spPr>
          <a:xfrm>
            <a:off x="6743572" y="4378496"/>
            <a:ext cx="404876" cy="1274195"/>
          </a:xfrm>
          <a:prstGeom prst="rect">
            <a:avLst/>
          </a:prstGeom>
          <a:noFill/>
        </p:spPr>
        <p:txBody>
          <a:bodyPr wrap="square">
            <a:spAutoFit/>
          </a:bodyPr>
          <a:lstStyle/>
          <a:p>
            <a:pPr>
              <a:lnSpc>
                <a:spcPct val="80000"/>
              </a:lnSpc>
            </a:pPr>
            <a:r>
              <a:rPr lang="en-US" altLang="zh-CN" sz="2400" b="1" i="0" u="none" strike="noStrike" baseline="0" dirty="0">
                <a:solidFill>
                  <a:srgbClr val="FF0000"/>
                </a:solidFill>
                <a:latin typeface="Times New Roman" panose="02020603050405020304" pitchFamily="18" charset="0"/>
              </a:rPr>
              <a:t>0</a:t>
            </a:r>
            <a:endParaRPr lang="en-US" altLang="zh-CN" sz="2400" b="1" i="0" u="none" strike="noStrike" baseline="0" dirty="0">
              <a:solidFill>
                <a:srgbClr val="FF0000"/>
              </a:solidFill>
              <a:latin typeface="Times New Roman" panose="02020603050405020304" pitchFamily="18" charset="0"/>
            </a:endParaRPr>
          </a:p>
          <a:p>
            <a:pPr>
              <a:lnSpc>
                <a:spcPct val="80000"/>
              </a:lnSpc>
            </a:pPr>
            <a:r>
              <a:rPr lang="en-US" altLang="zh-CN" sz="2400" b="1" i="0" u="none" strike="noStrike" baseline="0" dirty="0">
                <a:solidFill>
                  <a:srgbClr val="FF0000"/>
                </a:solidFill>
                <a:latin typeface="Times New Roman" panose="02020603050405020304" pitchFamily="18" charset="0"/>
              </a:rPr>
              <a:t>000</a:t>
            </a:r>
            <a:endParaRPr lang="zh-CN" altLang="en-US" sz="2400" dirty="0">
              <a:solidFill>
                <a:srgbClr val="FF0000"/>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2365" y="-274981"/>
            <a:ext cx="10058400" cy="1295400"/>
          </a:xfrm>
        </p:spPr>
        <p:txBody>
          <a:bodyPr/>
          <a:lstStyle/>
          <a:p>
            <a:r>
              <a:rPr lang="en-US" altLang="zh-CN" dirty="0"/>
              <a:t>DAC0832</a:t>
            </a:r>
            <a:endParaRPr lang="zh-CN" altLang="en-US" dirty="0"/>
          </a:p>
        </p:txBody>
      </p:sp>
      <p:sp>
        <p:nvSpPr>
          <p:cNvPr id="3" name="内容占位符 2"/>
          <p:cNvSpPr>
            <a:spLocks noGrp="1"/>
          </p:cNvSpPr>
          <p:nvPr>
            <p:ph idx="1"/>
          </p:nvPr>
        </p:nvSpPr>
        <p:spPr>
          <a:xfrm>
            <a:off x="762000" y="1017762"/>
            <a:ext cx="10058400" cy="4411662"/>
          </a:xfrm>
        </p:spPr>
        <p:txBody>
          <a:bodyPr/>
          <a:lstStyle/>
          <a:p>
            <a:pPr marL="0" indent="0">
              <a:buNone/>
            </a:pPr>
            <a:r>
              <a:rPr lang="en-US" altLang="zh-CN" dirty="0"/>
              <a:t>DAC0832</a:t>
            </a:r>
            <a:r>
              <a:rPr lang="zh-CN" altLang="en-US" dirty="0"/>
              <a:t>的工作方式：单缓冲方式</a:t>
            </a:r>
            <a:endParaRPr lang="zh-CN" altLang="en-US" dirty="0"/>
          </a:p>
          <a:p>
            <a:r>
              <a:rPr lang="zh-CN" altLang="en-US" dirty="0"/>
              <a:t>一般的做法是将</a:t>
            </a:r>
            <a:r>
              <a:rPr lang="en-US" altLang="zh-CN" dirty="0"/>
              <a:t>WR</a:t>
            </a:r>
            <a:r>
              <a:rPr lang="en-US" altLang="zh-CN" baseline="-25000" dirty="0"/>
              <a:t>2</a:t>
            </a:r>
            <a:r>
              <a:rPr lang="zh-CN" altLang="en-US" dirty="0"/>
              <a:t>和</a:t>
            </a:r>
            <a:r>
              <a:rPr lang="en-US" altLang="zh-CN" dirty="0"/>
              <a:t>XFER</a:t>
            </a:r>
            <a:r>
              <a:rPr lang="zh-CN" altLang="en-US" dirty="0"/>
              <a:t>接数字地，使</a:t>
            </a:r>
            <a:r>
              <a:rPr lang="en-US" altLang="zh-CN" dirty="0"/>
              <a:t>DAC</a:t>
            </a:r>
            <a:r>
              <a:rPr lang="zh-CN" altLang="en-US" dirty="0"/>
              <a:t>寄存器处于直通状态。另外把</a:t>
            </a:r>
            <a:r>
              <a:rPr lang="en-US" altLang="zh-CN" dirty="0"/>
              <a:t>ILE</a:t>
            </a:r>
            <a:r>
              <a:rPr lang="zh-CN" altLang="en-US" dirty="0"/>
              <a:t>接高电平，</a:t>
            </a:r>
            <a:r>
              <a:rPr lang="en-US" altLang="zh-CN" dirty="0"/>
              <a:t>CS</a:t>
            </a:r>
            <a:r>
              <a:rPr lang="zh-CN" altLang="en-US" dirty="0"/>
              <a:t>接端口地址译码信号，</a:t>
            </a:r>
            <a:r>
              <a:rPr lang="en-US" altLang="zh-CN" dirty="0"/>
              <a:t>WR</a:t>
            </a:r>
            <a:r>
              <a:rPr lang="en-US" altLang="zh-CN" baseline="-25000" dirty="0"/>
              <a:t>1</a:t>
            </a:r>
            <a:r>
              <a:rPr lang="zh-CN" altLang="en-US" dirty="0"/>
              <a:t>接</a:t>
            </a:r>
            <a:r>
              <a:rPr lang="en-US" altLang="zh-CN" dirty="0"/>
              <a:t>CPU</a:t>
            </a:r>
            <a:r>
              <a:rPr lang="zh-CN" altLang="en-US" dirty="0"/>
              <a:t>系统总线的</a:t>
            </a:r>
            <a:r>
              <a:rPr lang="en-US" altLang="zh-CN" dirty="0"/>
              <a:t>IOW</a:t>
            </a:r>
            <a:r>
              <a:rPr lang="zh-CN" altLang="en-US" dirty="0"/>
              <a:t>信号，这样便可通过执行一条输出指令，选中该端口，使</a:t>
            </a:r>
            <a:r>
              <a:rPr lang="en-US" altLang="zh-CN" dirty="0"/>
              <a:t>CS</a:t>
            </a:r>
            <a:r>
              <a:rPr lang="zh-CN" altLang="en-US" dirty="0"/>
              <a:t>和</a:t>
            </a:r>
            <a:r>
              <a:rPr lang="en-US" altLang="zh-CN" dirty="0"/>
              <a:t>WR</a:t>
            </a:r>
            <a:r>
              <a:rPr lang="en-US" altLang="zh-CN" baseline="-25000" dirty="0"/>
              <a:t>1</a:t>
            </a:r>
            <a:r>
              <a:rPr lang="zh-CN" altLang="en-US" dirty="0"/>
              <a:t>有效，启动</a:t>
            </a:r>
            <a:r>
              <a:rPr lang="en-US" altLang="zh-CN" dirty="0"/>
              <a:t>D/A</a:t>
            </a:r>
            <a:r>
              <a:rPr lang="zh-CN" altLang="en-US" dirty="0"/>
              <a:t>转换。</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cxnSp>
        <p:nvCxnSpPr>
          <p:cNvPr id="7" name="直接连接符 6"/>
          <p:cNvCxnSpPr/>
          <p:nvPr/>
        </p:nvCxnSpPr>
        <p:spPr bwMode="auto">
          <a:xfrm>
            <a:off x="3657601" y="1630017"/>
            <a:ext cx="609600" cy="0"/>
          </a:xfrm>
          <a:prstGeom prst="line">
            <a:avLst/>
          </a:prstGeom>
          <a:solidFill>
            <a:schemeClr val="accent1"/>
          </a:solidFill>
          <a:ln w="2857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直接连接符 7"/>
          <p:cNvCxnSpPr/>
          <p:nvPr/>
        </p:nvCxnSpPr>
        <p:spPr bwMode="auto">
          <a:xfrm>
            <a:off x="4750905" y="1630017"/>
            <a:ext cx="921026" cy="0"/>
          </a:xfrm>
          <a:prstGeom prst="line">
            <a:avLst/>
          </a:prstGeom>
          <a:solidFill>
            <a:schemeClr val="accent1"/>
          </a:solidFill>
          <a:ln w="2857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直接连接符 9"/>
          <p:cNvCxnSpPr/>
          <p:nvPr/>
        </p:nvCxnSpPr>
        <p:spPr bwMode="auto">
          <a:xfrm>
            <a:off x="1225826" y="2498034"/>
            <a:ext cx="609600" cy="0"/>
          </a:xfrm>
          <a:prstGeom prst="line">
            <a:avLst/>
          </a:prstGeom>
          <a:solidFill>
            <a:schemeClr val="accent1"/>
          </a:solidFill>
          <a:ln w="2857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直接连接符 10"/>
          <p:cNvCxnSpPr/>
          <p:nvPr/>
        </p:nvCxnSpPr>
        <p:spPr bwMode="auto">
          <a:xfrm>
            <a:off x="4840359" y="2478155"/>
            <a:ext cx="609600" cy="0"/>
          </a:xfrm>
          <a:prstGeom prst="line">
            <a:avLst/>
          </a:prstGeom>
          <a:solidFill>
            <a:schemeClr val="accent1"/>
          </a:solidFill>
          <a:ln w="2857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直接连接符 11"/>
          <p:cNvCxnSpPr/>
          <p:nvPr/>
        </p:nvCxnSpPr>
        <p:spPr bwMode="auto">
          <a:xfrm>
            <a:off x="5049080" y="2922104"/>
            <a:ext cx="609600" cy="0"/>
          </a:xfrm>
          <a:prstGeom prst="line">
            <a:avLst/>
          </a:prstGeom>
          <a:solidFill>
            <a:schemeClr val="accent1"/>
          </a:solidFill>
          <a:ln w="2857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直接连接符 12"/>
          <p:cNvCxnSpPr/>
          <p:nvPr/>
        </p:nvCxnSpPr>
        <p:spPr bwMode="auto">
          <a:xfrm>
            <a:off x="5976731" y="2928729"/>
            <a:ext cx="609600" cy="0"/>
          </a:xfrm>
          <a:prstGeom prst="line">
            <a:avLst/>
          </a:prstGeom>
          <a:solidFill>
            <a:schemeClr val="accent1"/>
          </a:solidFill>
          <a:ln w="2857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连接符 13"/>
          <p:cNvCxnSpPr/>
          <p:nvPr/>
        </p:nvCxnSpPr>
        <p:spPr bwMode="auto">
          <a:xfrm>
            <a:off x="6281531" y="2047460"/>
            <a:ext cx="609600" cy="0"/>
          </a:xfrm>
          <a:prstGeom prst="line">
            <a:avLst/>
          </a:prstGeom>
          <a:solidFill>
            <a:schemeClr val="accent1"/>
          </a:solidFill>
          <a:ln w="2857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直接连接符 14"/>
          <p:cNvCxnSpPr/>
          <p:nvPr/>
        </p:nvCxnSpPr>
        <p:spPr bwMode="auto">
          <a:xfrm>
            <a:off x="4022035" y="2047460"/>
            <a:ext cx="609600" cy="0"/>
          </a:xfrm>
          <a:prstGeom prst="line">
            <a:avLst/>
          </a:prstGeom>
          <a:solidFill>
            <a:schemeClr val="accent1"/>
          </a:solidFill>
          <a:ln w="2857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7" name="图片 16"/>
          <p:cNvPicPr>
            <a:picLocks noChangeAspect="1"/>
          </p:cNvPicPr>
          <p:nvPr/>
        </p:nvPicPr>
        <p:blipFill>
          <a:blip r:embed="rId1" cstate="print"/>
          <a:stretch>
            <a:fillRect/>
          </a:stretch>
        </p:blipFill>
        <p:spPr>
          <a:xfrm>
            <a:off x="2897529" y="3366053"/>
            <a:ext cx="5787342" cy="2973238"/>
          </a:xfrm>
          <a:prstGeom prst="rect">
            <a:avLst/>
          </a:prstGeom>
        </p:spPr>
      </p:pic>
      <p:cxnSp>
        <p:nvCxnSpPr>
          <p:cNvPr id="21" name="直接箭头连接符 20"/>
          <p:cNvCxnSpPr/>
          <p:nvPr/>
        </p:nvCxnSpPr>
        <p:spPr bwMode="auto">
          <a:xfrm>
            <a:off x="3514035" y="3955771"/>
            <a:ext cx="1117600" cy="0"/>
          </a:xfrm>
          <a:prstGeom prst="straightConnector1">
            <a:avLst/>
          </a:prstGeom>
          <a:ln w="76200">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22" name="直接箭头连接符 21"/>
          <p:cNvCxnSpPr/>
          <p:nvPr/>
        </p:nvCxnSpPr>
        <p:spPr bwMode="auto">
          <a:xfrm>
            <a:off x="5190435" y="3982272"/>
            <a:ext cx="1568174" cy="0"/>
          </a:xfrm>
          <a:prstGeom prst="straightConnector1">
            <a:avLst/>
          </a:prstGeom>
          <a:ln w="76200">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25" name="文本框 24"/>
          <p:cNvSpPr txBox="1"/>
          <p:nvPr/>
        </p:nvSpPr>
        <p:spPr>
          <a:xfrm>
            <a:off x="3538331" y="4393095"/>
            <a:ext cx="238539" cy="461665"/>
          </a:xfrm>
          <a:prstGeom prst="rect">
            <a:avLst/>
          </a:prstGeom>
          <a:noFill/>
        </p:spPr>
        <p:txBody>
          <a:bodyPr wrap="square">
            <a:spAutoFit/>
          </a:bodyPr>
          <a:lstStyle/>
          <a:p>
            <a:r>
              <a:rPr lang="en-US" altLang="zh-CN" sz="2400" b="1" i="0" u="none" strike="noStrike" baseline="0" dirty="0">
                <a:solidFill>
                  <a:srgbClr val="FF0000"/>
                </a:solidFill>
                <a:latin typeface="Times New Roman" panose="02020603050405020304" pitchFamily="18" charset="0"/>
              </a:rPr>
              <a:t>1</a:t>
            </a:r>
            <a:endParaRPr lang="zh-CN" altLang="en-US" sz="2400" dirty="0">
              <a:solidFill>
                <a:srgbClr val="FF0000"/>
              </a:solidFill>
            </a:endParaRPr>
          </a:p>
        </p:txBody>
      </p:sp>
      <p:sp>
        <p:nvSpPr>
          <p:cNvPr id="26" name="文本框 25"/>
          <p:cNvSpPr txBox="1"/>
          <p:nvPr/>
        </p:nvSpPr>
        <p:spPr>
          <a:xfrm>
            <a:off x="6122505" y="4745356"/>
            <a:ext cx="238539" cy="461665"/>
          </a:xfrm>
          <a:prstGeom prst="rect">
            <a:avLst/>
          </a:prstGeom>
          <a:noFill/>
        </p:spPr>
        <p:txBody>
          <a:bodyPr wrap="square">
            <a:spAutoFit/>
          </a:bodyPr>
          <a:lstStyle/>
          <a:p>
            <a:r>
              <a:rPr lang="en-US" altLang="zh-CN" sz="2400" b="1" i="0" u="none" strike="noStrike" baseline="0" dirty="0">
                <a:solidFill>
                  <a:srgbClr val="FF0000"/>
                </a:solidFill>
                <a:latin typeface="Times New Roman" panose="02020603050405020304" pitchFamily="18" charset="0"/>
              </a:rPr>
              <a:t>1</a:t>
            </a:r>
            <a:endParaRPr lang="zh-CN" altLang="en-US" sz="2400" dirty="0">
              <a:solidFill>
                <a:srgbClr val="FF0000"/>
              </a:solidFill>
            </a:endParaRPr>
          </a:p>
        </p:txBody>
      </p:sp>
      <p:sp>
        <p:nvSpPr>
          <p:cNvPr id="27" name="文本框 26"/>
          <p:cNvSpPr txBox="1"/>
          <p:nvPr/>
        </p:nvSpPr>
        <p:spPr>
          <a:xfrm>
            <a:off x="3776870" y="5391976"/>
            <a:ext cx="238539" cy="830997"/>
          </a:xfrm>
          <a:prstGeom prst="rect">
            <a:avLst/>
          </a:prstGeom>
          <a:noFill/>
        </p:spPr>
        <p:txBody>
          <a:bodyPr wrap="square">
            <a:spAutoFit/>
          </a:bodyPr>
          <a:lstStyle/>
          <a:p>
            <a:r>
              <a:rPr lang="en-US" altLang="zh-CN" sz="2400" b="1" i="0" u="none" strike="noStrike" baseline="0" dirty="0">
                <a:solidFill>
                  <a:srgbClr val="FF0000"/>
                </a:solidFill>
                <a:latin typeface="Times New Roman" panose="02020603050405020304" pitchFamily="18" charset="0"/>
              </a:rPr>
              <a:t>00</a:t>
            </a:r>
            <a:endParaRPr lang="zh-CN" altLang="en-US" sz="2400" dirty="0">
              <a:solidFill>
                <a:srgbClr val="FF0000"/>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8"/>
            <a:ext cx="10058400" cy="604837"/>
          </a:xfrm>
        </p:spPr>
        <p:txBody>
          <a:bodyPr/>
          <a:lstStyle/>
          <a:p>
            <a:r>
              <a:rPr lang="en-US" altLang="zh-CN" dirty="0"/>
              <a:t>DAC0832</a:t>
            </a:r>
            <a:endParaRPr lang="zh-CN" altLang="en-US" dirty="0"/>
          </a:p>
        </p:txBody>
      </p:sp>
      <p:sp>
        <p:nvSpPr>
          <p:cNvPr id="3" name="内容占位符 2"/>
          <p:cNvSpPr>
            <a:spLocks noGrp="1"/>
          </p:cNvSpPr>
          <p:nvPr>
            <p:ph idx="1"/>
          </p:nvPr>
        </p:nvSpPr>
        <p:spPr>
          <a:xfrm>
            <a:off x="490332" y="897628"/>
            <a:ext cx="10058400" cy="2362407"/>
          </a:xfrm>
        </p:spPr>
        <p:txBody>
          <a:bodyPr/>
          <a:lstStyle/>
          <a:p>
            <a:r>
              <a:rPr lang="zh-CN" altLang="en-US" dirty="0" smtClean="0"/>
              <a:t>双缓冲方式：可</a:t>
            </a:r>
            <a:r>
              <a:rPr lang="zh-CN" altLang="en-US" dirty="0"/>
              <a:t>将</a:t>
            </a:r>
            <a:r>
              <a:rPr lang="en-US" altLang="zh-CN" dirty="0"/>
              <a:t>ILE</a:t>
            </a:r>
            <a:r>
              <a:rPr lang="zh-CN" altLang="en-US" dirty="0"/>
              <a:t>接高电平，</a:t>
            </a:r>
            <a:r>
              <a:rPr lang="en-US" altLang="zh-CN" dirty="0"/>
              <a:t>WR</a:t>
            </a:r>
            <a:r>
              <a:rPr lang="en-US" altLang="zh-CN" baseline="-25000" dirty="0"/>
              <a:t>1</a:t>
            </a:r>
            <a:r>
              <a:rPr lang="zh-CN" altLang="en-US" dirty="0"/>
              <a:t>和</a:t>
            </a:r>
            <a:r>
              <a:rPr lang="en-US" altLang="zh-CN" dirty="0"/>
              <a:t>WR</a:t>
            </a:r>
            <a:r>
              <a:rPr lang="en-US" altLang="zh-CN" baseline="-25000" dirty="0"/>
              <a:t>2</a:t>
            </a:r>
            <a:r>
              <a:rPr lang="zh-CN" altLang="en-US" dirty="0"/>
              <a:t>接</a:t>
            </a:r>
            <a:r>
              <a:rPr lang="en-US" altLang="zh-CN" dirty="0"/>
              <a:t>CPU</a:t>
            </a:r>
            <a:r>
              <a:rPr lang="zh-CN" altLang="en-US" dirty="0"/>
              <a:t>的</a:t>
            </a:r>
            <a:r>
              <a:rPr lang="en-US" altLang="zh-CN" dirty="0"/>
              <a:t>IOW</a:t>
            </a:r>
            <a:r>
              <a:rPr lang="zh-CN" altLang="en-US" dirty="0"/>
              <a:t>，</a:t>
            </a:r>
            <a:r>
              <a:rPr lang="en-US" altLang="zh-CN" dirty="0"/>
              <a:t>CS</a:t>
            </a:r>
            <a:r>
              <a:rPr lang="zh-CN" altLang="en-US" dirty="0"/>
              <a:t>和</a:t>
            </a:r>
            <a:r>
              <a:rPr lang="en-US" altLang="zh-CN" dirty="0"/>
              <a:t>XFER</a:t>
            </a:r>
            <a:r>
              <a:rPr lang="zh-CN" altLang="en-US" dirty="0"/>
              <a:t>分别接两个不同的</a:t>
            </a:r>
            <a:r>
              <a:rPr lang="en-US" altLang="zh-CN" dirty="0"/>
              <a:t>I/O</a:t>
            </a:r>
            <a:r>
              <a:rPr lang="zh-CN" altLang="en-US" dirty="0"/>
              <a:t>地址译码信号。执行第一条输出指令，选中</a:t>
            </a:r>
            <a:r>
              <a:rPr lang="en-US" altLang="zh-CN" dirty="0"/>
              <a:t>CS</a:t>
            </a:r>
            <a:r>
              <a:rPr lang="zh-CN" altLang="en-US" dirty="0"/>
              <a:t>端口，把数据写入输入寄存器；再执行第二条输出指令，选中</a:t>
            </a:r>
            <a:r>
              <a:rPr lang="en-US" altLang="zh-CN" dirty="0"/>
              <a:t>XFER</a:t>
            </a:r>
            <a:r>
              <a:rPr lang="zh-CN" altLang="en-US" dirty="0"/>
              <a:t>端口，把输入寄存器的内容写入</a:t>
            </a:r>
            <a:r>
              <a:rPr lang="en-US" altLang="zh-CN" dirty="0"/>
              <a:t>DAC</a:t>
            </a:r>
            <a:r>
              <a:rPr lang="zh-CN" altLang="en-US" dirty="0"/>
              <a:t>寄存器，实现</a:t>
            </a:r>
            <a:r>
              <a:rPr lang="en-US" altLang="zh-CN" dirty="0"/>
              <a:t>D/A</a:t>
            </a:r>
            <a:r>
              <a:rPr lang="zh-CN" altLang="en-US" dirty="0"/>
              <a:t>转换。</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pic>
        <p:nvPicPr>
          <p:cNvPr id="6" name="图片 5"/>
          <p:cNvPicPr>
            <a:picLocks noChangeAspect="1"/>
          </p:cNvPicPr>
          <p:nvPr/>
        </p:nvPicPr>
        <p:blipFill>
          <a:blip r:embed="rId1" cstate="print"/>
          <a:stretch>
            <a:fillRect/>
          </a:stretch>
        </p:blipFill>
        <p:spPr>
          <a:xfrm>
            <a:off x="3096311" y="3460471"/>
            <a:ext cx="5787342" cy="2973238"/>
          </a:xfrm>
          <a:prstGeom prst="rect">
            <a:avLst/>
          </a:prstGeom>
        </p:spPr>
      </p:pic>
      <p:cxnSp>
        <p:nvCxnSpPr>
          <p:cNvPr id="7" name="直接箭头连接符 6"/>
          <p:cNvCxnSpPr/>
          <p:nvPr/>
        </p:nvCxnSpPr>
        <p:spPr bwMode="auto">
          <a:xfrm>
            <a:off x="3712817" y="3576852"/>
            <a:ext cx="1117600" cy="0"/>
          </a:xfrm>
          <a:prstGeom prst="straightConnector1">
            <a:avLst/>
          </a:prstGeom>
          <a:ln w="76200">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8" name="直接箭头连接符 7"/>
          <p:cNvCxnSpPr/>
          <p:nvPr/>
        </p:nvCxnSpPr>
        <p:spPr bwMode="auto">
          <a:xfrm>
            <a:off x="5389217" y="3603353"/>
            <a:ext cx="1568174" cy="0"/>
          </a:xfrm>
          <a:prstGeom prst="straightConnector1">
            <a:avLst/>
          </a:prstGeom>
          <a:ln w="76200">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9" name="文本框 8"/>
          <p:cNvSpPr txBox="1"/>
          <p:nvPr/>
        </p:nvSpPr>
        <p:spPr>
          <a:xfrm>
            <a:off x="3737113" y="4014176"/>
            <a:ext cx="238539" cy="461665"/>
          </a:xfrm>
          <a:prstGeom prst="rect">
            <a:avLst/>
          </a:prstGeom>
          <a:noFill/>
        </p:spPr>
        <p:txBody>
          <a:bodyPr wrap="square">
            <a:spAutoFit/>
          </a:bodyPr>
          <a:lstStyle/>
          <a:p>
            <a:r>
              <a:rPr lang="en-US" altLang="zh-CN" sz="2400" b="1" i="0" u="none" strike="noStrike" baseline="0" dirty="0">
                <a:solidFill>
                  <a:srgbClr val="FF0000"/>
                </a:solidFill>
                <a:latin typeface="Times New Roman" panose="02020603050405020304" pitchFamily="18" charset="0"/>
              </a:rPr>
              <a:t>1</a:t>
            </a:r>
            <a:endParaRPr lang="zh-CN" altLang="en-US" sz="2400" dirty="0">
              <a:solidFill>
                <a:srgbClr val="FF0000"/>
              </a:solidFill>
            </a:endParaRPr>
          </a:p>
        </p:txBody>
      </p:sp>
      <p:cxnSp>
        <p:nvCxnSpPr>
          <p:cNvPr id="13" name="直接连接符 12"/>
          <p:cNvCxnSpPr/>
          <p:nvPr/>
        </p:nvCxnSpPr>
        <p:spPr bwMode="auto">
          <a:xfrm>
            <a:off x="1890228" y="1413461"/>
            <a:ext cx="715618" cy="0"/>
          </a:xfrm>
          <a:prstGeom prst="line">
            <a:avLst/>
          </a:prstGeom>
          <a:solidFill>
            <a:schemeClr val="accent1"/>
          </a:solidFill>
          <a:ln w="2857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连接符 13"/>
          <p:cNvCxnSpPr/>
          <p:nvPr/>
        </p:nvCxnSpPr>
        <p:spPr bwMode="auto">
          <a:xfrm>
            <a:off x="6042627" y="972398"/>
            <a:ext cx="715618" cy="0"/>
          </a:xfrm>
          <a:prstGeom prst="line">
            <a:avLst/>
          </a:prstGeom>
          <a:solidFill>
            <a:schemeClr val="accent1"/>
          </a:solidFill>
          <a:ln w="2857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直接连接符 14"/>
          <p:cNvCxnSpPr/>
          <p:nvPr/>
        </p:nvCxnSpPr>
        <p:spPr bwMode="auto">
          <a:xfrm>
            <a:off x="7151263" y="961640"/>
            <a:ext cx="715618" cy="0"/>
          </a:xfrm>
          <a:prstGeom prst="line">
            <a:avLst/>
          </a:prstGeom>
          <a:solidFill>
            <a:schemeClr val="accent1"/>
          </a:solidFill>
          <a:ln w="2857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直接连接符 15"/>
          <p:cNvCxnSpPr/>
          <p:nvPr/>
        </p:nvCxnSpPr>
        <p:spPr bwMode="auto">
          <a:xfrm>
            <a:off x="842077" y="1402704"/>
            <a:ext cx="715618" cy="0"/>
          </a:xfrm>
          <a:prstGeom prst="line">
            <a:avLst/>
          </a:prstGeom>
          <a:solidFill>
            <a:schemeClr val="accent1"/>
          </a:solidFill>
          <a:ln w="2857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直接连接符 16"/>
          <p:cNvCxnSpPr/>
          <p:nvPr/>
        </p:nvCxnSpPr>
        <p:spPr bwMode="auto">
          <a:xfrm>
            <a:off x="9385735" y="944256"/>
            <a:ext cx="715618" cy="0"/>
          </a:xfrm>
          <a:prstGeom prst="line">
            <a:avLst/>
          </a:prstGeom>
          <a:solidFill>
            <a:schemeClr val="accent1"/>
          </a:solidFill>
          <a:ln w="2857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直接连接符 17"/>
          <p:cNvCxnSpPr/>
          <p:nvPr/>
        </p:nvCxnSpPr>
        <p:spPr bwMode="auto">
          <a:xfrm>
            <a:off x="3312809" y="1835426"/>
            <a:ext cx="629478" cy="0"/>
          </a:xfrm>
          <a:prstGeom prst="line">
            <a:avLst/>
          </a:prstGeom>
          <a:solidFill>
            <a:schemeClr val="accent1"/>
          </a:solidFill>
          <a:ln w="2857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连接符 19"/>
          <p:cNvCxnSpPr/>
          <p:nvPr/>
        </p:nvCxnSpPr>
        <p:spPr bwMode="auto">
          <a:xfrm>
            <a:off x="4070679" y="2270252"/>
            <a:ext cx="894521" cy="0"/>
          </a:xfrm>
          <a:prstGeom prst="line">
            <a:avLst/>
          </a:prstGeom>
          <a:solidFill>
            <a:schemeClr val="accent1"/>
          </a:solidFill>
          <a:ln w="2857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DAC0832</a:t>
            </a:r>
            <a:r>
              <a:rPr lang="zh-CN" altLang="en-US" dirty="0"/>
              <a:t>与</a:t>
            </a:r>
            <a:r>
              <a:rPr lang="en-US" altLang="zh-CN" dirty="0"/>
              <a:t>CPU</a:t>
            </a:r>
            <a:r>
              <a:rPr lang="zh-CN" altLang="en-US" dirty="0"/>
              <a:t>的</a:t>
            </a:r>
            <a:r>
              <a:rPr lang="zh-CN" altLang="en-US" dirty="0" smtClean="0"/>
              <a:t>接口</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
        <p:nvSpPr>
          <p:cNvPr id="6" name="Text Box 3"/>
          <p:cNvSpPr txBox="1">
            <a:spLocks noChangeArrowheads="1"/>
          </p:cNvSpPr>
          <p:nvPr/>
        </p:nvSpPr>
        <p:spPr bwMode="auto">
          <a:xfrm>
            <a:off x="609601" y="1686758"/>
            <a:ext cx="5658678" cy="3893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spcBef>
                <a:spcPct val="50000"/>
              </a:spcBef>
            </a:pPr>
            <a:r>
              <a:rPr lang="zh-CN" altLang="en-US" sz="2800" dirty="0" smtClean="0">
                <a:latin typeface="Times New Roman" panose="02020603050405020304" pitchFamily="18" charset="0"/>
                <a:ea typeface="楷体_GB2312" pitchFamily="1" charset="-122"/>
              </a:rPr>
              <a:t>（</a:t>
            </a:r>
            <a:r>
              <a:rPr lang="en-US" altLang="zh-CN" sz="2800" dirty="0" smtClean="0">
                <a:latin typeface="Times New Roman" panose="02020603050405020304" pitchFamily="18" charset="0"/>
                <a:ea typeface="楷体_GB2312" pitchFamily="1" charset="-122"/>
              </a:rPr>
              <a:t>1</a:t>
            </a:r>
            <a:r>
              <a:rPr lang="zh-CN" altLang="en-US" sz="2800" dirty="0" smtClean="0">
                <a:latin typeface="Times New Roman" panose="02020603050405020304" pitchFamily="18" charset="0"/>
                <a:ea typeface="楷体_GB2312" pitchFamily="1" charset="-122"/>
              </a:rPr>
              <a:t>）单缓冲：</a:t>
            </a:r>
            <a:r>
              <a:rPr lang="zh-CN" altLang="zh-CN" sz="2800" dirty="0" smtClean="0">
                <a:latin typeface="Times New Roman" panose="02020603050405020304" pitchFamily="18" charset="0"/>
                <a:ea typeface="楷体_GB2312" pitchFamily="1" charset="-122"/>
              </a:rPr>
              <a:t>WR</a:t>
            </a:r>
            <a:r>
              <a:rPr lang="zh-CN" altLang="zh-CN" sz="2800" baseline="-25000" dirty="0">
                <a:latin typeface="Times New Roman" panose="02020603050405020304" pitchFamily="18" charset="0"/>
                <a:ea typeface="楷体_GB2312" pitchFamily="1" charset="-122"/>
              </a:rPr>
              <a:t>2</a:t>
            </a:r>
            <a:r>
              <a:rPr lang="zh-CN" altLang="zh-CN" sz="2800" dirty="0">
                <a:latin typeface="Times New Roman" panose="02020603050405020304" pitchFamily="18" charset="0"/>
                <a:ea typeface="楷体_GB2312" pitchFamily="1" charset="-122"/>
              </a:rPr>
              <a:t>和XFER直接接地，所以DAC寄存器不受控制。只要CPU执行一条输出指令，使得WR</a:t>
            </a:r>
            <a:r>
              <a:rPr lang="zh-CN" altLang="zh-CN" sz="2800" baseline="-25000" dirty="0">
                <a:latin typeface="Times New Roman" panose="02020603050405020304" pitchFamily="18" charset="0"/>
                <a:ea typeface="楷体_GB2312" pitchFamily="1" charset="-122"/>
              </a:rPr>
              <a:t>1</a:t>
            </a:r>
            <a:r>
              <a:rPr lang="zh-CN" altLang="zh-CN" sz="2800" dirty="0">
                <a:latin typeface="Times New Roman" panose="02020603050405020304" pitchFamily="18" charset="0"/>
                <a:ea typeface="楷体_GB2312" pitchFamily="1" charset="-122"/>
              </a:rPr>
              <a:t>有效，有效地址译码使得CS有效，输入寄存器和DAC寄存器均处于直通状态，立即开始D/A转换。 </a:t>
            </a:r>
            <a:endParaRPr lang="zh-CN" altLang="zh-CN" sz="2800" dirty="0">
              <a:latin typeface="Times New Roman" panose="02020603050405020304" pitchFamily="18" charset="0"/>
              <a:ea typeface="楷体_GB2312" pitchFamily="1" charset="-122"/>
            </a:endParaRPr>
          </a:p>
        </p:txBody>
      </p:sp>
      <p:sp>
        <p:nvSpPr>
          <p:cNvPr id="7" name="Line 4"/>
          <p:cNvSpPr>
            <a:spLocks noChangeShapeType="1"/>
          </p:cNvSpPr>
          <p:nvPr/>
        </p:nvSpPr>
        <p:spPr bwMode="auto">
          <a:xfrm>
            <a:off x="3092172" y="1911174"/>
            <a:ext cx="450017"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p>
        </p:txBody>
      </p:sp>
      <p:sp>
        <p:nvSpPr>
          <p:cNvPr id="8" name="Line 5"/>
          <p:cNvSpPr>
            <a:spLocks noChangeShapeType="1"/>
          </p:cNvSpPr>
          <p:nvPr/>
        </p:nvSpPr>
        <p:spPr bwMode="auto">
          <a:xfrm>
            <a:off x="4057271" y="1897172"/>
            <a:ext cx="965475" cy="9521"/>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p>
        </p:txBody>
      </p:sp>
      <p:sp>
        <p:nvSpPr>
          <p:cNvPr id="11" name="Line 4"/>
          <p:cNvSpPr>
            <a:spLocks noChangeShapeType="1"/>
          </p:cNvSpPr>
          <p:nvPr/>
        </p:nvSpPr>
        <p:spPr bwMode="auto">
          <a:xfrm>
            <a:off x="718416" y="3808129"/>
            <a:ext cx="450017"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p>
        </p:txBody>
      </p:sp>
      <p:sp>
        <p:nvSpPr>
          <p:cNvPr id="12" name="Line 4"/>
          <p:cNvSpPr>
            <a:spLocks noChangeShapeType="1"/>
          </p:cNvSpPr>
          <p:nvPr/>
        </p:nvSpPr>
        <p:spPr bwMode="auto">
          <a:xfrm>
            <a:off x="5256514" y="3761185"/>
            <a:ext cx="450017"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p>
        </p:txBody>
      </p:sp>
      <p:pic>
        <p:nvPicPr>
          <p:cNvPr id="14" name="图片 13"/>
          <p:cNvPicPr>
            <a:picLocks noChangeAspect="1"/>
          </p:cNvPicPr>
          <p:nvPr/>
        </p:nvPicPr>
        <p:blipFill>
          <a:blip r:embed="rId1" cstate="print"/>
          <a:stretch>
            <a:fillRect/>
          </a:stretch>
        </p:blipFill>
        <p:spPr>
          <a:xfrm>
            <a:off x="6344478" y="2098031"/>
            <a:ext cx="5281388" cy="3295604"/>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DAC0832</a:t>
            </a:r>
            <a:r>
              <a:rPr lang="zh-CN" altLang="en-US" dirty="0"/>
              <a:t>与</a:t>
            </a:r>
            <a:r>
              <a:rPr lang="en-US" altLang="zh-CN" dirty="0"/>
              <a:t>CPU</a:t>
            </a:r>
            <a:r>
              <a:rPr lang="zh-CN" altLang="en-US" dirty="0"/>
              <a:t>的接口</a:t>
            </a:r>
            <a:endParaRPr lang="zh-CN" altLang="en-US" dirty="0"/>
          </a:p>
        </p:txBody>
      </p:sp>
      <p:sp>
        <p:nvSpPr>
          <p:cNvPr id="3" name="内容占位符 2"/>
          <p:cNvSpPr>
            <a:spLocks noGrp="1"/>
          </p:cNvSpPr>
          <p:nvPr>
            <p:ph idx="1"/>
          </p:nvPr>
        </p:nvSpPr>
        <p:spPr/>
        <p:txBody>
          <a:bodyPr/>
          <a:lstStyle/>
          <a:p>
            <a:r>
              <a:rPr lang="zh-CN" altLang="en-US" sz="2800" b="0" i="0" u="none" strike="noStrike" baseline="0" dirty="0">
                <a:solidFill>
                  <a:srgbClr val="000000"/>
                </a:solidFill>
                <a:latin typeface="宋体" panose="02010600030101010101" pitchFamily="2" charset="-122"/>
                <a:ea typeface="宋体" panose="02010600030101010101" pitchFamily="2" charset="-122"/>
              </a:rPr>
              <a:t>单缓冲方式：程序段</a:t>
            </a:r>
            <a:endParaRPr lang="en-US" altLang="zh-CN" sz="2800" b="0" i="0" u="none" strike="noStrike" baseline="0"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Times New Roman" panose="02020603050405020304" pitchFamily="18" charset="0"/>
              </a:rPr>
              <a:t>下面的程序段在执行时，可以实现一次</a:t>
            </a:r>
            <a:r>
              <a:rPr lang="en-US" altLang="zh-CN" dirty="0">
                <a:solidFill>
                  <a:srgbClr val="000000"/>
                </a:solidFill>
                <a:latin typeface="Times New Roman" panose="02020603050405020304" pitchFamily="18" charset="0"/>
              </a:rPr>
              <a:t>D</a:t>
            </a:r>
            <a:r>
              <a:rPr lang="en-US" altLang="zh-CN" sz="2800" b="0" i="0" u="none" strike="noStrike" baseline="0" dirty="0">
                <a:solidFill>
                  <a:srgbClr val="000000"/>
                </a:solidFill>
                <a:latin typeface="Times New Roman" panose="02020603050405020304" pitchFamily="18" charset="0"/>
                <a:ea typeface="宋体" panose="02010600030101010101" pitchFamily="2" charset="-122"/>
              </a:rPr>
              <a:t>/A</a:t>
            </a:r>
            <a:r>
              <a:rPr lang="zh-CN" altLang="en-US" sz="2800" b="0" i="0" u="none" strike="noStrike" baseline="0" dirty="0">
                <a:solidFill>
                  <a:srgbClr val="000000"/>
                </a:solidFill>
                <a:latin typeface="楷体" panose="02010609060101010101" pitchFamily="49" charset="-122"/>
                <a:ea typeface="楷体" panose="02010609060101010101" pitchFamily="49" charset="-122"/>
              </a:rPr>
              <a:t>转换。程序中假设要转换的数据存于</a:t>
            </a:r>
            <a:r>
              <a:rPr lang="en-US" altLang="zh-CN" sz="2800" b="0" i="0" u="none" strike="noStrike" baseline="0" dirty="0">
                <a:solidFill>
                  <a:srgbClr val="000000"/>
                </a:solidFill>
                <a:latin typeface="Times New Roman" panose="02020603050405020304" pitchFamily="18" charset="0"/>
                <a:ea typeface="楷体" panose="02010609060101010101" pitchFamily="49" charset="-122"/>
              </a:rPr>
              <a:t>BUF</a:t>
            </a:r>
            <a:r>
              <a:rPr lang="zh-CN" altLang="en-US" sz="2800" b="0" i="0" u="none" strike="noStrike" baseline="0" dirty="0">
                <a:solidFill>
                  <a:srgbClr val="000000"/>
                </a:solidFill>
                <a:latin typeface="楷体" panose="02010609060101010101" pitchFamily="49" charset="-122"/>
                <a:ea typeface="楷体" panose="02010609060101010101" pitchFamily="49" charset="-122"/>
              </a:rPr>
              <a:t>单元。</a:t>
            </a:r>
            <a:endParaRPr lang="zh-CN" altLang="en-US" sz="2800" b="0" i="0" u="none" strike="noStrike" baseline="0" dirty="0">
              <a:solidFill>
                <a:srgbClr val="000000"/>
              </a:solidFill>
              <a:latin typeface="楷体" panose="02010609060101010101" pitchFamily="49" charset="-122"/>
              <a:ea typeface="楷体" panose="02010609060101010101" pitchFamily="49" charset="-122"/>
            </a:endParaRPr>
          </a:p>
          <a:p>
            <a:pPr marL="0" indent="0">
              <a:buNone/>
            </a:pPr>
            <a:r>
              <a:rPr lang="en-US" altLang="zh-CN" dirty="0">
                <a:solidFill>
                  <a:srgbClr val="000000"/>
                </a:solidFill>
                <a:latin typeface="Times New Roman" panose="02020603050405020304" pitchFamily="18" charset="0"/>
                <a:ea typeface="楷体" panose="02010609060101010101" pitchFamily="49" charset="-122"/>
              </a:rPr>
              <a:t>    MOV AL </a:t>
            </a:r>
            <a:r>
              <a:rPr lang="zh-CN" altLang="en-US" dirty="0">
                <a:solidFill>
                  <a:srgbClr val="000000"/>
                </a:solidFill>
                <a:latin typeface="Times New Roman" panose="02020603050405020304" pitchFamily="18" charset="0"/>
                <a:ea typeface="楷体" panose="02010609060101010101" pitchFamily="49" charset="-122"/>
              </a:rPr>
              <a:t>，</a:t>
            </a:r>
            <a:r>
              <a:rPr lang="en-US" altLang="zh-CN" dirty="0">
                <a:solidFill>
                  <a:srgbClr val="000000"/>
                </a:solidFill>
                <a:latin typeface="Times New Roman" panose="02020603050405020304" pitchFamily="18" charset="0"/>
                <a:ea typeface="楷体" panose="02010609060101010101" pitchFamily="49" charset="-122"/>
              </a:rPr>
              <a:t>BUF </a:t>
            </a:r>
            <a:r>
              <a:rPr lang="zh-CN" altLang="en-US" sz="2800" b="0" i="0" u="none" strike="noStrike" baseline="0" dirty="0">
                <a:solidFill>
                  <a:srgbClr val="000000"/>
                </a:solidFill>
                <a:latin typeface="楷体" panose="02010609060101010101" pitchFamily="49" charset="-122"/>
                <a:ea typeface="楷体" panose="02010609060101010101" pitchFamily="49" charset="-122"/>
              </a:rPr>
              <a:t>；取数字量</a:t>
            </a:r>
            <a:endParaRPr lang="en-US" altLang="zh-CN" sz="2800" b="0" i="0" u="none" strike="noStrike" baseline="0" dirty="0">
              <a:solidFill>
                <a:srgbClr val="000000"/>
              </a:solidFill>
              <a:latin typeface="楷体" panose="02010609060101010101" pitchFamily="49" charset="-122"/>
              <a:ea typeface="楷体" panose="02010609060101010101" pitchFamily="49" charset="-122"/>
            </a:endParaRPr>
          </a:p>
          <a:p>
            <a:pPr marL="0" indent="0">
              <a:buNone/>
            </a:pPr>
            <a:r>
              <a:rPr lang="en-US" altLang="zh-CN" sz="2800" b="0" i="0" u="none" strike="noStrike" baseline="0" dirty="0">
                <a:solidFill>
                  <a:srgbClr val="000000"/>
                </a:solidFill>
                <a:latin typeface="Times New Roman" panose="02020603050405020304" pitchFamily="18" charset="0"/>
                <a:ea typeface="楷体" panose="02010609060101010101" pitchFamily="49" charset="-122"/>
              </a:rPr>
              <a:t>    MOV DX</a:t>
            </a:r>
            <a:r>
              <a:rPr lang="zh-CN" altLang="en-US" sz="2800" b="0" i="0" u="none" strike="noStrike" baseline="0" dirty="0">
                <a:solidFill>
                  <a:srgbClr val="000000"/>
                </a:solidFill>
                <a:latin typeface="楷体" panose="02010609060101010101" pitchFamily="49" charset="-122"/>
                <a:ea typeface="楷体" panose="02010609060101010101" pitchFamily="49" charset="-122"/>
              </a:rPr>
              <a:t>，</a:t>
            </a:r>
            <a:r>
              <a:rPr lang="en-US" altLang="zh-CN" sz="2800" b="0" i="0" u="none" strike="noStrike" baseline="0" dirty="0">
                <a:solidFill>
                  <a:srgbClr val="000000"/>
                </a:solidFill>
                <a:latin typeface="Times New Roman" panose="02020603050405020304" pitchFamily="18" charset="0"/>
                <a:ea typeface="楷体" panose="02010609060101010101" pitchFamily="49" charset="-122"/>
              </a:rPr>
              <a:t>PORTD</a:t>
            </a:r>
            <a:r>
              <a:rPr lang="zh-CN" altLang="en-US" sz="2800" b="0" i="0" u="none" strike="noStrike" baseline="0" dirty="0">
                <a:solidFill>
                  <a:srgbClr val="000000"/>
                </a:solidFill>
                <a:latin typeface="楷体" panose="02010609060101010101" pitchFamily="49" charset="-122"/>
                <a:ea typeface="楷体" panose="02010609060101010101" pitchFamily="49" charset="-122"/>
              </a:rPr>
              <a:t>；</a:t>
            </a:r>
            <a:r>
              <a:rPr lang="en-US" altLang="zh-CN" sz="2800" b="0" i="0" u="none" strike="noStrike" baseline="0" dirty="0">
                <a:solidFill>
                  <a:srgbClr val="000000"/>
                </a:solidFill>
                <a:latin typeface="Times New Roman" panose="02020603050405020304" pitchFamily="18" charset="0"/>
                <a:ea typeface="楷体" panose="02010609060101010101" pitchFamily="49" charset="-122"/>
              </a:rPr>
              <a:t>PORTD</a:t>
            </a:r>
            <a:r>
              <a:rPr lang="zh-CN" altLang="en-US" sz="2800" b="0" i="0" u="none" strike="noStrike" baseline="0" dirty="0">
                <a:solidFill>
                  <a:srgbClr val="000000"/>
                </a:solidFill>
                <a:latin typeface="楷体" panose="02010609060101010101" pitchFamily="49" charset="-122"/>
                <a:ea typeface="楷体" panose="02010609060101010101" pitchFamily="49" charset="-122"/>
              </a:rPr>
              <a:t>为</a:t>
            </a:r>
            <a:r>
              <a:rPr lang="en-US" altLang="zh-CN" sz="2800" b="0" i="0" u="none" strike="noStrike" baseline="0" dirty="0">
                <a:solidFill>
                  <a:srgbClr val="000000"/>
                </a:solidFill>
                <a:latin typeface="Times New Roman" panose="02020603050405020304" pitchFamily="18" charset="0"/>
                <a:ea typeface="楷体" panose="02010609060101010101" pitchFamily="49" charset="-122"/>
              </a:rPr>
              <a:t>DAC</a:t>
            </a:r>
            <a:r>
              <a:rPr lang="zh-CN" altLang="en-US" sz="2800" b="0" i="0" u="none" strike="noStrike" baseline="0" dirty="0">
                <a:solidFill>
                  <a:srgbClr val="000000"/>
                </a:solidFill>
                <a:latin typeface="楷体" panose="02010609060101010101" pitchFamily="49" charset="-122"/>
                <a:ea typeface="楷体" panose="02010609060101010101" pitchFamily="49" charset="-122"/>
              </a:rPr>
              <a:t>端口地址</a:t>
            </a:r>
            <a:endParaRPr lang="en-US" altLang="zh-CN" sz="2800" b="0" i="0" u="none" strike="noStrike" baseline="0" dirty="0">
              <a:solidFill>
                <a:srgbClr val="000000"/>
              </a:solidFill>
              <a:latin typeface="楷体" panose="02010609060101010101" pitchFamily="49" charset="-122"/>
              <a:ea typeface="楷体" panose="02010609060101010101" pitchFamily="49" charset="-122"/>
            </a:endParaRPr>
          </a:p>
          <a:p>
            <a:pPr marL="0" indent="0">
              <a:buNone/>
            </a:pPr>
            <a:r>
              <a:rPr lang="en-US" altLang="zh-CN" sz="2800" b="0" i="0" u="none" strike="noStrike" baseline="0" dirty="0">
                <a:solidFill>
                  <a:srgbClr val="000000"/>
                </a:solidFill>
                <a:latin typeface="Times New Roman" panose="02020603050405020304" pitchFamily="18" charset="0"/>
                <a:ea typeface="楷体" panose="02010609060101010101" pitchFamily="49" charset="-122"/>
              </a:rPr>
              <a:t>    OUT DX</a:t>
            </a:r>
            <a:r>
              <a:rPr lang="zh-CN" altLang="en-US" sz="2800" b="0" i="0" u="none" strike="noStrike" baseline="0" dirty="0">
                <a:solidFill>
                  <a:srgbClr val="000000"/>
                </a:solidFill>
                <a:latin typeface="楷体" panose="02010609060101010101" pitchFamily="49" charset="-122"/>
                <a:ea typeface="楷体" panose="02010609060101010101" pitchFamily="49" charset="-122"/>
              </a:rPr>
              <a:t>，</a:t>
            </a:r>
            <a:r>
              <a:rPr lang="en-US" altLang="zh-CN" sz="2800" b="0" i="0" u="none" strike="noStrike" baseline="0" dirty="0">
                <a:solidFill>
                  <a:srgbClr val="000000"/>
                </a:solidFill>
                <a:latin typeface="Times New Roman" panose="02020603050405020304" pitchFamily="18" charset="0"/>
                <a:ea typeface="楷体" panose="02010609060101010101" pitchFamily="49" charset="-122"/>
              </a:rPr>
              <a:t>AL </a:t>
            </a:r>
            <a:r>
              <a:rPr lang="zh-CN" altLang="en-US" sz="2800" b="0" i="0" u="none" strike="noStrike" baseline="0" dirty="0">
                <a:solidFill>
                  <a:srgbClr val="000000"/>
                </a:solidFill>
                <a:latin typeface="楷体" panose="02010609060101010101" pitchFamily="49" charset="-122"/>
                <a:ea typeface="楷体" panose="02010609060101010101" pitchFamily="49" charset="-122"/>
              </a:rPr>
              <a:t>；输出，进行</a:t>
            </a:r>
            <a:r>
              <a:rPr lang="en-US" altLang="zh-CN" sz="2800" b="0" i="0" u="none" strike="noStrike" baseline="0" dirty="0">
                <a:solidFill>
                  <a:srgbClr val="000000"/>
                </a:solidFill>
                <a:latin typeface="Times New Roman" panose="02020603050405020304" pitchFamily="18" charset="0"/>
                <a:ea typeface="楷体" panose="02010609060101010101" pitchFamily="49" charset="-122"/>
              </a:rPr>
              <a:t>D/A</a:t>
            </a:r>
            <a:r>
              <a:rPr lang="zh-CN" altLang="en-US" sz="2800" b="0" i="0" u="none" strike="noStrike" baseline="0" dirty="0">
                <a:solidFill>
                  <a:srgbClr val="000000"/>
                </a:solidFill>
                <a:latin typeface="楷体" panose="02010609060101010101" pitchFamily="49" charset="-122"/>
                <a:ea typeface="楷体" panose="02010609060101010101" pitchFamily="49" charset="-122"/>
              </a:rPr>
              <a:t>转换</a:t>
            </a:r>
            <a:endParaRPr lang="zh-CN" altLang="en-US" sz="2800" b="0" i="0" u="none" strike="noStrike" baseline="0" dirty="0">
              <a:solidFill>
                <a:srgbClr val="000000"/>
              </a:solidFill>
              <a:latin typeface="楷体" panose="02010609060101010101" pitchFamily="49" charset="-122"/>
              <a:ea typeface="楷体" panose="02010609060101010101" pitchFamily="49" charset="-122"/>
            </a:endParaRPr>
          </a:p>
          <a:p>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DAC0832</a:t>
            </a:r>
            <a:r>
              <a:rPr lang="zh-CN" altLang="en-US" dirty="0"/>
              <a:t>与</a:t>
            </a:r>
            <a:r>
              <a:rPr lang="en-US" altLang="zh-CN" dirty="0"/>
              <a:t>CPU</a:t>
            </a:r>
            <a:r>
              <a:rPr lang="zh-CN" altLang="en-US" dirty="0"/>
              <a:t>的接口</a:t>
            </a:r>
            <a:endParaRPr lang="zh-CN" altLang="en-US" dirty="0"/>
          </a:p>
        </p:txBody>
      </p:sp>
      <p:sp>
        <p:nvSpPr>
          <p:cNvPr id="3" name="内容占位符 2"/>
          <p:cNvSpPr>
            <a:spLocks noGrp="1"/>
          </p:cNvSpPr>
          <p:nvPr>
            <p:ph idx="1"/>
          </p:nvPr>
        </p:nvSpPr>
        <p:spPr>
          <a:xfrm>
            <a:off x="609601" y="1719263"/>
            <a:ext cx="5751442" cy="4411662"/>
          </a:xfrm>
        </p:spPr>
        <p:txBody>
          <a:bodyPr/>
          <a:lstStyle/>
          <a:p>
            <a:pPr marL="0" indent="0">
              <a:buNone/>
            </a:pPr>
            <a:r>
              <a:rPr lang="zh-CN" altLang="en-US" dirty="0" smtClean="0"/>
              <a:t>（</a:t>
            </a:r>
            <a:r>
              <a:rPr lang="en-US" altLang="zh-CN" dirty="0" smtClean="0"/>
              <a:t>2</a:t>
            </a:r>
            <a:r>
              <a:rPr lang="zh-CN" altLang="en-US" dirty="0" smtClean="0"/>
              <a:t>）双</a:t>
            </a:r>
            <a:r>
              <a:rPr lang="zh-CN" altLang="en-US" dirty="0"/>
              <a:t>缓冲方式</a:t>
            </a:r>
            <a:endParaRPr lang="zh-CN" altLang="en-US" dirty="0"/>
          </a:p>
          <a:p>
            <a:r>
              <a:rPr lang="zh-CN" altLang="en-US" dirty="0"/>
              <a:t>设</a:t>
            </a:r>
            <a:r>
              <a:rPr lang="en-US" altLang="zh-CN" dirty="0"/>
              <a:t>CS</a:t>
            </a:r>
            <a:r>
              <a:rPr lang="zh-CN" altLang="en-US" dirty="0"/>
              <a:t>的端口地址为</a:t>
            </a:r>
            <a:r>
              <a:rPr lang="en-US" altLang="zh-CN" dirty="0"/>
              <a:t>320H</a:t>
            </a:r>
            <a:r>
              <a:rPr lang="zh-CN" altLang="en-US" dirty="0"/>
              <a:t>，</a:t>
            </a:r>
            <a:r>
              <a:rPr lang="en-US" altLang="zh-CN" dirty="0"/>
              <a:t>XFER</a:t>
            </a:r>
            <a:r>
              <a:rPr lang="zh-CN" altLang="en-US" dirty="0"/>
              <a:t>的端口地址为</a:t>
            </a:r>
            <a:r>
              <a:rPr lang="en-US" altLang="zh-CN" dirty="0"/>
              <a:t>321H</a:t>
            </a:r>
            <a:r>
              <a:rPr lang="zh-CN" altLang="en-US" dirty="0"/>
              <a:t>。</a:t>
            </a:r>
            <a:r>
              <a:rPr lang="en-US" altLang="zh-CN" dirty="0"/>
              <a:t>CPU</a:t>
            </a:r>
            <a:r>
              <a:rPr lang="zh-CN" altLang="en-US" dirty="0"/>
              <a:t>执行第一条输出指令，将待转换的数据写入输入寄存器；再执行第二条输出指令，把输入寄存器的内容写入</a:t>
            </a:r>
            <a:r>
              <a:rPr lang="en-US" altLang="zh-CN" dirty="0"/>
              <a:t>DAC</a:t>
            </a:r>
            <a:r>
              <a:rPr lang="zh-CN" altLang="en-US" dirty="0"/>
              <a:t>寄存器，并启动</a:t>
            </a:r>
            <a:r>
              <a:rPr lang="en-US" altLang="zh-CN" dirty="0"/>
              <a:t>D/A</a:t>
            </a:r>
            <a:r>
              <a:rPr lang="zh-CN" altLang="en-US" dirty="0"/>
              <a:t>转换。执行第二条输出指令时，</a:t>
            </a:r>
            <a:r>
              <a:rPr lang="en-US" altLang="zh-CN" dirty="0"/>
              <a:t>AL</a:t>
            </a:r>
            <a:r>
              <a:rPr lang="zh-CN" altLang="en-US" dirty="0"/>
              <a:t>中的数据为多少是无关紧要的，主要目的是使</a:t>
            </a:r>
            <a:r>
              <a:rPr lang="en-US" altLang="zh-CN" dirty="0"/>
              <a:t>XFER</a:t>
            </a:r>
            <a:r>
              <a:rPr lang="zh-CN" altLang="en-US" dirty="0"/>
              <a:t>有效。</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cxnSp>
        <p:nvCxnSpPr>
          <p:cNvPr id="11" name="直接连接符 10"/>
          <p:cNvCxnSpPr/>
          <p:nvPr/>
        </p:nvCxnSpPr>
        <p:spPr bwMode="auto">
          <a:xfrm>
            <a:off x="1431235" y="2319130"/>
            <a:ext cx="463826" cy="0"/>
          </a:xfrm>
          <a:prstGeom prst="line">
            <a:avLst/>
          </a:prstGeom>
          <a:solidFill>
            <a:schemeClr val="accent1"/>
          </a:solidFill>
          <a:ln w="2857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直接连接符 12"/>
          <p:cNvCxnSpPr/>
          <p:nvPr/>
        </p:nvCxnSpPr>
        <p:spPr bwMode="auto">
          <a:xfrm>
            <a:off x="5201478" y="2312503"/>
            <a:ext cx="894522" cy="0"/>
          </a:xfrm>
          <a:prstGeom prst="line">
            <a:avLst/>
          </a:prstGeom>
          <a:solidFill>
            <a:schemeClr val="accent1"/>
          </a:solidFill>
          <a:ln w="2857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直接连接符 14"/>
          <p:cNvCxnSpPr/>
          <p:nvPr/>
        </p:nvCxnSpPr>
        <p:spPr bwMode="auto">
          <a:xfrm>
            <a:off x="3169478" y="5744817"/>
            <a:ext cx="912192" cy="0"/>
          </a:xfrm>
          <a:prstGeom prst="line">
            <a:avLst/>
          </a:prstGeom>
          <a:solidFill>
            <a:schemeClr val="accent1"/>
          </a:solidFill>
          <a:ln w="2857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8" name="图片 17"/>
          <p:cNvPicPr>
            <a:picLocks noChangeAspect="1"/>
          </p:cNvPicPr>
          <p:nvPr/>
        </p:nvPicPr>
        <p:blipFill>
          <a:blip r:embed="rId1" cstate="print"/>
          <a:stretch>
            <a:fillRect/>
          </a:stretch>
        </p:blipFill>
        <p:spPr>
          <a:xfrm>
            <a:off x="6361044" y="2650684"/>
            <a:ext cx="5405150" cy="2901977"/>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DAC0832</a:t>
            </a:r>
            <a:r>
              <a:rPr lang="zh-CN" altLang="en-US" dirty="0"/>
              <a:t>与</a:t>
            </a:r>
            <a:r>
              <a:rPr lang="en-US" altLang="zh-CN" dirty="0"/>
              <a:t>CPU</a:t>
            </a:r>
            <a:r>
              <a:rPr lang="zh-CN" altLang="en-US" dirty="0"/>
              <a:t>的接口</a:t>
            </a:r>
            <a:endParaRPr lang="zh-CN" altLang="en-US" dirty="0"/>
          </a:p>
        </p:txBody>
      </p:sp>
      <p:sp>
        <p:nvSpPr>
          <p:cNvPr id="3" name="内容占位符 2"/>
          <p:cNvSpPr>
            <a:spLocks noGrp="1"/>
          </p:cNvSpPr>
          <p:nvPr>
            <p:ph idx="1"/>
          </p:nvPr>
        </p:nvSpPr>
        <p:spPr>
          <a:xfrm>
            <a:off x="702367" y="2681805"/>
            <a:ext cx="10058400" cy="2839485"/>
          </a:xfrm>
        </p:spPr>
        <p:txBody>
          <a:bodyPr/>
          <a:lstStyle/>
          <a:p>
            <a:pPr>
              <a:buFont typeface="Wingdings" panose="05000000000000000000" pitchFamily="2" charset="2"/>
              <a:buNone/>
            </a:pPr>
            <a:r>
              <a:rPr lang="zh-CN" altLang="zh-CN" sz="2800" dirty="0"/>
              <a:t> </a:t>
            </a:r>
            <a:r>
              <a:rPr lang="en-US" altLang="zh-CN" sz="2800" dirty="0"/>
              <a:t>  </a:t>
            </a:r>
            <a:r>
              <a:rPr lang="zh-CN" altLang="zh-CN" sz="2800" dirty="0"/>
              <a:t>MOV  DX，320H</a:t>
            </a:r>
            <a:endParaRPr lang="zh-CN" altLang="zh-CN" sz="2800" dirty="0"/>
          </a:p>
          <a:p>
            <a:pPr>
              <a:buFont typeface="Wingdings" panose="05000000000000000000" pitchFamily="2" charset="2"/>
              <a:buNone/>
            </a:pPr>
            <a:r>
              <a:rPr lang="zh-CN" altLang="zh-CN" sz="2800" dirty="0"/>
              <a:t>   MOV  AL，DATA；DATA为被转换的数据</a:t>
            </a:r>
            <a:endParaRPr lang="zh-CN" altLang="zh-CN" sz="2800" dirty="0"/>
          </a:p>
          <a:p>
            <a:pPr>
              <a:buFont typeface="Wingdings" panose="05000000000000000000" pitchFamily="2" charset="2"/>
              <a:buNone/>
            </a:pPr>
            <a:r>
              <a:rPr lang="zh-CN" altLang="zh-CN" sz="2800" dirty="0"/>
              <a:t>   OUT  DX，AL；将数据写入输入寄存器</a:t>
            </a:r>
            <a:endParaRPr lang="zh-CN" altLang="zh-CN" sz="2800" dirty="0"/>
          </a:p>
          <a:p>
            <a:pPr>
              <a:buFont typeface="Wingdings" panose="05000000000000000000" pitchFamily="2" charset="2"/>
              <a:buNone/>
            </a:pPr>
            <a:r>
              <a:rPr lang="zh-CN" altLang="zh-CN" sz="2800" dirty="0"/>
              <a:t>   INC  DX </a:t>
            </a:r>
            <a:endParaRPr lang="zh-CN" altLang="zh-CN" sz="2800" dirty="0"/>
          </a:p>
          <a:p>
            <a:pPr>
              <a:buFont typeface="Wingdings" panose="05000000000000000000" pitchFamily="2" charset="2"/>
              <a:buNone/>
            </a:pPr>
            <a:r>
              <a:rPr lang="zh-CN" altLang="zh-CN" sz="2800" dirty="0"/>
              <a:t>   OUT  DX，AL；选通DAC寄存器，启动D/A转换 </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
        <p:nvSpPr>
          <p:cNvPr id="7" name="文本框 6"/>
          <p:cNvSpPr txBox="1"/>
          <p:nvPr/>
        </p:nvSpPr>
        <p:spPr>
          <a:xfrm>
            <a:off x="1060174" y="1818889"/>
            <a:ext cx="6096000" cy="523220"/>
          </a:xfrm>
          <a:prstGeom prst="rect">
            <a:avLst/>
          </a:prstGeom>
          <a:noFill/>
        </p:spPr>
        <p:txBody>
          <a:bodyPr wrap="square">
            <a:spAutoFit/>
          </a:bodyPr>
          <a:lstStyle/>
          <a:p>
            <a:r>
              <a:rPr lang="zh-CN" altLang="en-US" sz="2800" b="0" i="0" u="none" strike="noStrike" baseline="0" dirty="0">
                <a:solidFill>
                  <a:srgbClr val="000000"/>
                </a:solidFill>
                <a:latin typeface="宋体" panose="02010600030101010101" pitchFamily="2" charset="-122"/>
                <a:ea typeface="宋体" panose="02010600030101010101" pitchFamily="2" charset="-122"/>
              </a:rPr>
              <a:t>双缓冲方式：程序段</a:t>
            </a:r>
            <a:endParaRPr lang="zh-CN" altLang="en-US" sz="28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小结</a:t>
            </a:r>
            <a:endParaRPr lang="zh-CN" altLang="en-US" dirty="0"/>
          </a:p>
        </p:txBody>
      </p:sp>
      <p:sp>
        <p:nvSpPr>
          <p:cNvPr id="3" name="内容占位符 2"/>
          <p:cNvSpPr>
            <a:spLocks noGrp="1"/>
          </p:cNvSpPr>
          <p:nvPr>
            <p:ph idx="1"/>
          </p:nvPr>
        </p:nvSpPr>
        <p:spPr/>
        <p:txBody>
          <a:bodyPr/>
          <a:lstStyle/>
          <a:p>
            <a:pPr marL="0" indent="0">
              <a:buNone/>
            </a:pPr>
            <a:r>
              <a:rPr lang="zh-CN" altLang="en-US" dirty="0"/>
              <a:t>本节课重点讲授了：</a:t>
            </a:r>
            <a:endParaRPr lang="zh-CN" altLang="en-US" dirty="0"/>
          </a:p>
          <a:p>
            <a:r>
              <a:rPr lang="en-US" altLang="zh-CN" dirty="0"/>
              <a:t>DAC0832</a:t>
            </a:r>
            <a:r>
              <a:rPr lang="zh-CN" altLang="en-US" dirty="0"/>
              <a:t>的内部结构和主要引脚。</a:t>
            </a:r>
            <a:endParaRPr lang="zh-CN" altLang="en-US" dirty="0"/>
          </a:p>
          <a:p>
            <a:r>
              <a:rPr lang="en-US" altLang="zh-CN" dirty="0"/>
              <a:t>DAC0832</a:t>
            </a:r>
            <a:r>
              <a:rPr lang="zh-CN" altLang="en-US" dirty="0"/>
              <a:t>的三种工作方式：直通方式、单缓冲方式和双缓冲方式。</a:t>
            </a:r>
            <a:endParaRPr lang="zh-CN" altLang="en-US" dirty="0"/>
          </a:p>
          <a:p>
            <a:r>
              <a:rPr lang="en-US" altLang="zh-CN" dirty="0"/>
              <a:t>DAC0832</a:t>
            </a:r>
            <a:r>
              <a:rPr lang="zh-CN" altLang="en-US" dirty="0"/>
              <a:t>的输出方式：单极性电压输出和双极性电压输出。</a:t>
            </a:r>
            <a:endParaRPr lang="zh-CN" altLang="en-US" dirty="0"/>
          </a:p>
          <a:p>
            <a:r>
              <a:rPr lang="en-US" altLang="zh-CN" dirty="0"/>
              <a:t>DAC0832</a:t>
            </a:r>
            <a:r>
              <a:rPr lang="zh-CN" altLang="en-US" dirty="0"/>
              <a:t>与</a:t>
            </a:r>
            <a:r>
              <a:rPr lang="en-US" altLang="zh-CN" dirty="0"/>
              <a:t>CPU</a:t>
            </a:r>
            <a:r>
              <a:rPr lang="zh-CN" altLang="en-US" dirty="0"/>
              <a:t>的接口：单缓冲方式和双缓冲方式。</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10.3 </a:t>
            </a:r>
            <a:r>
              <a:rPr lang="zh-CN" altLang="en-US" dirty="0" smtClean="0"/>
              <a:t>模</a:t>
            </a:r>
            <a:r>
              <a:rPr lang="en-US" altLang="zh-CN" dirty="0"/>
              <a:t>/</a:t>
            </a:r>
            <a:r>
              <a:rPr lang="zh-CN" altLang="en-US" dirty="0"/>
              <a:t>数</a:t>
            </a:r>
            <a:r>
              <a:rPr lang="en-US" altLang="zh-CN" dirty="0"/>
              <a:t>(A/D)</a:t>
            </a:r>
            <a:r>
              <a:rPr lang="zh-CN" altLang="en-US" dirty="0" smtClean="0"/>
              <a:t>转换器</a:t>
            </a:r>
            <a:endParaRPr lang="zh-CN" altLang="en-US" dirty="0"/>
          </a:p>
        </p:txBody>
      </p:sp>
      <p:sp>
        <p:nvSpPr>
          <p:cNvPr id="3" name="内容占位符 2"/>
          <p:cNvSpPr>
            <a:spLocks noGrp="1"/>
          </p:cNvSpPr>
          <p:nvPr>
            <p:ph idx="1"/>
          </p:nvPr>
        </p:nvSpPr>
        <p:spPr/>
        <p:txBody>
          <a:bodyPr/>
          <a:lstStyle/>
          <a:p>
            <a:r>
              <a:rPr lang="en-US" altLang="zh-CN" dirty="0" smtClean="0"/>
              <a:t>A/D</a:t>
            </a:r>
            <a:r>
              <a:rPr lang="zh-CN" altLang="en-US" dirty="0"/>
              <a:t>转换原理</a:t>
            </a:r>
            <a:endParaRPr lang="en-US" altLang="zh-CN" dirty="0"/>
          </a:p>
          <a:p>
            <a:r>
              <a:rPr lang="en-US" altLang="zh-CN" dirty="0"/>
              <a:t>A/D</a:t>
            </a:r>
            <a:r>
              <a:rPr lang="zh-CN" altLang="en-US" dirty="0"/>
              <a:t>转换器主要技术参数</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10.3.1 A/D</a:t>
            </a:r>
            <a:r>
              <a:rPr lang="zh-CN" altLang="en-US" dirty="0"/>
              <a:t>转换原理</a:t>
            </a:r>
            <a:endParaRPr lang="zh-CN" altLang="en-US" dirty="0"/>
          </a:p>
        </p:txBody>
      </p:sp>
      <p:sp>
        <p:nvSpPr>
          <p:cNvPr id="3" name="内容占位符 2"/>
          <p:cNvSpPr>
            <a:spLocks noGrp="1"/>
          </p:cNvSpPr>
          <p:nvPr>
            <p:ph idx="1"/>
          </p:nvPr>
        </p:nvSpPr>
        <p:spPr/>
        <p:txBody>
          <a:bodyPr/>
          <a:lstStyle/>
          <a:p>
            <a:r>
              <a:rPr lang="en-US" altLang="zh-CN" dirty="0"/>
              <a:t>A/D</a:t>
            </a:r>
            <a:r>
              <a:rPr lang="zh-CN" altLang="en-US" dirty="0"/>
              <a:t>转换器的类型：</a:t>
            </a:r>
            <a:endParaRPr lang="zh-CN" altLang="en-US" dirty="0"/>
          </a:p>
          <a:p>
            <a:pPr lvl="1"/>
            <a:r>
              <a:rPr lang="zh-CN" altLang="en-US" dirty="0"/>
              <a:t>积分型</a:t>
            </a:r>
            <a:endParaRPr lang="zh-CN" altLang="en-US" dirty="0"/>
          </a:p>
          <a:p>
            <a:pPr lvl="1"/>
            <a:r>
              <a:rPr lang="zh-CN" altLang="en-US" dirty="0"/>
              <a:t>逐次比较型</a:t>
            </a:r>
            <a:endParaRPr lang="zh-CN" altLang="en-US" dirty="0"/>
          </a:p>
          <a:p>
            <a:pPr lvl="1"/>
            <a:r>
              <a:rPr lang="zh-CN" altLang="en-US" dirty="0"/>
              <a:t>并行比较型</a:t>
            </a:r>
            <a:r>
              <a:rPr lang="en-US" altLang="zh-CN" dirty="0"/>
              <a:t>/</a:t>
            </a:r>
            <a:r>
              <a:rPr lang="zh-CN" altLang="en-US" dirty="0"/>
              <a:t>串并行型</a:t>
            </a:r>
            <a:endParaRPr lang="zh-CN" altLang="en-US" dirty="0"/>
          </a:p>
          <a:p>
            <a:pPr lvl="1"/>
            <a:r>
              <a:rPr lang="en-US" altLang="zh-CN" dirty="0"/>
              <a:t>Σ-Δ</a:t>
            </a:r>
            <a:r>
              <a:rPr lang="zh-CN" altLang="en-US" dirty="0"/>
              <a:t>调制型</a:t>
            </a:r>
            <a:endParaRPr lang="zh-CN" altLang="en-US" dirty="0"/>
          </a:p>
          <a:p>
            <a:pPr lvl="1"/>
            <a:r>
              <a:rPr lang="zh-CN" altLang="en-US" dirty="0"/>
              <a:t>电容阵列逐次比较型</a:t>
            </a:r>
            <a:endParaRPr lang="zh-CN" altLang="en-US" dirty="0"/>
          </a:p>
          <a:p>
            <a:pPr lvl="1"/>
            <a:r>
              <a:rPr lang="zh-CN" altLang="en-US" dirty="0"/>
              <a:t>压频变换型</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6103" y="-72232"/>
            <a:ext cx="10058400" cy="1295400"/>
          </a:xfrm>
        </p:spPr>
        <p:txBody>
          <a:bodyPr/>
          <a:lstStyle/>
          <a:p>
            <a:r>
              <a:rPr lang="en-US" altLang="zh-CN" dirty="0"/>
              <a:t>A/D</a:t>
            </a:r>
            <a:r>
              <a:rPr lang="zh-CN" altLang="en-US" dirty="0"/>
              <a:t>转换原理</a:t>
            </a:r>
            <a:endParaRPr lang="zh-CN" altLang="en-US" dirty="0"/>
          </a:p>
        </p:txBody>
      </p:sp>
      <p:sp>
        <p:nvSpPr>
          <p:cNvPr id="3" name="内容占位符 2"/>
          <p:cNvSpPr>
            <a:spLocks noGrp="1"/>
          </p:cNvSpPr>
          <p:nvPr>
            <p:ph idx="1"/>
          </p:nvPr>
        </p:nvSpPr>
        <p:spPr>
          <a:xfrm>
            <a:off x="609600" y="1223168"/>
            <a:ext cx="6162260" cy="4411662"/>
          </a:xfrm>
        </p:spPr>
        <p:txBody>
          <a:bodyPr/>
          <a:lstStyle/>
          <a:p>
            <a:pPr marL="0" indent="0">
              <a:buNone/>
            </a:pPr>
            <a:r>
              <a:rPr lang="zh-CN" altLang="en-US" dirty="0"/>
              <a:t>逐次比较型</a:t>
            </a:r>
            <a:r>
              <a:rPr lang="en-US" altLang="zh-CN" dirty="0"/>
              <a:t>A/D</a:t>
            </a:r>
            <a:r>
              <a:rPr lang="zh-CN" altLang="en-US" dirty="0"/>
              <a:t>转换原理</a:t>
            </a:r>
            <a:endParaRPr lang="zh-CN" altLang="en-US" dirty="0"/>
          </a:p>
          <a:p>
            <a:r>
              <a:rPr lang="zh-CN" altLang="en-US" dirty="0"/>
              <a:t>初始化时将逐次逼近寄存器（</a:t>
            </a:r>
            <a:r>
              <a:rPr lang="en-US" altLang="zh-CN" dirty="0"/>
              <a:t>SAR</a:t>
            </a:r>
            <a:r>
              <a:rPr lang="zh-CN" altLang="en-US" dirty="0"/>
              <a:t>）各位清零；</a:t>
            </a:r>
            <a:endParaRPr lang="zh-CN" altLang="en-US" dirty="0"/>
          </a:p>
          <a:p>
            <a:r>
              <a:rPr lang="zh-CN" altLang="en-US" dirty="0"/>
              <a:t>转换开始时，先将</a:t>
            </a:r>
            <a:r>
              <a:rPr lang="en-US" altLang="zh-CN" dirty="0"/>
              <a:t>SAR</a:t>
            </a:r>
            <a:r>
              <a:rPr lang="zh-CN" altLang="en-US" dirty="0"/>
              <a:t>最高位置</a:t>
            </a:r>
            <a:r>
              <a:rPr lang="en-US" altLang="zh-CN" dirty="0"/>
              <a:t>1</a:t>
            </a:r>
            <a:r>
              <a:rPr lang="zh-CN" altLang="en-US" dirty="0"/>
              <a:t>，送入</a:t>
            </a:r>
            <a:r>
              <a:rPr lang="en-US" altLang="zh-CN" dirty="0"/>
              <a:t>D/A</a:t>
            </a:r>
            <a:r>
              <a:rPr lang="zh-CN" altLang="en-US" dirty="0"/>
              <a:t>转换器，经</a:t>
            </a:r>
            <a:r>
              <a:rPr lang="en-US" altLang="zh-CN" dirty="0"/>
              <a:t>D/A</a:t>
            </a:r>
            <a:r>
              <a:rPr lang="zh-CN" altLang="en-US" dirty="0"/>
              <a:t>转换后生成的模拟量送入比较器，称为</a:t>
            </a:r>
            <a:r>
              <a:rPr lang="en-US" altLang="zh-CN" dirty="0"/>
              <a:t>V</a:t>
            </a:r>
            <a:r>
              <a:rPr lang="en-US" altLang="zh-CN" baseline="-25000" dirty="0"/>
              <a:t>O</a:t>
            </a:r>
            <a:r>
              <a:rPr lang="zh-CN" altLang="en-US" dirty="0"/>
              <a:t>，与送入比较器的待转换的模拟量</a:t>
            </a:r>
            <a:r>
              <a:rPr lang="en-US" altLang="zh-CN" dirty="0"/>
              <a:t>V</a:t>
            </a:r>
            <a:r>
              <a:rPr lang="en-US" altLang="zh-CN" baseline="-25000" dirty="0"/>
              <a:t>IN</a:t>
            </a:r>
            <a:r>
              <a:rPr lang="zh-CN" altLang="en-US" dirty="0"/>
              <a:t>进行比较，若</a:t>
            </a:r>
            <a:r>
              <a:rPr lang="en-US" altLang="zh-CN" dirty="0"/>
              <a:t>V</a:t>
            </a:r>
            <a:r>
              <a:rPr lang="en-US" altLang="zh-CN" baseline="-25000" dirty="0"/>
              <a:t>O</a:t>
            </a:r>
            <a:r>
              <a:rPr lang="en-US" altLang="zh-CN" dirty="0"/>
              <a:t>&lt;V</a:t>
            </a:r>
            <a:r>
              <a:rPr lang="en-US" altLang="zh-CN" baseline="-25000" dirty="0"/>
              <a:t>IN</a:t>
            </a:r>
            <a:r>
              <a:rPr lang="zh-CN" altLang="en-US" dirty="0"/>
              <a:t>，该位</a:t>
            </a:r>
            <a:r>
              <a:rPr lang="en-US" altLang="zh-CN" dirty="0"/>
              <a:t>1</a:t>
            </a:r>
            <a:r>
              <a:rPr lang="zh-CN" altLang="en-US" dirty="0"/>
              <a:t>被保留，否则被清除。然后再置确定</a:t>
            </a:r>
            <a:r>
              <a:rPr lang="en-US" altLang="zh-CN" dirty="0"/>
              <a:t>SAR</a:t>
            </a:r>
            <a:r>
              <a:rPr lang="zh-CN" altLang="en-US" dirty="0"/>
              <a:t>的次高位。重复此过程，直至</a:t>
            </a:r>
            <a:r>
              <a:rPr lang="en-US" altLang="zh-CN" dirty="0"/>
              <a:t>SAR</a:t>
            </a:r>
            <a:r>
              <a:rPr lang="zh-CN" altLang="en-US" dirty="0"/>
              <a:t>的最低位。</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pic>
        <p:nvPicPr>
          <p:cNvPr id="7" name="图片 6"/>
          <p:cNvPicPr>
            <a:picLocks noChangeAspect="1"/>
          </p:cNvPicPr>
          <p:nvPr/>
        </p:nvPicPr>
        <p:blipFill>
          <a:blip r:embed="rId1" cstate="print"/>
          <a:stretch>
            <a:fillRect/>
          </a:stretch>
        </p:blipFill>
        <p:spPr>
          <a:xfrm>
            <a:off x="6651311" y="2518568"/>
            <a:ext cx="5387126" cy="2036815"/>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10.3.2 A/D</a:t>
            </a:r>
            <a:r>
              <a:rPr lang="zh-CN" altLang="en-US" dirty="0"/>
              <a:t>转换器主要技术参数</a:t>
            </a:r>
            <a:endParaRPr lang="zh-CN" altLang="en-US" dirty="0"/>
          </a:p>
        </p:txBody>
      </p:sp>
      <p:sp>
        <p:nvSpPr>
          <p:cNvPr id="3" name="内容占位符 2"/>
          <p:cNvSpPr>
            <a:spLocks noGrp="1"/>
          </p:cNvSpPr>
          <p:nvPr>
            <p:ph idx="1"/>
          </p:nvPr>
        </p:nvSpPr>
        <p:spPr/>
        <p:txBody>
          <a:bodyPr/>
          <a:lstStyle/>
          <a:p>
            <a:r>
              <a:rPr lang="en-US" altLang="zh-CN" dirty="0"/>
              <a:t>A/D</a:t>
            </a:r>
            <a:r>
              <a:rPr lang="zh-CN" altLang="en-US" dirty="0"/>
              <a:t>转换器的主要技术参数有转换精度、转换时间等。</a:t>
            </a:r>
            <a:endParaRPr lang="zh-CN" altLang="en-US" dirty="0"/>
          </a:p>
          <a:p>
            <a:r>
              <a:rPr lang="zh-CN" altLang="en-US" dirty="0"/>
              <a:t>选择</a:t>
            </a:r>
            <a:r>
              <a:rPr lang="en-US" altLang="zh-CN" dirty="0"/>
              <a:t>A/D</a:t>
            </a:r>
            <a:r>
              <a:rPr lang="zh-CN" altLang="en-US" dirty="0"/>
              <a:t>转换器时，除考虑这两项技术参数外，还应注意满足其输入电压的范围、输出数字的编码、工作温度范围和电压稳定度等方面的要求。</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A/D</a:t>
            </a:r>
            <a:r>
              <a:rPr lang="zh-CN" altLang="en-US" dirty="0"/>
              <a:t>转换器主要技术参数</a:t>
            </a:r>
            <a:endParaRPr lang="zh-CN" altLang="en-US" dirty="0"/>
          </a:p>
        </p:txBody>
      </p:sp>
      <p:sp>
        <p:nvSpPr>
          <p:cNvPr id="3" name="内容占位符 2"/>
          <p:cNvSpPr>
            <a:spLocks noGrp="1"/>
          </p:cNvSpPr>
          <p:nvPr>
            <p:ph idx="1"/>
          </p:nvPr>
        </p:nvSpPr>
        <p:spPr/>
        <p:txBody>
          <a:bodyPr/>
          <a:lstStyle/>
          <a:p>
            <a:pPr marL="0" indent="0">
              <a:buNone/>
            </a:pPr>
            <a:r>
              <a:rPr lang="zh-CN" altLang="en-US" dirty="0"/>
              <a:t>转换精度</a:t>
            </a:r>
            <a:endParaRPr lang="zh-CN" altLang="en-US" dirty="0"/>
          </a:p>
          <a:p>
            <a:r>
              <a:rPr lang="zh-CN" altLang="en-US" dirty="0"/>
              <a:t>单片集成</a:t>
            </a:r>
            <a:r>
              <a:rPr lang="en-US" altLang="zh-CN" dirty="0"/>
              <a:t>A/D</a:t>
            </a:r>
            <a:r>
              <a:rPr lang="zh-CN" altLang="en-US" dirty="0"/>
              <a:t>转换器的转换精度是用分辨率和转换误差来描述的。</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A/D</a:t>
            </a:r>
            <a:r>
              <a:rPr lang="zh-CN" altLang="en-US" dirty="0"/>
              <a:t>转换器主要技术参数</a:t>
            </a:r>
            <a:endParaRPr lang="zh-CN" altLang="en-US" dirty="0"/>
          </a:p>
        </p:txBody>
      </p:sp>
      <p:sp>
        <p:nvSpPr>
          <p:cNvPr id="3" name="内容占位符 2"/>
          <p:cNvSpPr>
            <a:spLocks noGrp="1"/>
          </p:cNvSpPr>
          <p:nvPr>
            <p:ph idx="1"/>
          </p:nvPr>
        </p:nvSpPr>
        <p:spPr/>
        <p:txBody>
          <a:bodyPr/>
          <a:lstStyle/>
          <a:p>
            <a:pPr marL="0" indent="0">
              <a:buNone/>
            </a:pPr>
            <a:r>
              <a:rPr lang="zh-CN" altLang="en-US" dirty="0"/>
              <a:t>转换精度</a:t>
            </a:r>
            <a:endParaRPr lang="zh-CN" altLang="en-US" dirty="0"/>
          </a:p>
          <a:p>
            <a:r>
              <a:rPr lang="zh-CN" altLang="en-US" dirty="0"/>
              <a:t>分辨率：以输出二进制（或十进制）数的位数来表示。它说明</a:t>
            </a:r>
            <a:r>
              <a:rPr lang="en-US" altLang="zh-CN" dirty="0"/>
              <a:t>A/D</a:t>
            </a:r>
            <a:r>
              <a:rPr lang="zh-CN" altLang="en-US" dirty="0"/>
              <a:t>转换器对输入信号的分辨能力。</a:t>
            </a:r>
            <a:endParaRPr lang="zh-CN" altLang="en-US" dirty="0"/>
          </a:p>
          <a:p>
            <a:r>
              <a:rPr lang="zh-CN" altLang="en-US" dirty="0"/>
              <a:t>从理论上讲，</a:t>
            </a:r>
            <a:r>
              <a:rPr lang="en-US" altLang="zh-CN" dirty="0"/>
              <a:t>n</a:t>
            </a:r>
            <a:r>
              <a:rPr lang="zh-CN" altLang="en-US" dirty="0"/>
              <a:t>位输出的</a:t>
            </a:r>
            <a:r>
              <a:rPr lang="en-US" altLang="zh-CN" dirty="0"/>
              <a:t>A/D</a:t>
            </a:r>
            <a:r>
              <a:rPr lang="zh-CN" altLang="en-US" dirty="0"/>
              <a:t>转换器能区分</a:t>
            </a:r>
            <a:r>
              <a:rPr lang="en-US" altLang="zh-CN" dirty="0"/>
              <a:t>2</a:t>
            </a:r>
            <a:r>
              <a:rPr lang="en-US" altLang="zh-CN" baseline="30000" dirty="0"/>
              <a:t>n</a:t>
            </a:r>
            <a:r>
              <a:rPr lang="zh-CN" altLang="en-US" dirty="0"/>
              <a:t>个不同等级的输入模拟电压，能区分输入电压的最小值为满量程输入的</a:t>
            </a:r>
            <a:r>
              <a:rPr lang="en-US" altLang="zh-CN" dirty="0"/>
              <a:t>1/2</a:t>
            </a:r>
            <a:r>
              <a:rPr lang="en-US" altLang="zh-CN" baseline="30000" dirty="0"/>
              <a:t>n</a:t>
            </a:r>
            <a:r>
              <a:rPr lang="zh-CN" altLang="en-US" dirty="0"/>
              <a:t>。</a:t>
            </a:r>
            <a:endParaRPr lang="zh-CN" altLang="en-US" dirty="0"/>
          </a:p>
          <a:p>
            <a:r>
              <a:rPr lang="zh-CN" altLang="en-US" dirty="0"/>
              <a:t>在最大输入电压一定时，输出位数愈多，分辨率愈高。</a:t>
            </a:r>
            <a:endParaRPr lang="zh-CN" altLang="en-US" dirty="0"/>
          </a:p>
          <a:p>
            <a:r>
              <a:rPr lang="zh-CN" altLang="en-US" dirty="0"/>
              <a:t>例如</a:t>
            </a:r>
            <a:r>
              <a:rPr lang="en-US" altLang="zh-CN" dirty="0"/>
              <a:t>A/D</a:t>
            </a:r>
            <a:r>
              <a:rPr lang="zh-CN" altLang="en-US" dirty="0"/>
              <a:t>转换器输出为</a:t>
            </a:r>
            <a:r>
              <a:rPr lang="en-US" altLang="zh-CN" dirty="0"/>
              <a:t>8</a:t>
            </a:r>
            <a:r>
              <a:rPr lang="zh-CN" altLang="en-US" dirty="0"/>
              <a:t>位二进制数，输入信号最大值为</a:t>
            </a:r>
            <a:r>
              <a:rPr lang="en-US" altLang="zh-CN" dirty="0"/>
              <a:t>5V,</a:t>
            </a:r>
            <a:r>
              <a:rPr lang="zh-CN" altLang="en-US" dirty="0"/>
              <a:t>那么这个转换器应能区分出输入信号的最小电压为</a:t>
            </a:r>
            <a:r>
              <a:rPr lang="en-US" altLang="zh-CN" dirty="0"/>
              <a:t>19.53mV</a:t>
            </a:r>
            <a:r>
              <a:rPr lang="zh-CN" altLang="en-US" dirty="0"/>
              <a:t>。</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A/D</a:t>
            </a:r>
            <a:r>
              <a:rPr lang="zh-CN" altLang="en-US" dirty="0"/>
              <a:t>转换器主要技术参数</a:t>
            </a:r>
            <a:endParaRPr lang="zh-CN" altLang="en-US" dirty="0"/>
          </a:p>
        </p:txBody>
      </p:sp>
      <p:sp>
        <p:nvSpPr>
          <p:cNvPr id="3" name="内容占位符 2"/>
          <p:cNvSpPr>
            <a:spLocks noGrp="1"/>
          </p:cNvSpPr>
          <p:nvPr>
            <p:ph idx="1"/>
          </p:nvPr>
        </p:nvSpPr>
        <p:spPr/>
        <p:txBody>
          <a:bodyPr/>
          <a:lstStyle/>
          <a:p>
            <a:pPr marL="0" indent="0">
              <a:buNone/>
            </a:pPr>
            <a:r>
              <a:rPr lang="zh-CN" altLang="en-US" dirty="0"/>
              <a:t>转换精度</a:t>
            </a:r>
            <a:endParaRPr lang="zh-CN" altLang="en-US" dirty="0"/>
          </a:p>
          <a:p>
            <a:r>
              <a:rPr lang="zh-CN" altLang="en-US" dirty="0"/>
              <a:t>转换误差：通常是以输出误差的最大值形式给出。</a:t>
            </a:r>
            <a:endParaRPr lang="zh-CN" altLang="en-US" dirty="0"/>
          </a:p>
          <a:p>
            <a:r>
              <a:rPr lang="zh-CN" altLang="en-US" dirty="0"/>
              <a:t>它表示</a:t>
            </a:r>
            <a:r>
              <a:rPr lang="en-US" altLang="zh-CN" dirty="0"/>
              <a:t>A/D</a:t>
            </a:r>
            <a:r>
              <a:rPr lang="zh-CN" altLang="en-US" dirty="0"/>
              <a:t>转换器实际输出的数字量和理论上的输出数字量之间的差别。</a:t>
            </a:r>
            <a:endParaRPr lang="zh-CN" altLang="en-US" dirty="0"/>
          </a:p>
          <a:p>
            <a:r>
              <a:rPr lang="zh-CN" altLang="en-US" dirty="0"/>
              <a:t>常用最低有效位的倍数表示。</a:t>
            </a:r>
            <a:endParaRPr lang="zh-CN" altLang="en-US" dirty="0"/>
          </a:p>
          <a:p>
            <a:r>
              <a:rPr lang="zh-CN" altLang="en-US" dirty="0"/>
              <a:t>例如给出相对误差≤</a:t>
            </a:r>
            <a:r>
              <a:rPr lang="en-US" altLang="zh-CN" dirty="0"/>
              <a:t>±1/2LSB</a:t>
            </a:r>
            <a:r>
              <a:rPr lang="zh-CN" altLang="en-US" dirty="0"/>
              <a:t>，这就表明实际输出的数字量和理论上应得到的输出数字量之间的误差小于最低位的半个字。</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A/D</a:t>
            </a:r>
            <a:r>
              <a:rPr lang="zh-CN" altLang="en-US" dirty="0"/>
              <a:t>转换器主要技术参数</a:t>
            </a:r>
            <a:endParaRPr lang="zh-CN" altLang="en-US" dirty="0"/>
          </a:p>
        </p:txBody>
      </p:sp>
      <p:sp>
        <p:nvSpPr>
          <p:cNvPr id="3" name="内容占位符 2"/>
          <p:cNvSpPr>
            <a:spLocks noGrp="1"/>
          </p:cNvSpPr>
          <p:nvPr>
            <p:ph idx="1"/>
          </p:nvPr>
        </p:nvSpPr>
        <p:spPr>
          <a:xfrm>
            <a:off x="609600" y="1719263"/>
            <a:ext cx="10972799" cy="4411662"/>
          </a:xfrm>
        </p:spPr>
        <p:txBody>
          <a:bodyPr/>
          <a:lstStyle/>
          <a:p>
            <a:pPr marL="0" indent="0">
              <a:buNone/>
            </a:pPr>
            <a:r>
              <a:rPr lang="zh-CN" altLang="en-US" dirty="0"/>
              <a:t>转换时间</a:t>
            </a:r>
            <a:endParaRPr lang="zh-CN" altLang="en-US" dirty="0"/>
          </a:p>
          <a:p>
            <a:r>
              <a:rPr lang="zh-CN" altLang="en-US" dirty="0"/>
              <a:t>是指</a:t>
            </a:r>
            <a:r>
              <a:rPr lang="en-US" altLang="zh-CN" dirty="0"/>
              <a:t>A/D</a:t>
            </a:r>
            <a:r>
              <a:rPr lang="zh-CN" altLang="en-US" dirty="0"/>
              <a:t>转换器从转换控制信号到来开始，到输出端得到稳定的数字信号所经过的时间。</a:t>
            </a:r>
            <a:endParaRPr lang="zh-CN" altLang="en-US" dirty="0"/>
          </a:p>
          <a:p>
            <a:r>
              <a:rPr lang="zh-CN" altLang="en-US" dirty="0"/>
              <a:t>不同类型的转换器转换速度相差甚远。其中并行比较</a:t>
            </a:r>
            <a:r>
              <a:rPr lang="en-US" altLang="zh-CN" dirty="0"/>
              <a:t>A/D</a:t>
            </a:r>
            <a:r>
              <a:rPr lang="zh-CN" altLang="en-US" dirty="0"/>
              <a:t>转换器的转换速度最高，</a:t>
            </a:r>
            <a:r>
              <a:rPr lang="en-US" altLang="zh-CN" dirty="0"/>
              <a:t>8</a:t>
            </a:r>
            <a:r>
              <a:rPr lang="zh-CN" altLang="en-US" dirty="0"/>
              <a:t>位二进制输出的单片集成</a:t>
            </a:r>
            <a:r>
              <a:rPr lang="en-US" altLang="zh-CN" dirty="0"/>
              <a:t>A/D</a:t>
            </a:r>
            <a:r>
              <a:rPr lang="zh-CN" altLang="en-US" dirty="0"/>
              <a:t>转换器转换时间可达到</a:t>
            </a:r>
            <a:r>
              <a:rPr lang="en-US" altLang="zh-CN" dirty="0"/>
              <a:t>50ns</a:t>
            </a:r>
            <a:r>
              <a:rPr lang="zh-CN" altLang="en-US" dirty="0"/>
              <a:t>以内，逐次比较型</a:t>
            </a:r>
            <a:r>
              <a:rPr lang="en-US" altLang="zh-CN" dirty="0"/>
              <a:t>A/D</a:t>
            </a:r>
            <a:r>
              <a:rPr lang="zh-CN" altLang="en-US" dirty="0"/>
              <a:t>转换器次之，它们多数转换时间在</a:t>
            </a:r>
            <a:r>
              <a:rPr lang="en-US" altLang="zh-CN" dirty="0"/>
              <a:t>10</a:t>
            </a:r>
            <a:r>
              <a:rPr lang="zh-CN" altLang="en-US" dirty="0"/>
              <a:t>～</a:t>
            </a:r>
            <a:r>
              <a:rPr lang="en-US" altLang="zh-CN" dirty="0"/>
              <a:t>100μs</a:t>
            </a:r>
            <a:r>
              <a:rPr lang="zh-CN" altLang="en-US" dirty="0"/>
              <a:t>之间，间接</a:t>
            </a:r>
            <a:r>
              <a:rPr lang="en-US" altLang="zh-CN" dirty="0"/>
              <a:t>A/D</a:t>
            </a:r>
            <a:r>
              <a:rPr lang="zh-CN" altLang="en-US" dirty="0"/>
              <a:t>转换器的速度最慢，如双积分</a:t>
            </a:r>
            <a:r>
              <a:rPr lang="en-US" altLang="zh-CN" dirty="0"/>
              <a:t>A/D</a:t>
            </a:r>
            <a:r>
              <a:rPr lang="zh-CN" altLang="en-US" dirty="0"/>
              <a:t>转换器的转换时间大都在几十毫秒至几百毫秒之间。</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A/D</a:t>
            </a:r>
            <a:r>
              <a:rPr lang="zh-CN" altLang="en-US" dirty="0"/>
              <a:t>转换器主要技术参数</a:t>
            </a:r>
            <a:endParaRPr lang="zh-CN" altLang="en-US" dirty="0"/>
          </a:p>
        </p:txBody>
      </p:sp>
      <p:sp>
        <p:nvSpPr>
          <p:cNvPr id="3" name="内容占位符 2"/>
          <p:cNvSpPr>
            <a:spLocks noGrp="1"/>
          </p:cNvSpPr>
          <p:nvPr>
            <p:ph idx="1"/>
          </p:nvPr>
        </p:nvSpPr>
        <p:spPr/>
        <p:txBody>
          <a:bodyPr/>
          <a:lstStyle/>
          <a:p>
            <a:r>
              <a:rPr lang="zh-CN" altLang="en-US" dirty="0"/>
              <a:t>在实际应用中，应从系统数据总线的位数、精度要求、输入模拟信号的范围以及输入信号极性等方面综合考虑</a:t>
            </a:r>
            <a:r>
              <a:rPr lang="en-US" altLang="zh-CN" dirty="0"/>
              <a:t>A/D</a:t>
            </a:r>
            <a:r>
              <a:rPr lang="zh-CN" altLang="en-US" dirty="0"/>
              <a:t>转换器的选用。</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小结</a:t>
            </a:r>
            <a:endParaRPr lang="zh-CN" altLang="en-US" dirty="0"/>
          </a:p>
        </p:txBody>
      </p:sp>
      <p:sp>
        <p:nvSpPr>
          <p:cNvPr id="3" name="内容占位符 2"/>
          <p:cNvSpPr>
            <a:spLocks noGrp="1"/>
          </p:cNvSpPr>
          <p:nvPr>
            <p:ph idx="1"/>
          </p:nvPr>
        </p:nvSpPr>
        <p:spPr/>
        <p:txBody>
          <a:bodyPr/>
          <a:lstStyle/>
          <a:p>
            <a:r>
              <a:rPr lang="zh-CN" altLang="en-US" dirty="0"/>
              <a:t>本节课重点讲授了：</a:t>
            </a:r>
            <a:endParaRPr lang="zh-CN" altLang="en-US" dirty="0"/>
          </a:p>
          <a:p>
            <a:r>
              <a:rPr lang="zh-CN" altLang="en-US" dirty="0"/>
              <a:t>逐次比较型</a:t>
            </a:r>
            <a:r>
              <a:rPr lang="en-US" altLang="zh-CN" dirty="0"/>
              <a:t>A/D</a:t>
            </a:r>
            <a:r>
              <a:rPr lang="zh-CN" altLang="en-US" dirty="0"/>
              <a:t>转换原理。</a:t>
            </a:r>
            <a:endParaRPr lang="zh-CN" altLang="en-US" dirty="0"/>
          </a:p>
          <a:p>
            <a:r>
              <a:rPr lang="en-US" altLang="zh-CN" dirty="0"/>
              <a:t>A/D</a:t>
            </a:r>
            <a:r>
              <a:rPr lang="zh-CN" altLang="en-US" dirty="0"/>
              <a:t>转换器的主要技术参数：转换精度（分辨率和转换误差）、转换时间。</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10.3.3 ADC0809</a:t>
            </a:r>
            <a:r>
              <a:rPr lang="zh-CN" altLang="en-US" dirty="0"/>
              <a:t>及接口电路</a:t>
            </a:r>
            <a:endParaRPr lang="zh-CN" altLang="en-US" dirty="0"/>
          </a:p>
        </p:txBody>
      </p:sp>
      <p:sp>
        <p:nvSpPr>
          <p:cNvPr id="3" name="内容占位符 2"/>
          <p:cNvSpPr>
            <a:spLocks noGrp="1"/>
          </p:cNvSpPr>
          <p:nvPr>
            <p:ph idx="1"/>
          </p:nvPr>
        </p:nvSpPr>
        <p:spPr/>
        <p:txBody>
          <a:bodyPr/>
          <a:lstStyle/>
          <a:p>
            <a:r>
              <a:rPr lang="en-US" altLang="zh-CN" dirty="0"/>
              <a:t>ADC0809</a:t>
            </a:r>
            <a:endParaRPr lang="en-US" altLang="zh-CN" dirty="0"/>
          </a:p>
          <a:p>
            <a:r>
              <a:rPr lang="en-US" altLang="zh-CN" dirty="0"/>
              <a:t>ADC0809</a:t>
            </a:r>
            <a:r>
              <a:rPr lang="zh-CN" altLang="en-US" dirty="0"/>
              <a:t>与</a:t>
            </a:r>
            <a:r>
              <a:rPr lang="en-US" altLang="zh-CN" dirty="0"/>
              <a:t>CPU</a:t>
            </a:r>
            <a:r>
              <a:rPr lang="zh-CN" altLang="en-US" dirty="0"/>
              <a:t>的接口</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ADC0809</a:t>
            </a:r>
            <a:endParaRPr lang="zh-CN" altLang="en-US" dirty="0"/>
          </a:p>
        </p:txBody>
      </p:sp>
      <p:sp>
        <p:nvSpPr>
          <p:cNvPr id="3" name="内容占位符 2"/>
          <p:cNvSpPr>
            <a:spLocks noGrp="1"/>
          </p:cNvSpPr>
          <p:nvPr>
            <p:ph idx="1"/>
          </p:nvPr>
        </p:nvSpPr>
        <p:spPr/>
        <p:txBody>
          <a:bodyPr/>
          <a:lstStyle/>
          <a:p>
            <a:r>
              <a:rPr lang="zh-CN" altLang="en-US" dirty="0"/>
              <a:t>概述</a:t>
            </a:r>
            <a:endParaRPr lang="zh-CN" altLang="en-US" dirty="0"/>
          </a:p>
          <a:p>
            <a:r>
              <a:rPr lang="en-US" altLang="zh-CN" dirty="0"/>
              <a:t>ADC0809</a:t>
            </a:r>
            <a:r>
              <a:rPr lang="zh-CN" altLang="en-US" dirty="0"/>
              <a:t>是美国国家半导体公司生产的逐次逼近式</a:t>
            </a:r>
            <a:r>
              <a:rPr lang="en-US" altLang="zh-CN" dirty="0"/>
              <a:t>8</a:t>
            </a:r>
            <a:r>
              <a:rPr lang="zh-CN" altLang="en-US" dirty="0"/>
              <a:t>位</a:t>
            </a:r>
            <a:r>
              <a:rPr lang="en-US" altLang="zh-CN" dirty="0"/>
              <a:t>A/D</a:t>
            </a:r>
            <a:r>
              <a:rPr lang="zh-CN" altLang="en-US" dirty="0"/>
              <a:t>转换器芯片。</a:t>
            </a:r>
            <a:endParaRPr lang="zh-CN" altLang="en-US" dirty="0"/>
          </a:p>
          <a:p>
            <a:r>
              <a:rPr lang="en-US" altLang="zh-CN" dirty="0"/>
              <a:t>ADC0809</a:t>
            </a:r>
            <a:r>
              <a:rPr lang="zh-CN" altLang="en-US" dirty="0"/>
              <a:t>有</a:t>
            </a:r>
            <a:r>
              <a:rPr lang="en-US" altLang="zh-CN" dirty="0"/>
              <a:t>8</a:t>
            </a:r>
            <a:r>
              <a:rPr lang="zh-CN" altLang="en-US" dirty="0"/>
              <a:t>路模拟开关，可选通</a:t>
            </a:r>
            <a:r>
              <a:rPr lang="en-US" altLang="zh-CN" dirty="0"/>
              <a:t>8</a:t>
            </a:r>
            <a:r>
              <a:rPr lang="zh-CN" altLang="en-US" dirty="0"/>
              <a:t>个模拟通道，允许</a:t>
            </a:r>
            <a:r>
              <a:rPr lang="en-US" altLang="zh-CN" dirty="0"/>
              <a:t>8</a:t>
            </a:r>
            <a:r>
              <a:rPr lang="zh-CN" altLang="en-US" dirty="0"/>
              <a:t>路模拟量分时输入，共用一个</a:t>
            </a:r>
            <a:r>
              <a:rPr lang="en-US" altLang="zh-CN" dirty="0"/>
              <a:t>A/D</a:t>
            </a:r>
            <a:r>
              <a:rPr lang="zh-CN" altLang="en-US" dirty="0"/>
              <a:t>转换器进行转换。</a:t>
            </a:r>
            <a:endParaRPr lang="zh-CN" altLang="en-US" dirty="0"/>
          </a:p>
          <a:p>
            <a:r>
              <a:rPr lang="zh-CN" altLang="en-US" dirty="0"/>
              <a:t>单极性，量程为</a:t>
            </a:r>
            <a:r>
              <a:rPr lang="en-US" altLang="zh-CN" dirty="0"/>
              <a:t>0~+5V</a:t>
            </a:r>
            <a:r>
              <a:rPr lang="zh-CN" altLang="en-US" dirty="0"/>
              <a:t>。</a:t>
            </a:r>
            <a:endParaRPr lang="zh-CN" altLang="en-US" dirty="0"/>
          </a:p>
          <a:p>
            <a:r>
              <a:rPr lang="zh-CN" altLang="en-US" dirty="0"/>
              <a:t>典型的转换时间为</a:t>
            </a:r>
            <a:r>
              <a:rPr lang="en-US" altLang="zh-CN" dirty="0"/>
              <a:t>100μs</a:t>
            </a:r>
            <a:r>
              <a:rPr lang="zh-CN" altLang="en-US" dirty="0"/>
              <a:t>。</a:t>
            </a:r>
            <a:endParaRPr lang="zh-CN" altLang="en-US" dirty="0"/>
          </a:p>
          <a:p>
            <a:r>
              <a:rPr lang="zh-CN" altLang="en-US" dirty="0"/>
              <a:t>片内带有三态输出缓冲器，数据输出端可直接与</a:t>
            </a:r>
            <a:r>
              <a:rPr lang="en-US" altLang="zh-CN" dirty="0"/>
              <a:t>CPU</a:t>
            </a:r>
            <a:r>
              <a:rPr lang="zh-CN" altLang="en-US" dirty="0"/>
              <a:t>数据总线相连。</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pic>
        <p:nvPicPr>
          <p:cNvPr id="7" name="图片 6"/>
          <p:cNvPicPr>
            <a:picLocks noChangeAspect="1"/>
          </p:cNvPicPr>
          <p:nvPr/>
        </p:nvPicPr>
        <p:blipFill>
          <a:blip r:embed="rId1" cstate="print"/>
          <a:stretch>
            <a:fillRect/>
          </a:stretch>
        </p:blipFill>
        <p:spPr>
          <a:xfrm>
            <a:off x="3279661" y="1519937"/>
            <a:ext cx="6160304" cy="4374700"/>
          </a:xfrm>
          <a:prstGeom prst="rect">
            <a:avLst/>
          </a:prstGeom>
        </p:spPr>
      </p:pic>
      <p:sp>
        <p:nvSpPr>
          <p:cNvPr id="9" name="文本框 8"/>
          <p:cNvSpPr txBox="1"/>
          <p:nvPr/>
        </p:nvSpPr>
        <p:spPr>
          <a:xfrm>
            <a:off x="4346713" y="445471"/>
            <a:ext cx="6096000" cy="523220"/>
          </a:xfrm>
          <a:prstGeom prst="rect">
            <a:avLst/>
          </a:prstGeom>
          <a:noFill/>
        </p:spPr>
        <p:txBody>
          <a:bodyPr wrap="square">
            <a:spAutoFit/>
          </a:bodyPr>
          <a:lstStyle/>
          <a:p>
            <a:r>
              <a:rPr lang="en-US" altLang="zh-CN" sz="2800" b="0" i="0" u="none" strike="noStrike" baseline="0" dirty="0">
                <a:solidFill>
                  <a:srgbClr val="000000"/>
                </a:solidFill>
                <a:latin typeface="Times New Roman" panose="02020603050405020304" pitchFamily="18" charset="0"/>
              </a:rPr>
              <a:t>ADC08009</a:t>
            </a:r>
            <a:r>
              <a:rPr lang="zh-CN" altLang="en-US" sz="2800" b="0" i="0" u="none" strike="noStrike" baseline="0" dirty="0">
                <a:solidFill>
                  <a:srgbClr val="000000"/>
                </a:solidFill>
                <a:latin typeface="Times New Roman" panose="02020603050405020304" pitchFamily="18" charset="0"/>
              </a:rPr>
              <a:t>主要引脚</a:t>
            </a:r>
            <a:endParaRPr lang="zh-CN" altLang="en-US" dirty="0"/>
          </a:p>
        </p:txBody>
      </p:sp>
      <p:sp>
        <p:nvSpPr>
          <p:cNvPr id="10" name="对话气泡: 矩形 9"/>
          <p:cNvSpPr/>
          <p:nvPr/>
        </p:nvSpPr>
        <p:spPr bwMode="auto">
          <a:xfrm>
            <a:off x="198783" y="849087"/>
            <a:ext cx="5276731" cy="1328056"/>
          </a:xfrm>
          <a:prstGeom prst="wedgeRectCallout">
            <a:avLst>
              <a:gd name="adj1" fmla="val 63127"/>
              <a:gd name="adj2" fmla="val 8643"/>
            </a:avLst>
          </a:prstGeom>
          <a:solidFill>
            <a:srgbClr val="00B0F0"/>
          </a:solidFill>
          <a:ln w="9525"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lstStyle/>
          <a:p>
            <a:pPr eaLnBrk="0" fontAlgn="base" hangingPunct="0">
              <a:spcBef>
                <a:spcPct val="0"/>
              </a:spcBef>
              <a:spcAft>
                <a:spcPct val="0"/>
              </a:spcAft>
            </a:pPr>
            <a:r>
              <a:rPr lang="zh-CN" altLang="en-US" sz="2000" b="1" dirty="0"/>
              <a:t>转换启动信号。</a:t>
            </a:r>
            <a:r>
              <a:rPr lang="en-US" altLang="zh-CN" sz="2000" b="1" dirty="0"/>
              <a:t>START</a:t>
            </a:r>
            <a:r>
              <a:rPr lang="zh-CN" altLang="en-US" sz="2000" b="1" dirty="0"/>
              <a:t>上升沿时，复位</a:t>
            </a:r>
            <a:r>
              <a:rPr lang="en-US" altLang="zh-CN" sz="2000" b="1" dirty="0"/>
              <a:t>ADC0809</a:t>
            </a:r>
            <a:r>
              <a:rPr lang="zh-CN" altLang="en-US" sz="2000" b="1" dirty="0"/>
              <a:t>；</a:t>
            </a:r>
            <a:r>
              <a:rPr lang="en-US" altLang="zh-CN" sz="2000" b="1" dirty="0"/>
              <a:t>START</a:t>
            </a:r>
            <a:r>
              <a:rPr lang="zh-CN" altLang="en-US" sz="2000" b="1" dirty="0"/>
              <a:t>下降沿时，启动芯片开始进行</a:t>
            </a:r>
            <a:r>
              <a:rPr lang="en-US" altLang="zh-CN" sz="2000" b="1" dirty="0"/>
              <a:t>A/D</a:t>
            </a:r>
            <a:r>
              <a:rPr lang="zh-CN" altLang="en-US" sz="2000" b="1" dirty="0"/>
              <a:t>转换；在</a:t>
            </a:r>
            <a:r>
              <a:rPr lang="en-US" altLang="zh-CN" sz="2000" b="1" dirty="0"/>
              <a:t>A/D</a:t>
            </a:r>
            <a:r>
              <a:rPr lang="zh-CN" altLang="en-US" sz="2000" b="1" dirty="0"/>
              <a:t>转换期间，</a:t>
            </a:r>
            <a:r>
              <a:rPr lang="en-US" altLang="zh-CN" sz="2000" b="1" dirty="0"/>
              <a:t>START</a:t>
            </a:r>
            <a:r>
              <a:rPr lang="zh-CN" altLang="en-US" sz="2000" b="1" dirty="0"/>
              <a:t>应保持低电平。</a:t>
            </a:r>
            <a:endParaRPr lang="zh-CN" altLang="en-US" sz="2000" b="1" dirty="0"/>
          </a:p>
        </p:txBody>
      </p:sp>
      <p:sp>
        <p:nvSpPr>
          <p:cNvPr id="11" name="对话气泡: 矩形 10"/>
          <p:cNvSpPr/>
          <p:nvPr/>
        </p:nvSpPr>
        <p:spPr bwMode="auto">
          <a:xfrm>
            <a:off x="201922" y="5774637"/>
            <a:ext cx="5545735" cy="1083363"/>
          </a:xfrm>
          <a:prstGeom prst="wedgeRectCallout">
            <a:avLst>
              <a:gd name="adj1" fmla="val 67977"/>
              <a:gd name="adj2" fmla="val -38143"/>
            </a:avLst>
          </a:prstGeom>
          <a:solidFill>
            <a:srgbClr val="00B0F0"/>
          </a:solidFill>
          <a:ln w="9525"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lstStyle/>
          <a:p>
            <a:pPr eaLnBrk="0" fontAlgn="base" hangingPunct="0">
              <a:spcBef>
                <a:spcPct val="0"/>
              </a:spcBef>
              <a:spcAft>
                <a:spcPct val="0"/>
              </a:spcAft>
            </a:pPr>
            <a:r>
              <a:rPr lang="zh-CN" altLang="en-US" sz="2000" b="1" dirty="0"/>
              <a:t>转换</a:t>
            </a:r>
            <a:r>
              <a:rPr lang="en-US" altLang="zh-CN" sz="2000" b="1" dirty="0"/>
              <a:t>V</a:t>
            </a:r>
            <a:r>
              <a:rPr lang="en-US" altLang="zh-CN" sz="2000" b="1" baseline="-25000" dirty="0"/>
              <a:t>REF(+)</a:t>
            </a:r>
            <a:r>
              <a:rPr lang="zh-CN" altLang="en-US" sz="2000" b="1" dirty="0"/>
              <a:t>和</a:t>
            </a:r>
            <a:r>
              <a:rPr lang="en-US" altLang="zh-CN" sz="2000" b="1" dirty="0"/>
              <a:t>V</a:t>
            </a:r>
            <a:r>
              <a:rPr lang="en-US" altLang="zh-CN" sz="2000" b="1" baseline="-25000" dirty="0"/>
              <a:t>REF(-) </a:t>
            </a:r>
            <a:r>
              <a:rPr lang="zh-CN" altLang="en-US" sz="2000" b="1" dirty="0"/>
              <a:t>：</a:t>
            </a:r>
            <a:r>
              <a:rPr lang="en-US" altLang="zh-CN" sz="2000" b="1" dirty="0"/>
              <a:t> V</a:t>
            </a:r>
            <a:r>
              <a:rPr lang="en-US" altLang="zh-CN" sz="2000" b="1" baseline="-25000" dirty="0"/>
              <a:t>REF(+)</a:t>
            </a:r>
            <a:r>
              <a:rPr lang="zh-CN" altLang="en-US" sz="2000" b="1" dirty="0"/>
              <a:t>接参考电压的正极，</a:t>
            </a:r>
            <a:r>
              <a:rPr lang="en-US" altLang="zh-CN" sz="2000" b="1" dirty="0"/>
              <a:t>V</a:t>
            </a:r>
            <a:r>
              <a:rPr lang="en-US" altLang="zh-CN" sz="2000" b="1" baseline="-25000" dirty="0"/>
              <a:t>REF(-)</a:t>
            </a:r>
            <a:r>
              <a:rPr lang="zh-CN" altLang="en-US" sz="2000" b="1" dirty="0"/>
              <a:t>接负极。</a:t>
            </a:r>
            <a:r>
              <a:rPr lang="en-US" altLang="zh-CN" sz="2000" b="1" dirty="0"/>
              <a:t> V</a:t>
            </a:r>
            <a:r>
              <a:rPr lang="en-US" altLang="zh-CN" sz="2000" b="1" baseline="-25000" dirty="0"/>
              <a:t>REF(-)</a:t>
            </a:r>
            <a:r>
              <a:rPr lang="zh-CN" altLang="en-US" sz="2000" b="1" dirty="0"/>
              <a:t>接地时作为</a:t>
            </a:r>
            <a:r>
              <a:rPr lang="en-US" altLang="zh-CN" sz="2000" b="1" dirty="0"/>
              <a:t>ADC</a:t>
            </a:r>
            <a:r>
              <a:rPr lang="zh-CN" altLang="en-US" sz="2000" b="1" dirty="0"/>
              <a:t>的模拟地。 </a:t>
            </a:r>
            <a:endParaRPr lang="zh-CN" altLang="en-US" sz="2000" b="1" dirty="0"/>
          </a:p>
          <a:p>
            <a:pPr eaLnBrk="0" fontAlgn="base" hangingPunct="0">
              <a:spcBef>
                <a:spcPct val="0"/>
              </a:spcBef>
              <a:spcAft>
                <a:spcPct val="0"/>
              </a:spcAft>
            </a:pPr>
            <a:endParaRPr lang="zh-CN" altLang="en-US" sz="2000" b="1" dirty="0"/>
          </a:p>
        </p:txBody>
      </p:sp>
      <p:sp>
        <p:nvSpPr>
          <p:cNvPr id="12" name="对话气泡: 矩形 11"/>
          <p:cNvSpPr/>
          <p:nvPr/>
        </p:nvSpPr>
        <p:spPr bwMode="auto">
          <a:xfrm>
            <a:off x="6169834" y="5169190"/>
            <a:ext cx="2995938" cy="1536409"/>
          </a:xfrm>
          <a:prstGeom prst="wedgeRectCallout">
            <a:avLst>
              <a:gd name="adj1" fmla="val 45830"/>
              <a:gd name="adj2" fmla="val -153231"/>
            </a:avLst>
          </a:prstGeom>
          <a:solidFill>
            <a:srgbClr val="00B0F0"/>
          </a:solidFill>
          <a:ln w="9525"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lstStyle/>
          <a:p>
            <a:pPr eaLnBrk="0" fontAlgn="base" hangingPunct="0">
              <a:spcBef>
                <a:spcPct val="0"/>
              </a:spcBef>
              <a:spcAft>
                <a:spcPct val="0"/>
              </a:spcAft>
            </a:pPr>
            <a:r>
              <a:rPr lang="zh-CN" altLang="en-US" sz="2000" b="1" dirty="0"/>
              <a:t>转换</a:t>
            </a:r>
            <a:r>
              <a:rPr lang="en-US" altLang="zh-CN" sz="2000" b="1" dirty="0"/>
              <a:t>8</a:t>
            </a:r>
            <a:r>
              <a:rPr lang="zh-CN" altLang="en-US" sz="2000" b="1" dirty="0"/>
              <a:t>位数字量输出端。为三态缓冲输出形式，可以和</a:t>
            </a:r>
            <a:r>
              <a:rPr lang="en-US" altLang="zh-CN" sz="2000" b="1" dirty="0"/>
              <a:t>CPU</a:t>
            </a:r>
            <a:r>
              <a:rPr lang="zh-CN" altLang="en-US" sz="2000" b="1" dirty="0"/>
              <a:t>的数据线直接相连。</a:t>
            </a:r>
            <a:r>
              <a:rPr lang="en-US" altLang="zh-CN" sz="2000" b="1" dirty="0"/>
              <a:t>D</a:t>
            </a:r>
            <a:r>
              <a:rPr lang="en-US" altLang="zh-CN" sz="2000" b="1" baseline="-25000" dirty="0"/>
              <a:t>0</a:t>
            </a:r>
            <a:r>
              <a:rPr lang="zh-CN" altLang="en-US" sz="2000" b="1" dirty="0"/>
              <a:t>为最低位，</a:t>
            </a:r>
            <a:r>
              <a:rPr lang="en-US" altLang="zh-CN" sz="2000" b="1" dirty="0"/>
              <a:t>D</a:t>
            </a:r>
            <a:r>
              <a:rPr lang="en-US" altLang="zh-CN" sz="2000" b="1" baseline="-25000" dirty="0"/>
              <a:t>7</a:t>
            </a:r>
            <a:r>
              <a:rPr lang="zh-CN" altLang="en-US" sz="2000" b="1" dirty="0"/>
              <a:t>为最高位。</a:t>
            </a:r>
            <a:endParaRPr lang="zh-CN" altLang="en-US" sz="2000" b="1" dirty="0"/>
          </a:p>
        </p:txBody>
      </p:sp>
      <p:sp>
        <p:nvSpPr>
          <p:cNvPr id="13" name="对话气泡: 矩形 12"/>
          <p:cNvSpPr/>
          <p:nvPr/>
        </p:nvSpPr>
        <p:spPr bwMode="auto">
          <a:xfrm>
            <a:off x="10228311" y="318092"/>
            <a:ext cx="1963689" cy="3383050"/>
          </a:xfrm>
          <a:prstGeom prst="wedgeRectCallout">
            <a:avLst>
              <a:gd name="adj1" fmla="val -94026"/>
              <a:gd name="adj2" fmla="val 13499"/>
            </a:avLst>
          </a:prstGeom>
          <a:solidFill>
            <a:srgbClr val="00B0F0"/>
          </a:solidFill>
          <a:ln w="9525"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lstStyle/>
          <a:p>
            <a:pPr eaLnBrk="0" fontAlgn="base" hangingPunct="0">
              <a:spcBef>
                <a:spcPct val="0"/>
              </a:spcBef>
              <a:spcAft>
                <a:spcPct val="0"/>
              </a:spcAft>
            </a:pPr>
            <a:r>
              <a:rPr lang="zh-CN" altLang="en-US" sz="2000" b="1" dirty="0"/>
              <a:t>转换结束信号。</a:t>
            </a:r>
            <a:r>
              <a:rPr lang="en-US" altLang="zh-CN" sz="2000" b="1" dirty="0"/>
              <a:t>EOC=0</a:t>
            </a:r>
            <a:r>
              <a:rPr lang="zh-CN" altLang="en-US" sz="2000" b="1" dirty="0"/>
              <a:t>，表示正在进行转换；</a:t>
            </a:r>
            <a:r>
              <a:rPr lang="en-US" altLang="zh-CN" sz="2000" b="1" dirty="0"/>
              <a:t>EOC=1</a:t>
            </a:r>
            <a:r>
              <a:rPr lang="zh-CN" altLang="en-US" sz="2000" b="1" dirty="0"/>
              <a:t>，表示转换结束。使用中，该状态信号既可作为查询的状态标志，又可作为中断请求信号使用</a:t>
            </a:r>
            <a:endParaRPr lang="zh-CN" altLang="en-US" sz="2000" b="1" dirty="0"/>
          </a:p>
        </p:txBody>
      </p:sp>
      <p:sp>
        <p:nvSpPr>
          <p:cNvPr id="14" name="对话气泡: 矩形 13"/>
          <p:cNvSpPr/>
          <p:nvPr/>
        </p:nvSpPr>
        <p:spPr bwMode="auto">
          <a:xfrm>
            <a:off x="7652657" y="135493"/>
            <a:ext cx="4354286" cy="898649"/>
          </a:xfrm>
          <a:prstGeom prst="wedgeRectCallout">
            <a:avLst>
              <a:gd name="adj1" fmla="val -58938"/>
              <a:gd name="adj2" fmla="val 107745"/>
            </a:avLst>
          </a:prstGeom>
          <a:solidFill>
            <a:srgbClr val="00B0F0"/>
          </a:solidFill>
          <a:ln w="9525"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lstStyle/>
          <a:p>
            <a:pPr eaLnBrk="0" fontAlgn="base" hangingPunct="0">
              <a:spcBef>
                <a:spcPct val="0"/>
              </a:spcBef>
              <a:spcAft>
                <a:spcPct val="0"/>
              </a:spcAft>
            </a:pPr>
            <a:r>
              <a:rPr lang="zh-CN" altLang="en-US" sz="2000" b="1" dirty="0"/>
              <a:t>时钟信号输入端。它的频率范围为</a:t>
            </a:r>
            <a:r>
              <a:rPr lang="en-US" altLang="zh-CN" sz="2000" b="1" dirty="0"/>
              <a:t>10kHz~1280kHz</a:t>
            </a:r>
            <a:r>
              <a:rPr lang="zh-CN" altLang="en-US" sz="2000" b="1" dirty="0"/>
              <a:t>，典型值为</a:t>
            </a:r>
            <a:r>
              <a:rPr lang="en-US" altLang="zh-CN" sz="2000" b="1" dirty="0"/>
              <a:t>640kHz</a:t>
            </a:r>
            <a:r>
              <a:rPr lang="zh-CN" altLang="en-US" sz="2800" b="1" dirty="0"/>
              <a:t>。</a:t>
            </a:r>
            <a:endParaRPr lang="zh-CN" altLang="en-US" sz="2800" b="1" dirty="0"/>
          </a:p>
        </p:txBody>
      </p:sp>
      <p:sp>
        <p:nvSpPr>
          <p:cNvPr id="15" name="对话气泡: 矩形 14"/>
          <p:cNvSpPr/>
          <p:nvPr/>
        </p:nvSpPr>
        <p:spPr bwMode="auto">
          <a:xfrm>
            <a:off x="226550" y="3339204"/>
            <a:ext cx="3734904" cy="345113"/>
          </a:xfrm>
          <a:prstGeom prst="wedgeRectCallout">
            <a:avLst>
              <a:gd name="adj1" fmla="val 46608"/>
              <a:gd name="adj2" fmla="val -150760"/>
            </a:avLst>
          </a:prstGeom>
          <a:solidFill>
            <a:srgbClr val="00B0F0"/>
          </a:solidFill>
          <a:ln w="9525"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lstStyle/>
          <a:p>
            <a:pPr eaLnBrk="0" fontAlgn="base" hangingPunct="0">
              <a:spcBef>
                <a:spcPct val="0"/>
              </a:spcBef>
              <a:spcAft>
                <a:spcPct val="0"/>
              </a:spcAft>
            </a:pPr>
            <a:r>
              <a:rPr lang="en-US" altLang="zh-CN" sz="2000" b="1" dirty="0"/>
              <a:t>8</a:t>
            </a:r>
            <a:r>
              <a:rPr lang="zh-CN" altLang="en-US" sz="2000" b="1" dirty="0"/>
              <a:t>路模拟量输入通道</a:t>
            </a:r>
            <a:endParaRPr lang="zh-CN" altLang="en-US" sz="2000" b="1" dirty="0"/>
          </a:p>
        </p:txBody>
      </p:sp>
      <p:sp>
        <p:nvSpPr>
          <p:cNvPr id="17" name="对话气泡: 矩形 16"/>
          <p:cNvSpPr/>
          <p:nvPr/>
        </p:nvSpPr>
        <p:spPr bwMode="auto">
          <a:xfrm>
            <a:off x="155241" y="4164284"/>
            <a:ext cx="2446446" cy="973773"/>
          </a:xfrm>
          <a:prstGeom prst="wedgeRectCallout">
            <a:avLst>
              <a:gd name="adj1" fmla="val 80395"/>
              <a:gd name="adj2" fmla="val -10674"/>
            </a:avLst>
          </a:prstGeom>
          <a:solidFill>
            <a:srgbClr val="00B0F0"/>
          </a:solidFill>
          <a:ln w="9525"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lstStyle/>
          <a:p>
            <a:pPr eaLnBrk="0" fontAlgn="base" hangingPunct="0">
              <a:spcBef>
                <a:spcPct val="0"/>
              </a:spcBef>
              <a:spcAft>
                <a:spcPct val="0"/>
              </a:spcAft>
            </a:pPr>
            <a:r>
              <a:rPr lang="en-US" altLang="zh-CN" sz="2000" b="1" dirty="0"/>
              <a:t>3</a:t>
            </a:r>
            <a:r>
              <a:rPr lang="zh-CN" altLang="en-US" sz="2000" b="1" dirty="0"/>
              <a:t>个地址输入端，用以选择</a:t>
            </a:r>
            <a:r>
              <a:rPr lang="en-US" altLang="zh-CN" sz="2000" b="1" dirty="0"/>
              <a:t>8</a:t>
            </a:r>
            <a:r>
              <a:rPr lang="zh-CN" altLang="en-US" sz="2000" b="1" dirty="0"/>
              <a:t>个模拟量之一</a:t>
            </a:r>
            <a:endParaRPr lang="zh-CN" altLang="en-US" sz="2000" b="1" dirty="0"/>
          </a:p>
        </p:txBody>
      </p:sp>
      <p:sp>
        <p:nvSpPr>
          <p:cNvPr id="18" name="对话气泡: 矩形 17"/>
          <p:cNvSpPr/>
          <p:nvPr/>
        </p:nvSpPr>
        <p:spPr bwMode="auto">
          <a:xfrm>
            <a:off x="9699171" y="4095437"/>
            <a:ext cx="2492829" cy="2762563"/>
          </a:xfrm>
          <a:prstGeom prst="wedgeRectCallout">
            <a:avLst>
              <a:gd name="adj1" fmla="val -116708"/>
              <a:gd name="adj2" fmla="val 6506"/>
            </a:avLst>
          </a:prstGeom>
          <a:solidFill>
            <a:srgbClr val="00B0F0"/>
          </a:solidFill>
          <a:ln w="9525"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lstStyle/>
          <a:p>
            <a:pPr eaLnBrk="0" fontAlgn="base" hangingPunct="0">
              <a:spcBef>
                <a:spcPct val="0"/>
              </a:spcBef>
              <a:spcAft>
                <a:spcPct val="0"/>
              </a:spcAft>
            </a:pPr>
            <a:r>
              <a:rPr lang="en-US" altLang="zh-CN" sz="2000" b="1" dirty="0"/>
              <a:t>OE(Output Enable)</a:t>
            </a:r>
            <a:r>
              <a:rPr lang="zh-CN" altLang="en-US" sz="2000" b="1" dirty="0"/>
              <a:t>：输出允许信号。用于控制三态输出锁存缓冲器向</a:t>
            </a:r>
            <a:r>
              <a:rPr lang="en-US" altLang="zh-CN" sz="2000" b="1" dirty="0"/>
              <a:t>CPU</a:t>
            </a:r>
            <a:r>
              <a:rPr lang="zh-CN" altLang="en-US" sz="2000" b="1" dirty="0"/>
              <a:t>输出转换得到的数据。</a:t>
            </a:r>
            <a:endParaRPr lang="zh-CN" altLang="en-US" sz="2000" b="1" dirty="0"/>
          </a:p>
          <a:p>
            <a:pPr eaLnBrk="0" fontAlgn="base" hangingPunct="0">
              <a:spcBef>
                <a:spcPct val="0"/>
              </a:spcBef>
              <a:spcAft>
                <a:spcPct val="0"/>
              </a:spcAft>
            </a:pPr>
            <a:r>
              <a:rPr lang="zh-CN" altLang="en-US" sz="2000" b="1" dirty="0"/>
              <a:t>     </a:t>
            </a:r>
            <a:r>
              <a:rPr lang="en-US" altLang="zh-CN" sz="2000" b="1" dirty="0"/>
              <a:t>OE=0</a:t>
            </a:r>
            <a:r>
              <a:rPr lang="zh-CN" altLang="en-US" sz="2000" b="1" dirty="0"/>
              <a:t>，输出数据线呈高阻；</a:t>
            </a:r>
            <a:endParaRPr lang="zh-CN" altLang="en-US" sz="2000" b="1" dirty="0"/>
          </a:p>
          <a:p>
            <a:pPr eaLnBrk="0" fontAlgn="base" hangingPunct="0">
              <a:spcBef>
                <a:spcPct val="0"/>
              </a:spcBef>
              <a:spcAft>
                <a:spcPct val="0"/>
              </a:spcAft>
            </a:pPr>
            <a:r>
              <a:rPr lang="zh-CN" altLang="en-US" sz="2000" b="1" dirty="0"/>
              <a:t>     </a:t>
            </a:r>
            <a:r>
              <a:rPr lang="en-US" altLang="zh-CN" sz="2000" b="1" dirty="0"/>
              <a:t>OE=1</a:t>
            </a:r>
            <a:r>
              <a:rPr lang="zh-CN" altLang="en-US" sz="2000" b="1" dirty="0"/>
              <a:t>，输出转换得到的数据。</a:t>
            </a:r>
            <a:endParaRPr lang="zh-CN" altLang="en-US"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linds(horizontal)">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linds(horizontal)">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xit" presetSubtype="10" fill="hold" grpId="1" nodeType="clickEffect">
                                  <p:stCondLst>
                                    <p:cond delay="0"/>
                                  </p:stCondLst>
                                  <p:childTnLst>
                                    <p:animEffect transition="out" filter="blinds(horizontal)">
                                      <p:cBhvr>
                                        <p:cTn id="21" dur="500"/>
                                        <p:tgtEl>
                                          <p:spTgt spid="14"/>
                                        </p:tgtEl>
                                      </p:cBhvr>
                                    </p:animEffect>
                                    <p:set>
                                      <p:cBhvr>
                                        <p:cTn id="22" dur="1" fill="hold">
                                          <p:stCondLst>
                                            <p:cond delay="499"/>
                                          </p:stCondLst>
                                        </p:cTn>
                                        <p:tgtEl>
                                          <p:spTgt spid="14"/>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linds(horizontal)">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linds(horizontal)">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blinds(horizontal)">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blinds(horizontal)">
                                      <p:cBhvr>
                                        <p:cTn id="42" dur="5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xit" presetSubtype="10" fill="hold" grpId="1" nodeType="clickEffect">
                                  <p:stCondLst>
                                    <p:cond delay="0"/>
                                  </p:stCondLst>
                                  <p:childTnLst>
                                    <p:animEffect transition="out" filter="blinds(horizontal)">
                                      <p:cBhvr>
                                        <p:cTn id="46" dur="500"/>
                                        <p:tgtEl>
                                          <p:spTgt spid="18"/>
                                        </p:tgtEl>
                                      </p:cBhvr>
                                    </p:animEffect>
                                    <p:set>
                                      <p:cBhvr>
                                        <p:cTn id="47" dur="1" fill="hold">
                                          <p:stCondLst>
                                            <p:cond delay="499"/>
                                          </p:stCondLst>
                                        </p:cTn>
                                        <p:tgtEl>
                                          <p:spTgt spid="18"/>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blinds(horizontal)">
                                      <p:cBhvr>
                                        <p:cTn id="5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4" grpId="1" animBg="1"/>
      <p:bldP spid="15" grpId="0" animBg="1"/>
      <p:bldP spid="17" grpId="0" animBg="1"/>
      <p:bldP spid="18" grpId="0" animBg="1"/>
      <p:bldP spid="18"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ADC0809</a:t>
            </a:r>
            <a:endParaRPr lang="zh-CN" altLang="en-US" dirty="0"/>
          </a:p>
        </p:txBody>
      </p:sp>
      <p:sp>
        <p:nvSpPr>
          <p:cNvPr id="3" name="内容占位符 2"/>
          <p:cNvSpPr>
            <a:spLocks noGrp="1"/>
          </p:cNvSpPr>
          <p:nvPr>
            <p:ph idx="1"/>
          </p:nvPr>
        </p:nvSpPr>
        <p:spPr>
          <a:xfrm>
            <a:off x="291549" y="1523655"/>
            <a:ext cx="10058400" cy="573363"/>
          </a:xfrm>
        </p:spPr>
        <p:txBody>
          <a:bodyPr/>
          <a:lstStyle/>
          <a:p>
            <a:pPr marL="0" indent="0">
              <a:buNone/>
            </a:pPr>
            <a:r>
              <a:rPr lang="en-US" altLang="zh-CN" dirty="0"/>
              <a:t>ADC0809</a:t>
            </a:r>
            <a:r>
              <a:rPr lang="zh-CN" altLang="en-US" dirty="0"/>
              <a:t>的转换时序</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pic>
        <p:nvPicPr>
          <p:cNvPr id="7" name="图片 6"/>
          <p:cNvPicPr>
            <a:picLocks noChangeAspect="1"/>
          </p:cNvPicPr>
          <p:nvPr/>
        </p:nvPicPr>
        <p:blipFill>
          <a:blip r:embed="rId1" cstate="print"/>
          <a:stretch>
            <a:fillRect/>
          </a:stretch>
        </p:blipFill>
        <p:spPr>
          <a:xfrm>
            <a:off x="2867931" y="2097018"/>
            <a:ext cx="5541738" cy="4045365"/>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ADC0809</a:t>
            </a:r>
            <a:endParaRPr lang="zh-CN" altLang="en-US" dirty="0"/>
          </a:p>
        </p:txBody>
      </p:sp>
      <p:sp>
        <p:nvSpPr>
          <p:cNvPr id="3" name="内容占位符 2"/>
          <p:cNvSpPr>
            <a:spLocks noGrp="1"/>
          </p:cNvSpPr>
          <p:nvPr>
            <p:ph idx="1"/>
          </p:nvPr>
        </p:nvSpPr>
        <p:spPr/>
        <p:txBody>
          <a:bodyPr/>
          <a:lstStyle/>
          <a:p>
            <a:r>
              <a:rPr lang="en-US" altLang="zh-CN" dirty="0"/>
              <a:t>ADC0809</a:t>
            </a:r>
            <a:r>
              <a:rPr lang="zh-CN" altLang="en-US" dirty="0"/>
              <a:t>的数据输出</a:t>
            </a:r>
            <a:endParaRPr lang="zh-CN" altLang="en-US" dirty="0"/>
          </a:p>
          <a:p>
            <a:r>
              <a:rPr lang="zh-CN" altLang="en-US" dirty="0"/>
              <a:t>对于</a:t>
            </a:r>
            <a:r>
              <a:rPr lang="en-US" altLang="zh-CN" dirty="0"/>
              <a:t>8</a:t>
            </a:r>
            <a:r>
              <a:rPr lang="zh-CN" altLang="en-US" dirty="0"/>
              <a:t>位</a:t>
            </a:r>
            <a:r>
              <a:rPr lang="en-US" altLang="zh-CN" dirty="0"/>
              <a:t>A/D</a:t>
            </a:r>
            <a:r>
              <a:rPr lang="zh-CN" altLang="en-US" dirty="0"/>
              <a:t>转换器，从输入模拟量</a:t>
            </a:r>
            <a:r>
              <a:rPr lang="en-US" altLang="zh-CN" dirty="0"/>
              <a:t>V</a:t>
            </a:r>
            <a:r>
              <a:rPr lang="en-US" altLang="zh-CN" baseline="-25000" dirty="0"/>
              <a:t>in</a:t>
            </a:r>
            <a:r>
              <a:rPr lang="zh-CN" altLang="en-US" dirty="0"/>
              <a:t>转换为数字输出量</a:t>
            </a:r>
            <a:r>
              <a:rPr lang="en-US" altLang="zh-CN" dirty="0"/>
              <a:t>N</a:t>
            </a:r>
            <a:r>
              <a:rPr lang="zh-CN" altLang="en-US" dirty="0"/>
              <a:t>的公式为：</a:t>
            </a:r>
            <a:endParaRPr lang="en-US" altLang="zh-CN" dirty="0"/>
          </a:p>
          <a:p>
            <a:endParaRPr lang="en-US" altLang="zh-CN" dirty="0"/>
          </a:p>
          <a:p>
            <a:endParaRPr lang="zh-CN" altLang="en-US" dirty="0"/>
          </a:p>
          <a:p>
            <a:r>
              <a:rPr lang="zh-CN" altLang="en-US" dirty="0"/>
              <a:t>例如，参考电压</a:t>
            </a:r>
            <a:r>
              <a:rPr lang="en-US" altLang="zh-CN" dirty="0"/>
              <a:t>V</a:t>
            </a:r>
            <a:r>
              <a:rPr lang="en-US" altLang="zh-CN" baseline="-25000" dirty="0"/>
              <a:t>REF(+)</a:t>
            </a:r>
            <a:r>
              <a:rPr lang="en-US" altLang="zh-CN" dirty="0"/>
              <a:t>=5V</a:t>
            </a:r>
            <a:r>
              <a:rPr lang="zh-CN" altLang="en-US" dirty="0"/>
              <a:t>，</a:t>
            </a:r>
            <a:r>
              <a:rPr lang="en-US" altLang="zh-CN" dirty="0"/>
              <a:t>V</a:t>
            </a:r>
            <a:r>
              <a:rPr lang="en-US" altLang="zh-CN" baseline="-25000" dirty="0"/>
              <a:t>REF(-)</a:t>
            </a:r>
            <a:r>
              <a:rPr lang="en-US" altLang="zh-CN" dirty="0"/>
              <a:t>=0V</a:t>
            </a:r>
            <a:r>
              <a:rPr lang="zh-CN" altLang="en-US" dirty="0"/>
              <a:t>，输入模拟电压</a:t>
            </a:r>
            <a:r>
              <a:rPr lang="en-US" altLang="zh-CN" dirty="0"/>
              <a:t>V</a:t>
            </a:r>
            <a:r>
              <a:rPr lang="en-US" altLang="zh-CN" baseline="-25000" dirty="0"/>
              <a:t>in</a:t>
            </a:r>
            <a:r>
              <a:rPr lang="en-US" altLang="zh-CN" dirty="0"/>
              <a:t>=1.5V</a:t>
            </a:r>
            <a:r>
              <a:rPr lang="zh-CN" altLang="en-US" dirty="0"/>
              <a:t>，则</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graphicFrame>
        <p:nvGraphicFramePr>
          <p:cNvPr id="6" name="对象 5"/>
          <p:cNvGraphicFramePr>
            <a:graphicFrameLocks noChangeAspect="1"/>
          </p:cNvGraphicFramePr>
          <p:nvPr/>
        </p:nvGraphicFramePr>
        <p:xfrm>
          <a:off x="3517751" y="2990625"/>
          <a:ext cx="4023360" cy="946673"/>
        </p:xfrm>
        <a:graphic>
          <a:graphicData uri="http://schemas.openxmlformats.org/presentationml/2006/ole">
            <mc:AlternateContent xmlns:mc="http://schemas.openxmlformats.org/markup-compatibility/2006">
              <mc:Choice xmlns:v="urn:schemas-microsoft-com:vml" Requires="v">
                <p:oleObj spid="_x0000_s3073" name="Equation" r:id="rId1" imgW="36271200" imgH="11277600" progId="Equation.DSMT4">
                  <p:embed/>
                </p:oleObj>
              </mc:Choice>
              <mc:Fallback>
                <p:oleObj name="Equation" r:id="rId1" imgW="36271200" imgH="11277600" progId="Equation.DSMT4">
                  <p:embed/>
                  <p:pic>
                    <p:nvPicPr>
                      <p:cNvPr id="0" name="图片 3072"/>
                      <p:cNvPicPr>
                        <a:picLocks noChangeAspect="1"/>
                      </p:cNvPicPr>
                      <p:nvPr/>
                    </p:nvPicPr>
                    <p:blipFill>
                      <a:blip r:embed="rId2"/>
                      <a:stretch>
                        <a:fillRect/>
                      </a:stretch>
                    </p:blipFill>
                    <p:spPr>
                      <a:xfrm>
                        <a:off x="3517751" y="2990625"/>
                        <a:ext cx="4023360" cy="946673"/>
                      </a:xfrm>
                      <a:prstGeom prst="rect">
                        <a:avLst/>
                      </a:prstGeom>
                      <a:noFill/>
                      <a:ln w="9525">
                        <a:noFill/>
                      </a:ln>
                    </p:spPr>
                  </p:pic>
                </p:oleObj>
              </mc:Fallback>
            </mc:AlternateContent>
          </a:graphicData>
        </a:graphic>
      </p:graphicFrame>
      <p:graphicFrame>
        <p:nvGraphicFramePr>
          <p:cNvPr id="22531" name="Object 3"/>
          <p:cNvGraphicFramePr>
            <a:graphicFrameLocks noChangeAspect="1"/>
          </p:cNvGraphicFramePr>
          <p:nvPr/>
        </p:nvGraphicFramePr>
        <p:xfrm>
          <a:off x="2505075" y="5262563"/>
          <a:ext cx="5815013" cy="793750"/>
        </p:xfrm>
        <a:graphic>
          <a:graphicData uri="http://schemas.openxmlformats.org/presentationml/2006/ole">
            <mc:AlternateContent xmlns:mc="http://schemas.openxmlformats.org/markup-compatibility/2006">
              <mc:Choice xmlns:v="urn:schemas-microsoft-com:vml" Requires="v">
                <p:oleObj spid="_x0000_s3074" name="Equation" r:id="rId3" imgW="52425600" imgH="9448800" progId="Equation.DSMT4">
                  <p:embed/>
                </p:oleObj>
              </mc:Choice>
              <mc:Fallback>
                <p:oleObj name="Equation" r:id="rId3" imgW="52425600" imgH="9448800" progId="Equation.DSMT4">
                  <p:embed/>
                  <p:pic>
                    <p:nvPicPr>
                      <p:cNvPr id="0" name="图片 3073"/>
                      <p:cNvPicPr>
                        <a:picLocks noChangeAspect="1"/>
                      </p:cNvPicPr>
                      <p:nvPr/>
                    </p:nvPicPr>
                    <p:blipFill>
                      <a:blip r:embed="rId4"/>
                      <a:stretch>
                        <a:fillRect/>
                      </a:stretch>
                    </p:blipFill>
                    <p:spPr>
                      <a:xfrm>
                        <a:off x="2505075" y="5262563"/>
                        <a:ext cx="5815013" cy="79375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ADC0809</a:t>
            </a:r>
            <a:r>
              <a:rPr lang="zh-CN" altLang="en-US" dirty="0"/>
              <a:t>与</a:t>
            </a:r>
            <a:r>
              <a:rPr lang="en-US" altLang="zh-CN" dirty="0"/>
              <a:t>CPU</a:t>
            </a:r>
            <a:r>
              <a:rPr lang="zh-CN" altLang="en-US" dirty="0"/>
              <a:t>的接口</a:t>
            </a:r>
            <a:endParaRPr lang="zh-CN" altLang="en-US" dirty="0"/>
          </a:p>
        </p:txBody>
      </p:sp>
      <p:sp>
        <p:nvSpPr>
          <p:cNvPr id="3" name="内容占位符 2"/>
          <p:cNvSpPr>
            <a:spLocks noGrp="1"/>
          </p:cNvSpPr>
          <p:nvPr>
            <p:ph idx="1"/>
          </p:nvPr>
        </p:nvSpPr>
        <p:spPr>
          <a:xfrm>
            <a:off x="609601" y="1719263"/>
            <a:ext cx="5791199" cy="4411662"/>
          </a:xfrm>
        </p:spPr>
        <p:txBody>
          <a:bodyPr/>
          <a:lstStyle/>
          <a:p>
            <a:pPr marL="0" indent="0">
              <a:buNone/>
            </a:pPr>
            <a:r>
              <a:rPr lang="en-US" altLang="zh-CN" dirty="0" smtClean="0"/>
              <a:t>1)</a:t>
            </a:r>
            <a:r>
              <a:rPr lang="zh-CN" altLang="en-US" dirty="0" smtClean="0"/>
              <a:t>编程</a:t>
            </a:r>
            <a:r>
              <a:rPr lang="zh-CN" altLang="en-US" dirty="0"/>
              <a:t>启动、转换结束中断处理</a:t>
            </a:r>
            <a:endParaRPr lang="zh-CN" altLang="en-US" dirty="0"/>
          </a:p>
          <a:p>
            <a:r>
              <a:rPr lang="zh-CN" altLang="en-US" dirty="0"/>
              <a:t>由于</a:t>
            </a:r>
            <a:r>
              <a:rPr lang="en-US" altLang="zh-CN" dirty="0"/>
              <a:t>ADC0809</a:t>
            </a:r>
            <a:r>
              <a:rPr lang="zh-CN" altLang="en-US" dirty="0"/>
              <a:t>带有三态锁存缓冲器，所以其数字输出线可与系统数据总线直接相连。</a:t>
            </a:r>
            <a:endParaRPr lang="zh-CN" altLang="en-US" dirty="0"/>
          </a:p>
          <a:p>
            <a:r>
              <a:rPr lang="zh-CN" altLang="en-US" dirty="0"/>
              <a:t>执行输出指令控制</a:t>
            </a:r>
            <a:r>
              <a:rPr lang="en-US" altLang="zh-CN" dirty="0"/>
              <a:t>START</a:t>
            </a:r>
            <a:r>
              <a:rPr lang="zh-CN" altLang="en-US" dirty="0"/>
              <a:t>为正脉冲，启动</a:t>
            </a:r>
            <a:r>
              <a:rPr lang="en-US" altLang="zh-CN" dirty="0"/>
              <a:t>A/D</a:t>
            </a:r>
            <a:r>
              <a:rPr lang="zh-CN" altLang="en-US" dirty="0"/>
              <a:t>转换。</a:t>
            </a:r>
            <a:endParaRPr lang="zh-CN" altLang="en-US" dirty="0"/>
          </a:p>
          <a:p>
            <a:r>
              <a:rPr lang="zh-CN" altLang="en-US" dirty="0"/>
              <a:t>执行输入指令，控制</a:t>
            </a:r>
            <a:r>
              <a:rPr lang="en-US" altLang="zh-CN" dirty="0"/>
              <a:t>OE</a:t>
            </a:r>
            <a:r>
              <a:rPr lang="zh-CN" altLang="en-US" dirty="0"/>
              <a:t>端为高电平，读入转换后的数字量。</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pic>
        <p:nvPicPr>
          <p:cNvPr id="8" name="图片 7"/>
          <p:cNvPicPr>
            <a:picLocks noChangeAspect="1"/>
          </p:cNvPicPr>
          <p:nvPr/>
        </p:nvPicPr>
        <p:blipFill>
          <a:blip r:embed="rId1" cstate="print"/>
          <a:stretch>
            <a:fillRect/>
          </a:stretch>
        </p:blipFill>
        <p:spPr>
          <a:xfrm>
            <a:off x="6281180" y="1719263"/>
            <a:ext cx="5196433" cy="3610155"/>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ADC0809</a:t>
            </a:r>
            <a:r>
              <a:rPr lang="zh-CN" altLang="en-US" dirty="0"/>
              <a:t>与</a:t>
            </a:r>
            <a:r>
              <a:rPr lang="en-US" altLang="zh-CN" dirty="0"/>
              <a:t>CPU</a:t>
            </a:r>
            <a:r>
              <a:rPr lang="zh-CN" altLang="en-US" dirty="0"/>
              <a:t>的接口</a:t>
            </a:r>
            <a:endParaRPr lang="zh-CN" altLang="en-US" dirty="0"/>
          </a:p>
        </p:txBody>
      </p:sp>
      <p:sp>
        <p:nvSpPr>
          <p:cNvPr id="3" name="内容占位符 2"/>
          <p:cNvSpPr>
            <a:spLocks noGrp="1"/>
          </p:cNvSpPr>
          <p:nvPr>
            <p:ph idx="1"/>
          </p:nvPr>
        </p:nvSpPr>
        <p:spPr>
          <a:xfrm>
            <a:off x="463827" y="1417638"/>
            <a:ext cx="5221356" cy="4411662"/>
          </a:xfrm>
        </p:spPr>
        <p:txBody>
          <a:bodyPr/>
          <a:lstStyle/>
          <a:p>
            <a:pPr marL="0" indent="0">
              <a:buNone/>
            </a:pPr>
            <a:r>
              <a:rPr lang="zh-CN" altLang="en-US" dirty="0"/>
              <a:t>编程启动、转换结束中断处理</a:t>
            </a:r>
            <a:endParaRPr lang="zh-CN" altLang="en-US" dirty="0"/>
          </a:p>
          <a:p>
            <a:pPr marL="0" indent="0">
              <a:buNone/>
            </a:pPr>
            <a:r>
              <a:rPr lang="zh-CN" altLang="en-US" dirty="0"/>
              <a:t>主程序</a:t>
            </a:r>
            <a:endParaRPr lang="en-US" altLang="zh-CN" dirty="0"/>
          </a:p>
          <a:p>
            <a:pPr marL="0" indent="0">
              <a:buNone/>
            </a:pPr>
            <a:r>
              <a:rPr lang="zh-CN" altLang="en-US" dirty="0"/>
              <a:t>；数据段设置缓冲区</a:t>
            </a:r>
            <a:endParaRPr lang="en-US" altLang="zh-CN" dirty="0"/>
          </a:p>
          <a:p>
            <a:pPr marL="0" indent="0">
              <a:buNone/>
            </a:pPr>
            <a:r>
              <a:rPr lang="en-US" altLang="zh-CN" dirty="0"/>
              <a:t>ADTEMP DB 0</a:t>
            </a:r>
            <a:r>
              <a:rPr lang="zh-CN" altLang="en-US" dirty="0"/>
              <a:t>；</a:t>
            </a:r>
            <a:endParaRPr lang="en-US" altLang="zh-CN" dirty="0"/>
          </a:p>
          <a:p>
            <a:pPr marL="0" indent="0">
              <a:buNone/>
            </a:pPr>
            <a:r>
              <a:rPr lang="zh-CN" altLang="en-US" dirty="0"/>
              <a:t>；代码段</a:t>
            </a:r>
            <a:endParaRPr lang="en-US" altLang="zh-CN" dirty="0"/>
          </a:p>
          <a:p>
            <a:pPr marL="0" indent="0">
              <a:buNone/>
            </a:pPr>
            <a:r>
              <a:rPr lang="en-US" altLang="zh-CN" dirty="0"/>
              <a:t>…… </a:t>
            </a:r>
            <a:r>
              <a:rPr lang="zh-CN" altLang="en-US" dirty="0"/>
              <a:t>；设置中断向量</a:t>
            </a:r>
            <a:endParaRPr lang="en-US" altLang="zh-CN" dirty="0"/>
          </a:p>
          <a:p>
            <a:pPr marL="0" indent="0">
              <a:buNone/>
            </a:pPr>
            <a:r>
              <a:rPr lang="en-US" altLang="zh-CN" dirty="0"/>
              <a:t>STI </a:t>
            </a:r>
            <a:r>
              <a:rPr lang="zh-CN" altLang="en-US" dirty="0"/>
              <a:t>；开中断</a:t>
            </a:r>
            <a:endParaRPr lang="en-US" altLang="zh-CN" dirty="0"/>
          </a:p>
          <a:p>
            <a:pPr marL="0" indent="0">
              <a:buNone/>
            </a:pPr>
            <a:r>
              <a:rPr lang="en-US" altLang="zh-CN" dirty="0"/>
              <a:t>MOV DX</a:t>
            </a:r>
            <a:r>
              <a:rPr lang="zh-CN" altLang="en-US" dirty="0"/>
              <a:t>，</a:t>
            </a:r>
            <a:r>
              <a:rPr lang="en-US" altLang="zh-CN" dirty="0"/>
              <a:t>220H</a:t>
            </a:r>
            <a:endParaRPr lang="en-US" altLang="zh-CN" dirty="0"/>
          </a:p>
          <a:p>
            <a:pPr marL="0" indent="0">
              <a:buNone/>
            </a:pPr>
            <a:r>
              <a:rPr lang="en-US" altLang="zh-CN" dirty="0"/>
              <a:t>OUT DX</a:t>
            </a:r>
            <a:r>
              <a:rPr lang="zh-CN" altLang="en-US" dirty="0"/>
              <a:t>，</a:t>
            </a:r>
            <a:r>
              <a:rPr lang="en-US" altLang="zh-CN" dirty="0"/>
              <a:t>AL </a:t>
            </a:r>
            <a:r>
              <a:rPr lang="zh-CN" altLang="en-US" dirty="0"/>
              <a:t>；启动</a:t>
            </a:r>
            <a:r>
              <a:rPr lang="en-US" altLang="zh-CN" dirty="0"/>
              <a:t>A/D</a:t>
            </a:r>
            <a:r>
              <a:rPr lang="zh-CN" altLang="en-US" dirty="0"/>
              <a:t>转换</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pic>
        <p:nvPicPr>
          <p:cNvPr id="7" name="图片 6"/>
          <p:cNvPicPr>
            <a:picLocks noChangeAspect="1"/>
          </p:cNvPicPr>
          <p:nvPr/>
        </p:nvPicPr>
        <p:blipFill>
          <a:blip r:embed="rId1" cstate="print"/>
          <a:stretch>
            <a:fillRect/>
          </a:stretch>
        </p:blipFill>
        <p:spPr>
          <a:xfrm>
            <a:off x="5502840" y="1765914"/>
            <a:ext cx="5347504" cy="3715109"/>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2296" y="-495300"/>
            <a:ext cx="10058400" cy="1295400"/>
          </a:xfrm>
        </p:spPr>
        <p:txBody>
          <a:bodyPr/>
          <a:lstStyle/>
          <a:p>
            <a:r>
              <a:rPr lang="en-US" altLang="zh-CN" dirty="0"/>
              <a:t>ADC0809</a:t>
            </a:r>
            <a:r>
              <a:rPr lang="zh-CN" altLang="en-US" dirty="0"/>
              <a:t>与</a:t>
            </a:r>
            <a:r>
              <a:rPr lang="en-US" altLang="zh-CN" dirty="0"/>
              <a:t>CPU</a:t>
            </a:r>
            <a:r>
              <a:rPr lang="zh-CN" altLang="en-US" dirty="0"/>
              <a:t>的接口</a:t>
            </a:r>
            <a:endParaRPr lang="zh-CN" altLang="en-US" dirty="0"/>
          </a:p>
        </p:txBody>
      </p:sp>
      <p:sp>
        <p:nvSpPr>
          <p:cNvPr id="3" name="内容占位符 2"/>
          <p:cNvSpPr>
            <a:spLocks noGrp="1"/>
          </p:cNvSpPr>
          <p:nvPr>
            <p:ph idx="1"/>
          </p:nvPr>
        </p:nvSpPr>
        <p:spPr>
          <a:xfrm>
            <a:off x="768625" y="640073"/>
            <a:ext cx="9488557" cy="4411662"/>
          </a:xfrm>
        </p:spPr>
        <p:txBody>
          <a:bodyPr/>
          <a:lstStyle/>
          <a:p>
            <a:pPr marL="0" indent="0">
              <a:buNone/>
            </a:pPr>
            <a:r>
              <a:rPr lang="zh-CN" altLang="en-US" dirty="0"/>
              <a:t>编程启动、转换结束中断处理</a:t>
            </a:r>
            <a:endParaRPr lang="zh-CN" altLang="en-US" dirty="0"/>
          </a:p>
          <a:p>
            <a:pPr marL="0" indent="0">
              <a:buNone/>
            </a:pPr>
            <a:r>
              <a:rPr lang="zh-CN" altLang="en-US" dirty="0"/>
              <a:t>中断服务程序</a:t>
            </a:r>
            <a:endParaRPr lang="en-US" altLang="zh-CN" dirty="0"/>
          </a:p>
          <a:p>
            <a:pPr marL="0" indent="0">
              <a:buNone/>
            </a:pPr>
            <a:r>
              <a:rPr lang="en-US" altLang="zh-CN" dirty="0"/>
              <a:t>ADINT PROC</a:t>
            </a:r>
            <a:endParaRPr lang="en-US" altLang="zh-CN" dirty="0"/>
          </a:p>
          <a:p>
            <a:pPr marL="0" indent="0">
              <a:buNone/>
            </a:pPr>
            <a:r>
              <a:rPr lang="en-US" altLang="zh-CN" dirty="0"/>
              <a:t>STI </a:t>
            </a:r>
            <a:r>
              <a:rPr lang="zh-CN" altLang="en-US" dirty="0"/>
              <a:t>；开中断</a:t>
            </a:r>
            <a:endParaRPr lang="en-US" altLang="zh-CN" dirty="0"/>
          </a:p>
          <a:p>
            <a:pPr marL="0" indent="0">
              <a:buNone/>
            </a:pPr>
            <a:r>
              <a:rPr lang="en-US" altLang="zh-CN" dirty="0"/>
              <a:t>…… </a:t>
            </a:r>
            <a:r>
              <a:rPr lang="zh-CN" altLang="en-US" dirty="0"/>
              <a:t>；保护现场等</a:t>
            </a:r>
            <a:endParaRPr lang="en-US" altLang="zh-CN" dirty="0"/>
          </a:p>
          <a:p>
            <a:pPr marL="0" indent="0">
              <a:buNone/>
            </a:pPr>
            <a:r>
              <a:rPr lang="en-US" altLang="zh-CN" dirty="0"/>
              <a:t>MOV DX</a:t>
            </a:r>
            <a:r>
              <a:rPr lang="zh-CN" altLang="en-US" dirty="0"/>
              <a:t>，</a:t>
            </a:r>
            <a:r>
              <a:rPr lang="en-US" altLang="zh-CN" dirty="0"/>
              <a:t>220H</a:t>
            </a:r>
            <a:endParaRPr lang="en-US" altLang="zh-CN" dirty="0"/>
          </a:p>
          <a:p>
            <a:pPr marL="0" indent="0">
              <a:buNone/>
            </a:pPr>
            <a:r>
              <a:rPr lang="en-US" altLang="zh-CN" dirty="0"/>
              <a:t>IN AL</a:t>
            </a:r>
            <a:r>
              <a:rPr lang="zh-CN" altLang="en-US" dirty="0"/>
              <a:t>，</a:t>
            </a:r>
            <a:r>
              <a:rPr lang="en-US" altLang="zh-CN" dirty="0"/>
              <a:t>DX </a:t>
            </a:r>
            <a:r>
              <a:rPr lang="zh-CN" altLang="en-US" dirty="0"/>
              <a:t>；读取转换后的结果</a:t>
            </a:r>
            <a:endParaRPr lang="en-US" altLang="zh-CN" dirty="0"/>
          </a:p>
          <a:p>
            <a:pPr marL="0" indent="0">
              <a:buNone/>
            </a:pPr>
            <a:r>
              <a:rPr lang="en-US" altLang="zh-CN" dirty="0"/>
              <a:t>MOV ADTEMP</a:t>
            </a:r>
            <a:r>
              <a:rPr lang="zh-CN" altLang="en-US" dirty="0"/>
              <a:t>，</a:t>
            </a:r>
            <a:r>
              <a:rPr lang="en-US" altLang="zh-CN" dirty="0"/>
              <a:t>AL</a:t>
            </a:r>
            <a:r>
              <a:rPr lang="zh-CN" altLang="en-US" dirty="0"/>
              <a:t>；送到缓冲区</a:t>
            </a:r>
            <a:endParaRPr lang="en-US" altLang="zh-CN" dirty="0"/>
          </a:p>
          <a:p>
            <a:pPr marL="0" indent="0">
              <a:buNone/>
            </a:pPr>
            <a:r>
              <a:rPr lang="en-US" altLang="zh-CN" dirty="0"/>
              <a:t>…… </a:t>
            </a:r>
            <a:r>
              <a:rPr lang="zh-CN" altLang="en-US" dirty="0"/>
              <a:t>；关中断、恢复现场等</a:t>
            </a:r>
            <a:endParaRPr lang="en-US" altLang="zh-CN" dirty="0"/>
          </a:p>
          <a:p>
            <a:pPr marL="0" indent="0">
              <a:buNone/>
            </a:pPr>
            <a:r>
              <a:rPr lang="en-US" altLang="zh-CN" dirty="0"/>
              <a:t>IRET </a:t>
            </a:r>
            <a:r>
              <a:rPr lang="zh-CN" altLang="en-US" dirty="0"/>
              <a:t>；中断返回</a:t>
            </a:r>
            <a:endParaRPr lang="en-US" altLang="zh-CN" dirty="0"/>
          </a:p>
          <a:p>
            <a:pPr marL="0" indent="0">
              <a:buNone/>
            </a:pPr>
            <a:r>
              <a:rPr lang="en-US" altLang="zh-CN" dirty="0"/>
              <a:t>ADINT ENDP</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pic>
        <p:nvPicPr>
          <p:cNvPr id="7" name="图片 6"/>
          <p:cNvPicPr>
            <a:picLocks noChangeAspect="1"/>
          </p:cNvPicPr>
          <p:nvPr/>
        </p:nvPicPr>
        <p:blipFill>
          <a:blip r:embed="rId1" cstate="print"/>
          <a:stretch>
            <a:fillRect/>
          </a:stretch>
        </p:blipFill>
        <p:spPr>
          <a:xfrm>
            <a:off x="6205207" y="1666695"/>
            <a:ext cx="5347504" cy="3715109"/>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ADC0809</a:t>
            </a:r>
            <a:r>
              <a:rPr lang="zh-CN" altLang="en-US" dirty="0"/>
              <a:t>与</a:t>
            </a:r>
            <a:r>
              <a:rPr lang="en-US" altLang="zh-CN" dirty="0"/>
              <a:t>CPU</a:t>
            </a:r>
            <a:r>
              <a:rPr lang="zh-CN" altLang="en-US" dirty="0"/>
              <a:t>的接口</a:t>
            </a:r>
            <a:endParaRPr lang="zh-CN" altLang="en-US" dirty="0"/>
          </a:p>
        </p:txBody>
      </p:sp>
      <p:sp>
        <p:nvSpPr>
          <p:cNvPr id="3" name="内容占位符 2"/>
          <p:cNvSpPr>
            <a:spLocks noGrp="1"/>
          </p:cNvSpPr>
          <p:nvPr>
            <p:ph idx="1"/>
          </p:nvPr>
        </p:nvSpPr>
        <p:spPr>
          <a:xfrm>
            <a:off x="463827" y="1417638"/>
            <a:ext cx="5632173" cy="4411662"/>
          </a:xfrm>
        </p:spPr>
        <p:txBody>
          <a:bodyPr/>
          <a:lstStyle/>
          <a:p>
            <a:pPr marL="0" indent="0">
              <a:buNone/>
            </a:pPr>
            <a:r>
              <a:rPr lang="en-US" altLang="zh-CN" dirty="0" smtClean="0"/>
              <a:t>2)</a:t>
            </a:r>
            <a:r>
              <a:rPr lang="zh-CN" altLang="en-US" dirty="0" smtClean="0"/>
              <a:t>编程</a:t>
            </a:r>
            <a:r>
              <a:rPr lang="zh-CN" altLang="en-US" dirty="0"/>
              <a:t>启动、转换结束查询处理</a:t>
            </a:r>
            <a:endParaRPr lang="zh-CN" altLang="en-US" dirty="0"/>
          </a:p>
          <a:p>
            <a:r>
              <a:rPr lang="zh-CN" altLang="en-US" dirty="0"/>
              <a:t>将转换结束信号</a:t>
            </a:r>
            <a:r>
              <a:rPr lang="en-US" altLang="zh-CN" dirty="0"/>
              <a:t>EOC</a:t>
            </a:r>
            <a:r>
              <a:rPr lang="zh-CN" altLang="en-US" dirty="0"/>
              <a:t>作为状态信号，经三态门接入数据总线最高位</a:t>
            </a:r>
            <a:r>
              <a:rPr lang="en-US" altLang="zh-CN" dirty="0"/>
              <a:t>D</a:t>
            </a:r>
            <a:r>
              <a:rPr lang="en-US" altLang="zh-CN" baseline="-25000" dirty="0"/>
              <a:t>7</a:t>
            </a:r>
            <a:r>
              <a:rPr lang="zh-CN" altLang="en-US" dirty="0"/>
              <a:t>。状态端口的地址设为</a:t>
            </a:r>
            <a:r>
              <a:rPr lang="en-US" altLang="zh-CN" dirty="0"/>
              <a:t>238H</a:t>
            </a:r>
            <a:r>
              <a:rPr lang="zh-CN" altLang="en-US" dirty="0"/>
              <a:t>。</a:t>
            </a:r>
            <a:endParaRPr lang="zh-CN" altLang="en-US" dirty="0"/>
          </a:p>
          <a:p>
            <a:r>
              <a:rPr lang="zh-CN" altLang="en-US" dirty="0"/>
              <a:t>系统地址总线的低</a:t>
            </a:r>
            <a:r>
              <a:rPr lang="en-US" altLang="zh-CN" dirty="0"/>
              <a:t>3</a:t>
            </a:r>
            <a:r>
              <a:rPr lang="zh-CN" altLang="en-US" dirty="0"/>
              <a:t>位分别连接</a:t>
            </a:r>
            <a:r>
              <a:rPr lang="en-US" altLang="zh-CN" dirty="0"/>
              <a:t>ADC0809</a:t>
            </a:r>
            <a:r>
              <a:rPr lang="zh-CN" altLang="en-US" dirty="0"/>
              <a:t>的地址线，在启动</a:t>
            </a:r>
            <a:r>
              <a:rPr lang="en-US" altLang="zh-CN" dirty="0"/>
              <a:t>A/D</a:t>
            </a:r>
            <a:r>
              <a:rPr lang="zh-CN" altLang="en-US" dirty="0"/>
              <a:t>转换的同时，选定要进行转换的模拟通道，对应</a:t>
            </a:r>
            <a:r>
              <a:rPr lang="en-US" altLang="zh-CN" dirty="0"/>
              <a:t>8</a:t>
            </a:r>
            <a:r>
              <a:rPr lang="zh-CN" altLang="en-US" dirty="0"/>
              <a:t>个模拟通道的</a:t>
            </a:r>
            <a:r>
              <a:rPr lang="en-US" altLang="zh-CN" dirty="0"/>
              <a:t>I/O</a:t>
            </a:r>
            <a:r>
              <a:rPr lang="zh-CN" altLang="en-US" dirty="0"/>
              <a:t>地址分别为</a:t>
            </a:r>
            <a:r>
              <a:rPr lang="en-US" altLang="zh-CN" dirty="0"/>
              <a:t>220H~227H</a:t>
            </a:r>
            <a:r>
              <a:rPr lang="zh-CN" altLang="en-US" dirty="0"/>
              <a:t>。</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pic>
        <p:nvPicPr>
          <p:cNvPr id="7" name="图片 6"/>
          <p:cNvPicPr>
            <a:picLocks noChangeAspect="1"/>
          </p:cNvPicPr>
          <p:nvPr/>
        </p:nvPicPr>
        <p:blipFill>
          <a:blip r:embed="rId1" cstate="print"/>
          <a:stretch>
            <a:fillRect/>
          </a:stretch>
        </p:blipFill>
        <p:spPr>
          <a:xfrm>
            <a:off x="6241776" y="1417638"/>
            <a:ext cx="5463251" cy="4284453"/>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ADC0809</a:t>
            </a:r>
            <a:r>
              <a:rPr lang="zh-CN" altLang="en-US" dirty="0"/>
              <a:t>与</a:t>
            </a:r>
            <a:r>
              <a:rPr lang="en-US" altLang="zh-CN" dirty="0"/>
              <a:t>CPU</a:t>
            </a:r>
            <a:r>
              <a:rPr lang="zh-CN" altLang="en-US" dirty="0"/>
              <a:t>的接口</a:t>
            </a:r>
            <a:endParaRPr lang="zh-CN" altLang="en-US" dirty="0"/>
          </a:p>
        </p:txBody>
      </p:sp>
      <p:sp>
        <p:nvSpPr>
          <p:cNvPr id="3" name="内容占位符 2"/>
          <p:cNvSpPr>
            <a:spLocks noGrp="1"/>
          </p:cNvSpPr>
          <p:nvPr>
            <p:ph idx="1"/>
          </p:nvPr>
        </p:nvSpPr>
        <p:spPr/>
        <p:txBody>
          <a:bodyPr/>
          <a:lstStyle/>
          <a:p>
            <a:pPr marL="0" indent="0">
              <a:buNone/>
            </a:pPr>
            <a:r>
              <a:rPr lang="zh-CN" altLang="en-US" dirty="0"/>
              <a:t>编程启动、转换结束查询处理</a:t>
            </a:r>
            <a:endParaRPr lang="zh-CN" altLang="en-US" dirty="0"/>
          </a:p>
          <a:p>
            <a:r>
              <a:rPr lang="zh-CN" altLang="en-US" dirty="0"/>
              <a:t>下面的程序段实现将</a:t>
            </a:r>
            <a:r>
              <a:rPr lang="en-US" altLang="zh-CN" dirty="0"/>
              <a:t>8</a:t>
            </a:r>
            <a:r>
              <a:rPr lang="zh-CN" altLang="en-US" dirty="0"/>
              <a:t>个模拟通道依次转换并读取转换结果的功能。；数据段</a:t>
            </a:r>
            <a:endParaRPr lang="en-US" altLang="zh-CN" dirty="0"/>
          </a:p>
          <a:p>
            <a:pPr marL="0" indent="0">
              <a:buNone/>
            </a:pPr>
            <a:r>
              <a:rPr lang="en-US" altLang="zh-CN" dirty="0"/>
              <a:t>     COUNTER EQU 8</a:t>
            </a:r>
            <a:endParaRPr lang="en-US" altLang="zh-CN" dirty="0"/>
          </a:p>
          <a:p>
            <a:pPr marL="0" indent="0">
              <a:buNone/>
            </a:pPr>
            <a:r>
              <a:rPr lang="en-US" altLang="zh-CN" dirty="0"/>
              <a:t>     BUF DB COUNTER DUP(0)</a:t>
            </a:r>
            <a:r>
              <a:rPr lang="zh-CN" altLang="en-US" dirty="0"/>
              <a:t>；设立数据缓冲区</a:t>
            </a:r>
            <a:endParaRPr lang="en-US" altLang="zh-CN" dirty="0"/>
          </a:p>
          <a:p>
            <a:pPr marL="0" indent="0">
              <a:buNone/>
            </a:pPr>
            <a:r>
              <a:rPr lang="en-US" altLang="zh-CN" dirty="0"/>
              <a:t>     </a:t>
            </a:r>
            <a:r>
              <a:rPr lang="zh-CN" altLang="en-US" dirty="0"/>
              <a:t>；代码段</a:t>
            </a:r>
            <a:endParaRPr lang="en-US" altLang="zh-CN" dirty="0"/>
          </a:p>
          <a:p>
            <a:pPr marL="0" indent="0">
              <a:buNone/>
            </a:pPr>
            <a:r>
              <a:rPr lang="en-US" altLang="zh-CN" dirty="0"/>
              <a:t>                LEA BX</a:t>
            </a:r>
            <a:r>
              <a:rPr lang="zh-CN" altLang="en-US" dirty="0"/>
              <a:t>，</a:t>
            </a:r>
            <a:r>
              <a:rPr lang="en-US" altLang="zh-CN" dirty="0"/>
              <a:t>BUF </a:t>
            </a:r>
            <a:r>
              <a:rPr lang="zh-CN" altLang="en-US" dirty="0"/>
              <a:t>；建立数据缓冲区指针</a:t>
            </a:r>
            <a:endParaRPr lang="en-US" altLang="zh-CN" dirty="0"/>
          </a:p>
          <a:p>
            <a:pPr marL="0" indent="0">
              <a:buNone/>
            </a:pPr>
            <a:r>
              <a:rPr lang="en-US" altLang="zh-CN" dirty="0"/>
              <a:t>                MOV CX</a:t>
            </a:r>
            <a:r>
              <a:rPr lang="zh-CN" altLang="en-US" dirty="0"/>
              <a:t>，</a:t>
            </a:r>
            <a:r>
              <a:rPr lang="en-US" altLang="zh-CN" dirty="0"/>
              <a:t>COUNTER</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0"/>
            <a:ext cx="10058400" cy="604837"/>
          </a:xfrm>
        </p:spPr>
        <p:txBody>
          <a:bodyPr/>
          <a:lstStyle/>
          <a:p>
            <a:r>
              <a:rPr lang="en-US" altLang="zh-CN" dirty="0"/>
              <a:t>ADC0809</a:t>
            </a:r>
            <a:r>
              <a:rPr lang="zh-CN" altLang="en-US" dirty="0"/>
              <a:t>与</a:t>
            </a:r>
            <a:r>
              <a:rPr lang="en-US" altLang="zh-CN" dirty="0"/>
              <a:t>CPU</a:t>
            </a:r>
            <a:r>
              <a:rPr lang="zh-CN" altLang="en-US" dirty="0"/>
              <a:t>的接口</a:t>
            </a:r>
            <a:endParaRPr lang="zh-CN" altLang="en-US" dirty="0"/>
          </a:p>
        </p:txBody>
      </p:sp>
      <p:sp>
        <p:nvSpPr>
          <p:cNvPr id="3" name="内容占位符 2"/>
          <p:cNvSpPr>
            <a:spLocks noGrp="1"/>
          </p:cNvSpPr>
          <p:nvPr>
            <p:ph idx="1"/>
          </p:nvPr>
        </p:nvSpPr>
        <p:spPr>
          <a:xfrm>
            <a:off x="344556" y="576155"/>
            <a:ext cx="6864111" cy="6011076"/>
          </a:xfrm>
        </p:spPr>
        <p:txBody>
          <a:bodyPr/>
          <a:lstStyle/>
          <a:p>
            <a:pPr marL="0" indent="0">
              <a:buNone/>
            </a:pPr>
            <a:r>
              <a:rPr lang="en-US" altLang="zh-CN" sz="2000" dirty="0" smtClean="0"/>
              <a:t>MOV </a:t>
            </a:r>
            <a:r>
              <a:rPr lang="en-US" altLang="zh-CN" sz="2000" dirty="0"/>
              <a:t>DX</a:t>
            </a:r>
            <a:r>
              <a:rPr lang="zh-CN" altLang="en-US" sz="2000" dirty="0"/>
              <a:t>，</a:t>
            </a:r>
            <a:r>
              <a:rPr lang="en-US" altLang="zh-CN" sz="2000" dirty="0"/>
              <a:t>220H </a:t>
            </a:r>
            <a:r>
              <a:rPr lang="zh-CN" altLang="en-US" sz="2000" dirty="0"/>
              <a:t>；从</a:t>
            </a:r>
            <a:r>
              <a:rPr lang="en-US" altLang="zh-CN" sz="2000" dirty="0"/>
              <a:t>IN0</a:t>
            </a:r>
            <a:r>
              <a:rPr lang="zh-CN" altLang="en-US" sz="2000" dirty="0"/>
              <a:t>开始转换</a:t>
            </a:r>
            <a:endParaRPr lang="en-US" altLang="zh-CN" sz="2000" dirty="0"/>
          </a:p>
          <a:p>
            <a:pPr marL="0" indent="0">
              <a:buNone/>
            </a:pPr>
            <a:r>
              <a:rPr lang="en-US" altLang="zh-CN" sz="2000" dirty="0"/>
              <a:t>START1: OUT DX</a:t>
            </a:r>
            <a:r>
              <a:rPr lang="zh-CN" altLang="en-US" sz="2000" dirty="0"/>
              <a:t>，</a:t>
            </a:r>
            <a:r>
              <a:rPr lang="en-US" altLang="zh-CN" sz="2000" dirty="0"/>
              <a:t>AL </a:t>
            </a:r>
            <a:r>
              <a:rPr lang="zh-CN" altLang="en-US" sz="2000" dirty="0"/>
              <a:t>；启动</a:t>
            </a:r>
            <a:r>
              <a:rPr lang="en-US" altLang="zh-CN" sz="2000" dirty="0"/>
              <a:t>A/D</a:t>
            </a:r>
            <a:r>
              <a:rPr lang="zh-CN" altLang="en-US" sz="2000" dirty="0"/>
              <a:t>转换         </a:t>
            </a:r>
            <a:endParaRPr lang="en-US" altLang="zh-CN" sz="2000" dirty="0"/>
          </a:p>
          <a:p>
            <a:pPr marL="0" indent="0">
              <a:buNone/>
            </a:pPr>
            <a:r>
              <a:rPr lang="en-US" altLang="zh-CN" sz="2000" dirty="0"/>
              <a:t>                   PUSH DX</a:t>
            </a:r>
            <a:endParaRPr lang="en-US" altLang="zh-CN" sz="2000" dirty="0"/>
          </a:p>
          <a:p>
            <a:pPr marL="0" indent="0">
              <a:buNone/>
            </a:pPr>
            <a:r>
              <a:rPr lang="en-US" altLang="zh-CN" sz="2000" dirty="0"/>
              <a:t>                   MOV DX</a:t>
            </a:r>
            <a:r>
              <a:rPr lang="zh-CN" altLang="en-US" sz="2000" dirty="0"/>
              <a:t>，</a:t>
            </a:r>
            <a:r>
              <a:rPr lang="en-US" altLang="zh-CN" sz="2000" dirty="0"/>
              <a:t>238H</a:t>
            </a:r>
            <a:endParaRPr lang="en-US" altLang="zh-CN" sz="2000" dirty="0"/>
          </a:p>
          <a:p>
            <a:pPr marL="0" indent="0">
              <a:buNone/>
            </a:pPr>
            <a:r>
              <a:rPr lang="en-US" altLang="zh-CN" sz="2000" dirty="0" smtClean="0"/>
              <a:t>START2</a:t>
            </a:r>
            <a:r>
              <a:rPr lang="en-US" altLang="zh-CN" sz="2000" dirty="0"/>
              <a:t>: IN AL</a:t>
            </a:r>
            <a:r>
              <a:rPr lang="zh-CN" altLang="en-US" sz="2000" dirty="0"/>
              <a:t>，</a:t>
            </a:r>
            <a:r>
              <a:rPr lang="en-US" altLang="zh-CN" sz="2000" dirty="0"/>
              <a:t>DX </a:t>
            </a:r>
            <a:r>
              <a:rPr lang="zh-CN" altLang="en-US" sz="2000" dirty="0"/>
              <a:t>；读入状态信息</a:t>
            </a:r>
            <a:endParaRPr lang="en-US" altLang="zh-CN" sz="2000" dirty="0"/>
          </a:p>
          <a:p>
            <a:pPr marL="0" indent="0">
              <a:buNone/>
            </a:pPr>
            <a:r>
              <a:rPr lang="en-US" altLang="zh-CN" sz="2000" dirty="0"/>
              <a:t>             </a:t>
            </a:r>
            <a:r>
              <a:rPr lang="en-US" altLang="zh-CN" sz="2000" dirty="0" smtClean="0"/>
              <a:t>TEST </a:t>
            </a:r>
            <a:r>
              <a:rPr lang="en-US" altLang="zh-CN" sz="2000" dirty="0"/>
              <a:t>AL</a:t>
            </a:r>
            <a:r>
              <a:rPr lang="zh-CN" altLang="en-US" sz="2000" dirty="0"/>
              <a:t>，</a:t>
            </a:r>
            <a:r>
              <a:rPr lang="en-US" altLang="zh-CN" sz="2000" dirty="0"/>
              <a:t>80H </a:t>
            </a:r>
            <a:r>
              <a:rPr lang="zh-CN" altLang="en-US" sz="2000" dirty="0"/>
              <a:t>；判断</a:t>
            </a:r>
            <a:r>
              <a:rPr lang="en-US" altLang="zh-CN" sz="2000" dirty="0"/>
              <a:t>D</a:t>
            </a:r>
            <a:r>
              <a:rPr lang="en-US" altLang="zh-CN" sz="2000" baseline="-25000" dirty="0"/>
              <a:t>7</a:t>
            </a:r>
            <a:r>
              <a:rPr lang="zh-CN" altLang="en-US" sz="2000" dirty="0"/>
              <a:t>位</a:t>
            </a:r>
            <a:r>
              <a:rPr lang="en-US" altLang="zh-CN" sz="2000" dirty="0"/>
              <a:t>(</a:t>
            </a:r>
            <a:r>
              <a:rPr lang="zh-CN" altLang="en-US" sz="2000" dirty="0"/>
              <a:t>即</a:t>
            </a:r>
            <a:r>
              <a:rPr lang="en-US" altLang="zh-CN" sz="2000" dirty="0"/>
              <a:t>EOC</a:t>
            </a:r>
            <a:r>
              <a:rPr lang="zh-CN" altLang="en-US" sz="2000" dirty="0" smtClean="0"/>
              <a:t>状态是否为</a:t>
            </a:r>
            <a:r>
              <a:rPr lang="en-US" altLang="zh-CN" sz="2000" dirty="0" smtClean="0"/>
              <a:t>0)</a:t>
            </a:r>
            <a:endParaRPr lang="en-US" altLang="zh-CN" sz="2000" dirty="0"/>
          </a:p>
          <a:p>
            <a:pPr marL="0" indent="0">
              <a:buNone/>
            </a:pPr>
            <a:r>
              <a:rPr lang="en-US" altLang="zh-CN" sz="2000" dirty="0"/>
              <a:t>                  </a:t>
            </a:r>
            <a:r>
              <a:rPr lang="en-US" altLang="zh-CN" sz="2000" dirty="0" smtClean="0"/>
              <a:t>JNZ START2</a:t>
            </a:r>
            <a:endParaRPr lang="en-US" altLang="zh-CN" sz="2000" dirty="0"/>
          </a:p>
          <a:p>
            <a:pPr marL="0" indent="0">
              <a:buNone/>
            </a:pPr>
            <a:r>
              <a:rPr lang="en-US" altLang="zh-CN" sz="2000" dirty="0"/>
              <a:t> </a:t>
            </a:r>
            <a:r>
              <a:rPr lang="en-US" altLang="zh-CN" sz="2000" dirty="0" smtClean="0"/>
              <a:t>START3: IN AL</a:t>
            </a:r>
            <a:r>
              <a:rPr lang="zh-CN" altLang="en-US" sz="2000" dirty="0" smtClean="0"/>
              <a:t>，</a:t>
            </a:r>
            <a:r>
              <a:rPr lang="en-US" altLang="zh-CN" sz="2000" dirty="0" smtClean="0"/>
              <a:t>DX </a:t>
            </a:r>
            <a:endParaRPr lang="en-US" altLang="zh-CN" sz="2000" dirty="0" smtClean="0"/>
          </a:p>
          <a:p>
            <a:pPr marL="0" indent="0">
              <a:buNone/>
            </a:pPr>
            <a:r>
              <a:rPr lang="en-US" altLang="zh-CN" sz="2000" dirty="0" smtClean="0"/>
              <a:t>             TEST AL</a:t>
            </a:r>
            <a:r>
              <a:rPr lang="zh-CN" altLang="en-US" sz="2000" dirty="0" smtClean="0"/>
              <a:t>，</a:t>
            </a:r>
            <a:r>
              <a:rPr lang="en-US" altLang="zh-CN" sz="2000" dirty="0" smtClean="0"/>
              <a:t>80H </a:t>
            </a:r>
            <a:r>
              <a:rPr lang="zh-CN" altLang="en-US" sz="2000" dirty="0" smtClean="0"/>
              <a:t>；判断</a:t>
            </a:r>
            <a:r>
              <a:rPr lang="en-US" altLang="zh-CN" sz="2000" dirty="0" smtClean="0"/>
              <a:t>D</a:t>
            </a:r>
            <a:r>
              <a:rPr lang="en-US" altLang="zh-CN" sz="2000" baseline="-25000" dirty="0" smtClean="0"/>
              <a:t>7</a:t>
            </a:r>
            <a:r>
              <a:rPr lang="zh-CN" altLang="en-US" sz="2000" dirty="0" smtClean="0"/>
              <a:t>位</a:t>
            </a:r>
            <a:r>
              <a:rPr lang="en-US" altLang="zh-CN" sz="2000" dirty="0" smtClean="0"/>
              <a:t>(</a:t>
            </a:r>
            <a:r>
              <a:rPr lang="zh-CN" altLang="en-US" sz="2000" dirty="0" smtClean="0"/>
              <a:t>即</a:t>
            </a:r>
            <a:r>
              <a:rPr lang="en-US" altLang="zh-CN" sz="2000" dirty="0" smtClean="0"/>
              <a:t>EOC</a:t>
            </a:r>
            <a:r>
              <a:rPr lang="zh-CN" altLang="en-US" sz="2000" dirty="0" smtClean="0"/>
              <a:t>状态是否为</a:t>
            </a:r>
            <a:r>
              <a:rPr lang="en-US" altLang="zh-CN" sz="2000" dirty="0" smtClean="0"/>
              <a:t>1)</a:t>
            </a:r>
            <a:endParaRPr lang="en-US" altLang="zh-CN" sz="2000" dirty="0" smtClean="0"/>
          </a:p>
          <a:p>
            <a:pPr marL="0" indent="0">
              <a:buNone/>
            </a:pPr>
            <a:r>
              <a:rPr lang="en-US" altLang="zh-CN" sz="2000" dirty="0" smtClean="0"/>
              <a:t>             JZ START3</a:t>
            </a:r>
            <a:r>
              <a:rPr lang="zh-CN" altLang="en-US" sz="2000" dirty="0" smtClean="0"/>
              <a:t>；</a:t>
            </a:r>
            <a:r>
              <a:rPr lang="en-US" altLang="zh-CN" sz="2000" dirty="0" smtClean="0"/>
              <a:t>D</a:t>
            </a:r>
            <a:r>
              <a:rPr lang="en-US" altLang="zh-CN" sz="2000" baseline="-25000" dirty="0" smtClean="0"/>
              <a:t>7</a:t>
            </a:r>
            <a:r>
              <a:rPr lang="en-US" altLang="zh-CN" sz="2000" dirty="0" smtClean="0"/>
              <a:t>=0</a:t>
            </a:r>
            <a:r>
              <a:rPr lang="zh-CN" altLang="en-US" sz="2000" dirty="0" smtClean="0"/>
              <a:t>，转换未结束，继续查询</a:t>
            </a:r>
            <a:endParaRPr lang="en-US" altLang="zh-CN" sz="2000" dirty="0" smtClean="0"/>
          </a:p>
          <a:p>
            <a:pPr marL="0" indent="0">
              <a:buNone/>
            </a:pPr>
            <a:r>
              <a:rPr lang="en-US" altLang="zh-CN" sz="2000" dirty="0" smtClean="0"/>
              <a:t>               POP </a:t>
            </a:r>
            <a:r>
              <a:rPr lang="en-US" altLang="zh-CN" sz="2000" dirty="0"/>
              <a:t>DX</a:t>
            </a:r>
            <a:endParaRPr lang="en-US" altLang="zh-CN" sz="2000" dirty="0"/>
          </a:p>
          <a:p>
            <a:pPr marL="0" indent="0">
              <a:buNone/>
            </a:pPr>
            <a:r>
              <a:rPr lang="en-US" altLang="zh-CN" sz="2000" dirty="0"/>
              <a:t>                  IN AL</a:t>
            </a:r>
            <a:r>
              <a:rPr lang="zh-CN" altLang="en-US" sz="2000" dirty="0"/>
              <a:t>，</a:t>
            </a:r>
            <a:r>
              <a:rPr lang="en-US" altLang="zh-CN" sz="2000" dirty="0"/>
              <a:t>DX </a:t>
            </a:r>
            <a:r>
              <a:rPr lang="zh-CN" altLang="en-US" sz="2000" dirty="0"/>
              <a:t>；读取转换后的数据</a:t>
            </a:r>
            <a:endParaRPr lang="en-US" altLang="zh-CN" sz="2000" dirty="0"/>
          </a:p>
          <a:p>
            <a:pPr marL="0" indent="0">
              <a:buNone/>
            </a:pPr>
            <a:r>
              <a:rPr lang="en-US" altLang="zh-CN" sz="2000" dirty="0"/>
              <a:t>                  MOV [BX]</a:t>
            </a:r>
            <a:r>
              <a:rPr lang="zh-CN" altLang="en-US" sz="2000" dirty="0"/>
              <a:t>，</a:t>
            </a:r>
            <a:r>
              <a:rPr lang="en-US" altLang="zh-CN" sz="2000" dirty="0"/>
              <a:t>AL </a:t>
            </a:r>
            <a:r>
              <a:rPr lang="zh-CN" altLang="en-US" sz="2000" dirty="0"/>
              <a:t>；将数据存入缓冲区</a:t>
            </a:r>
            <a:endParaRPr lang="en-US" altLang="zh-CN" sz="2000" dirty="0"/>
          </a:p>
          <a:p>
            <a:pPr marL="0" indent="0">
              <a:buNone/>
            </a:pPr>
            <a:r>
              <a:rPr lang="en-US" altLang="zh-CN" sz="2000" dirty="0"/>
              <a:t>                  INC BX</a:t>
            </a:r>
            <a:endParaRPr lang="en-US" altLang="zh-CN" sz="2000" dirty="0"/>
          </a:p>
          <a:p>
            <a:pPr marL="0" indent="0">
              <a:buNone/>
            </a:pPr>
            <a:r>
              <a:rPr lang="en-US" altLang="zh-CN" sz="2000" dirty="0"/>
              <a:t>                  INC DX</a:t>
            </a:r>
            <a:endParaRPr lang="en-US" altLang="zh-CN" sz="2000" dirty="0"/>
          </a:p>
          <a:p>
            <a:pPr marL="0" indent="0">
              <a:buNone/>
            </a:pPr>
            <a:r>
              <a:rPr lang="en-US" altLang="zh-CN" sz="2000" dirty="0"/>
              <a:t>                  LOOP START1 </a:t>
            </a:r>
            <a:r>
              <a:rPr lang="zh-CN" altLang="en-US" sz="2000" dirty="0"/>
              <a:t>；转向下一个模拟通道</a:t>
            </a:r>
            <a:endParaRPr lang="en-US" altLang="zh-CN" sz="2000" dirty="0"/>
          </a:p>
          <a:p>
            <a:pPr marL="0" indent="0">
              <a:buNone/>
            </a:pPr>
            <a:r>
              <a:rPr lang="en-US" altLang="zh-CN" sz="2000" dirty="0"/>
              <a:t>                    …… </a:t>
            </a:r>
            <a:r>
              <a:rPr lang="zh-CN" altLang="en-US" sz="2000" dirty="0"/>
              <a:t>；数据处理</a:t>
            </a:r>
            <a:endParaRPr lang="zh-CN" altLang="en-US" sz="2000"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pic>
        <p:nvPicPr>
          <p:cNvPr id="7" name="图片 6"/>
          <p:cNvPicPr>
            <a:picLocks noChangeAspect="1"/>
          </p:cNvPicPr>
          <p:nvPr/>
        </p:nvPicPr>
        <p:blipFill>
          <a:blip r:embed="rId1" cstate="print"/>
          <a:stretch>
            <a:fillRect/>
          </a:stretch>
        </p:blipFill>
        <p:spPr>
          <a:xfrm>
            <a:off x="6941350" y="1523538"/>
            <a:ext cx="4977114" cy="3910642"/>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ADC0809</a:t>
            </a:r>
            <a:r>
              <a:rPr lang="zh-CN" altLang="en-US" dirty="0"/>
              <a:t>与</a:t>
            </a:r>
            <a:r>
              <a:rPr lang="en-US" altLang="zh-CN" dirty="0"/>
              <a:t>CPU</a:t>
            </a:r>
            <a:r>
              <a:rPr lang="zh-CN" altLang="en-US" dirty="0"/>
              <a:t>的接口</a:t>
            </a:r>
            <a:endParaRPr lang="zh-CN" altLang="en-US" dirty="0"/>
          </a:p>
        </p:txBody>
      </p:sp>
      <p:sp>
        <p:nvSpPr>
          <p:cNvPr id="3" name="内容占位符 2"/>
          <p:cNvSpPr>
            <a:spLocks noGrp="1"/>
          </p:cNvSpPr>
          <p:nvPr>
            <p:ph idx="1"/>
          </p:nvPr>
        </p:nvSpPr>
        <p:spPr/>
        <p:txBody>
          <a:bodyPr/>
          <a:lstStyle/>
          <a:p>
            <a:pPr marL="0" indent="0">
              <a:buNone/>
            </a:pPr>
            <a:r>
              <a:rPr lang="zh-CN" altLang="en-US" dirty="0"/>
              <a:t>编程启动、转换结束查询处理</a:t>
            </a:r>
            <a:endParaRPr lang="zh-CN" altLang="en-US" dirty="0"/>
          </a:p>
          <a:p>
            <a:r>
              <a:rPr lang="zh-CN" altLang="en-US" dirty="0"/>
              <a:t>如果将上述程序中的循环查询程序段改为软件延时程序段</a:t>
            </a:r>
            <a:r>
              <a:rPr lang="en-US" altLang="zh-CN" dirty="0"/>
              <a:t>(</a:t>
            </a:r>
            <a:r>
              <a:rPr lang="zh-CN" altLang="en-US" dirty="0"/>
              <a:t>延时应大于</a:t>
            </a:r>
            <a:r>
              <a:rPr lang="en-US" altLang="zh-CN" dirty="0"/>
              <a:t>100μs)</a:t>
            </a:r>
            <a:r>
              <a:rPr lang="zh-CN" altLang="en-US" dirty="0"/>
              <a:t>，则该例就成了软件延时方式读取转换结果。当然，此时转换结束信号没有起作用，可以不连接使用。</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小结</a:t>
            </a:r>
            <a:endParaRPr lang="zh-CN" altLang="en-US" dirty="0"/>
          </a:p>
        </p:txBody>
      </p:sp>
      <p:sp>
        <p:nvSpPr>
          <p:cNvPr id="3" name="内容占位符 2"/>
          <p:cNvSpPr>
            <a:spLocks noGrp="1"/>
          </p:cNvSpPr>
          <p:nvPr>
            <p:ph idx="1"/>
          </p:nvPr>
        </p:nvSpPr>
        <p:spPr/>
        <p:txBody>
          <a:bodyPr/>
          <a:lstStyle/>
          <a:p>
            <a:pPr marL="0" indent="0">
              <a:buNone/>
            </a:pPr>
            <a:r>
              <a:rPr lang="zh-CN" altLang="en-US" dirty="0"/>
              <a:t>本节课重点讲授了：</a:t>
            </a:r>
            <a:endParaRPr lang="zh-CN" altLang="en-US" dirty="0"/>
          </a:p>
          <a:p>
            <a:r>
              <a:rPr lang="en-US" altLang="zh-CN" dirty="0"/>
              <a:t>ADC0809</a:t>
            </a:r>
            <a:r>
              <a:rPr lang="zh-CN" altLang="en-US" dirty="0"/>
              <a:t>的内部结构和主要引脚。</a:t>
            </a:r>
            <a:endParaRPr lang="zh-CN" altLang="en-US" dirty="0"/>
          </a:p>
          <a:p>
            <a:r>
              <a:rPr lang="en-US" altLang="zh-CN" dirty="0"/>
              <a:t>ADC0809</a:t>
            </a:r>
            <a:r>
              <a:rPr lang="zh-CN" altLang="en-US" dirty="0"/>
              <a:t>的转换时序。</a:t>
            </a:r>
            <a:endParaRPr lang="zh-CN" altLang="en-US" dirty="0"/>
          </a:p>
          <a:p>
            <a:r>
              <a:rPr lang="en-US" altLang="zh-CN" dirty="0"/>
              <a:t>ADC0809</a:t>
            </a:r>
            <a:r>
              <a:rPr lang="zh-CN" altLang="en-US" dirty="0"/>
              <a:t>与与</a:t>
            </a:r>
            <a:r>
              <a:rPr lang="en-US" altLang="zh-CN" dirty="0"/>
              <a:t>CPU</a:t>
            </a:r>
            <a:r>
              <a:rPr lang="zh-CN" altLang="en-US" dirty="0"/>
              <a:t>的接口：</a:t>
            </a:r>
            <a:endParaRPr lang="zh-CN" altLang="en-US" dirty="0"/>
          </a:p>
          <a:p>
            <a:pPr lvl="1"/>
            <a:r>
              <a:rPr lang="zh-CN" altLang="en-US" dirty="0"/>
              <a:t>转换结束中断处理</a:t>
            </a:r>
            <a:endParaRPr lang="zh-CN" altLang="en-US" dirty="0"/>
          </a:p>
          <a:p>
            <a:pPr lvl="1"/>
            <a:r>
              <a:rPr lang="zh-CN" altLang="en-US" dirty="0"/>
              <a:t>转换结束查询处理</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Network">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2">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6157</Words>
  <Application>WPS 演示</Application>
  <PresentationFormat>自定义</PresentationFormat>
  <Paragraphs>541</Paragraphs>
  <Slides>46</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vt:i4>
      </vt:variant>
      <vt:variant>
        <vt:lpstr>幻灯片标题</vt:lpstr>
      </vt:variant>
      <vt:variant>
        <vt:i4>46</vt:i4>
      </vt:variant>
    </vt:vector>
  </HeadingPairs>
  <TitlesOfParts>
    <vt:vector size="61" baseType="lpstr">
      <vt:lpstr>Arial</vt:lpstr>
      <vt:lpstr>宋体</vt:lpstr>
      <vt:lpstr>Wingdings</vt:lpstr>
      <vt:lpstr>微软雅黑</vt:lpstr>
      <vt:lpstr>Arial Unicode MS</vt:lpstr>
      <vt:lpstr>等线</vt:lpstr>
      <vt:lpstr>Times New Roman</vt:lpstr>
      <vt:lpstr>楷体_GB2312</vt:lpstr>
      <vt:lpstr>新宋体</vt:lpstr>
      <vt:lpstr>楷体</vt:lpstr>
      <vt:lpstr>Calibri</vt:lpstr>
      <vt:lpstr>Network</vt:lpstr>
      <vt:lpstr>Equation.DSMT4</vt:lpstr>
      <vt:lpstr>Equation.DSMT4</vt:lpstr>
      <vt:lpstr>Equation.DSMT4</vt:lpstr>
      <vt:lpstr>第10章  数/模和模/数转换</vt:lpstr>
      <vt:lpstr>10.1  概述</vt:lpstr>
      <vt:lpstr>10.2 数/模（D/A）转换器</vt:lpstr>
      <vt:lpstr>10.2.1 D/A转换原理</vt:lpstr>
      <vt:lpstr>D/A转换原理</vt:lpstr>
      <vt:lpstr>D/A转换原理</vt:lpstr>
      <vt:lpstr>10.2.2 D/A转换器主要技术参数</vt:lpstr>
      <vt:lpstr>D/A转换器主要技术参数</vt:lpstr>
      <vt:lpstr>D/A转换器主要技术参数</vt:lpstr>
      <vt:lpstr>D/A转换器主要技术参数</vt:lpstr>
      <vt:lpstr>D/A转换器主要技术参数</vt:lpstr>
      <vt:lpstr>小结</vt:lpstr>
      <vt:lpstr>10.2.3 DAC0832及接口电路</vt:lpstr>
      <vt:lpstr>DAC0832</vt:lpstr>
      <vt:lpstr>DAC0832</vt:lpstr>
      <vt:lpstr>DAC0832</vt:lpstr>
      <vt:lpstr>DAC0832</vt:lpstr>
      <vt:lpstr>DAC0832</vt:lpstr>
      <vt:lpstr>DAC0832与CPU的接口</vt:lpstr>
      <vt:lpstr>DAC0832与CPU的接口</vt:lpstr>
      <vt:lpstr>DAC0832与CPU的接口</vt:lpstr>
      <vt:lpstr>DAC0832与CPU的接口</vt:lpstr>
      <vt:lpstr>小结</vt:lpstr>
      <vt:lpstr>10.3 模/数(A/D)转换器</vt:lpstr>
      <vt:lpstr>10.3.1 A/D转换原理</vt:lpstr>
      <vt:lpstr>A/D转换原理</vt:lpstr>
      <vt:lpstr>10.3.2 A/D转换器主要技术参数</vt:lpstr>
      <vt:lpstr>A/D转换器主要技术参数</vt:lpstr>
      <vt:lpstr>A/D转换器主要技术参数</vt:lpstr>
      <vt:lpstr>A/D转换器主要技术参数</vt:lpstr>
      <vt:lpstr>A/D转换器主要技术参数</vt:lpstr>
      <vt:lpstr>A/D转换器主要技术参数</vt:lpstr>
      <vt:lpstr>小结</vt:lpstr>
      <vt:lpstr>10.3.3 ADC0809及接口电路</vt:lpstr>
      <vt:lpstr>ADC0809</vt:lpstr>
      <vt:lpstr>PowerPoint 演示文稿</vt:lpstr>
      <vt:lpstr>ADC0809</vt:lpstr>
      <vt:lpstr>ADC0809</vt:lpstr>
      <vt:lpstr>ADC0809与CPU的接口</vt:lpstr>
      <vt:lpstr>ADC0809与CPU的接口</vt:lpstr>
      <vt:lpstr>ADC0809与CPU的接口</vt:lpstr>
      <vt:lpstr>ADC0809与CPU的接口</vt:lpstr>
      <vt:lpstr>ADC0809与CPU的接口</vt:lpstr>
      <vt:lpstr>ADC0809与CPU的接口</vt:lpstr>
      <vt:lpstr>ADC0809与CPU的接口</vt:lpstr>
      <vt:lpstr>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Zhou Jian</dc:creator>
  <cp:lastModifiedBy>杨领军</cp:lastModifiedBy>
  <cp:revision>106</cp:revision>
  <dcterms:created xsi:type="dcterms:W3CDTF">2021-02-04T09:02:00Z</dcterms:created>
  <dcterms:modified xsi:type="dcterms:W3CDTF">2025-06-09T12:28:50Z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3543B09E80C74F8F9D7C0A1E5E4386EA_12</vt:lpwstr>
  </property>
  <property fmtid="{D5CDD505-2E9C-101B-9397-08002B2CF9AE}" pid="3" name="KSOProductBuildVer">
    <vt:lpwstr>2052-12.1.0.21171</vt:lpwstr>
  </property>
</Properties>
</file>