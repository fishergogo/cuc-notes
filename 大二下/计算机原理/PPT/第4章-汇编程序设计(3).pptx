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2" r:id="rId3"/>
    <p:sldId id="259"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3" r:id="rId64"/>
    <p:sldId id="324" r:id="rId65"/>
    <p:sldId id="325" r:id="rId66"/>
    <p:sldId id="326" r:id="rId67"/>
    <p:sldId id="327" r:id="rId68"/>
    <p:sldId id="328" r:id="rId69"/>
    <p:sldId id="329" r:id="rId70"/>
    <p:sldId id="330" r:id="rId71"/>
    <p:sldId id="332" r:id="rId72"/>
    <p:sldId id="333" r:id="rId73"/>
    <p:sldId id="334" r:id="rId74"/>
    <p:sldId id="335" r:id="rId75"/>
    <p:sldId id="336" r:id="rId76"/>
    <p:sldId id="337" r:id="rId77"/>
    <p:sldId id="338" r:id="rId78"/>
    <p:sldId id="339"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showGuides="1">
      <p:cViewPr varScale="1">
        <p:scale>
          <a:sx n="93" d="100"/>
          <a:sy n="93" d="100"/>
        </p:scale>
        <p:origin x="-96" y="-4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9A3BD-9D4B-4A17-89AD-AB8D99722C6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4F641-F5F8-49D6-AB8D-CF80F2600D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nvGrpSpPr>
          <p:cNvPr id="5" name="Group 8"/>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75107" name="Rectangle 3"/>
          <p:cNvSpPr>
            <a:spLocks noGrp="1" noChangeArrowheads="1"/>
          </p:cNvSpPr>
          <p:nvPr>
            <p:ph type="ctrTitle"/>
          </p:nvPr>
        </p:nvSpPr>
        <p:spPr>
          <a:xfrm>
            <a:off x="421217" y="466725"/>
            <a:ext cx="9042400" cy="2133600"/>
          </a:xfrm>
        </p:spPr>
        <p:txBody>
          <a:bodyPr/>
          <a:lstStyle>
            <a:lvl1pPr>
              <a:defRPr/>
            </a:lvl1pPr>
          </a:lstStyle>
          <a:p>
            <a:pPr lvl="0"/>
            <a:r>
              <a:rPr lang="en-US" altLang="zh-CN" noProof="0"/>
              <a:t>单击此处编辑母版标题样式</a:t>
            </a:r>
            <a:endParaRPr lang="en-US" altLang="zh-CN" noProof="0"/>
          </a:p>
        </p:txBody>
      </p:sp>
      <p:sp>
        <p:nvSpPr>
          <p:cNvPr id="175108" name="Rectangle 4"/>
          <p:cNvSpPr>
            <a:spLocks noGrp="1" noChangeArrowheads="1"/>
          </p:cNvSpPr>
          <p:nvPr>
            <p:ph type="subTitle" idx="1"/>
          </p:nvPr>
        </p:nvSpPr>
        <p:spPr>
          <a:xfrm>
            <a:off x="1132417" y="3049588"/>
            <a:ext cx="8331200" cy="2362200"/>
          </a:xfrm>
        </p:spPr>
        <p:txBody>
          <a:bodyPr/>
          <a:lstStyle>
            <a:lvl1pPr marL="0" indent="0" algn="ctr">
              <a:buFont typeface="Wingdings" panose="05000000000000000000" pitchFamily="2" charset="2"/>
              <a:buNone/>
              <a:defRPr/>
            </a:lvl1pPr>
          </a:lstStyle>
          <a:p>
            <a:pPr lvl="0"/>
            <a:r>
              <a:rPr lang="en-US" altLang="zh-CN" noProof="0"/>
              <a:t>单击此处编辑母版副标题样式</a:t>
            </a:r>
            <a:endParaRPr lang="en-US" altLang="zh-CN" noProof="0"/>
          </a:p>
        </p:txBody>
      </p:sp>
      <p:sp>
        <p:nvSpPr>
          <p:cNvPr id="38" name="Rectangle 5"/>
          <p:cNvSpPr>
            <a:spLocks noGrp="1" noChangeArrowheads="1"/>
          </p:cNvSpPr>
          <p:nvPr>
            <p:ph type="dt" sz="half" idx="10"/>
          </p:nvPr>
        </p:nvSpPr>
        <p:spPr/>
        <p:txBody>
          <a:bodyPr/>
          <a:lstStyle>
            <a:lvl1pPr>
              <a:defRPr smtClean="0"/>
            </a:lvl1pPr>
          </a:lstStyle>
          <a:p>
            <a:pPr>
              <a:defRPr/>
            </a:pPr>
            <a:fld id="{B987ED82-D1A3-45FE-80F8-86D8D28D03CD}" type="datetime1">
              <a:rPr lang="zh-CN" altLang="en-US"/>
            </a:fld>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04872D5-BB51-432C-B3A3-4E481E81D3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1" y="1719263"/>
            <a:ext cx="10058400" cy="4411662"/>
          </a:xfrm>
        </p:spPr>
        <p:txBody>
          <a:bodyPr/>
          <a:lstStyle>
            <a:lvl1pPr>
              <a:buFont typeface="Wingdings" panose="05000000000000000000" pitchFamily="2" charset="2"/>
              <a:buChar char="u"/>
              <a:defRPr sz="2800"/>
            </a:lvl1pPr>
            <a:lvl2pPr>
              <a:defRPr>
                <a:latin typeface="+mn-lt"/>
              </a:defRPr>
            </a:lvl2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5"/>
          <p:cNvSpPr>
            <a:spLocks noGrp="1" noChangeArrowheads="1"/>
          </p:cNvSpPr>
          <p:nvPr>
            <p:ph type="dt" sz="half" idx="10"/>
          </p:nvPr>
        </p:nvSpPr>
        <p:spPr/>
        <p:txBody>
          <a:bodyPr/>
          <a:lstStyle>
            <a:lvl1pPr>
              <a:defRPr/>
            </a:lvl1pPr>
          </a:lstStyle>
          <a:p>
            <a:pPr>
              <a:defRPr/>
            </a:pPr>
            <a:fld id="{FFCF43AE-F8FD-49EE-9553-888B016E31A5}"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F4C0CD6-327D-499A-9754-0F1E4D84582B}"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4630820B-D0F1-47EF-A8DA-9994F9F83B6C}"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C6CC5FF-F08F-495A-851B-EA259259A74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69117693-7908-4A91-B471-8FEF6DA281B2}"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5274614-4E03-4DCB-98CE-097C97818E7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88C2CC61-C6FC-4A0D-9DB9-9F02363F5AE9}" type="datetime1">
              <a:rPr lang="zh-CN" altLang="en-US"/>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89CEBCD-7FCF-484B-9305-64C83D94B2D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696741FA-DDBC-4EA0-94D5-FBD8154C3488}" type="datetime1">
              <a:rPr lang="zh-CN" altLang="en-US"/>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074A460-7B25-4553-A69A-B2BB29F6AC2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9E163E86-D2F7-47EE-8733-36D525731CFA}" type="datetime1">
              <a:rPr lang="zh-CN" altLang="en-US"/>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302A3EF1-332A-4F12-8EA6-9ED17615C70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B77AC4-9B6B-4955-98AD-6DB523334E40}"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F467FF3-FD84-43F7-9698-CD5E53E22EE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12B7E4C-ECAE-4348-B44D-B6E27617DF07}"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7AF11EB-CA78-49BC-B922-1C8209DB6A3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7DA0FF42-8979-4AE7-AB32-AB2B478435C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BCA54F1-1552-454D-8C86-18F7606D260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D76E9331-9EC7-4BC1-9F19-95838F0AB25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55095CD-4004-401E-BA56-829390CFAA6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BFF7F5F-45AA-4834-B66F-E424254E1B5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9A6D292-B2CC-4663-B63B-6660727BF52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106172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7"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dirty="0" err="1"/>
              <a:t>单击此处编辑母版标题样式</a:t>
            </a:r>
            <a:endParaRPr lang="en-US" altLang="zh-CN" dirty="0"/>
          </a:p>
        </p:txBody>
      </p:sp>
      <p:sp>
        <p:nvSpPr>
          <p:cNvPr id="1028" name="Rectangle 4"/>
          <p:cNvSpPr>
            <a:spLocks noGrp="1" noChangeArrowheads="1"/>
          </p:cNvSpPr>
          <p:nvPr>
            <p:ph type="body" idx="1"/>
          </p:nvPr>
        </p:nvSpPr>
        <p:spPr bwMode="auto">
          <a:xfrm>
            <a:off x="609600" y="1719263"/>
            <a:ext cx="10101541"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174085" name="Rectangle 5"/>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t" anchorCtr="0" compatLnSpc="1"/>
          <a:lstStyle>
            <a:lvl1pPr eaLnBrk="1" hangingPunct="1">
              <a:defRPr sz="1000" smtClean="0"/>
            </a:lvl1pPr>
          </a:lstStyle>
          <a:p>
            <a:pPr>
              <a:defRPr/>
            </a:pPr>
            <a:fld id="{054E35A8-292F-4AEC-B83B-BB31DB8FE108}" type="datetime1">
              <a:rPr lang="zh-CN" altLang="en-US"/>
            </a:fld>
            <a:endParaRPr lang="en-US" altLang="zh-CN"/>
          </a:p>
        </p:txBody>
      </p:sp>
      <p:sp>
        <p:nvSpPr>
          <p:cNvPr id="174086" name="Rectangle 6"/>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lstStyle>
            <a:lvl1pPr algn="ctr" eaLnBrk="1" hangingPunct="1">
              <a:defRPr sz="1000"/>
            </a:lvl1pPr>
          </a:lstStyle>
          <a:p>
            <a:pPr>
              <a:defRPr/>
            </a:pPr>
            <a:r>
              <a:rPr lang="en-US" altLang="zh-CN"/>
              <a:t>逻辑代数基础----《数字电路》</a:t>
            </a:r>
            <a:endParaRPr lang="en-US" altLang="zh-CN"/>
          </a:p>
        </p:txBody>
      </p:sp>
      <p:sp>
        <p:nvSpPr>
          <p:cNvPr id="174087" name="Rectangle 7"/>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t" anchorCtr="0" compatLnSpc="1"/>
          <a:lstStyle>
            <a:lvl1pPr algn="r" eaLnBrk="1" hangingPunct="1">
              <a:defRPr sz="1000" smtClean="0"/>
            </a:lvl1pPr>
          </a:lstStyle>
          <a:p>
            <a:pPr>
              <a:defRPr/>
            </a:pPr>
            <a:fld id="{1A8543FF-F682-49C5-9892-9CF2B52A8733}" type="slidenum">
              <a:rPr lang="en-US" altLang="zh-CN"/>
            </a:fld>
            <a:endParaRPr lang="en-US" altLang="zh-CN"/>
          </a:p>
        </p:txBody>
      </p:sp>
      <p:grpSp>
        <p:nvGrpSpPr>
          <p:cNvPr id="1032" name="Group 8"/>
          <p:cNvGrpSpPr/>
          <p:nvPr/>
        </p:nvGrpSpPr>
        <p:grpSpPr bwMode="auto">
          <a:xfrm>
            <a:off x="10871201" y="152400"/>
            <a:ext cx="1056217"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800" kern="1200">
          <a:solidFill>
            <a:schemeClr val="tx1"/>
          </a:solidFill>
          <a:latin typeface="+mn-ea"/>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1.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a:t>
            </a:r>
            <a:r>
              <a:rPr lang="en-US" altLang="zh-CN" dirty="0"/>
              <a:t>4</a:t>
            </a:r>
            <a:r>
              <a:rPr lang="zh-CN" altLang="en-US" dirty="0"/>
              <a:t>章  汇编语言程序设计</a:t>
            </a:r>
            <a:endParaRPr lang="zh-CN" altLang="en-US" dirty="0"/>
          </a:p>
        </p:txBody>
      </p:sp>
      <p:sp>
        <p:nvSpPr>
          <p:cNvPr id="3" name="内容占位符 2"/>
          <p:cNvSpPr>
            <a:spLocks noGrp="1"/>
          </p:cNvSpPr>
          <p:nvPr>
            <p:ph idx="1"/>
          </p:nvPr>
        </p:nvSpPr>
        <p:spPr>
          <a:xfrm>
            <a:off x="838200" y="1770540"/>
            <a:ext cx="10515600" cy="3506854"/>
          </a:xfrm>
        </p:spPr>
        <p:txBody>
          <a:bodyPr>
            <a:normAutofit fontScale="40000" lnSpcReduction="20000"/>
          </a:bodyPr>
          <a:lstStyle/>
          <a:p>
            <a:pPr>
              <a:lnSpc>
                <a:spcPct val="120000"/>
              </a:lnSpc>
            </a:pPr>
            <a:r>
              <a:rPr lang="zh-CN" altLang="en-US" sz="8600" b="0" i="0" u="none" strike="noStrike" baseline="0" dirty="0">
                <a:solidFill>
                  <a:srgbClr val="7030A0"/>
                </a:solidFill>
                <a:latin typeface="Wingdings" panose="05000000000000000000" pitchFamily="2" charset="2"/>
              </a:rPr>
              <a:t>汇编语言概述及源程序格式</a:t>
            </a:r>
            <a:endParaRPr lang="en-US" altLang="zh-CN" sz="8600" b="0" i="0" u="none" strike="noStrike" baseline="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伪指令</a:t>
            </a:r>
            <a:endParaRPr lang="en-US" altLang="zh-CN" sz="8600" b="0" i="0" u="none" strike="noStrike" baseline="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顺序和分支</a:t>
            </a:r>
            <a:endParaRPr lang="en-US" altLang="zh-CN" sz="8600" b="0" i="0" u="none" strike="noStrike" baseline="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循环程序设计</a:t>
            </a:r>
            <a:endParaRPr lang="en-US" altLang="zh-CN" sz="8600" dirty="0">
              <a:solidFill>
                <a:srgbClr val="7030A0"/>
              </a:solidFill>
              <a:latin typeface="Wingdings" panose="05000000000000000000" pitchFamily="2" charset="2"/>
            </a:endParaRPr>
          </a:p>
          <a:p>
            <a:pPr>
              <a:lnSpc>
                <a:spcPct val="120000"/>
              </a:lnSpc>
            </a:pPr>
            <a:r>
              <a:rPr lang="zh-CN" altLang="en-US" sz="8600" b="0" i="0" u="none" strike="noStrike" baseline="0" dirty="0">
                <a:solidFill>
                  <a:srgbClr val="7030A0"/>
                </a:solidFill>
                <a:latin typeface="Wingdings" panose="05000000000000000000" pitchFamily="2" charset="2"/>
              </a:rPr>
              <a:t>子程序结构及系统功能调用</a:t>
            </a:r>
            <a:endParaRPr lang="en-US" altLang="zh-CN" sz="8600" b="0" i="0" u="none" strike="noStrike" baseline="0" dirty="0">
              <a:solidFill>
                <a:srgbClr val="7030A0"/>
              </a:solidFill>
              <a:latin typeface="Wingdings" panose="05000000000000000000" pitchFamily="2" charset="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汇编语言概述</a:t>
            </a:r>
            <a:endParaRPr lang="zh-CN" altLang="en-US" dirty="0"/>
          </a:p>
        </p:txBody>
      </p:sp>
      <p:sp>
        <p:nvSpPr>
          <p:cNvPr id="3" name="内容占位符 2"/>
          <p:cNvSpPr>
            <a:spLocks noGrp="1"/>
          </p:cNvSpPr>
          <p:nvPr>
            <p:ph idx="1"/>
          </p:nvPr>
        </p:nvSpPr>
        <p:spPr/>
        <p:txBody>
          <a:bodyPr>
            <a:normAutofit/>
          </a:bodyPr>
          <a:lstStyle/>
          <a:p>
            <a:r>
              <a:rPr lang="zh-CN" altLang="en-US" dirty="0"/>
              <a:t>程序设计语言从低级向高级发展，分为机器语言、汇编语言和高级语言三种不同层次语言。</a:t>
            </a:r>
            <a:endParaRPr lang="zh-CN" altLang="en-US" dirty="0"/>
          </a:p>
          <a:p>
            <a:r>
              <a:rPr lang="zh-CN" altLang="en-US" dirty="0"/>
              <a:t>机器语言：用二进制代码指令表达的计算机语言。</a:t>
            </a:r>
            <a:endParaRPr lang="zh-CN" altLang="en-US" dirty="0"/>
          </a:p>
          <a:p>
            <a:r>
              <a:rPr lang="zh-CN" altLang="en-US" dirty="0"/>
              <a:t>高级语言：是独立于机器的通用语言。它更接近自然语言，如</a:t>
            </a:r>
            <a:r>
              <a:rPr lang="en-US" altLang="zh-CN" dirty="0"/>
              <a:t>PASCAL</a:t>
            </a:r>
            <a:r>
              <a:rPr lang="zh-CN" altLang="en-US" dirty="0"/>
              <a:t>、</a:t>
            </a:r>
            <a:r>
              <a:rPr lang="en-US" altLang="zh-CN" dirty="0"/>
              <a:t>C</a:t>
            </a:r>
            <a:r>
              <a:rPr lang="zh-CN" altLang="en-US" dirty="0"/>
              <a:t>语言等。</a:t>
            </a:r>
            <a:endParaRPr lang="zh-CN" altLang="en-US" dirty="0"/>
          </a:p>
          <a:p>
            <a:r>
              <a:rPr lang="zh-CN" altLang="en-US" dirty="0"/>
              <a:t>汇编语言：是一种符号语言，用助记符表示指令的操作码，地址或数据。汇编语言面向机器，和具体机器联系紧密。</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汇编语言概述</a:t>
            </a:r>
            <a:endParaRPr lang="zh-CN" altLang="en-US" dirty="0"/>
          </a:p>
        </p:txBody>
      </p:sp>
      <p:sp>
        <p:nvSpPr>
          <p:cNvPr id="3" name="内容占位符 2"/>
          <p:cNvSpPr>
            <a:spLocks noGrp="1"/>
          </p:cNvSpPr>
          <p:nvPr>
            <p:ph idx="1"/>
          </p:nvPr>
        </p:nvSpPr>
        <p:spPr/>
        <p:txBody>
          <a:bodyPr>
            <a:normAutofit lnSpcReduction="10000"/>
          </a:bodyPr>
          <a:lstStyle/>
          <a:p>
            <a:pPr>
              <a:lnSpc>
                <a:spcPct val="80000"/>
              </a:lnSpc>
            </a:pPr>
            <a:r>
              <a:rPr lang="zh-CN" altLang="en-US" dirty="0"/>
              <a:t>机器指令：用二进制编码的指令</a:t>
            </a:r>
            <a:endParaRPr lang="zh-CN" altLang="en-US" dirty="0"/>
          </a:p>
          <a:p>
            <a:pPr marL="0" indent="0">
              <a:lnSpc>
                <a:spcPct val="80000"/>
              </a:lnSpc>
              <a:buNone/>
            </a:pPr>
            <a:r>
              <a:rPr lang="zh-CN" altLang="en-US" dirty="0"/>
              <a:t>  如：</a:t>
            </a:r>
            <a:r>
              <a:rPr lang="en-US" altLang="zh-CN" dirty="0"/>
              <a:t>1000 1001 1101 1000</a:t>
            </a:r>
            <a:endParaRPr lang="en-US" altLang="zh-CN" dirty="0"/>
          </a:p>
          <a:p>
            <a:pPr marL="0" indent="0">
              <a:lnSpc>
                <a:spcPct val="80000"/>
              </a:lnSpc>
              <a:buNone/>
            </a:pPr>
            <a:endParaRPr lang="en-US" altLang="zh-CN" dirty="0"/>
          </a:p>
          <a:p>
            <a:pPr>
              <a:lnSpc>
                <a:spcPct val="80000"/>
              </a:lnSpc>
            </a:pPr>
            <a:r>
              <a:rPr lang="zh-CN" altLang="en-US" dirty="0"/>
              <a:t>符号指令：由助记符、符号组成，与机器指令一一对应。</a:t>
            </a:r>
            <a:endParaRPr lang="en-US" altLang="zh-CN" dirty="0"/>
          </a:p>
          <a:p>
            <a:pPr>
              <a:lnSpc>
                <a:spcPct val="80000"/>
              </a:lnSpc>
            </a:pPr>
            <a:endParaRPr lang="zh-CN" altLang="en-US" dirty="0"/>
          </a:p>
          <a:p>
            <a:pPr marL="0" indent="0">
              <a:lnSpc>
                <a:spcPct val="80000"/>
              </a:lnSpc>
              <a:buNone/>
            </a:pPr>
            <a:r>
              <a:rPr lang="en-US" altLang="zh-CN" dirty="0"/>
              <a:t>1000 1001 1101 1000         MOV AX</a:t>
            </a:r>
            <a:r>
              <a:rPr lang="zh-CN" altLang="en-US" dirty="0"/>
              <a:t>，</a:t>
            </a:r>
            <a:r>
              <a:rPr lang="en-US" altLang="zh-CN" dirty="0"/>
              <a:t>BX</a:t>
            </a:r>
            <a:endParaRPr lang="en-US" altLang="zh-CN" dirty="0"/>
          </a:p>
          <a:p>
            <a:pPr marL="0" indent="0">
              <a:lnSpc>
                <a:spcPct val="80000"/>
              </a:lnSpc>
              <a:buNone/>
            </a:pPr>
            <a:endParaRPr lang="en-US" altLang="zh-CN" dirty="0"/>
          </a:p>
          <a:p>
            <a:pPr>
              <a:lnSpc>
                <a:spcPct val="80000"/>
              </a:lnSpc>
            </a:pPr>
            <a:r>
              <a:rPr lang="zh-CN" altLang="en-US" dirty="0"/>
              <a:t>汇编：机器只能识别机器指令，所以需要将符号指令翻译成机器指令，翻译的过程称作汇编。</a:t>
            </a:r>
            <a:endParaRPr lang="en-US" altLang="zh-CN" dirty="0"/>
          </a:p>
          <a:p>
            <a:pPr marL="0" indent="0">
              <a:lnSpc>
                <a:spcPct val="80000"/>
              </a:lnSpc>
              <a:buNone/>
            </a:pPr>
            <a:endParaRPr lang="zh-CN" altLang="en-US" dirty="0"/>
          </a:p>
          <a:p>
            <a:pPr>
              <a:lnSpc>
                <a:spcPct val="80000"/>
              </a:lnSpc>
            </a:pPr>
            <a:r>
              <a:rPr lang="zh-CN" altLang="en-US" dirty="0"/>
              <a:t>汇编程序：完成汇编任务的程序。</a:t>
            </a:r>
            <a:endParaRPr lang="zh-CN" altLang="en-US" dirty="0"/>
          </a:p>
        </p:txBody>
      </p:sp>
      <p:sp>
        <p:nvSpPr>
          <p:cNvPr id="4" name="Rectangle 7"/>
          <p:cNvSpPr>
            <a:spLocks noChangeArrowheads="1"/>
          </p:cNvSpPr>
          <p:nvPr/>
        </p:nvSpPr>
        <p:spPr bwMode="auto">
          <a:xfrm>
            <a:off x="7956460" y="1959248"/>
            <a:ext cx="2967038" cy="771525"/>
          </a:xfrm>
          <a:prstGeom prst="rect">
            <a:avLst/>
          </a:prstGeom>
          <a:noFill/>
          <a:ln w="9525" cmpd="sng">
            <a:solidFill>
              <a:schemeClr val="hlink"/>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zh-CN" sz="2200" dirty="0">
                <a:latin typeface="Arial" panose="020B0604020202020204" pitchFamily="34" charset="0"/>
                <a:ea typeface="楷体_GB2312" pitchFamily="1" charset="-122"/>
              </a:rPr>
              <a:t>机器语言编写程序烦琐，难记忆，易出错。</a:t>
            </a:r>
            <a:endParaRPr lang="zh-CN" altLang="zh-CN" sz="2200" dirty="0">
              <a:latin typeface="Arial" panose="020B0604020202020204" pitchFamily="34" charset="0"/>
              <a:ea typeface="楷体_GB2312" pitchFamily="1" charset="-122"/>
            </a:endParaRPr>
          </a:p>
        </p:txBody>
      </p:sp>
      <p:sp>
        <p:nvSpPr>
          <p:cNvPr id="5" name="AutoShape 6"/>
          <p:cNvSpPr>
            <a:spLocks noChangeArrowheads="1"/>
          </p:cNvSpPr>
          <p:nvPr/>
        </p:nvSpPr>
        <p:spPr bwMode="auto">
          <a:xfrm>
            <a:off x="3555865" y="2356334"/>
            <a:ext cx="484777" cy="469627"/>
          </a:xfrm>
          <a:prstGeom prst="downArrow">
            <a:avLst>
              <a:gd name="adj1" fmla="val 50000"/>
              <a:gd name="adj2" fmla="val 32920"/>
            </a:avLst>
          </a:prstGeom>
          <a:solidFill>
            <a:srgbClr val="808080"/>
          </a:solidFill>
          <a:ln w="38100" cmpd="sng">
            <a:solidFill>
              <a:srgbClr val="00FF00"/>
            </a:solidFill>
            <a:miter lim="800000"/>
          </a:ln>
          <a:effectLst>
            <a:outerShdw dist="20000" dir="5400000" algn="ctr" rotWithShape="0">
              <a:srgbClr val="000000">
                <a:alpha val="37000"/>
              </a:srgbClr>
            </a:outerShdw>
          </a:effectLst>
        </p:spPr>
        <p:txBody>
          <a:bodyPr vert="eaVert"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endParaRPr lang="zh-CN" altLang="zh-CN" sz="1800" b="1">
              <a:solidFill>
                <a:srgbClr val="FFFFFF"/>
              </a:solidFill>
              <a:latin typeface="Calibri" panose="020F0502020204030204" pitchFamily="34" charset="0"/>
            </a:endParaRPr>
          </a:p>
        </p:txBody>
      </p:sp>
      <p:sp>
        <p:nvSpPr>
          <p:cNvPr id="6" name="AutoShape 6"/>
          <p:cNvSpPr>
            <a:spLocks noChangeArrowheads="1"/>
          </p:cNvSpPr>
          <p:nvPr/>
        </p:nvSpPr>
        <p:spPr bwMode="auto">
          <a:xfrm rot="16200000">
            <a:off x="4544820" y="3342976"/>
            <a:ext cx="576263" cy="936625"/>
          </a:xfrm>
          <a:prstGeom prst="downArrow">
            <a:avLst>
              <a:gd name="adj1" fmla="val 50000"/>
              <a:gd name="adj2" fmla="val 40634"/>
            </a:avLst>
          </a:prstGeom>
          <a:solidFill>
            <a:srgbClr val="008000"/>
          </a:solidFill>
          <a:ln w="38100" cmpd="sng">
            <a:solidFill>
              <a:srgbClr val="FFCF01"/>
            </a:solidFill>
            <a:miter lim="800000"/>
          </a:ln>
          <a:effectLst>
            <a:outerShdw dist="20000" dir="5400000" algn="ctr" rotWithShape="0">
              <a:srgbClr val="000000">
                <a:alpha val="37000"/>
              </a:srgbClr>
            </a:outerShdw>
          </a:effectLst>
        </p:spPr>
        <p:txBody>
          <a:bodyPr rot="10800000"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1"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ppt_h/2"/>
                                          </p:val>
                                        </p:tav>
                                        <p:tav tm="100000">
                                          <p:val>
                                            <p:strVal val="#ppt_y"/>
                                          </p:val>
                                        </p:tav>
                                      </p:tavLst>
                                    </p:anim>
                                    <p:anim calcmode="lin" valueType="num">
                                      <p:cBhvr>
                                        <p:cTn id="15" dur="500" fill="hold"/>
                                        <p:tgtEl>
                                          <p:spTgt spid="5"/>
                                        </p:tgtEl>
                                        <p:attrNameLst>
                                          <p:attrName>ppt_w</p:attrName>
                                        </p:attrNameLst>
                                      </p:cBhvr>
                                      <p:tavLst>
                                        <p:tav tm="0">
                                          <p:val>
                                            <p:strVal val="#ppt_w"/>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childTnLst>
                                </p:cTn>
                              </p:par>
                            </p:childTnLst>
                          </p:cTn>
                        </p:par>
                        <p:par>
                          <p:cTn id="17" fill="hold">
                            <p:stCondLst>
                              <p:cond delay="500"/>
                            </p:stCondLst>
                            <p:childTnLst>
                              <p:par>
                                <p:cTn id="18" presetID="17"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ppt_x</p:attrName>
                                        </p:attrNameLst>
                                      </p:cBhvr>
                                      <p:tavLst>
                                        <p:tav tm="0">
                                          <p:val>
                                            <p:strVal val="#ppt_x-#ppt_w/2"/>
                                          </p:val>
                                        </p:tav>
                                        <p:tav tm="100000">
                                          <p:val>
                                            <p:strVal val="#ppt_x"/>
                                          </p:val>
                                        </p:tav>
                                      </p:tavLst>
                                    </p:anim>
                                    <p:anim calcmode="lin" valueType="num">
                                      <p:cBhvr>
                                        <p:cTn id="21" dur="500" fill="hold"/>
                                        <p:tgtEl>
                                          <p:spTgt spid="6"/>
                                        </p:tgtEl>
                                        <p:attrNameLst>
                                          <p:attrName>ppt_y</p:attrName>
                                        </p:attrNameLst>
                                      </p:cBhvr>
                                      <p:tavLst>
                                        <p:tav tm="0">
                                          <p:val>
                                            <p:strVal val="#ppt_y"/>
                                          </p:val>
                                        </p:tav>
                                        <p:tav tm="100000">
                                          <p:val>
                                            <p:strVal val="#ppt_y"/>
                                          </p:val>
                                        </p:tav>
                                      </p:tavLst>
                                    </p:anim>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P spid="6"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汇编语言概述</a:t>
            </a:r>
            <a:endParaRPr lang="zh-CN" altLang="en-US" dirty="0"/>
          </a:p>
        </p:txBody>
      </p:sp>
      <p:sp>
        <p:nvSpPr>
          <p:cNvPr id="4" name="Rectangle 3"/>
          <p:cNvSpPr>
            <a:spLocks noChangeArrowheads="1"/>
          </p:cNvSpPr>
          <p:nvPr/>
        </p:nvSpPr>
        <p:spPr bwMode="auto">
          <a:xfrm>
            <a:off x="2453236" y="1796373"/>
            <a:ext cx="69707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zh-CN" sz="2800" b="1">
                <a:solidFill>
                  <a:srgbClr val="FF0066"/>
                </a:solidFill>
                <a:latin typeface="楷体_GB2312" pitchFamily="1" charset="-122"/>
              </a:rPr>
              <a:t>汇编语言源程序：</a:t>
            </a:r>
            <a:r>
              <a:rPr lang="zh-CN" altLang="zh-CN" sz="2800" b="1">
                <a:latin typeface="楷体_GB2312" pitchFamily="1" charset="-122"/>
              </a:rPr>
              <a:t>用符号指令书写的程序。</a:t>
            </a:r>
            <a:endParaRPr lang="zh-CN" altLang="zh-CN" sz="2800" b="1">
              <a:latin typeface="楷体_GB2312" pitchFamily="1" charset="-122"/>
            </a:endParaRPr>
          </a:p>
        </p:txBody>
      </p:sp>
      <p:sp>
        <p:nvSpPr>
          <p:cNvPr id="5" name="Rectangle 4"/>
          <p:cNvSpPr>
            <a:spLocks noChangeArrowheads="1"/>
          </p:cNvSpPr>
          <p:nvPr/>
        </p:nvSpPr>
        <p:spPr bwMode="auto">
          <a:xfrm>
            <a:off x="2386561" y="2413794"/>
            <a:ext cx="7982557" cy="205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66700">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0" hangingPunct="0">
              <a:lnSpc>
                <a:spcPct val="90000"/>
              </a:lnSpc>
              <a:spcBef>
                <a:spcPct val="20000"/>
              </a:spcBef>
              <a:buClr>
                <a:schemeClr val="tx2"/>
              </a:buClr>
            </a:pPr>
            <a:r>
              <a:rPr lang="zh-CN" altLang="zh-CN" sz="2600" dirty="0">
                <a:ea typeface="楷体_GB2312" pitchFamily="1" charset="-122"/>
              </a:rPr>
              <a:t>1E					PUSH  DS</a:t>
            </a:r>
            <a:endParaRPr lang="zh-CN" altLang="zh-CN" sz="2600" dirty="0">
              <a:ea typeface="楷体_GB2312" pitchFamily="1" charset="-122"/>
            </a:endParaRPr>
          </a:p>
          <a:p>
            <a:pPr eaLnBrk="0" hangingPunct="0"/>
            <a:r>
              <a:rPr lang="zh-CN" altLang="zh-CN" sz="2600" dirty="0">
                <a:ea typeface="楷体_GB2312" pitchFamily="1" charset="-122"/>
              </a:rPr>
              <a:t>2BC0				SUB  AX，AX</a:t>
            </a:r>
            <a:endParaRPr lang="zh-CN" altLang="zh-CN" sz="2600" dirty="0">
              <a:ea typeface="楷体_GB2312" pitchFamily="1" charset="-122"/>
            </a:endParaRPr>
          </a:p>
          <a:p>
            <a:pPr eaLnBrk="0" hangingPunct="0"/>
            <a:r>
              <a:rPr lang="zh-CN" altLang="zh-CN" sz="2600" dirty="0">
                <a:ea typeface="楷体_GB2312" pitchFamily="1" charset="-122"/>
              </a:rPr>
              <a:t>50					PUSH  AX</a:t>
            </a:r>
            <a:endParaRPr lang="zh-CN" altLang="zh-CN" sz="2600" dirty="0">
              <a:ea typeface="楷体_GB2312" pitchFamily="1" charset="-122"/>
            </a:endParaRPr>
          </a:p>
          <a:p>
            <a:pPr eaLnBrk="0" hangingPunct="0"/>
            <a:r>
              <a:rPr lang="zh-CN" altLang="zh-CN" sz="2600" dirty="0">
                <a:ea typeface="楷体_GB2312" pitchFamily="1" charset="-122"/>
              </a:rPr>
              <a:t>B83412				MOV  AX，</a:t>
            </a:r>
            <a:r>
              <a:rPr lang="zh-CN" altLang="zh-CN" sz="2600" dirty="0" smtClean="0">
                <a:ea typeface="楷体_GB2312" pitchFamily="1" charset="-122"/>
              </a:rPr>
              <a:t>1234</a:t>
            </a:r>
            <a:r>
              <a:rPr lang="en-US" altLang="zh-CN" sz="2600" dirty="0" smtClean="0">
                <a:ea typeface="楷体_GB2312" pitchFamily="1" charset="-122"/>
              </a:rPr>
              <a:t>H</a:t>
            </a:r>
            <a:endParaRPr lang="zh-CN" altLang="zh-CN" sz="2600" dirty="0">
              <a:ea typeface="楷体_GB2312" pitchFamily="1" charset="-122"/>
            </a:endParaRPr>
          </a:p>
          <a:p>
            <a:pPr eaLnBrk="0" hangingPunct="0"/>
            <a:r>
              <a:rPr lang="zh-CN" altLang="zh-CN" sz="2600" dirty="0">
                <a:ea typeface="楷体_GB2312" pitchFamily="1" charset="-122"/>
              </a:rPr>
              <a:t>8ED8				MOV  DS，AX </a:t>
            </a:r>
            <a:endParaRPr lang="zh-CN" altLang="zh-CN" sz="2600" dirty="0">
              <a:ea typeface="楷体_GB2312" pitchFamily="1" charset="-122"/>
            </a:endParaRPr>
          </a:p>
        </p:txBody>
      </p:sp>
      <p:sp>
        <p:nvSpPr>
          <p:cNvPr id="6" name="TextBox 6"/>
          <p:cNvSpPr txBox="1">
            <a:spLocks noChangeArrowheads="1"/>
          </p:cNvSpPr>
          <p:nvPr/>
        </p:nvSpPr>
        <p:spPr bwMode="auto">
          <a:xfrm>
            <a:off x="6977611" y="4904698"/>
            <a:ext cx="2714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zh-CN" sz="2800" b="1" dirty="0">
                <a:solidFill>
                  <a:srgbClr val="FF0066"/>
                </a:solidFill>
                <a:latin typeface="楷体_GB2312" pitchFamily="1" charset="-122"/>
                <a:ea typeface="楷体_GB2312" pitchFamily="1" charset="-122"/>
              </a:rPr>
              <a:t>汇编语言源程序</a:t>
            </a:r>
            <a:endParaRPr lang="zh-CN" altLang="zh-CN" sz="2800" b="1" dirty="0">
              <a:solidFill>
                <a:srgbClr val="FF0066"/>
              </a:solidFill>
              <a:latin typeface="楷体_GB2312" pitchFamily="1" charset="-122"/>
              <a:ea typeface="楷体_GB2312" pitchFamily="1" charset="-122"/>
            </a:endParaRPr>
          </a:p>
        </p:txBody>
      </p:sp>
      <p:sp>
        <p:nvSpPr>
          <p:cNvPr id="7" name="右箭头 7"/>
          <p:cNvSpPr>
            <a:spLocks noChangeArrowheads="1"/>
          </p:cNvSpPr>
          <p:nvPr/>
        </p:nvSpPr>
        <p:spPr bwMode="auto">
          <a:xfrm rot="10800000">
            <a:off x="4717011" y="5047573"/>
            <a:ext cx="1714500" cy="285750"/>
          </a:xfrm>
          <a:prstGeom prst="rightArrow">
            <a:avLst>
              <a:gd name="adj1" fmla="val 50000"/>
              <a:gd name="adj2" fmla="val 50000"/>
            </a:avLst>
          </a:prstGeom>
          <a:solidFill>
            <a:schemeClr val="accent1"/>
          </a:solidFill>
          <a:ln w="9525" cmpd="sng">
            <a:solidFill>
              <a:srgbClr val="333333"/>
            </a:solidFill>
            <a:miter lim="800000"/>
          </a:ln>
          <a:effectLst>
            <a:outerShdw dist="17961" dir="2700000" algn="ctr" rotWithShape="0">
              <a:schemeClr val="tx1"/>
            </a:outerShdw>
          </a:effectLst>
        </p:spPr>
        <p:txBody>
          <a:bodyPr rot="10800000" lIns="342000" tIns="46800" rIns="89966" bIns="144000"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endParaRPr lang="zh-CN" altLang="zh-CN" sz="3200" b="1">
              <a:solidFill>
                <a:srgbClr val="FFFF00"/>
              </a:solidFill>
              <a:latin typeface="华文楷体" panose="02010600040101010101" pitchFamily="2" charset="-122"/>
              <a:ea typeface="华文楷体" panose="02010600040101010101" pitchFamily="2" charset="-122"/>
            </a:endParaRPr>
          </a:p>
        </p:txBody>
      </p:sp>
      <p:sp>
        <p:nvSpPr>
          <p:cNvPr id="8" name="TextBox 8"/>
          <p:cNvSpPr txBox="1">
            <a:spLocks noChangeArrowheads="1"/>
          </p:cNvSpPr>
          <p:nvPr/>
        </p:nvSpPr>
        <p:spPr bwMode="auto">
          <a:xfrm>
            <a:off x="4721773" y="5369835"/>
            <a:ext cx="1714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zh-CN" sz="2800" b="1">
                <a:solidFill>
                  <a:srgbClr val="FF0066"/>
                </a:solidFill>
                <a:latin typeface="楷体_GB2312" pitchFamily="1" charset="-122"/>
                <a:ea typeface="楷体_GB2312" pitchFamily="1" charset="-122"/>
              </a:rPr>
              <a:t>汇编程序</a:t>
            </a:r>
            <a:endParaRPr lang="zh-CN" altLang="zh-CN" sz="2800" b="1">
              <a:solidFill>
                <a:srgbClr val="FF0066"/>
              </a:solidFill>
              <a:latin typeface="楷体_GB2312" pitchFamily="1" charset="-122"/>
              <a:ea typeface="楷体_GB2312" pitchFamily="1" charset="-122"/>
            </a:endParaRPr>
          </a:p>
        </p:txBody>
      </p:sp>
      <p:sp>
        <p:nvSpPr>
          <p:cNvPr id="9" name="TextBox 9"/>
          <p:cNvSpPr txBox="1">
            <a:spLocks noChangeArrowheads="1"/>
          </p:cNvSpPr>
          <p:nvPr/>
        </p:nvSpPr>
        <p:spPr bwMode="auto">
          <a:xfrm>
            <a:off x="2424661" y="4926923"/>
            <a:ext cx="1649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r>
              <a:rPr lang="zh-CN" altLang="zh-CN" sz="2800" b="1">
                <a:solidFill>
                  <a:srgbClr val="FF0066"/>
                </a:solidFill>
                <a:latin typeface="楷体_GB2312" pitchFamily="1" charset="-122"/>
                <a:ea typeface="楷体_GB2312" pitchFamily="1" charset="-122"/>
              </a:rPr>
              <a:t>目标文件</a:t>
            </a:r>
            <a:endParaRPr lang="zh-CN" altLang="zh-CN" sz="2800" b="1">
              <a:solidFill>
                <a:srgbClr val="FF0066"/>
              </a:solidFill>
              <a:latin typeface="楷体_GB2312" pitchFamily="1" charset="-122"/>
              <a:ea typeface="楷体_GB2312" pitchFamily="1" charset="-122"/>
            </a:endParaRPr>
          </a:p>
        </p:txBody>
      </p:sp>
      <p:sp>
        <p:nvSpPr>
          <p:cNvPr id="10" name="右箭头 11"/>
          <p:cNvSpPr>
            <a:spLocks noChangeArrowheads="1"/>
          </p:cNvSpPr>
          <p:nvPr/>
        </p:nvSpPr>
        <p:spPr bwMode="auto">
          <a:xfrm rot="16200000">
            <a:off x="8049173" y="4476073"/>
            <a:ext cx="428625" cy="285750"/>
          </a:xfrm>
          <a:prstGeom prst="rightArrow">
            <a:avLst>
              <a:gd name="adj1" fmla="val 50000"/>
              <a:gd name="adj2" fmla="val 50000"/>
            </a:avLst>
          </a:prstGeom>
          <a:solidFill>
            <a:schemeClr val="accent1"/>
          </a:solidFill>
          <a:ln w="9525" cmpd="sng">
            <a:solidFill>
              <a:srgbClr val="333333"/>
            </a:solidFill>
            <a:miter lim="800000"/>
          </a:ln>
          <a:effectLst>
            <a:outerShdw dist="17961" dir="2700000" algn="ctr" rotWithShape="0">
              <a:schemeClr val="tx1"/>
            </a:outerShdw>
          </a:effectLst>
        </p:spPr>
        <p:txBody>
          <a:bodyPr vert="eaVert" lIns="342000" tIns="46800" rIns="89966" bIns="144000"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endParaRPr lang="zh-CN" altLang="zh-CN" sz="3200" b="1">
              <a:solidFill>
                <a:srgbClr val="FFFF00"/>
              </a:solidFill>
              <a:latin typeface="华文楷体" panose="02010600040101010101" pitchFamily="2" charset="-122"/>
              <a:ea typeface="华文楷体" panose="02010600040101010101" pitchFamily="2" charset="-122"/>
            </a:endParaRPr>
          </a:p>
        </p:txBody>
      </p:sp>
      <p:sp>
        <p:nvSpPr>
          <p:cNvPr id="11" name="右箭头 12"/>
          <p:cNvSpPr>
            <a:spLocks noChangeArrowheads="1"/>
          </p:cNvSpPr>
          <p:nvPr/>
        </p:nvSpPr>
        <p:spPr bwMode="auto">
          <a:xfrm rot="16200000">
            <a:off x="2805660" y="4525286"/>
            <a:ext cx="428625" cy="285750"/>
          </a:xfrm>
          <a:prstGeom prst="rightArrow">
            <a:avLst>
              <a:gd name="adj1" fmla="val 50000"/>
              <a:gd name="adj2" fmla="val 50000"/>
            </a:avLst>
          </a:prstGeom>
          <a:solidFill>
            <a:schemeClr val="accent1"/>
          </a:solidFill>
          <a:ln w="9525" cmpd="sng">
            <a:solidFill>
              <a:srgbClr val="333333"/>
            </a:solidFill>
            <a:miter lim="800000"/>
          </a:ln>
          <a:effectLst>
            <a:outerShdw dist="17961" dir="2700000" algn="ctr" rotWithShape="0">
              <a:schemeClr val="tx1"/>
            </a:outerShdw>
          </a:effectLst>
        </p:spPr>
        <p:txBody>
          <a:bodyPr vert="eaVert" lIns="342000" tIns="46800" rIns="89966" bIns="144000"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endParaRPr lang="zh-CN" altLang="zh-CN" sz="3200" b="1">
              <a:solidFill>
                <a:srgbClr val="FFFF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汇编语言概述</a:t>
            </a:r>
            <a:br>
              <a:rPr lang="zh-CN" altLang="en-US" dirty="0"/>
            </a:br>
            <a:endParaRPr lang="zh-CN" altLang="en-US" dirty="0"/>
          </a:p>
        </p:txBody>
      </p:sp>
      <p:sp>
        <p:nvSpPr>
          <p:cNvPr id="3" name="内容占位符 2"/>
          <p:cNvSpPr>
            <a:spLocks noGrp="1"/>
          </p:cNvSpPr>
          <p:nvPr>
            <p:ph idx="1"/>
          </p:nvPr>
        </p:nvSpPr>
        <p:spPr/>
        <p:txBody>
          <a:bodyPr>
            <a:normAutofit/>
          </a:bodyPr>
          <a:lstStyle/>
          <a:p>
            <a:r>
              <a:rPr lang="zh-CN" altLang="en-US" dirty="0"/>
              <a:t>汇编语言程序的建立、汇编和连接过程</a:t>
            </a:r>
            <a:endParaRPr lang="en-US" altLang="zh-CN" dirty="0"/>
          </a:p>
          <a:p>
            <a:endParaRPr lang="en-US" altLang="zh-CN" dirty="0"/>
          </a:p>
          <a:p>
            <a:endParaRPr lang="zh-CN" altLang="en-US" dirty="0"/>
          </a:p>
          <a:p>
            <a:endParaRPr lang="en-US" altLang="zh-CN" dirty="0"/>
          </a:p>
          <a:p>
            <a:r>
              <a:rPr lang="zh-CN" altLang="en-US" dirty="0"/>
              <a:t>（</a:t>
            </a:r>
            <a:r>
              <a:rPr lang="en-US" altLang="zh-CN" dirty="0"/>
              <a:t>1</a:t>
            </a:r>
            <a:r>
              <a:rPr lang="zh-CN" altLang="en-US" dirty="0"/>
              <a:t>）用编辑程序（</a:t>
            </a:r>
            <a:r>
              <a:rPr lang="en-US" altLang="zh-CN" dirty="0"/>
              <a:t>EDIT</a:t>
            </a:r>
            <a:r>
              <a:rPr lang="zh-CN" altLang="en-US" dirty="0"/>
              <a:t>）建立</a:t>
            </a:r>
            <a:r>
              <a:rPr lang="en-US" altLang="zh-CN" dirty="0"/>
              <a:t>.ASM</a:t>
            </a:r>
            <a:r>
              <a:rPr lang="zh-CN" altLang="en-US" dirty="0"/>
              <a:t>源程序文件；</a:t>
            </a:r>
            <a:endParaRPr lang="zh-CN" altLang="en-US" dirty="0"/>
          </a:p>
          <a:p>
            <a:r>
              <a:rPr lang="zh-CN" altLang="en-US" dirty="0"/>
              <a:t>（</a:t>
            </a:r>
            <a:r>
              <a:rPr lang="en-US" altLang="zh-CN" dirty="0"/>
              <a:t>2</a:t>
            </a:r>
            <a:r>
              <a:rPr lang="zh-CN" altLang="en-US" dirty="0"/>
              <a:t>）用汇编程序（</a:t>
            </a:r>
            <a:r>
              <a:rPr lang="en-US" altLang="zh-CN" dirty="0"/>
              <a:t>MASM</a:t>
            </a:r>
            <a:r>
              <a:rPr lang="zh-CN" altLang="en-US" dirty="0"/>
              <a:t>）把</a:t>
            </a:r>
            <a:r>
              <a:rPr lang="en-US" altLang="zh-CN" dirty="0"/>
              <a:t>.ASM</a:t>
            </a:r>
            <a:r>
              <a:rPr lang="zh-CN" altLang="en-US" dirty="0"/>
              <a:t>文件汇编成</a:t>
            </a:r>
            <a:r>
              <a:rPr lang="en-US" altLang="zh-CN" dirty="0"/>
              <a:t>.OBJ</a:t>
            </a:r>
            <a:r>
              <a:rPr lang="zh-CN" altLang="en-US" dirty="0"/>
              <a:t>文件；</a:t>
            </a:r>
            <a:endParaRPr lang="zh-CN" altLang="en-US" dirty="0"/>
          </a:p>
          <a:p>
            <a:r>
              <a:rPr lang="zh-CN" altLang="en-US" dirty="0"/>
              <a:t>（</a:t>
            </a:r>
            <a:r>
              <a:rPr lang="en-US" altLang="zh-CN" dirty="0"/>
              <a:t>3</a:t>
            </a:r>
            <a:r>
              <a:rPr lang="zh-CN" altLang="en-US" dirty="0"/>
              <a:t>）用连接程序（</a:t>
            </a:r>
            <a:r>
              <a:rPr lang="en-US" altLang="zh-CN" dirty="0"/>
              <a:t>LINK</a:t>
            </a:r>
            <a:r>
              <a:rPr lang="zh-CN" altLang="en-US" dirty="0"/>
              <a:t>）把</a:t>
            </a:r>
            <a:r>
              <a:rPr lang="en-US" altLang="zh-CN" dirty="0"/>
              <a:t>.OBJ</a:t>
            </a:r>
            <a:r>
              <a:rPr lang="zh-CN" altLang="en-US" dirty="0"/>
              <a:t>文件转换成</a:t>
            </a:r>
            <a:r>
              <a:rPr lang="en-US" altLang="zh-CN" dirty="0"/>
              <a:t>.EXE</a:t>
            </a:r>
            <a:r>
              <a:rPr lang="zh-CN" altLang="en-US" dirty="0"/>
              <a:t>文件；</a:t>
            </a:r>
            <a:endParaRPr lang="zh-CN" altLang="en-US" dirty="0"/>
          </a:p>
          <a:p>
            <a:r>
              <a:rPr lang="zh-CN" altLang="en-US" dirty="0"/>
              <a:t>（</a:t>
            </a:r>
            <a:r>
              <a:rPr lang="en-US" altLang="zh-CN" dirty="0"/>
              <a:t>4</a:t>
            </a:r>
            <a:r>
              <a:rPr lang="zh-CN" altLang="en-US" dirty="0"/>
              <a:t>）在</a:t>
            </a:r>
            <a:r>
              <a:rPr lang="en-US" altLang="zh-CN" dirty="0"/>
              <a:t>DOS</a:t>
            </a:r>
            <a:r>
              <a:rPr lang="zh-CN" altLang="en-US" dirty="0"/>
              <a:t>命令状态下直接键入文件名即可执行该文件。</a:t>
            </a:r>
            <a:endParaRPr lang="zh-CN" altLang="en-US" dirty="0"/>
          </a:p>
        </p:txBody>
      </p:sp>
      <p:pic>
        <p:nvPicPr>
          <p:cNvPr id="4" name="图片 3"/>
          <p:cNvPicPr>
            <a:picLocks noChangeAspect="1"/>
          </p:cNvPicPr>
          <p:nvPr/>
        </p:nvPicPr>
        <p:blipFill>
          <a:blip r:embed="rId1" cstate="print"/>
          <a:stretch>
            <a:fillRect/>
          </a:stretch>
        </p:blipFill>
        <p:spPr>
          <a:xfrm>
            <a:off x="1223962" y="2330656"/>
            <a:ext cx="8829675" cy="132397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汇编语言的语句格式</a:t>
            </a:r>
            <a:endParaRPr lang="zh-CN" altLang="en-US" dirty="0"/>
          </a:p>
        </p:txBody>
      </p:sp>
      <p:sp>
        <p:nvSpPr>
          <p:cNvPr id="3" name="内容占位符 2"/>
          <p:cNvSpPr>
            <a:spLocks noGrp="1"/>
          </p:cNvSpPr>
          <p:nvPr>
            <p:ph idx="1"/>
          </p:nvPr>
        </p:nvSpPr>
        <p:spPr/>
        <p:txBody>
          <a:bodyPr>
            <a:normAutofit/>
          </a:bodyPr>
          <a:lstStyle/>
          <a:p>
            <a:r>
              <a:rPr lang="zh-CN" altLang="en-US" dirty="0"/>
              <a:t>汇编语言有三种基本语句：</a:t>
            </a:r>
            <a:endParaRPr lang="en-US" altLang="zh-CN" dirty="0"/>
          </a:p>
          <a:p>
            <a:pPr lvl="1"/>
            <a:r>
              <a:rPr lang="zh-CN" altLang="en-US" dirty="0"/>
              <a:t>指令语句：指在汇编时能够产生目标代码的语句，每条指令语句都对应着</a:t>
            </a:r>
            <a:r>
              <a:rPr lang="en-US" altLang="zh-CN" dirty="0"/>
              <a:t>CPU</a:t>
            </a:r>
            <a:r>
              <a:rPr lang="zh-CN" altLang="en-US" dirty="0"/>
              <a:t>的一条机器指令。</a:t>
            </a:r>
            <a:endParaRPr lang="zh-CN" altLang="en-US" dirty="0"/>
          </a:p>
          <a:p>
            <a:pPr lvl="1">
              <a:lnSpc>
                <a:spcPct val="110000"/>
              </a:lnSpc>
            </a:pPr>
            <a:r>
              <a:rPr lang="zh-CN" altLang="en-US" dirty="0"/>
              <a:t>伪指令语句：不产生任何目标代码，是一种指示性语句。指示汇编程序如何进行汇编，只有在汇编和连接时才起作用。</a:t>
            </a:r>
            <a:endParaRPr lang="zh-CN" altLang="en-US" dirty="0"/>
          </a:p>
          <a:p>
            <a:pPr lvl="1">
              <a:lnSpc>
                <a:spcPct val="110000"/>
              </a:lnSpc>
            </a:pPr>
            <a:r>
              <a:rPr lang="zh-CN" altLang="en-US" dirty="0"/>
              <a:t>宏指令语句：以宏名定义的一段指令序列，是一般性指令语句的扩展。</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汇编语言语句的格式</a:t>
            </a:r>
            <a:endParaRPr lang="zh-CN" altLang="en-US" dirty="0"/>
          </a:p>
        </p:txBody>
      </p:sp>
      <p:sp>
        <p:nvSpPr>
          <p:cNvPr id="3" name="内容占位符 2"/>
          <p:cNvSpPr>
            <a:spLocks noGrp="1"/>
          </p:cNvSpPr>
          <p:nvPr>
            <p:ph idx="1"/>
          </p:nvPr>
        </p:nvSpPr>
        <p:spPr/>
        <p:txBody>
          <a:bodyPr/>
          <a:lstStyle/>
          <a:p>
            <a:r>
              <a:rPr lang="zh-CN" altLang="en-US" dirty="0"/>
              <a:t>指令语句的格式为：</a:t>
            </a:r>
            <a:endParaRPr lang="zh-CN" altLang="en-US" dirty="0"/>
          </a:p>
          <a:p>
            <a:pPr marL="0" indent="0">
              <a:buNone/>
            </a:pPr>
            <a:r>
              <a:rPr lang="en-US" altLang="zh-CN" dirty="0"/>
              <a:t>  [</a:t>
            </a:r>
            <a:r>
              <a:rPr lang="zh-CN" altLang="en-US" dirty="0"/>
              <a:t>标号</a:t>
            </a:r>
            <a:r>
              <a:rPr lang="en-US" altLang="zh-CN" dirty="0"/>
              <a:t>:] </a:t>
            </a:r>
            <a:r>
              <a:rPr lang="zh-CN" altLang="en-US" dirty="0"/>
              <a:t>助记符号  </a:t>
            </a:r>
            <a:r>
              <a:rPr lang="en-US" altLang="zh-CN" dirty="0"/>
              <a:t>[</a:t>
            </a:r>
            <a:r>
              <a:rPr lang="zh-CN" altLang="en-US" dirty="0"/>
              <a:t>操作数</a:t>
            </a:r>
            <a:r>
              <a:rPr lang="en-US" altLang="zh-CN" dirty="0"/>
              <a:t>] [</a:t>
            </a:r>
            <a:r>
              <a:rPr lang="zh-CN" altLang="en-US" dirty="0"/>
              <a:t>；注释</a:t>
            </a:r>
            <a:r>
              <a:rPr lang="en-US" altLang="zh-CN" dirty="0"/>
              <a:t>]</a:t>
            </a:r>
            <a:endParaRPr lang="en-US" altLang="zh-CN" dirty="0"/>
          </a:p>
          <a:p>
            <a:r>
              <a:rPr lang="zh-CN" altLang="en-US" dirty="0"/>
              <a:t>伪指令语句的格式为：</a:t>
            </a:r>
            <a:endParaRPr lang="zh-CN" altLang="en-US" dirty="0"/>
          </a:p>
          <a:p>
            <a:pPr marL="0" indent="0">
              <a:buNone/>
            </a:pPr>
            <a:r>
              <a:rPr lang="en-US" altLang="zh-CN" dirty="0"/>
              <a:t>  [</a:t>
            </a:r>
            <a:r>
              <a:rPr lang="zh-CN" altLang="en-US" dirty="0"/>
              <a:t>名称</a:t>
            </a:r>
            <a:r>
              <a:rPr lang="en-US" altLang="zh-CN" dirty="0"/>
              <a:t>]   </a:t>
            </a:r>
            <a:r>
              <a:rPr lang="zh-CN" altLang="en-US" dirty="0"/>
              <a:t>定义符号    </a:t>
            </a:r>
            <a:r>
              <a:rPr lang="en-US" altLang="zh-CN" dirty="0"/>
              <a:t>[</a:t>
            </a:r>
            <a:r>
              <a:rPr lang="zh-CN" altLang="en-US" dirty="0"/>
              <a:t>参数</a:t>
            </a:r>
            <a:r>
              <a:rPr lang="en-US" altLang="zh-CN" dirty="0"/>
              <a:t>][</a:t>
            </a:r>
            <a:r>
              <a:rPr lang="zh-CN" altLang="en-US" dirty="0"/>
              <a:t>，</a:t>
            </a:r>
            <a:r>
              <a:rPr lang="en-US" altLang="zh-CN" dirty="0"/>
              <a:t>…</a:t>
            </a:r>
            <a:r>
              <a:rPr lang="zh-CN" altLang="en-US" dirty="0"/>
              <a:t>参数</a:t>
            </a:r>
            <a:r>
              <a:rPr lang="en-US" altLang="zh-CN" dirty="0"/>
              <a:t>]   [</a:t>
            </a:r>
            <a:r>
              <a:rPr lang="zh-CN" altLang="en-US" dirty="0"/>
              <a:t>；注释</a:t>
            </a:r>
            <a:r>
              <a:rPr lang="en-US" altLang="zh-CN" dirty="0"/>
              <a:t>]</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汇编语言语句的格式</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a:t>标号和名称</a:t>
            </a:r>
            <a:endParaRPr lang="zh-CN" altLang="en-US" dirty="0"/>
          </a:p>
          <a:p>
            <a:r>
              <a:rPr lang="zh-CN" altLang="en-US" dirty="0"/>
              <a:t>标号和名称代表该语句的存储器地址。</a:t>
            </a:r>
            <a:endParaRPr lang="en-US" altLang="zh-CN" dirty="0"/>
          </a:p>
          <a:p>
            <a:pPr lvl="1"/>
            <a:r>
              <a:rPr lang="zh-CN" altLang="en-US" dirty="0"/>
              <a:t>标号后面要紧跟一个冒号“：”。标号在一些指令中充当操作数，用来表示转移地址。</a:t>
            </a:r>
            <a:endParaRPr lang="en-US" altLang="zh-CN" dirty="0"/>
          </a:p>
          <a:p>
            <a:pPr lvl="1"/>
            <a:r>
              <a:rPr lang="zh-CN" altLang="en-US" dirty="0"/>
              <a:t>名称可以是变量名、段名、过程名等。</a:t>
            </a:r>
            <a:endParaRPr lang="zh-CN" altLang="en-US" dirty="0"/>
          </a:p>
          <a:p>
            <a:r>
              <a:rPr lang="zh-CN" altLang="en-US" dirty="0"/>
              <a:t>汇编语言中标识符的命名规则为：</a:t>
            </a:r>
            <a:endParaRPr lang="en-US" altLang="zh-CN" dirty="0"/>
          </a:p>
          <a:p>
            <a:pPr lvl="1"/>
            <a:r>
              <a:rPr lang="zh-CN" altLang="en-US" dirty="0"/>
              <a:t>第一个字符必须是字母、问号？、</a:t>
            </a:r>
            <a:r>
              <a:rPr lang="en-US" altLang="zh-CN" dirty="0"/>
              <a:t>@</a:t>
            </a:r>
            <a:r>
              <a:rPr lang="zh-CN" altLang="en-US" dirty="0"/>
              <a:t>或下划线四者之一；</a:t>
            </a:r>
            <a:endParaRPr lang="zh-CN" altLang="en-US" dirty="0"/>
          </a:p>
          <a:p>
            <a:pPr lvl="1"/>
            <a:r>
              <a:rPr lang="zh-CN" altLang="en-US" dirty="0"/>
              <a:t>第二个字符开始可以是字母、问号？、</a:t>
            </a:r>
            <a:r>
              <a:rPr lang="en-US" altLang="zh-CN" dirty="0"/>
              <a:t>@</a:t>
            </a:r>
            <a:r>
              <a:rPr lang="zh-CN" altLang="en-US" dirty="0"/>
              <a:t>、下划线或数字；</a:t>
            </a:r>
            <a:endParaRPr lang="zh-CN" altLang="en-US" dirty="0"/>
          </a:p>
          <a:p>
            <a:pPr lvl="1"/>
            <a:r>
              <a:rPr lang="zh-CN" altLang="en-US" dirty="0"/>
              <a:t>标识符不能是保留字</a:t>
            </a:r>
            <a:r>
              <a:rPr lang="en-US" altLang="zh-CN" dirty="0"/>
              <a:t>(</a:t>
            </a:r>
            <a:r>
              <a:rPr lang="zh-CN" altLang="en-US" dirty="0"/>
              <a:t>如</a:t>
            </a:r>
            <a:r>
              <a:rPr lang="en-US" altLang="zh-CN" dirty="0"/>
              <a:t>MOV</a:t>
            </a:r>
            <a:r>
              <a:rPr lang="zh-CN" altLang="en-US" dirty="0"/>
              <a:t>、</a:t>
            </a:r>
            <a:r>
              <a:rPr lang="en-US" altLang="zh-CN" dirty="0"/>
              <a:t>STACK)</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汇编语言语句的格式</a:t>
            </a:r>
            <a:endParaRPr lang="zh-CN" altLang="en-US" dirty="0"/>
          </a:p>
        </p:txBody>
      </p:sp>
      <p:sp>
        <p:nvSpPr>
          <p:cNvPr id="3" name="内容占位符 2"/>
          <p:cNvSpPr>
            <a:spLocks noGrp="1"/>
          </p:cNvSpPr>
          <p:nvPr>
            <p:ph idx="1"/>
          </p:nvPr>
        </p:nvSpPr>
        <p:spPr/>
        <p:txBody>
          <a:bodyPr/>
          <a:lstStyle/>
          <a:p>
            <a:pPr marL="0" indent="0">
              <a:buNone/>
            </a:pPr>
            <a:r>
              <a:rPr lang="zh-CN" altLang="en-US" dirty="0"/>
              <a:t>助记符和定义符</a:t>
            </a:r>
            <a:endParaRPr lang="zh-CN" altLang="en-US" dirty="0"/>
          </a:p>
          <a:p>
            <a:r>
              <a:rPr lang="zh-CN" altLang="en-US" dirty="0"/>
              <a:t>指令语句中的助记符，规定了该指令语句的操作。例如</a:t>
            </a:r>
            <a:r>
              <a:rPr lang="en-US" altLang="zh-CN" dirty="0"/>
              <a:t>ADD</a:t>
            </a:r>
            <a:r>
              <a:rPr lang="zh-CN" altLang="en-US" dirty="0"/>
              <a:t>、</a:t>
            </a:r>
            <a:r>
              <a:rPr lang="en-US" altLang="zh-CN" dirty="0"/>
              <a:t>XOR</a:t>
            </a:r>
            <a:r>
              <a:rPr lang="zh-CN" altLang="en-US" dirty="0"/>
              <a:t>等。</a:t>
            </a:r>
            <a:endParaRPr lang="zh-CN" altLang="en-US" dirty="0"/>
          </a:p>
          <a:p>
            <a:r>
              <a:rPr lang="zh-CN" altLang="en-US" dirty="0"/>
              <a:t>伪指令语句中的定义符对应于</a:t>
            </a:r>
            <a:r>
              <a:rPr lang="en-US" altLang="zh-CN" dirty="0"/>
              <a:t>8086</a:t>
            </a:r>
            <a:r>
              <a:rPr lang="zh-CN" altLang="en-US" dirty="0"/>
              <a:t>宏汇编中提供的伪操作功能。</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汇编语言语句的格式</a:t>
            </a:r>
            <a:endParaRPr lang="zh-CN" altLang="en-US" dirty="0"/>
          </a:p>
        </p:txBody>
      </p:sp>
      <p:sp>
        <p:nvSpPr>
          <p:cNvPr id="3" name="内容占位符 2"/>
          <p:cNvSpPr>
            <a:spLocks noGrp="1"/>
          </p:cNvSpPr>
          <p:nvPr>
            <p:ph idx="1"/>
          </p:nvPr>
        </p:nvSpPr>
        <p:spPr/>
        <p:txBody>
          <a:bodyPr>
            <a:normAutofit fontScale="92500"/>
          </a:bodyPr>
          <a:lstStyle/>
          <a:p>
            <a:pPr marL="0" indent="0">
              <a:buNone/>
            </a:pPr>
            <a:r>
              <a:rPr lang="zh-CN" altLang="en-US" dirty="0"/>
              <a:t>操作数</a:t>
            </a:r>
            <a:endParaRPr lang="zh-CN" altLang="en-US" dirty="0"/>
          </a:p>
          <a:p>
            <a:r>
              <a:rPr lang="zh-CN" altLang="en-US" dirty="0"/>
              <a:t>根据不同的指令，分为单操作数、双操作数或无操作数。</a:t>
            </a:r>
            <a:endParaRPr lang="zh-CN" altLang="en-US" dirty="0"/>
          </a:p>
          <a:p>
            <a:r>
              <a:rPr lang="zh-CN" altLang="en-US" dirty="0"/>
              <a:t>伪指令中的操作数可以是一个或多个，操作数间用逗号隔开。</a:t>
            </a:r>
            <a:endParaRPr lang="zh-CN" altLang="en-US" dirty="0"/>
          </a:p>
          <a:p>
            <a:r>
              <a:rPr lang="zh-CN" altLang="en-US" dirty="0"/>
              <a:t>操作数为程序执行提供所需的操作信息，操作数可以是：</a:t>
            </a:r>
            <a:endParaRPr lang="en-US" altLang="zh-CN" dirty="0"/>
          </a:p>
          <a:p>
            <a:pPr lvl="1"/>
            <a:r>
              <a:rPr lang="zh-CN" altLang="en-US" dirty="0"/>
              <a:t>常量</a:t>
            </a:r>
            <a:endParaRPr lang="zh-CN" altLang="en-US" dirty="0"/>
          </a:p>
          <a:p>
            <a:pPr lvl="1"/>
            <a:r>
              <a:rPr lang="zh-CN" altLang="en-US" dirty="0"/>
              <a:t>变量</a:t>
            </a:r>
            <a:endParaRPr lang="zh-CN" altLang="en-US" dirty="0"/>
          </a:p>
          <a:p>
            <a:pPr lvl="1"/>
            <a:r>
              <a:rPr lang="zh-CN" altLang="en-US" dirty="0"/>
              <a:t>标号</a:t>
            </a:r>
            <a:endParaRPr lang="zh-CN" altLang="en-US" dirty="0"/>
          </a:p>
          <a:p>
            <a:pPr lvl="1"/>
            <a:r>
              <a:rPr lang="zh-CN" altLang="en-US" dirty="0"/>
              <a:t>寄存器</a:t>
            </a:r>
            <a:endParaRPr lang="zh-CN" altLang="en-US" dirty="0"/>
          </a:p>
          <a:p>
            <a:pPr lvl="1"/>
            <a:r>
              <a:rPr lang="zh-CN" altLang="en-US" dirty="0"/>
              <a:t>表达式</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操作数</a:t>
            </a:r>
            <a:endParaRPr lang="zh-CN" altLang="en-US" dirty="0"/>
          </a:p>
        </p:txBody>
      </p:sp>
      <p:sp>
        <p:nvSpPr>
          <p:cNvPr id="3" name="内容占位符 2"/>
          <p:cNvSpPr>
            <a:spLocks noGrp="1"/>
          </p:cNvSpPr>
          <p:nvPr>
            <p:ph idx="1"/>
          </p:nvPr>
        </p:nvSpPr>
        <p:spPr/>
        <p:txBody>
          <a:bodyPr>
            <a:noAutofit/>
          </a:bodyPr>
          <a:lstStyle/>
          <a:p>
            <a:pPr>
              <a:lnSpc>
                <a:spcPct val="100000"/>
              </a:lnSpc>
            </a:pPr>
            <a:r>
              <a:rPr lang="zh-CN" altLang="en-US" dirty="0"/>
              <a:t>（</a:t>
            </a:r>
            <a:r>
              <a:rPr lang="en-US" altLang="zh-CN" dirty="0"/>
              <a:t>1</a:t>
            </a:r>
            <a:r>
              <a:rPr lang="zh-CN" altLang="en-US" dirty="0"/>
              <a:t>）常量</a:t>
            </a:r>
            <a:endParaRPr lang="zh-CN" altLang="en-US" dirty="0"/>
          </a:p>
          <a:p>
            <a:pPr>
              <a:lnSpc>
                <a:spcPct val="100000"/>
              </a:lnSpc>
            </a:pPr>
            <a:r>
              <a:rPr lang="zh-CN" altLang="en-US" dirty="0"/>
              <a:t>常量是指令中出现的固定不变的值。可分为：</a:t>
            </a:r>
            <a:endParaRPr lang="en-US" altLang="zh-CN" dirty="0"/>
          </a:p>
          <a:p>
            <a:pPr lvl="1"/>
            <a:r>
              <a:rPr lang="zh-CN" altLang="en-US" dirty="0"/>
              <a:t>数值常量</a:t>
            </a:r>
            <a:endParaRPr lang="en-US" altLang="zh-CN" dirty="0"/>
          </a:p>
          <a:p>
            <a:pPr lvl="1"/>
            <a:r>
              <a:rPr lang="zh-CN" altLang="en-US" dirty="0"/>
              <a:t>字符常量</a:t>
            </a:r>
            <a:endParaRPr lang="zh-CN" altLang="en-US" dirty="0"/>
          </a:p>
          <a:p>
            <a:pPr>
              <a:lnSpc>
                <a:spcPct val="100000"/>
              </a:lnSpc>
            </a:pPr>
            <a:r>
              <a:rPr lang="zh-CN" altLang="en-US" dirty="0"/>
              <a:t>数值常量允许使用二进制、十进制、十六进制数，但要注意应以</a:t>
            </a:r>
            <a:r>
              <a:rPr lang="en-US" altLang="zh-CN" dirty="0"/>
              <a:t>B</a:t>
            </a:r>
            <a:r>
              <a:rPr lang="zh-CN" altLang="en-US" dirty="0"/>
              <a:t>、</a:t>
            </a:r>
            <a:r>
              <a:rPr lang="en-US" altLang="zh-CN" dirty="0"/>
              <a:t>D</a:t>
            </a:r>
            <a:r>
              <a:rPr lang="zh-CN" altLang="en-US" dirty="0"/>
              <a:t>、</a:t>
            </a:r>
            <a:r>
              <a:rPr lang="en-US" altLang="zh-CN" dirty="0"/>
              <a:t>H</a:t>
            </a:r>
            <a:r>
              <a:rPr lang="zh-CN" altLang="en-US" dirty="0"/>
              <a:t>字符结尾。</a:t>
            </a:r>
            <a:endParaRPr lang="zh-CN" altLang="en-US" dirty="0"/>
          </a:p>
          <a:p>
            <a:pPr>
              <a:lnSpc>
                <a:spcPct val="100000"/>
              </a:lnSpc>
            </a:pPr>
            <a:r>
              <a:rPr lang="zh-CN" altLang="en-US" dirty="0"/>
              <a:t>十六进制数如果以字母开头，则必须在该数前面加</a:t>
            </a:r>
            <a:r>
              <a:rPr lang="en-US" altLang="zh-CN" dirty="0"/>
              <a:t>0</a:t>
            </a:r>
            <a:r>
              <a:rPr lang="zh-CN" altLang="en-US" dirty="0"/>
              <a:t>，以区别于标识符，如</a:t>
            </a:r>
            <a:r>
              <a:rPr lang="en-US" altLang="zh-CN" dirty="0"/>
              <a:t>0F5H</a:t>
            </a:r>
            <a:r>
              <a:rPr lang="zh-CN" altLang="en-US" dirty="0"/>
              <a:t>。</a:t>
            </a:r>
            <a:endParaRPr lang="zh-CN" altLang="en-US" dirty="0"/>
          </a:p>
          <a:p>
            <a:pPr>
              <a:lnSpc>
                <a:spcPct val="100000"/>
              </a:lnSpc>
            </a:pPr>
            <a:r>
              <a:rPr lang="en-US" altLang="zh-CN" dirty="0"/>
              <a:t>ASCII</a:t>
            </a:r>
            <a:r>
              <a:rPr lang="zh-CN" altLang="en-US" dirty="0"/>
              <a:t>码常数可将字符放在单引号内，如‘</a:t>
            </a:r>
            <a:r>
              <a:rPr lang="en-US" altLang="zh-CN" dirty="0"/>
              <a:t>A’</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操作数</a:t>
            </a:r>
            <a:endParaRPr lang="zh-CN" altLang="en-US" dirty="0"/>
          </a:p>
        </p:txBody>
      </p:sp>
      <p:sp>
        <p:nvSpPr>
          <p:cNvPr id="3" name="内容占位符 2"/>
          <p:cNvSpPr>
            <a:spLocks noGrp="1"/>
          </p:cNvSpPr>
          <p:nvPr>
            <p:ph idx="1"/>
          </p:nvPr>
        </p:nvSpPr>
        <p:spPr/>
        <p:txBody>
          <a:bodyPr>
            <a:normAutofit/>
          </a:bodyPr>
          <a:lstStyle/>
          <a:p>
            <a:r>
              <a:rPr lang="zh-CN" altLang="en-US" dirty="0"/>
              <a:t>（</a:t>
            </a:r>
            <a:r>
              <a:rPr lang="en-US" altLang="zh-CN" dirty="0"/>
              <a:t>2</a:t>
            </a:r>
            <a:r>
              <a:rPr lang="zh-CN" altLang="en-US" dirty="0"/>
              <a:t>）变量</a:t>
            </a:r>
            <a:endParaRPr lang="zh-CN" altLang="en-US" dirty="0"/>
          </a:p>
          <a:p>
            <a:r>
              <a:rPr lang="zh-CN" altLang="en-US" dirty="0"/>
              <a:t>变量是指存放在某些存储单元中的值，是可变的。</a:t>
            </a:r>
            <a:endParaRPr lang="zh-CN" altLang="en-US" dirty="0"/>
          </a:p>
          <a:p>
            <a:r>
              <a:rPr lang="zh-CN" altLang="en-US" dirty="0"/>
              <a:t>变量具有如下三种属性：</a:t>
            </a:r>
            <a:endParaRPr lang="en-US" altLang="zh-CN" dirty="0"/>
          </a:p>
          <a:p>
            <a:pPr lvl="1"/>
            <a:r>
              <a:rPr lang="zh-CN" altLang="en-US" dirty="0"/>
              <a:t>段属性：指变量所在段的段基址。</a:t>
            </a:r>
            <a:endParaRPr lang="en-US" altLang="zh-CN" dirty="0"/>
          </a:p>
          <a:p>
            <a:pPr lvl="1"/>
            <a:r>
              <a:rPr lang="zh-CN" altLang="en-US" dirty="0">
                <a:latin typeface="华文仿宋" panose="02010600040101010101" pitchFamily="2" charset="-122"/>
                <a:ea typeface="华文仿宋" panose="02010600040101010101" pitchFamily="2" charset="-122"/>
              </a:rPr>
              <a:t>偏移量属性：指变量单元地址与段的起始地址之间的地址偏移量。</a:t>
            </a:r>
            <a:endParaRPr lang="en-US" altLang="zh-CN" dirty="0">
              <a:latin typeface="华文仿宋" panose="02010600040101010101" pitchFamily="2" charset="-122"/>
              <a:ea typeface="华文仿宋" panose="02010600040101010101" pitchFamily="2" charset="-122"/>
            </a:endParaRPr>
          </a:p>
          <a:p>
            <a:pPr lvl="1"/>
            <a:r>
              <a:rPr lang="zh-CN" altLang="en-US" dirty="0">
                <a:latin typeface="华文仿宋" panose="02010600040101010101" pitchFamily="2" charset="-122"/>
                <a:ea typeface="华文仿宋" panose="02010600040101010101" pitchFamily="2" charset="-122"/>
              </a:rPr>
              <a:t>类型属性：是指变量所占存储单元的字节数大小。类型有字节</a:t>
            </a:r>
            <a:r>
              <a:rPr lang="en-US" altLang="zh-CN" dirty="0">
                <a:latin typeface="华文仿宋" panose="02010600040101010101" pitchFamily="2" charset="-122"/>
                <a:ea typeface="华文仿宋" panose="02010600040101010101" pitchFamily="2" charset="-122"/>
              </a:rPr>
              <a:t>(BYTE) </a:t>
            </a:r>
            <a:r>
              <a:rPr lang="zh-CN" altLang="en-US" dirty="0">
                <a:latin typeface="华文仿宋" panose="02010600040101010101" pitchFamily="2" charset="-122"/>
                <a:ea typeface="华文仿宋" panose="02010600040101010101" pitchFamily="2" charset="-122"/>
              </a:rPr>
              <a:t>、字</a:t>
            </a:r>
            <a:r>
              <a:rPr lang="en-US" altLang="zh-CN" dirty="0">
                <a:latin typeface="华文仿宋" panose="02010600040101010101" pitchFamily="2" charset="-122"/>
                <a:ea typeface="华文仿宋" panose="02010600040101010101" pitchFamily="2" charset="-122"/>
              </a:rPr>
              <a:t>(WORD)</a:t>
            </a:r>
            <a:r>
              <a:rPr lang="zh-CN" altLang="en-US" dirty="0">
                <a:latin typeface="华文仿宋" panose="02010600040101010101" pitchFamily="2" charset="-122"/>
                <a:ea typeface="华文仿宋" panose="02010600040101010101" pitchFamily="2" charset="-122"/>
              </a:rPr>
              <a:t>、双字</a:t>
            </a:r>
            <a:r>
              <a:rPr lang="en-US" altLang="zh-CN" dirty="0">
                <a:latin typeface="华文仿宋" panose="02010600040101010101" pitchFamily="2" charset="-122"/>
                <a:ea typeface="华文仿宋" panose="02010600040101010101" pitchFamily="2" charset="-122"/>
              </a:rPr>
              <a:t>(DWORD)</a:t>
            </a:r>
            <a:r>
              <a:rPr lang="zh-CN" altLang="en-US" dirty="0">
                <a:latin typeface="华文仿宋" panose="02010600040101010101" pitchFamily="2" charset="-122"/>
                <a:ea typeface="华文仿宋" panose="02010600040101010101" pitchFamily="2" charset="-122"/>
              </a:rPr>
              <a:t>等。</a:t>
            </a:r>
            <a:endParaRPr lang="zh-CN" altLang="en-US" dirty="0">
              <a:latin typeface="华文仿宋" panose="02010600040101010101" pitchFamily="2" charset="-122"/>
              <a:ea typeface="华文仿宋" panose="02010600040101010101"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操作数</a:t>
            </a:r>
            <a:endParaRPr lang="zh-CN" altLang="en-US" dirty="0"/>
          </a:p>
        </p:txBody>
      </p:sp>
      <p:sp>
        <p:nvSpPr>
          <p:cNvPr id="3" name="内容占位符 2"/>
          <p:cNvSpPr>
            <a:spLocks noGrp="1"/>
          </p:cNvSpPr>
          <p:nvPr>
            <p:ph idx="1"/>
          </p:nvPr>
        </p:nvSpPr>
        <p:spPr/>
        <p:txBody>
          <a:bodyPr>
            <a:noAutofit/>
          </a:bodyPr>
          <a:lstStyle/>
          <a:p>
            <a:pPr marL="0" indent="0">
              <a:lnSpc>
                <a:spcPct val="100000"/>
              </a:lnSpc>
              <a:buNone/>
            </a:pPr>
            <a:r>
              <a:rPr lang="zh-CN" altLang="en-US" dirty="0"/>
              <a:t>（</a:t>
            </a:r>
            <a:r>
              <a:rPr lang="en-US" altLang="zh-CN" dirty="0"/>
              <a:t>3</a:t>
            </a:r>
            <a:r>
              <a:rPr lang="zh-CN" altLang="en-US" dirty="0"/>
              <a:t>）标号</a:t>
            </a:r>
            <a:endParaRPr lang="zh-CN" altLang="en-US" dirty="0"/>
          </a:p>
          <a:p>
            <a:pPr>
              <a:lnSpc>
                <a:spcPct val="100000"/>
              </a:lnSpc>
            </a:pPr>
            <a:r>
              <a:rPr lang="zh-CN" altLang="en-US" dirty="0"/>
              <a:t>标号有三种属性：</a:t>
            </a:r>
            <a:endParaRPr lang="en-US" altLang="zh-CN" dirty="0"/>
          </a:p>
          <a:p>
            <a:pPr lvl="1"/>
            <a:r>
              <a:rPr lang="zh-CN" altLang="en-US" dirty="0"/>
              <a:t>段属性：定义标号程序段的段基址。</a:t>
            </a:r>
            <a:endParaRPr lang="en-US" altLang="zh-CN" dirty="0"/>
          </a:p>
          <a:p>
            <a:pPr lvl="1"/>
            <a:r>
              <a:rPr lang="zh-CN" altLang="en-US" dirty="0"/>
              <a:t>偏移量属性：标号所在段的起始地址与定义标号的地址之间的字节数。</a:t>
            </a:r>
            <a:endParaRPr lang="en-US" altLang="zh-CN" dirty="0"/>
          </a:p>
          <a:p>
            <a:pPr lvl="1"/>
            <a:r>
              <a:rPr lang="zh-CN" altLang="en-US" dirty="0"/>
              <a:t>标号的类型属性：</a:t>
            </a:r>
            <a:r>
              <a:rPr lang="en-US" altLang="zh-CN" dirty="0"/>
              <a:t>NEAR</a:t>
            </a:r>
            <a:r>
              <a:rPr lang="zh-CN" altLang="en-US" dirty="0"/>
              <a:t>（段内引用）和</a:t>
            </a:r>
            <a:r>
              <a:rPr lang="en-US" altLang="zh-CN" dirty="0"/>
              <a:t>FAR</a:t>
            </a:r>
            <a:r>
              <a:rPr lang="zh-CN" altLang="en-US" dirty="0"/>
              <a:t>（跨段引用）。</a:t>
            </a:r>
            <a:endParaRPr lang="zh-CN" altLang="en-US" dirty="0"/>
          </a:p>
          <a:p>
            <a:pPr marL="0" indent="0">
              <a:lnSpc>
                <a:spcPct val="100000"/>
              </a:lnSpc>
              <a:buNone/>
            </a:pPr>
            <a:r>
              <a:rPr lang="zh-CN" altLang="en-US" dirty="0"/>
              <a:t>（</a:t>
            </a:r>
            <a:r>
              <a:rPr lang="en-US" altLang="zh-CN" dirty="0"/>
              <a:t>4</a:t>
            </a:r>
            <a:r>
              <a:rPr lang="zh-CN" altLang="en-US" dirty="0"/>
              <a:t>）寄存器</a:t>
            </a:r>
            <a:endParaRPr lang="zh-CN" altLang="en-US" dirty="0"/>
          </a:p>
          <a:p>
            <a:pPr>
              <a:lnSpc>
                <a:spcPct val="100000"/>
              </a:lnSpc>
            </a:pPr>
            <a:r>
              <a:rPr lang="zh-CN" altLang="en-US" dirty="0"/>
              <a:t>操作数部分是寄存器名，如</a:t>
            </a:r>
            <a:r>
              <a:rPr lang="en-US" altLang="zh-CN" dirty="0"/>
              <a:t>AX</a:t>
            </a:r>
            <a:r>
              <a:rPr lang="zh-CN" altLang="en-US" dirty="0"/>
              <a:t>、</a:t>
            </a:r>
            <a:r>
              <a:rPr lang="en-US" altLang="zh-CN" dirty="0"/>
              <a:t>BX</a:t>
            </a:r>
            <a:r>
              <a:rPr lang="zh-CN" altLang="en-US" dirty="0"/>
              <a:t>、</a:t>
            </a:r>
            <a:r>
              <a:rPr lang="en-US" altLang="zh-CN" dirty="0"/>
              <a:t>SI</a:t>
            </a:r>
            <a:r>
              <a:rPr lang="zh-CN" altLang="en-US" dirty="0"/>
              <a:t>等。</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操作数</a:t>
            </a:r>
            <a:endParaRPr lang="zh-CN" altLang="en-US" dirty="0"/>
          </a:p>
        </p:txBody>
      </p:sp>
      <p:sp>
        <p:nvSpPr>
          <p:cNvPr id="3" name="内容占位符 2"/>
          <p:cNvSpPr>
            <a:spLocks noGrp="1"/>
          </p:cNvSpPr>
          <p:nvPr>
            <p:ph idx="1"/>
          </p:nvPr>
        </p:nvSpPr>
        <p:spPr>
          <a:xfrm>
            <a:off x="838200" y="1656374"/>
            <a:ext cx="10515600" cy="4351338"/>
          </a:xfrm>
        </p:spPr>
        <p:txBody>
          <a:bodyPr/>
          <a:lstStyle/>
          <a:p>
            <a:pPr marL="0" indent="0">
              <a:lnSpc>
                <a:spcPct val="100000"/>
              </a:lnSpc>
              <a:buNone/>
            </a:pPr>
            <a:r>
              <a:rPr lang="zh-CN" altLang="en-US" dirty="0"/>
              <a:t>（</a:t>
            </a:r>
            <a:r>
              <a:rPr lang="en-US" altLang="zh-CN" dirty="0"/>
              <a:t>5</a:t>
            </a:r>
            <a:r>
              <a:rPr lang="zh-CN" altLang="en-US" dirty="0"/>
              <a:t>）表达式</a:t>
            </a:r>
            <a:endParaRPr lang="zh-CN" altLang="en-US" dirty="0"/>
          </a:p>
          <a:p>
            <a:pPr>
              <a:lnSpc>
                <a:spcPct val="100000"/>
              </a:lnSpc>
            </a:pPr>
            <a:r>
              <a:rPr lang="zh-CN" altLang="en-US" dirty="0"/>
              <a:t>表达式由常数、变量、操作符和运算符组成。</a:t>
            </a:r>
            <a:endParaRPr lang="zh-CN" altLang="en-US" dirty="0"/>
          </a:p>
          <a:p>
            <a:pPr>
              <a:lnSpc>
                <a:spcPct val="100000"/>
              </a:lnSpc>
            </a:pPr>
            <a:r>
              <a:rPr lang="zh-CN" altLang="en-US" dirty="0"/>
              <a:t>有三种运算符</a:t>
            </a:r>
            <a:r>
              <a:rPr lang="en-US" altLang="zh-CN" dirty="0"/>
              <a:t>(</a:t>
            </a:r>
            <a:r>
              <a:rPr lang="zh-CN" altLang="en-US" dirty="0"/>
              <a:t>算术运算符、逻辑运算符、关系运算符</a:t>
            </a:r>
            <a:r>
              <a:rPr lang="en-US" altLang="zh-CN" dirty="0"/>
              <a:t>)</a:t>
            </a:r>
            <a:r>
              <a:rPr lang="zh-CN" altLang="en-US" dirty="0"/>
              <a:t>和两种操作符</a:t>
            </a:r>
            <a:r>
              <a:rPr lang="en-US" altLang="zh-CN" dirty="0"/>
              <a:t>(</a:t>
            </a:r>
            <a:r>
              <a:rPr lang="zh-CN" altLang="en-US" dirty="0"/>
              <a:t>分析操作符、合成操作符</a:t>
            </a:r>
            <a:r>
              <a:rPr lang="en-US" altLang="zh-CN" dirty="0"/>
              <a:t>)</a:t>
            </a:r>
            <a:r>
              <a:rPr lang="zh-CN" altLang="en-US" dirty="0"/>
              <a:t>。</a:t>
            </a:r>
            <a:endParaRPr lang="zh-CN" altLang="en-US" dirty="0"/>
          </a:p>
        </p:txBody>
      </p:sp>
      <p:pic>
        <p:nvPicPr>
          <p:cNvPr id="39937" name="Picture 1"/>
          <p:cNvPicPr>
            <a:picLocks noChangeAspect="1" noChangeArrowheads="1"/>
          </p:cNvPicPr>
          <p:nvPr/>
        </p:nvPicPr>
        <p:blipFill>
          <a:blip r:embed="rId1" cstate="print"/>
          <a:srcRect/>
          <a:stretch>
            <a:fillRect/>
          </a:stretch>
        </p:blipFill>
        <p:spPr bwMode="auto">
          <a:xfrm>
            <a:off x="2454723" y="3661254"/>
            <a:ext cx="6181725" cy="2962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操作数举例</a:t>
            </a:r>
            <a:endParaRPr lang="zh-CN" altLang="en-US" dirty="0"/>
          </a:p>
        </p:txBody>
      </p:sp>
      <p:sp>
        <p:nvSpPr>
          <p:cNvPr id="3" name="内容占位符 2"/>
          <p:cNvSpPr>
            <a:spLocks noGrp="1"/>
          </p:cNvSpPr>
          <p:nvPr>
            <p:ph idx="1"/>
          </p:nvPr>
        </p:nvSpPr>
        <p:spPr/>
        <p:txBody>
          <a:bodyPr>
            <a:normAutofit/>
          </a:bodyPr>
          <a:lstStyle/>
          <a:p>
            <a:pPr>
              <a:lnSpc>
                <a:spcPct val="120000"/>
              </a:lnSpc>
            </a:pPr>
            <a:r>
              <a:rPr lang="zh-CN" altLang="en-US" dirty="0"/>
              <a:t>例</a:t>
            </a:r>
            <a:r>
              <a:rPr lang="en-US" altLang="zh-CN" dirty="0"/>
              <a:t>1</a:t>
            </a:r>
            <a:r>
              <a:rPr lang="zh-CN" altLang="en-US" dirty="0"/>
              <a:t>：</a:t>
            </a:r>
            <a:r>
              <a:rPr lang="en-US" altLang="zh-CN" dirty="0"/>
              <a:t>MOV  AL</a:t>
            </a:r>
            <a:r>
              <a:rPr lang="zh-CN" altLang="en-US" dirty="0"/>
              <a:t>，</a:t>
            </a:r>
            <a:r>
              <a:rPr lang="en-US" altLang="zh-CN" dirty="0"/>
              <a:t>10 MOD 4 </a:t>
            </a:r>
            <a:r>
              <a:rPr lang="zh-CN" altLang="en-US" dirty="0"/>
              <a:t>；</a:t>
            </a:r>
            <a:r>
              <a:rPr lang="en-US" altLang="zh-CN" dirty="0"/>
              <a:t>10 MOD 4=2</a:t>
            </a:r>
            <a:r>
              <a:rPr lang="zh-CN" altLang="en-US" dirty="0"/>
              <a:t>，</a:t>
            </a:r>
            <a:r>
              <a:rPr lang="en-US" altLang="zh-CN" dirty="0"/>
              <a:t>(AL)=2</a:t>
            </a:r>
            <a:endParaRPr lang="en-US" altLang="zh-CN" dirty="0"/>
          </a:p>
          <a:p>
            <a:pPr>
              <a:lnSpc>
                <a:spcPct val="120000"/>
              </a:lnSpc>
            </a:pPr>
            <a:r>
              <a:rPr lang="zh-CN" altLang="en-US" dirty="0"/>
              <a:t>例</a:t>
            </a:r>
            <a:r>
              <a:rPr lang="en-US" altLang="zh-CN" dirty="0"/>
              <a:t>2</a:t>
            </a:r>
            <a:r>
              <a:rPr lang="zh-CN" altLang="en-US" dirty="0"/>
              <a:t>：</a:t>
            </a:r>
            <a:r>
              <a:rPr lang="en-US" altLang="zh-CN" dirty="0"/>
              <a:t>MOV  AX</a:t>
            </a:r>
            <a:r>
              <a:rPr lang="zh-CN" altLang="en-US" dirty="0"/>
              <a:t>，</a:t>
            </a:r>
            <a:r>
              <a:rPr lang="en-US" altLang="zh-CN" dirty="0"/>
              <a:t>789AH XOR 000FH </a:t>
            </a:r>
            <a:r>
              <a:rPr lang="zh-CN" altLang="en-US" dirty="0"/>
              <a:t>；（</a:t>
            </a:r>
            <a:r>
              <a:rPr lang="en-US" altLang="zh-CN" dirty="0"/>
              <a:t>AX</a:t>
            </a:r>
            <a:r>
              <a:rPr lang="zh-CN" altLang="en-US" dirty="0"/>
              <a:t>）</a:t>
            </a:r>
            <a:r>
              <a:rPr lang="en-US" altLang="zh-CN" dirty="0"/>
              <a:t>=7895H</a:t>
            </a:r>
            <a:endParaRPr lang="en-US" altLang="zh-CN" dirty="0"/>
          </a:p>
          <a:p>
            <a:pPr>
              <a:lnSpc>
                <a:spcPct val="120000"/>
              </a:lnSpc>
            </a:pPr>
            <a:r>
              <a:rPr lang="zh-CN" altLang="en-US" dirty="0"/>
              <a:t>例</a:t>
            </a:r>
            <a:r>
              <a:rPr lang="en-US" altLang="zh-CN" dirty="0"/>
              <a:t>3:MOV  AL</a:t>
            </a:r>
            <a:r>
              <a:rPr lang="zh-CN" altLang="en-US" dirty="0"/>
              <a:t>，</a:t>
            </a:r>
            <a:r>
              <a:rPr lang="en-US" altLang="zh-CN" dirty="0"/>
              <a:t>5 NE 2;</a:t>
            </a:r>
            <a:r>
              <a:rPr lang="zh-CN" altLang="en-US" dirty="0"/>
              <a:t>关系成立，</a:t>
            </a:r>
            <a:r>
              <a:rPr lang="en-US" altLang="zh-CN" dirty="0"/>
              <a:t>(AL)=0FFH</a:t>
            </a:r>
            <a:endParaRPr lang="en-US" altLang="zh-CN" dirty="0"/>
          </a:p>
          <a:p>
            <a:pPr marL="0" indent="0">
              <a:lnSpc>
                <a:spcPct val="120000"/>
              </a:lnSpc>
              <a:buNone/>
            </a:pPr>
            <a:r>
              <a:rPr lang="en-US" altLang="zh-CN" dirty="0"/>
              <a:t>      MOV  AL</a:t>
            </a:r>
            <a:r>
              <a:rPr lang="zh-CN" altLang="en-US" dirty="0"/>
              <a:t>，</a:t>
            </a:r>
            <a:r>
              <a:rPr lang="en-US" altLang="zh-CN" dirty="0"/>
              <a:t>5 LT 2;</a:t>
            </a:r>
            <a:r>
              <a:rPr lang="zh-CN" altLang="en-US" dirty="0"/>
              <a:t>关系不成立，</a:t>
            </a:r>
            <a:r>
              <a:rPr lang="en-US" altLang="zh-CN" dirty="0"/>
              <a:t>(AL)=00H</a:t>
            </a:r>
            <a:endParaRPr lang="en-US" altLang="zh-CN" dirty="0"/>
          </a:p>
          <a:p>
            <a:pPr>
              <a:lnSpc>
                <a:spcPct val="120000"/>
              </a:lnSpc>
            </a:pPr>
            <a:r>
              <a:rPr lang="zh-CN" altLang="en-US" dirty="0"/>
              <a:t>例</a:t>
            </a:r>
            <a:r>
              <a:rPr lang="en-US" altLang="zh-CN" dirty="0"/>
              <a:t>4</a:t>
            </a:r>
            <a:r>
              <a:rPr lang="zh-CN" altLang="en-US" dirty="0"/>
              <a:t>：</a:t>
            </a:r>
            <a:r>
              <a:rPr lang="en-US" altLang="zh-CN" dirty="0"/>
              <a:t>MOV SI</a:t>
            </a:r>
            <a:r>
              <a:rPr lang="zh-CN" altLang="en-US" dirty="0"/>
              <a:t>，</a:t>
            </a:r>
            <a:r>
              <a:rPr lang="en-US" altLang="zh-CN" dirty="0" smtClean="0"/>
              <a:t>OFFSET </a:t>
            </a:r>
            <a:r>
              <a:rPr lang="en-US" altLang="zh-CN" dirty="0"/>
              <a:t>BUF</a:t>
            </a:r>
            <a:r>
              <a:rPr lang="zh-CN" altLang="en-US" dirty="0"/>
              <a:t>；将</a:t>
            </a:r>
            <a:r>
              <a:rPr lang="en-US" altLang="zh-CN" dirty="0"/>
              <a:t>BUF</a:t>
            </a:r>
            <a:r>
              <a:rPr lang="zh-CN" altLang="en-US" dirty="0"/>
              <a:t>所在段的偏移地址送</a:t>
            </a:r>
            <a:r>
              <a:rPr lang="en-US" altLang="zh-CN" dirty="0"/>
              <a:t>SI</a:t>
            </a:r>
            <a:endParaRPr lang="en-US" altLang="zh-CN" dirty="0"/>
          </a:p>
          <a:p>
            <a:pPr marL="0" indent="0">
              <a:lnSpc>
                <a:spcPct val="120000"/>
              </a:lnSpc>
              <a:buNone/>
            </a:pPr>
            <a:r>
              <a:rPr lang="zh-CN" altLang="en-US" dirty="0"/>
              <a:t>      等价于</a:t>
            </a:r>
            <a:r>
              <a:rPr lang="en-US" altLang="zh-CN" dirty="0"/>
              <a:t>LEA SI</a:t>
            </a:r>
            <a:r>
              <a:rPr lang="zh-CN" altLang="en-US" dirty="0"/>
              <a:t>，</a:t>
            </a:r>
            <a:r>
              <a:rPr lang="en-US" altLang="zh-CN" dirty="0"/>
              <a:t>BUF;OFFSET</a:t>
            </a:r>
            <a:r>
              <a:rPr lang="zh-CN" altLang="en-US" dirty="0"/>
              <a:t>后面只能是变量或标号。</a:t>
            </a:r>
            <a:endParaRPr lang="zh-CN" altLang="en-US" dirty="0"/>
          </a:p>
          <a:p>
            <a:pPr>
              <a:lnSpc>
                <a:spcPct val="120000"/>
              </a:lnSpc>
            </a:pPr>
            <a:r>
              <a:rPr lang="zh-CN" altLang="en-US" dirty="0"/>
              <a:t>例</a:t>
            </a:r>
            <a:r>
              <a:rPr lang="en-US" altLang="zh-CN" dirty="0"/>
              <a:t>5</a:t>
            </a:r>
            <a:r>
              <a:rPr lang="zh-CN" altLang="en-US" dirty="0"/>
              <a:t>：</a:t>
            </a:r>
            <a:r>
              <a:rPr lang="en-US" altLang="zh-CN" dirty="0" smtClean="0"/>
              <a:t>MOV AX</a:t>
            </a:r>
            <a:r>
              <a:rPr lang="zh-CN" altLang="en-US" dirty="0"/>
              <a:t>，</a:t>
            </a:r>
            <a:r>
              <a:rPr lang="en-US" altLang="zh-CN" dirty="0" smtClean="0"/>
              <a:t>SEG BUF</a:t>
            </a:r>
            <a:r>
              <a:rPr lang="zh-CN" altLang="en-US" dirty="0"/>
              <a:t>；将</a:t>
            </a:r>
            <a:r>
              <a:rPr lang="en-US" altLang="zh-CN" dirty="0"/>
              <a:t>BUF</a:t>
            </a:r>
            <a:r>
              <a:rPr lang="zh-CN" altLang="en-US" dirty="0"/>
              <a:t>所在段的段基址送</a:t>
            </a:r>
            <a:r>
              <a:rPr lang="en-US" altLang="zh-CN" dirty="0"/>
              <a:t>AX</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汇编语言语句的格式</a:t>
            </a:r>
            <a:endParaRPr lang="zh-CN" altLang="en-US" dirty="0"/>
          </a:p>
        </p:txBody>
      </p:sp>
      <p:sp>
        <p:nvSpPr>
          <p:cNvPr id="3" name="内容占位符 2"/>
          <p:cNvSpPr>
            <a:spLocks noGrp="1"/>
          </p:cNvSpPr>
          <p:nvPr>
            <p:ph idx="1"/>
          </p:nvPr>
        </p:nvSpPr>
        <p:spPr/>
        <p:txBody>
          <a:bodyPr/>
          <a:lstStyle/>
          <a:p>
            <a:r>
              <a:rPr lang="zh-CN" altLang="en-US" dirty="0"/>
              <a:t>注释</a:t>
            </a:r>
            <a:endParaRPr lang="zh-CN" altLang="en-US" dirty="0"/>
          </a:p>
          <a:p>
            <a:r>
              <a:rPr lang="zh-CN" altLang="en-US" dirty="0"/>
              <a:t>注释由分号“；”引导，用来说明一段程序、一条或几条指令的功能，使程序便于阅读。</a:t>
            </a:r>
            <a:endParaRPr lang="zh-CN" altLang="en-US" dirty="0"/>
          </a:p>
          <a:p>
            <a:r>
              <a:rPr lang="zh-CN" altLang="en-US" dirty="0"/>
              <a:t>汇编程序对注释不进行汇编。</a:t>
            </a:r>
            <a:endParaRPr lang="zh-CN" altLang="en-US" dirty="0"/>
          </a:p>
          <a:p>
            <a:r>
              <a:rPr lang="zh-CN" altLang="en-US" dirty="0"/>
              <a:t>注释根据需要设置，不是必须的。</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汇编语言源程序格式</a:t>
            </a:r>
            <a:endParaRPr lang="zh-CN" altLang="en-US" dirty="0"/>
          </a:p>
        </p:txBody>
      </p:sp>
      <p:sp>
        <p:nvSpPr>
          <p:cNvPr id="3" name="内容占位符 2"/>
          <p:cNvSpPr>
            <a:spLocks noGrp="1"/>
          </p:cNvSpPr>
          <p:nvPr>
            <p:ph idx="1"/>
          </p:nvPr>
        </p:nvSpPr>
        <p:spPr/>
        <p:txBody>
          <a:bodyPr>
            <a:normAutofit/>
          </a:bodyPr>
          <a:lstStyle/>
          <a:p>
            <a:r>
              <a:rPr lang="zh-CN" altLang="en-US" dirty="0"/>
              <a:t>汇编语言源程序结构采用分段式结构。</a:t>
            </a:r>
            <a:endParaRPr lang="zh-CN" altLang="en-US" dirty="0"/>
          </a:p>
          <a:p>
            <a:r>
              <a:rPr lang="zh-CN" altLang="en-US" dirty="0"/>
              <a:t>一个汇编语言源程序由若干段组成，一般有数据段、代码段、附加段和堆栈段四种类型，源程序可以根据实际需要来确定段的数目。</a:t>
            </a:r>
            <a:endParaRPr lang="zh-CN" altLang="en-US" dirty="0"/>
          </a:p>
          <a:p>
            <a:r>
              <a:rPr lang="zh-CN" altLang="en-US" dirty="0"/>
              <a:t>每个段以</a:t>
            </a:r>
            <a:r>
              <a:rPr lang="en-US" altLang="zh-CN" dirty="0"/>
              <a:t>SEGMENT</a:t>
            </a:r>
            <a:r>
              <a:rPr lang="zh-CN" altLang="en-US" dirty="0"/>
              <a:t>开始，以</a:t>
            </a:r>
            <a:r>
              <a:rPr lang="en-US" altLang="zh-CN" dirty="0"/>
              <a:t>ENDS</a:t>
            </a:r>
            <a:r>
              <a:rPr lang="zh-CN" altLang="en-US" dirty="0"/>
              <a:t>结束。</a:t>
            </a:r>
            <a:endParaRPr lang="zh-CN" altLang="en-US" dirty="0"/>
          </a:p>
          <a:p>
            <a:r>
              <a:rPr lang="zh-CN" altLang="en-US" dirty="0"/>
              <a:t>整个源程序以</a:t>
            </a:r>
            <a:r>
              <a:rPr lang="en-US" altLang="zh-CN" dirty="0"/>
              <a:t>END</a:t>
            </a:r>
            <a:r>
              <a:rPr lang="zh-CN" altLang="en-US" dirty="0"/>
              <a:t>结束。</a:t>
            </a:r>
            <a:endParaRPr lang="zh-CN" altLang="en-US" dirty="0"/>
          </a:p>
          <a:p>
            <a:r>
              <a:rPr lang="zh-CN" altLang="en-US" dirty="0"/>
              <a:t>每个段均有若干行指令，每一条指令占一行。</a:t>
            </a:r>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汇编语言源程序格式</a:t>
            </a:r>
            <a:endParaRPr lang="zh-CN" altLang="en-US" dirty="0"/>
          </a:p>
        </p:txBody>
      </p:sp>
      <p:sp>
        <p:nvSpPr>
          <p:cNvPr id="3" name="内容占位符 2"/>
          <p:cNvSpPr>
            <a:spLocks noGrp="1"/>
          </p:cNvSpPr>
          <p:nvPr>
            <p:ph idx="1"/>
          </p:nvPr>
        </p:nvSpPr>
        <p:spPr>
          <a:xfrm>
            <a:off x="838200" y="1825625"/>
            <a:ext cx="4217126" cy="4351338"/>
          </a:xfrm>
        </p:spPr>
        <p:txBody>
          <a:bodyPr>
            <a:noAutofit/>
          </a:bodyPr>
          <a:lstStyle/>
          <a:p>
            <a:pPr marL="0" indent="0">
              <a:lnSpc>
                <a:spcPct val="120000"/>
              </a:lnSpc>
              <a:buNone/>
            </a:pPr>
            <a:r>
              <a:rPr lang="zh-CN" altLang="en-US" sz="2400" dirty="0"/>
              <a:t>例</a:t>
            </a:r>
            <a:r>
              <a:rPr lang="en-US" altLang="zh-CN" sz="2400" dirty="0"/>
              <a:t>6</a:t>
            </a:r>
            <a:r>
              <a:rPr lang="zh-CN" altLang="en-US" sz="2400" dirty="0"/>
              <a:t>：两数求和的程序段。</a:t>
            </a:r>
            <a:endParaRPr lang="zh-CN" altLang="en-US" sz="2400" dirty="0"/>
          </a:p>
          <a:p>
            <a:pPr marL="0" indent="0">
              <a:lnSpc>
                <a:spcPct val="120000"/>
              </a:lnSpc>
              <a:buNone/>
            </a:pPr>
            <a:r>
              <a:rPr lang="en-US" altLang="zh-CN" sz="2400" dirty="0"/>
              <a:t>DSEG SEGMENT</a:t>
            </a:r>
            <a:r>
              <a:rPr lang="zh-CN" altLang="en-US" sz="2400" dirty="0"/>
              <a:t>；定义数据段</a:t>
            </a:r>
            <a:endParaRPr lang="zh-CN" altLang="en-US" sz="2400" dirty="0"/>
          </a:p>
          <a:p>
            <a:pPr marL="0" indent="0">
              <a:lnSpc>
                <a:spcPct val="120000"/>
              </a:lnSpc>
              <a:buNone/>
            </a:pPr>
            <a:r>
              <a:rPr lang="en-US" altLang="zh-CN" sz="2400" dirty="0"/>
              <a:t>DATA1 DB 15H</a:t>
            </a:r>
            <a:r>
              <a:rPr lang="zh-CN" altLang="en-US" sz="2400" dirty="0"/>
              <a:t>；数据分配</a:t>
            </a:r>
            <a:endParaRPr lang="zh-CN" altLang="en-US" sz="2400" dirty="0"/>
          </a:p>
          <a:p>
            <a:pPr marL="0" indent="0">
              <a:lnSpc>
                <a:spcPct val="120000"/>
              </a:lnSpc>
              <a:buNone/>
            </a:pPr>
            <a:r>
              <a:rPr lang="en-US" altLang="zh-CN" sz="2400" dirty="0"/>
              <a:t>SUM DB 00H</a:t>
            </a:r>
            <a:r>
              <a:rPr lang="zh-CN" altLang="en-US" sz="2400" dirty="0"/>
              <a:t>；</a:t>
            </a:r>
            <a:endParaRPr lang="zh-CN" altLang="en-US" sz="2400" dirty="0"/>
          </a:p>
          <a:p>
            <a:pPr marL="0" indent="0">
              <a:lnSpc>
                <a:spcPct val="120000"/>
              </a:lnSpc>
              <a:buNone/>
            </a:pPr>
            <a:r>
              <a:rPr lang="en-US" altLang="zh-CN" sz="2400" dirty="0"/>
              <a:t>DSEG ENDS</a:t>
            </a:r>
            <a:r>
              <a:rPr lang="zh-CN" altLang="en-US" sz="2400" dirty="0"/>
              <a:t>；数据段结束</a:t>
            </a:r>
            <a:endParaRPr lang="zh-CN" altLang="en-US" sz="2400" dirty="0"/>
          </a:p>
          <a:p>
            <a:pPr marL="0" indent="0">
              <a:lnSpc>
                <a:spcPct val="120000"/>
              </a:lnSpc>
              <a:buNone/>
            </a:pPr>
            <a:r>
              <a:rPr lang="en-US" altLang="zh-CN" sz="2400" dirty="0"/>
              <a:t>CSEG SEGMENT </a:t>
            </a:r>
            <a:r>
              <a:rPr lang="zh-CN" altLang="en-US" sz="2400" dirty="0"/>
              <a:t>；定义代码段</a:t>
            </a:r>
            <a:endParaRPr lang="zh-CN" altLang="en-US" sz="2400" dirty="0"/>
          </a:p>
          <a:p>
            <a:pPr marL="0" indent="0">
              <a:lnSpc>
                <a:spcPct val="120000"/>
              </a:lnSpc>
              <a:buNone/>
            </a:pPr>
            <a:r>
              <a:rPr lang="en-US" altLang="zh-CN" sz="2400" dirty="0"/>
              <a:t>ASSUME CS:CSEG</a:t>
            </a:r>
            <a:r>
              <a:rPr lang="zh-CN" altLang="en-US" sz="2400" dirty="0"/>
              <a:t>，</a:t>
            </a:r>
            <a:r>
              <a:rPr lang="en-US" altLang="zh-CN" sz="2400" dirty="0"/>
              <a:t>DS:DSEG</a:t>
            </a:r>
            <a:endParaRPr lang="en-US" altLang="zh-CN" sz="2400" dirty="0"/>
          </a:p>
          <a:p>
            <a:pPr marL="0" indent="0">
              <a:lnSpc>
                <a:spcPct val="120000"/>
              </a:lnSpc>
              <a:buNone/>
            </a:pPr>
            <a:r>
              <a:rPr lang="en-US" altLang="zh-CN" sz="2400" dirty="0"/>
              <a:t>START: MOV AX</a:t>
            </a:r>
            <a:r>
              <a:rPr lang="zh-CN" altLang="en-US" sz="2400" dirty="0"/>
              <a:t>，</a:t>
            </a:r>
            <a:r>
              <a:rPr lang="en-US" altLang="zh-CN" sz="2400" dirty="0"/>
              <a:t>DSEG</a:t>
            </a:r>
            <a:endParaRPr lang="zh-CN" altLang="en-US" sz="2400" dirty="0"/>
          </a:p>
        </p:txBody>
      </p:sp>
      <p:sp>
        <p:nvSpPr>
          <p:cNvPr id="4" name="内容占位符 2"/>
          <p:cNvSpPr txBox="1"/>
          <p:nvPr/>
        </p:nvSpPr>
        <p:spPr>
          <a:xfrm>
            <a:off x="5900057" y="2506662"/>
            <a:ext cx="4217126"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2400" b="0" i="0" u="none" strike="noStrike" baseline="0" dirty="0">
                <a:solidFill>
                  <a:srgbClr val="000000"/>
                </a:solidFill>
                <a:latin typeface="楷体" panose="02010609060101010101" pitchFamily="49" charset="-122"/>
                <a:ea typeface="楷体" panose="02010609060101010101" pitchFamily="49" charset="-122"/>
              </a:rPr>
              <a:t>MOV DS</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楷体" panose="02010609060101010101" pitchFamily="49" charset="-122"/>
                <a:ea typeface="楷体" panose="02010609060101010101" pitchFamily="49" charset="-122"/>
              </a:rPr>
              <a:t>AX</a:t>
            </a:r>
            <a:r>
              <a:rPr lang="zh-CN" altLang="en-US" sz="2400" b="0" i="0" u="none" strike="noStrike" baseline="0" dirty="0">
                <a:solidFill>
                  <a:srgbClr val="000000"/>
                </a:solidFill>
                <a:latin typeface="楷体" panose="02010609060101010101" pitchFamily="49" charset="-122"/>
                <a:ea typeface="楷体" panose="02010609060101010101" pitchFamily="49" charset="-122"/>
              </a:rPr>
              <a:t>；装入</a:t>
            </a:r>
            <a:r>
              <a:rPr lang="en-US" altLang="zh-CN" sz="2400" b="0" i="0" u="none" strike="noStrike" baseline="0" dirty="0">
                <a:solidFill>
                  <a:srgbClr val="000000"/>
                </a:solidFill>
                <a:latin typeface="楷体" panose="02010609060101010101" pitchFamily="49" charset="-122"/>
                <a:ea typeface="楷体" panose="02010609060101010101" pitchFamily="49" charset="-122"/>
              </a:rPr>
              <a:t>DS</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初值</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pPr marL="0" indent="0">
              <a:lnSpc>
                <a:spcPct val="100000"/>
              </a:lnSpc>
              <a:buNone/>
            </a:pPr>
            <a:r>
              <a:rPr lang="en-US" altLang="zh-CN" sz="2400" b="0" i="0" u="none" strike="noStrike" baseline="0" dirty="0">
                <a:solidFill>
                  <a:srgbClr val="000000"/>
                </a:solidFill>
                <a:latin typeface="楷体" panose="02010609060101010101" pitchFamily="49" charset="-122"/>
                <a:ea typeface="楷体" panose="02010609060101010101" pitchFamily="49" charset="-122"/>
              </a:rPr>
              <a:t>MOV AL</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楷体" panose="02010609060101010101" pitchFamily="49" charset="-122"/>
                <a:ea typeface="楷体" panose="02010609060101010101" pitchFamily="49" charset="-122"/>
              </a:rPr>
              <a:t>DATA1</a:t>
            </a:r>
            <a:r>
              <a:rPr lang="zh-CN" altLang="en-US" sz="2400" b="0" i="0" u="none" strike="noStrike" baseline="0" dirty="0">
                <a:solidFill>
                  <a:srgbClr val="000000"/>
                </a:solidFill>
                <a:latin typeface="楷体" panose="02010609060101010101" pitchFamily="49" charset="-122"/>
                <a:ea typeface="楷体" panose="02010609060101010101" pitchFamily="49" charset="-122"/>
              </a:rPr>
              <a:t>；被加数</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pPr marL="0" indent="0">
              <a:lnSpc>
                <a:spcPct val="100000"/>
              </a:lnSpc>
              <a:buNone/>
            </a:pPr>
            <a:r>
              <a:rPr lang="en-US" altLang="zh-CN" sz="2400" b="0" i="0" u="none" strike="noStrike" baseline="0" dirty="0">
                <a:solidFill>
                  <a:srgbClr val="000000"/>
                </a:solidFill>
                <a:latin typeface="楷体" panose="02010609060101010101" pitchFamily="49" charset="-122"/>
                <a:ea typeface="楷体" panose="02010609060101010101" pitchFamily="49" charset="-122"/>
              </a:rPr>
              <a:t>ADD AL</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楷体" panose="02010609060101010101" pitchFamily="49" charset="-122"/>
                <a:ea typeface="楷体" panose="02010609060101010101" pitchFamily="49" charset="-122"/>
              </a:rPr>
              <a:t>12H</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pPr marL="0" indent="0">
              <a:lnSpc>
                <a:spcPct val="100000"/>
              </a:lnSpc>
              <a:buNone/>
            </a:pPr>
            <a:r>
              <a:rPr lang="en-US" altLang="zh-CN" sz="2400" b="0" i="0" u="none" strike="noStrike" baseline="0" dirty="0">
                <a:solidFill>
                  <a:srgbClr val="000000"/>
                </a:solidFill>
                <a:latin typeface="楷体" panose="02010609060101010101" pitchFamily="49" charset="-122"/>
                <a:ea typeface="楷体" panose="02010609060101010101" pitchFamily="49" charset="-122"/>
              </a:rPr>
              <a:t>MOV SUM</a:t>
            </a:r>
            <a:r>
              <a:rPr lang="zh-CN" altLang="en-US" sz="2400" b="0" i="0" u="none" strike="noStrike" baseline="0" dirty="0">
                <a:solidFill>
                  <a:srgbClr val="000000"/>
                </a:solidFill>
                <a:latin typeface="楷体" panose="02010609060101010101" pitchFamily="49" charset="-122"/>
                <a:ea typeface="楷体" panose="02010609060101010101" pitchFamily="49" charset="-122"/>
              </a:rPr>
              <a:t>，</a:t>
            </a:r>
            <a:r>
              <a:rPr lang="en-US" altLang="zh-CN" sz="2400" b="0" i="0" u="none" strike="noStrike" baseline="0" dirty="0">
                <a:solidFill>
                  <a:srgbClr val="000000"/>
                </a:solidFill>
                <a:latin typeface="楷体" panose="02010609060101010101" pitchFamily="49" charset="-122"/>
                <a:ea typeface="楷体" panose="02010609060101010101" pitchFamily="49" charset="-122"/>
              </a:rPr>
              <a:t>AL</a:t>
            </a:r>
            <a:r>
              <a:rPr lang="zh-CN" altLang="en-US" sz="2400" b="0" i="0" u="none" strike="noStrike" baseline="0" dirty="0">
                <a:solidFill>
                  <a:srgbClr val="000000"/>
                </a:solidFill>
                <a:latin typeface="楷体" panose="02010609060101010101" pitchFamily="49" charset="-122"/>
                <a:ea typeface="楷体" panose="02010609060101010101" pitchFamily="49" charset="-122"/>
              </a:rPr>
              <a:t>；和送</a:t>
            </a:r>
            <a:r>
              <a:rPr lang="en-US" altLang="zh-CN" sz="2400" b="0" i="0" u="none" strike="noStrike" baseline="0" dirty="0">
                <a:solidFill>
                  <a:srgbClr val="000000"/>
                </a:solidFill>
                <a:latin typeface="楷体" panose="02010609060101010101" pitchFamily="49" charset="-122"/>
                <a:ea typeface="楷体" panose="02010609060101010101" pitchFamily="49" charset="-122"/>
              </a:rPr>
              <a:t>SUM</a:t>
            </a:r>
            <a:endParaRPr lang="en-US" altLang="zh-CN" sz="2400" b="0" i="0" u="none" strike="noStrike" baseline="0" dirty="0">
              <a:solidFill>
                <a:srgbClr val="000000"/>
              </a:solidFill>
              <a:latin typeface="楷体" panose="02010609060101010101" pitchFamily="49" charset="-122"/>
              <a:ea typeface="楷体" panose="02010609060101010101" pitchFamily="49" charset="-122"/>
            </a:endParaRPr>
          </a:p>
          <a:p>
            <a:pPr marL="0" indent="0">
              <a:lnSpc>
                <a:spcPct val="100000"/>
              </a:lnSpc>
              <a:buNone/>
            </a:pPr>
            <a:r>
              <a:rPr lang="en-US" altLang="zh-CN" sz="2400" b="0" i="0" u="none" strike="noStrike" baseline="0" dirty="0">
                <a:solidFill>
                  <a:srgbClr val="000000"/>
                </a:solidFill>
                <a:latin typeface="楷体" panose="02010609060101010101" pitchFamily="49" charset="-122"/>
                <a:ea typeface="楷体" panose="02010609060101010101" pitchFamily="49" charset="-122"/>
              </a:rPr>
              <a:t>HLT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；暂停指令</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pPr marL="0" indent="0">
              <a:lnSpc>
                <a:spcPct val="100000"/>
              </a:lnSpc>
              <a:buNone/>
            </a:pPr>
            <a:r>
              <a:rPr lang="en-US" altLang="zh-CN" sz="2400" b="0" i="0" u="none" strike="noStrike" baseline="0" dirty="0">
                <a:solidFill>
                  <a:srgbClr val="000000"/>
                </a:solidFill>
                <a:latin typeface="楷体" panose="02010609060101010101" pitchFamily="49" charset="-122"/>
                <a:ea typeface="楷体" panose="02010609060101010101" pitchFamily="49" charset="-122"/>
              </a:rPr>
              <a:t>CSEG ENDS</a:t>
            </a:r>
            <a:r>
              <a:rPr lang="zh-CN" altLang="en-US" sz="2400" b="0" i="0" u="none" strike="noStrike" baseline="0" dirty="0">
                <a:solidFill>
                  <a:srgbClr val="000000"/>
                </a:solidFill>
                <a:latin typeface="楷体" panose="02010609060101010101" pitchFamily="49" charset="-122"/>
                <a:ea typeface="楷体" panose="02010609060101010101" pitchFamily="49" charset="-122"/>
              </a:rPr>
              <a:t>；代码段结束</a:t>
            </a:r>
            <a:endParaRPr lang="zh-CN" altLang="en-US" sz="2400" b="0" i="0" u="none" strike="noStrike" baseline="0" dirty="0">
              <a:solidFill>
                <a:srgbClr val="000000"/>
              </a:solidFill>
              <a:latin typeface="楷体" panose="02010609060101010101" pitchFamily="49" charset="-122"/>
              <a:ea typeface="楷体" panose="02010609060101010101" pitchFamily="49" charset="-122"/>
            </a:endParaRPr>
          </a:p>
          <a:p>
            <a:pPr marL="0" indent="0">
              <a:lnSpc>
                <a:spcPct val="100000"/>
              </a:lnSpc>
              <a:buNone/>
            </a:pPr>
            <a:r>
              <a:rPr lang="en-US" altLang="zh-CN" sz="2400" b="0" i="0" u="none" strike="noStrike" baseline="0" dirty="0">
                <a:solidFill>
                  <a:srgbClr val="000000"/>
                </a:solidFill>
                <a:latin typeface="楷体" panose="02010609060101010101" pitchFamily="49" charset="-122"/>
                <a:ea typeface="楷体" panose="02010609060101010101" pitchFamily="49" charset="-122"/>
              </a:rPr>
              <a:t>END START</a:t>
            </a:r>
            <a:r>
              <a:rPr lang="zh-CN" altLang="en-US" sz="2400" b="0" i="0" u="none" strike="noStrike" baseline="0" dirty="0">
                <a:solidFill>
                  <a:srgbClr val="000000"/>
                </a:solidFill>
                <a:latin typeface="楷体" panose="02010609060101010101" pitchFamily="49" charset="-122"/>
                <a:ea typeface="楷体" panose="02010609060101010101" pitchFamily="49" charset="-122"/>
              </a:rPr>
              <a:t>；源程序结束</a:t>
            </a:r>
            <a:endParaRPr lang="zh-CN"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伪指令</a:t>
            </a:r>
            <a:endParaRPr lang="zh-CN" altLang="en-US" dirty="0"/>
          </a:p>
        </p:txBody>
      </p:sp>
      <p:sp>
        <p:nvSpPr>
          <p:cNvPr id="3" name="内容占位符 2"/>
          <p:cNvSpPr>
            <a:spLocks noGrp="1"/>
          </p:cNvSpPr>
          <p:nvPr>
            <p:ph idx="1"/>
          </p:nvPr>
        </p:nvSpPr>
        <p:spPr/>
        <p:txBody>
          <a:bodyPr>
            <a:normAutofit lnSpcReduction="10000"/>
          </a:bodyPr>
          <a:lstStyle/>
          <a:p>
            <a:pPr>
              <a:lnSpc>
                <a:spcPct val="110000"/>
              </a:lnSpc>
            </a:pPr>
            <a:r>
              <a:rPr lang="zh-CN" altLang="en-US" dirty="0"/>
              <a:t>伪指令是给汇编程序的控制命令，在汇编过程中由汇编程序进行处理。</a:t>
            </a:r>
            <a:endParaRPr lang="zh-CN" altLang="en-US" dirty="0"/>
          </a:p>
          <a:p>
            <a:pPr>
              <a:lnSpc>
                <a:spcPct val="110000"/>
              </a:lnSpc>
            </a:pPr>
            <a:r>
              <a:rPr lang="zh-CN" altLang="en-US" dirty="0"/>
              <a:t>翻译成目标程序后，这些伪指令就不存在了。</a:t>
            </a:r>
            <a:endParaRPr lang="zh-CN" altLang="en-US" dirty="0"/>
          </a:p>
          <a:p>
            <a:pPr>
              <a:lnSpc>
                <a:spcPct val="110000"/>
              </a:lnSpc>
            </a:pPr>
            <a:r>
              <a:rPr lang="zh-CN" altLang="en-US" dirty="0"/>
              <a:t>包括：</a:t>
            </a:r>
            <a:endParaRPr lang="en-US" altLang="zh-CN" dirty="0"/>
          </a:p>
          <a:p>
            <a:pPr lvl="1">
              <a:lnSpc>
                <a:spcPct val="110000"/>
              </a:lnSpc>
            </a:pPr>
            <a:r>
              <a:rPr lang="zh-CN" altLang="en-US" dirty="0"/>
              <a:t>符号定义伪指令</a:t>
            </a:r>
            <a:endParaRPr lang="zh-CN" altLang="en-US" dirty="0"/>
          </a:p>
          <a:p>
            <a:pPr lvl="1">
              <a:lnSpc>
                <a:spcPct val="110000"/>
              </a:lnSpc>
            </a:pPr>
            <a:r>
              <a:rPr lang="zh-CN" altLang="en-US" dirty="0"/>
              <a:t>数据定义伪指令</a:t>
            </a:r>
            <a:endParaRPr lang="zh-CN" altLang="en-US" dirty="0"/>
          </a:p>
          <a:p>
            <a:pPr lvl="1">
              <a:lnSpc>
                <a:spcPct val="110000"/>
              </a:lnSpc>
            </a:pPr>
            <a:r>
              <a:rPr lang="zh-CN" altLang="en-US" dirty="0"/>
              <a:t>段定义伪指令</a:t>
            </a:r>
            <a:endParaRPr lang="zh-CN" altLang="en-US" dirty="0"/>
          </a:p>
          <a:p>
            <a:pPr lvl="1">
              <a:lnSpc>
                <a:spcPct val="110000"/>
              </a:lnSpc>
            </a:pPr>
            <a:r>
              <a:rPr lang="zh-CN" altLang="en-US" dirty="0"/>
              <a:t>过程定义伪指令</a:t>
            </a:r>
            <a:endParaRPr lang="zh-CN" altLang="en-US" dirty="0"/>
          </a:p>
          <a:p>
            <a:pPr lvl="1">
              <a:lnSpc>
                <a:spcPct val="110000"/>
              </a:lnSpc>
            </a:pPr>
            <a:r>
              <a:rPr lang="zh-CN" altLang="en-US" dirty="0"/>
              <a:t>源程序结束伪指令</a:t>
            </a: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符号定义伪指令</a:t>
            </a:r>
            <a:endParaRPr lang="zh-CN" altLang="en-US" dirty="0"/>
          </a:p>
        </p:txBody>
      </p:sp>
      <p:sp>
        <p:nvSpPr>
          <p:cNvPr id="3" name="内容占位符 2"/>
          <p:cNvSpPr>
            <a:spLocks noGrp="1"/>
          </p:cNvSpPr>
          <p:nvPr>
            <p:ph idx="1"/>
          </p:nvPr>
        </p:nvSpPr>
        <p:spPr/>
        <p:txBody>
          <a:bodyPr>
            <a:normAutofit/>
          </a:bodyPr>
          <a:lstStyle/>
          <a:p>
            <a:r>
              <a:rPr lang="zh-CN" altLang="en-US" dirty="0"/>
              <a:t>符号定义伪指令用来给一个符号重新命名，或定义新的类型属性等。</a:t>
            </a:r>
            <a:endParaRPr lang="zh-CN" altLang="en-US" dirty="0"/>
          </a:p>
          <a:p>
            <a:r>
              <a:rPr lang="zh-CN" altLang="en-US" dirty="0"/>
              <a:t>这些符号包括汇编语言中所用的变量名、标号名、过程名、寄存器名以及指令的助记符等。</a:t>
            </a:r>
            <a:endParaRPr lang="zh-CN" altLang="en-US" dirty="0"/>
          </a:p>
          <a:p>
            <a:r>
              <a:rPr lang="zh-CN" altLang="en-US" dirty="0"/>
              <a:t>符号定义伪指令有：</a:t>
            </a:r>
            <a:endParaRPr lang="en-US" altLang="zh-CN" dirty="0"/>
          </a:p>
          <a:p>
            <a:pPr lvl="1"/>
            <a:r>
              <a:rPr lang="zh-CN" altLang="en-US" dirty="0"/>
              <a:t>等价伪指令</a:t>
            </a:r>
            <a:endParaRPr lang="en-US" altLang="zh-CN" dirty="0"/>
          </a:p>
          <a:p>
            <a:pPr lvl="1"/>
            <a:r>
              <a:rPr lang="zh-CN" altLang="en-US" dirty="0"/>
              <a:t>等号伪指令</a:t>
            </a:r>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等价伪指令</a:t>
            </a:r>
            <a:endParaRPr lang="zh-CN" altLang="en-US" dirty="0"/>
          </a:p>
        </p:txBody>
      </p:sp>
      <p:sp>
        <p:nvSpPr>
          <p:cNvPr id="3" name="内容占位符 2"/>
          <p:cNvSpPr>
            <a:spLocks noGrp="1"/>
          </p:cNvSpPr>
          <p:nvPr>
            <p:ph idx="1"/>
          </p:nvPr>
        </p:nvSpPr>
        <p:spPr/>
        <p:txBody>
          <a:bodyPr>
            <a:normAutofit lnSpcReduction="10000"/>
          </a:bodyPr>
          <a:lstStyle/>
          <a:p>
            <a:pPr algn="l"/>
            <a:endParaRPr lang="zh-CN" altLang="en-US" sz="1800" b="0" i="0" u="none" strike="noStrike" baseline="0" dirty="0">
              <a:solidFill>
                <a:srgbClr val="000000"/>
              </a:solidFill>
              <a:latin typeface="Wingdings" panose="05000000000000000000" pitchFamily="2" charset="2"/>
            </a:endParaRPr>
          </a:p>
          <a:p>
            <a:pPr>
              <a:lnSpc>
                <a:spcPct val="100000"/>
              </a:lnSpc>
            </a:pPr>
            <a:r>
              <a:rPr lang="zh-CN" altLang="zh-CN" b="0" dirty="0">
                <a:latin typeface="Times New Roman" panose="02020603050405020304" pitchFamily="18" charset="0"/>
                <a:ea typeface="楷体_GB2312" pitchFamily="1" charset="-122"/>
              </a:rPr>
              <a:t>格式：符号名   EQU  表达式</a:t>
            </a:r>
            <a:endParaRPr lang="zh-CN" altLang="zh-CN" b="0" dirty="0">
              <a:latin typeface="Times New Roman" panose="02020603050405020304" pitchFamily="18" charset="0"/>
              <a:ea typeface="楷体_GB2312" pitchFamily="1" charset="-122"/>
            </a:endParaRPr>
          </a:p>
          <a:p>
            <a:pPr>
              <a:lnSpc>
                <a:spcPct val="100000"/>
              </a:lnSpc>
            </a:pPr>
            <a:r>
              <a:rPr lang="zh-CN" altLang="zh-CN" b="0" dirty="0">
                <a:latin typeface="Times New Roman" panose="02020603050405020304" pitchFamily="18" charset="0"/>
                <a:ea typeface="楷体_GB2312" pitchFamily="1" charset="-122"/>
              </a:rPr>
              <a:t>例：  A  EQU   5*3+2</a:t>
            </a:r>
            <a:endParaRPr lang="zh-CN" altLang="zh-CN" b="0" dirty="0">
              <a:latin typeface="Times New Roman" panose="02020603050405020304" pitchFamily="18" charset="0"/>
              <a:ea typeface="楷体_GB2312" pitchFamily="1" charset="-122"/>
            </a:endParaRPr>
          </a:p>
          <a:p>
            <a:pPr>
              <a:lnSpc>
                <a:spcPct val="100000"/>
              </a:lnSpc>
            </a:pPr>
            <a:r>
              <a:rPr lang="zh-CN" altLang="zh-CN" b="0" dirty="0">
                <a:latin typeface="Times New Roman" panose="02020603050405020304" pitchFamily="18" charset="0"/>
                <a:ea typeface="楷体_GB2312" pitchFamily="1" charset="-122"/>
              </a:rPr>
              <a:t>利用EQU伪指令，可以用一个名字代表一个数值。如该数值在程序中多次被引用，这种方法可以使程序更加简洁，并且将来修改数值时，只要修改一处，而不必修改多处，提高了修改的效率。</a:t>
            </a:r>
            <a:endParaRPr lang="zh-CN" altLang="zh-CN" b="0" dirty="0">
              <a:latin typeface="Times New Roman" panose="02020603050405020304" pitchFamily="18" charset="0"/>
              <a:ea typeface="楷体_GB2312" pitchFamily="1" charset="-122"/>
            </a:endParaRPr>
          </a:p>
          <a:p>
            <a:pPr>
              <a:lnSpc>
                <a:spcPct val="100000"/>
              </a:lnSpc>
            </a:pPr>
            <a:r>
              <a:rPr lang="zh-CN" altLang="zh-CN" b="0" dirty="0">
                <a:latin typeface="Times New Roman" panose="02020603050405020304" pitchFamily="18" charset="0"/>
                <a:ea typeface="楷体_GB2312" pitchFamily="1" charset="-122"/>
              </a:rPr>
              <a:t>利用EQU伪指令，也可以用一个较短的名字来代表一个较长的名字。</a:t>
            </a:r>
            <a:endParaRPr lang="zh-CN" altLang="zh-CN" b="0" dirty="0">
              <a:latin typeface="Times New Roman" panose="02020603050405020304" pitchFamily="18" charset="0"/>
              <a:ea typeface="楷体_GB2312" pitchFamily="1" charset="-122"/>
            </a:endParaRPr>
          </a:p>
          <a:p>
            <a:pPr>
              <a:lnSpc>
                <a:spcPct val="100000"/>
              </a:lnSpc>
            </a:pPr>
            <a:r>
              <a:rPr lang="zh-CN" altLang="zh-CN" b="0" dirty="0">
                <a:solidFill>
                  <a:schemeClr val="hlink"/>
                </a:solidFill>
                <a:latin typeface="Times New Roman" panose="02020603050405020304" pitchFamily="18" charset="0"/>
              </a:rPr>
              <a:t>EQU伪操作不能对同一个符号重复定义</a:t>
            </a:r>
            <a:r>
              <a:rPr lang="zh-CN" altLang="zh-CN" b="0" dirty="0">
                <a:latin typeface="Times New Roman" panose="02020603050405020304" pitchFamily="18" charset="0"/>
                <a:ea typeface="楷体_GB2312" pitchFamily="1" charset="-122"/>
              </a:rPr>
              <a:t>。</a:t>
            </a:r>
            <a:endParaRPr lang="zh-CN" altLang="zh-CN" b="0" dirty="0">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等号伪指令</a:t>
            </a:r>
            <a:endParaRPr lang="zh-CN" altLang="en-US" dirty="0"/>
          </a:p>
        </p:txBody>
      </p:sp>
      <p:sp>
        <p:nvSpPr>
          <p:cNvPr id="3" name="内容占位符 2"/>
          <p:cNvSpPr>
            <a:spLocks noGrp="1"/>
          </p:cNvSpPr>
          <p:nvPr>
            <p:ph idx="1"/>
          </p:nvPr>
        </p:nvSpPr>
        <p:spPr/>
        <p:txBody>
          <a:bodyPr/>
          <a:lstStyle/>
          <a:p>
            <a:pPr>
              <a:lnSpc>
                <a:spcPct val="90000"/>
              </a:lnSpc>
            </a:pPr>
            <a:r>
              <a:rPr lang="zh-CN" altLang="en-US" b="0" dirty="0">
                <a:latin typeface="Times New Roman" panose="02020603050405020304" pitchFamily="18" charset="0"/>
                <a:ea typeface="楷体_GB2312" pitchFamily="1" charset="-122"/>
              </a:rPr>
              <a:t>格式：符号名   =  表达式</a:t>
            </a:r>
            <a:endParaRPr lang="zh-CN" altLang="en-US" b="0" dirty="0">
              <a:latin typeface="Times New Roman" panose="02020603050405020304" pitchFamily="18" charset="0"/>
              <a:ea typeface="楷体_GB2312" pitchFamily="1" charset="-122"/>
            </a:endParaRPr>
          </a:p>
          <a:p>
            <a:pPr>
              <a:lnSpc>
                <a:spcPct val="90000"/>
              </a:lnSpc>
            </a:pPr>
            <a:r>
              <a:rPr lang="zh-CN" altLang="en-US" b="0" dirty="0">
                <a:latin typeface="Times New Roman" panose="02020603050405020304" pitchFamily="18" charset="0"/>
                <a:ea typeface="楷体_GB2312" pitchFamily="1" charset="-122"/>
              </a:rPr>
              <a:t>等号伪指令主要用来定义符号常量。</a:t>
            </a:r>
            <a:endParaRPr lang="zh-CN" altLang="en-US" b="0" dirty="0">
              <a:latin typeface="Times New Roman" panose="02020603050405020304" pitchFamily="18" charset="0"/>
              <a:ea typeface="楷体_GB2312" pitchFamily="1" charset="-122"/>
            </a:endParaRPr>
          </a:p>
          <a:p>
            <a:pPr>
              <a:lnSpc>
                <a:spcPct val="90000"/>
              </a:lnSpc>
            </a:pPr>
            <a:r>
              <a:rPr lang="zh-CN" altLang="en-US" b="0" dirty="0">
                <a:latin typeface="Times New Roman" panose="02020603050405020304" pitchFamily="18" charset="0"/>
                <a:ea typeface="楷体_GB2312" pitchFamily="1" charset="-122"/>
              </a:rPr>
              <a:t>其功能与EQU类似，而</a:t>
            </a:r>
            <a:r>
              <a:rPr lang="zh-CN" altLang="en-US" b="0" dirty="0">
                <a:solidFill>
                  <a:schemeClr val="hlink"/>
                </a:solidFill>
                <a:latin typeface="Times New Roman" panose="02020603050405020304" pitchFamily="18" charset="0"/>
              </a:rPr>
              <a:t>与EQU的唯一区别是它能对符号进行再定义</a:t>
            </a:r>
            <a:r>
              <a:rPr lang="zh-CN" altLang="en-US" b="0" dirty="0">
                <a:latin typeface="Times New Roman" panose="02020603050405020304" pitchFamily="18" charset="0"/>
                <a:ea typeface="楷体_GB2312" pitchFamily="1" charset="-122"/>
              </a:rPr>
              <a:t>。</a:t>
            </a:r>
            <a:endParaRPr lang="zh-CN" altLang="en-US" b="0" dirty="0">
              <a:latin typeface="Times New Roman" panose="02020603050405020304" pitchFamily="18" charset="0"/>
              <a:ea typeface="楷体_GB2312" pitchFamily="1" charset="-122"/>
            </a:endParaRPr>
          </a:p>
          <a:p>
            <a:pPr>
              <a:lnSpc>
                <a:spcPct val="90000"/>
              </a:lnSpc>
            </a:pPr>
            <a:r>
              <a:rPr lang="zh-CN" altLang="en-US" b="0" dirty="0">
                <a:latin typeface="楷体_GB2312" pitchFamily="1" charset="-122"/>
                <a:ea typeface="楷体_GB2312" pitchFamily="1" charset="-122"/>
              </a:rPr>
              <a:t>例如：  COUNT   =  100</a:t>
            </a:r>
            <a:endParaRPr lang="zh-CN" altLang="en-US" b="0" dirty="0">
              <a:latin typeface="楷体_GB2312" pitchFamily="1" charset="-122"/>
              <a:ea typeface="楷体_GB2312" pitchFamily="1" charset="-122"/>
            </a:endParaRPr>
          </a:p>
          <a:p>
            <a:pPr>
              <a:lnSpc>
                <a:spcPct val="90000"/>
              </a:lnSpc>
              <a:buFont typeface="Wingdings" panose="05000000000000000000" pitchFamily="2" charset="2"/>
              <a:buNone/>
            </a:pPr>
            <a:r>
              <a:rPr lang="zh-CN" altLang="en-US" b="0" dirty="0">
                <a:latin typeface="楷体_GB2312" pitchFamily="1" charset="-122"/>
                <a:ea typeface="楷体_GB2312" pitchFamily="1" charset="-122"/>
              </a:rPr>
              <a:t>                MOV  CL，COUNT   ；(CL)=100</a:t>
            </a:r>
            <a:endParaRPr lang="zh-CN" altLang="en-US" b="0" dirty="0">
              <a:latin typeface="楷体_GB2312" pitchFamily="1" charset="-122"/>
              <a:ea typeface="楷体_GB2312" pitchFamily="1" charset="-122"/>
            </a:endParaRPr>
          </a:p>
          <a:p>
            <a:pPr>
              <a:lnSpc>
                <a:spcPct val="90000"/>
              </a:lnSpc>
              <a:buFont typeface="Wingdings" panose="05000000000000000000" pitchFamily="2" charset="2"/>
              <a:buNone/>
            </a:pPr>
            <a:r>
              <a:rPr lang="zh-CN" altLang="en-US" b="0" dirty="0">
                <a:latin typeface="楷体_GB2312" pitchFamily="1" charset="-122"/>
                <a:ea typeface="楷体_GB2312" pitchFamily="1" charset="-122"/>
              </a:rPr>
              <a:t>                COUNT   =  200</a:t>
            </a:r>
            <a:endParaRPr lang="zh-CN" altLang="en-US" b="0" dirty="0">
              <a:latin typeface="楷体_GB2312" pitchFamily="1" charset="-122"/>
              <a:ea typeface="楷体_GB2312" pitchFamily="1" charset="-122"/>
            </a:endParaRPr>
          </a:p>
          <a:p>
            <a:pPr>
              <a:lnSpc>
                <a:spcPct val="90000"/>
              </a:lnSpc>
              <a:buFont typeface="Wingdings" panose="05000000000000000000" pitchFamily="2" charset="2"/>
              <a:buNone/>
            </a:pPr>
            <a:r>
              <a:rPr lang="zh-CN" altLang="en-US" b="0" dirty="0">
                <a:latin typeface="楷体_GB2312" pitchFamily="1" charset="-122"/>
                <a:ea typeface="楷体_GB2312" pitchFamily="1" charset="-122"/>
              </a:rPr>
              <a:t>                MOV  CL，COUNT   ；(CL)=200</a:t>
            </a:r>
            <a:endParaRPr lang="zh-CN" altLang="en-US" b="0" dirty="0">
              <a:latin typeface="楷体_GB2312" pitchFamily="1" charset="-122"/>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数据定义伪指令</a:t>
            </a:r>
            <a:endParaRPr lang="zh-CN" altLang="en-US" dirty="0"/>
          </a:p>
        </p:txBody>
      </p:sp>
      <p:sp>
        <p:nvSpPr>
          <p:cNvPr id="3" name="内容占位符 2"/>
          <p:cNvSpPr>
            <a:spLocks noGrp="1"/>
          </p:cNvSpPr>
          <p:nvPr>
            <p:ph idx="1"/>
          </p:nvPr>
        </p:nvSpPr>
        <p:spPr/>
        <p:txBody>
          <a:bodyPr/>
          <a:lstStyle/>
          <a:p>
            <a:pPr marL="457200" indent="-457200"/>
            <a:r>
              <a:rPr lang="zh-CN" altLang="zh-CN" b="0" dirty="0">
                <a:latin typeface="Times New Roman" panose="02020603050405020304" pitchFamily="18" charset="0"/>
                <a:ea typeface="楷体_GB2312" pitchFamily="1" charset="-122"/>
              </a:rPr>
              <a:t>数据定义伪指令用来定义一个变量，为变量分配存储空间，赋初值等。</a:t>
            </a:r>
            <a:endParaRPr lang="zh-CN" altLang="zh-CN" b="0" dirty="0">
              <a:latin typeface="Times New Roman" panose="02020603050405020304" pitchFamily="18" charset="0"/>
              <a:ea typeface="楷体_GB2312" pitchFamily="1" charset="-122"/>
            </a:endParaRPr>
          </a:p>
          <a:p>
            <a:pPr marL="457200" indent="-457200"/>
            <a:r>
              <a:rPr lang="zh-CN" altLang="zh-CN" dirty="0">
                <a:latin typeface="Times New Roman" panose="02020603050405020304" pitchFamily="18" charset="0"/>
              </a:rPr>
              <a:t>格式：[变量名]  伪指令  表达式[，表达式]</a:t>
            </a:r>
            <a:endParaRPr lang="zh-CN" altLang="zh-CN" dirty="0">
              <a:latin typeface="Times New Roman" panose="02020603050405020304" pitchFamily="18" charset="0"/>
            </a:endParaRPr>
          </a:p>
          <a:p>
            <a:pPr marL="457200" indent="-457200"/>
            <a:r>
              <a:rPr lang="zh-CN" altLang="zh-CN" b="0" dirty="0">
                <a:latin typeface="Times New Roman" panose="02020603050405020304" pitchFamily="18" charset="0"/>
                <a:ea typeface="楷体_GB2312" pitchFamily="1" charset="-122"/>
              </a:rPr>
              <a:t>变量名字段为可选项，可有可无。</a:t>
            </a:r>
            <a:endParaRPr lang="zh-CN" altLang="zh-CN" b="0" dirty="0">
              <a:latin typeface="Times New Roman" panose="02020603050405020304" pitchFamily="18" charset="0"/>
              <a:ea typeface="楷体_GB2312" pitchFamily="1" charset="-122"/>
            </a:endParaRPr>
          </a:p>
          <a:p>
            <a:pPr marL="457200" indent="-457200"/>
            <a:r>
              <a:rPr lang="zh-CN" altLang="zh-CN" b="0" dirty="0">
                <a:latin typeface="Times New Roman" panose="02020603050405020304" pitchFamily="18" charset="0"/>
                <a:ea typeface="楷体_GB2312" pitchFamily="1" charset="-122"/>
              </a:rPr>
              <a:t>表达式可以不止一个，但相互之间应以逗号分开。</a:t>
            </a:r>
            <a:endParaRPr lang="zh-CN" altLang="zh-CN" b="0" dirty="0">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dirty="0"/>
              <a:t>数据定义伪指令有五种，分别为：</a:t>
            </a:r>
            <a:endParaRPr lang="en-US" altLang="zh-CN" dirty="0"/>
          </a:p>
          <a:p>
            <a:pPr lvl="1"/>
            <a:r>
              <a:rPr lang="zh-CN" altLang="en-US" dirty="0"/>
              <a:t>用</a:t>
            </a:r>
            <a:r>
              <a:rPr lang="en-US" altLang="zh-CN" dirty="0"/>
              <a:t>DB</a:t>
            </a:r>
            <a:r>
              <a:rPr lang="zh-CN" altLang="en-US" dirty="0"/>
              <a:t>定义的变量类型为字节</a:t>
            </a:r>
            <a:r>
              <a:rPr lang="en-US" altLang="zh-CN" dirty="0"/>
              <a:t>(BYTE)</a:t>
            </a:r>
            <a:r>
              <a:rPr lang="zh-CN" altLang="en-US" dirty="0"/>
              <a:t>；</a:t>
            </a:r>
            <a:endParaRPr lang="zh-CN" altLang="en-US" dirty="0"/>
          </a:p>
          <a:p>
            <a:pPr lvl="1"/>
            <a:r>
              <a:rPr lang="zh-CN" altLang="en-US" dirty="0"/>
              <a:t>用</a:t>
            </a:r>
            <a:r>
              <a:rPr lang="en-US" altLang="zh-CN" dirty="0"/>
              <a:t>DW</a:t>
            </a:r>
            <a:r>
              <a:rPr lang="zh-CN" altLang="en-US" dirty="0"/>
              <a:t>定义的变量类型为字</a:t>
            </a:r>
            <a:r>
              <a:rPr lang="en-US" altLang="zh-CN" dirty="0"/>
              <a:t>(WORD)</a:t>
            </a:r>
            <a:r>
              <a:rPr lang="zh-CN" altLang="en-US" dirty="0"/>
              <a:t>；</a:t>
            </a:r>
            <a:endParaRPr lang="zh-CN" altLang="en-US" dirty="0"/>
          </a:p>
          <a:p>
            <a:pPr lvl="1"/>
            <a:r>
              <a:rPr lang="zh-CN" altLang="en-US" dirty="0"/>
              <a:t>用</a:t>
            </a:r>
            <a:r>
              <a:rPr lang="en-US" altLang="zh-CN" dirty="0"/>
              <a:t>DD</a:t>
            </a:r>
            <a:r>
              <a:rPr lang="zh-CN" altLang="en-US" dirty="0"/>
              <a:t>定义的变量类型为双字</a:t>
            </a:r>
            <a:r>
              <a:rPr lang="en-US" altLang="zh-CN" dirty="0"/>
              <a:t>(DWORD)</a:t>
            </a:r>
            <a:r>
              <a:rPr lang="zh-CN" altLang="en-US" dirty="0"/>
              <a:t>；</a:t>
            </a:r>
            <a:endParaRPr lang="zh-CN" altLang="en-US" dirty="0"/>
          </a:p>
          <a:p>
            <a:pPr lvl="1"/>
            <a:r>
              <a:rPr lang="zh-CN" altLang="en-US" dirty="0"/>
              <a:t>用</a:t>
            </a:r>
            <a:r>
              <a:rPr lang="en-US" altLang="zh-CN" dirty="0"/>
              <a:t>DQ</a:t>
            </a:r>
            <a:r>
              <a:rPr lang="zh-CN" altLang="en-US" dirty="0"/>
              <a:t>定义的变量类型为四字</a:t>
            </a:r>
            <a:r>
              <a:rPr lang="en-US" altLang="zh-CN" dirty="0"/>
              <a:t>(QWORD)</a:t>
            </a:r>
            <a:r>
              <a:rPr lang="zh-CN" altLang="en-US" dirty="0"/>
              <a:t>；</a:t>
            </a:r>
            <a:endParaRPr lang="zh-CN" altLang="en-US" dirty="0"/>
          </a:p>
          <a:p>
            <a:pPr lvl="1"/>
            <a:r>
              <a:rPr lang="zh-CN" altLang="en-US" dirty="0"/>
              <a:t>用</a:t>
            </a:r>
            <a:r>
              <a:rPr lang="en-US" altLang="zh-CN" dirty="0"/>
              <a:t>DT</a:t>
            </a:r>
            <a:r>
              <a:rPr lang="zh-CN" altLang="en-US" dirty="0"/>
              <a:t>定义的变量类型为</a:t>
            </a:r>
            <a:r>
              <a:rPr lang="en-US" altLang="zh-CN" dirty="0"/>
              <a:t>10</a:t>
            </a:r>
            <a:r>
              <a:rPr lang="zh-CN" altLang="en-US" dirty="0"/>
              <a:t>个字节</a:t>
            </a:r>
            <a:r>
              <a:rPr lang="en-US" altLang="zh-CN" dirty="0"/>
              <a:t>(TBYTE)</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数据定义伪指令</a:t>
            </a:r>
            <a:endParaRPr lang="zh-CN" altLang="en-US" dirty="0"/>
          </a:p>
        </p:txBody>
      </p:sp>
      <p:sp>
        <p:nvSpPr>
          <p:cNvPr id="3" name="内容占位符 2"/>
          <p:cNvSpPr>
            <a:spLocks noGrp="1"/>
          </p:cNvSpPr>
          <p:nvPr>
            <p:ph idx="1"/>
          </p:nvPr>
        </p:nvSpPr>
        <p:spPr/>
        <p:txBody>
          <a:bodyPr/>
          <a:lstStyle/>
          <a:p>
            <a:pPr>
              <a:lnSpc>
                <a:spcPct val="100000"/>
              </a:lnSpc>
              <a:buFont typeface="Wingdings" panose="05000000000000000000" pitchFamily="2" charset="2"/>
              <a:buNone/>
            </a:pPr>
            <a:r>
              <a:rPr lang="zh-CN" altLang="zh-CN" sz="2800" b="0" dirty="0">
                <a:latin typeface="楷体_GB2312" pitchFamily="1" charset="-122"/>
                <a:ea typeface="楷体_GB2312" pitchFamily="1" charset="-122"/>
              </a:rPr>
              <a:t>表达式可以是以下几种：</a:t>
            </a:r>
            <a:endParaRPr lang="zh-CN" altLang="zh-CN" sz="2800"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常量或常量表达式。</a:t>
            </a:r>
            <a:endParaRPr lang="zh-CN" altLang="zh-CN"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ASCII码字节或字节串。</a:t>
            </a:r>
            <a:endParaRPr lang="zh-CN" altLang="zh-CN"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问号“？”表示初值未确定，常用来预留存储空间。</a:t>
            </a:r>
            <a:endParaRPr lang="zh-CN" altLang="zh-CN" b="0" dirty="0">
              <a:latin typeface="楷体_GB2312" pitchFamily="1" charset="-122"/>
              <a:ea typeface="楷体_GB2312" pitchFamily="1" charset="-122"/>
            </a:endParaRPr>
          </a:p>
          <a:p>
            <a:pPr lvl="1"/>
            <a:r>
              <a:rPr lang="zh-CN" altLang="zh-CN" b="0" dirty="0">
                <a:latin typeface="楷体_GB2312" pitchFamily="1" charset="-122"/>
                <a:ea typeface="楷体_GB2312" pitchFamily="1" charset="-122"/>
              </a:rPr>
              <a:t>重复子句</a:t>
            </a:r>
            <a:r>
              <a:rPr lang="zh-CN" altLang="zh-CN" dirty="0">
                <a:solidFill>
                  <a:schemeClr val="hlink"/>
                </a:solidFill>
                <a:latin typeface="楷体_GB2312" pitchFamily="1" charset="-122"/>
                <a:ea typeface="楷体_GB2312" pitchFamily="1" charset="-122"/>
              </a:rPr>
              <a:t>DUP格式</a:t>
            </a:r>
            <a:r>
              <a:rPr lang="zh-CN" altLang="zh-CN" b="0" dirty="0">
                <a:latin typeface="楷体_GB2312" pitchFamily="1" charset="-122"/>
                <a:ea typeface="楷体_GB2312" pitchFamily="1" charset="-122"/>
              </a:rPr>
              <a:t>为：</a:t>
            </a:r>
            <a:r>
              <a:rPr lang="zh-CN" altLang="zh-CN" sz="2800" b="0" dirty="0">
                <a:latin typeface="楷体_GB2312" pitchFamily="1" charset="-122"/>
                <a:ea typeface="楷体_GB2312" pitchFamily="1" charset="-122"/>
              </a:rPr>
              <a:t>N   DUP  (表达式)</a:t>
            </a:r>
            <a:endParaRPr lang="zh-CN" altLang="zh-CN" sz="2800" b="0" dirty="0">
              <a:latin typeface="楷体_GB2312" pitchFamily="1" charset="-122"/>
              <a:ea typeface="楷体_GB2312" pitchFamily="1" charset="-122"/>
            </a:endParaRPr>
          </a:p>
          <a:p>
            <a:pPr>
              <a:lnSpc>
                <a:spcPct val="100000"/>
              </a:lnSpc>
              <a:buFont typeface="Wingdings" panose="05000000000000000000" pitchFamily="2" charset="2"/>
              <a:buNone/>
            </a:pPr>
            <a:r>
              <a:rPr lang="zh-CN" altLang="zh-CN" sz="2800" b="0" dirty="0">
                <a:latin typeface="楷体_GB2312" pitchFamily="1" charset="-122"/>
                <a:ea typeface="楷体_GB2312" pitchFamily="1" charset="-122"/>
              </a:rPr>
              <a:t>   </a:t>
            </a:r>
            <a:r>
              <a:rPr lang="en-US" altLang="zh-CN" sz="2800" b="0" dirty="0">
                <a:latin typeface="楷体_GB2312" pitchFamily="1" charset="-122"/>
                <a:ea typeface="楷体_GB2312" pitchFamily="1" charset="-122"/>
              </a:rPr>
              <a:t>   </a:t>
            </a:r>
            <a:r>
              <a:rPr lang="zh-CN" altLang="zh-CN" sz="2800" b="0" dirty="0">
                <a:latin typeface="楷体_GB2312" pitchFamily="1" charset="-122"/>
                <a:ea typeface="楷体_GB2312" pitchFamily="1" charset="-122"/>
              </a:rPr>
              <a:t> 其中N为重复次数，括号内的表达式为重复的内容。</a:t>
            </a:r>
            <a:endParaRPr lang="zh-CN" altLang="zh-CN" sz="2800" b="0" dirty="0">
              <a:latin typeface="楷体_GB2312" pitchFamily="1" charset="-122"/>
              <a:ea typeface="楷体_GB2312" pitchFamily="1" charset="-122"/>
            </a:endParaRPr>
          </a:p>
          <a:p>
            <a:pPr lvl="1"/>
            <a:r>
              <a:rPr lang="zh-CN" altLang="zh-CN" b="1" i="1" dirty="0">
                <a:latin typeface="楷体_GB2312" pitchFamily="1" charset="-122"/>
                <a:ea typeface="楷体_GB2312" pitchFamily="1" charset="-122"/>
              </a:rPr>
              <a:t>地址表达式。</a:t>
            </a:r>
            <a:r>
              <a:rPr lang="zh-CN" altLang="zh-CN" b="0" dirty="0">
                <a:latin typeface="楷体_GB2312" pitchFamily="1" charset="-122"/>
                <a:ea typeface="楷体_GB2312" pitchFamily="1" charset="-122"/>
              </a:rPr>
              <a:t>即用</a:t>
            </a:r>
            <a:r>
              <a:rPr lang="zh-CN" altLang="zh-CN" b="1" dirty="0">
                <a:solidFill>
                  <a:srgbClr val="FF0000"/>
                </a:solidFill>
                <a:latin typeface="楷体_GB2312" pitchFamily="1" charset="-122"/>
                <a:ea typeface="楷体_GB2312" pitchFamily="1" charset="-122"/>
              </a:rPr>
              <a:t>变量名</a:t>
            </a:r>
            <a:r>
              <a:rPr lang="zh-CN" altLang="zh-CN" b="0" dirty="0">
                <a:latin typeface="楷体_GB2312" pitchFamily="1" charset="-122"/>
                <a:ea typeface="楷体_GB2312" pitchFamily="1" charset="-122"/>
              </a:rPr>
              <a:t>来表示的</a:t>
            </a:r>
            <a:r>
              <a:rPr lang="zh-CN" altLang="zh-CN" b="0" dirty="0">
                <a:solidFill>
                  <a:srgbClr val="FF0000"/>
                </a:solidFill>
                <a:latin typeface="楷体_GB2312" pitchFamily="1" charset="-122"/>
                <a:ea typeface="楷体_GB2312" pitchFamily="1" charset="-122"/>
              </a:rPr>
              <a:t>变量地址</a:t>
            </a:r>
            <a:r>
              <a:rPr lang="zh-CN" altLang="zh-CN" b="0" dirty="0">
                <a:latin typeface="楷体_GB2312" pitchFamily="1" charset="-122"/>
                <a:ea typeface="楷体_GB2312" pitchFamily="1" charset="-122"/>
              </a:rPr>
              <a:t>。 </a:t>
            </a:r>
            <a:endParaRPr lang="zh-CN" altLang="zh-CN" b="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869932"/>
            <a:ext cx="10515600" cy="776288"/>
          </a:xfrm>
        </p:spPr>
        <p:txBody>
          <a:bodyPr/>
          <a:lstStyle/>
          <a:p>
            <a:r>
              <a:rPr lang="zh-CN" altLang="en-US" dirty="0"/>
              <a:t>例：定义一字节变量</a:t>
            </a:r>
            <a:r>
              <a:rPr lang="en-US" altLang="zh-CN" dirty="0"/>
              <a:t>X1</a:t>
            </a:r>
            <a:r>
              <a:rPr lang="zh-CN" altLang="en-US" dirty="0"/>
              <a:t>和字变量</a:t>
            </a:r>
            <a:r>
              <a:rPr lang="en-US" altLang="zh-CN" dirty="0"/>
              <a:t>BUF</a:t>
            </a:r>
            <a:r>
              <a:rPr lang="zh-CN" altLang="en-US" dirty="0"/>
              <a:t>。</a:t>
            </a:r>
            <a:endParaRPr lang="zh-CN" altLang="en-US" dirty="0"/>
          </a:p>
        </p:txBody>
      </p:sp>
      <p:sp>
        <p:nvSpPr>
          <p:cNvPr id="4" name="Rectangle 3"/>
          <p:cNvSpPr txBox="1">
            <a:spLocks noChangeArrowheads="1"/>
          </p:cNvSpPr>
          <p:nvPr/>
        </p:nvSpPr>
        <p:spPr>
          <a:xfrm>
            <a:off x="1598612" y="2957513"/>
            <a:ext cx="4716462" cy="1203325"/>
          </a:xfrm>
          <a:prstGeom prst="rect">
            <a:avLst/>
          </a:prstGeom>
          <a:noFill/>
          <a:ln>
            <a:solidFill>
              <a:srgbClr val="008000"/>
            </a:solidFill>
            <a:miter lim="800000"/>
          </a:ln>
        </p:spPr>
        <p:txBody>
          <a:bodyPr vert="horz" lIns="91440" tIns="45720" rIns="91440" bIns="45720" rtlCol="0">
            <a:normAutofit fontScale="85000" lnSpcReduction="20000"/>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zh-CN">
                <a:latin typeface="Times New Roman" panose="02020603050405020304" pitchFamily="18" charset="0"/>
              </a:rPr>
              <a:t>X1     </a:t>
            </a:r>
            <a:r>
              <a:rPr lang="zh-CN" altLang="zh-CN">
                <a:solidFill>
                  <a:schemeClr val="hlink"/>
                </a:solidFill>
                <a:latin typeface="Times New Roman" panose="02020603050405020304" pitchFamily="18" charset="0"/>
              </a:rPr>
              <a:t>DB</a:t>
            </a:r>
            <a:r>
              <a:rPr lang="zh-CN" altLang="zh-CN">
                <a:latin typeface="Times New Roman" panose="02020603050405020304" pitchFamily="18" charset="0"/>
              </a:rPr>
              <a:t>  08H</a:t>
            </a:r>
            <a:endParaRPr lang="zh-CN" altLang="zh-CN">
              <a:latin typeface="Times New Roman" panose="02020603050405020304" pitchFamily="18" charset="0"/>
            </a:endParaRPr>
          </a:p>
          <a:p>
            <a:pPr>
              <a:buFont typeface="Wingdings" panose="05000000000000000000" pitchFamily="2" charset="2"/>
              <a:buNone/>
            </a:pPr>
            <a:r>
              <a:rPr lang="zh-CN" altLang="zh-CN">
                <a:latin typeface="Times New Roman" panose="02020603050405020304" pitchFamily="18" charset="0"/>
              </a:rPr>
              <a:t>BUF  </a:t>
            </a:r>
            <a:r>
              <a:rPr lang="zh-CN" altLang="zh-CN">
                <a:solidFill>
                  <a:schemeClr val="hlink"/>
                </a:solidFill>
                <a:latin typeface="Times New Roman" panose="02020603050405020304" pitchFamily="18" charset="0"/>
              </a:rPr>
              <a:t>DW</a:t>
            </a:r>
            <a:r>
              <a:rPr lang="zh-CN" altLang="zh-CN">
                <a:latin typeface="Times New Roman" panose="02020603050405020304" pitchFamily="18" charset="0"/>
              </a:rPr>
              <a:t>  01H,02H,03H,04H</a:t>
            </a:r>
            <a:endParaRPr lang="zh-CN" altLang="zh-CN">
              <a:latin typeface="Times New Roman" panose="02020603050405020304" pitchFamily="18" charset="0"/>
            </a:endParaRPr>
          </a:p>
        </p:txBody>
      </p:sp>
      <p:grpSp>
        <p:nvGrpSpPr>
          <p:cNvPr id="5" name="Group 4"/>
          <p:cNvGrpSpPr/>
          <p:nvPr/>
        </p:nvGrpSpPr>
        <p:grpSpPr bwMode="auto">
          <a:xfrm>
            <a:off x="6321424" y="1704975"/>
            <a:ext cx="3741738" cy="4424363"/>
            <a:chOff x="0" y="0"/>
            <a:chExt cx="2357" cy="2787"/>
          </a:xfrm>
        </p:grpSpPr>
        <p:sp>
          <p:nvSpPr>
            <p:cNvPr id="6" name="AutoShape 5"/>
            <p:cNvSpPr/>
            <p:nvPr/>
          </p:nvSpPr>
          <p:spPr bwMode="auto">
            <a:xfrm>
              <a:off x="1751" y="451"/>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7" name="Rectangle 6"/>
            <p:cNvSpPr>
              <a:spLocks noChangeArrowheads="1"/>
            </p:cNvSpPr>
            <p:nvPr/>
          </p:nvSpPr>
          <p:spPr bwMode="auto">
            <a:xfrm>
              <a:off x="1053" y="206"/>
              <a:ext cx="665" cy="2139"/>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8" name="Line 7"/>
            <p:cNvSpPr>
              <a:spLocks noChangeShapeType="1"/>
            </p:cNvSpPr>
            <p:nvPr/>
          </p:nvSpPr>
          <p:spPr bwMode="auto">
            <a:xfrm>
              <a:off x="1052" y="41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8"/>
            <p:cNvSpPr>
              <a:spLocks noChangeShapeType="1"/>
            </p:cNvSpPr>
            <p:nvPr/>
          </p:nvSpPr>
          <p:spPr bwMode="auto">
            <a:xfrm>
              <a:off x="1055" y="632"/>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9"/>
            <p:cNvSpPr>
              <a:spLocks noChangeShapeType="1"/>
            </p:cNvSpPr>
            <p:nvPr/>
          </p:nvSpPr>
          <p:spPr bwMode="auto">
            <a:xfrm>
              <a:off x="1055" y="89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1055" y="162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1056" y="1373"/>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2"/>
            <p:cNvSpPr>
              <a:spLocks noChangeShapeType="1"/>
            </p:cNvSpPr>
            <p:nvPr/>
          </p:nvSpPr>
          <p:spPr bwMode="auto">
            <a:xfrm>
              <a:off x="1055" y="113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Text Box 13"/>
            <p:cNvSpPr txBox="1">
              <a:spLocks noChangeArrowheads="1"/>
            </p:cNvSpPr>
            <p:nvPr/>
          </p:nvSpPr>
          <p:spPr bwMode="auto">
            <a:xfrm>
              <a:off x="89" y="177"/>
              <a:ext cx="3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X1</a:t>
              </a:r>
              <a:endParaRPr lang="zh-CN" altLang="zh-CN" sz="2400"/>
            </a:p>
          </p:txBody>
        </p:sp>
        <p:sp>
          <p:nvSpPr>
            <p:cNvPr id="15" name="Text Box 14"/>
            <p:cNvSpPr txBox="1">
              <a:spLocks noChangeArrowheads="1"/>
            </p:cNvSpPr>
            <p:nvPr/>
          </p:nvSpPr>
          <p:spPr bwMode="auto">
            <a:xfrm>
              <a:off x="1135" y="171"/>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08H</a:t>
              </a:r>
              <a:endParaRPr lang="zh-CN" altLang="zh-CN" sz="2400"/>
            </a:p>
          </p:txBody>
        </p:sp>
        <p:sp>
          <p:nvSpPr>
            <p:cNvPr id="16" name="Text Box 15"/>
            <p:cNvSpPr txBox="1">
              <a:spLocks noChangeArrowheads="1"/>
            </p:cNvSpPr>
            <p:nvPr/>
          </p:nvSpPr>
          <p:spPr bwMode="auto">
            <a:xfrm>
              <a:off x="1168" y="37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01H</a:t>
              </a:r>
              <a:endParaRPr lang="zh-CN" altLang="zh-CN" sz="2400"/>
            </a:p>
          </p:txBody>
        </p:sp>
        <p:sp>
          <p:nvSpPr>
            <p:cNvPr id="17" name="Text Box 16"/>
            <p:cNvSpPr txBox="1">
              <a:spLocks noChangeArrowheads="1"/>
            </p:cNvSpPr>
            <p:nvPr/>
          </p:nvSpPr>
          <p:spPr bwMode="auto">
            <a:xfrm>
              <a:off x="1035" y="2499"/>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b="1">
                  <a:solidFill>
                    <a:schemeClr val="folHlink"/>
                  </a:solidFill>
                  <a:ea typeface="宋体" panose="02010600030101010101" pitchFamily="2" charset="-122"/>
                </a:rPr>
                <a:t>存储器</a:t>
              </a:r>
              <a:endParaRPr lang="zh-CN" altLang="zh-CN" sz="2400" b="1">
                <a:solidFill>
                  <a:schemeClr val="folHlink"/>
                </a:solidFill>
                <a:ea typeface="宋体" panose="02010600030101010101" pitchFamily="2" charset="-122"/>
              </a:endParaRPr>
            </a:p>
          </p:txBody>
        </p:sp>
        <p:sp>
          <p:nvSpPr>
            <p:cNvPr id="18" name="Line 17"/>
            <p:cNvSpPr>
              <a:spLocks noChangeShapeType="1"/>
            </p:cNvSpPr>
            <p:nvPr/>
          </p:nvSpPr>
          <p:spPr bwMode="auto">
            <a:xfrm>
              <a:off x="506" y="316"/>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 name="Text Box 18"/>
            <p:cNvSpPr txBox="1">
              <a:spLocks noChangeArrowheads="1"/>
            </p:cNvSpPr>
            <p:nvPr/>
          </p:nvSpPr>
          <p:spPr bwMode="auto">
            <a:xfrm>
              <a:off x="1164" y="601"/>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20" name="Text Box 19"/>
            <p:cNvSpPr txBox="1">
              <a:spLocks noChangeArrowheads="1"/>
            </p:cNvSpPr>
            <p:nvPr/>
          </p:nvSpPr>
          <p:spPr bwMode="auto">
            <a:xfrm>
              <a:off x="0" y="412"/>
              <a:ext cx="5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a:t>
              </a:r>
              <a:endParaRPr lang="zh-CN" altLang="zh-CN" sz="2400"/>
            </a:p>
          </p:txBody>
        </p:sp>
        <p:sp>
          <p:nvSpPr>
            <p:cNvPr id="21" name="Line 20"/>
            <p:cNvSpPr>
              <a:spLocks noChangeShapeType="1"/>
            </p:cNvSpPr>
            <p:nvPr/>
          </p:nvSpPr>
          <p:spPr bwMode="auto">
            <a:xfrm>
              <a:off x="516" y="557"/>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 name="Text Box 21"/>
            <p:cNvSpPr txBox="1">
              <a:spLocks noChangeArrowheads="1"/>
            </p:cNvSpPr>
            <p:nvPr/>
          </p:nvSpPr>
          <p:spPr bwMode="auto">
            <a:xfrm>
              <a:off x="1150" y="861"/>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02H</a:t>
              </a:r>
              <a:endParaRPr lang="zh-CN" altLang="zh-CN" sz="2400"/>
            </a:p>
          </p:txBody>
        </p:sp>
        <p:sp>
          <p:nvSpPr>
            <p:cNvPr id="23" name="Text Box 22"/>
            <p:cNvSpPr txBox="1">
              <a:spLocks noChangeArrowheads="1"/>
            </p:cNvSpPr>
            <p:nvPr/>
          </p:nvSpPr>
          <p:spPr bwMode="auto">
            <a:xfrm>
              <a:off x="1150" y="1093"/>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24" name="AutoShape 23"/>
            <p:cNvSpPr/>
            <p:nvPr/>
          </p:nvSpPr>
          <p:spPr bwMode="auto">
            <a:xfrm>
              <a:off x="1768" y="930"/>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25" name="Text Box 24"/>
            <p:cNvSpPr txBox="1">
              <a:spLocks noChangeArrowheads="1"/>
            </p:cNvSpPr>
            <p:nvPr/>
          </p:nvSpPr>
          <p:spPr bwMode="auto">
            <a:xfrm>
              <a:off x="1146" y="1347"/>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03H</a:t>
              </a:r>
              <a:endParaRPr lang="zh-CN" altLang="zh-CN" sz="2400"/>
            </a:p>
          </p:txBody>
        </p:sp>
        <p:sp>
          <p:nvSpPr>
            <p:cNvPr id="26" name="Line 25"/>
            <p:cNvSpPr>
              <a:spLocks noChangeShapeType="1"/>
            </p:cNvSpPr>
            <p:nvPr/>
          </p:nvSpPr>
          <p:spPr bwMode="auto">
            <a:xfrm>
              <a:off x="1055" y="1855"/>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Text Box 26"/>
            <p:cNvSpPr txBox="1">
              <a:spLocks noChangeArrowheads="1"/>
            </p:cNvSpPr>
            <p:nvPr/>
          </p:nvSpPr>
          <p:spPr bwMode="auto">
            <a:xfrm>
              <a:off x="1153" y="1595"/>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28" name="AutoShape 27"/>
            <p:cNvSpPr/>
            <p:nvPr/>
          </p:nvSpPr>
          <p:spPr bwMode="auto">
            <a:xfrm>
              <a:off x="1757" y="1417"/>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29" name="Line 28"/>
            <p:cNvSpPr>
              <a:spLocks noChangeShapeType="1"/>
            </p:cNvSpPr>
            <p:nvPr/>
          </p:nvSpPr>
          <p:spPr bwMode="auto">
            <a:xfrm>
              <a:off x="1057" y="2104"/>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Text Box 29"/>
            <p:cNvSpPr txBox="1">
              <a:spLocks noChangeArrowheads="1"/>
            </p:cNvSpPr>
            <p:nvPr/>
          </p:nvSpPr>
          <p:spPr bwMode="auto">
            <a:xfrm>
              <a:off x="1149" y="1849"/>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04H</a:t>
              </a:r>
              <a:endParaRPr lang="zh-CN" altLang="zh-CN" sz="2400"/>
            </a:p>
          </p:txBody>
        </p:sp>
        <p:sp>
          <p:nvSpPr>
            <p:cNvPr id="31" name="Text Box 30"/>
            <p:cNvSpPr txBox="1">
              <a:spLocks noChangeArrowheads="1"/>
            </p:cNvSpPr>
            <p:nvPr/>
          </p:nvSpPr>
          <p:spPr bwMode="auto">
            <a:xfrm>
              <a:off x="1156" y="2082"/>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32" name="AutoShape 31"/>
            <p:cNvSpPr/>
            <p:nvPr/>
          </p:nvSpPr>
          <p:spPr bwMode="auto">
            <a:xfrm>
              <a:off x="1760" y="1905"/>
              <a:ext cx="96" cy="384"/>
            </a:xfrm>
            <a:prstGeom prst="rightBrace">
              <a:avLst>
                <a:gd name="adj1" fmla="val 33333"/>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33" name="Line 32"/>
            <p:cNvSpPr>
              <a:spLocks noChangeShapeType="1"/>
            </p:cNvSpPr>
            <p:nvPr/>
          </p:nvSpPr>
          <p:spPr bwMode="auto">
            <a:xfrm>
              <a:off x="1054" y="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4" name="Line 33"/>
            <p:cNvSpPr>
              <a:spLocks noChangeShapeType="1"/>
            </p:cNvSpPr>
            <p:nvPr/>
          </p:nvSpPr>
          <p:spPr bwMode="auto">
            <a:xfrm>
              <a:off x="1715" y="1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5" name="Line 34"/>
            <p:cNvSpPr>
              <a:spLocks noChangeShapeType="1"/>
            </p:cNvSpPr>
            <p:nvPr/>
          </p:nvSpPr>
          <p:spPr bwMode="auto">
            <a:xfrm>
              <a:off x="1054" y="2338"/>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6" name="Line 35"/>
            <p:cNvSpPr>
              <a:spLocks noChangeShapeType="1"/>
            </p:cNvSpPr>
            <p:nvPr/>
          </p:nvSpPr>
          <p:spPr bwMode="auto">
            <a:xfrm>
              <a:off x="1719" y="2338"/>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7" name="Text Box 36"/>
            <p:cNvSpPr txBox="1">
              <a:spLocks noChangeArrowheads="1"/>
            </p:cNvSpPr>
            <p:nvPr/>
          </p:nvSpPr>
          <p:spPr bwMode="auto">
            <a:xfrm>
              <a:off x="1904" y="489"/>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01H</a:t>
              </a:r>
              <a:endParaRPr lang="zh-CN" altLang="zh-CN" sz="2400"/>
            </a:p>
          </p:txBody>
        </p:sp>
        <p:sp>
          <p:nvSpPr>
            <p:cNvPr id="38" name="Text Box 37"/>
            <p:cNvSpPr txBox="1">
              <a:spLocks noChangeArrowheads="1"/>
            </p:cNvSpPr>
            <p:nvPr/>
          </p:nvSpPr>
          <p:spPr bwMode="auto">
            <a:xfrm>
              <a:off x="1906" y="949"/>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02H</a:t>
              </a:r>
              <a:endParaRPr lang="zh-CN" altLang="zh-CN" sz="2400"/>
            </a:p>
          </p:txBody>
        </p:sp>
        <p:sp>
          <p:nvSpPr>
            <p:cNvPr id="39" name="Text Box 38"/>
            <p:cNvSpPr txBox="1">
              <a:spLocks noChangeArrowheads="1"/>
            </p:cNvSpPr>
            <p:nvPr/>
          </p:nvSpPr>
          <p:spPr bwMode="auto">
            <a:xfrm>
              <a:off x="1892" y="1454"/>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03H</a:t>
              </a:r>
              <a:endParaRPr lang="zh-CN" altLang="zh-CN" sz="2400"/>
            </a:p>
          </p:txBody>
        </p:sp>
        <p:sp>
          <p:nvSpPr>
            <p:cNvPr id="40" name="Text Box 39"/>
            <p:cNvSpPr txBox="1">
              <a:spLocks noChangeArrowheads="1"/>
            </p:cNvSpPr>
            <p:nvPr/>
          </p:nvSpPr>
          <p:spPr bwMode="auto">
            <a:xfrm>
              <a:off x="1892" y="1932"/>
              <a:ext cx="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04H</a:t>
              </a:r>
              <a:endParaRPr lang="zh-CN" altLang="zh-CN" sz="2400"/>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0635" y="716254"/>
            <a:ext cx="10515600" cy="696915"/>
          </a:xfrm>
        </p:spPr>
        <p:txBody>
          <a:bodyPr/>
          <a:lstStyle/>
          <a:p>
            <a:r>
              <a:rPr lang="zh-CN" altLang="en-US" dirty="0"/>
              <a:t>例：用</a:t>
            </a:r>
            <a:r>
              <a:rPr lang="en-US" altLang="zh-CN" dirty="0"/>
              <a:t>DB</a:t>
            </a:r>
            <a:r>
              <a:rPr lang="zh-CN" altLang="en-US" dirty="0"/>
              <a:t>、</a:t>
            </a:r>
            <a:r>
              <a:rPr lang="en-US" altLang="zh-CN" dirty="0"/>
              <a:t>DW</a:t>
            </a:r>
            <a:r>
              <a:rPr lang="zh-CN" altLang="en-US" dirty="0"/>
              <a:t>定义字符串。</a:t>
            </a:r>
            <a:endParaRPr lang="zh-CN" altLang="en-US" dirty="0"/>
          </a:p>
        </p:txBody>
      </p:sp>
      <p:sp>
        <p:nvSpPr>
          <p:cNvPr id="4" name="Rectangle 3"/>
          <p:cNvSpPr txBox="1">
            <a:spLocks noChangeArrowheads="1"/>
          </p:cNvSpPr>
          <p:nvPr/>
        </p:nvSpPr>
        <p:spPr>
          <a:xfrm>
            <a:off x="2121492" y="1785938"/>
            <a:ext cx="3478212" cy="1601787"/>
          </a:xfrm>
          <a:prstGeom prst="rect">
            <a:avLst/>
          </a:prstGeom>
          <a:noFill/>
          <a:ln>
            <a:solidFill>
              <a:srgbClr val="808000"/>
            </a:solidFill>
            <a:miter lim="800000"/>
          </a:ln>
        </p:spPr>
        <p:txBody>
          <a:bodyPr vert="horz" lIns="91440" tIns="45720" rIns="91440" bIns="45720" rtlCol="0">
            <a:normAutofit fontScale="70000" lnSpcReduction="20000"/>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zh-CN">
                <a:latin typeface="Times New Roman" panose="02020603050405020304" pitchFamily="18" charset="0"/>
              </a:rPr>
              <a:t>BUF1  </a:t>
            </a:r>
            <a:r>
              <a:rPr lang="zh-CN" altLang="zh-CN">
                <a:solidFill>
                  <a:schemeClr val="hlink"/>
                </a:solidFill>
                <a:latin typeface="Times New Roman" panose="02020603050405020304" pitchFamily="18" charset="0"/>
              </a:rPr>
              <a:t>DB</a:t>
            </a:r>
            <a:r>
              <a:rPr lang="zh-CN" altLang="zh-CN">
                <a:latin typeface="Times New Roman" panose="02020603050405020304" pitchFamily="18" charset="0"/>
              </a:rPr>
              <a:t>  ‘HELLO’</a:t>
            </a:r>
            <a:endParaRPr lang="zh-CN" altLang="zh-CN">
              <a:latin typeface="Times New Roman" panose="02020603050405020304" pitchFamily="18" charset="0"/>
            </a:endParaRPr>
          </a:p>
          <a:p>
            <a:pPr>
              <a:buFont typeface="Wingdings" panose="05000000000000000000" pitchFamily="2" charset="2"/>
              <a:buNone/>
            </a:pPr>
            <a:r>
              <a:rPr lang="zh-CN" altLang="zh-CN">
                <a:latin typeface="Times New Roman" panose="02020603050405020304" pitchFamily="18" charset="0"/>
              </a:rPr>
              <a:t>BUF2  </a:t>
            </a:r>
            <a:r>
              <a:rPr lang="zh-CN" altLang="zh-CN">
                <a:solidFill>
                  <a:schemeClr val="hlink"/>
                </a:solidFill>
                <a:latin typeface="Times New Roman" panose="02020603050405020304" pitchFamily="18" charset="0"/>
              </a:rPr>
              <a:t>DB</a:t>
            </a:r>
            <a:r>
              <a:rPr lang="zh-CN" altLang="zh-CN">
                <a:latin typeface="Times New Roman" panose="02020603050405020304" pitchFamily="18" charset="0"/>
              </a:rPr>
              <a:t>  ‘AB’</a:t>
            </a:r>
            <a:endParaRPr lang="zh-CN" altLang="zh-CN">
              <a:latin typeface="Times New Roman" panose="02020603050405020304" pitchFamily="18" charset="0"/>
            </a:endParaRPr>
          </a:p>
          <a:p>
            <a:pPr>
              <a:buFont typeface="Wingdings" panose="05000000000000000000" pitchFamily="2" charset="2"/>
              <a:buNone/>
            </a:pPr>
            <a:r>
              <a:rPr lang="zh-CN" altLang="zh-CN">
                <a:latin typeface="Times New Roman" panose="02020603050405020304" pitchFamily="18" charset="0"/>
              </a:rPr>
              <a:t>BUF3  </a:t>
            </a:r>
            <a:r>
              <a:rPr lang="zh-CN" altLang="zh-CN">
                <a:solidFill>
                  <a:schemeClr val="hlink"/>
                </a:solidFill>
                <a:latin typeface="Times New Roman" panose="02020603050405020304" pitchFamily="18" charset="0"/>
              </a:rPr>
              <a:t>DW</a:t>
            </a:r>
            <a:r>
              <a:rPr lang="zh-CN" altLang="zh-CN">
                <a:latin typeface="Times New Roman" panose="02020603050405020304" pitchFamily="18" charset="0"/>
              </a:rPr>
              <a:t>  ‘AB’</a:t>
            </a:r>
            <a:endParaRPr lang="zh-CN" altLang="zh-CN">
              <a:latin typeface="Times New Roman" panose="02020603050405020304" pitchFamily="18" charset="0"/>
            </a:endParaRPr>
          </a:p>
        </p:txBody>
      </p:sp>
      <p:grpSp>
        <p:nvGrpSpPr>
          <p:cNvPr id="5" name="Group 4"/>
          <p:cNvGrpSpPr/>
          <p:nvPr/>
        </p:nvGrpSpPr>
        <p:grpSpPr bwMode="auto">
          <a:xfrm>
            <a:off x="6298205" y="1839913"/>
            <a:ext cx="3155949" cy="4413250"/>
            <a:chOff x="-79" y="0"/>
            <a:chExt cx="1988" cy="2780"/>
          </a:xfrm>
        </p:grpSpPr>
        <p:sp>
          <p:nvSpPr>
            <p:cNvPr id="6" name="Rectangle 5"/>
            <p:cNvSpPr>
              <a:spLocks noChangeArrowheads="1"/>
            </p:cNvSpPr>
            <p:nvPr/>
          </p:nvSpPr>
          <p:spPr bwMode="auto">
            <a:xfrm>
              <a:off x="1193" y="199"/>
              <a:ext cx="665" cy="2139"/>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7" name="Line 6"/>
            <p:cNvSpPr>
              <a:spLocks noChangeShapeType="1"/>
            </p:cNvSpPr>
            <p:nvPr/>
          </p:nvSpPr>
          <p:spPr bwMode="auto">
            <a:xfrm>
              <a:off x="1192" y="412"/>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7"/>
            <p:cNvSpPr>
              <a:spLocks noChangeShapeType="1"/>
            </p:cNvSpPr>
            <p:nvPr/>
          </p:nvSpPr>
          <p:spPr bwMode="auto">
            <a:xfrm>
              <a:off x="1195" y="625"/>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8"/>
            <p:cNvSpPr>
              <a:spLocks noChangeShapeType="1"/>
            </p:cNvSpPr>
            <p:nvPr/>
          </p:nvSpPr>
          <p:spPr bwMode="auto">
            <a:xfrm>
              <a:off x="1195" y="891"/>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9"/>
            <p:cNvSpPr>
              <a:spLocks noChangeShapeType="1"/>
            </p:cNvSpPr>
            <p:nvPr/>
          </p:nvSpPr>
          <p:spPr bwMode="auto">
            <a:xfrm>
              <a:off x="1195" y="161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1196" y="1366"/>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1"/>
            <p:cNvSpPr>
              <a:spLocks noChangeShapeType="1"/>
            </p:cNvSpPr>
            <p:nvPr/>
          </p:nvSpPr>
          <p:spPr bwMode="auto">
            <a:xfrm>
              <a:off x="1195" y="1129"/>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Text Box 12"/>
            <p:cNvSpPr txBox="1">
              <a:spLocks noChangeArrowheads="1"/>
            </p:cNvSpPr>
            <p:nvPr/>
          </p:nvSpPr>
          <p:spPr bwMode="auto">
            <a:xfrm>
              <a:off x="-79" y="170"/>
              <a:ext cx="752"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zh-CN" sz="2400"/>
                <a:t>BUF1</a:t>
              </a:r>
              <a:endParaRPr lang="zh-CN" altLang="zh-CN" sz="2400"/>
            </a:p>
          </p:txBody>
        </p:sp>
        <p:sp>
          <p:nvSpPr>
            <p:cNvPr id="14" name="Text Box 13"/>
            <p:cNvSpPr txBox="1">
              <a:spLocks noChangeArrowheads="1"/>
            </p:cNvSpPr>
            <p:nvPr/>
          </p:nvSpPr>
          <p:spPr bwMode="auto">
            <a:xfrm>
              <a:off x="1296" y="16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’H’</a:t>
              </a:r>
              <a:endParaRPr lang="zh-CN" altLang="zh-CN" sz="2400"/>
            </a:p>
          </p:txBody>
        </p:sp>
        <p:sp>
          <p:nvSpPr>
            <p:cNvPr id="15" name="Text Box 14"/>
            <p:cNvSpPr txBox="1">
              <a:spLocks noChangeArrowheads="1"/>
            </p:cNvSpPr>
            <p:nvPr/>
          </p:nvSpPr>
          <p:spPr bwMode="auto">
            <a:xfrm>
              <a:off x="1308" y="367"/>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‘E’</a:t>
              </a:r>
              <a:endParaRPr lang="zh-CN" altLang="zh-CN" sz="2400"/>
            </a:p>
          </p:txBody>
        </p:sp>
        <p:sp>
          <p:nvSpPr>
            <p:cNvPr id="16" name="Text Box 15"/>
            <p:cNvSpPr txBox="1">
              <a:spLocks noChangeArrowheads="1"/>
            </p:cNvSpPr>
            <p:nvPr/>
          </p:nvSpPr>
          <p:spPr bwMode="auto">
            <a:xfrm>
              <a:off x="1175" y="2492"/>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b="1">
                  <a:solidFill>
                    <a:schemeClr val="folHlink"/>
                  </a:solidFill>
                  <a:ea typeface="宋体" panose="02010600030101010101" pitchFamily="2" charset="-122"/>
                </a:rPr>
                <a:t>存储器</a:t>
              </a:r>
              <a:endParaRPr lang="zh-CN" altLang="zh-CN" sz="2400" b="1">
                <a:solidFill>
                  <a:schemeClr val="folHlink"/>
                </a:solidFill>
                <a:ea typeface="宋体" panose="02010600030101010101" pitchFamily="2" charset="-122"/>
              </a:endParaRPr>
            </a:p>
          </p:txBody>
        </p:sp>
        <p:sp>
          <p:nvSpPr>
            <p:cNvPr id="17" name="Line 16"/>
            <p:cNvSpPr>
              <a:spLocks noChangeShapeType="1"/>
            </p:cNvSpPr>
            <p:nvPr/>
          </p:nvSpPr>
          <p:spPr bwMode="auto">
            <a:xfrm>
              <a:off x="646" y="309"/>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8" name="Text Box 17"/>
            <p:cNvSpPr txBox="1">
              <a:spLocks noChangeArrowheads="1"/>
            </p:cNvSpPr>
            <p:nvPr/>
          </p:nvSpPr>
          <p:spPr bwMode="auto">
            <a:xfrm>
              <a:off x="1304" y="59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19" name="Text Box 18"/>
            <p:cNvSpPr txBox="1">
              <a:spLocks noChangeArrowheads="1"/>
            </p:cNvSpPr>
            <p:nvPr/>
          </p:nvSpPr>
          <p:spPr bwMode="auto">
            <a:xfrm>
              <a:off x="0" y="1353"/>
              <a:ext cx="6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BUF2</a:t>
              </a:r>
              <a:endParaRPr lang="zh-CN" altLang="zh-CN" sz="2400"/>
            </a:p>
          </p:txBody>
        </p:sp>
        <p:sp>
          <p:nvSpPr>
            <p:cNvPr id="20" name="Line 19"/>
            <p:cNvSpPr>
              <a:spLocks noChangeShapeType="1"/>
            </p:cNvSpPr>
            <p:nvPr/>
          </p:nvSpPr>
          <p:spPr bwMode="auto">
            <a:xfrm>
              <a:off x="656" y="1978"/>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 name="Text Box 20"/>
            <p:cNvSpPr txBox="1">
              <a:spLocks noChangeArrowheads="1"/>
            </p:cNvSpPr>
            <p:nvPr/>
          </p:nvSpPr>
          <p:spPr bwMode="auto">
            <a:xfrm>
              <a:off x="1290" y="85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22" name="Text Box 21"/>
            <p:cNvSpPr txBox="1">
              <a:spLocks noChangeArrowheads="1"/>
            </p:cNvSpPr>
            <p:nvPr/>
          </p:nvSpPr>
          <p:spPr bwMode="auto">
            <a:xfrm>
              <a:off x="1290" y="1086"/>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‘O’</a:t>
              </a:r>
              <a:endParaRPr lang="zh-CN" altLang="zh-CN" sz="2400"/>
            </a:p>
          </p:txBody>
        </p:sp>
        <p:sp>
          <p:nvSpPr>
            <p:cNvPr id="23" name="Text Box 22"/>
            <p:cNvSpPr txBox="1">
              <a:spLocks noChangeArrowheads="1"/>
            </p:cNvSpPr>
            <p:nvPr/>
          </p:nvSpPr>
          <p:spPr bwMode="auto">
            <a:xfrm>
              <a:off x="1286" y="1340"/>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’A’</a:t>
              </a:r>
              <a:endParaRPr lang="zh-CN" altLang="zh-CN" sz="2400"/>
            </a:p>
          </p:txBody>
        </p:sp>
        <p:sp>
          <p:nvSpPr>
            <p:cNvPr id="24" name="Line 23"/>
            <p:cNvSpPr>
              <a:spLocks noChangeShapeType="1"/>
            </p:cNvSpPr>
            <p:nvPr/>
          </p:nvSpPr>
          <p:spPr bwMode="auto">
            <a:xfrm>
              <a:off x="1195" y="1848"/>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Text Box 24"/>
            <p:cNvSpPr txBox="1">
              <a:spLocks noChangeArrowheads="1"/>
            </p:cNvSpPr>
            <p:nvPr/>
          </p:nvSpPr>
          <p:spPr bwMode="auto">
            <a:xfrm>
              <a:off x="1293" y="1588"/>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‘B’</a:t>
              </a:r>
              <a:endParaRPr lang="zh-CN" altLang="zh-CN" sz="2400"/>
            </a:p>
          </p:txBody>
        </p:sp>
        <p:sp>
          <p:nvSpPr>
            <p:cNvPr id="26" name="Line 25"/>
            <p:cNvSpPr>
              <a:spLocks noChangeShapeType="1"/>
            </p:cNvSpPr>
            <p:nvPr/>
          </p:nvSpPr>
          <p:spPr bwMode="auto">
            <a:xfrm>
              <a:off x="1197" y="2097"/>
              <a:ext cx="659" cy="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Text Box 26"/>
            <p:cNvSpPr txBox="1">
              <a:spLocks noChangeArrowheads="1"/>
            </p:cNvSpPr>
            <p:nvPr/>
          </p:nvSpPr>
          <p:spPr bwMode="auto">
            <a:xfrm>
              <a:off x="1289" y="1842"/>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‘B’</a:t>
              </a:r>
              <a:endParaRPr lang="zh-CN" altLang="zh-CN" sz="2400"/>
            </a:p>
          </p:txBody>
        </p:sp>
        <p:sp>
          <p:nvSpPr>
            <p:cNvPr id="28" name="Text Box 27"/>
            <p:cNvSpPr txBox="1">
              <a:spLocks noChangeArrowheads="1"/>
            </p:cNvSpPr>
            <p:nvPr/>
          </p:nvSpPr>
          <p:spPr bwMode="auto">
            <a:xfrm>
              <a:off x="1296" y="2075"/>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‘A’</a:t>
              </a:r>
              <a:endParaRPr lang="zh-CN" altLang="zh-CN" sz="2400"/>
            </a:p>
          </p:txBody>
        </p:sp>
        <p:sp>
          <p:nvSpPr>
            <p:cNvPr id="29" name="Line 28"/>
            <p:cNvSpPr>
              <a:spLocks noChangeShapeType="1"/>
            </p:cNvSpPr>
            <p:nvPr/>
          </p:nvSpPr>
          <p:spPr bwMode="auto">
            <a:xfrm>
              <a:off x="1194" y="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0" name="Line 29"/>
            <p:cNvSpPr>
              <a:spLocks noChangeShapeType="1"/>
            </p:cNvSpPr>
            <p:nvPr/>
          </p:nvSpPr>
          <p:spPr bwMode="auto">
            <a:xfrm>
              <a:off x="1862" y="3"/>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1" name="Line 30"/>
            <p:cNvSpPr>
              <a:spLocks noChangeShapeType="1"/>
            </p:cNvSpPr>
            <p:nvPr/>
          </p:nvSpPr>
          <p:spPr bwMode="auto">
            <a:xfrm>
              <a:off x="1194" y="2338"/>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2" name="Line 31"/>
            <p:cNvSpPr>
              <a:spLocks noChangeShapeType="1"/>
            </p:cNvSpPr>
            <p:nvPr/>
          </p:nvSpPr>
          <p:spPr bwMode="auto">
            <a:xfrm>
              <a:off x="1859" y="2331"/>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3" name="Line 32"/>
            <p:cNvSpPr>
              <a:spLocks noChangeShapeType="1"/>
            </p:cNvSpPr>
            <p:nvPr/>
          </p:nvSpPr>
          <p:spPr bwMode="auto">
            <a:xfrm>
              <a:off x="644" y="1496"/>
              <a:ext cx="450" cy="0"/>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4" name="Text Box 33"/>
            <p:cNvSpPr txBox="1">
              <a:spLocks noChangeArrowheads="1"/>
            </p:cNvSpPr>
            <p:nvPr/>
          </p:nvSpPr>
          <p:spPr bwMode="auto">
            <a:xfrm>
              <a:off x="1" y="1848"/>
              <a:ext cx="6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BUF3</a:t>
              </a:r>
              <a:endParaRPr lang="zh-CN" altLang="zh-CN" sz="2400"/>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66651"/>
            <a:ext cx="7704909" cy="5210312"/>
          </a:xfrm>
        </p:spPr>
        <p:txBody>
          <a:bodyPr>
            <a:normAutofit lnSpcReduction="10000"/>
          </a:bodyPr>
          <a:lstStyle/>
          <a:p>
            <a:pPr marL="0" indent="0">
              <a:lnSpc>
                <a:spcPct val="120000"/>
              </a:lnSpc>
              <a:buNone/>
            </a:pPr>
            <a:r>
              <a:rPr lang="zh-CN" altLang="en-US" dirty="0"/>
              <a:t>例</a:t>
            </a:r>
            <a:r>
              <a:rPr lang="en-US" altLang="zh-CN" dirty="0"/>
              <a:t>1</a:t>
            </a:r>
            <a:r>
              <a:rPr lang="zh-CN" altLang="en-US" dirty="0"/>
              <a:t>：</a:t>
            </a:r>
            <a:r>
              <a:rPr lang="en-US" altLang="zh-CN" dirty="0"/>
              <a:t>SUM DW ? </a:t>
            </a:r>
            <a:r>
              <a:rPr lang="zh-CN" altLang="en-US" dirty="0"/>
              <a:t>；</a:t>
            </a:r>
            <a:endParaRPr lang="zh-CN" altLang="en-US" dirty="0"/>
          </a:p>
          <a:p>
            <a:pPr marL="0" indent="0">
              <a:lnSpc>
                <a:spcPct val="120000"/>
              </a:lnSpc>
              <a:buNone/>
            </a:pPr>
            <a:r>
              <a:rPr lang="zh-CN" altLang="en-US" dirty="0"/>
              <a:t>例</a:t>
            </a:r>
            <a:r>
              <a:rPr lang="en-US" altLang="zh-CN" dirty="0"/>
              <a:t>2</a:t>
            </a:r>
            <a:r>
              <a:rPr lang="zh-CN" altLang="en-US" dirty="0"/>
              <a:t>：</a:t>
            </a:r>
            <a:r>
              <a:rPr lang="en-US" altLang="zh-CN" dirty="0"/>
              <a:t>N DB 3 DUP (01H</a:t>
            </a:r>
            <a:r>
              <a:rPr lang="zh-CN" altLang="en-US" dirty="0"/>
              <a:t>，</a:t>
            </a:r>
            <a:r>
              <a:rPr lang="en-US" altLang="zh-CN" dirty="0"/>
              <a:t>02H) </a:t>
            </a:r>
            <a:r>
              <a:rPr lang="zh-CN" altLang="en-US" dirty="0"/>
              <a:t>；</a:t>
            </a:r>
            <a:endParaRPr lang="zh-CN" altLang="en-US" dirty="0"/>
          </a:p>
          <a:p>
            <a:pPr marL="0" indent="0">
              <a:lnSpc>
                <a:spcPct val="120000"/>
              </a:lnSpc>
              <a:buNone/>
            </a:pPr>
            <a:r>
              <a:rPr lang="zh-CN" altLang="en-US" dirty="0"/>
              <a:t>该定义等价于：</a:t>
            </a:r>
            <a:endParaRPr lang="zh-CN" altLang="en-US" dirty="0"/>
          </a:p>
          <a:p>
            <a:pPr marL="0" indent="0">
              <a:lnSpc>
                <a:spcPct val="120000"/>
              </a:lnSpc>
              <a:buNone/>
            </a:pPr>
            <a:r>
              <a:rPr lang="en-US" altLang="zh-CN" dirty="0"/>
              <a:t>N DB 01H</a:t>
            </a:r>
            <a:r>
              <a:rPr lang="zh-CN" altLang="en-US" dirty="0"/>
              <a:t>，</a:t>
            </a:r>
            <a:r>
              <a:rPr lang="en-US" altLang="zh-CN" dirty="0"/>
              <a:t>02H</a:t>
            </a:r>
            <a:r>
              <a:rPr lang="zh-CN" altLang="en-US" dirty="0"/>
              <a:t>，</a:t>
            </a:r>
            <a:r>
              <a:rPr lang="en-US" altLang="zh-CN" dirty="0"/>
              <a:t>01H</a:t>
            </a:r>
            <a:r>
              <a:rPr lang="zh-CN" altLang="en-US" dirty="0"/>
              <a:t>，</a:t>
            </a:r>
            <a:r>
              <a:rPr lang="en-US" altLang="zh-CN" dirty="0"/>
              <a:t>02H</a:t>
            </a:r>
            <a:r>
              <a:rPr lang="zh-CN" altLang="en-US" dirty="0"/>
              <a:t>，</a:t>
            </a:r>
            <a:r>
              <a:rPr lang="en-US" altLang="zh-CN" dirty="0"/>
              <a:t>01H</a:t>
            </a:r>
            <a:r>
              <a:rPr lang="zh-CN" altLang="en-US" dirty="0"/>
              <a:t>，</a:t>
            </a:r>
            <a:r>
              <a:rPr lang="en-US" altLang="zh-CN" dirty="0"/>
              <a:t>02H</a:t>
            </a:r>
            <a:r>
              <a:rPr lang="zh-CN" altLang="en-US" dirty="0"/>
              <a:t>。</a:t>
            </a:r>
            <a:endParaRPr lang="zh-CN" altLang="en-US" dirty="0"/>
          </a:p>
          <a:p>
            <a:pPr marL="0" indent="0">
              <a:lnSpc>
                <a:spcPct val="120000"/>
              </a:lnSpc>
              <a:buNone/>
            </a:pPr>
            <a:r>
              <a:rPr lang="zh-CN" altLang="en-US" dirty="0"/>
              <a:t>例</a:t>
            </a:r>
            <a:r>
              <a:rPr lang="en-US" altLang="zh-CN" dirty="0"/>
              <a:t>3</a:t>
            </a:r>
            <a:r>
              <a:rPr lang="zh-CN" altLang="en-US" dirty="0"/>
              <a:t>：</a:t>
            </a:r>
            <a:r>
              <a:rPr lang="en-US" altLang="zh-CN" dirty="0"/>
              <a:t>M DB 2 DUP(2</a:t>
            </a:r>
            <a:r>
              <a:rPr lang="zh-CN" altLang="en-US" dirty="0"/>
              <a:t>，</a:t>
            </a:r>
            <a:r>
              <a:rPr lang="en-US" altLang="zh-CN" dirty="0"/>
              <a:t>2 DUP (2</a:t>
            </a:r>
            <a:r>
              <a:rPr lang="zh-CN" altLang="en-US" dirty="0"/>
              <a:t>，‘</a:t>
            </a:r>
            <a:r>
              <a:rPr lang="en-US" altLang="zh-CN" dirty="0"/>
              <a:t>2’))</a:t>
            </a:r>
            <a:endParaRPr lang="en-US" altLang="zh-CN" dirty="0"/>
          </a:p>
          <a:p>
            <a:pPr marL="0" indent="0">
              <a:lnSpc>
                <a:spcPct val="120000"/>
              </a:lnSpc>
              <a:buNone/>
            </a:pPr>
            <a:r>
              <a:rPr lang="zh-CN" altLang="en-US" dirty="0"/>
              <a:t>重复子句允许嵌套。</a:t>
            </a:r>
            <a:endParaRPr lang="zh-CN" altLang="en-US" dirty="0"/>
          </a:p>
          <a:p>
            <a:pPr marL="0" indent="0">
              <a:lnSpc>
                <a:spcPct val="120000"/>
              </a:lnSpc>
              <a:buNone/>
            </a:pPr>
            <a:r>
              <a:rPr lang="zh-CN" altLang="en-US" dirty="0"/>
              <a:t>该定义等价于：</a:t>
            </a:r>
            <a:endParaRPr lang="zh-CN" altLang="en-US" dirty="0"/>
          </a:p>
          <a:p>
            <a:pPr marL="0" indent="0">
              <a:lnSpc>
                <a:spcPct val="120000"/>
              </a:lnSpc>
              <a:buNone/>
            </a:pPr>
            <a:r>
              <a:rPr lang="en-US" altLang="zh-CN" dirty="0"/>
              <a:t>M DB 2</a:t>
            </a:r>
            <a:r>
              <a:rPr lang="zh-CN" altLang="en-US" dirty="0"/>
              <a:t>，</a:t>
            </a:r>
            <a:r>
              <a:rPr lang="en-US" altLang="zh-CN" dirty="0"/>
              <a:t>2</a:t>
            </a:r>
            <a:r>
              <a:rPr lang="zh-CN" altLang="en-US" dirty="0"/>
              <a:t>，</a:t>
            </a:r>
            <a:r>
              <a:rPr lang="en-US" altLang="zh-CN" dirty="0"/>
              <a:t>32H</a:t>
            </a:r>
            <a:r>
              <a:rPr lang="zh-CN" altLang="en-US" dirty="0"/>
              <a:t>，</a:t>
            </a:r>
            <a:r>
              <a:rPr lang="en-US" altLang="zh-CN" dirty="0"/>
              <a:t>2</a:t>
            </a:r>
            <a:r>
              <a:rPr lang="zh-CN" altLang="en-US" dirty="0"/>
              <a:t>，</a:t>
            </a:r>
            <a:r>
              <a:rPr lang="en-US" altLang="zh-CN" dirty="0"/>
              <a:t>32H</a:t>
            </a:r>
            <a:r>
              <a:rPr lang="zh-CN" altLang="en-US" dirty="0"/>
              <a:t>，</a:t>
            </a:r>
            <a:r>
              <a:rPr lang="en-US" altLang="zh-CN" dirty="0"/>
              <a:t>2</a:t>
            </a:r>
            <a:r>
              <a:rPr lang="zh-CN" altLang="en-US" dirty="0"/>
              <a:t>，</a:t>
            </a:r>
            <a:r>
              <a:rPr lang="en-US" altLang="zh-CN" dirty="0"/>
              <a:t>2</a:t>
            </a:r>
            <a:r>
              <a:rPr lang="zh-CN" altLang="en-US" dirty="0"/>
              <a:t>，</a:t>
            </a:r>
            <a:r>
              <a:rPr lang="en-US" altLang="zh-CN" dirty="0"/>
              <a:t>32H</a:t>
            </a:r>
            <a:r>
              <a:rPr lang="zh-CN" altLang="en-US" dirty="0"/>
              <a:t>，</a:t>
            </a:r>
            <a:r>
              <a:rPr lang="en-US" altLang="zh-CN" dirty="0"/>
              <a:t>2</a:t>
            </a:r>
            <a:r>
              <a:rPr lang="zh-CN" altLang="en-US" dirty="0"/>
              <a:t>，</a:t>
            </a:r>
            <a:r>
              <a:rPr lang="en-US" altLang="zh-CN" dirty="0"/>
              <a:t>32H</a:t>
            </a:r>
            <a:r>
              <a:rPr lang="zh-CN" altLang="en-US" dirty="0"/>
              <a:t>。</a:t>
            </a:r>
            <a:endParaRPr lang="zh-CN" altLang="en-US" dirty="0"/>
          </a:p>
        </p:txBody>
      </p:sp>
      <p:pic>
        <p:nvPicPr>
          <p:cNvPr id="4" name="图片 3"/>
          <p:cNvPicPr>
            <a:picLocks noChangeAspect="1"/>
          </p:cNvPicPr>
          <p:nvPr/>
        </p:nvPicPr>
        <p:blipFill>
          <a:blip r:embed="rId1" cstate="print"/>
          <a:stretch>
            <a:fillRect/>
          </a:stretch>
        </p:blipFill>
        <p:spPr>
          <a:xfrm>
            <a:off x="8488300" y="682532"/>
            <a:ext cx="2083118" cy="4330261"/>
          </a:xfrm>
          <a:prstGeom prst="rect">
            <a:avLst/>
          </a:prstGeom>
        </p:spPr>
      </p:pic>
      <p:sp>
        <p:nvSpPr>
          <p:cNvPr id="6" name="文本框 5"/>
          <p:cNvSpPr txBox="1"/>
          <p:nvPr/>
        </p:nvSpPr>
        <p:spPr>
          <a:xfrm>
            <a:off x="9499963" y="5321328"/>
            <a:ext cx="1295416" cy="369332"/>
          </a:xfrm>
          <a:prstGeom prst="rect">
            <a:avLst/>
          </a:prstGeom>
          <a:noFill/>
        </p:spPr>
        <p:txBody>
          <a:bodyPr wrap="square">
            <a:spAutoFit/>
          </a:bodyPr>
          <a:lstStyle/>
          <a:p>
            <a:r>
              <a:rPr lang="zh-CN" altLang="en-US"/>
              <a:t>存储器</a:t>
            </a:r>
            <a:endParaRPr lang="zh-CN" altLang="en-US" dirty="0"/>
          </a:p>
        </p:txBody>
      </p:sp>
      <p:sp>
        <p:nvSpPr>
          <p:cNvPr id="8" name="文本框 7"/>
          <p:cNvSpPr txBox="1"/>
          <p:nvPr/>
        </p:nvSpPr>
        <p:spPr>
          <a:xfrm>
            <a:off x="8069321" y="4226973"/>
            <a:ext cx="788157" cy="369332"/>
          </a:xfrm>
          <a:prstGeom prst="rect">
            <a:avLst/>
          </a:prstGeom>
          <a:noFill/>
        </p:spPr>
        <p:txBody>
          <a:bodyPr wrap="square">
            <a:spAutoFit/>
          </a:bodyPr>
          <a:lstStyle/>
          <a:p>
            <a:r>
              <a:rPr lang="en-US" altLang="zh-CN" sz="1800" b="0" i="0" u="none" strike="noStrike" baseline="0" dirty="0">
                <a:solidFill>
                  <a:srgbClr val="000000"/>
                </a:solidFill>
                <a:latin typeface="Times New Roman" panose="02020603050405020304" pitchFamily="18" charset="0"/>
              </a:rPr>
              <a:t>M</a:t>
            </a:r>
            <a:endParaRPr lang="zh-CN" altLang="en-US" dirty="0"/>
          </a:p>
        </p:txBody>
      </p:sp>
      <p:sp>
        <p:nvSpPr>
          <p:cNvPr id="10" name="文本框 9"/>
          <p:cNvSpPr txBox="1"/>
          <p:nvPr/>
        </p:nvSpPr>
        <p:spPr>
          <a:xfrm flipV="1">
            <a:off x="7862533" y="1846163"/>
            <a:ext cx="625767" cy="369332"/>
          </a:xfrm>
          <a:prstGeom prst="rect">
            <a:avLst/>
          </a:prstGeom>
          <a:noFill/>
        </p:spPr>
        <p:txBody>
          <a:bodyPr wrap="square">
            <a:spAutoFit/>
          </a:bodyPr>
          <a:lstStyle/>
          <a:p>
            <a:r>
              <a:rPr lang="en-US" altLang="zh-CN" dirty="0">
                <a:solidFill>
                  <a:srgbClr val="000000"/>
                </a:solidFill>
                <a:latin typeface="Times New Roman" panose="02020603050405020304" pitchFamily="18" charset="0"/>
              </a:rPr>
              <a:t>N</a:t>
            </a:r>
            <a:endParaRPr lang="zh-CN" altLang="en-US" dirty="0"/>
          </a:p>
        </p:txBody>
      </p:sp>
      <p:sp>
        <p:nvSpPr>
          <p:cNvPr id="12" name="文本框 11"/>
          <p:cNvSpPr txBox="1"/>
          <p:nvPr/>
        </p:nvSpPr>
        <p:spPr>
          <a:xfrm>
            <a:off x="7862533" y="1123829"/>
            <a:ext cx="1552432" cy="369332"/>
          </a:xfrm>
          <a:prstGeom prst="rect">
            <a:avLst/>
          </a:prstGeom>
          <a:noFill/>
        </p:spPr>
        <p:txBody>
          <a:bodyPr wrap="square">
            <a:spAutoFit/>
          </a:bodyPr>
          <a:lstStyle/>
          <a:p>
            <a:r>
              <a:rPr lang="en-US" altLang="zh-CN" sz="1800" b="0" i="0" u="none" strike="noStrike" baseline="0" dirty="0">
                <a:solidFill>
                  <a:srgbClr val="000000"/>
                </a:solidFill>
                <a:latin typeface="Times New Roman" panose="02020603050405020304" pitchFamily="18" charset="0"/>
              </a:rPr>
              <a:t>SUM</a:t>
            </a:r>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1496231" y="1023864"/>
            <a:ext cx="3389313" cy="2546350"/>
          </a:xfrm>
          <a:prstGeom prst="rect">
            <a:avLst/>
          </a:prstGeom>
          <a:noFill/>
          <a:ln>
            <a:solidFill>
              <a:srgbClr val="808000"/>
            </a:solidFill>
            <a:miter lim="800000"/>
          </a:ln>
        </p:spPr>
        <p:txBody>
          <a:bodyPr vert="horz" lIns="91440" tIns="45720" rIns="91440" bIns="45720" rtlCol="0">
            <a:normAutofit fontScale="92500" lnSpcReduction="20000"/>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rPr>
              <a:t>例</a:t>
            </a:r>
            <a:endParaRPr lang="en-US"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BUF1  </a:t>
            </a:r>
            <a:r>
              <a:rPr lang="zh-CN" altLang="zh-CN" dirty="0">
                <a:solidFill>
                  <a:schemeClr val="hlink"/>
                </a:solidFill>
                <a:latin typeface="Times New Roman" panose="02020603050405020304" pitchFamily="18" charset="0"/>
              </a:rPr>
              <a:t>DB</a:t>
            </a:r>
            <a:r>
              <a:rPr lang="zh-CN" altLang="zh-CN" dirty="0">
                <a:latin typeface="Times New Roman" panose="02020603050405020304" pitchFamily="18" charset="0"/>
              </a:rPr>
              <a:t>  ‘HELLO’</a:t>
            </a:r>
            <a:endParaRPr lang="zh-CN"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SA_BUF  </a:t>
            </a:r>
            <a:r>
              <a:rPr lang="zh-CN" altLang="zh-CN" dirty="0">
                <a:solidFill>
                  <a:schemeClr val="hlink"/>
                </a:solidFill>
                <a:latin typeface="Times New Roman" panose="02020603050405020304" pitchFamily="18" charset="0"/>
              </a:rPr>
              <a:t>DW</a:t>
            </a:r>
            <a:r>
              <a:rPr lang="zh-CN" altLang="zh-CN" dirty="0">
                <a:latin typeface="Times New Roman" panose="02020603050405020304" pitchFamily="18" charset="0"/>
              </a:rPr>
              <a:t>  BUF1</a:t>
            </a:r>
            <a:endParaRPr lang="zh-CN"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LA_BUF  </a:t>
            </a:r>
            <a:r>
              <a:rPr lang="zh-CN" altLang="zh-CN" dirty="0">
                <a:solidFill>
                  <a:schemeClr val="hlink"/>
                </a:solidFill>
                <a:latin typeface="Times New Roman" panose="02020603050405020304" pitchFamily="18" charset="0"/>
              </a:rPr>
              <a:t>DD</a:t>
            </a:r>
            <a:r>
              <a:rPr lang="zh-CN" altLang="zh-CN" dirty="0">
                <a:latin typeface="Times New Roman" panose="02020603050405020304" pitchFamily="18" charset="0"/>
              </a:rPr>
              <a:t>  BUF1</a:t>
            </a:r>
            <a:endParaRPr lang="zh-CN" altLang="zh-CN" dirty="0">
              <a:latin typeface="Times New Roman" panose="02020603050405020304" pitchFamily="18" charset="0"/>
            </a:endParaRPr>
          </a:p>
        </p:txBody>
      </p:sp>
      <p:grpSp>
        <p:nvGrpSpPr>
          <p:cNvPr id="7" name="Group 4"/>
          <p:cNvGrpSpPr/>
          <p:nvPr/>
        </p:nvGrpSpPr>
        <p:grpSpPr bwMode="auto">
          <a:xfrm>
            <a:off x="5207217" y="965127"/>
            <a:ext cx="6037262" cy="5014912"/>
            <a:chOff x="0" y="0"/>
            <a:chExt cx="3803" cy="3159"/>
          </a:xfrm>
        </p:grpSpPr>
        <p:sp>
          <p:nvSpPr>
            <p:cNvPr id="8" name="Rectangle 5"/>
            <p:cNvSpPr>
              <a:spLocks noChangeArrowheads="1"/>
            </p:cNvSpPr>
            <p:nvPr/>
          </p:nvSpPr>
          <p:spPr bwMode="auto">
            <a:xfrm>
              <a:off x="1450" y="199"/>
              <a:ext cx="665" cy="2586"/>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9" name="Line 6"/>
            <p:cNvSpPr>
              <a:spLocks noChangeShapeType="1"/>
            </p:cNvSpPr>
            <p:nvPr/>
          </p:nvSpPr>
          <p:spPr bwMode="auto">
            <a:xfrm>
              <a:off x="1449" y="412"/>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7"/>
            <p:cNvSpPr>
              <a:spLocks noChangeShapeType="1"/>
            </p:cNvSpPr>
            <p:nvPr/>
          </p:nvSpPr>
          <p:spPr bwMode="auto">
            <a:xfrm>
              <a:off x="1452" y="625"/>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8"/>
            <p:cNvSpPr>
              <a:spLocks noChangeShapeType="1"/>
            </p:cNvSpPr>
            <p:nvPr/>
          </p:nvSpPr>
          <p:spPr bwMode="auto">
            <a:xfrm>
              <a:off x="1452" y="891"/>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9"/>
            <p:cNvSpPr>
              <a:spLocks noChangeShapeType="1"/>
            </p:cNvSpPr>
            <p:nvPr/>
          </p:nvSpPr>
          <p:spPr bwMode="auto">
            <a:xfrm>
              <a:off x="1452" y="1619"/>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10"/>
            <p:cNvSpPr>
              <a:spLocks noChangeShapeType="1"/>
            </p:cNvSpPr>
            <p:nvPr/>
          </p:nvSpPr>
          <p:spPr bwMode="auto">
            <a:xfrm>
              <a:off x="1453" y="1366"/>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1"/>
            <p:cNvSpPr>
              <a:spLocks noChangeShapeType="1"/>
            </p:cNvSpPr>
            <p:nvPr/>
          </p:nvSpPr>
          <p:spPr bwMode="auto">
            <a:xfrm>
              <a:off x="1452" y="1129"/>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2"/>
            <p:cNvSpPr txBox="1">
              <a:spLocks noChangeArrowheads="1"/>
            </p:cNvSpPr>
            <p:nvPr/>
          </p:nvSpPr>
          <p:spPr bwMode="auto">
            <a:xfrm>
              <a:off x="309" y="170"/>
              <a:ext cx="62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zh-CN" sz="2400"/>
                <a:t>BUF1</a:t>
              </a:r>
              <a:endParaRPr lang="zh-CN" altLang="zh-CN" sz="2400"/>
            </a:p>
          </p:txBody>
        </p:sp>
        <p:sp>
          <p:nvSpPr>
            <p:cNvPr id="16" name="Text Box 13"/>
            <p:cNvSpPr txBox="1">
              <a:spLocks noChangeArrowheads="1"/>
            </p:cNvSpPr>
            <p:nvPr/>
          </p:nvSpPr>
          <p:spPr bwMode="auto">
            <a:xfrm>
              <a:off x="1553" y="16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’H’</a:t>
              </a:r>
              <a:endParaRPr lang="zh-CN" altLang="zh-CN" sz="2400"/>
            </a:p>
          </p:txBody>
        </p:sp>
        <p:sp>
          <p:nvSpPr>
            <p:cNvPr id="17" name="Text Box 14"/>
            <p:cNvSpPr txBox="1">
              <a:spLocks noChangeArrowheads="1"/>
            </p:cNvSpPr>
            <p:nvPr/>
          </p:nvSpPr>
          <p:spPr bwMode="auto">
            <a:xfrm>
              <a:off x="1565" y="367"/>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‘E’</a:t>
              </a:r>
              <a:endParaRPr lang="zh-CN" altLang="zh-CN" sz="2400"/>
            </a:p>
          </p:txBody>
        </p:sp>
        <p:sp>
          <p:nvSpPr>
            <p:cNvPr id="18" name="Text Box 15"/>
            <p:cNvSpPr txBox="1">
              <a:spLocks noChangeArrowheads="1"/>
            </p:cNvSpPr>
            <p:nvPr/>
          </p:nvSpPr>
          <p:spPr bwMode="auto">
            <a:xfrm>
              <a:off x="1432" y="2871"/>
              <a:ext cx="7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b="1">
                  <a:solidFill>
                    <a:schemeClr val="folHlink"/>
                  </a:solidFill>
                  <a:ea typeface="宋体" panose="02010600030101010101" pitchFamily="2" charset="-122"/>
                </a:rPr>
                <a:t>存储器</a:t>
              </a:r>
              <a:endParaRPr lang="zh-CN" altLang="zh-CN" sz="2400" b="1">
                <a:solidFill>
                  <a:schemeClr val="folHlink"/>
                </a:solidFill>
                <a:ea typeface="宋体" panose="02010600030101010101" pitchFamily="2" charset="-122"/>
              </a:endParaRPr>
            </a:p>
          </p:txBody>
        </p:sp>
        <p:sp>
          <p:nvSpPr>
            <p:cNvPr id="19" name="Line 16"/>
            <p:cNvSpPr>
              <a:spLocks noChangeShapeType="1"/>
            </p:cNvSpPr>
            <p:nvPr/>
          </p:nvSpPr>
          <p:spPr bwMode="auto">
            <a:xfrm>
              <a:off x="903" y="309"/>
              <a:ext cx="450" cy="1"/>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 name="Text Box 17"/>
            <p:cNvSpPr txBox="1">
              <a:spLocks noChangeArrowheads="1"/>
            </p:cNvSpPr>
            <p:nvPr/>
          </p:nvSpPr>
          <p:spPr bwMode="auto">
            <a:xfrm>
              <a:off x="1561" y="59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21" name="Text Box 18"/>
            <p:cNvSpPr txBox="1">
              <a:spLocks noChangeArrowheads="1"/>
            </p:cNvSpPr>
            <p:nvPr/>
          </p:nvSpPr>
          <p:spPr bwMode="auto">
            <a:xfrm>
              <a:off x="0" y="1353"/>
              <a:ext cx="8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SA_BUF</a:t>
              </a:r>
              <a:endParaRPr lang="zh-CN" altLang="zh-CN" sz="2400"/>
            </a:p>
          </p:txBody>
        </p:sp>
        <p:sp>
          <p:nvSpPr>
            <p:cNvPr id="22" name="Line 19"/>
            <p:cNvSpPr>
              <a:spLocks noChangeShapeType="1"/>
            </p:cNvSpPr>
            <p:nvPr/>
          </p:nvSpPr>
          <p:spPr bwMode="auto">
            <a:xfrm>
              <a:off x="913" y="1978"/>
              <a:ext cx="450" cy="1"/>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 name="Text Box 20"/>
            <p:cNvSpPr txBox="1">
              <a:spLocks noChangeArrowheads="1"/>
            </p:cNvSpPr>
            <p:nvPr/>
          </p:nvSpPr>
          <p:spPr bwMode="auto">
            <a:xfrm>
              <a:off x="1547" y="854"/>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‘L’</a:t>
              </a:r>
              <a:endParaRPr lang="zh-CN" altLang="zh-CN" sz="2400"/>
            </a:p>
          </p:txBody>
        </p:sp>
        <p:sp>
          <p:nvSpPr>
            <p:cNvPr id="24" name="Text Box 21"/>
            <p:cNvSpPr txBox="1">
              <a:spLocks noChangeArrowheads="1"/>
            </p:cNvSpPr>
            <p:nvPr/>
          </p:nvSpPr>
          <p:spPr bwMode="auto">
            <a:xfrm>
              <a:off x="1547" y="1086"/>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‘O’</a:t>
              </a:r>
              <a:endParaRPr lang="zh-CN" altLang="zh-CN" sz="2400"/>
            </a:p>
          </p:txBody>
        </p:sp>
        <p:sp>
          <p:nvSpPr>
            <p:cNvPr id="25" name="Line 22"/>
            <p:cNvSpPr>
              <a:spLocks noChangeShapeType="1"/>
            </p:cNvSpPr>
            <p:nvPr/>
          </p:nvSpPr>
          <p:spPr bwMode="auto">
            <a:xfrm>
              <a:off x="1452" y="1848"/>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23"/>
            <p:cNvSpPr>
              <a:spLocks noChangeShapeType="1"/>
            </p:cNvSpPr>
            <p:nvPr/>
          </p:nvSpPr>
          <p:spPr bwMode="auto">
            <a:xfrm>
              <a:off x="1454" y="2097"/>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24"/>
            <p:cNvSpPr>
              <a:spLocks noChangeShapeType="1"/>
            </p:cNvSpPr>
            <p:nvPr/>
          </p:nvSpPr>
          <p:spPr bwMode="auto">
            <a:xfrm>
              <a:off x="1451" y="0"/>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8" name="Line 25"/>
            <p:cNvSpPr>
              <a:spLocks noChangeShapeType="1"/>
            </p:cNvSpPr>
            <p:nvPr/>
          </p:nvSpPr>
          <p:spPr bwMode="auto">
            <a:xfrm>
              <a:off x="2119" y="3"/>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9" name="Line 26"/>
            <p:cNvSpPr>
              <a:spLocks noChangeShapeType="1"/>
            </p:cNvSpPr>
            <p:nvPr/>
          </p:nvSpPr>
          <p:spPr bwMode="auto">
            <a:xfrm>
              <a:off x="1451" y="2793"/>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0" name="Line 27"/>
            <p:cNvSpPr>
              <a:spLocks noChangeShapeType="1"/>
            </p:cNvSpPr>
            <p:nvPr/>
          </p:nvSpPr>
          <p:spPr bwMode="auto">
            <a:xfrm>
              <a:off x="2116" y="2779"/>
              <a:ext cx="0" cy="204"/>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1" name="Line 28"/>
            <p:cNvSpPr>
              <a:spLocks noChangeShapeType="1"/>
            </p:cNvSpPr>
            <p:nvPr/>
          </p:nvSpPr>
          <p:spPr bwMode="auto">
            <a:xfrm>
              <a:off x="901" y="1496"/>
              <a:ext cx="450" cy="1"/>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2" name="Text Box 29"/>
            <p:cNvSpPr txBox="1">
              <a:spLocks noChangeArrowheads="1"/>
            </p:cNvSpPr>
            <p:nvPr/>
          </p:nvSpPr>
          <p:spPr bwMode="auto">
            <a:xfrm>
              <a:off x="54" y="1848"/>
              <a:ext cx="8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LA_BUF</a:t>
              </a:r>
              <a:endParaRPr lang="zh-CN" altLang="zh-CN" sz="2400"/>
            </a:p>
          </p:txBody>
        </p:sp>
        <p:sp>
          <p:nvSpPr>
            <p:cNvPr id="33" name="AutoShape 30"/>
            <p:cNvSpPr/>
            <p:nvPr/>
          </p:nvSpPr>
          <p:spPr bwMode="auto">
            <a:xfrm>
              <a:off x="2130" y="1497"/>
              <a:ext cx="128" cy="226"/>
            </a:xfrm>
            <a:prstGeom prst="rightBrace">
              <a:avLst>
                <a:gd name="adj1" fmla="val 14714"/>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34" name="AutoShape 31"/>
            <p:cNvSpPr/>
            <p:nvPr/>
          </p:nvSpPr>
          <p:spPr bwMode="auto">
            <a:xfrm>
              <a:off x="2127" y="1982"/>
              <a:ext cx="122" cy="226"/>
            </a:xfrm>
            <a:prstGeom prst="rightBrace">
              <a:avLst>
                <a:gd name="adj1" fmla="val 15437"/>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35" name="Line 32"/>
            <p:cNvSpPr>
              <a:spLocks noChangeShapeType="1"/>
            </p:cNvSpPr>
            <p:nvPr/>
          </p:nvSpPr>
          <p:spPr bwMode="auto">
            <a:xfrm>
              <a:off x="1447" y="2340"/>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AutoShape 33"/>
            <p:cNvSpPr/>
            <p:nvPr/>
          </p:nvSpPr>
          <p:spPr bwMode="auto">
            <a:xfrm>
              <a:off x="2155" y="2462"/>
              <a:ext cx="122" cy="226"/>
            </a:xfrm>
            <a:prstGeom prst="rightBrace">
              <a:avLst>
                <a:gd name="adj1" fmla="val 15437"/>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37" name="Line 34"/>
            <p:cNvSpPr>
              <a:spLocks noChangeShapeType="1"/>
            </p:cNvSpPr>
            <p:nvPr/>
          </p:nvSpPr>
          <p:spPr bwMode="auto">
            <a:xfrm>
              <a:off x="1454" y="2564"/>
              <a:ext cx="659" cy="1"/>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Text Box 35"/>
            <p:cNvSpPr txBox="1">
              <a:spLocks noChangeArrowheads="1"/>
            </p:cNvSpPr>
            <p:nvPr/>
          </p:nvSpPr>
          <p:spPr bwMode="auto">
            <a:xfrm>
              <a:off x="2204" y="1456"/>
              <a:ext cx="1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a:t>BUF1的偏移地址</a:t>
              </a:r>
              <a:endParaRPr lang="zh-CN" altLang="zh-CN" sz="2400"/>
            </a:p>
          </p:txBody>
        </p:sp>
        <p:sp>
          <p:nvSpPr>
            <p:cNvPr id="39" name="Text Box 36"/>
            <p:cNvSpPr txBox="1">
              <a:spLocks noChangeArrowheads="1"/>
            </p:cNvSpPr>
            <p:nvPr/>
          </p:nvSpPr>
          <p:spPr bwMode="auto">
            <a:xfrm>
              <a:off x="2214" y="1940"/>
              <a:ext cx="15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a:t>BUF1的偏移地址</a:t>
              </a:r>
              <a:endParaRPr lang="zh-CN" altLang="zh-CN" sz="2400"/>
            </a:p>
          </p:txBody>
        </p:sp>
        <p:sp>
          <p:nvSpPr>
            <p:cNvPr id="40" name="Text Box 37"/>
            <p:cNvSpPr txBox="1">
              <a:spLocks noChangeArrowheads="1"/>
            </p:cNvSpPr>
            <p:nvPr/>
          </p:nvSpPr>
          <p:spPr bwMode="auto">
            <a:xfrm>
              <a:off x="2254" y="2416"/>
              <a:ext cx="14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a:t>BUF1的段基址</a:t>
              </a:r>
              <a:endParaRPr lang="zh-CN" altLang="zh-CN" sz="2400"/>
            </a:p>
          </p:txBody>
        </p:sp>
      </p:grpSp>
      <p:sp>
        <p:nvSpPr>
          <p:cNvPr id="41" name="矩形标注 40"/>
          <p:cNvSpPr/>
          <p:nvPr/>
        </p:nvSpPr>
        <p:spPr bwMode="auto">
          <a:xfrm>
            <a:off x="5249731" y="2495775"/>
            <a:ext cx="1366222" cy="387276"/>
          </a:xfrm>
          <a:prstGeom prst="wedgeRectCallout">
            <a:avLst>
              <a:gd name="adj1" fmla="val -101936"/>
              <a:gd name="adj2" fmla="val -16510"/>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地址表达式</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pic>
        <p:nvPicPr>
          <p:cNvPr id="24577" name="Picture 1"/>
          <p:cNvPicPr>
            <a:picLocks noChangeAspect="1" noChangeArrowheads="1"/>
          </p:cNvPicPr>
          <p:nvPr/>
        </p:nvPicPr>
        <p:blipFill>
          <a:blip r:embed="rId1" cstate="print"/>
          <a:srcRect/>
          <a:stretch>
            <a:fillRect/>
          </a:stretch>
        </p:blipFill>
        <p:spPr bwMode="auto">
          <a:xfrm>
            <a:off x="279699" y="4386823"/>
            <a:ext cx="6831106" cy="1419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伪指令</a:t>
            </a:r>
            <a:r>
              <a:rPr lang="en-US" altLang="zh-CN" dirty="0"/>
              <a:t>SEGMENT/ENDS</a:t>
            </a:r>
            <a:endParaRPr lang="zh-CN" altLang="en-US" dirty="0"/>
          </a:p>
        </p:txBody>
      </p:sp>
      <p:sp>
        <p:nvSpPr>
          <p:cNvPr id="3" name="内容占位符 2"/>
          <p:cNvSpPr>
            <a:spLocks noGrp="1"/>
          </p:cNvSpPr>
          <p:nvPr>
            <p:ph idx="1"/>
          </p:nvPr>
        </p:nvSpPr>
        <p:spPr/>
        <p:txBody>
          <a:bodyPr/>
          <a:lstStyle/>
          <a:p>
            <a:pPr>
              <a:lnSpc>
                <a:spcPct val="90000"/>
              </a:lnSpc>
            </a:pPr>
            <a:r>
              <a:rPr lang="zh-CN" altLang="zh-CN" sz="2400" dirty="0">
                <a:latin typeface="Times New Roman" panose="02020603050405020304" pitchFamily="18" charset="0"/>
              </a:rPr>
              <a:t>格式：段名  SEGEMNT  [定位方式] [组合方式] [‘类别’] </a:t>
            </a:r>
            <a:endParaRPr lang="zh-CN" altLang="zh-CN" sz="2400" dirty="0">
              <a:latin typeface="Times New Roman" panose="02020603050405020304" pitchFamily="18" charset="0"/>
            </a:endParaRPr>
          </a:p>
          <a:p>
            <a:pPr>
              <a:lnSpc>
                <a:spcPct val="90000"/>
              </a:lnSpc>
              <a:buFont typeface="Wingdings" panose="05000000000000000000" pitchFamily="2" charset="2"/>
              <a:buNone/>
            </a:pPr>
            <a:r>
              <a:rPr lang="zh-CN" altLang="zh-CN" sz="2400" dirty="0">
                <a:latin typeface="Times New Roman" panose="02020603050405020304" pitchFamily="18" charset="0"/>
              </a:rPr>
              <a:t>                 …</a:t>
            </a:r>
            <a:endParaRPr lang="zh-CN" altLang="zh-CN" sz="2400" dirty="0">
              <a:latin typeface="Times New Roman" panose="02020603050405020304" pitchFamily="18" charset="0"/>
            </a:endParaRPr>
          </a:p>
          <a:p>
            <a:pPr>
              <a:lnSpc>
                <a:spcPct val="90000"/>
              </a:lnSpc>
              <a:buFont typeface="Wingdings" panose="05000000000000000000" pitchFamily="2" charset="2"/>
              <a:buNone/>
            </a:pPr>
            <a:r>
              <a:rPr lang="zh-CN" altLang="zh-CN" sz="2400" dirty="0">
                <a:latin typeface="Times New Roman" panose="02020603050405020304" pitchFamily="18" charset="0"/>
              </a:rPr>
              <a:t>                段名   ENDS</a:t>
            </a:r>
            <a:endParaRPr lang="zh-CN" altLang="zh-CN" sz="2400" dirty="0">
              <a:latin typeface="Times New Roman" panose="02020603050405020304" pitchFamily="18" charset="0"/>
            </a:endParaRPr>
          </a:p>
          <a:p>
            <a:pPr>
              <a:lnSpc>
                <a:spcPct val="90000"/>
              </a:lnSpc>
            </a:pPr>
            <a:r>
              <a:rPr lang="zh-CN" altLang="zh-CN" sz="2400" b="0" dirty="0">
                <a:latin typeface="Times New Roman" panose="02020603050405020304" pitchFamily="18" charset="0"/>
                <a:ea typeface="楷体_GB2312" pitchFamily="1" charset="-122"/>
              </a:rPr>
              <a:t>SEGEMNT为段定义符，ENDS为段结束符，它们必须成对出现。</a:t>
            </a:r>
            <a:endParaRPr lang="zh-CN" altLang="zh-CN" sz="2400" b="0" dirty="0">
              <a:latin typeface="Times New Roman" panose="02020603050405020304" pitchFamily="18" charset="0"/>
              <a:ea typeface="楷体_GB2312" pitchFamily="1" charset="-122"/>
            </a:endParaRPr>
          </a:p>
          <a:p>
            <a:pPr>
              <a:lnSpc>
                <a:spcPct val="90000"/>
              </a:lnSpc>
            </a:pPr>
            <a:r>
              <a:rPr lang="zh-CN" altLang="zh-CN" sz="2400" dirty="0">
                <a:latin typeface="Times New Roman" panose="02020603050405020304" pitchFamily="18" charset="0"/>
              </a:rPr>
              <a:t>省略号部分：</a:t>
            </a:r>
            <a:endParaRPr lang="zh-CN" altLang="zh-CN" sz="2400" dirty="0">
              <a:latin typeface="Times New Roman" panose="02020603050405020304" pitchFamily="18" charset="0"/>
            </a:endParaRPr>
          </a:p>
          <a:p>
            <a:pPr lvl="1">
              <a:lnSpc>
                <a:spcPct val="90000"/>
              </a:lnSpc>
            </a:pPr>
            <a:r>
              <a:rPr lang="zh-CN" altLang="zh-CN" sz="2400" b="0" dirty="0">
                <a:latin typeface="Times New Roman" panose="02020603050405020304" pitchFamily="18" charset="0"/>
                <a:ea typeface="楷体_GB2312" pitchFamily="1" charset="-122"/>
              </a:rPr>
              <a:t>对于数据段、扩展段和堆栈段来说，一般是存储单元的定义、分配等伪指令；</a:t>
            </a:r>
            <a:endParaRPr lang="zh-CN" altLang="zh-CN" sz="2400" b="0" dirty="0">
              <a:latin typeface="Times New Roman" panose="02020603050405020304" pitchFamily="18" charset="0"/>
              <a:ea typeface="楷体_GB2312" pitchFamily="1" charset="-122"/>
            </a:endParaRPr>
          </a:p>
          <a:p>
            <a:pPr lvl="1">
              <a:lnSpc>
                <a:spcPct val="90000"/>
              </a:lnSpc>
            </a:pPr>
            <a:r>
              <a:rPr lang="zh-CN" altLang="zh-CN" sz="2400" b="0" dirty="0">
                <a:latin typeface="Times New Roman" panose="02020603050405020304" pitchFamily="18" charset="0"/>
                <a:ea typeface="楷体_GB2312" pitchFamily="1" charset="-122"/>
              </a:rPr>
              <a:t>对于代码段来说，一般是完成程序功能的指令语句和伪指令语句。</a:t>
            </a:r>
            <a:endParaRPr lang="zh-CN" altLang="zh-CN" sz="2400" b="0" dirty="0">
              <a:latin typeface="Times New Roman" panose="02020603050405020304" pitchFamily="18" charset="0"/>
              <a:ea typeface="楷体_GB2312" pitchFamily="1" charset="-122"/>
            </a:endParaRPr>
          </a:p>
          <a:p>
            <a:pPr>
              <a:lnSpc>
                <a:spcPct val="90000"/>
              </a:lnSpc>
            </a:pPr>
            <a:r>
              <a:rPr lang="zh-CN" altLang="zh-CN" sz="2400" b="0" dirty="0">
                <a:latin typeface="Times New Roman" panose="02020603050405020304" pitchFamily="18" charset="0"/>
                <a:ea typeface="楷体_GB2312" pitchFamily="1" charset="-122"/>
              </a:rPr>
              <a:t>段名是程序员为该段起的名字，不可省略。</a:t>
            </a:r>
            <a:endParaRPr lang="zh-CN" altLang="zh-CN" sz="2400" b="0" dirty="0">
              <a:latin typeface="Times New Roman" panose="02020603050405020304" pitchFamily="18" charset="0"/>
              <a:ea typeface="楷体_GB2312" pitchFamily="1" charset="-122"/>
            </a:endParaRPr>
          </a:p>
          <a:p>
            <a:pPr>
              <a:lnSpc>
                <a:spcPct val="90000"/>
              </a:lnSpc>
            </a:pPr>
            <a:r>
              <a:rPr lang="zh-CN" altLang="zh-CN" sz="2400" b="0" dirty="0">
                <a:latin typeface="Times New Roman" panose="02020603050405020304" pitchFamily="18" charset="0"/>
                <a:ea typeface="楷体_GB2312" pitchFamily="1" charset="-122"/>
              </a:rPr>
              <a:t>定位方式、组合方式、‘类别’是赋给段名的属性。 </a:t>
            </a:r>
            <a:endParaRPr lang="zh-CN" altLang="zh-CN" sz="2400"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伪指令</a:t>
            </a:r>
            <a:r>
              <a:rPr lang="en-US" altLang="zh-CN" dirty="0"/>
              <a:t>ASSUME</a:t>
            </a:r>
            <a:endParaRPr lang="zh-CN" altLang="en-US" dirty="0"/>
          </a:p>
        </p:txBody>
      </p:sp>
      <p:sp>
        <p:nvSpPr>
          <p:cNvPr id="3" name="内容占位符 2"/>
          <p:cNvSpPr>
            <a:spLocks noGrp="1"/>
          </p:cNvSpPr>
          <p:nvPr>
            <p:ph idx="1"/>
          </p:nvPr>
        </p:nvSpPr>
        <p:spPr/>
        <p:txBody>
          <a:bodyPr/>
          <a:lstStyle/>
          <a:p>
            <a:pPr>
              <a:lnSpc>
                <a:spcPct val="80000"/>
              </a:lnSpc>
            </a:pPr>
            <a:r>
              <a:rPr lang="zh-CN" altLang="zh-CN" sz="2800" b="0" dirty="0"/>
              <a:t>通过建立段与段寄存器之间的对应关系，来明确源程序中的逻辑段与物理段之间的关系。</a:t>
            </a:r>
            <a:endParaRPr lang="zh-CN" altLang="zh-CN" sz="2800" b="0" dirty="0"/>
          </a:p>
          <a:p>
            <a:pPr>
              <a:lnSpc>
                <a:spcPct val="80000"/>
              </a:lnSpc>
            </a:pPr>
            <a:r>
              <a:rPr lang="zh-CN" altLang="zh-CN" sz="2800" b="0" dirty="0"/>
              <a:t>格式：</a:t>
            </a:r>
            <a:endParaRPr lang="zh-CN" altLang="zh-CN" sz="2800" b="0" dirty="0"/>
          </a:p>
          <a:p>
            <a:pPr>
              <a:lnSpc>
                <a:spcPct val="80000"/>
              </a:lnSpc>
              <a:buFont typeface="Wingdings" panose="05000000000000000000" pitchFamily="2" charset="2"/>
              <a:buNone/>
            </a:pPr>
            <a:r>
              <a:rPr lang="zh-CN" altLang="zh-CN" sz="2800" b="0" dirty="0"/>
              <a:t>    </a:t>
            </a:r>
            <a:r>
              <a:rPr lang="zh-CN" altLang="zh-CN" sz="2800" dirty="0"/>
              <a:t>ASSUME 段寄存器名：段名[，段寄存器名：段名]</a:t>
            </a:r>
            <a:endParaRPr lang="zh-CN" altLang="zh-CN" sz="2800" dirty="0"/>
          </a:p>
          <a:p>
            <a:pPr>
              <a:lnSpc>
                <a:spcPct val="80000"/>
              </a:lnSpc>
            </a:pPr>
            <a:r>
              <a:rPr lang="zh-CN" altLang="zh-CN" sz="2800" b="0" dirty="0"/>
              <a:t>其中段寄存器名必须是CS、DS、ES、SS中的一个，段名必须是由SEGMENT和 ENDS伪指令定义的段名。</a:t>
            </a:r>
            <a:endParaRPr lang="zh-CN" altLang="zh-CN" sz="2800" b="0" dirty="0"/>
          </a:p>
          <a:p>
            <a:pPr>
              <a:lnSpc>
                <a:spcPct val="80000"/>
              </a:lnSpc>
            </a:pPr>
            <a:r>
              <a:rPr lang="zh-CN" altLang="zh-CN" sz="2800" b="0" dirty="0"/>
              <a:t>ASSUME伪指令只指定所定义的段和段寄存器的对应关系，</a:t>
            </a:r>
            <a:r>
              <a:rPr lang="zh-CN" altLang="zh-CN" sz="2800" b="0" dirty="0">
                <a:solidFill>
                  <a:schemeClr val="hlink"/>
                </a:solidFill>
              </a:rPr>
              <a:t>并不能将段基址装入段寄存器中</a:t>
            </a:r>
            <a:r>
              <a:rPr lang="zh-CN" altLang="zh-CN" sz="2800" b="0" dirty="0"/>
              <a:t>。</a:t>
            </a:r>
            <a:endParaRPr lang="zh-CN" altLang="zh-CN" sz="2800" b="0" dirty="0"/>
          </a:p>
          <a:p>
            <a:pPr>
              <a:lnSpc>
                <a:spcPct val="80000"/>
              </a:lnSpc>
            </a:pPr>
            <a:r>
              <a:rPr lang="zh-CN" altLang="zh-CN" sz="2800" b="0" dirty="0">
                <a:solidFill>
                  <a:schemeClr val="hlink"/>
                </a:solidFill>
              </a:rPr>
              <a:t>数据段、扩展段、堆栈段寄存器的初值应该在代码段中由程序写入，代码段CS寄存器的初值由系统自动装入</a:t>
            </a:r>
            <a:r>
              <a:rPr lang="zh-CN" altLang="zh-CN" sz="2800" b="0" dirty="0"/>
              <a:t>。</a:t>
            </a:r>
            <a:endParaRPr lang="zh-CN" altLang="zh-CN" sz="2800" b="0" dirty="0"/>
          </a:p>
          <a:p>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838200" y="444139"/>
            <a:ext cx="10515600" cy="6176963"/>
          </a:xfrm>
          <a:noFill/>
          <a:ln w="38100" cmpd="dbl">
            <a:solidFill>
              <a:schemeClr val="accent1"/>
            </a:solidFill>
            <a:miter lim="800000"/>
          </a:ln>
        </p:spPr>
        <p:txBody>
          <a:bodyPr>
            <a:noAutofit/>
          </a:bodyPr>
          <a:lstStyle/>
          <a:p>
            <a:pPr>
              <a:lnSpc>
                <a:spcPct val="50000"/>
              </a:lnSpc>
              <a:buFont typeface="Wingdings" panose="05000000000000000000" pitchFamily="2" charset="2"/>
              <a:buNone/>
            </a:pPr>
            <a:r>
              <a:rPr lang="zh-CN" altLang="en-US" sz="2400" b="0" dirty="0">
                <a:latin typeface="Times New Roman" panose="02020603050405020304" pitchFamily="18" charset="0"/>
              </a:rPr>
              <a:t>DSEG   SEGMENT  </a:t>
            </a:r>
            <a:endParaRPr lang="pt-BR" altLang="en-US" sz="2400" b="0" dirty="0">
              <a:latin typeface="Times New Roman" panose="02020603050405020304" pitchFamily="18" charset="0"/>
            </a:endParaRPr>
          </a:p>
          <a:p>
            <a:pPr>
              <a:lnSpc>
                <a:spcPct val="50000"/>
              </a:lnSpc>
              <a:buFont typeface="Wingdings" panose="05000000000000000000" pitchFamily="2" charset="2"/>
              <a:buNone/>
            </a:pPr>
            <a:r>
              <a:rPr lang="pt-BR" altLang="en-US" sz="2400" b="0" dirty="0">
                <a:latin typeface="Times New Roman" panose="02020603050405020304" pitchFamily="18" charset="0"/>
              </a:rPr>
              <a:t>DATA1  DB  02H</a:t>
            </a:r>
            <a:endParaRPr lang="pt-BR" altLang="en-US" sz="2400" b="0" dirty="0">
              <a:latin typeface="Times New Roman" panose="02020603050405020304" pitchFamily="18" charset="0"/>
            </a:endParaRPr>
          </a:p>
          <a:p>
            <a:pPr>
              <a:lnSpc>
                <a:spcPct val="50000"/>
              </a:lnSpc>
              <a:buFont typeface="Wingdings" panose="05000000000000000000" pitchFamily="2" charset="2"/>
              <a:buNone/>
            </a:pPr>
            <a:r>
              <a:rPr lang="pt-BR" altLang="en-US" sz="2400" b="0" dirty="0">
                <a:latin typeface="Times New Roman" panose="02020603050405020304" pitchFamily="18" charset="0"/>
              </a:rPr>
              <a:t>BUF1    DW  01H</a:t>
            </a:r>
            <a:r>
              <a:rPr lang="zh-CN" altLang="en-US" sz="2400" b="0" dirty="0">
                <a:latin typeface="Times New Roman" panose="02020603050405020304" pitchFamily="18" charset="0"/>
              </a:rPr>
              <a:t>，</a:t>
            </a:r>
            <a:r>
              <a:rPr lang="pt-BR" altLang="en-US" sz="2400" b="0" dirty="0">
                <a:latin typeface="Times New Roman" panose="02020603050405020304" pitchFamily="18" charset="0"/>
              </a:rPr>
              <a:t>02H</a:t>
            </a:r>
            <a:r>
              <a:rPr lang="zh-CN" altLang="en-US" sz="2400" b="0" dirty="0">
                <a:latin typeface="Times New Roman" panose="02020603050405020304" pitchFamily="18" charset="0"/>
              </a:rPr>
              <a:t>，</a:t>
            </a:r>
            <a:r>
              <a:rPr lang="pt-BR" altLang="en-US" sz="2400" b="0" dirty="0">
                <a:latin typeface="Times New Roman" panose="02020603050405020304" pitchFamily="18" charset="0"/>
              </a:rPr>
              <a:t>03H</a:t>
            </a:r>
            <a:endParaRPr lang="pt-BR"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DSEG   ENDS</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ESEG   SEGMENT </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DATA2  DB  3 DUP(03H)</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SUM    DB  ？</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ESEG   ENDS</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SSEG   SEGMENT  STACK  </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STK    DB   100 DUP(？)</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SSEG   ENDS</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CSEG   SEGMENT</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ASSUME  CS:CSEG，SS:SSEG，DS:DSEG，ES:ESEG</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START:  MOV AX， DSEG</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                MOV DS， AX           ；将DSEG段的段基址装入DS</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                MOV AX， ESEG</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                MOV ES， AX           ；将ESEG段的段基址装入ES</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                MOV AX， SSEG</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                MOV SS， AX           ；将SSEG段的段基址装入SS</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                …</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CSEG     ENDS </a:t>
            </a:r>
            <a:endParaRPr lang="zh-CN" altLang="en-US" sz="2400" b="0" dirty="0">
              <a:latin typeface="Times New Roman" panose="02020603050405020304" pitchFamily="18" charset="0"/>
            </a:endParaRPr>
          </a:p>
          <a:p>
            <a:pPr>
              <a:lnSpc>
                <a:spcPct val="50000"/>
              </a:lnSpc>
              <a:buFont typeface="Wingdings" panose="05000000000000000000" pitchFamily="2" charset="2"/>
              <a:buNone/>
            </a:pPr>
            <a:r>
              <a:rPr lang="zh-CN" altLang="en-US" sz="2400" b="0" dirty="0">
                <a:latin typeface="Times New Roman" panose="02020603050405020304" pitchFamily="18" charset="0"/>
              </a:rPr>
              <a:t>               END  START</a:t>
            </a:r>
            <a:endParaRPr lang="zh-CN" altLang="en-US" sz="2400" b="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当前汇编地址计数器和定位伪指令</a:t>
            </a:r>
            <a:r>
              <a:rPr lang="en-US" altLang="zh-CN" dirty="0"/>
              <a:t>ORG</a:t>
            </a:r>
            <a:endParaRPr lang="zh-CN" altLang="en-US" dirty="0"/>
          </a:p>
        </p:txBody>
      </p:sp>
      <p:sp>
        <p:nvSpPr>
          <p:cNvPr id="3" name="内容占位符 2"/>
          <p:cNvSpPr>
            <a:spLocks noGrp="1"/>
          </p:cNvSpPr>
          <p:nvPr>
            <p:ph idx="1"/>
          </p:nvPr>
        </p:nvSpPr>
        <p:spPr/>
        <p:txBody>
          <a:bodyPr/>
          <a:lstStyle/>
          <a:p>
            <a:r>
              <a:rPr lang="zh-CN" altLang="zh-CN" b="0" dirty="0"/>
              <a:t>汇编地址计数器保存当前正在被汇编程序翻译的指令或伪指令的地址。用符号$来代表当前汇编地址计数器中的值。</a:t>
            </a:r>
            <a:endParaRPr lang="zh-CN" altLang="zh-CN" b="0" dirty="0"/>
          </a:p>
          <a:p>
            <a:r>
              <a:rPr lang="zh-CN" altLang="zh-CN" b="0" dirty="0"/>
              <a:t>定位伪指令ORG可以设置当前汇编地址计数器中的值。</a:t>
            </a:r>
            <a:endParaRPr lang="zh-CN" altLang="zh-CN" b="0" dirty="0"/>
          </a:p>
          <a:p>
            <a:r>
              <a:rPr lang="zh-CN" altLang="zh-CN" b="0" dirty="0"/>
              <a:t>格式：</a:t>
            </a:r>
            <a:r>
              <a:rPr lang="zh-CN" altLang="zh-CN" dirty="0"/>
              <a:t>ORG   数值表达式</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2026921" y="1373782"/>
            <a:ext cx="3398838" cy="3544888"/>
          </a:xfrm>
          <a:prstGeom prst="rect">
            <a:avLst/>
          </a:prstGeom>
          <a:noFill/>
          <a:ln>
            <a:solidFill>
              <a:srgbClr val="808000"/>
            </a:solidFill>
            <a:miter lim="800000"/>
          </a:ln>
        </p:spPr>
        <p:txBody>
          <a:bodyPr vert="horz" lIns="91440" tIns="45720" rIns="91440" bIns="45720" rtlCol="0">
            <a:normAutofit fontScale="77500" lnSpcReduction="20000"/>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zh-CN">
                <a:latin typeface="Times New Roman" panose="02020603050405020304" pitchFamily="18" charset="0"/>
                <a:ea typeface="楷体_GB2312" pitchFamily="1" charset="-122"/>
              </a:rPr>
              <a:t>DSEG  SEGMENT</a:t>
            </a:r>
            <a:endParaRPr lang="zh-CN" altLang="zh-CN">
              <a:latin typeface="Times New Roman" panose="02020603050405020304" pitchFamily="18" charset="0"/>
              <a:ea typeface="楷体_GB2312" pitchFamily="1" charset="-122"/>
            </a:endParaRPr>
          </a:p>
          <a:p>
            <a:pPr>
              <a:buFont typeface="Wingdings" panose="05000000000000000000" pitchFamily="2" charset="2"/>
              <a:buNone/>
            </a:pPr>
            <a:r>
              <a:rPr lang="zh-CN" altLang="zh-CN">
                <a:latin typeface="Times New Roman" panose="02020603050405020304" pitchFamily="18" charset="0"/>
                <a:ea typeface="楷体_GB2312" pitchFamily="1" charset="-122"/>
              </a:rPr>
              <a:t>ORG  10H</a:t>
            </a:r>
            <a:endParaRPr lang="zh-CN" altLang="zh-CN">
              <a:latin typeface="Times New Roman" panose="02020603050405020304" pitchFamily="18" charset="0"/>
              <a:ea typeface="楷体_GB2312" pitchFamily="1" charset="-122"/>
            </a:endParaRPr>
          </a:p>
          <a:p>
            <a:pPr>
              <a:buFont typeface="Wingdings" panose="05000000000000000000" pitchFamily="2" charset="2"/>
              <a:buNone/>
            </a:pPr>
            <a:r>
              <a:rPr lang="zh-CN" altLang="zh-CN">
                <a:latin typeface="Times New Roman" panose="02020603050405020304" pitchFamily="18" charset="0"/>
                <a:ea typeface="楷体_GB2312" pitchFamily="1" charset="-122"/>
              </a:rPr>
              <a:t>BUF   </a:t>
            </a:r>
            <a:r>
              <a:rPr lang="zh-CN" altLang="zh-CN">
                <a:solidFill>
                  <a:schemeClr val="hlink"/>
                </a:solidFill>
                <a:latin typeface="Times New Roman" panose="02020603050405020304" pitchFamily="18" charset="0"/>
                <a:ea typeface="楷体_GB2312" pitchFamily="1" charset="-122"/>
              </a:rPr>
              <a:t>DB</a:t>
            </a:r>
            <a:r>
              <a:rPr lang="zh-CN" altLang="zh-CN">
                <a:latin typeface="Times New Roman" panose="02020603050405020304" pitchFamily="18" charset="0"/>
                <a:ea typeface="楷体_GB2312" pitchFamily="1" charset="-122"/>
              </a:rPr>
              <a:t>  ‘1234’</a:t>
            </a:r>
            <a:endParaRPr lang="zh-CN" altLang="zh-CN">
              <a:latin typeface="Times New Roman" panose="02020603050405020304" pitchFamily="18" charset="0"/>
              <a:ea typeface="楷体_GB2312" pitchFamily="1" charset="-122"/>
            </a:endParaRPr>
          </a:p>
          <a:p>
            <a:pPr>
              <a:buFont typeface="Wingdings" panose="05000000000000000000" pitchFamily="2" charset="2"/>
              <a:buNone/>
            </a:pPr>
            <a:r>
              <a:rPr lang="zh-CN" altLang="zh-CN">
                <a:latin typeface="Times New Roman" panose="02020603050405020304" pitchFamily="18" charset="0"/>
                <a:ea typeface="楷体_GB2312" pitchFamily="1" charset="-122"/>
              </a:rPr>
              <a:t>ORG   $+5</a:t>
            </a:r>
            <a:endParaRPr lang="zh-CN" altLang="zh-CN">
              <a:latin typeface="Times New Roman" panose="02020603050405020304" pitchFamily="18" charset="0"/>
              <a:ea typeface="楷体_GB2312" pitchFamily="1" charset="-122"/>
            </a:endParaRPr>
          </a:p>
          <a:p>
            <a:pPr>
              <a:buFont typeface="Wingdings" panose="05000000000000000000" pitchFamily="2" charset="2"/>
              <a:buNone/>
            </a:pPr>
            <a:r>
              <a:rPr lang="zh-CN" altLang="zh-CN">
                <a:latin typeface="Times New Roman" panose="02020603050405020304" pitchFamily="18" charset="0"/>
                <a:ea typeface="楷体_GB2312" pitchFamily="1" charset="-122"/>
              </a:rPr>
              <a:t>NUM  </a:t>
            </a:r>
            <a:r>
              <a:rPr lang="zh-CN" altLang="zh-CN">
                <a:solidFill>
                  <a:schemeClr val="hlink"/>
                </a:solidFill>
                <a:latin typeface="Times New Roman" panose="02020603050405020304" pitchFamily="18" charset="0"/>
                <a:ea typeface="楷体_GB2312" pitchFamily="1" charset="-122"/>
              </a:rPr>
              <a:t>DW</a:t>
            </a:r>
            <a:r>
              <a:rPr lang="zh-CN" altLang="zh-CN">
                <a:latin typeface="Times New Roman" panose="02020603050405020304" pitchFamily="18" charset="0"/>
                <a:ea typeface="楷体_GB2312" pitchFamily="1" charset="-122"/>
              </a:rPr>
              <a:t> 50</a:t>
            </a:r>
            <a:endParaRPr lang="zh-CN" altLang="zh-CN">
              <a:latin typeface="Times New Roman" panose="02020603050405020304" pitchFamily="18" charset="0"/>
              <a:ea typeface="楷体_GB2312" pitchFamily="1" charset="-122"/>
            </a:endParaRPr>
          </a:p>
          <a:p>
            <a:pPr>
              <a:buFont typeface="Wingdings" panose="05000000000000000000" pitchFamily="2" charset="2"/>
              <a:buNone/>
            </a:pPr>
            <a:r>
              <a:rPr lang="zh-CN" altLang="zh-CN">
                <a:latin typeface="Times New Roman" panose="02020603050405020304" pitchFamily="18" charset="0"/>
                <a:ea typeface="楷体_GB2312" pitchFamily="1" charset="-122"/>
              </a:rPr>
              <a:t>DSEG  ENDS</a:t>
            </a:r>
            <a:endParaRPr lang="zh-CN" altLang="zh-CN"/>
          </a:p>
        </p:txBody>
      </p:sp>
      <p:sp>
        <p:nvSpPr>
          <p:cNvPr id="5" name="Rectangle 4"/>
          <p:cNvSpPr>
            <a:spLocks noChangeArrowheads="1"/>
          </p:cNvSpPr>
          <p:nvPr/>
        </p:nvSpPr>
        <p:spPr bwMode="auto">
          <a:xfrm>
            <a:off x="8326121" y="1434107"/>
            <a:ext cx="1055688" cy="4105275"/>
          </a:xfrm>
          <a:prstGeom prst="rect">
            <a:avLst/>
          </a:prstGeom>
          <a:noFill/>
          <a:ln w="9525" cmpd="sng">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ahoma" panose="020B0604030504040204" pitchFamily="34" charset="0"/>
            </a:endParaRPr>
          </a:p>
        </p:txBody>
      </p:sp>
      <p:sp>
        <p:nvSpPr>
          <p:cNvPr id="6" name="Line 5"/>
          <p:cNvSpPr>
            <a:spLocks noChangeShapeType="1"/>
          </p:cNvSpPr>
          <p:nvPr/>
        </p:nvSpPr>
        <p:spPr bwMode="auto">
          <a:xfrm>
            <a:off x="8324534" y="1772245"/>
            <a:ext cx="1046162" cy="158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6"/>
          <p:cNvSpPr>
            <a:spLocks noChangeShapeType="1"/>
          </p:cNvSpPr>
          <p:nvPr/>
        </p:nvSpPr>
        <p:spPr bwMode="auto">
          <a:xfrm>
            <a:off x="8329296" y="2110382"/>
            <a:ext cx="1046163" cy="158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7"/>
          <p:cNvSpPr>
            <a:spLocks noChangeShapeType="1"/>
          </p:cNvSpPr>
          <p:nvPr/>
        </p:nvSpPr>
        <p:spPr bwMode="auto">
          <a:xfrm>
            <a:off x="8329296" y="2532657"/>
            <a:ext cx="1046163" cy="158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8"/>
          <p:cNvSpPr>
            <a:spLocks noChangeShapeType="1"/>
          </p:cNvSpPr>
          <p:nvPr/>
        </p:nvSpPr>
        <p:spPr bwMode="auto">
          <a:xfrm>
            <a:off x="8329296" y="3688357"/>
            <a:ext cx="1046163" cy="158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9"/>
          <p:cNvSpPr>
            <a:spLocks noChangeShapeType="1"/>
          </p:cNvSpPr>
          <p:nvPr/>
        </p:nvSpPr>
        <p:spPr bwMode="auto">
          <a:xfrm>
            <a:off x="8330884" y="3286720"/>
            <a:ext cx="1046162" cy="158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10"/>
          <p:cNvSpPr>
            <a:spLocks noChangeShapeType="1"/>
          </p:cNvSpPr>
          <p:nvPr/>
        </p:nvSpPr>
        <p:spPr bwMode="auto">
          <a:xfrm>
            <a:off x="8329296" y="2910482"/>
            <a:ext cx="1046163" cy="158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Text Box 11"/>
          <p:cNvSpPr txBox="1">
            <a:spLocks noChangeArrowheads="1"/>
          </p:cNvSpPr>
          <p:nvPr/>
        </p:nvSpPr>
        <p:spPr bwMode="auto">
          <a:xfrm>
            <a:off x="5735321" y="1354732"/>
            <a:ext cx="93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BUF</a:t>
            </a:r>
            <a:endParaRPr lang="zh-CN" altLang="zh-CN" sz="2400"/>
          </a:p>
        </p:txBody>
      </p:sp>
      <p:sp>
        <p:nvSpPr>
          <p:cNvPr id="13" name="Text Box 12"/>
          <p:cNvSpPr txBox="1">
            <a:spLocks noChangeArrowheads="1"/>
          </p:cNvSpPr>
          <p:nvPr/>
        </p:nvSpPr>
        <p:spPr bwMode="auto">
          <a:xfrm>
            <a:off x="8489634" y="1378545"/>
            <a:ext cx="782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’1’</a:t>
            </a:r>
            <a:endParaRPr lang="zh-CN" altLang="zh-CN" sz="2400"/>
          </a:p>
        </p:txBody>
      </p:sp>
      <p:sp>
        <p:nvSpPr>
          <p:cNvPr id="14" name="Text Box 13"/>
          <p:cNvSpPr txBox="1">
            <a:spLocks noChangeArrowheads="1"/>
          </p:cNvSpPr>
          <p:nvPr/>
        </p:nvSpPr>
        <p:spPr bwMode="auto">
          <a:xfrm>
            <a:off x="8508684" y="1700807"/>
            <a:ext cx="782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‘2’</a:t>
            </a:r>
            <a:endParaRPr lang="zh-CN" altLang="zh-CN" sz="2400"/>
          </a:p>
        </p:txBody>
      </p:sp>
      <p:sp>
        <p:nvSpPr>
          <p:cNvPr id="15" name="Text Box 14"/>
          <p:cNvSpPr txBox="1">
            <a:spLocks noChangeArrowheads="1"/>
          </p:cNvSpPr>
          <p:nvPr/>
        </p:nvSpPr>
        <p:spPr bwMode="auto">
          <a:xfrm>
            <a:off x="8297546" y="5675907"/>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b="1">
                <a:solidFill>
                  <a:schemeClr val="folHlink"/>
                </a:solidFill>
                <a:ea typeface="宋体" panose="02010600030101010101" pitchFamily="2" charset="-122"/>
              </a:rPr>
              <a:t>存储器</a:t>
            </a:r>
            <a:endParaRPr lang="zh-CN" altLang="zh-CN" sz="2400" b="1">
              <a:solidFill>
                <a:schemeClr val="folHlink"/>
              </a:solidFill>
              <a:ea typeface="宋体" panose="02010600030101010101" pitchFamily="2" charset="-122"/>
            </a:endParaRPr>
          </a:p>
        </p:txBody>
      </p:sp>
      <p:sp>
        <p:nvSpPr>
          <p:cNvPr id="16" name="Line 15"/>
          <p:cNvSpPr>
            <a:spLocks noChangeShapeType="1"/>
          </p:cNvSpPr>
          <p:nvPr/>
        </p:nvSpPr>
        <p:spPr bwMode="auto">
          <a:xfrm>
            <a:off x="6656071" y="1608732"/>
            <a:ext cx="714375" cy="1588"/>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7" name="Text Box 16"/>
          <p:cNvSpPr txBox="1">
            <a:spLocks noChangeArrowheads="1"/>
          </p:cNvSpPr>
          <p:nvPr/>
        </p:nvSpPr>
        <p:spPr bwMode="auto">
          <a:xfrm>
            <a:off x="8502334" y="2061170"/>
            <a:ext cx="782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‘3’</a:t>
            </a:r>
            <a:endParaRPr lang="zh-CN" altLang="zh-CN" sz="2400"/>
          </a:p>
        </p:txBody>
      </p:sp>
      <p:sp>
        <p:nvSpPr>
          <p:cNvPr id="18" name="Line 17"/>
          <p:cNvSpPr>
            <a:spLocks noChangeShapeType="1"/>
          </p:cNvSpPr>
          <p:nvPr/>
        </p:nvSpPr>
        <p:spPr bwMode="auto">
          <a:xfrm>
            <a:off x="6683059" y="5083770"/>
            <a:ext cx="714375" cy="1587"/>
          </a:xfrm>
          <a:prstGeom prst="line">
            <a:avLst/>
          </a:prstGeom>
          <a:noFill/>
          <a:ln w="38100" cmpd="sng">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 name="Text Box 18"/>
          <p:cNvSpPr txBox="1">
            <a:spLocks noChangeArrowheads="1"/>
          </p:cNvSpPr>
          <p:nvPr/>
        </p:nvSpPr>
        <p:spPr bwMode="auto">
          <a:xfrm>
            <a:off x="8480109" y="2473920"/>
            <a:ext cx="782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‘4’</a:t>
            </a:r>
            <a:endParaRPr lang="zh-CN" altLang="zh-CN" sz="2400"/>
          </a:p>
        </p:txBody>
      </p:sp>
      <p:sp>
        <p:nvSpPr>
          <p:cNvPr id="20" name="Line 19"/>
          <p:cNvSpPr>
            <a:spLocks noChangeShapeType="1"/>
          </p:cNvSpPr>
          <p:nvPr/>
        </p:nvSpPr>
        <p:spPr bwMode="auto">
          <a:xfrm>
            <a:off x="8329296" y="4051895"/>
            <a:ext cx="1046163" cy="158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20"/>
          <p:cNvSpPr>
            <a:spLocks noChangeShapeType="1"/>
          </p:cNvSpPr>
          <p:nvPr/>
        </p:nvSpPr>
        <p:spPr bwMode="auto">
          <a:xfrm>
            <a:off x="8332471" y="4447182"/>
            <a:ext cx="1046163" cy="158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21"/>
          <p:cNvSpPr>
            <a:spLocks noChangeShapeType="1"/>
          </p:cNvSpPr>
          <p:nvPr/>
        </p:nvSpPr>
        <p:spPr bwMode="auto">
          <a:xfrm>
            <a:off x="8327709" y="1118195"/>
            <a:ext cx="0" cy="32385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 name="Line 22"/>
          <p:cNvSpPr>
            <a:spLocks noChangeShapeType="1"/>
          </p:cNvSpPr>
          <p:nvPr/>
        </p:nvSpPr>
        <p:spPr bwMode="auto">
          <a:xfrm>
            <a:off x="9377046" y="1122957"/>
            <a:ext cx="0" cy="32385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4" name="Line 23"/>
          <p:cNvSpPr>
            <a:spLocks noChangeShapeType="1"/>
          </p:cNvSpPr>
          <p:nvPr/>
        </p:nvSpPr>
        <p:spPr bwMode="auto">
          <a:xfrm>
            <a:off x="8327709" y="5540970"/>
            <a:ext cx="0" cy="32385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 name="Line 24"/>
          <p:cNvSpPr>
            <a:spLocks noChangeShapeType="1"/>
          </p:cNvSpPr>
          <p:nvPr/>
        </p:nvSpPr>
        <p:spPr bwMode="auto">
          <a:xfrm>
            <a:off x="9383396" y="5529857"/>
            <a:ext cx="0" cy="323850"/>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6" name="Text Box 25"/>
          <p:cNvSpPr txBox="1">
            <a:spLocks noChangeArrowheads="1"/>
          </p:cNvSpPr>
          <p:nvPr/>
        </p:nvSpPr>
        <p:spPr bwMode="auto">
          <a:xfrm>
            <a:off x="5730559" y="4842470"/>
            <a:ext cx="984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zh-CN" sz="2400"/>
              <a:t>NUM</a:t>
            </a:r>
            <a:endParaRPr lang="zh-CN" altLang="zh-CN" sz="2400"/>
          </a:p>
        </p:txBody>
      </p:sp>
      <p:sp>
        <p:nvSpPr>
          <p:cNvPr id="27" name="Line 26"/>
          <p:cNvSpPr>
            <a:spLocks noChangeShapeType="1"/>
          </p:cNvSpPr>
          <p:nvPr/>
        </p:nvSpPr>
        <p:spPr bwMode="auto">
          <a:xfrm>
            <a:off x="8332471" y="5188545"/>
            <a:ext cx="1046163" cy="1587"/>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Text Box 27"/>
          <p:cNvSpPr txBox="1">
            <a:spLocks noChangeArrowheads="1"/>
          </p:cNvSpPr>
          <p:nvPr/>
        </p:nvSpPr>
        <p:spPr bwMode="auto">
          <a:xfrm>
            <a:off x="7242175" y="1381760"/>
            <a:ext cx="110934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zh-CN" sz="2400"/>
              <a:t>0010H</a:t>
            </a:r>
            <a:endParaRPr lang="zh-CN" altLang="zh-CN" sz="2400"/>
          </a:p>
        </p:txBody>
      </p:sp>
      <p:sp>
        <p:nvSpPr>
          <p:cNvPr id="29" name="Text Box 28"/>
          <p:cNvSpPr txBox="1">
            <a:spLocks noChangeArrowheads="1"/>
          </p:cNvSpPr>
          <p:nvPr/>
        </p:nvSpPr>
        <p:spPr bwMode="auto">
          <a:xfrm>
            <a:off x="7120255" y="2846705"/>
            <a:ext cx="121221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zh-CN" sz="2400"/>
              <a:t>0014H</a:t>
            </a:r>
            <a:endParaRPr lang="zh-CN" altLang="zh-CN" sz="2400"/>
          </a:p>
        </p:txBody>
      </p:sp>
      <p:sp>
        <p:nvSpPr>
          <p:cNvPr id="30" name="Text Box 29"/>
          <p:cNvSpPr txBox="1">
            <a:spLocks noChangeArrowheads="1"/>
          </p:cNvSpPr>
          <p:nvPr/>
        </p:nvSpPr>
        <p:spPr bwMode="auto">
          <a:xfrm>
            <a:off x="7174230" y="4824730"/>
            <a:ext cx="121729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zh-CN" altLang="zh-CN" sz="2400"/>
              <a:t>0019H</a:t>
            </a:r>
            <a:endParaRPr lang="zh-CN" altLang="zh-CN" sz="2400"/>
          </a:p>
        </p:txBody>
      </p:sp>
      <p:sp>
        <p:nvSpPr>
          <p:cNvPr id="31" name="Line 30"/>
          <p:cNvSpPr>
            <a:spLocks noChangeShapeType="1"/>
          </p:cNvSpPr>
          <p:nvPr/>
        </p:nvSpPr>
        <p:spPr bwMode="auto">
          <a:xfrm>
            <a:off x="8326121" y="4834532"/>
            <a:ext cx="1046163" cy="1588"/>
          </a:xfrm>
          <a:prstGeom prst="line">
            <a:avLst/>
          </a:prstGeom>
          <a:noFill/>
          <a:ln w="9525"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Text Box 31"/>
          <p:cNvSpPr txBox="1">
            <a:spLocks noChangeArrowheads="1"/>
          </p:cNvSpPr>
          <p:nvPr/>
        </p:nvSpPr>
        <p:spPr bwMode="auto">
          <a:xfrm>
            <a:off x="8494396" y="4796432"/>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32H</a:t>
            </a:r>
            <a:endParaRPr lang="zh-CN" altLang="zh-CN" sz="2400"/>
          </a:p>
        </p:txBody>
      </p:sp>
      <p:sp>
        <p:nvSpPr>
          <p:cNvPr id="33" name="Text Box 32"/>
          <p:cNvSpPr txBox="1">
            <a:spLocks noChangeArrowheads="1"/>
          </p:cNvSpPr>
          <p:nvPr/>
        </p:nvSpPr>
        <p:spPr bwMode="auto">
          <a:xfrm>
            <a:off x="8488046" y="5123457"/>
            <a:ext cx="78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00H</a:t>
            </a:r>
            <a:endParaRPr lang="zh-CN" altLang="zh-CN" sz="2400"/>
          </a:p>
        </p:txBody>
      </p:sp>
      <p:sp>
        <p:nvSpPr>
          <p:cNvPr id="34" name="AutoShape 33"/>
          <p:cNvSpPr/>
          <p:nvPr/>
        </p:nvSpPr>
        <p:spPr bwMode="auto">
          <a:xfrm>
            <a:off x="9448484" y="5023445"/>
            <a:ext cx="127000" cy="358775"/>
          </a:xfrm>
          <a:prstGeom prst="rightBrace">
            <a:avLst>
              <a:gd name="adj1" fmla="val 23542"/>
              <a:gd name="adj2" fmla="val 50000"/>
            </a:avLst>
          </a:prstGeom>
          <a:noFill/>
          <a:ln w="952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zh-CN" altLang="zh-CN"/>
          </a:p>
        </p:txBody>
      </p:sp>
      <p:sp>
        <p:nvSpPr>
          <p:cNvPr id="35" name="Text Box 34"/>
          <p:cNvSpPr txBox="1">
            <a:spLocks noChangeArrowheads="1"/>
          </p:cNvSpPr>
          <p:nvPr/>
        </p:nvSpPr>
        <p:spPr bwMode="auto">
          <a:xfrm>
            <a:off x="9527859" y="4961532"/>
            <a:ext cx="615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zh-CN" sz="2400"/>
              <a:t>50</a:t>
            </a:r>
            <a:endParaRPr lang="zh-CN" altLang="zh-CN" sz="240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过程定义伪指令</a:t>
            </a:r>
            <a:endParaRPr lang="zh-CN" altLang="en-US" dirty="0"/>
          </a:p>
        </p:txBody>
      </p:sp>
      <p:sp>
        <p:nvSpPr>
          <p:cNvPr id="3" name="内容占位符 2"/>
          <p:cNvSpPr>
            <a:spLocks noGrp="1"/>
          </p:cNvSpPr>
          <p:nvPr>
            <p:ph idx="1"/>
          </p:nvPr>
        </p:nvSpPr>
        <p:spPr/>
        <p:txBody>
          <a:bodyPr>
            <a:normAutofit/>
          </a:bodyPr>
          <a:lstStyle/>
          <a:p>
            <a:r>
              <a:rPr lang="zh-CN" altLang="zh-CN" b="0" dirty="0">
                <a:latin typeface="Times New Roman" panose="02020603050405020304" pitchFamily="18" charset="0"/>
              </a:rPr>
              <a:t>格式： </a:t>
            </a:r>
            <a:r>
              <a:rPr lang="zh-CN" altLang="zh-CN" dirty="0">
                <a:latin typeface="Times New Roman" panose="02020603050405020304" pitchFamily="18" charset="0"/>
              </a:rPr>
              <a:t>过程名  PROC  [NEAR/FAR] </a:t>
            </a:r>
            <a:endParaRPr lang="zh-CN"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                 …</a:t>
            </a:r>
            <a:endParaRPr lang="zh-CN" altLang="zh-CN" dirty="0">
              <a:latin typeface="Times New Roman" panose="02020603050405020304" pitchFamily="18" charset="0"/>
            </a:endParaRPr>
          </a:p>
          <a:p>
            <a:pPr>
              <a:buFont typeface="Wingdings" panose="05000000000000000000" pitchFamily="2" charset="2"/>
              <a:buNone/>
            </a:pPr>
            <a:r>
              <a:rPr lang="zh-CN" altLang="zh-CN" dirty="0">
                <a:latin typeface="Times New Roman" panose="02020603050405020304" pitchFamily="18" charset="0"/>
              </a:rPr>
              <a:t>                 过程名  ENDP</a:t>
            </a:r>
            <a:endParaRPr lang="zh-CN" altLang="zh-CN" dirty="0">
              <a:latin typeface="Times New Roman" panose="02020603050405020304" pitchFamily="18" charset="0"/>
            </a:endParaRPr>
          </a:p>
          <a:p>
            <a:r>
              <a:rPr lang="zh-CN" altLang="zh-CN" b="0" dirty="0">
                <a:latin typeface="Times New Roman" panose="02020603050405020304" pitchFamily="18" charset="0"/>
                <a:ea typeface="楷体_GB2312" pitchFamily="1" charset="-122"/>
              </a:rPr>
              <a:t>如没有指明类型，则</a:t>
            </a:r>
            <a:r>
              <a:rPr lang="zh-CN" altLang="zh-CN" b="0" dirty="0">
                <a:solidFill>
                  <a:schemeClr val="hlink"/>
                </a:solidFill>
                <a:latin typeface="Times New Roman" panose="02020603050405020304" pitchFamily="18" charset="0"/>
                <a:ea typeface="楷体_GB2312" pitchFamily="1" charset="-122"/>
              </a:rPr>
              <a:t>默认为NEAR类型</a:t>
            </a:r>
            <a:r>
              <a:rPr lang="zh-CN" altLang="zh-CN" b="0" dirty="0">
                <a:latin typeface="Times New Roman" panose="02020603050405020304" pitchFamily="18" charset="0"/>
                <a:ea typeface="楷体_GB2312" pitchFamily="1" charset="-122"/>
              </a:rPr>
              <a:t>。</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PROC和ENDP必须成对出现。</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当一个程序段被定义为过程后，在其它地方就可以通过CALL指令来调用这段程序。 </a:t>
            </a:r>
            <a:endParaRPr lang="zh-CN" altLang="zh-CN"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源程序结束伪指令</a:t>
            </a:r>
            <a:endParaRPr lang="zh-CN" altLang="en-US" dirty="0"/>
          </a:p>
        </p:txBody>
      </p:sp>
      <p:sp>
        <p:nvSpPr>
          <p:cNvPr id="3" name="内容占位符 2"/>
          <p:cNvSpPr>
            <a:spLocks noGrp="1"/>
          </p:cNvSpPr>
          <p:nvPr>
            <p:ph idx="1"/>
          </p:nvPr>
        </p:nvSpPr>
        <p:spPr/>
        <p:txBody>
          <a:bodyPr/>
          <a:lstStyle/>
          <a:p>
            <a:r>
              <a:rPr lang="zh-CN" altLang="zh-CN" b="0" dirty="0">
                <a:latin typeface="Times New Roman" panose="02020603050405020304" pitchFamily="18" charset="0"/>
                <a:ea typeface="楷体_GB2312" pitchFamily="1" charset="-122"/>
              </a:rPr>
              <a:t>格式： </a:t>
            </a:r>
            <a:r>
              <a:rPr lang="zh-CN" altLang="zh-CN" dirty="0">
                <a:latin typeface="Times New Roman" panose="02020603050405020304" pitchFamily="18" charset="0"/>
              </a:rPr>
              <a:t>END  [标号/过程名]</a:t>
            </a:r>
            <a:endParaRPr lang="zh-CN" altLang="zh-CN" dirty="0">
              <a:latin typeface="Times New Roman" panose="02020603050405020304" pitchFamily="18" charset="0"/>
            </a:endParaRPr>
          </a:p>
          <a:p>
            <a:r>
              <a:rPr lang="zh-CN" altLang="zh-CN" b="0" dirty="0">
                <a:latin typeface="Times New Roman" panose="02020603050405020304" pitchFamily="18" charset="0"/>
                <a:ea typeface="楷体_GB2312" pitchFamily="1" charset="-122"/>
              </a:rPr>
              <a:t>该语句为源程序的最后一个语句，表示源程序的结束。</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其中标号表示程序开始执行的起始地址。</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若有多个模块相连接，则只有主模块要使用标号，其他模块只使用END而不必指定标号</a:t>
            </a:r>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程序设计的基本步骤</a:t>
            </a:r>
            <a:endParaRPr lang="zh-CN" altLang="en-US" dirty="0"/>
          </a:p>
        </p:txBody>
      </p:sp>
      <p:sp>
        <p:nvSpPr>
          <p:cNvPr id="3" name="内容占位符 2"/>
          <p:cNvSpPr>
            <a:spLocks noGrp="1"/>
          </p:cNvSpPr>
          <p:nvPr>
            <p:ph idx="1"/>
          </p:nvPr>
        </p:nvSpPr>
        <p:spPr/>
        <p:txBody>
          <a:bodyPr/>
          <a:lstStyle/>
          <a:p>
            <a:pPr>
              <a:lnSpc>
                <a:spcPct val="90000"/>
              </a:lnSpc>
            </a:pPr>
            <a:r>
              <a:rPr lang="zh-CN" altLang="zh-CN" b="0" dirty="0"/>
              <a:t>分析问题，建立数学模型</a:t>
            </a:r>
            <a:endParaRPr lang="zh-CN" altLang="zh-CN" b="0" dirty="0"/>
          </a:p>
          <a:p>
            <a:pPr>
              <a:lnSpc>
                <a:spcPct val="90000"/>
              </a:lnSpc>
            </a:pPr>
            <a:r>
              <a:rPr lang="zh-CN" altLang="zh-CN" b="0" dirty="0"/>
              <a:t>确定算法</a:t>
            </a:r>
            <a:endParaRPr lang="zh-CN" altLang="zh-CN" b="0" dirty="0"/>
          </a:p>
          <a:p>
            <a:pPr>
              <a:lnSpc>
                <a:spcPct val="90000"/>
              </a:lnSpc>
            </a:pPr>
            <a:r>
              <a:rPr lang="zh-CN" altLang="zh-CN" b="0" dirty="0"/>
              <a:t>绘制流程图</a:t>
            </a:r>
            <a:endParaRPr lang="zh-CN" altLang="zh-CN" b="0" dirty="0"/>
          </a:p>
          <a:p>
            <a:pPr>
              <a:lnSpc>
                <a:spcPct val="90000"/>
              </a:lnSpc>
            </a:pPr>
            <a:r>
              <a:rPr lang="zh-CN" altLang="zh-CN" b="0" dirty="0">
                <a:solidFill>
                  <a:schemeClr val="hlink"/>
                </a:solidFill>
              </a:rPr>
              <a:t>分配存储器及寄存器</a:t>
            </a:r>
            <a:endParaRPr lang="zh-CN" altLang="zh-CN" b="0" dirty="0">
              <a:solidFill>
                <a:schemeClr val="hlink"/>
              </a:solidFill>
            </a:endParaRPr>
          </a:p>
          <a:p>
            <a:pPr>
              <a:lnSpc>
                <a:spcPct val="90000"/>
              </a:lnSpc>
            </a:pPr>
            <a:r>
              <a:rPr lang="zh-CN" altLang="zh-CN" b="0" dirty="0"/>
              <a:t>编制程序</a:t>
            </a:r>
            <a:endParaRPr lang="zh-CN" altLang="zh-CN" b="0" dirty="0"/>
          </a:p>
          <a:p>
            <a:pPr>
              <a:lnSpc>
                <a:spcPct val="90000"/>
              </a:lnSpc>
            </a:pPr>
            <a:r>
              <a:rPr lang="zh-CN" altLang="zh-CN" b="0" dirty="0"/>
              <a:t>调试程序</a:t>
            </a:r>
            <a:endParaRPr lang="zh-CN" altLang="zh-CN" b="0" dirty="0"/>
          </a:p>
          <a:p>
            <a:pPr>
              <a:lnSpc>
                <a:spcPct val="90000"/>
              </a:lnSpc>
            </a:pPr>
            <a:r>
              <a:rPr lang="zh-CN" altLang="zh-CN" b="0" dirty="0"/>
              <a:t>整理开发文档、投入使用</a:t>
            </a:r>
            <a:endParaRPr lang="zh-CN" altLang="zh-CN" b="0" dirty="0"/>
          </a:p>
          <a:p>
            <a:pPr>
              <a:lnSpc>
                <a:spcPct val="90000"/>
              </a:lnSpc>
            </a:pPr>
            <a:r>
              <a:rPr lang="zh-CN" altLang="zh-CN" b="0" dirty="0">
                <a:ea typeface="楷体_GB2312" pitchFamily="1" charset="-122"/>
              </a:rPr>
              <a:t>程序的基本结构有三种形式：顺序结构、分支结构和循环结构。</a:t>
            </a:r>
            <a:r>
              <a:rPr lang="zh-CN" altLang="zh-CN" b="0" dirty="0"/>
              <a:t> </a:t>
            </a:r>
            <a:endParaRPr lang="zh-CN" altLang="zh-CN" b="0" dirty="0"/>
          </a:p>
          <a:p>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顺序结构程序设计</a:t>
            </a:r>
            <a:endParaRPr lang="zh-CN" altLang="en-US" dirty="0"/>
          </a:p>
        </p:txBody>
      </p:sp>
      <p:sp>
        <p:nvSpPr>
          <p:cNvPr id="3" name="内容占位符 2"/>
          <p:cNvSpPr>
            <a:spLocks noGrp="1"/>
          </p:cNvSpPr>
          <p:nvPr>
            <p:ph idx="1"/>
          </p:nvPr>
        </p:nvSpPr>
        <p:spPr/>
        <p:txBody>
          <a:bodyPr/>
          <a:lstStyle/>
          <a:p>
            <a:r>
              <a:rPr lang="zh-CN" altLang="zh-CN" b="0" dirty="0">
                <a:latin typeface="Times New Roman" panose="02020603050405020304" pitchFamily="18" charset="0"/>
                <a:ea typeface="楷体_GB2312" pitchFamily="1" charset="-122"/>
              </a:rPr>
              <a:t>顺序程序是指程序在执行时是完全按照指令的存放顺序从第一条开始逐条执行，直到最后一条指令为止。</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用顺序程序能较好地完成一些基本功能，例如数据的传送和交接、查找和算术运算等。</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它是构成复杂程序的基础。</a:t>
            </a:r>
            <a:r>
              <a:rPr lang="zh-CN" altLang="zh-CN" dirty="0">
                <a:latin typeface="Times New Roman" panose="02020603050405020304" pitchFamily="18" charset="0"/>
                <a:ea typeface="楷体_GB2312" pitchFamily="1" charset="-122"/>
              </a:rPr>
              <a:t> </a:t>
            </a:r>
            <a:endParaRPr lang="zh-CN" altLang="zh-CN"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850300" y="535577"/>
            <a:ext cx="4103688" cy="5373509"/>
          </a:xfrm>
          <a:prstGeom prst="rect">
            <a:avLst/>
          </a:prstGeom>
          <a:noFill/>
          <a:ln w="38100" cmpd="dbl">
            <a:solidFill>
              <a:srgbClr val="3333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just" rtl="0" fontAlgn="base">
              <a:spcBef>
                <a:spcPct val="20000"/>
              </a:spcBef>
              <a:spcAft>
                <a:spcPct val="0"/>
              </a:spcAft>
              <a:buClr>
                <a:schemeClr val="folHlink"/>
              </a:buClr>
              <a:buSzPct val="60000"/>
              <a:buFont typeface="Wingdings" panose="05000000000000000000" pitchFamily="2" charset="2"/>
              <a:buChar char="Ø"/>
              <a:defRPr sz="3200" b="1" kern="1200">
                <a:solidFill>
                  <a:schemeClr val="tx1"/>
                </a:solidFill>
                <a:latin typeface="+mn-lt"/>
                <a:ea typeface="+mn-ea"/>
                <a:cs typeface="+mn-cs"/>
              </a:defRPr>
            </a:lvl1pPr>
            <a:lvl2pPr marL="742950" indent="-285750" algn="just" rtl="0" fontAlgn="base">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mn-ea"/>
                <a:cs typeface="+mn-cs"/>
              </a:defRPr>
            </a:lvl2pPr>
            <a:lvl3pPr marL="1143000" indent="-228600" algn="just" rtl="0" fontAlgn="base">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mn-ea"/>
                <a:cs typeface="+mn-cs"/>
              </a:defRPr>
            </a:lvl3pPr>
            <a:lvl4pPr marL="1600200" indent="-228600" algn="just" rtl="0" fontAlgn="base">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mn-ea"/>
                <a:cs typeface="+mn-cs"/>
              </a:defRPr>
            </a:lvl4pPr>
            <a:lvl5pPr marL="2057400" indent="-228600" algn="just" rtl="0" fontAlgn="base">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lang="zh-CN" altLang="en-US" sz="2800" b="0" dirty="0">
                <a:solidFill>
                  <a:srgbClr val="000000"/>
                </a:solidFill>
                <a:latin typeface="+mn-ea"/>
              </a:rPr>
              <a:t>例：</a:t>
            </a:r>
            <a:r>
              <a:rPr kumimoji="0" lang="zh-CN" altLang="zh-CN" sz="2800" b="0" i="0" u="none" strike="noStrike" kern="1200" cap="none" spc="0" normalizeH="0" baseline="0" noProof="0" dirty="0">
                <a:ln>
                  <a:noFill/>
                </a:ln>
                <a:solidFill>
                  <a:srgbClr val="000000"/>
                </a:solidFill>
                <a:effectLst/>
                <a:uLnTx/>
                <a:uFillTx/>
                <a:latin typeface="+mn-ea"/>
                <a:cs typeface="+mn-cs"/>
              </a:rPr>
              <a:t>设内存单元DATA存放一字节无符号数，编程将其拆成二个一位十六进制数，HEX单元存放低位十六进制数，HEX+1单元存放高位十六进制数。</a:t>
            </a:r>
            <a:endParaRPr kumimoji="0" lang="en-US" altLang="zh-CN" sz="2800" b="0" i="0" u="none" strike="noStrike" kern="1200" cap="none" spc="0" normalizeH="0" baseline="0" noProof="0" dirty="0">
              <a:ln>
                <a:noFill/>
              </a:ln>
              <a:solidFill>
                <a:srgbClr val="000000"/>
              </a:solidFill>
              <a:effectLst/>
              <a:uLnTx/>
              <a:uFillTx/>
              <a:latin typeface="+mn-ea"/>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endParaRPr kumimoji="0" lang="zh-CN"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DSEG   SEGMENT</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DATA  DB  8AH</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HEX     DB  0，0</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DSEG   ENDS</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SSEG   SEGMENT STACK</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STK     DB   100 DUP(？)</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0" marR="0" lvl="0" indent="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SSEG   ENDS</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p:txBody>
      </p:sp>
      <p:sp>
        <p:nvSpPr>
          <p:cNvPr id="5" name="Text Box 4"/>
          <p:cNvSpPr txBox="1">
            <a:spLocks noChangeArrowheads="1"/>
          </p:cNvSpPr>
          <p:nvPr/>
        </p:nvSpPr>
        <p:spPr bwMode="auto">
          <a:xfrm>
            <a:off x="7150466" y="1628775"/>
            <a:ext cx="4103688" cy="4041775"/>
          </a:xfrm>
          <a:prstGeom prst="rect">
            <a:avLst/>
          </a:prstGeom>
          <a:noFill/>
          <a:ln w="38100" cmpd="dbl">
            <a:solidFill>
              <a:srgbClr val="00E4A8"/>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CSEG   SEGMENT</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ASSUME  CS:CSEG,DS:DSEG,SS：SSEG</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START: MOV  AX，DSEG</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MOV  DS，AX</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MOV  AL，DATA；无符号数送AL</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MOV  AH，AL；保存副本到AH </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AND  AL，0FH ；屏蔽高四位</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MOV  HEX，AL；保存低四位</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AND  AH，0F0H ；屏蔽低四位</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MOV  CL，4</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SHR   AH，CL；右移四位</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MOV   HEX+1，AH；保存高四位</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MOV   AH，4CH</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INT    21H ；返回操作系统</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CSEG    ENDS</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rPr>
              <a:t>              END  START </a:t>
            </a:r>
            <a:endParaRPr kumimoji="0" lang="zh-CN" altLang="zh-CN" sz="16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分支结构程序设计</a:t>
            </a:r>
            <a:endParaRPr lang="zh-CN" altLang="en-US" dirty="0"/>
          </a:p>
        </p:txBody>
      </p:sp>
      <p:sp>
        <p:nvSpPr>
          <p:cNvPr id="3" name="内容占位符 2"/>
          <p:cNvSpPr>
            <a:spLocks noGrp="1"/>
          </p:cNvSpPr>
          <p:nvPr>
            <p:ph idx="1"/>
          </p:nvPr>
        </p:nvSpPr>
        <p:spPr/>
        <p:txBody>
          <a:bodyPr/>
          <a:lstStyle/>
          <a:p>
            <a:r>
              <a:rPr lang="zh-CN" altLang="en-US" dirty="0"/>
              <a:t>分支程序是根据不同条件而跳到不同的程序段去执行。</a:t>
            </a:r>
            <a:endParaRPr lang="zh-CN" altLang="en-US" dirty="0"/>
          </a:p>
          <a:p>
            <a:r>
              <a:rPr lang="zh-CN" altLang="en-US" dirty="0"/>
              <a:t>在汇编语言程序设计中，跳跃是通过条件转移指令来实现的。</a:t>
            </a:r>
            <a:endParaRPr lang="zh-CN" altLang="en-US" dirty="0"/>
          </a:p>
          <a:p>
            <a:r>
              <a:rPr lang="zh-CN" altLang="en-US" dirty="0"/>
              <a:t>分支程序结构有不完全分支结构和完全分支结构两种基本形式。</a:t>
            </a:r>
            <a:endParaRPr lang="zh-CN" altLang="en-US" dirty="0"/>
          </a:p>
        </p:txBody>
      </p:sp>
      <p:pic>
        <p:nvPicPr>
          <p:cNvPr id="4" name="图片 3"/>
          <p:cNvPicPr>
            <a:picLocks noChangeAspect="1"/>
          </p:cNvPicPr>
          <p:nvPr/>
        </p:nvPicPr>
        <p:blipFill>
          <a:blip r:embed="rId1" cstate="print"/>
          <a:stretch>
            <a:fillRect/>
          </a:stretch>
        </p:blipFill>
        <p:spPr>
          <a:xfrm>
            <a:off x="3157809" y="4001294"/>
            <a:ext cx="5667375" cy="2752725"/>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分支结构程序设计</a:t>
            </a:r>
            <a:endParaRPr lang="zh-CN" altLang="en-US" dirty="0"/>
          </a:p>
        </p:txBody>
      </p:sp>
      <p:sp>
        <p:nvSpPr>
          <p:cNvPr id="3" name="内容占位符 2"/>
          <p:cNvSpPr>
            <a:spLocks noGrp="1"/>
          </p:cNvSpPr>
          <p:nvPr>
            <p:ph idx="1"/>
          </p:nvPr>
        </p:nvSpPr>
        <p:spPr/>
        <p:txBody>
          <a:bodyPr/>
          <a:lstStyle/>
          <a:p>
            <a:pPr marL="0" indent="0">
              <a:buNone/>
            </a:pPr>
            <a:r>
              <a:rPr lang="en-US" altLang="zh-CN" dirty="0"/>
              <a:t>(1)</a:t>
            </a:r>
            <a:r>
              <a:rPr lang="zh-CN" altLang="en-US" dirty="0"/>
              <a:t>不完全分支结构</a:t>
            </a:r>
            <a:endParaRPr lang="en-US" altLang="zh-CN" dirty="0"/>
          </a:p>
          <a:p>
            <a:pPr marL="0" indent="0">
              <a:buNone/>
            </a:pPr>
            <a:r>
              <a:rPr lang="zh-CN" altLang="en-US" dirty="0"/>
              <a:t>不完全分支结构比较简单，当不满足条件时会跳过一些语句，执行下面的语句。</a:t>
            </a:r>
            <a:endParaRPr lang="zh-CN" altLang="en-US" dirty="0"/>
          </a:p>
        </p:txBody>
      </p:sp>
      <p:sp>
        <p:nvSpPr>
          <p:cNvPr id="5" name="文本框 4"/>
          <p:cNvSpPr txBox="1"/>
          <p:nvPr/>
        </p:nvSpPr>
        <p:spPr>
          <a:xfrm>
            <a:off x="968830" y="3375049"/>
            <a:ext cx="3603170" cy="2246769"/>
          </a:xfrm>
          <a:prstGeom prst="rect">
            <a:avLst/>
          </a:prstGeom>
          <a:noFill/>
        </p:spPr>
        <p:txBody>
          <a:bodyPr wrap="square">
            <a:spAutoFit/>
          </a:bodyPr>
          <a:lstStyle/>
          <a:p>
            <a:pPr algn="l"/>
            <a:r>
              <a:rPr lang="zh-CN" altLang="en-US" sz="2800" b="0" i="0" u="none" strike="noStrike" baseline="0" dirty="0">
                <a:latin typeface="楷体" panose="02010609060101010101" pitchFamily="49" charset="-122"/>
                <a:ea typeface="楷体" panose="02010609060101010101" pitchFamily="49" charset="-122"/>
              </a:rPr>
              <a:t>例：设有单字节无符</a:t>
            </a:r>
            <a:endParaRPr lang="zh-CN" altLang="en-US" sz="2800" b="0" i="0" u="none" strike="noStrike" baseline="0" dirty="0">
              <a:latin typeface="楷体" panose="02010609060101010101" pitchFamily="49" charset="-122"/>
              <a:ea typeface="楷体" panose="02010609060101010101" pitchFamily="49" charset="-122"/>
            </a:endParaRPr>
          </a:p>
          <a:p>
            <a:pPr algn="l"/>
            <a:r>
              <a:rPr lang="zh-CN" altLang="en-US" sz="2800" b="0" i="0" u="none" strike="noStrike" baseline="0" dirty="0">
                <a:latin typeface="楷体" panose="02010609060101010101" pitchFamily="49" charset="-122"/>
                <a:ea typeface="楷体" panose="02010609060101010101" pitchFamily="49" charset="-122"/>
              </a:rPr>
              <a:t>号数</a:t>
            </a:r>
            <a:r>
              <a:rPr lang="en-US" altLang="zh-CN" sz="2800" b="0" i="0" u="none" strike="noStrike" baseline="0" dirty="0">
                <a:latin typeface="楷体" panose="02010609060101010101" pitchFamily="49" charset="-122"/>
                <a:ea typeface="楷体" panose="02010609060101010101" pitchFamily="49" charset="-122"/>
              </a:rPr>
              <a:t>X</a:t>
            </a:r>
            <a:r>
              <a:rPr lang="zh-CN" altLang="en-US" sz="2800" b="0" i="0" u="none" strike="noStrike" baseline="0" dirty="0">
                <a:latin typeface="楷体" panose="02010609060101010101" pitchFamily="49" charset="-122"/>
                <a:ea typeface="楷体" panose="02010609060101010101" pitchFamily="49" charset="-122"/>
              </a:rPr>
              <a:t>，</a:t>
            </a:r>
            <a:r>
              <a:rPr lang="en-US" altLang="zh-CN" sz="2800" b="0" i="0" u="none" strike="noStrike" baseline="0" dirty="0">
                <a:latin typeface="楷体" panose="02010609060101010101" pitchFamily="49" charset="-122"/>
                <a:ea typeface="楷体" panose="02010609060101010101" pitchFamily="49" charset="-122"/>
              </a:rPr>
              <a:t>Y</a:t>
            </a:r>
            <a:r>
              <a:rPr lang="zh-CN" altLang="en-US" sz="2800" b="0" i="0" u="none" strike="noStrike" baseline="0" dirty="0">
                <a:latin typeface="楷体" panose="02010609060101010101" pitchFamily="49" charset="-122"/>
                <a:ea typeface="楷体" panose="02010609060101010101" pitchFamily="49" charset="-122"/>
              </a:rPr>
              <a:t>，</a:t>
            </a:r>
            <a:r>
              <a:rPr lang="en-US" altLang="zh-CN" sz="2800" b="0" i="0" u="none" strike="noStrike" baseline="0" dirty="0">
                <a:latin typeface="楷体" panose="02010609060101010101" pitchFamily="49" charset="-122"/>
                <a:ea typeface="楷体" panose="02010609060101010101" pitchFamily="49" charset="-122"/>
              </a:rPr>
              <a:t>Z</a:t>
            </a:r>
            <a:r>
              <a:rPr lang="zh-CN" altLang="en-US" sz="2800" b="0" i="0" u="none" strike="noStrike" baseline="0" dirty="0">
                <a:latin typeface="楷体" panose="02010609060101010101" pitchFamily="49" charset="-122"/>
                <a:ea typeface="楷体" panose="02010609060101010101" pitchFamily="49" charset="-122"/>
              </a:rPr>
              <a:t>，若</a:t>
            </a:r>
            <a:r>
              <a:rPr lang="en-US" altLang="zh-CN" sz="2800" b="0" i="0" u="none" strike="noStrike" baseline="0" dirty="0">
                <a:latin typeface="楷体" panose="02010609060101010101" pitchFamily="49" charset="-122"/>
                <a:ea typeface="楷体" panose="02010609060101010101" pitchFamily="49" charset="-122"/>
              </a:rPr>
              <a:t>X&gt;Y</a:t>
            </a:r>
            <a:r>
              <a:rPr lang="zh-CN" altLang="en-US" sz="2800" b="0" i="0" u="none" strike="noStrike" baseline="0" dirty="0">
                <a:latin typeface="楷体" panose="02010609060101010101" pitchFamily="49" charset="-122"/>
                <a:ea typeface="楷体" panose="02010609060101010101" pitchFamily="49" charset="-122"/>
              </a:rPr>
              <a:t>，</a:t>
            </a:r>
            <a:endParaRPr lang="zh-CN" altLang="en-US" sz="2800" b="0" i="0" u="none" strike="noStrike" baseline="0" dirty="0">
              <a:latin typeface="楷体" panose="02010609060101010101" pitchFamily="49" charset="-122"/>
              <a:ea typeface="楷体" panose="02010609060101010101" pitchFamily="49" charset="-122"/>
            </a:endParaRPr>
          </a:p>
          <a:p>
            <a:pPr algn="l"/>
            <a:r>
              <a:rPr lang="zh-CN" altLang="en-US" sz="2800" b="0" i="0" u="none" strike="noStrike" baseline="0" dirty="0">
                <a:latin typeface="楷体" panose="02010609060101010101" pitchFamily="49" charset="-122"/>
                <a:ea typeface="楷体" panose="02010609060101010101" pitchFamily="49" charset="-122"/>
              </a:rPr>
              <a:t>则结果为</a:t>
            </a:r>
            <a:r>
              <a:rPr lang="en-US" altLang="zh-CN" sz="2800" b="0" i="0" u="none" strike="noStrike" baseline="0" dirty="0">
                <a:latin typeface="楷体" panose="02010609060101010101" pitchFamily="49" charset="-122"/>
                <a:ea typeface="楷体" panose="02010609060101010101" pitchFamily="49" charset="-122"/>
              </a:rPr>
              <a:t>X+Z</a:t>
            </a:r>
            <a:r>
              <a:rPr lang="zh-CN" altLang="en-US" sz="2800" b="0" i="0" u="none" strike="noStrike" baseline="0" dirty="0">
                <a:latin typeface="楷体" panose="02010609060101010101" pitchFamily="49" charset="-122"/>
                <a:ea typeface="楷体" panose="02010609060101010101" pitchFamily="49" charset="-122"/>
              </a:rPr>
              <a:t>，否则结</a:t>
            </a:r>
            <a:endParaRPr lang="zh-CN" altLang="en-US" sz="2800" b="0" i="0" u="none" strike="noStrike" baseline="0" dirty="0">
              <a:latin typeface="楷体" panose="02010609060101010101" pitchFamily="49" charset="-122"/>
              <a:ea typeface="楷体" panose="02010609060101010101" pitchFamily="49" charset="-122"/>
            </a:endParaRPr>
          </a:p>
          <a:p>
            <a:pPr algn="l"/>
            <a:r>
              <a:rPr lang="zh-CN" altLang="en-US" sz="2800" b="0" i="0" u="none" strike="noStrike" baseline="0" dirty="0">
                <a:latin typeface="楷体" panose="02010609060101010101" pitchFamily="49" charset="-122"/>
                <a:ea typeface="楷体" panose="02010609060101010101" pitchFamily="49" charset="-122"/>
              </a:rPr>
              <a:t>果为</a:t>
            </a:r>
            <a:r>
              <a:rPr lang="en-US" altLang="zh-CN" sz="2800" b="0" i="0" u="none" strike="noStrike" baseline="0" dirty="0">
                <a:latin typeface="楷体" panose="02010609060101010101" pitchFamily="49" charset="-122"/>
                <a:ea typeface="楷体" panose="02010609060101010101" pitchFamily="49" charset="-122"/>
              </a:rPr>
              <a:t>X</a:t>
            </a:r>
            <a:r>
              <a:rPr lang="zh-CN" altLang="en-US" sz="2800" b="0" i="0" u="none" strike="noStrike" baseline="0" dirty="0">
                <a:latin typeface="楷体" panose="02010609060101010101" pitchFamily="49" charset="-122"/>
                <a:ea typeface="楷体" panose="02010609060101010101" pitchFamily="49" charset="-122"/>
              </a:rPr>
              <a:t>，要求结果存放</a:t>
            </a:r>
            <a:endParaRPr lang="zh-CN" altLang="en-US" sz="2800" b="0" i="0" u="none" strike="noStrike" baseline="0" dirty="0">
              <a:latin typeface="楷体" panose="02010609060101010101" pitchFamily="49" charset="-122"/>
              <a:ea typeface="楷体" panose="02010609060101010101" pitchFamily="49" charset="-122"/>
            </a:endParaRPr>
          </a:p>
          <a:p>
            <a:pPr algn="l"/>
            <a:r>
              <a:rPr lang="zh-CN" altLang="en-US" sz="2800" b="0" i="0" u="none" strike="noStrike" baseline="0" dirty="0">
                <a:latin typeface="楷体" panose="02010609060101010101" pitchFamily="49" charset="-122"/>
                <a:ea typeface="楷体" panose="02010609060101010101" pitchFamily="49" charset="-122"/>
              </a:rPr>
              <a:t>在</a:t>
            </a:r>
            <a:r>
              <a:rPr lang="en-US" altLang="zh-CN" sz="2800" b="0" i="0" u="none" strike="noStrike" baseline="0" dirty="0">
                <a:latin typeface="楷体" panose="02010609060101010101" pitchFamily="49" charset="-122"/>
                <a:ea typeface="楷体" panose="02010609060101010101" pitchFamily="49" charset="-122"/>
              </a:rPr>
              <a:t>DL</a:t>
            </a:r>
            <a:r>
              <a:rPr lang="zh-CN" altLang="en-US" sz="2800" b="0" i="0" u="none" strike="noStrike" baseline="0" dirty="0">
                <a:latin typeface="楷体" panose="02010609060101010101" pitchFamily="49" charset="-122"/>
                <a:ea typeface="楷体" panose="02010609060101010101" pitchFamily="49" charset="-122"/>
              </a:rPr>
              <a:t>中</a:t>
            </a:r>
            <a:r>
              <a:rPr lang="zh-CN" altLang="en-US" sz="1800" b="0" i="0" u="none" strike="noStrike" baseline="0" dirty="0">
                <a:latin typeface="楷体" panose="02010609060101010101" pitchFamily="49" charset="-122"/>
                <a:ea typeface="楷体" panose="02010609060101010101" pitchFamily="49" charset="-122"/>
              </a:rPr>
              <a:t>。</a:t>
            </a:r>
            <a:endParaRPr lang="zh-CN" altLang="en-US" dirty="0"/>
          </a:p>
        </p:txBody>
      </p:sp>
      <p:sp>
        <p:nvSpPr>
          <p:cNvPr id="7" name="文本框 6"/>
          <p:cNvSpPr txBox="1"/>
          <p:nvPr/>
        </p:nvSpPr>
        <p:spPr>
          <a:xfrm>
            <a:off x="5098868" y="3676674"/>
            <a:ext cx="3603170" cy="2246769"/>
          </a:xfrm>
          <a:prstGeom prst="rect">
            <a:avLst/>
          </a:prstGeom>
          <a:noFill/>
        </p:spPr>
        <p:txBody>
          <a:bodyPr wrap="square">
            <a:spAutoFit/>
          </a:bodyPr>
          <a:lstStyle/>
          <a:p>
            <a:pPr algn="l"/>
            <a:r>
              <a:rPr lang="en-US" altLang="zh-CN" sz="2800" b="0" i="0" u="none" strike="noStrike" baseline="0" dirty="0">
                <a:latin typeface="楷体" panose="02010609060101010101" pitchFamily="49" charset="-122"/>
                <a:ea typeface="楷体" panose="02010609060101010101" pitchFamily="49" charset="-122"/>
              </a:rPr>
              <a:t>      MOV AL</a:t>
            </a:r>
            <a:r>
              <a:rPr lang="zh-CN" altLang="en-US" sz="2800" b="0" i="0" u="none" strike="noStrike" baseline="0" dirty="0">
                <a:latin typeface="楷体" panose="02010609060101010101" pitchFamily="49" charset="-122"/>
                <a:ea typeface="楷体" panose="02010609060101010101" pitchFamily="49" charset="-122"/>
              </a:rPr>
              <a:t>，</a:t>
            </a:r>
            <a:r>
              <a:rPr lang="en-US" altLang="zh-CN" sz="2800" b="0" i="0" u="none" strike="noStrike" baseline="0" dirty="0">
                <a:latin typeface="楷体" panose="02010609060101010101" pitchFamily="49" charset="-122"/>
                <a:ea typeface="楷体" panose="02010609060101010101" pitchFamily="49" charset="-122"/>
              </a:rPr>
              <a:t>X</a:t>
            </a:r>
            <a:endParaRPr lang="en-US" altLang="zh-CN" sz="2800" b="0" i="0" u="none" strike="noStrike" baseline="0" dirty="0">
              <a:latin typeface="楷体" panose="02010609060101010101" pitchFamily="49" charset="-122"/>
              <a:ea typeface="楷体" panose="02010609060101010101" pitchFamily="49" charset="-122"/>
            </a:endParaRPr>
          </a:p>
          <a:p>
            <a:pPr algn="l"/>
            <a:r>
              <a:rPr lang="en-US" altLang="zh-CN" sz="2800" b="0" i="0" u="none" strike="noStrike" baseline="0" dirty="0">
                <a:latin typeface="楷体" panose="02010609060101010101" pitchFamily="49" charset="-122"/>
                <a:ea typeface="楷体" panose="02010609060101010101" pitchFamily="49" charset="-122"/>
              </a:rPr>
              <a:t>     </a:t>
            </a:r>
            <a:r>
              <a:rPr lang="en-US" altLang="zh-CN" sz="2800" b="0" i="0" u="none" strike="noStrike" baseline="0" dirty="0" smtClean="0">
                <a:latin typeface="楷体" panose="02010609060101010101" pitchFamily="49" charset="-122"/>
                <a:ea typeface="楷体" panose="02010609060101010101" pitchFamily="49" charset="-122"/>
              </a:rPr>
              <a:t>CMP  </a:t>
            </a:r>
            <a:r>
              <a:rPr lang="en-US" altLang="zh-CN" sz="2800" b="0" i="0" u="none" strike="noStrike" baseline="0" dirty="0">
                <a:latin typeface="楷体" panose="02010609060101010101" pitchFamily="49" charset="-122"/>
                <a:ea typeface="楷体" panose="02010609060101010101" pitchFamily="49" charset="-122"/>
              </a:rPr>
              <a:t>AL</a:t>
            </a:r>
            <a:r>
              <a:rPr lang="zh-CN" altLang="en-US" sz="2800" b="0" i="0" u="none" strike="noStrike" baseline="0" dirty="0">
                <a:latin typeface="楷体" panose="02010609060101010101" pitchFamily="49" charset="-122"/>
                <a:ea typeface="楷体" panose="02010609060101010101" pitchFamily="49" charset="-122"/>
              </a:rPr>
              <a:t>，</a:t>
            </a:r>
            <a:r>
              <a:rPr lang="en-US" altLang="zh-CN" sz="2800" b="0" i="0" u="none" strike="noStrike" baseline="0" dirty="0">
                <a:latin typeface="楷体" panose="02010609060101010101" pitchFamily="49" charset="-122"/>
                <a:ea typeface="楷体" panose="02010609060101010101" pitchFamily="49" charset="-122"/>
              </a:rPr>
              <a:t>Y</a:t>
            </a:r>
            <a:endParaRPr lang="en-US" altLang="zh-CN" sz="2800" b="0" i="0" u="none" strike="noStrike" baseline="0" dirty="0">
              <a:latin typeface="楷体" panose="02010609060101010101" pitchFamily="49" charset="-122"/>
              <a:ea typeface="楷体" panose="02010609060101010101" pitchFamily="49" charset="-122"/>
            </a:endParaRPr>
          </a:p>
          <a:p>
            <a:pPr algn="l"/>
            <a:r>
              <a:rPr lang="en-US" altLang="zh-CN" sz="2800" b="0" i="0" u="none" strike="noStrike" baseline="0" dirty="0">
                <a:latin typeface="楷体" panose="02010609060101010101" pitchFamily="49" charset="-122"/>
                <a:ea typeface="楷体" panose="02010609060101010101" pitchFamily="49" charset="-122"/>
              </a:rPr>
              <a:t>      JBE NEXT</a:t>
            </a:r>
            <a:endParaRPr lang="en-US" altLang="zh-CN" sz="2800" b="0" i="0" u="none" strike="noStrike" baseline="0" dirty="0">
              <a:latin typeface="楷体" panose="02010609060101010101" pitchFamily="49" charset="-122"/>
              <a:ea typeface="楷体" panose="02010609060101010101" pitchFamily="49" charset="-122"/>
            </a:endParaRPr>
          </a:p>
          <a:p>
            <a:pPr algn="l"/>
            <a:r>
              <a:rPr lang="en-US" altLang="zh-CN" sz="2800" b="0" i="0" u="none" strike="noStrike" baseline="0" dirty="0">
                <a:latin typeface="楷体" panose="02010609060101010101" pitchFamily="49" charset="-122"/>
                <a:ea typeface="楷体" panose="02010609060101010101" pitchFamily="49" charset="-122"/>
              </a:rPr>
              <a:t>      ADD AL</a:t>
            </a:r>
            <a:r>
              <a:rPr lang="zh-CN" altLang="en-US" sz="2800" b="0" i="0" u="none" strike="noStrike" baseline="0" dirty="0">
                <a:latin typeface="楷体" panose="02010609060101010101" pitchFamily="49" charset="-122"/>
                <a:ea typeface="楷体" panose="02010609060101010101" pitchFamily="49" charset="-122"/>
              </a:rPr>
              <a:t>，</a:t>
            </a:r>
            <a:r>
              <a:rPr lang="en-US" altLang="zh-CN" sz="2800" b="0" i="0" u="none" strike="noStrike" baseline="0" dirty="0">
                <a:latin typeface="楷体" panose="02010609060101010101" pitchFamily="49" charset="-122"/>
                <a:ea typeface="楷体" panose="02010609060101010101" pitchFamily="49" charset="-122"/>
              </a:rPr>
              <a:t>Z</a:t>
            </a:r>
            <a:endParaRPr lang="en-US" altLang="zh-CN" sz="2800" b="0" i="0" u="none" strike="noStrike" baseline="0" dirty="0">
              <a:latin typeface="楷体" panose="02010609060101010101" pitchFamily="49" charset="-122"/>
              <a:ea typeface="楷体" panose="02010609060101010101" pitchFamily="49" charset="-122"/>
            </a:endParaRPr>
          </a:p>
          <a:p>
            <a:pPr algn="l"/>
            <a:r>
              <a:rPr lang="en-US" altLang="zh-CN" sz="2800" b="0" i="0" u="none" strike="noStrike" baseline="0" dirty="0">
                <a:latin typeface="楷体" panose="02010609060101010101" pitchFamily="49" charset="-122"/>
                <a:ea typeface="楷体" panose="02010609060101010101" pitchFamily="49" charset="-122"/>
              </a:rPr>
              <a:t>NEXT</a:t>
            </a:r>
            <a:r>
              <a:rPr lang="zh-CN" altLang="en-US" sz="2800" b="0" i="0" u="none" strike="noStrike" baseline="0" dirty="0">
                <a:latin typeface="楷体" panose="02010609060101010101" pitchFamily="49" charset="-122"/>
                <a:ea typeface="楷体" panose="02010609060101010101" pitchFamily="49" charset="-122"/>
              </a:rPr>
              <a:t>：</a:t>
            </a:r>
            <a:r>
              <a:rPr lang="en-US" altLang="zh-CN" sz="2800" b="0" i="0" u="none" strike="noStrike" baseline="0" dirty="0">
                <a:latin typeface="楷体" panose="02010609060101010101" pitchFamily="49" charset="-122"/>
                <a:ea typeface="楷体" panose="02010609060101010101" pitchFamily="49" charset="-122"/>
              </a:rPr>
              <a:t>MOV DL</a:t>
            </a:r>
            <a:r>
              <a:rPr lang="zh-CN" altLang="en-US" sz="2800" b="0" i="0" u="none" strike="noStrike" baseline="0" dirty="0">
                <a:latin typeface="楷体" panose="02010609060101010101" pitchFamily="49" charset="-122"/>
                <a:ea typeface="楷体" panose="02010609060101010101" pitchFamily="49" charset="-122"/>
              </a:rPr>
              <a:t>，</a:t>
            </a:r>
            <a:r>
              <a:rPr lang="en-US" altLang="zh-CN" sz="2800" b="0" i="0" u="none" strike="noStrike" baseline="0" dirty="0">
                <a:latin typeface="楷体" panose="02010609060101010101" pitchFamily="49" charset="-122"/>
                <a:ea typeface="楷体" panose="02010609060101010101" pitchFamily="49" charset="-122"/>
              </a:rPr>
              <a:t>AL</a:t>
            </a:r>
            <a:endParaRPr lang="zh-CN" altLang="en-US" sz="2800" dirty="0"/>
          </a:p>
        </p:txBody>
      </p:sp>
      <p:sp>
        <p:nvSpPr>
          <p:cNvPr id="9" name="文本框 8"/>
          <p:cNvSpPr txBox="1"/>
          <p:nvPr/>
        </p:nvSpPr>
        <p:spPr>
          <a:xfrm>
            <a:off x="2315393" y="5923443"/>
            <a:ext cx="7991202" cy="707886"/>
          </a:xfrm>
          <a:prstGeom prst="rect">
            <a:avLst/>
          </a:prstGeom>
          <a:noFill/>
        </p:spPr>
        <p:txBody>
          <a:bodyPr wrap="square">
            <a:spAutoFit/>
          </a:bodyPr>
          <a:lstStyle/>
          <a:p>
            <a:pPr algn="l"/>
            <a:r>
              <a:rPr lang="zh-CN" altLang="en-US" sz="2000" b="1" i="0" u="none" strike="noStrike" baseline="0" dirty="0">
                <a:solidFill>
                  <a:srgbClr val="964F72"/>
                </a:solidFill>
                <a:latin typeface="楷体" panose="02010609060101010101" pitchFamily="49" charset="-122"/>
                <a:ea typeface="楷体" panose="02010609060101010101" pitchFamily="49" charset="-122"/>
              </a:rPr>
              <a:t>说明：程序通过比较</a:t>
            </a:r>
            <a:r>
              <a:rPr lang="en-US" altLang="zh-CN" sz="2000" b="1" i="0" u="none" strike="noStrike" baseline="0" dirty="0">
                <a:solidFill>
                  <a:srgbClr val="964F72"/>
                </a:solidFill>
                <a:latin typeface="楷体" panose="02010609060101010101" pitchFamily="49" charset="-122"/>
                <a:ea typeface="楷体" panose="02010609060101010101" pitchFamily="49" charset="-122"/>
              </a:rPr>
              <a:t>X</a:t>
            </a:r>
            <a:r>
              <a:rPr lang="zh-CN" altLang="en-US" sz="2000" b="1" i="0" u="none" strike="noStrike" baseline="0" dirty="0">
                <a:solidFill>
                  <a:srgbClr val="964F72"/>
                </a:solidFill>
                <a:latin typeface="楷体" panose="02010609060101010101" pitchFamily="49" charset="-122"/>
                <a:ea typeface="楷体" panose="02010609060101010101" pitchFamily="49" charset="-122"/>
              </a:rPr>
              <a:t>和</a:t>
            </a:r>
            <a:r>
              <a:rPr lang="en-US" altLang="zh-CN" sz="2000" b="1" i="0" u="none" strike="noStrike" baseline="0" dirty="0">
                <a:solidFill>
                  <a:srgbClr val="964F72"/>
                </a:solidFill>
                <a:latin typeface="楷体" panose="02010609060101010101" pitchFamily="49" charset="-122"/>
                <a:ea typeface="楷体" panose="02010609060101010101" pitchFamily="49" charset="-122"/>
              </a:rPr>
              <a:t>Y</a:t>
            </a:r>
            <a:r>
              <a:rPr lang="zh-CN" altLang="en-US" sz="2000" b="1" i="0" u="none" strike="noStrike" baseline="0" dirty="0">
                <a:solidFill>
                  <a:srgbClr val="964F72"/>
                </a:solidFill>
                <a:latin typeface="楷体" panose="02010609060101010101" pitchFamily="49" charset="-122"/>
                <a:ea typeface="楷体" panose="02010609060101010101" pitchFamily="49" charset="-122"/>
              </a:rPr>
              <a:t>的大小，若</a:t>
            </a:r>
            <a:r>
              <a:rPr lang="en-US" altLang="zh-CN" sz="2000" b="1" i="0" u="none" strike="noStrike" baseline="0" dirty="0">
                <a:solidFill>
                  <a:srgbClr val="964F72"/>
                </a:solidFill>
                <a:latin typeface="楷体" panose="02010609060101010101" pitchFamily="49" charset="-122"/>
                <a:ea typeface="楷体" panose="02010609060101010101" pitchFamily="49" charset="-122"/>
              </a:rPr>
              <a:t>X</a:t>
            </a:r>
            <a:r>
              <a:rPr lang="en-US" altLang="zh-CN" sz="2000" b="1" i="0" u="none" strike="noStrike" baseline="0" dirty="0">
                <a:solidFill>
                  <a:srgbClr val="000000"/>
                </a:solidFill>
                <a:latin typeface="楷体" panose="02010609060101010101" pitchFamily="49" charset="-122"/>
                <a:ea typeface="楷体" panose="02010609060101010101" pitchFamily="49" charset="-122"/>
              </a:rPr>
              <a:t>&gt;</a:t>
            </a:r>
            <a:r>
              <a:rPr lang="en-US" altLang="zh-CN" sz="2000" b="1" i="0" u="none" strike="noStrike" baseline="0" dirty="0">
                <a:solidFill>
                  <a:srgbClr val="964F72"/>
                </a:solidFill>
                <a:latin typeface="楷体" panose="02010609060101010101" pitchFamily="49" charset="-122"/>
                <a:ea typeface="楷体" panose="02010609060101010101" pitchFamily="49" charset="-122"/>
              </a:rPr>
              <a:t>Y</a:t>
            </a:r>
            <a:r>
              <a:rPr lang="zh-CN" altLang="en-US" sz="2000" b="1" i="0" u="none" strike="noStrike" baseline="0" dirty="0">
                <a:solidFill>
                  <a:srgbClr val="964F72"/>
                </a:solidFill>
                <a:latin typeface="楷体" panose="02010609060101010101" pitchFamily="49" charset="-122"/>
                <a:ea typeface="楷体" panose="02010609060101010101" pitchFamily="49" charset="-122"/>
              </a:rPr>
              <a:t>不成立，就跳过了</a:t>
            </a:r>
            <a:r>
              <a:rPr lang="en-US" altLang="zh-CN" sz="2000" b="1" i="0" u="none" strike="noStrike" baseline="0" dirty="0">
                <a:solidFill>
                  <a:srgbClr val="964F72"/>
                </a:solidFill>
                <a:latin typeface="楷体" panose="02010609060101010101" pitchFamily="49" charset="-122"/>
                <a:ea typeface="楷体" panose="02010609060101010101" pitchFamily="49" charset="-122"/>
              </a:rPr>
              <a:t>ADD AL</a:t>
            </a:r>
            <a:r>
              <a:rPr lang="zh-CN" altLang="en-US" sz="2000" b="1" i="0" u="none" strike="noStrike" baseline="0" dirty="0">
                <a:solidFill>
                  <a:srgbClr val="964F72"/>
                </a:solidFill>
                <a:latin typeface="楷体" panose="02010609060101010101" pitchFamily="49" charset="-122"/>
                <a:ea typeface="楷体" panose="02010609060101010101" pitchFamily="49" charset="-122"/>
              </a:rPr>
              <a:t>，</a:t>
            </a:r>
            <a:endParaRPr lang="zh-CN" altLang="en-US" sz="2000" b="1" i="0" u="none" strike="noStrike" baseline="0" dirty="0">
              <a:solidFill>
                <a:srgbClr val="964F72"/>
              </a:solidFill>
              <a:latin typeface="楷体" panose="02010609060101010101" pitchFamily="49" charset="-122"/>
              <a:ea typeface="楷体" panose="02010609060101010101" pitchFamily="49" charset="-122"/>
            </a:endParaRPr>
          </a:p>
          <a:p>
            <a:pPr algn="l"/>
            <a:r>
              <a:rPr lang="en-US" altLang="zh-CN" sz="2000" b="1" i="0" u="none" strike="noStrike" baseline="0" dirty="0">
                <a:solidFill>
                  <a:srgbClr val="964F72"/>
                </a:solidFill>
                <a:latin typeface="楷体" panose="02010609060101010101" pitchFamily="49" charset="-122"/>
                <a:ea typeface="楷体" panose="02010609060101010101" pitchFamily="49" charset="-122"/>
              </a:rPr>
              <a:t>Z</a:t>
            </a:r>
            <a:r>
              <a:rPr lang="zh-CN" altLang="en-US" sz="2000" b="1" i="0" u="none" strike="noStrike" baseline="0" dirty="0">
                <a:solidFill>
                  <a:srgbClr val="964F72"/>
                </a:solidFill>
                <a:latin typeface="楷体" panose="02010609060101010101" pitchFamily="49" charset="-122"/>
                <a:ea typeface="楷体" panose="02010609060101010101" pitchFamily="49" charset="-122"/>
              </a:rPr>
              <a:t>这条指令，执行</a:t>
            </a:r>
            <a:r>
              <a:rPr lang="en-US" altLang="zh-CN" sz="2000" b="1" i="0" u="none" strike="noStrike" baseline="0" dirty="0">
                <a:solidFill>
                  <a:srgbClr val="964F72"/>
                </a:solidFill>
                <a:latin typeface="楷体" panose="02010609060101010101" pitchFamily="49" charset="-122"/>
                <a:ea typeface="楷体" panose="02010609060101010101" pitchFamily="49" charset="-122"/>
              </a:rPr>
              <a:t>NEXT</a:t>
            </a:r>
            <a:r>
              <a:rPr lang="zh-CN" altLang="en-US" sz="2000" b="1" i="0" u="none" strike="noStrike" baseline="0" dirty="0">
                <a:solidFill>
                  <a:srgbClr val="964F72"/>
                </a:solidFill>
                <a:latin typeface="楷体" panose="02010609060101010101" pitchFamily="49" charset="-122"/>
                <a:ea typeface="楷体" panose="02010609060101010101" pitchFamily="49" charset="-122"/>
              </a:rPr>
              <a:t>标号处的语句。</a:t>
            </a:r>
            <a:endParaRPr lang="zh-CN" altLang="en-US"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分支结构程序设计</a:t>
            </a:r>
            <a:endParaRPr lang="zh-CN" altLang="en-US" dirty="0"/>
          </a:p>
        </p:txBody>
      </p:sp>
      <p:sp>
        <p:nvSpPr>
          <p:cNvPr id="3" name="内容占位符 2"/>
          <p:cNvSpPr>
            <a:spLocks noGrp="1"/>
          </p:cNvSpPr>
          <p:nvPr>
            <p:ph idx="1"/>
          </p:nvPr>
        </p:nvSpPr>
        <p:spPr/>
        <p:txBody>
          <a:bodyPr/>
          <a:lstStyle/>
          <a:p>
            <a:r>
              <a:rPr lang="zh-CN" altLang="en-US" dirty="0"/>
              <a:t>完全分支结构又称二路分支结构。</a:t>
            </a:r>
            <a:endParaRPr lang="zh-CN" altLang="en-US" dirty="0"/>
          </a:p>
          <a:p>
            <a:r>
              <a:rPr lang="zh-CN" altLang="en-US" dirty="0"/>
              <a:t>编制二路分支程序的关键是在分支程序</a:t>
            </a:r>
            <a:r>
              <a:rPr lang="en-US" altLang="zh-CN" dirty="0"/>
              <a:t>1</a:t>
            </a:r>
            <a:r>
              <a:rPr lang="zh-CN" altLang="en-US" dirty="0"/>
              <a:t>执行完后需要加一条无条件转移指令，以使程序跳过分支程序，避免重复执行该分支。</a:t>
            </a:r>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分支结构程序设计</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800" b="0" i="0" u="none" strike="noStrike" baseline="0" dirty="0">
                <a:latin typeface="楷体" panose="02010609060101010101" pitchFamily="49" charset="-122"/>
                <a:ea typeface="楷体" panose="02010609060101010101" pitchFamily="49" charset="-122"/>
              </a:rPr>
              <a:t>例</a:t>
            </a:r>
            <a:r>
              <a:rPr lang="zh-CN" altLang="en-US" dirty="0" smtClean="0">
                <a:latin typeface="楷体" panose="02010609060101010101" pitchFamily="49" charset="-122"/>
                <a:ea typeface="楷体" panose="02010609060101010101" pitchFamily="49" charset="-122"/>
              </a:rPr>
              <a:t>：编程实现</a:t>
            </a:r>
            <a:r>
              <a:rPr lang="en-US" altLang="zh-CN" sz="2800" b="0" i="0" u="none" strike="noStrike" baseline="0" dirty="0" smtClean="0">
                <a:latin typeface="楷体" panose="02010609060101010101" pitchFamily="49" charset="-122"/>
                <a:ea typeface="楷体" panose="02010609060101010101" pitchFamily="49" charset="-122"/>
              </a:rPr>
              <a:t>,</a:t>
            </a:r>
            <a:endParaRPr lang="en-US" altLang="zh-CN" sz="2800" b="0" i="0" u="none" strike="noStrike" baseline="0" dirty="0" smtClean="0">
              <a:latin typeface="楷体" panose="02010609060101010101" pitchFamily="49" charset="-122"/>
              <a:ea typeface="楷体" panose="02010609060101010101" pitchFamily="49" charset="-122"/>
            </a:endParaRPr>
          </a:p>
          <a:p>
            <a:pPr marL="0" indent="0" algn="l">
              <a:buNone/>
            </a:pPr>
            <a:endParaRPr lang="en-US" altLang="zh-CN" dirty="0" smtClean="0">
              <a:latin typeface="楷体" panose="02010609060101010101" pitchFamily="49" charset="-122"/>
              <a:ea typeface="楷体" panose="02010609060101010101" pitchFamily="49" charset="-122"/>
            </a:endParaRPr>
          </a:p>
          <a:p>
            <a:pPr marL="0" indent="0" algn="l">
              <a:buNone/>
            </a:pPr>
            <a:r>
              <a:rPr lang="zh-CN" altLang="en-US" sz="2800" b="0" i="0" u="none" strike="noStrike" baseline="0" dirty="0" smtClean="0">
                <a:latin typeface="楷体" panose="02010609060101010101" pitchFamily="49" charset="-122"/>
                <a:ea typeface="楷体" panose="02010609060101010101" pitchFamily="49" charset="-122"/>
              </a:rPr>
              <a:t>并且</a:t>
            </a:r>
            <a:r>
              <a:rPr lang="en-US" altLang="zh-CN" sz="2800" b="0" i="0" u="none" strike="noStrike" baseline="0" dirty="0">
                <a:latin typeface="楷体" panose="02010609060101010101" pitchFamily="49" charset="-122"/>
                <a:ea typeface="楷体" panose="02010609060101010101" pitchFamily="49" charset="-122"/>
              </a:rPr>
              <a:t>X</a:t>
            </a:r>
            <a:r>
              <a:rPr lang="zh-CN" altLang="en-US" sz="2800" b="0" i="0" u="none" strike="noStrike" baseline="0" dirty="0">
                <a:latin typeface="楷体" panose="02010609060101010101" pitchFamily="49" charset="-122"/>
                <a:ea typeface="楷体" panose="02010609060101010101" pitchFamily="49" charset="-122"/>
              </a:rPr>
              <a:t>为单字节有符号整数，存于</a:t>
            </a:r>
            <a:r>
              <a:rPr lang="en-US" altLang="zh-CN" sz="2800" b="0" i="0" u="none" strike="noStrike" baseline="0" dirty="0">
                <a:latin typeface="楷体" panose="02010609060101010101" pitchFamily="49" charset="-122"/>
                <a:ea typeface="楷体" panose="02010609060101010101" pitchFamily="49" charset="-122"/>
              </a:rPr>
              <a:t>DATA1</a:t>
            </a:r>
            <a:r>
              <a:rPr lang="zh-CN" altLang="en-US" sz="2800" b="0" i="0" u="none" strike="noStrike" baseline="0" dirty="0">
                <a:latin typeface="楷体" panose="02010609060101010101" pitchFamily="49" charset="-122"/>
                <a:ea typeface="楷体" panose="02010609060101010101" pitchFamily="49" charset="-122"/>
              </a:rPr>
              <a:t>单元</a:t>
            </a:r>
            <a:r>
              <a:rPr lang="zh-CN" altLang="en-US" sz="2800" b="0" i="0" u="none" strike="noStrike" baseline="0" dirty="0" smtClean="0">
                <a:latin typeface="楷体" panose="02010609060101010101" pitchFamily="49" charset="-122"/>
                <a:ea typeface="楷体" panose="02010609060101010101" pitchFamily="49" charset="-122"/>
              </a:rPr>
              <a:t>，并</a:t>
            </a:r>
            <a:r>
              <a:rPr lang="zh-CN" altLang="en-US" sz="2800" b="0" i="0" u="none" strike="noStrike" baseline="0" dirty="0">
                <a:latin typeface="楷体" panose="02010609060101010101" pitchFamily="49" charset="-122"/>
                <a:ea typeface="楷体" panose="02010609060101010101" pitchFamily="49" charset="-122"/>
              </a:rPr>
              <a:t>将结果存至</a:t>
            </a:r>
            <a:r>
              <a:rPr lang="en-US" altLang="zh-CN" sz="2800" b="0" i="0" u="none" strike="noStrike" baseline="0" dirty="0">
                <a:latin typeface="楷体" panose="02010609060101010101" pitchFamily="49" charset="-122"/>
                <a:ea typeface="楷体" panose="02010609060101010101" pitchFamily="49" charset="-122"/>
              </a:rPr>
              <a:t>DATA2</a:t>
            </a:r>
            <a:r>
              <a:rPr lang="zh-CN" altLang="en-US" sz="2800" b="0" i="0" u="none" strike="noStrike" baseline="0" dirty="0">
                <a:latin typeface="楷体" panose="02010609060101010101" pitchFamily="49" charset="-122"/>
                <a:ea typeface="楷体" panose="02010609060101010101" pitchFamily="49" charset="-122"/>
              </a:rPr>
              <a:t>单元。</a:t>
            </a:r>
            <a:endParaRPr lang="zh-CN" altLang="en-US" sz="2800" b="0" i="0" u="none" strike="noStrike" baseline="0" dirty="0">
              <a:latin typeface="楷体" panose="02010609060101010101" pitchFamily="49" charset="-122"/>
              <a:ea typeface="楷体" panose="02010609060101010101" pitchFamily="49" charset="-122"/>
            </a:endParaRPr>
          </a:p>
          <a:p>
            <a:pPr marL="0" indent="0" algn="l">
              <a:buNone/>
            </a:pPr>
            <a:r>
              <a:rPr lang="zh-CN" altLang="en-US" sz="2800" b="0" i="0" u="none" strike="noStrike" baseline="0" dirty="0">
                <a:latin typeface="楷体" panose="02010609060101010101" pitchFamily="49" charset="-122"/>
                <a:ea typeface="楷体" panose="02010609060101010101" pitchFamily="49" charset="-122"/>
              </a:rPr>
              <a:t>分析：对于有符号数大小的判断，可综合利用标志的条件转移指令，即利用</a:t>
            </a:r>
            <a:r>
              <a:rPr lang="en-US" altLang="zh-CN" sz="2800" b="0" i="0" u="none" strike="noStrike" baseline="0" dirty="0">
                <a:latin typeface="楷体" panose="02010609060101010101" pitchFamily="49" charset="-122"/>
                <a:ea typeface="楷体" panose="02010609060101010101" pitchFamily="49" charset="-122"/>
              </a:rPr>
              <a:t>CMP</a:t>
            </a:r>
            <a:r>
              <a:rPr lang="zh-CN" altLang="en-US" sz="2800" b="0" i="0" u="none" strike="noStrike" baseline="0" dirty="0">
                <a:latin typeface="楷体" panose="02010609060101010101" pitchFamily="49" charset="-122"/>
                <a:ea typeface="楷体" panose="02010609060101010101" pitchFamily="49" charset="-122"/>
              </a:rPr>
              <a:t>指令和</a:t>
            </a:r>
            <a:r>
              <a:rPr lang="en-US" altLang="zh-CN" sz="2800" b="0" i="0" u="none" strike="noStrike" baseline="0" dirty="0">
                <a:latin typeface="楷体" panose="02010609060101010101" pitchFamily="49" charset="-122"/>
                <a:ea typeface="楷体" panose="02010609060101010101" pitchFamily="49" charset="-122"/>
              </a:rPr>
              <a:t>JGE</a:t>
            </a:r>
            <a:r>
              <a:rPr lang="zh-CN" altLang="en-US" sz="2800" b="0" i="0" u="none" strike="noStrike" baseline="0" dirty="0">
                <a:latin typeface="楷体" panose="02010609060101010101" pitchFamily="49" charset="-122"/>
                <a:ea typeface="楷体" panose="02010609060101010101" pitchFamily="49" charset="-122"/>
              </a:rPr>
              <a:t>指令结合实现分支转移。</a:t>
            </a:r>
            <a:endParaRPr lang="zh-CN" altLang="en-US"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252187" y="1699566"/>
            <a:ext cx="1378151" cy="907283"/>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39862" y="427776"/>
            <a:ext cx="6938639" cy="673055"/>
          </a:xfrm>
        </p:spPr>
        <p:txBody>
          <a:bodyPr/>
          <a:lstStyle/>
          <a:p>
            <a:r>
              <a:rPr lang="zh-CN" altLang="en-US" dirty="0"/>
              <a:t>流程图</a:t>
            </a:r>
            <a:endParaRPr lang="zh-CN" altLang="en-US" dirty="0"/>
          </a:p>
        </p:txBody>
      </p:sp>
      <p:pic>
        <p:nvPicPr>
          <p:cNvPr id="10" name="内容占位符 9"/>
          <p:cNvPicPr>
            <a:picLocks noGrp="1" noChangeAspect="1"/>
          </p:cNvPicPr>
          <p:nvPr>
            <p:ph idx="1"/>
          </p:nvPr>
        </p:nvPicPr>
        <p:blipFill>
          <a:blip r:embed="rId1" cstate="print"/>
          <a:stretch>
            <a:fillRect/>
          </a:stretch>
        </p:blipFill>
        <p:spPr>
          <a:xfrm>
            <a:off x="4318445" y="1162594"/>
            <a:ext cx="4269169" cy="5551715"/>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826226" y="1034053"/>
            <a:ext cx="5509259" cy="4401205"/>
          </a:xfrm>
          <a:prstGeom prst="rect">
            <a:avLst/>
          </a:prstGeom>
          <a:noFill/>
        </p:spPr>
        <p:txBody>
          <a:bodyPr wrap="square">
            <a:spAutoFit/>
          </a:bodyPr>
          <a:lstStyle/>
          <a:p>
            <a:pPr algn="l"/>
            <a:r>
              <a:rPr lang="en-US" altLang="zh-CN" sz="2800" b="0" i="0" u="none" strike="noStrike" baseline="0" dirty="0">
                <a:latin typeface="TimesNewRomanPSMT"/>
              </a:rPr>
              <a:t>DSEG   SEGMENT</a:t>
            </a:r>
            <a:endParaRPr lang="en-US" altLang="zh-CN" sz="2800" b="0" i="0" u="none" strike="noStrike" baseline="0" dirty="0">
              <a:latin typeface="TimesNewRomanPSMT"/>
            </a:endParaRPr>
          </a:p>
          <a:p>
            <a:pPr algn="l"/>
            <a:r>
              <a:rPr lang="en-US" altLang="zh-CN" sz="2800" b="0" i="0" u="none" strike="noStrike" baseline="0" dirty="0">
                <a:latin typeface="TimesNewRomanPSMT"/>
              </a:rPr>
              <a:t>      DATA1  DB   45H</a:t>
            </a:r>
            <a:endParaRPr lang="en-US" altLang="zh-CN" sz="2800" b="0" i="0" u="none" strike="noStrike" baseline="0" dirty="0">
              <a:latin typeface="TimesNewRomanPSMT"/>
            </a:endParaRPr>
          </a:p>
          <a:p>
            <a:pPr algn="l"/>
            <a:r>
              <a:rPr lang="en-US" altLang="zh-CN" sz="2800" b="0" i="0" u="none" strike="noStrike" baseline="0" dirty="0">
                <a:latin typeface="TimesNewRomanPSMT"/>
              </a:rPr>
              <a:t>      DATA2  DB    </a:t>
            </a:r>
            <a:r>
              <a:rPr lang="zh-CN" altLang="en-US" sz="2800" b="0" i="0" u="none" strike="noStrike" baseline="0" dirty="0">
                <a:latin typeface="新宋体" panose="02010609030101010101" charset="-122"/>
                <a:ea typeface="新宋体" panose="02010609030101010101" charset="-122"/>
              </a:rPr>
              <a:t>？</a:t>
            </a:r>
            <a:endParaRPr lang="zh-CN" altLang="en-US" sz="2800" b="0" i="0" u="none" strike="noStrike" baseline="0" dirty="0">
              <a:latin typeface="新宋体" panose="02010609030101010101" charset="-122"/>
              <a:ea typeface="新宋体" panose="02010609030101010101" charset="-122"/>
            </a:endParaRPr>
          </a:p>
          <a:p>
            <a:pPr algn="l"/>
            <a:r>
              <a:rPr lang="en-US" altLang="zh-CN" sz="2800" b="0" i="0" u="none" strike="noStrike" baseline="0" dirty="0">
                <a:latin typeface="TimesNewRomanPSMT"/>
              </a:rPr>
              <a:t>DSEG     ENDS</a:t>
            </a:r>
            <a:endParaRPr lang="en-US" altLang="zh-CN" sz="2800" b="0" i="0" u="none" strike="noStrike" baseline="0" dirty="0">
              <a:latin typeface="TimesNewRomanPSMT"/>
            </a:endParaRPr>
          </a:p>
          <a:p>
            <a:pPr algn="l"/>
            <a:r>
              <a:rPr lang="en-US" altLang="zh-CN" sz="2800" b="0" i="0" u="none" strike="noStrike" baseline="0" dirty="0">
                <a:latin typeface="TimesNewRomanPSMT"/>
              </a:rPr>
              <a:t>SSEG    SEGMENT   STACK</a:t>
            </a:r>
            <a:endParaRPr lang="en-US" altLang="zh-CN" sz="2800" b="0" i="0" u="none" strike="noStrike" baseline="0" dirty="0">
              <a:latin typeface="TimesNewRomanPSMT"/>
            </a:endParaRPr>
          </a:p>
          <a:p>
            <a:pPr algn="l"/>
            <a:r>
              <a:rPr lang="en-US" altLang="zh-CN" sz="2800" b="0" i="0" u="none" strike="noStrike" baseline="0" dirty="0">
                <a:latin typeface="TimesNewRomanPSMT"/>
              </a:rPr>
              <a:t>      STK  DB  100 DUP(</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SSEG    ENDS</a:t>
            </a:r>
            <a:endParaRPr lang="en-US" altLang="zh-CN" sz="2800" b="0" i="0" u="none" strike="noStrike" baseline="0" dirty="0">
              <a:latin typeface="TimesNewRomanPSMT"/>
            </a:endParaRPr>
          </a:p>
          <a:p>
            <a:pPr algn="l"/>
            <a:r>
              <a:rPr lang="en-US" altLang="zh-CN" sz="2800" b="0" i="0" u="none" strike="noStrike" baseline="0" dirty="0">
                <a:latin typeface="TimesNewRomanPSMT"/>
              </a:rPr>
              <a:t>CSEG    SEGMENT</a:t>
            </a:r>
            <a:endParaRPr lang="en-US" altLang="zh-CN" sz="2800" b="0" i="0" u="none" strike="noStrike" baseline="0" dirty="0">
              <a:latin typeface="TimesNewRomanPSMT"/>
            </a:endParaRPr>
          </a:p>
          <a:p>
            <a:pPr algn="l"/>
            <a:r>
              <a:rPr lang="fr-FR" altLang="zh-CN" sz="2800" b="0" i="0" u="none" strike="noStrike" baseline="0" dirty="0">
                <a:latin typeface="TimesNewRomanPSMT"/>
              </a:rPr>
              <a:t>ASSUME    CS:CSEG</a:t>
            </a:r>
            <a:r>
              <a:rPr lang="zh-CN" altLang="fr-FR" sz="2800" b="0" i="0" u="none" strike="noStrike" baseline="0" dirty="0">
                <a:latin typeface="新宋体" panose="02010609030101010101" charset="-122"/>
                <a:ea typeface="新宋体" panose="02010609030101010101" charset="-122"/>
              </a:rPr>
              <a:t>，</a:t>
            </a:r>
            <a:r>
              <a:rPr lang="fr-FR" altLang="zh-CN" sz="2800" b="0" i="0" u="none" strike="noStrike" baseline="0" dirty="0">
                <a:latin typeface="TimesNewRomanPSMT"/>
                <a:ea typeface="新宋体" panose="02010609030101010101" charset="-122"/>
              </a:rPr>
              <a:t>DS:DSEG</a:t>
            </a:r>
            <a:endParaRPr lang="fr-FR"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ASSUME    SS:SSEG</a:t>
            </a:r>
            <a:endParaRPr lang="zh-CN" altLang="en-US" sz="2800" dirty="0"/>
          </a:p>
        </p:txBody>
      </p:sp>
      <p:sp>
        <p:nvSpPr>
          <p:cNvPr id="9" name="文本框 8"/>
          <p:cNvSpPr txBox="1"/>
          <p:nvPr/>
        </p:nvSpPr>
        <p:spPr>
          <a:xfrm>
            <a:off x="6096000" y="387722"/>
            <a:ext cx="6093822" cy="5693866"/>
          </a:xfrm>
          <a:prstGeom prst="rect">
            <a:avLst/>
          </a:prstGeom>
          <a:noFill/>
        </p:spPr>
        <p:txBody>
          <a:bodyPr wrap="square">
            <a:spAutoFit/>
          </a:bodyPr>
          <a:lstStyle/>
          <a:p>
            <a:pPr algn="l"/>
            <a:r>
              <a:rPr lang="en-US" altLang="zh-CN" sz="2800" b="0" i="0" u="none" strike="noStrike" baseline="0" dirty="0">
                <a:latin typeface="TimesNewRomanPSMT"/>
              </a:rPr>
              <a:t>START</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MOV  AX</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DSEG</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                 MOV  DS</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AX</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                 MOV  AL</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DATA1</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                 CMP   AL</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0</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                 JGE    BIG</a:t>
            </a:r>
            <a:endParaRPr lang="en-US" altLang="zh-CN" sz="2800" b="0" i="0" u="none" strike="noStrike" baseline="0" dirty="0">
              <a:latin typeface="TimesNewRomanPSMT"/>
            </a:endParaRPr>
          </a:p>
          <a:p>
            <a:pPr algn="l"/>
            <a:r>
              <a:rPr lang="en-US" altLang="zh-CN" sz="2800" b="0" i="0" u="none" strike="noStrike" baseline="0" dirty="0">
                <a:latin typeface="TimesNewRomanPSMT"/>
              </a:rPr>
              <a:t>                 MOV   AL</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0FFH</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                 JMP     DONE</a:t>
            </a:r>
            <a:endParaRPr lang="en-US" altLang="zh-CN" sz="2800" b="0" i="0" u="none" strike="noStrike" baseline="0" dirty="0">
              <a:latin typeface="TimesNewRomanPSMT"/>
            </a:endParaRPr>
          </a:p>
          <a:p>
            <a:pPr algn="l"/>
            <a:r>
              <a:rPr lang="en-US" altLang="zh-CN" sz="2800" b="0" i="0" u="none" strike="noStrike" baseline="0" dirty="0">
                <a:latin typeface="TimesNewRomanPSMT"/>
              </a:rPr>
              <a:t>BIG</a:t>
            </a:r>
            <a:r>
              <a:rPr lang="zh-CN" altLang="en-US" sz="2800" b="0" i="0" u="none" strike="noStrike" baseline="0" dirty="0">
                <a:latin typeface="新宋体" panose="02010609030101010101" charset="-122"/>
                <a:ea typeface="新宋体" panose="02010609030101010101" charset="-122"/>
              </a:rPr>
              <a:t>：   </a:t>
            </a:r>
            <a:r>
              <a:rPr lang="en-US" altLang="zh-CN" sz="2800" b="0" i="0" u="none" strike="noStrike" baseline="0" dirty="0">
                <a:latin typeface="TimesNewRomanPSMT"/>
                <a:ea typeface="新宋体" panose="02010609030101010101" charset="-122"/>
              </a:rPr>
              <a:t>MOV    AL</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1</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DONE</a:t>
            </a:r>
            <a:r>
              <a:rPr lang="zh-CN" altLang="en-US" sz="2800" b="0" i="0" u="none" strike="noStrike" baseline="0" dirty="0">
                <a:latin typeface="新宋体" panose="02010609030101010101" charset="-122"/>
                <a:ea typeface="新宋体" panose="02010609030101010101" charset="-122"/>
              </a:rPr>
              <a:t>： </a:t>
            </a:r>
            <a:r>
              <a:rPr lang="en-US" altLang="zh-CN" sz="2800" b="0" i="0" u="none" strike="noStrike" baseline="0" dirty="0">
                <a:latin typeface="TimesNewRomanPSMT"/>
                <a:ea typeface="新宋体" panose="02010609030101010101" charset="-122"/>
              </a:rPr>
              <a:t>MOV    DATA2</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AL</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                 MOV    AH</a:t>
            </a:r>
            <a:r>
              <a:rPr lang="zh-CN" altLang="en-US" sz="2800" b="0" i="0" u="none" strike="noStrike" baseline="0" dirty="0">
                <a:latin typeface="新宋体" panose="02010609030101010101" charset="-122"/>
                <a:ea typeface="新宋体" panose="02010609030101010101" charset="-122"/>
              </a:rPr>
              <a:t>，</a:t>
            </a:r>
            <a:r>
              <a:rPr lang="en-US" altLang="zh-CN" sz="2800" b="0" i="0" u="none" strike="noStrike" baseline="0" dirty="0">
                <a:latin typeface="TimesNewRomanPSMT"/>
                <a:ea typeface="新宋体" panose="02010609030101010101" charset="-122"/>
              </a:rPr>
              <a:t>4CH</a:t>
            </a:r>
            <a:endParaRPr lang="en-US" altLang="zh-CN" sz="2800" b="0" i="0" u="none" strike="noStrike" baseline="0" dirty="0">
              <a:latin typeface="TimesNewRomanPSMT"/>
              <a:ea typeface="新宋体" panose="02010609030101010101" charset="-122"/>
            </a:endParaRPr>
          </a:p>
          <a:p>
            <a:pPr algn="l"/>
            <a:r>
              <a:rPr lang="en-US" altLang="zh-CN" sz="2800" b="0" i="0" u="none" strike="noStrike" baseline="0" dirty="0">
                <a:latin typeface="TimesNewRomanPSMT"/>
              </a:rPr>
              <a:t>                 INT       21H</a:t>
            </a:r>
            <a:endParaRPr lang="en-US" altLang="zh-CN" sz="2800" b="0" i="0" u="none" strike="noStrike" baseline="0" dirty="0">
              <a:latin typeface="TimesNewRomanPSMT"/>
            </a:endParaRPr>
          </a:p>
          <a:p>
            <a:pPr algn="l"/>
            <a:r>
              <a:rPr lang="en-US" altLang="zh-CN" sz="2800" b="0" i="0" u="none" strike="noStrike" baseline="0" dirty="0">
                <a:latin typeface="TimesNewRomanPSMT"/>
              </a:rPr>
              <a:t>CSEG       ENDS</a:t>
            </a:r>
            <a:endParaRPr lang="en-US" altLang="zh-CN" sz="2800" b="0" i="0" u="none" strike="noStrike" baseline="0" dirty="0">
              <a:latin typeface="TimesNewRomanPSMT"/>
            </a:endParaRPr>
          </a:p>
          <a:p>
            <a:pPr algn="l"/>
            <a:r>
              <a:rPr lang="en-US" altLang="zh-CN" sz="2800" b="0" i="0" u="none" strike="noStrike" baseline="0" dirty="0">
                <a:latin typeface="TimesNewRomanPSMT"/>
              </a:rPr>
              <a:t>                 END START</a:t>
            </a:r>
            <a:endParaRPr lang="zh-CN" altLang="en-US" sz="28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分支结构程序设计</a:t>
            </a:r>
            <a:endParaRPr lang="zh-CN" altLang="en-US" dirty="0"/>
          </a:p>
        </p:txBody>
      </p:sp>
      <p:sp>
        <p:nvSpPr>
          <p:cNvPr id="3" name="内容占位符 2"/>
          <p:cNvSpPr>
            <a:spLocks noGrp="1"/>
          </p:cNvSpPr>
          <p:nvPr>
            <p:ph idx="1"/>
          </p:nvPr>
        </p:nvSpPr>
        <p:spPr/>
        <p:txBody>
          <a:bodyPr>
            <a:normAutofit/>
          </a:bodyPr>
          <a:lstStyle/>
          <a:p>
            <a:r>
              <a:rPr lang="zh-CN" altLang="en-US" dirty="0"/>
              <a:t>在分支程序设计中，要注意以下几点：</a:t>
            </a:r>
            <a:endParaRPr lang="zh-CN" altLang="en-US" dirty="0"/>
          </a:p>
          <a:p>
            <a:pPr marL="0" indent="0">
              <a:buNone/>
            </a:pPr>
            <a:r>
              <a:rPr lang="en-US" altLang="zh-CN" dirty="0"/>
              <a:t>(1)</a:t>
            </a:r>
            <a:r>
              <a:rPr lang="zh-CN" altLang="en-US" dirty="0"/>
              <a:t>选择合适的转移指令，否则就不能转移到预定的程序分支，或可能使程序变得繁琐。</a:t>
            </a:r>
            <a:endParaRPr lang="zh-CN" altLang="en-US" dirty="0"/>
          </a:p>
          <a:p>
            <a:pPr marL="0" indent="0">
              <a:buNone/>
            </a:pPr>
            <a:r>
              <a:rPr lang="en-US" altLang="zh-CN" dirty="0"/>
              <a:t>(2)</a:t>
            </a:r>
            <a:r>
              <a:rPr lang="zh-CN" altLang="en-US" dirty="0"/>
              <a:t>每一个分支均应该能够执行到程序结束。</a:t>
            </a:r>
            <a:endParaRPr lang="zh-CN" altLang="en-US" dirty="0"/>
          </a:p>
          <a:p>
            <a:pPr marL="0" indent="0">
              <a:buNone/>
            </a:pPr>
            <a:r>
              <a:rPr lang="en-US" altLang="zh-CN" dirty="0"/>
              <a:t>(3)</a:t>
            </a:r>
            <a:r>
              <a:rPr lang="zh-CN" altLang="en-US" dirty="0"/>
              <a:t>应把各分支中的公共部分尽量提到分支前或分支后的公共程序段，这样可以使程序简短、清晰。</a:t>
            </a:r>
            <a:endParaRPr lang="zh-CN" alt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循环结构</a:t>
            </a:r>
            <a:endParaRPr lang="zh-CN" altLang="en-US" dirty="0"/>
          </a:p>
        </p:txBody>
      </p:sp>
      <p:sp>
        <p:nvSpPr>
          <p:cNvPr id="3" name="内容占位符 2"/>
          <p:cNvSpPr>
            <a:spLocks noGrp="1"/>
          </p:cNvSpPr>
          <p:nvPr>
            <p:ph idx="1"/>
          </p:nvPr>
        </p:nvSpPr>
        <p:spPr/>
        <p:txBody>
          <a:bodyPr/>
          <a:lstStyle/>
          <a:p>
            <a:r>
              <a:rPr lang="zh-CN" altLang="en-US" dirty="0"/>
              <a:t>在程序设计中，经常遇到一个程序段需要多次重复执行。对这类问题采用循环程序结构，可以使程序代码缩短，并节省内存。</a:t>
            </a:r>
            <a:endParaRPr lang="zh-CN" altLang="en-US" dirty="0"/>
          </a:p>
          <a:p>
            <a:r>
              <a:rPr lang="zh-CN" altLang="en-US" dirty="0"/>
              <a:t>循环程序有两个基本结构：</a:t>
            </a:r>
            <a:endParaRPr lang="en-US" altLang="zh-CN" dirty="0"/>
          </a:p>
          <a:p>
            <a:pPr lvl="1"/>
            <a:r>
              <a:rPr lang="zh-CN" altLang="en-US" dirty="0"/>
              <a:t>先处理后判断结构</a:t>
            </a:r>
            <a:r>
              <a:rPr lang="en-US" altLang="zh-CN" dirty="0"/>
              <a:t>(</a:t>
            </a:r>
            <a:r>
              <a:rPr lang="en-US" altLang="zh-CN" dirty="0" err="1"/>
              <a:t>DoWhile</a:t>
            </a:r>
            <a:r>
              <a:rPr lang="en-US" altLang="zh-CN" dirty="0"/>
              <a:t>)</a:t>
            </a:r>
            <a:endParaRPr lang="en-US" altLang="zh-CN" dirty="0"/>
          </a:p>
          <a:p>
            <a:pPr lvl="1"/>
            <a:r>
              <a:rPr lang="zh-CN" altLang="en-US" dirty="0"/>
              <a:t>先判断后处理结构</a:t>
            </a:r>
            <a:r>
              <a:rPr lang="en-US" altLang="zh-CN" dirty="0"/>
              <a:t>(</a:t>
            </a:r>
            <a:r>
              <a:rPr lang="en-US" altLang="zh-CN" dirty="0" err="1"/>
              <a:t>WhileDo</a:t>
            </a:r>
            <a:r>
              <a:rPr lang="en-US" altLang="zh-CN" dirty="0"/>
              <a:t>)</a:t>
            </a:r>
            <a:endParaRPr lang="zh-CN" alt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循环基本结构图</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95349" y="1838325"/>
            <a:ext cx="8549499"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循环结构的构成</a:t>
            </a:r>
            <a:endParaRPr lang="zh-CN" altLang="en-US" dirty="0"/>
          </a:p>
        </p:txBody>
      </p:sp>
      <p:sp>
        <p:nvSpPr>
          <p:cNvPr id="3" name="内容占位符 2"/>
          <p:cNvSpPr>
            <a:spLocks noGrp="1"/>
          </p:cNvSpPr>
          <p:nvPr>
            <p:ph idx="1"/>
          </p:nvPr>
        </p:nvSpPr>
        <p:spPr/>
        <p:txBody>
          <a:bodyPr>
            <a:normAutofit/>
          </a:bodyPr>
          <a:lstStyle/>
          <a:p>
            <a:r>
              <a:rPr lang="zh-CN" altLang="en-US" dirty="0"/>
              <a:t>循环结构分为五个部分：</a:t>
            </a:r>
            <a:endParaRPr lang="en-US" altLang="zh-CN" dirty="0"/>
          </a:p>
          <a:p>
            <a:pPr lvl="1"/>
            <a:r>
              <a:rPr lang="zh-CN" altLang="en-US" dirty="0"/>
              <a:t>循环初始部分：给地址指针赋初值、设置循环次数、累加器清</a:t>
            </a:r>
            <a:r>
              <a:rPr lang="en-US" altLang="zh-CN" dirty="0"/>
              <a:t>0</a:t>
            </a:r>
            <a:r>
              <a:rPr lang="zh-CN" altLang="en-US" dirty="0"/>
              <a:t>及工作单元置初值或清</a:t>
            </a:r>
            <a:r>
              <a:rPr lang="en-US" altLang="zh-CN" dirty="0"/>
              <a:t>0</a:t>
            </a:r>
            <a:r>
              <a:rPr lang="zh-CN" altLang="en-US" dirty="0"/>
              <a:t>等。</a:t>
            </a:r>
            <a:endParaRPr lang="zh-CN" altLang="en-US" dirty="0"/>
          </a:p>
          <a:p>
            <a:pPr lvl="1"/>
            <a:r>
              <a:rPr lang="zh-CN" altLang="en-US" dirty="0"/>
              <a:t>循环操作部分：重复执行的部分，循环的主体。</a:t>
            </a:r>
            <a:endParaRPr lang="zh-CN" altLang="en-US" dirty="0"/>
          </a:p>
          <a:p>
            <a:pPr lvl="1"/>
            <a:r>
              <a:rPr lang="zh-CN" altLang="en-US" dirty="0"/>
              <a:t>循环修改部分：修改计数器、寄存器、地址指针、恢复某些参数。</a:t>
            </a:r>
            <a:endParaRPr lang="zh-CN" altLang="en-US" dirty="0"/>
          </a:p>
          <a:p>
            <a:pPr lvl="1"/>
            <a:r>
              <a:rPr lang="zh-CN" altLang="en-US" dirty="0"/>
              <a:t>循环控制部分：判断控制循环是否结束或继续。</a:t>
            </a:r>
            <a:endParaRPr lang="zh-CN" altLang="en-US" dirty="0"/>
          </a:p>
          <a:p>
            <a:pPr lvl="1"/>
            <a:r>
              <a:rPr lang="zh-CN" altLang="en-US" dirty="0"/>
              <a:t>结束处理部分：对循环结果进行必要的处理。</a:t>
            </a:r>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循环结构举例</a:t>
            </a:r>
            <a:endParaRPr lang="zh-CN" altLang="en-US" dirty="0"/>
          </a:p>
        </p:txBody>
      </p:sp>
      <p:sp>
        <p:nvSpPr>
          <p:cNvPr id="3" name="内容占位符 2"/>
          <p:cNvSpPr>
            <a:spLocks noGrp="1"/>
          </p:cNvSpPr>
          <p:nvPr>
            <p:ph idx="1"/>
          </p:nvPr>
        </p:nvSpPr>
        <p:spPr/>
        <p:txBody>
          <a:bodyPr/>
          <a:lstStyle/>
          <a:p>
            <a:r>
              <a:rPr lang="zh-CN" altLang="en-US" dirty="0"/>
              <a:t>例：试编程统计</a:t>
            </a:r>
            <a:r>
              <a:rPr lang="en-US" altLang="zh-CN" dirty="0"/>
              <a:t>DA1</a:t>
            </a:r>
            <a:r>
              <a:rPr lang="zh-CN" altLang="en-US" dirty="0"/>
              <a:t>字单元中二进制数据中含</a:t>
            </a:r>
            <a:r>
              <a:rPr lang="en-US" altLang="zh-CN" dirty="0"/>
              <a:t>1</a:t>
            </a:r>
            <a:r>
              <a:rPr lang="zh-CN" altLang="en-US" dirty="0"/>
              <a:t>的个数，结果存于</a:t>
            </a:r>
            <a:r>
              <a:rPr lang="en-US" altLang="zh-CN" dirty="0"/>
              <a:t>DA2</a:t>
            </a:r>
            <a:r>
              <a:rPr lang="zh-CN" altLang="en-US" dirty="0"/>
              <a:t>单元中。</a:t>
            </a:r>
            <a:endParaRPr lang="zh-CN" altLang="en-US" dirty="0"/>
          </a:p>
          <a:p>
            <a:r>
              <a:rPr lang="zh-CN" altLang="en-US" dirty="0"/>
              <a:t>分析：可以利用移位指令，将待判断的字数据一位一位地移到进位位中，然后判断进位位是</a:t>
            </a:r>
            <a:r>
              <a:rPr lang="en-US" altLang="zh-CN" dirty="0"/>
              <a:t>1</a:t>
            </a:r>
            <a:r>
              <a:rPr lang="zh-CN" altLang="en-US" dirty="0"/>
              <a:t>还是</a:t>
            </a:r>
            <a:r>
              <a:rPr lang="en-US" altLang="zh-CN" dirty="0"/>
              <a:t>0</a:t>
            </a:r>
            <a:r>
              <a:rPr lang="zh-CN" altLang="en-US" dirty="0"/>
              <a:t>，以此实现对二进制数据中含</a:t>
            </a:r>
            <a:r>
              <a:rPr lang="en-US" altLang="zh-CN" dirty="0"/>
              <a:t>1</a:t>
            </a:r>
            <a:r>
              <a:rPr lang="zh-CN" altLang="en-US" dirty="0"/>
              <a:t>的个数统计。</a:t>
            </a:r>
            <a:endParaRPr lang="zh-CN" alt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96305" y="213063"/>
            <a:ext cx="2916736" cy="1015986"/>
          </a:xfrm>
        </p:spPr>
        <p:txBody>
          <a:bodyPr/>
          <a:lstStyle/>
          <a:p>
            <a:r>
              <a:rPr lang="zh-CN" altLang="en-US" dirty="0"/>
              <a:t>流程图</a:t>
            </a:r>
            <a:endParaRPr lang="zh-CN" altLang="en-US" dirty="0"/>
          </a:p>
        </p:txBody>
      </p:sp>
      <p:graphicFrame>
        <p:nvGraphicFramePr>
          <p:cNvPr id="1026" name="Object 2"/>
          <p:cNvGraphicFramePr>
            <a:graphicFrameLocks noChangeAspect="1"/>
          </p:cNvGraphicFramePr>
          <p:nvPr/>
        </p:nvGraphicFramePr>
        <p:xfrm>
          <a:off x="4208601" y="1392531"/>
          <a:ext cx="3659188" cy="5278438"/>
        </p:xfrm>
        <a:graphic>
          <a:graphicData uri="http://schemas.openxmlformats.org/presentationml/2006/ole">
            <mc:AlternateContent xmlns:mc="http://schemas.openxmlformats.org/markup-compatibility/2006">
              <mc:Choice xmlns:v="urn:schemas-microsoft-com:vml" Requires="v">
                <p:oleObj spid="_x0000_s1025" name="" r:id="rId1" imgW="2806700" imgH="4051300" progId="">
                  <p:embed/>
                </p:oleObj>
              </mc:Choice>
              <mc:Fallback>
                <p:oleObj name="" r:id="rId1" imgW="2806700" imgH="4051300" progId="">
                  <p:embed/>
                  <p:pic>
                    <p:nvPicPr>
                      <p:cNvPr id="0" name="图片 1024"/>
                      <p:cNvPicPr>
                        <a:picLocks noChangeAspect="1"/>
                      </p:cNvPicPr>
                      <p:nvPr/>
                    </p:nvPicPr>
                    <p:blipFill>
                      <a:blip r:embed="rId2"/>
                      <a:stretch>
                        <a:fillRect/>
                      </a:stretch>
                    </p:blipFill>
                    <p:spPr>
                      <a:xfrm>
                        <a:off x="4208601" y="1392531"/>
                        <a:ext cx="3659188" cy="52784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3434" y="271145"/>
            <a:ext cx="3485606" cy="4351338"/>
          </a:xfrm>
        </p:spPr>
        <p:txBody>
          <a:bodyPr/>
          <a:lstStyle/>
          <a:p>
            <a:pPr marL="0" indent="0">
              <a:buNone/>
            </a:pPr>
            <a:r>
              <a:rPr lang="zh-CN" altLang="en-US" dirty="0"/>
              <a:t>源程序</a:t>
            </a:r>
            <a:endParaRPr lang="zh-CN" altLang="en-US" dirty="0"/>
          </a:p>
        </p:txBody>
      </p:sp>
      <p:sp>
        <p:nvSpPr>
          <p:cNvPr id="6" name="文本框 5"/>
          <p:cNvSpPr txBox="1"/>
          <p:nvPr/>
        </p:nvSpPr>
        <p:spPr>
          <a:xfrm>
            <a:off x="6545581" y="911034"/>
            <a:ext cx="6093822" cy="5558445"/>
          </a:xfrm>
          <a:prstGeom prst="rect">
            <a:avLst/>
          </a:prstGeom>
          <a:noFill/>
        </p:spPr>
        <p:txBody>
          <a:bodyPr wrap="square">
            <a:spAutoFit/>
          </a:bodyPr>
          <a:lstStyle/>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START： MOV  AX，DSEG</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DS，AX</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XOR   BL，BL</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AX，DA1</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LP：         AND  AX，AX</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JZ     DONE</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SHL   AX，1</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JNC    LP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INC    BL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JMP    LP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DONE：  MOV   DA2，BL</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AH，4CH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INT   21H</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CSEG       ENDS</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END   START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p:txBody>
      </p:sp>
      <p:sp>
        <p:nvSpPr>
          <p:cNvPr id="8" name="文本框 7"/>
          <p:cNvSpPr txBox="1"/>
          <p:nvPr/>
        </p:nvSpPr>
        <p:spPr>
          <a:xfrm>
            <a:off x="434340" y="1257344"/>
            <a:ext cx="4947557" cy="3711785"/>
          </a:xfrm>
          <a:prstGeom prst="rect">
            <a:avLst/>
          </a:prstGeom>
          <a:noFill/>
        </p:spPr>
        <p:txBody>
          <a:bodyPr wrap="square">
            <a:spAutoFit/>
          </a:bodyPr>
          <a:lstStyle/>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DSEG    SEGMENT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DA1      DW  3F28H</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DA2      DB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DSEG    ENDS</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SSEG    SEGMENT  STACK</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STK      DB  100  DUP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SSEG    ENDS</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CSEG    SEGMENT</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ASSUME  DS：DSEG，SS：SSEG</a:t>
            </a:r>
            <a:endPar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ASSUME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CS：CSEG</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循环结构举例</a:t>
            </a:r>
            <a:endParaRPr lang="zh-CN" altLang="en-US" dirty="0"/>
          </a:p>
        </p:txBody>
      </p:sp>
      <p:sp>
        <p:nvSpPr>
          <p:cNvPr id="3" name="内容占位符 2"/>
          <p:cNvSpPr>
            <a:spLocks noGrp="1"/>
          </p:cNvSpPr>
          <p:nvPr>
            <p:ph idx="1"/>
          </p:nvPr>
        </p:nvSpPr>
        <p:spPr/>
        <p:txBody>
          <a:bodyPr/>
          <a:lstStyle/>
          <a:p>
            <a:r>
              <a:rPr lang="zh-CN" altLang="en-US" dirty="0"/>
              <a:t>例：试编程统计由</a:t>
            </a:r>
            <a:r>
              <a:rPr lang="en-US" altLang="zh-CN" dirty="0"/>
              <a:t>DATA</a:t>
            </a:r>
            <a:r>
              <a:rPr lang="zh-CN" altLang="en-US" dirty="0"/>
              <a:t>单元开始的数据块中能被</a:t>
            </a:r>
            <a:r>
              <a:rPr lang="en-US" altLang="zh-CN" dirty="0"/>
              <a:t>3</a:t>
            </a:r>
            <a:r>
              <a:rPr lang="zh-CN" altLang="en-US" dirty="0"/>
              <a:t>整除的无符号字节数据的个数。结果存于</a:t>
            </a:r>
            <a:r>
              <a:rPr lang="en-US" altLang="zh-CN" dirty="0"/>
              <a:t>COUNT</a:t>
            </a:r>
            <a:r>
              <a:rPr lang="zh-CN" altLang="en-US" dirty="0"/>
              <a:t>单元中。</a:t>
            </a:r>
            <a:r>
              <a:rPr lang="en-US" altLang="zh-CN" dirty="0"/>
              <a:t>(</a:t>
            </a:r>
            <a:r>
              <a:rPr lang="zh-CN" altLang="en-US" dirty="0"/>
              <a:t>设数据块中共有</a:t>
            </a:r>
            <a:r>
              <a:rPr lang="en-US" altLang="zh-CN" dirty="0"/>
              <a:t>10</a:t>
            </a:r>
            <a:r>
              <a:rPr lang="zh-CN" altLang="en-US" dirty="0"/>
              <a:t>个无符号字节数</a:t>
            </a:r>
            <a:r>
              <a:rPr lang="en-US" altLang="zh-CN" dirty="0"/>
              <a:t>)</a:t>
            </a:r>
            <a:endParaRPr lang="en-US" altLang="zh-CN" dirty="0"/>
          </a:p>
          <a:p>
            <a:r>
              <a:rPr lang="zh-CN" altLang="en-US" dirty="0"/>
              <a:t>分析：可以采用除法指令，对待判断的无符号数做除</a:t>
            </a:r>
            <a:r>
              <a:rPr lang="en-US" altLang="zh-CN" dirty="0"/>
              <a:t>3</a:t>
            </a:r>
            <a:r>
              <a:rPr lang="zh-CN" altLang="en-US" dirty="0"/>
              <a:t>操作，然后检查余数是否为零，若为零，则该数能被</a:t>
            </a:r>
            <a:r>
              <a:rPr lang="en-US" altLang="zh-CN" dirty="0"/>
              <a:t>3</a:t>
            </a:r>
            <a:r>
              <a:rPr lang="zh-CN" altLang="en-US" dirty="0"/>
              <a:t>整除。</a:t>
            </a:r>
            <a:endParaRPr lang="zh-CN"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03846" y="405197"/>
            <a:ext cx="2375263" cy="491447"/>
          </a:xfrm>
        </p:spPr>
        <p:txBody>
          <a:bodyPr/>
          <a:lstStyle/>
          <a:p>
            <a:r>
              <a:rPr lang="zh-CN" altLang="en-US" dirty="0"/>
              <a:t>流程图</a:t>
            </a:r>
            <a:endParaRPr lang="zh-CN" altLang="en-US" dirty="0"/>
          </a:p>
        </p:txBody>
      </p:sp>
      <p:graphicFrame>
        <p:nvGraphicFramePr>
          <p:cNvPr id="2050" name="Object 2"/>
          <p:cNvGraphicFramePr>
            <a:graphicFrameLocks noChangeAspect="1"/>
          </p:cNvGraphicFramePr>
          <p:nvPr/>
        </p:nvGraphicFramePr>
        <p:xfrm>
          <a:off x="3480385" y="1325393"/>
          <a:ext cx="2230438" cy="5426075"/>
        </p:xfrm>
        <a:graphic>
          <a:graphicData uri="http://schemas.openxmlformats.org/presentationml/2006/ole">
            <mc:AlternateContent xmlns:mc="http://schemas.openxmlformats.org/markup-compatibility/2006">
              <mc:Choice xmlns:v="urn:schemas-microsoft-com:vml" Requires="v">
                <p:oleObj spid="_x0000_s2049" name="" r:id="rId1" imgW="2171700" imgH="5270500" progId="">
                  <p:embed/>
                </p:oleObj>
              </mc:Choice>
              <mc:Fallback>
                <p:oleObj name="" r:id="rId1" imgW="2171700" imgH="5270500" progId="">
                  <p:embed/>
                  <p:pic>
                    <p:nvPicPr>
                      <p:cNvPr id="0" name="图片 2048"/>
                      <p:cNvPicPr>
                        <a:picLocks noChangeAspect="1"/>
                      </p:cNvPicPr>
                      <p:nvPr/>
                    </p:nvPicPr>
                    <p:blipFill>
                      <a:blip r:embed="rId2"/>
                      <a:stretch>
                        <a:fillRect/>
                      </a:stretch>
                    </p:blipFill>
                    <p:spPr>
                      <a:xfrm>
                        <a:off x="3480385" y="1325393"/>
                        <a:ext cx="2230438" cy="542607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2697" y="620035"/>
            <a:ext cx="6740434" cy="5853910"/>
          </a:xfrm>
          <a:prstGeom prst="rect">
            <a:avLst/>
          </a:prstGeom>
          <a:noFill/>
        </p:spPr>
        <p:txBody>
          <a:bodyPr wrap="square">
            <a:spAutoFit/>
          </a:bodyPr>
          <a:lstStyle/>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DSEG    SEGMENT</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DATA     DB  41，9，33H，0F0H，32，0AH，0FFH，99，68，23H</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COUNT   DW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DSEG    ENDS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SSEG    SEGMENT  STACK</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STK      DB  100  DUP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SSEG    ENDS</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CSEG    SEGMENT</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ASSUME  DS：DSEG，SS：SSEG，CS：CSEG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START： MOV  AX，DSEG</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DS，AX</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LEA   SI，DATA</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CX，10</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MOV  DX，0</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MOV  BL，3</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p:txBody>
      </p:sp>
      <p:sp>
        <p:nvSpPr>
          <p:cNvPr id="7" name="文本框 6"/>
          <p:cNvSpPr txBox="1"/>
          <p:nvPr/>
        </p:nvSpPr>
        <p:spPr>
          <a:xfrm>
            <a:off x="7485016" y="1036637"/>
            <a:ext cx="5241471" cy="4819781"/>
          </a:xfrm>
          <a:prstGeom prst="rect">
            <a:avLst/>
          </a:prstGeom>
          <a:noFill/>
        </p:spPr>
        <p:txBody>
          <a:bodyPr wrap="square">
            <a:spAutoFit/>
          </a:bodyPr>
          <a:lstStyle/>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LP：        MOV  AL，[SI]</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AH，0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DIV   BL</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AND  AH，AH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JNZ  NEXT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INC   DX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NEXT：  INC   SI</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LOOP  LP</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COUNT，DX</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MOV  AH，4CH</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INT   21H</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CSEG      ENDS</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rPr>
              <a:t>                END   START </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1" charset="-122"/>
              <a:cs typeface="+mn-cs"/>
            </a:endParaRPr>
          </a:p>
        </p:txBody>
      </p:sp>
      <p:sp>
        <p:nvSpPr>
          <p:cNvPr id="9" name="文本框 8"/>
          <p:cNvSpPr txBox="1"/>
          <p:nvPr/>
        </p:nvSpPr>
        <p:spPr>
          <a:xfrm>
            <a:off x="731521" y="184542"/>
            <a:ext cx="6361610" cy="369332"/>
          </a:xfrm>
          <a:prstGeom prst="rect">
            <a:avLst/>
          </a:prstGeom>
          <a:noFill/>
        </p:spPr>
        <p:txBody>
          <a:bodyPr wrap="square">
            <a:spAutoFit/>
          </a:bodyPr>
          <a:lstStyle/>
          <a:p>
            <a:r>
              <a:rPr lang="zh-CN" altLang="en-US" dirty="0">
                <a:solidFill>
                  <a:srgbClr val="FF0000"/>
                </a:solidFill>
              </a:rPr>
              <a:t>源程序如下：</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子程序结构</a:t>
            </a:r>
            <a:endParaRPr lang="zh-CN" altLang="en-US" dirty="0"/>
          </a:p>
        </p:txBody>
      </p:sp>
      <p:sp>
        <p:nvSpPr>
          <p:cNvPr id="3" name="内容占位符 2"/>
          <p:cNvSpPr>
            <a:spLocks noGrp="1"/>
          </p:cNvSpPr>
          <p:nvPr>
            <p:ph idx="1"/>
          </p:nvPr>
        </p:nvSpPr>
        <p:spPr/>
        <p:txBody>
          <a:bodyPr/>
          <a:lstStyle/>
          <a:p>
            <a:r>
              <a:rPr lang="zh-CN" altLang="en-US" dirty="0"/>
              <a:t>子程序：也称子过程。子程序结构使主程序结构清晰，而且节省了内存空间。</a:t>
            </a:r>
            <a:endParaRPr lang="zh-CN" altLang="en-US" dirty="0"/>
          </a:p>
          <a:p>
            <a:r>
              <a:rPr lang="zh-CN" altLang="en-US" dirty="0"/>
              <a:t>主程序：调用子程序的程序。</a:t>
            </a:r>
            <a:endParaRPr lang="zh-CN" altLang="en-US" dirty="0"/>
          </a:p>
          <a:p>
            <a:r>
              <a:rPr lang="zh-CN" altLang="en-US" dirty="0"/>
              <a:t>一个子程序也可以调用其它子程序。</a:t>
            </a:r>
            <a:endParaRPr lang="zh-CN" altLang="en-US" dirty="0"/>
          </a:p>
          <a:p>
            <a:r>
              <a:rPr lang="zh-CN" altLang="en-US" dirty="0"/>
              <a:t>子程序的调用和返回是由设在主程序中的</a:t>
            </a:r>
            <a:r>
              <a:rPr lang="en-US" altLang="zh-CN" dirty="0"/>
              <a:t>CALL</a:t>
            </a:r>
            <a:r>
              <a:rPr lang="zh-CN" altLang="en-US" dirty="0"/>
              <a:t>指令和设在子程序末尾的</a:t>
            </a:r>
            <a:r>
              <a:rPr lang="en-US" altLang="zh-CN" dirty="0"/>
              <a:t>RET</a:t>
            </a:r>
            <a:r>
              <a:rPr lang="zh-CN" altLang="en-US" dirty="0"/>
              <a:t>指令来完成的。</a:t>
            </a:r>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主程序调用子程序示意图</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97469" y="1690688"/>
            <a:ext cx="4427628" cy="4469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编写子程序的注意点</a:t>
            </a:r>
            <a:endParaRPr lang="zh-CN" altLang="en-US" dirty="0"/>
          </a:p>
        </p:txBody>
      </p:sp>
      <p:sp>
        <p:nvSpPr>
          <p:cNvPr id="3" name="内容占位符 2"/>
          <p:cNvSpPr>
            <a:spLocks noGrp="1"/>
          </p:cNvSpPr>
          <p:nvPr>
            <p:ph idx="1"/>
          </p:nvPr>
        </p:nvSpPr>
        <p:spPr/>
        <p:txBody>
          <a:bodyPr/>
          <a:lstStyle/>
          <a:p>
            <a:r>
              <a:rPr lang="zh-CN" altLang="en-US" dirty="0"/>
              <a:t>正确实现子程序的调用及返回。</a:t>
            </a:r>
            <a:endParaRPr lang="zh-CN" altLang="en-US" dirty="0"/>
          </a:p>
          <a:p>
            <a:r>
              <a:rPr lang="zh-CN" altLang="en-US" dirty="0"/>
              <a:t>采用适当的方法在主程序和子程序之间进行参数传递。参数传递的方法有两种：</a:t>
            </a:r>
            <a:endParaRPr lang="en-US" altLang="zh-CN" dirty="0"/>
          </a:p>
          <a:p>
            <a:pPr lvl="1"/>
            <a:r>
              <a:rPr lang="zh-CN" altLang="en-US" dirty="0"/>
              <a:t>寄存器传递法</a:t>
            </a:r>
            <a:endParaRPr lang="en-US" altLang="zh-CN" dirty="0"/>
          </a:p>
          <a:p>
            <a:pPr lvl="1"/>
            <a:r>
              <a:rPr lang="zh-CN" altLang="en-US" dirty="0"/>
              <a:t>存储器传递法</a:t>
            </a:r>
            <a:endParaRPr lang="zh-CN" altLang="en-US" dirty="0"/>
          </a:p>
          <a:p>
            <a:r>
              <a:rPr lang="zh-CN" altLang="en-US" dirty="0"/>
              <a:t>在子程序设计时，还应该注意保护和恢复现场。</a:t>
            </a:r>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保护和恢复现场</a:t>
            </a:r>
            <a:endParaRPr lang="zh-CN" altLang="en-US" dirty="0"/>
          </a:p>
        </p:txBody>
      </p:sp>
      <p:sp>
        <p:nvSpPr>
          <p:cNvPr id="3" name="内容占位符 2"/>
          <p:cNvSpPr>
            <a:spLocks noGrp="1"/>
          </p:cNvSpPr>
          <p:nvPr>
            <p:ph idx="1"/>
          </p:nvPr>
        </p:nvSpPr>
        <p:spPr/>
        <p:txBody>
          <a:bodyPr/>
          <a:lstStyle/>
          <a:p>
            <a:r>
              <a:rPr lang="zh-CN" altLang="en-US" dirty="0"/>
              <a:t>现场：是指调用程序当前</a:t>
            </a:r>
            <a:r>
              <a:rPr lang="en-US" altLang="zh-CN" dirty="0"/>
              <a:t>CPU</a:t>
            </a:r>
            <a:r>
              <a:rPr lang="zh-CN" altLang="en-US" dirty="0"/>
              <a:t>状态，包括标志寄存器、通用寄存器、段寄存器以及指令指针寄存器的内容。</a:t>
            </a:r>
            <a:endParaRPr lang="zh-CN" altLang="en-US" dirty="0"/>
          </a:p>
          <a:p>
            <a:r>
              <a:rPr lang="zh-CN" altLang="en-US" dirty="0"/>
              <a:t>保护和恢复的操作一般在子程序中进行，进入子程序后，就应该把子程序中所使用到的寄存器内容保存在堆栈中，而在子程序返回主程序之前根据堆栈中的内容恢复原来的状态。</a:t>
            </a:r>
            <a:endParaRPr lang="zh-CN"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保护和恢复现场举例</a:t>
            </a:r>
            <a:endParaRPr lang="zh-CN" altLang="en-US" dirty="0"/>
          </a:p>
        </p:txBody>
      </p:sp>
      <p:sp>
        <p:nvSpPr>
          <p:cNvPr id="5" name="文本框 4"/>
          <p:cNvSpPr txBox="1"/>
          <p:nvPr/>
        </p:nvSpPr>
        <p:spPr>
          <a:xfrm>
            <a:off x="1244238" y="2090172"/>
            <a:ext cx="3314699" cy="2677656"/>
          </a:xfrm>
          <a:prstGeom prst="rect">
            <a:avLst/>
          </a:prstGeom>
          <a:noFill/>
        </p:spPr>
        <p:txBody>
          <a:bodyPr wrap="square">
            <a:spAutoFit/>
          </a:bodyPr>
          <a:lstStyle/>
          <a:p>
            <a:r>
              <a:rPr lang="en-US" altLang="zh-CN" sz="2400" b="0" i="0" u="none" strike="noStrike" baseline="0" dirty="0">
                <a:solidFill>
                  <a:srgbClr val="000000"/>
                </a:solidFill>
                <a:latin typeface="Times New Roman" panose="02020603050405020304" pitchFamily="18" charset="0"/>
              </a:rPr>
              <a:t>FUNC1  PROC</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PUSH     AX</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PUSH     BX</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PUSH     CX</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PUSH     DX</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PUSHF</a:t>
            </a:r>
            <a:r>
              <a:rPr lang="zh-CN" altLang="en-US" sz="2400" b="0" i="0" u="none" strike="noStrike" baseline="0" dirty="0">
                <a:solidFill>
                  <a:srgbClr val="000000"/>
                </a:solidFill>
                <a:latin typeface="宋体" panose="02010600030101010101" pitchFamily="2" charset="-122"/>
                <a:ea typeface="宋体" panose="02010600030101010101" pitchFamily="2" charset="-122"/>
              </a:rPr>
              <a:t>；保护现场</a:t>
            </a:r>
            <a:endParaRPr lang="zh-CN" altLang="en-US" sz="2400" b="0" i="0" u="none" strike="noStrike" baseline="0" dirty="0">
              <a:solidFill>
                <a:srgbClr val="000000"/>
              </a:solidFill>
              <a:latin typeface="宋体" panose="02010600030101010101" pitchFamily="2" charset="-122"/>
              <a:ea typeface="宋体" panose="02010600030101010101" pitchFamily="2" charset="-122"/>
            </a:endParaRPr>
          </a:p>
          <a:p>
            <a:r>
              <a:rPr lang="en-US" altLang="zh-CN" sz="2400" b="0" i="0" u="none" strike="noStrike" baseline="0" dirty="0">
                <a:solidFill>
                  <a:srgbClr val="000000"/>
                </a:solidFill>
                <a:latin typeface="Calibri" panose="020F0502020204030204" pitchFamily="34" charset="0"/>
                <a:ea typeface="宋体" panose="02010600030101010101" pitchFamily="2" charset="-122"/>
              </a:rPr>
              <a:t>…..</a:t>
            </a:r>
            <a:endParaRPr lang="zh-CN" altLang="en-US" dirty="0"/>
          </a:p>
        </p:txBody>
      </p:sp>
      <p:sp>
        <p:nvSpPr>
          <p:cNvPr id="7" name="文本框 6"/>
          <p:cNvSpPr txBox="1"/>
          <p:nvPr/>
        </p:nvSpPr>
        <p:spPr>
          <a:xfrm>
            <a:off x="5163095" y="2090172"/>
            <a:ext cx="6093822" cy="2677656"/>
          </a:xfrm>
          <a:prstGeom prst="rect">
            <a:avLst/>
          </a:prstGeom>
          <a:noFill/>
        </p:spPr>
        <p:txBody>
          <a:bodyPr wrap="square">
            <a:spAutoFit/>
          </a:bodyPr>
          <a:lstStyle/>
          <a:p>
            <a:r>
              <a:rPr lang="en-US" altLang="zh-CN" sz="2400" b="0" i="0" u="none" strike="noStrike" baseline="0" dirty="0">
                <a:solidFill>
                  <a:srgbClr val="000000"/>
                </a:solidFill>
                <a:latin typeface="Times New Roman" panose="02020603050405020304" pitchFamily="18" charset="0"/>
              </a:rPr>
              <a:t>POPF</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POP       DX</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POP       CX</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POP       BX</a:t>
            </a:r>
            <a:endParaRPr lang="en-US" altLang="zh-CN" sz="2400" b="0" i="0" u="none" strike="noStrike" baseline="0" dirty="0">
              <a:solidFill>
                <a:srgbClr val="000000"/>
              </a:solidFill>
              <a:latin typeface="Times New Roman" panose="02020603050405020304" pitchFamily="18" charset="0"/>
            </a:endParaRPr>
          </a:p>
          <a:p>
            <a:r>
              <a:rPr lang="en-US" altLang="zh-CN" sz="2400" b="0" i="0" u="none" strike="noStrike" baseline="0" dirty="0">
                <a:solidFill>
                  <a:srgbClr val="000000"/>
                </a:solidFill>
                <a:latin typeface="Times New Roman" panose="02020603050405020304" pitchFamily="18" charset="0"/>
              </a:rPr>
              <a:t>POPAX</a:t>
            </a:r>
            <a:r>
              <a:rPr lang="zh-CN" altLang="en-US" sz="2400" b="0" i="0" u="none" strike="noStrike" baseline="0" dirty="0">
                <a:solidFill>
                  <a:srgbClr val="000000"/>
                </a:solidFill>
                <a:latin typeface="宋体" panose="02010600030101010101" pitchFamily="2" charset="-122"/>
                <a:ea typeface="宋体" panose="02010600030101010101" pitchFamily="2" charset="-122"/>
              </a:rPr>
              <a:t>；恢复现场</a:t>
            </a:r>
            <a:endParaRPr lang="zh-CN" altLang="en-US" sz="2400" b="0" i="0" u="none" strike="noStrike" baseline="0" dirty="0">
              <a:solidFill>
                <a:srgbClr val="000000"/>
              </a:solidFill>
              <a:latin typeface="宋体" panose="02010600030101010101" pitchFamily="2" charset="-122"/>
              <a:ea typeface="宋体" panose="02010600030101010101" pitchFamily="2" charset="-122"/>
            </a:endParaRPr>
          </a:p>
          <a:p>
            <a:r>
              <a:rPr lang="en-US" altLang="zh-CN" sz="2400" b="0" i="0" u="none" strike="noStrike" baseline="0" dirty="0">
                <a:solidFill>
                  <a:srgbClr val="000000"/>
                </a:solidFill>
                <a:latin typeface="Times New Roman" panose="02020603050405020304" pitchFamily="18" charset="0"/>
                <a:ea typeface="宋体" panose="02010600030101010101" pitchFamily="2" charset="-122"/>
              </a:rPr>
              <a:t>RET</a:t>
            </a:r>
            <a:r>
              <a:rPr lang="zh-CN" altLang="en-US" sz="2400" b="0" i="0" u="none" strike="noStrike" baseline="0" dirty="0">
                <a:solidFill>
                  <a:srgbClr val="000000"/>
                </a:solidFill>
                <a:latin typeface="宋体" panose="02010600030101010101" pitchFamily="2" charset="-122"/>
                <a:ea typeface="宋体" panose="02010600030101010101" pitchFamily="2" charset="-122"/>
              </a:rPr>
              <a:t>；   返回</a:t>
            </a:r>
            <a:endParaRPr lang="zh-CN" altLang="en-US" sz="2400" b="0" i="0" u="none" strike="noStrike" baseline="0" dirty="0">
              <a:solidFill>
                <a:srgbClr val="000000"/>
              </a:solidFill>
              <a:latin typeface="宋体" panose="02010600030101010101" pitchFamily="2" charset="-122"/>
              <a:ea typeface="宋体" panose="02010600030101010101" pitchFamily="2" charset="-122"/>
            </a:endParaRPr>
          </a:p>
          <a:p>
            <a:r>
              <a:rPr lang="en-US" altLang="zh-CN" sz="2400" b="0" i="0" u="none" strike="noStrike" baseline="0" dirty="0">
                <a:solidFill>
                  <a:srgbClr val="000000"/>
                </a:solidFill>
                <a:latin typeface="Times New Roman" panose="02020603050405020304" pitchFamily="18" charset="0"/>
                <a:ea typeface="宋体" panose="02010600030101010101" pitchFamily="2" charset="-122"/>
              </a:rPr>
              <a:t>FUNC1     ENDP</a:t>
            </a:r>
            <a:endParaRPr lang="zh-CN" alt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使用寄存器传递参数</a:t>
            </a:r>
            <a:endParaRPr lang="zh-CN" altLang="en-US" dirty="0"/>
          </a:p>
        </p:txBody>
      </p:sp>
      <p:sp>
        <p:nvSpPr>
          <p:cNvPr id="3" name="内容占位符 2"/>
          <p:cNvSpPr>
            <a:spLocks noGrp="1"/>
          </p:cNvSpPr>
          <p:nvPr>
            <p:ph idx="1"/>
          </p:nvPr>
        </p:nvSpPr>
        <p:spPr/>
        <p:txBody>
          <a:bodyPr>
            <a:normAutofit lnSpcReduction="10000"/>
          </a:bodyPr>
          <a:lstStyle/>
          <a:p>
            <a:pPr>
              <a:lnSpc>
                <a:spcPct val="90000"/>
              </a:lnSpc>
            </a:pPr>
            <a:r>
              <a:rPr lang="zh-CN" altLang="zh-CN" b="0" dirty="0"/>
              <a:t>例</a:t>
            </a:r>
            <a:r>
              <a:rPr lang="zh-CN" altLang="en-US" dirty="0"/>
              <a:t>：</a:t>
            </a:r>
            <a:r>
              <a:rPr lang="zh-CN" altLang="zh-CN" b="0" dirty="0"/>
              <a:t>编制程序实现将内存中一字符串的小写字母转换成大写字母。</a:t>
            </a:r>
            <a:endParaRPr lang="zh-CN" altLang="zh-CN" b="0" dirty="0"/>
          </a:p>
          <a:p>
            <a:pPr>
              <a:lnSpc>
                <a:spcPct val="90000"/>
              </a:lnSpc>
            </a:pPr>
            <a:r>
              <a:rPr lang="zh-CN" altLang="zh-CN" b="0" dirty="0"/>
              <a:t>分析：</a:t>
            </a:r>
            <a:endParaRPr lang="zh-CN" altLang="zh-CN" b="0" dirty="0"/>
          </a:p>
          <a:p>
            <a:pPr lvl="1">
              <a:lnSpc>
                <a:spcPct val="90000"/>
              </a:lnSpc>
            </a:pPr>
            <a:r>
              <a:rPr lang="zh-CN" altLang="zh-CN" b="0" dirty="0">
                <a:latin typeface="+mn-ea"/>
              </a:rPr>
              <a:t>由ASCII码编码表可知，英文大、小写的26个字母字符编码顺序递增，且各小写字母与其对应大写字母的编码差值均为</a:t>
            </a:r>
            <a:r>
              <a:rPr lang="en-US" altLang="zh-CN" b="0" dirty="0">
                <a:latin typeface="+mn-ea"/>
              </a:rPr>
              <a:t>20H</a:t>
            </a:r>
            <a:r>
              <a:rPr lang="zh-CN" altLang="zh-CN" b="0" dirty="0">
                <a:latin typeface="+mn-ea"/>
              </a:rPr>
              <a:t>，因此当要将小写字母转换成大写字母时，只需将其ASCII码值减去</a:t>
            </a:r>
            <a:r>
              <a:rPr lang="en-US" altLang="zh-CN" b="0" dirty="0">
                <a:latin typeface="+mn-ea"/>
              </a:rPr>
              <a:t>20H</a:t>
            </a:r>
            <a:r>
              <a:rPr lang="zh-CN" altLang="zh-CN" b="0" dirty="0">
                <a:latin typeface="+mn-ea"/>
              </a:rPr>
              <a:t>即可。</a:t>
            </a:r>
            <a:endParaRPr lang="zh-CN" altLang="zh-CN" b="0" dirty="0">
              <a:latin typeface="+mn-ea"/>
            </a:endParaRPr>
          </a:p>
          <a:p>
            <a:pPr lvl="1">
              <a:lnSpc>
                <a:spcPct val="90000"/>
              </a:lnSpc>
            </a:pPr>
            <a:r>
              <a:rPr lang="zh-CN" altLang="zh-CN" b="0" dirty="0">
                <a:latin typeface="+mn-ea"/>
              </a:rPr>
              <a:t>这里将判断输入的字符是否小写字母的工作编为子程序，该子程序将判断的结果通过标志位CF返回给主程序，CF=0表示是小写字母，CF=1表示不是小写字母。</a:t>
            </a:r>
            <a:endParaRPr lang="zh-CN" altLang="zh-CN" b="0" dirty="0">
              <a:latin typeface="+mn-ea"/>
            </a:endParaRPr>
          </a:p>
          <a:p>
            <a:pPr lvl="1">
              <a:lnSpc>
                <a:spcPct val="90000"/>
              </a:lnSpc>
            </a:pPr>
            <a:r>
              <a:rPr lang="zh-CN" altLang="zh-CN" b="0" dirty="0">
                <a:latin typeface="+mn-ea"/>
              </a:rPr>
              <a:t>主程序通过AL寄存器将要判断的内容传递给子程序。</a:t>
            </a:r>
            <a:endParaRPr lang="zh-CN" altLang="zh-CN" b="0" dirty="0">
              <a:latin typeface="+mn-e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899463" y="262511"/>
            <a:ext cx="3570288" cy="6466113"/>
          </a:xfrm>
          <a:prstGeom prst="rect">
            <a:avLst/>
          </a:prstGeom>
          <a:ln w="38100" cap="flat" cmpd="dbl">
            <a:solidFill>
              <a:schemeClr val="tx1"/>
            </a:solidFill>
            <a:miter lim="800000"/>
          </a:ln>
        </p:spPr>
        <p:txBody>
          <a:bodyPr vert="horz" lIns="90170" tIns="46990" rIns="90170" bIns="46990" rtlCol="0">
            <a:normAutofit/>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DSEG    SEGMENT</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STRBUF  DB   ‘WelCome To our Class!$’</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DSEG    ENDS</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SSEG    SEGMENT  STACK</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STK       DB  100  DUP (?)</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SSEG    ENDS</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CSEG    SEGMENT</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ASSUME   DS:DSEG,SS:SSEG,CS:CSEG</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START:  MOV  AX,DSEG</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MOV  DS,AX</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MOV  BX,OFFSET STRBUF </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LOP:    </a:t>
            </a:r>
            <a:r>
              <a:rPr lang="zh-CN" altLang="en-US" sz="1400">
                <a:latin typeface="Times New Roman" panose="02020603050405020304" pitchFamily="18" charset="0"/>
              </a:rPr>
              <a:t> </a:t>
            </a:r>
            <a:r>
              <a:rPr lang="zh-CN" altLang="en-US" sz="1400">
                <a:latin typeface="Times New Roman" panose="02020603050405020304" pitchFamily="18" charset="0"/>
                <a:cs typeface="Times New Roman" panose="02020603050405020304" pitchFamily="18" charset="0"/>
              </a:rPr>
              <a:t>MOV  AL,[BX]</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CMP   AL,’$’</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JE     EXIT</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CALL  COMPARE</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JC     NEXT</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SUB   AL,32</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MOV  [BX],AL</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NEXT:INC   BX</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JMP  LOP</a:t>
            </a:r>
            <a:endParaRPr lang="zh-CN" altLang="en-US" sz="140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1400">
                <a:latin typeface="Times New Roman" panose="02020603050405020304" pitchFamily="18" charset="0"/>
                <a:cs typeface="Times New Roman" panose="02020603050405020304" pitchFamily="18" charset="0"/>
              </a:rPr>
              <a:t>  EXIT: HLT   </a:t>
            </a:r>
            <a:endParaRPr lang="zh-CN" altLang="en-US" sz="1400">
              <a:latin typeface="Times New Roman" panose="02020603050405020304" pitchFamily="18" charset="0"/>
              <a:cs typeface="Times New Roman" panose="02020603050405020304" pitchFamily="18" charset="0"/>
            </a:endParaRPr>
          </a:p>
        </p:txBody>
      </p:sp>
      <p:sp>
        <p:nvSpPr>
          <p:cNvPr id="5" name="Rectangle 4"/>
          <p:cNvSpPr>
            <a:spLocks noGrp="1" noChangeArrowheads="1"/>
          </p:cNvSpPr>
          <p:nvPr/>
        </p:nvSpPr>
        <p:spPr bwMode="auto">
          <a:xfrm>
            <a:off x="6096000" y="340889"/>
            <a:ext cx="4060825" cy="4982226"/>
          </a:xfrm>
          <a:prstGeom prst="rect">
            <a:avLst/>
          </a:prstGeom>
          <a:noFill/>
          <a:ln w="38100" cap="flat" cmpd="dbl">
            <a:solidFill>
              <a:schemeClr val="tx1"/>
            </a:solidFill>
            <a:beve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lstStyle>
            <a:lvl1pPr marL="342900" indent="-342900" algn="just">
              <a:spcBef>
                <a:spcPct val="20000"/>
              </a:spcBef>
              <a:buClr>
                <a:schemeClr val="folHlink"/>
              </a:buClr>
              <a:buSzPct val="60000"/>
              <a:buFont typeface="Wingdings" panose="05000000000000000000" pitchFamily="2" charset="2"/>
              <a:buChar char="Ø"/>
              <a:defRPr sz="3200" b="1">
                <a:solidFill>
                  <a:schemeClr val="tx1"/>
                </a:solidFill>
                <a:latin typeface="Tahoma" panose="020B0604030504040204" pitchFamily="34" charset="0"/>
                <a:ea typeface="宋体" panose="02010600030101010101" pitchFamily="2" charset="-122"/>
              </a:defRPr>
            </a:lvl1pPr>
            <a:lvl2pPr marL="742950" indent="-285750" algn="just">
              <a:spcBef>
                <a:spcPct val="20000"/>
              </a:spcBef>
              <a:buClr>
                <a:schemeClr val="folHlink"/>
              </a:buClr>
              <a:buSzPct val="60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lgn="just">
              <a:spcBef>
                <a:spcPct val="20000"/>
              </a:spcBef>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；子程序名：COMPARE</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；功能：判断输入的字符是否小写字母</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；入口参数：AL←待判断的字符</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；出口参数：CF←是否是小写字母</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COMPARE  PROC   NEAR</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CMP   AL,’a’</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JB     SETFLAG</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CMP   AL,’z’</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JA     SETFLAG</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CLC</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RET</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SETFLAG:  STC</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RET</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COMPARE   ENDP</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CSEG      ENDS</a:t>
            </a:r>
            <a:endParaRPr lang="zh-CN" altLang="zh-CN" sz="1600" b="0">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zh-CN" sz="1600" b="0">
                <a:latin typeface="Times New Roman" panose="02020603050405020304" pitchFamily="18" charset="0"/>
                <a:cs typeface="Times New Roman" panose="02020603050405020304" pitchFamily="18" charset="0"/>
              </a:rPr>
              <a:t>   　　　            END  START</a:t>
            </a:r>
            <a:endParaRPr lang="zh-CN" altLang="zh-CN" sz="1600" b="0">
              <a:latin typeface="Times New Roman" panose="02020603050405020304" pitchFamily="18" charset="0"/>
              <a:cs typeface="Times New Roman" panose="02020603050405020304" pitchFamily="18" charset="0"/>
            </a:endParaRPr>
          </a:p>
        </p:txBody>
      </p:sp>
      <p:sp>
        <p:nvSpPr>
          <p:cNvPr id="7" name="文本框 6"/>
          <p:cNvSpPr txBox="1"/>
          <p:nvPr/>
        </p:nvSpPr>
        <p:spPr>
          <a:xfrm>
            <a:off x="225336" y="435820"/>
            <a:ext cx="6093822" cy="523220"/>
          </a:xfrm>
          <a:prstGeom prst="rect">
            <a:avLst/>
          </a:prstGeom>
          <a:noFill/>
        </p:spPr>
        <p:txBody>
          <a:bodyPr wrap="square">
            <a:spAutoFit/>
          </a:bodyPr>
          <a:lstStyle/>
          <a:p>
            <a:r>
              <a:rPr lang="zh-CN" altLang="en-US" sz="2800" dirty="0">
                <a:solidFill>
                  <a:srgbClr val="FF0000"/>
                </a:solidFill>
                <a:latin typeface="Times New Roman" panose="02020603050405020304" pitchFamily="18" charset="0"/>
                <a:sym typeface="Arial" panose="020B0604020202020204" pitchFamily="34" charset="0"/>
              </a:rPr>
              <a:t>源程序</a:t>
            </a:r>
            <a:r>
              <a:rPr lang="zh-CN" altLang="en-US" sz="2800" dirty="0">
                <a:solidFill>
                  <a:srgbClr val="FF0000"/>
                </a:solidFill>
              </a:rPr>
              <a:t> </a:t>
            </a:r>
            <a:endParaRPr lang="zh-CN" altLang="en-US" sz="2800" dirty="0">
              <a:solidFill>
                <a:srgbClr val="FF0000"/>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使用存储器传递参数</a:t>
            </a:r>
            <a:endParaRPr lang="zh-CN" altLang="en-US" dirty="0"/>
          </a:p>
        </p:txBody>
      </p:sp>
      <p:sp>
        <p:nvSpPr>
          <p:cNvPr id="3" name="内容占位符 2"/>
          <p:cNvSpPr>
            <a:spLocks noGrp="1"/>
          </p:cNvSpPr>
          <p:nvPr>
            <p:ph idx="1"/>
          </p:nvPr>
        </p:nvSpPr>
        <p:spPr/>
        <p:txBody>
          <a:bodyPr/>
          <a:lstStyle/>
          <a:p>
            <a:r>
              <a:rPr lang="zh-CN" altLang="zh-CN" b="0" dirty="0">
                <a:latin typeface="楷体_GB2312" pitchFamily="1" charset="-122"/>
                <a:ea typeface="楷体_GB2312" pitchFamily="1" charset="-122"/>
              </a:rPr>
              <a:t>如果需要传递的参数比较多，可以考虑采用存储器传递法，也就是在内存开辟一块区域用来保存和传递主程序和子程序间的参数。</a:t>
            </a:r>
            <a:endParaRPr lang="zh-CN" altLang="zh-CN" b="0" dirty="0">
              <a:latin typeface="楷体_GB2312" pitchFamily="1" charset="-122"/>
              <a:ea typeface="楷体_GB2312" pitchFamily="1" charset="-122"/>
            </a:endParaRPr>
          </a:p>
          <a:p>
            <a:r>
              <a:rPr lang="zh-CN" altLang="zh-CN" b="0" dirty="0">
                <a:latin typeface="楷体_GB2312" pitchFamily="1" charset="-122"/>
                <a:ea typeface="楷体_GB2312" pitchFamily="1" charset="-122"/>
              </a:rPr>
              <a:t>例</a:t>
            </a:r>
            <a:r>
              <a:rPr lang="zh-CN" altLang="en-US" b="0" dirty="0">
                <a:latin typeface="楷体_GB2312" pitchFamily="1" charset="-122"/>
                <a:ea typeface="楷体_GB2312" pitchFamily="1" charset="-122"/>
              </a:rPr>
              <a:t>：</a:t>
            </a:r>
            <a:r>
              <a:rPr lang="zh-CN" altLang="zh-CN" b="0" dirty="0">
                <a:latin typeface="楷体_GB2312" pitchFamily="1" charset="-122"/>
                <a:ea typeface="楷体_GB2312" pitchFamily="1" charset="-122"/>
              </a:rPr>
              <a:t>编程将四个字节单元的非压缩BCD码转换为4位压缩BCD码（两个字节）后存放到首址为BCDBUF的两个字节单元中。</a:t>
            </a:r>
            <a:endParaRPr lang="zh-CN" altLang="zh-CN" b="0" dirty="0">
              <a:latin typeface="楷体_GB2312" pitchFamily="1" charset="-122"/>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039984" y="1282336"/>
            <a:ext cx="4197350" cy="4865688"/>
          </a:xfrm>
          <a:prstGeom prst="rect">
            <a:avLst/>
          </a:prstGeom>
          <a:noFill/>
          <a:ln w="38100" cap="flat" cmpd="dbl">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anchor="t" anchorCtr="0" compatLnSpc="1"/>
          <a:lstStyle>
            <a:lvl1pPr marL="342900" indent="-342900" algn="just" rtl="0" fontAlgn="base">
              <a:spcBef>
                <a:spcPct val="20000"/>
              </a:spcBef>
              <a:spcAft>
                <a:spcPct val="0"/>
              </a:spcAft>
              <a:buClr>
                <a:schemeClr val="folHlink"/>
              </a:buClr>
              <a:buSzPct val="60000"/>
              <a:buFont typeface="Wingdings" panose="05000000000000000000" pitchFamily="2" charset="2"/>
              <a:buChar char="Ø"/>
              <a:defRPr sz="3200" b="1" kern="1200">
                <a:solidFill>
                  <a:schemeClr val="tx1"/>
                </a:solidFill>
                <a:latin typeface="+mn-lt"/>
                <a:ea typeface="+mn-ea"/>
                <a:cs typeface="+mn-cs"/>
              </a:defRPr>
            </a:lvl1pPr>
            <a:lvl2pPr marL="742950" indent="-285750" algn="just" rtl="0" fontAlgn="base">
              <a:spcBef>
                <a:spcPct val="20000"/>
              </a:spcBef>
              <a:spcAft>
                <a:spcPct val="0"/>
              </a:spcAft>
              <a:buClr>
                <a:schemeClr val="folHlink"/>
              </a:buClr>
              <a:buSzPct val="60000"/>
              <a:buFont typeface="Wingdings" panose="05000000000000000000" pitchFamily="2" charset="2"/>
              <a:buChar char="n"/>
              <a:defRPr sz="2800" b="1" kern="1200">
                <a:solidFill>
                  <a:schemeClr val="tx1"/>
                </a:solidFill>
                <a:latin typeface="+mn-lt"/>
                <a:ea typeface="+mn-ea"/>
                <a:cs typeface="+mn-cs"/>
              </a:defRPr>
            </a:lvl2pPr>
            <a:lvl3pPr marL="1143000" indent="-228600" algn="just" rtl="0" fontAlgn="base">
              <a:spcBef>
                <a:spcPct val="20000"/>
              </a:spcBef>
              <a:spcAft>
                <a:spcPct val="0"/>
              </a:spcAft>
              <a:buClr>
                <a:schemeClr val="folHlink"/>
              </a:buClr>
              <a:buSzPct val="60000"/>
              <a:buFont typeface="Wingdings" panose="05000000000000000000" pitchFamily="2" charset="2"/>
              <a:buChar char="n"/>
              <a:defRPr sz="2400" b="1" kern="1200">
                <a:solidFill>
                  <a:schemeClr val="tx1"/>
                </a:solidFill>
                <a:latin typeface="+mn-lt"/>
                <a:ea typeface="+mn-ea"/>
                <a:cs typeface="+mn-cs"/>
              </a:defRPr>
            </a:lvl3pPr>
            <a:lvl4pPr marL="1600200" indent="-228600" algn="just" rtl="0" fontAlgn="base">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mn-ea"/>
                <a:cs typeface="+mn-cs"/>
              </a:defRPr>
            </a:lvl4pPr>
            <a:lvl5pPr marL="2057400" indent="-228600" algn="just" rtl="0" fontAlgn="base">
              <a:spcBef>
                <a:spcPct val="20000"/>
              </a:spcBef>
              <a:spcAft>
                <a:spcPct val="0"/>
              </a:spcAft>
              <a:buClr>
                <a:schemeClr val="folHlink"/>
              </a:buClr>
              <a:buSzPct val="60000"/>
              <a:buFont typeface="Wingdings" panose="05000000000000000000" pitchFamily="2" charset="2"/>
              <a:buChar char="n"/>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DSEG   SEGMENT</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SRCBUF  DB   06H，02H，07H，04H</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BCDBUF  DB   2  DUP (?)</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DSEG    ENDS</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SSEG   SEGMENT  STACK</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STK      DB  100  DUP (?)</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SSEG   ENDS</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CSEG  SEGMENT</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ASSUME  DS:DSEG,SS:SSEG,CS:CSEG</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START： MOV  AX，DSEG</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DS，AX</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CALL  MERGE</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HLT</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MERGE    PROC      NEAR</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PUSH  AX</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PUSH  BX</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PUSH  CX</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Rectangle 4"/>
          <p:cNvSpPr>
            <a:spLocks noGrp="1" noChangeArrowheads="1"/>
          </p:cNvSpPr>
          <p:nvPr/>
        </p:nvSpPr>
        <p:spPr bwMode="auto">
          <a:xfrm>
            <a:off x="6345284" y="1055324"/>
            <a:ext cx="3851275" cy="5075237"/>
          </a:xfrm>
          <a:prstGeom prst="rect">
            <a:avLst/>
          </a:prstGeom>
          <a:noFill/>
          <a:ln w="38100" cap="flat" cmpd="dbl">
            <a:solidFill>
              <a:srgbClr val="000000"/>
            </a:solidFill>
            <a:beve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lstStyle>
            <a:lvl1pPr marL="342900" indent="-342900" algn="just">
              <a:spcBef>
                <a:spcPct val="20000"/>
              </a:spcBef>
              <a:buClr>
                <a:schemeClr val="folHlink"/>
              </a:buClr>
              <a:buSzPct val="60000"/>
              <a:buFont typeface="Wingdings" panose="05000000000000000000" pitchFamily="2" charset="2"/>
              <a:buChar char="Ø"/>
              <a:defRPr sz="3200" b="1">
                <a:solidFill>
                  <a:schemeClr val="tx1"/>
                </a:solidFill>
                <a:latin typeface="Tahoma" panose="020B0604030504040204" pitchFamily="34" charset="0"/>
                <a:ea typeface="宋体" panose="02010600030101010101" pitchFamily="2" charset="-122"/>
              </a:defRPr>
            </a:lvl1pPr>
            <a:lvl2pPr marL="742950" indent="-285750" algn="just">
              <a:spcBef>
                <a:spcPct val="20000"/>
              </a:spcBef>
              <a:buClr>
                <a:schemeClr val="folHlink"/>
              </a:buClr>
              <a:buSzPct val="60000"/>
              <a:buFont typeface="Wingdings" panose="05000000000000000000" pitchFamily="2" charset="2"/>
              <a:buChar char="n"/>
              <a:defRPr sz="2800" b="1">
                <a:solidFill>
                  <a:schemeClr val="tx1"/>
                </a:solidFill>
                <a:latin typeface="Tahoma" panose="020B0604030504040204" pitchFamily="34" charset="0"/>
                <a:ea typeface="宋体" panose="02010600030101010101" pitchFamily="2" charset="-122"/>
              </a:defRPr>
            </a:lvl2pPr>
            <a:lvl3pPr marL="1143000" indent="-228600" algn="just">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3pPr>
            <a:lvl4pPr marL="1600200" indent="-228600" algn="just">
              <a:spcBef>
                <a:spcPct val="20000"/>
              </a:spcBef>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lgn="just">
              <a:spcBef>
                <a:spcPct val="20000"/>
              </a:spcBef>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5pPr>
            <a:lvl6pPr marL="25146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6pPr>
            <a:lvl7pPr marL="29718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7pPr>
            <a:lvl8pPr marL="34290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8pPr>
            <a:lvl9pPr marL="3886200" indent="-228600" algn="just" fontAlgn="base">
              <a:spcBef>
                <a:spcPct val="20000"/>
              </a:spcBef>
              <a:spcAft>
                <a:spcPct val="0"/>
              </a:spcAft>
              <a:buClr>
                <a:schemeClr val="folHlink"/>
              </a:buClr>
              <a:buSzPct val="6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9pPr>
          </a:lstStyle>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LEA   SI，SRCBUF</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AH,  [SI]</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BH,  [SI+1]</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CL,  4</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SHL   AH,  CL</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ADD   AH</a:t>
            </a: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BH</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AL,  [SI+2]</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BL,  [SI+3]</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CL,  4</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SHL   AL,  CL</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ADD   AL,BL</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BCDBUF,AH</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MOV  BCDBUF+1,AL</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POP   CX</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POP   BX</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POP   AX</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RET</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MERGE  ENDP</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CSEG   ENDS</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just" defTabSz="91440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END   START</a:t>
            </a:r>
            <a:endParaRPr kumimoji="0"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p:cNvSpPr txBox="1"/>
          <p:nvPr/>
        </p:nvSpPr>
        <p:spPr>
          <a:xfrm>
            <a:off x="1091748" y="542773"/>
            <a:ext cx="6093822" cy="523220"/>
          </a:xfrm>
          <a:prstGeom prst="rect">
            <a:avLst/>
          </a:prstGeom>
          <a:noFill/>
        </p:spPr>
        <p:txBody>
          <a:bodyPr wrap="square">
            <a:spAutoFit/>
          </a:bodyPr>
          <a:lstStyle/>
          <a:p>
            <a:r>
              <a:rPr lang="zh-CN" altLang="en-US" sz="2800" dirty="0">
                <a:solidFill>
                  <a:srgbClr val="FF0000"/>
                </a:solidFill>
              </a:rPr>
              <a:t>源程序</a:t>
            </a:r>
            <a:endParaRPr lang="zh-CN" altLang="en-US" sz="2800" dirty="0">
              <a:solidFill>
                <a:srgbClr val="FF0000"/>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系统功能调用</a:t>
            </a:r>
            <a:endParaRPr lang="zh-CN" altLang="en-US" dirty="0"/>
          </a:p>
        </p:txBody>
      </p:sp>
      <p:sp>
        <p:nvSpPr>
          <p:cNvPr id="3" name="内容占位符 2"/>
          <p:cNvSpPr>
            <a:spLocks noGrp="1"/>
          </p:cNvSpPr>
          <p:nvPr>
            <p:ph idx="1"/>
          </p:nvPr>
        </p:nvSpPr>
        <p:spPr/>
        <p:txBody>
          <a:bodyPr>
            <a:normAutofit fontScale="92500"/>
          </a:bodyPr>
          <a:lstStyle/>
          <a:p>
            <a:pPr>
              <a:lnSpc>
                <a:spcPct val="110000"/>
              </a:lnSpc>
            </a:pPr>
            <a:r>
              <a:rPr lang="en-US" altLang="zh-CN" dirty="0"/>
              <a:t>DOS(</a:t>
            </a:r>
            <a:r>
              <a:rPr lang="en-US" altLang="zh-CN" dirty="0" err="1"/>
              <a:t>Disk Operation System</a:t>
            </a:r>
            <a:r>
              <a:rPr lang="en-US" altLang="zh-CN" dirty="0"/>
              <a:t>)</a:t>
            </a:r>
            <a:r>
              <a:rPr lang="zh-CN" altLang="en-US" dirty="0"/>
              <a:t>和</a:t>
            </a:r>
            <a:r>
              <a:rPr lang="en-US" altLang="zh-CN" dirty="0"/>
              <a:t>BIOS(</a:t>
            </a:r>
            <a:r>
              <a:rPr lang="en-US" altLang="zh-CN" dirty="0" err="1"/>
              <a:t>Basic Input and Output System</a:t>
            </a:r>
            <a:r>
              <a:rPr lang="en-US" altLang="zh-CN" dirty="0"/>
              <a:t>)</a:t>
            </a:r>
            <a:r>
              <a:rPr lang="zh-CN" altLang="en-US" dirty="0"/>
              <a:t>为用户提供两组系统服务程序。用户程序可以采用软中断指令</a:t>
            </a:r>
            <a:r>
              <a:rPr lang="en-US" altLang="zh-CN" dirty="0"/>
              <a:t>INT n</a:t>
            </a:r>
            <a:r>
              <a:rPr lang="zh-CN" altLang="en-US" dirty="0"/>
              <a:t>调用这些系统服务程序。</a:t>
            </a:r>
            <a:endParaRPr lang="zh-CN" altLang="en-US" dirty="0"/>
          </a:p>
          <a:p>
            <a:pPr>
              <a:lnSpc>
                <a:spcPct val="110000"/>
              </a:lnSpc>
            </a:pPr>
            <a:r>
              <a:rPr lang="en-US" altLang="zh-CN" dirty="0"/>
              <a:t>DOS</a:t>
            </a:r>
            <a:r>
              <a:rPr lang="zh-CN" altLang="en-US" dirty="0"/>
              <a:t>提供若干功能调用。包括基本输入</a:t>
            </a:r>
            <a:r>
              <a:rPr lang="en-US" altLang="zh-CN" dirty="0"/>
              <a:t>/</a:t>
            </a:r>
            <a:r>
              <a:rPr lang="zh-CN" altLang="en-US" dirty="0"/>
              <a:t>输出管理、内存储器读</a:t>
            </a:r>
            <a:r>
              <a:rPr lang="en-US" altLang="zh-CN" dirty="0"/>
              <a:t>/</a:t>
            </a:r>
            <a:r>
              <a:rPr lang="zh-CN" altLang="en-US" dirty="0"/>
              <a:t>写管理、磁盘文件的读</a:t>
            </a:r>
            <a:r>
              <a:rPr lang="en-US" altLang="zh-CN" dirty="0"/>
              <a:t>/</a:t>
            </a:r>
            <a:r>
              <a:rPr lang="zh-CN" altLang="en-US" dirty="0"/>
              <a:t>写管理、时间和日期的设置功能</a:t>
            </a:r>
            <a:r>
              <a:rPr lang="zh-CN" altLang="en-US" dirty="0" smtClean="0"/>
              <a:t>。</a:t>
            </a:r>
            <a:endParaRPr lang="zh-CN" altLang="en-US" dirty="0"/>
          </a:p>
          <a:p>
            <a:pPr>
              <a:lnSpc>
                <a:spcPct val="110000"/>
              </a:lnSpc>
            </a:pPr>
            <a:r>
              <a:rPr lang="en-US" altLang="zh-CN" dirty="0"/>
              <a:t>BIOS</a:t>
            </a:r>
            <a:r>
              <a:rPr lang="zh-CN" altLang="en-US" dirty="0"/>
              <a:t>在较低层次上为用户提供一组</a:t>
            </a:r>
            <a:r>
              <a:rPr lang="en-US" altLang="zh-CN" dirty="0"/>
              <a:t>I/O</a:t>
            </a:r>
            <a:r>
              <a:rPr lang="zh-CN" altLang="en-US" dirty="0"/>
              <a:t>程序，要求用户对硬件有一定的了解，但也不要求用户直接控制外设。</a:t>
            </a:r>
            <a:r>
              <a:rPr lang="en-US" altLang="zh-CN" dirty="0"/>
              <a:t>BIOS</a:t>
            </a:r>
            <a:r>
              <a:rPr lang="zh-CN" altLang="en-US" dirty="0"/>
              <a:t>驻留在</a:t>
            </a:r>
            <a:r>
              <a:rPr lang="en-US" altLang="zh-CN" dirty="0"/>
              <a:t>ROM</a:t>
            </a:r>
            <a:r>
              <a:rPr lang="zh-CN" altLang="en-US" dirty="0"/>
              <a:t>中，独立于操作系统。</a:t>
            </a:r>
            <a:endParaRPr lang="zh-CN" altLang="en-US" dirty="0"/>
          </a:p>
        </p:txBody>
      </p:sp>
      <p:sp>
        <p:nvSpPr>
          <p:cNvPr id="4" name="矩形 3"/>
          <p:cNvSpPr/>
          <p:nvPr/>
        </p:nvSpPr>
        <p:spPr>
          <a:xfrm>
            <a:off x="5051394" y="321789"/>
            <a:ext cx="5317724" cy="923330"/>
          </a:xfrm>
          <a:prstGeom prst="rect">
            <a:avLst/>
          </a:prstGeom>
        </p:spPr>
        <p:txBody>
          <a:bodyPr wrap="square">
            <a:spAutoFit/>
          </a:bodyPr>
          <a:lstStyle/>
          <a:p>
            <a:r>
              <a:rPr lang="en-US" altLang="zh-CN" dirty="0" smtClean="0"/>
              <a:t>UEFI</a:t>
            </a:r>
            <a:r>
              <a:rPr lang="zh-CN" altLang="en-US" dirty="0" smtClean="0"/>
              <a:t>（</a:t>
            </a:r>
            <a:r>
              <a:rPr lang="en-US" altLang="zh-CN" dirty="0" smtClean="0"/>
              <a:t>Unified Extensible Firmware Interface</a:t>
            </a:r>
            <a:r>
              <a:rPr lang="zh-CN" altLang="en-US" dirty="0" smtClean="0"/>
              <a:t>）统一</a:t>
            </a:r>
            <a:r>
              <a:rPr lang="zh-CN" altLang="en-US" dirty="0" smtClean="0"/>
              <a:t>可扩展固件接口，它提供了一个图形用户界面，使得设置和操作更加简单易懂。</a:t>
            </a:r>
            <a:endParaRPr lang="zh-CN" altLang="en-US" dirty="0"/>
          </a:p>
        </p:txBody>
      </p:sp>
      <p:sp>
        <p:nvSpPr>
          <p:cNvPr id="5" name="上箭头 4"/>
          <p:cNvSpPr/>
          <p:nvPr/>
        </p:nvSpPr>
        <p:spPr bwMode="auto">
          <a:xfrm rot="2803319">
            <a:off x="6023486" y="1448553"/>
            <a:ext cx="248575" cy="381740"/>
          </a:xfrm>
          <a:prstGeom prst="up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 name="上箭头 5"/>
          <p:cNvSpPr/>
          <p:nvPr/>
        </p:nvSpPr>
        <p:spPr bwMode="auto">
          <a:xfrm rot="2803319">
            <a:off x="3268856" y="1559678"/>
            <a:ext cx="248575" cy="381740"/>
          </a:xfrm>
          <a:prstGeom prst="upArrow">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 name="文本框 6"/>
          <p:cNvSpPr txBox="1"/>
          <p:nvPr/>
        </p:nvSpPr>
        <p:spPr>
          <a:xfrm>
            <a:off x="3764915" y="1330960"/>
            <a:ext cx="1141730" cy="368300"/>
          </a:xfrm>
          <a:prstGeom prst="rect">
            <a:avLst/>
          </a:prstGeom>
          <a:noFill/>
        </p:spPr>
        <p:txBody>
          <a:bodyPr wrap="square" rtlCol="0">
            <a:spAutoFit/>
          </a:bodyPr>
          <a:p>
            <a:r>
              <a:rPr lang="en-US" altLang="zh-CN"/>
              <a:t>Windows</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P spid="6" grpId="0" bldLvl="0" animBg="1"/>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系统功能调用</a:t>
            </a:r>
            <a:endParaRPr lang="zh-CN" altLang="en-US" dirty="0"/>
          </a:p>
        </p:txBody>
      </p:sp>
      <p:sp>
        <p:nvSpPr>
          <p:cNvPr id="3" name="内容占位符 2"/>
          <p:cNvSpPr>
            <a:spLocks noGrp="1"/>
          </p:cNvSpPr>
          <p:nvPr>
            <p:ph idx="1"/>
          </p:nvPr>
        </p:nvSpPr>
        <p:spPr/>
        <p:txBody>
          <a:bodyPr/>
          <a:lstStyle/>
          <a:p>
            <a:r>
              <a:rPr lang="zh-CN" altLang="en-US" dirty="0"/>
              <a:t>用户在调用时不用</a:t>
            </a:r>
            <a:r>
              <a:rPr lang="en-US" altLang="zh-CN" dirty="0"/>
              <a:t>CALL</a:t>
            </a:r>
            <a:r>
              <a:rPr lang="zh-CN" altLang="en-US" dirty="0"/>
              <a:t>指令，而是通过软中断指令</a:t>
            </a:r>
            <a:r>
              <a:rPr lang="en-US" altLang="zh-CN" dirty="0" smtClean="0"/>
              <a:t>INT</a:t>
            </a:r>
            <a:r>
              <a:rPr lang="zh-CN" altLang="en-US" dirty="0" smtClean="0"/>
              <a:t> </a:t>
            </a:r>
            <a:r>
              <a:rPr lang="en-US" altLang="zh-CN" dirty="0" smtClean="0"/>
              <a:t>n</a:t>
            </a:r>
            <a:r>
              <a:rPr lang="zh-CN" altLang="en-US" dirty="0"/>
              <a:t>去调用</a:t>
            </a:r>
            <a:r>
              <a:rPr lang="en-US" altLang="zh-CN" dirty="0"/>
              <a:t>DOS</a:t>
            </a:r>
            <a:r>
              <a:rPr lang="zh-CN" altLang="en-US" dirty="0"/>
              <a:t>和</a:t>
            </a:r>
            <a:r>
              <a:rPr lang="en-US" altLang="zh-CN" dirty="0"/>
              <a:t>BIOS</a:t>
            </a:r>
            <a:r>
              <a:rPr lang="zh-CN" altLang="en-US" dirty="0"/>
              <a:t>中的服务程序来访问系统。每执行一次该指令就会调用相应的中断服务程序。</a:t>
            </a:r>
            <a:endParaRPr lang="zh-CN" altLang="en-US" dirty="0"/>
          </a:p>
          <a:p>
            <a:r>
              <a:rPr lang="zh-CN" altLang="en-US" dirty="0"/>
              <a:t>当</a:t>
            </a:r>
            <a:r>
              <a:rPr lang="en-US" altLang="zh-CN" dirty="0"/>
              <a:t>n=5</a:t>
            </a:r>
            <a:r>
              <a:rPr lang="zh-CN" altLang="en-US" dirty="0"/>
              <a:t>～</a:t>
            </a:r>
            <a:r>
              <a:rPr lang="en-US" altLang="zh-CN" dirty="0"/>
              <a:t>1FH</a:t>
            </a:r>
            <a:r>
              <a:rPr lang="zh-CN" altLang="en-US" dirty="0"/>
              <a:t>时，调用</a:t>
            </a:r>
            <a:r>
              <a:rPr lang="en-US" altLang="zh-CN" dirty="0"/>
              <a:t>BIOS</a:t>
            </a:r>
            <a:r>
              <a:rPr lang="zh-CN" altLang="en-US" dirty="0"/>
              <a:t>中的服务程序。</a:t>
            </a:r>
            <a:endParaRPr lang="zh-CN" altLang="en-US" dirty="0"/>
          </a:p>
          <a:p>
            <a:r>
              <a:rPr lang="zh-CN" altLang="en-US" dirty="0"/>
              <a:t>当</a:t>
            </a:r>
            <a:r>
              <a:rPr lang="en-US" altLang="zh-CN" dirty="0"/>
              <a:t>n=20</a:t>
            </a:r>
            <a:r>
              <a:rPr lang="zh-CN" altLang="en-US" dirty="0"/>
              <a:t>～</a:t>
            </a:r>
            <a:r>
              <a:rPr lang="en-US" altLang="zh-CN" dirty="0"/>
              <a:t>3FH</a:t>
            </a:r>
            <a:r>
              <a:rPr lang="zh-CN" altLang="en-US" dirty="0"/>
              <a:t>时，调用</a:t>
            </a:r>
            <a:r>
              <a:rPr lang="en-US" altLang="zh-CN" dirty="0"/>
              <a:t>DOS</a:t>
            </a:r>
            <a:r>
              <a:rPr lang="zh-CN" altLang="en-US" dirty="0"/>
              <a:t>中的服务程序。</a:t>
            </a:r>
            <a:endParaRPr lang="zh-CN" alt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系统功能调用的方法</a:t>
            </a:r>
            <a:endParaRPr lang="zh-CN" altLang="en-US" dirty="0"/>
          </a:p>
        </p:txBody>
      </p:sp>
      <p:sp>
        <p:nvSpPr>
          <p:cNvPr id="3" name="内容占位符 2"/>
          <p:cNvSpPr>
            <a:spLocks noGrp="1"/>
          </p:cNvSpPr>
          <p:nvPr>
            <p:ph idx="1"/>
          </p:nvPr>
        </p:nvSpPr>
        <p:spPr/>
        <p:txBody>
          <a:bodyPr/>
          <a:lstStyle/>
          <a:p>
            <a:pPr marL="381000" indent="-381000">
              <a:lnSpc>
                <a:spcPct val="80000"/>
              </a:lnSpc>
            </a:pPr>
            <a:r>
              <a:rPr lang="zh-CN" altLang="zh-CN" sz="2800" b="0" dirty="0">
                <a:latin typeface="Times New Roman" panose="02020603050405020304" pitchFamily="18" charset="0"/>
                <a:ea typeface="楷体_GB2312" pitchFamily="1" charset="-122"/>
              </a:rPr>
              <a:t>INT 21H是一个具有多个子功能的中断服务程序，这些子功能的编号称为功能号。INT 21H一般</a:t>
            </a:r>
            <a:r>
              <a:rPr lang="zh-CN" altLang="zh-CN" sz="2800" b="0" dirty="0" smtClean="0">
                <a:latin typeface="Times New Roman" panose="02020603050405020304" pitchFamily="18" charset="0"/>
                <a:ea typeface="楷体_GB2312" pitchFamily="1" charset="-122"/>
              </a:rPr>
              <a:t>称为</a:t>
            </a:r>
            <a:r>
              <a:rPr lang="en-US" altLang="zh-CN" sz="2800" b="0" dirty="0" smtClean="0">
                <a:latin typeface="Times New Roman" panose="02020603050405020304" pitchFamily="18" charset="0"/>
                <a:ea typeface="楷体_GB2312" pitchFamily="1" charset="-122"/>
              </a:rPr>
              <a:t>DOS</a:t>
            </a:r>
            <a:r>
              <a:rPr lang="zh-CN" altLang="zh-CN" sz="2800" b="0" dirty="0" smtClean="0">
                <a:latin typeface="Times New Roman" panose="02020603050405020304" pitchFamily="18" charset="0"/>
                <a:ea typeface="楷体_GB2312" pitchFamily="1" charset="-122"/>
              </a:rPr>
              <a:t>系统功能</a:t>
            </a:r>
            <a:r>
              <a:rPr lang="zh-CN" altLang="zh-CN" sz="2800" b="0" dirty="0">
                <a:latin typeface="Times New Roman" panose="02020603050405020304" pitchFamily="18" charset="0"/>
                <a:ea typeface="楷体_GB2312" pitchFamily="1" charset="-122"/>
              </a:rPr>
              <a:t>调用。</a:t>
            </a:r>
            <a:endParaRPr lang="zh-CN" altLang="zh-CN" sz="2800" b="0" dirty="0">
              <a:latin typeface="Times New Roman" panose="02020603050405020304" pitchFamily="18" charset="0"/>
              <a:ea typeface="楷体_GB2312" pitchFamily="1" charset="-122"/>
            </a:endParaRPr>
          </a:p>
          <a:p>
            <a:pPr marL="381000" indent="-381000">
              <a:lnSpc>
                <a:spcPct val="80000"/>
              </a:lnSpc>
            </a:pPr>
            <a:r>
              <a:rPr lang="zh-CN" altLang="zh-CN" sz="2800" dirty="0">
                <a:solidFill>
                  <a:schemeClr val="hlink"/>
                </a:solidFill>
                <a:latin typeface="Times New Roman" panose="02020603050405020304" pitchFamily="18" charset="0"/>
              </a:rPr>
              <a:t>调用步骤：</a:t>
            </a:r>
            <a:endParaRPr lang="zh-CN" altLang="zh-CN" sz="2800" dirty="0">
              <a:solidFill>
                <a:schemeClr val="hlink"/>
              </a:solidFill>
              <a:latin typeface="Times New Roman" panose="02020603050405020304" pitchFamily="18" charset="0"/>
            </a:endParaRPr>
          </a:p>
          <a:p>
            <a:endParaRPr lang="zh-CN" altLang="en-US" dirty="0"/>
          </a:p>
        </p:txBody>
      </p:sp>
      <p:grpSp>
        <p:nvGrpSpPr>
          <p:cNvPr id="4" name="Group 4"/>
          <p:cNvGrpSpPr/>
          <p:nvPr/>
        </p:nvGrpSpPr>
        <p:grpSpPr bwMode="auto">
          <a:xfrm>
            <a:off x="2831089" y="2927350"/>
            <a:ext cx="6696075" cy="3505200"/>
            <a:chOff x="0" y="0"/>
            <a:chExt cx="4218" cy="2208"/>
          </a:xfrm>
        </p:grpSpPr>
        <p:grpSp>
          <p:nvGrpSpPr>
            <p:cNvPr id="5" name="Group 5"/>
            <p:cNvGrpSpPr/>
            <p:nvPr/>
          </p:nvGrpSpPr>
          <p:grpSpPr bwMode="auto">
            <a:xfrm>
              <a:off x="0" y="0"/>
              <a:ext cx="1620" cy="2208"/>
              <a:chOff x="0" y="0"/>
              <a:chExt cx="1620" cy="2208"/>
            </a:xfrm>
          </p:grpSpPr>
          <p:sp>
            <p:nvSpPr>
              <p:cNvPr id="10" name="Rectangle 4"/>
              <p:cNvSpPr>
                <a:spLocks noChangeArrowheads="1"/>
              </p:cNvSpPr>
              <p:nvPr/>
            </p:nvSpPr>
            <p:spPr bwMode="auto">
              <a:xfrm>
                <a:off x="180" y="0"/>
                <a:ext cx="1178" cy="288"/>
              </a:xfrm>
              <a:prstGeom prst="rect">
                <a:avLst/>
              </a:prstGeom>
              <a:gradFill rotWithShape="1">
                <a:gsLst>
                  <a:gs pos="0">
                    <a:srgbClr val="2C5D98"/>
                  </a:gs>
                  <a:gs pos="80000">
                    <a:srgbClr val="3C7BC7"/>
                  </a:gs>
                  <a:gs pos="100000">
                    <a:srgbClr val="3A7CCB"/>
                  </a:gs>
                </a:gsLst>
                <a:lin ang="5400000"/>
              </a:gradFill>
              <a:ln w="9525" cmpd="sng">
                <a:solidFill>
                  <a:srgbClr val="4A7EBB"/>
                </a:solidFill>
                <a:miter lim="800000"/>
              </a:ln>
              <a:effectLst>
                <a:outerShdw dist="23000" dir="5400000" algn="ctr" rotWithShape="0">
                  <a:srgbClr val="000000">
                    <a:alpha val="34000"/>
                  </a:srgbClr>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2800" b="1">
                    <a:solidFill>
                      <a:schemeClr val="bg1"/>
                    </a:solidFill>
                    <a:latin typeface="楷体_GB2312" pitchFamily="1" charset="-122"/>
                    <a:ea typeface="楷体_GB2312" pitchFamily="1" charset="-122"/>
                  </a:rPr>
                  <a:t>置入口参数</a:t>
                </a:r>
                <a:endParaRPr lang="zh-CN" altLang="zh-CN" sz="2800" b="1">
                  <a:solidFill>
                    <a:schemeClr val="bg1"/>
                  </a:solidFill>
                  <a:latin typeface="楷体_GB2312" pitchFamily="1" charset="-122"/>
                  <a:ea typeface="楷体_GB2312" pitchFamily="1" charset="-122"/>
                </a:endParaRPr>
              </a:p>
            </p:txBody>
          </p:sp>
          <p:sp>
            <p:nvSpPr>
              <p:cNvPr id="11" name="Rectangle 5"/>
              <p:cNvSpPr>
                <a:spLocks noChangeArrowheads="1"/>
              </p:cNvSpPr>
              <p:nvPr/>
            </p:nvSpPr>
            <p:spPr bwMode="auto">
              <a:xfrm>
                <a:off x="0" y="576"/>
                <a:ext cx="1620" cy="336"/>
              </a:xfrm>
              <a:prstGeom prst="rect">
                <a:avLst/>
              </a:prstGeom>
              <a:gradFill rotWithShape="1">
                <a:gsLst>
                  <a:gs pos="0">
                    <a:srgbClr val="2C5D98"/>
                  </a:gs>
                  <a:gs pos="80000">
                    <a:srgbClr val="3C7BC7"/>
                  </a:gs>
                  <a:gs pos="100000">
                    <a:srgbClr val="3A7CCB"/>
                  </a:gs>
                </a:gsLst>
                <a:lin ang="5400000"/>
              </a:gradFill>
              <a:ln w="9525" cmpd="sng">
                <a:solidFill>
                  <a:srgbClr val="4A7EBB"/>
                </a:solidFill>
                <a:miter lim="800000"/>
              </a:ln>
              <a:effectLst>
                <a:outerShdw dist="23000" dir="5400000" algn="ctr" rotWithShape="0">
                  <a:srgbClr val="000000">
                    <a:alpha val="34000"/>
                  </a:srgbClr>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2800" b="1">
                    <a:solidFill>
                      <a:schemeClr val="bg1"/>
                    </a:solidFill>
                    <a:latin typeface="楷体_GB2312" pitchFamily="1" charset="-122"/>
                    <a:ea typeface="楷体_GB2312" pitchFamily="1" charset="-122"/>
                  </a:rPr>
                  <a:t>功能号→</a:t>
                </a:r>
                <a:r>
                  <a:rPr lang="zh-CN" altLang="zh-CN" sz="2800" b="1">
                    <a:solidFill>
                      <a:schemeClr val="bg1"/>
                    </a:solidFill>
                    <a:ea typeface="楷体_GB2312" pitchFamily="1" charset="-122"/>
                  </a:rPr>
                  <a:t>AH</a:t>
                </a:r>
                <a:endParaRPr lang="zh-CN" altLang="zh-CN" sz="2800" b="1">
                  <a:solidFill>
                    <a:schemeClr val="bg1"/>
                  </a:solidFill>
                  <a:ea typeface="楷体_GB2312" pitchFamily="1" charset="-122"/>
                </a:endParaRPr>
              </a:p>
            </p:txBody>
          </p:sp>
          <p:sp>
            <p:nvSpPr>
              <p:cNvPr id="12" name="Rectangle 6"/>
              <p:cNvSpPr>
                <a:spLocks noChangeArrowheads="1"/>
              </p:cNvSpPr>
              <p:nvPr/>
            </p:nvSpPr>
            <p:spPr bwMode="auto">
              <a:xfrm>
                <a:off x="0" y="1176"/>
                <a:ext cx="1620" cy="408"/>
              </a:xfrm>
              <a:prstGeom prst="rect">
                <a:avLst/>
              </a:prstGeom>
              <a:gradFill rotWithShape="1">
                <a:gsLst>
                  <a:gs pos="0">
                    <a:srgbClr val="2C5D98"/>
                  </a:gs>
                  <a:gs pos="80000">
                    <a:srgbClr val="3C7BC7"/>
                  </a:gs>
                  <a:gs pos="100000">
                    <a:srgbClr val="3A7CCB"/>
                  </a:gs>
                </a:gsLst>
                <a:lin ang="5400000"/>
              </a:gradFill>
              <a:ln w="9525" cmpd="sng">
                <a:solidFill>
                  <a:srgbClr val="4A7EBB"/>
                </a:solidFill>
                <a:miter lim="800000"/>
              </a:ln>
              <a:effectLst>
                <a:outerShdw dist="23000" dir="5400000" algn="ctr" rotWithShape="0">
                  <a:srgbClr val="000000">
                    <a:alpha val="34000"/>
                  </a:srgbClr>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2800" b="1">
                    <a:solidFill>
                      <a:schemeClr val="bg1"/>
                    </a:solidFill>
                    <a:latin typeface="楷体_GB2312" pitchFamily="1" charset="-122"/>
                    <a:ea typeface="楷体_GB2312" pitchFamily="1" charset="-122"/>
                  </a:rPr>
                  <a:t>执行</a:t>
                </a:r>
                <a:r>
                  <a:rPr lang="zh-CN" altLang="zh-CN" sz="2800" b="1">
                    <a:solidFill>
                      <a:schemeClr val="bg1"/>
                    </a:solidFill>
                    <a:ea typeface="楷体_GB2312" pitchFamily="1" charset="-122"/>
                  </a:rPr>
                  <a:t>INT   21H</a:t>
                </a:r>
                <a:endParaRPr lang="zh-CN" altLang="zh-CN" sz="2800" b="1">
                  <a:solidFill>
                    <a:schemeClr val="bg1"/>
                  </a:solidFill>
                  <a:ea typeface="楷体_GB2312" pitchFamily="1" charset="-122"/>
                </a:endParaRPr>
              </a:p>
            </p:txBody>
          </p:sp>
          <p:sp>
            <p:nvSpPr>
              <p:cNvPr id="13" name="Rectangle 7"/>
              <p:cNvSpPr>
                <a:spLocks noChangeArrowheads="1"/>
              </p:cNvSpPr>
              <p:nvPr/>
            </p:nvSpPr>
            <p:spPr bwMode="auto">
              <a:xfrm>
                <a:off x="0" y="1851"/>
                <a:ext cx="1620" cy="357"/>
              </a:xfrm>
              <a:prstGeom prst="rect">
                <a:avLst/>
              </a:prstGeom>
              <a:gradFill rotWithShape="1">
                <a:gsLst>
                  <a:gs pos="0">
                    <a:srgbClr val="2C5D98"/>
                  </a:gs>
                  <a:gs pos="80000">
                    <a:srgbClr val="3C7BC7"/>
                  </a:gs>
                  <a:gs pos="100000">
                    <a:srgbClr val="3A7CCB"/>
                  </a:gs>
                </a:gsLst>
                <a:lin ang="5400000"/>
              </a:gradFill>
              <a:ln w="9525" cmpd="sng">
                <a:solidFill>
                  <a:srgbClr val="4A7EBB"/>
                </a:solidFill>
                <a:miter lim="800000"/>
              </a:ln>
              <a:effectLst>
                <a:outerShdw dist="23000" dir="5400000" algn="ctr" rotWithShape="0">
                  <a:srgbClr val="000000">
                    <a:alpha val="34000"/>
                  </a:srgbClr>
                </a:outerShdw>
              </a:effec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2800" b="1">
                    <a:solidFill>
                      <a:schemeClr val="bg1"/>
                    </a:solidFill>
                    <a:latin typeface="楷体_GB2312" pitchFamily="1" charset="-122"/>
                    <a:ea typeface="楷体_GB2312" pitchFamily="1" charset="-122"/>
                  </a:rPr>
                  <a:t>分析出口参数</a:t>
                </a:r>
                <a:endParaRPr lang="zh-CN" altLang="zh-CN" sz="2800" b="1">
                  <a:solidFill>
                    <a:schemeClr val="bg1"/>
                  </a:solidFill>
                  <a:latin typeface="楷体_GB2312" pitchFamily="1" charset="-122"/>
                  <a:ea typeface="楷体_GB2312" pitchFamily="1" charset="-122"/>
                </a:endParaRPr>
              </a:p>
            </p:txBody>
          </p:sp>
          <p:sp>
            <p:nvSpPr>
              <p:cNvPr id="14" name="Line 8"/>
              <p:cNvSpPr>
                <a:spLocks noChangeShapeType="1"/>
              </p:cNvSpPr>
              <p:nvPr/>
            </p:nvSpPr>
            <p:spPr bwMode="auto">
              <a:xfrm>
                <a:off x="810" y="336"/>
                <a:ext cx="0" cy="192"/>
              </a:xfrm>
              <a:prstGeom prst="line">
                <a:avLst/>
              </a:prstGeom>
              <a:noFill/>
              <a:ln w="12700" cmpd="sng">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 name="Line 9"/>
              <p:cNvSpPr>
                <a:spLocks noChangeShapeType="1"/>
              </p:cNvSpPr>
              <p:nvPr/>
            </p:nvSpPr>
            <p:spPr bwMode="auto">
              <a:xfrm>
                <a:off x="823" y="960"/>
                <a:ext cx="0" cy="192"/>
              </a:xfrm>
              <a:prstGeom prst="line">
                <a:avLst/>
              </a:prstGeom>
              <a:noFill/>
              <a:ln w="9525" cmpd="sng">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10"/>
              <p:cNvSpPr>
                <a:spLocks noChangeShapeType="1"/>
              </p:cNvSpPr>
              <p:nvPr/>
            </p:nvSpPr>
            <p:spPr bwMode="auto">
              <a:xfrm>
                <a:off x="823" y="1632"/>
                <a:ext cx="0" cy="192"/>
              </a:xfrm>
              <a:prstGeom prst="line">
                <a:avLst/>
              </a:prstGeom>
              <a:noFill/>
              <a:ln w="9525" cmpd="sng">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13"/>
            <p:cNvGrpSpPr/>
            <p:nvPr/>
          </p:nvGrpSpPr>
          <p:grpSpPr bwMode="auto">
            <a:xfrm>
              <a:off x="1399" y="136"/>
              <a:ext cx="2819" cy="1895"/>
              <a:chOff x="0" y="0"/>
              <a:chExt cx="2819" cy="1895"/>
            </a:xfrm>
          </p:grpSpPr>
          <p:sp>
            <p:nvSpPr>
              <p:cNvPr id="7" name="Line 15"/>
              <p:cNvSpPr>
                <a:spLocks noChangeShapeType="1"/>
              </p:cNvSpPr>
              <p:nvPr/>
            </p:nvSpPr>
            <p:spPr bwMode="auto">
              <a:xfrm>
                <a:off x="0" y="0"/>
                <a:ext cx="1224" cy="771"/>
              </a:xfrm>
              <a:prstGeom prst="line">
                <a:avLst/>
              </a:prstGeom>
              <a:noFill/>
              <a:ln w="9525" cmpd="sng">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6"/>
              <p:cNvSpPr>
                <a:spLocks noChangeShapeType="1"/>
              </p:cNvSpPr>
              <p:nvPr/>
            </p:nvSpPr>
            <p:spPr bwMode="auto">
              <a:xfrm flipV="1">
                <a:off x="234" y="860"/>
                <a:ext cx="945" cy="1035"/>
              </a:xfrm>
              <a:prstGeom prst="line">
                <a:avLst/>
              </a:prstGeom>
              <a:noFill/>
              <a:ln w="9525" cmpd="sng">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Rectangle 17"/>
              <p:cNvSpPr>
                <a:spLocks noChangeArrowheads="1"/>
              </p:cNvSpPr>
              <p:nvPr/>
            </p:nvSpPr>
            <p:spPr bwMode="auto">
              <a:xfrm>
                <a:off x="1269" y="544"/>
                <a:ext cx="155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zh-CN" sz="2800" b="1">
                    <a:latin typeface="楷体_GB2312" pitchFamily="1" charset="-122"/>
                    <a:ea typeface="楷体_GB2312" pitchFamily="1" charset="-122"/>
                  </a:rPr>
                  <a:t>视具体情况而定</a:t>
                </a:r>
                <a:endParaRPr lang="zh-CN" altLang="zh-CN" sz="2800" b="1">
                  <a:latin typeface="楷体_GB2312" pitchFamily="1" charset="-122"/>
                  <a:ea typeface="楷体_GB2312" pitchFamily="1"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DOS</a:t>
            </a:r>
            <a:r>
              <a:rPr lang="zh-CN" altLang="en-US" dirty="0"/>
              <a:t>系统功能调用</a:t>
            </a:r>
            <a:endParaRPr lang="zh-CN" altLang="en-US" dirty="0"/>
          </a:p>
        </p:txBody>
      </p:sp>
      <p:sp>
        <p:nvSpPr>
          <p:cNvPr id="3" name="内容占位符 2"/>
          <p:cNvSpPr>
            <a:spLocks noGrp="1"/>
          </p:cNvSpPr>
          <p:nvPr>
            <p:ph idx="1"/>
          </p:nvPr>
        </p:nvSpPr>
        <p:spPr/>
        <p:txBody>
          <a:bodyPr>
            <a:normAutofit/>
          </a:bodyPr>
          <a:lstStyle/>
          <a:p>
            <a:pPr marL="0" indent="0">
              <a:lnSpc>
                <a:spcPct val="120000"/>
              </a:lnSpc>
              <a:buNone/>
            </a:pPr>
            <a:r>
              <a:rPr lang="zh-CN" altLang="en-US" dirty="0"/>
              <a:t>常用的</a:t>
            </a:r>
            <a:r>
              <a:rPr lang="en-US" altLang="zh-CN" dirty="0"/>
              <a:t>DOS</a:t>
            </a:r>
            <a:r>
              <a:rPr lang="zh-CN" altLang="en-US" dirty="0"/>
              <a:t>系统功能调用：</a:t>
            </a:r>
            <a:endParaRPr lang="zh-CN" altLang="en-US" dirty="0"/>
          </a:p>
          <a:p>
            <a:pPr>
              <a:lnSpc>
                <a:spcPct val="120000"/>
              </a:lnSpc>
            </a:pPr>
            <a:r>
              <a:rPr lang="zh-CN" altLang="en-US" dirty="0"/>
              <a:t>读取键盘单个字符并回显</a:t>
            </a:r>
            <a:r>
              <a:rPr lang="en-US" altLang="zh-CN" dirty="0"/>
              <a:t>(01H</a:t>
            </a:r>
            <a:r>
              <a:rPr lang="zh-CN" altLang="en-US" dirty="0"/>
              <a:t>功能</a:t>
            </a:r>
            <a:r>
              <a:rPr lang="en-US" altLang="zh-CN" dirty="0"/>
              <a:t>)</a:t>
            </a:r>
            <a:endParaRPr lang="en-US" altLang="zh-CN" dirty="0"/>
          </a:p>
          <a:p>
            <a:pPr>
              <a:lnSpc>
                <a:spcPct val="120000"/>
              </a:lnSpc>
            </a:pPr>
            <a:r>
              <a:rPr lang="zh-CN" altLang="en-US" dirty="0"/>
              <a:t>在屏幕上输出单个字符</a:t>
            </a:r>
            <a:r>
              <a:rPr lang="en-US" altLang="zh-CN" dirty="0"/>
              <a:t>(02H</a:t>
            </a:r>
            <a:r>
              <a:rPr lang="zh-CN" altLang="en-US" dirty="0"/>
              <a:t>功能</a:t>
            </a:r>
            <a:r>
              <a:rPr lang="en-US" altLang="zh-CN" dirty="0"/>
              <a:t>)</a:t>
            </a:r>
            <a:endParaRPr lang="en-US" altLang="zh-CN" dirty="0"/>
          </a:p>
          <a:p>
            <a:pPr>
              <a:lnSpc>
                <a:spcPct val="120000"/>
              </a:lnSpc>
            </a:pPr>
            <a:r>
              <a:rPr lang="zh-CN" altLang="en-US" dirty="0"/>
              <a:t>在打印装置上输出单个字符</a:t>
            </a:r>
            <a:r>
              <a:rPr lang="en-US" altLang="zh-CN" dirty="0"/>
              <a:t>(05H</a:t>
            </a:r>
            <a:r>
              <a:rPr lang="zh-CN" altLang="en-US" dirty="0"/>
              <a:t>功能</a:t>
            </a:r>
            <a:r>
              <a:rPr lang="en-US" altLang="zh-CN" dirty="0"/>
              <a:t>)</a:t>
            </a:r>
            <a:endParaRPr lang="en-US" altLang="zh-CN" dirty="0"/>
          </a:p>
          <a:p>
            <a:pPr>
              <a:lnSpc>
                <a:spcPct val="120000"/>
              </a:lnSpc>
            </a:pPr>
            <a:r>
              <a:rPr lang="zh-CN" altLang="en-US" dirty="0"/>
              <a:t>在屏幕上输出字符串</a:t>
            </a:r>
            <a:r>
              <a:rPr lang="en-US" altLang="zh-CN" dirty="0"/>
              <a:t>(09H</a:t>
            </a:r>
            <a:r>
              <a:rPr lang="zh-CN" altLang="en-US" dirty="0"/>
              <a:t>功能</a:t>
            </a:r>
            <a:r>
              <a:rPr lang="en-US" altLang="zh-CN" dirty="0"/>
              <a:t>)</a:t>
            </a:r>
            <a:endParaRPr lang="en-US" altLang="zh-CN" dirty="0"/>
          </a:p>
          <a:p>
            <a:pPr>
              <a:lnSpc>
                <a:spcPct val="120000"/>
              </a:lnSpc>
            </a:pPr>
            <a:r>
              <a:rPr lang="zh-CN" altLang="en-US" dirty="0"/>
              <a:t>字符串输入</a:t>
            </a:r>
            <a:r>
              <a:rPr lang="en-US" altLang="zh-CN" dirty="0"/>
              <a:t>(0AH</a:t>
            </a:r>
            <a:r>
              <a:rPr lang="zh-CN" altLang="en-US" dirty="0"/>
              <a:t>功能</a:t>
            </a:r>
            <a:r>
              <a:rPr lang="en-US" altLang="zh-CN" dirty="0"/>
              <a:t>)</a:t>
            </a:r>
            <a:endParaRPr lang="en-US" altLang="zh-CN" dirty="0"/>
          </a:p>
          <a:p>
            <a:pPr>
              <a:lnSpc>
                <a:spcPct val="120000"/>
              </a:lnSpc>
            </a:pPr>
            <a:r>
              <a:rPr lang="zh-CN" altLang="en-US" dirty="0"/>
              <a:t>返回操作系统</a:t>
            </a:r>
            <a:r>
              <a:rPr lang="en-US" altLang="zh-CN" dirty="0"/>
              <a:t>(4CH</a:t>
            </a:r>
            <a:r>
              <a:rPr lang="zh-CN" altLang="en-US" dirty="0"/>
              <a:t>功能</a:t>
            </a:r>
            <a:r>
              <a:rPr lang="en-US" altLang="zh-CN" dirty="0"/>
              <a:t>)</a:t>
            </a:r>
            <a:endParaRPr lang="zh-CN" alt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读取键盘单个字符并回显</a:t>
            </a:r>
            <a:r>
              <a:rPr lang="en-US" altLang="zh-CN" dirty="0"/>
              <a:t>(01H</a:t>
            </a:r>
            <a:r>
              <a:rPr lang="zh-CN" altLang="en-US" dirty="0"/>
              <a:t>功能</a:t>
            </a:r>
            <a:r>
              <a:rPr lang="en-US" altLang="zh-CN" dirty="0"/>
              <a:t>)</a:t>
            </a:r>
            <a:endParaRPr lang="zh-CN" altLang="en-US" dirty="0"/>
          </a:p>
        </p:txBody>
      </p:sp>
      <p:sp>
        <p:nvSpPr>
          <p:cNvPr id="3" name="内容占位符 2"/>
          <p:cNvSpPr>
            <a:spLocks noGrp="1"/>
          </p:cNvSpPr>
          <p:nvPr>
            <p:ph idx="1"/>
          </p:nvPr>
        </p:nvSpPr>
        <p:spPr/>
        <p:txBody>
          <a:bodyPr/>
          <a:lstStyle/>
          <a:p>
            <a:r>
              <a:rPr lang="zh-CN" altLang="zh-CN" b="0" dirty="0">
                <a:latin typeface="Times New Roman" panose="02020603050405020304" pitchFamily="18" charset="0"/>
                <a:ea typeface="楷体_GB2312" pitchFamily="1" charset="-122"/>
              </a:rPr>
              <a:t>调用方式：</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MOV  AH，1；子功能号送AH</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INT  21H</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说明：该调用没有入口参数，执行时，系统扫描键盘，等到键盘按下，先检查是否是CTRL-BREAK键，如是则退出命令执行，否则将按下键对应ASCII码送入AL寄存器，并在屏幕上显示该字符。</a:t>
            </a:r>
            <a:endParaRPr lang="zh-CN" altLang="zh-CN"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在屏幕上输出单个字符</a:t>
            </a:r>
            <a:r>
              <a:rPr lang="en-US" altLang="zh-CN" dirty="0"/>
              <a:t>(02H</a:t>
            </a:r>
            <a:r>
              <a:rPr lang="zh-CN" altLang="en-US" dirty="0"/>
              <a:t>功能</a:t>
            </a:r>
            <a:r>
              <a:rPr lang="en-US" altLang="zh-CN" dirty="0"/>
              <a:t>)</a:t>
            </a:r>
            <a:endParaRPr lang="zh-CN" altLang="en-US" dirty="0"/>
          </a:p>
        </p:txBody>
      </p:sp>
      <p:sp>
        <p:nvSpPr>
          <p:cNvPr id="3" name="内容占位符 2"/>
          <p:cNvSpPr>
            <a:spLocks noGrp="1"/>
          </p:cNvSpPr>
          <p:nvPr>
            <p:ph idx="1"/>
          </p:nvPr>
        </p:nvSpPr>
        <p:spPr/>
        <p:txBody>
          <a:bodyPr>
            <a:normAutofit/>
          </a:bodyPr>
          <a:lstStyle/>
          <a:p>
            <a:r>
              <a:rPr lang="zh-CN" altLang="zh-CN" b="0" dirty="0">
                <a:latin typeface="Times New Roman" panose="02020603050405020304" pitchFamily="18" charset="0"/>
                <a:ea typeface="楷体_GB2312" pitchFamily="1" charset="-122"/>
              </a:rPr>
              <a:t>调用方式：</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MOV  AH，2；子功能号送AH</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MOV  DL，’A’       </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INT   21H；将字符’A’在屏幕上显示出来</a:t>
            </a:r>
            <a:endParaRPr lang="zh-CN" altLang="zh-CN" b="0" dirty="0">
              <a:latin typeface="Times New Roman" panose="02020603050405020304" pitchFamily="18" charset="0"/>
              <a:ea typeface="楷体_GB2312" pitchFamily="1" charset="-122"/>
            </a:endParaRPr>
          </a:p>
          <a:p>
            <a:r>
              <a:rPr lang="zh-CN" altLang="zh-CN" b="0" dirty="0">
                <a:latin typeface="Times New Roman" panose="02020603050405020304" pitchFamily="18" charset="0"/>
                <a:ea typeface="楷体_GB2312" pitchFamily="1" charset="-122"/>
              </a:rPr>
              <a:t>说明：该调用无出口参数，入口参数(待显示字符的ASCII码)送DL，如DL中的字符为CTRL-BREAK，则终止程序执行。 </a:t>
            </a:r>
            <a:endParaRPr lang="zh-CN" altLang="zh-CN"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在打印装置上输出单个字符</a:t>
            </a:r>
            <a:r>
              <a:rPr lang="en-US" altLang="zh-CN" dirty="0"/>
              <a:t>(05H</a:t>
            </a:r>
            <a:r>
              <a:rPr lang="zh-CN" altLang="en-US" dirty="0"/>
              <a:t>功能</a:t>
            </a:r>
            <a:r>
              <a:rPr lang="en-US" altLang="zh-CN" dirty="0"/>
              <a:t>)</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None/>
            </a:pPr>
            <a:r>
              <a:rPr lang="zh-CN" altLang="zh-CN" b="0" dirty="0">
                <a:latin typeface="Times New Roman" panose="02020603050405020304" pitchFamily="18" charset="0"/>
                <a:ea typeface="楷体_GB2312" pitchFamily="1" charset="-122"/>
              </a:rPr>
              <a:t>调用方式：</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MOV  AH，5；子功能号送AH</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MOV  DL，’A’       </a:t>
            </a:r>
            <a:endParaRPr lang="zh-CN" altLang="zh-CN" b="0" dirty="0">
              <a:latin typeface="Times New Roman" panose="02020603050405020304" pitchFamily="18" charset="0"/>
              <a:ea typeface="楷体_GB2312" pitchFamily="1" charset="-122"/>
            </a:endParaRPr>
          </a:p>
          <a:p>
            <a:pPr>
              <a:buFont typeface="Wingdings" panose="05000000000000000000" pitchFamily="2" charset="2"/>
              <a:buNone/>
            </a:pPr>
            <a:r>
              <a:rPr lang="zh-CN" altLang="zh-CN" b="0" dirty="0">
                <a:latin typeface="Times New Roman" panose="02020603050405020304" pitchFamily="18" charset="0"/>
                <a:ea typeface="楷体_GB2312" pitchFamily="1" charset="-122"/>
              </a:rPr>
              <a:t>        INT   21H；将字符’A’在打印机上打印出来 </a:t>
            </a:r>
            <a:endParaRPr lang="zh-CN" altLang="zh-CN"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在屏幕上输出字符串（</a:t>
            </a:r>
            <a:r>
              <a:rPr lang="en-US" altLang="zh-CN" dirty="0"/>
              <a:t>09H</a:t>
            </a:r>
            <a:r>
              <a:rPr lang="zh-CN" altLang="en-US" dirty="0"/>
              <a:t>功能）</a:t>
            </a:r>
            <a:endParaRPr lang="zh-CN" altLang="en-US" dirty="0"/>
          </a:p>
        </p:txBody>
      </p:sp>
      <p:sp>
        <p:nvSpPr>
          <p:cNvPr id="3" name="内容占位符 2"/>
          <p:cNvSpPr>
            <a:spLocks noGrp="1"/>
          </p:cNvSpPr>
          <p:nvPr>
            <p:ph idx="1"/>
          </p:nvPr>
        </p:nvSpPr>
        <p:spPr/>
        <p:txBody>
          <a:bodyPr/>
          <a:lstStyle/>
          <a:p>
            <a:pPr marL="0" indent="0">
              <a:lnSpc>
                <a:spcPct val="80000"/>
              </a:lnSpc>
            </a:pPr>
            <a:r>
              <a:rPr lang="zh-CN" altLang="zh-CN" sz="2800" b="0" dirty="0">
                <a:latin typeface="Times New Roman" panose="02020603050405020304" pitchFamily="18" charset="0"/>
                <a:ea typeface="楷体_GB2312" pitchFamily="1" charset="-122"/>
              </a:rPr>
              <a:t>功能：在输出设备上显示一个以$为结束标志的字符串。</a:t>
            </a:r>
            <a:endParaRPr lang="zh-CN" altLang="zh-CN" sz="2800" b="0" dirty="0">
              <a:latin typeface="Times New Roman" panose="02020603050405020304" pitchFamily="18" charset="0"/>
              <a:ea typeface="楷体_GB2312" pitchFamily="1" charset="-122"/>
            </a:endParaRPr>
          </a:p>
          <a:p>
            <a:pPr marL="0" indent="0">
              <a:lnSpc>
                <a:spcPct val="80000"/>
              </a:lnSpc>
            </a:pPr>
            <a:r>
              <a:rPr lang="zh-CN" altLang="zh-CN" sz="2800" b="0" dirty="0">
                <a:latin typeface="Times New Roman" panose="02020603050405020304" pitchFamily="18" charset="0"/>
                <a:ea typeface="楷体_GB2312" pitchFamily="1" charset="-122"/>
              </a:rPr>
              <a:t>入口参数：DS:DX指向一个以$为结束标志的字符串。</a:t>
            </a:r>
            <a:endParaRPr lang="zh-CN" altLang="zh-CN" sz="2800" b="0" dirty="0">
              <a:latin typeface="Times New Roman" panose="02020603050405020304" pitchFamily="18" charset="0"/>
              <a:ea typeface="楷体_GB2312" pitchFamily="1" charset="-122"/>
            </a:endParaRPr>
          </a:p>
          <a:p>
            <a:pPr marL="0" indent="0">
              <a:lnSpc>
                <a:spcPct val="80000"/>
              </a:lnSpc>
            </a:pPr>
            <a:r>
              <a:rPr lang="zh-CN" altLang="zh-CN" sz="2800" b="0" dirty="0">
                <a:latin typeface="Times New Roman" panose="02020603050405020304" pitchFamily="18" charset="0"/>
                <a:ea typeface="楷体_GB2312" pitchFamily="1" charset="-122"/>
              </a:rPr>
              <a:t>例：    BUF   DB  ‘WELCOME TO OUR SYSTEM$’</a:t>
            </a:r>
            <a:endParaRPr lang="zh-CN" altLang="zh-CN" sz="2800" b="0" dirty="0">
              <a:latin typeface="Times New Roman" panose="02020603050405020304" pitchFamily="18" charset="0"/>
              <a:ea typeface="楷体_GB2312" pitchFamily="1" charset="-122"/>
            </a:endParaRPr>
          </a:p>
          <a:p>
            <a:pPr marL="0" indent="0">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a:t>
            </a:r>
            <a:endParaRPr lang="zh-CN" altLang="zh-CN" sz="2800" b="0" dirty="0">
              <a:latin typeface="Times New Roman" panose="02020603050405020304" pitchFamily="18" charset="0"/>
              <a:ea typeface="楷体_GB2312" pitchFamily="1" charset="-122"/>
            </a:endParaRPr>
          </a:p>
          <a:p>
            <a:pPr marL="0" indent="0">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DX，OFFSET BUF</a:t>
            </a:r>
            <a:endParaRPr lang="zh-CN" altLang="zh-CN" sz="2800" b="0" dirty="0">
              <a:latin typeface="Times New Roman" panose="02020603050405020304" pitchFamily="18" charset="0"/>
              <a:ea typeface="楷体_GB2312" pitchFamily="1" charset="-122"/>
            </a:endParaRPr>
          </a:p>
          <a:p>
            <a:pPr marL="0" indent="0">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AH，9</a:t>
            </a:r>
            <a:endParaRPr lang="zh-CN" altLang="zh-CN" sz="2800" b="0" dirty="0">
              <a:latin typeface="Times New Roman" panose="02020603050405020304" pitchFamily="18" charset="0"/>
              <a:ea typeface="楷体_GB2312" pitchFamily="1" charset="-122"/>
            </a:endParaRPr>
          </a:p>
          <a:p>
            <a:pPr marL="0" indent="0">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INT    21H </a:t>
            </a:r>
            <a:endParaRPr lang="zh-CN" altLang="zh-CN" sz="2800" b="0" dirty="0">
              <a:latin typeface="Times New Roman" panose="02020603050405020304" pitchFamily="18" charset="0"/>
              <a:ea typeface="楷体_GB2312" pitchFamily="1" charset="-122"/>
            </a:endParaRPr>
          </a:p>
          <a:p>
            <a:pPr marL="0" indent="0">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运行后，在屏幕上显示“WELCOME TO OUR SYSTEM”。 </a:t>
            </a:r>
            <a:endParaRPr lang="zh-CN" altLang="zh-CN" sz="2800"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字符串输入</a:t>
            </a:r>
            <a:r>
              <a:rPr lang="en-US" altLang="zh-CN" dirty="0"/>
              <a:t>(0AH</a:t>
            </a:r>
            <a:r>
              <a:rPr lang="zh-CN" altLang="en-US" dirty="0"/>
              <a:t>功能</a:t>
            </a:r>
            <a:r>
              <a:rPr lang="en-US" altLang="zh-CN" dirty="0"/>
              <a:t>)</a:t>
            </a:r>
            <a:endParaRPr lang="zh-CN" altLang="en-US" dirty="0"/>
          </a:p>
        </p:txBody>
      </p:sp>
      <p:sp>
        <p:nvSpPr>
          <p:cNvPr id="3" name="内容占位符 2"/>
          <p:cNvSpPr>
            <a:spLocks noGrp="1"/>
          </p:cNvSpPr>
          <p:nvPr>
            <p:ph idx="1"/>
          </p:nvPr>
        </p:nvSpPr>
        <p:spPr/>
        <p:txBody>
          <a:bodyPr>
            <a:normAutofit/>
          </a:bodyPr>
          <a:lstStyle/>
          <a:p>
            <a:pPr>
              <a:lnSpc>
                <a:spcPct val="90000"/>
              </a:lnSpc>
            </a:pPr>
            <a:r>
              <a:rPr lang="zh-CN" altLang="zh-CN" sz="2800" b="0" dirty="0">
                <a:latin typeface="Times New Roman" panose="02020603050405020304" pitchFamily="18" charset="0"/>
                <a:ea typeface="楷体_GB2312" pitchFamily="1" charset="-122"/>
              </a:rPr>
              <a:t>功能：将从键盘上输入的一串字符送到指定的内存缓冲区。</a:t>
            </a:r>
            <a:endParaRPr lang="zh-CN" altLang="zh-CN" sz="2800" b="0" dirty="0">
              <a:latin typeface="Times New Roman" panose="02020603050405020304" pitchFamily="18" charset="0"/>
              <a:ea typeface="楷体_GB2312" pitchFamily="1" charset="-122"/>
            </a:endParaRPr>
          </a:p>
          <a:p>
            <a:pPr>
              <a:lnSpc>
                <a:spcPct val="90000"/>
              </a:lnSpc>
            </a:pPr>
            <a:r>
              <a:rPr lang="zh-CN" altLang="zh-CN" sz="2800" b="0" dirty="0">
                <a:latin typeface="Times New Roman" panose="02020603050405020304" pitchFamily="18" charset="0"/>
                <a:ea typeface="楷体_GB2312" pitchFamily="1" charset="-122"/>
              </a:rPr>
              <a:t>入口参数：DS:DX指向内存缓冲区。</a:t>
            </a:r>
            <a:endParaRPr lang="zh-CN" altLang="zh-CN" sz="2800" b="0" dirty="0">
              <a:latin typeface="Times New Roman" panose="02020603050405020304" pitchFamily="18" charset="0"/>
              <a:ea typeface="楷体_GB2312" pitchFamily="1" charset="-122"/>
            </a:endParaRPr>
          </a:p>
          <a:p>
            <a:pPr>
              <a:lnSpc>
                <a:spcPct val="90000"/>
              </a:lnSpc>
            </a:pPr>
            <a:r>
              <a:rPr lang="zh-CN" altLang="zh-CN" sz="2800" b="0" dirty="0">
                <a:latin typeface="Times New Roman" panose="02020603050405020304" pitchFamily="18" charset="0"/>
                <a:ea typeface="楷体_GB2312" pitchFamily="1" charset="-122"/>
              </a:rPr>
              <a:t>缓冲区的第一个字节：放缓冲区</a:t>
            </a:r>
            <a:r>
              <a:rPr lang="zh-CN" altLang="zh-CN" sz="2800" b="0" dirty="0">
                <a:solidFill>
                  <a:schemeClr val="hlink"/>
                </a:solidFill>
                <a:latin typeface="Times New Roman" panose="02020603050405020304" pitchFamily="18" charset="0"/>
                <a:ea typeface="楷体_GB2312" pitchFamily="1" charset="-122"/>
              </a:rPr>
              <a:t>能容纳的最大字符个数</a:t>
            </a:r>
            <a:r>
              <a:rPr lang="zh-CN" altLang="zh-CN" sz="2800" b="0" dirty="0">
                <a:latin typeface="Times New Roman" panose="02020603050405020304" pitchFamily="18" charset="0"/>
                <a:ea typeface="楷体_GB2312" pitchFamily="1" charset="-122"/>
              </a:rPr>
              <a:t>(1-255)，不能为零。</a:t>
            </a:r>
            <a:endParaRPr lang="zh-CN" altLang="zh-CN" sz="2800" b="0" dirty="0">
              <a:latin typeface="Times New Roman" panose="02020603050405020304" pitchFamily="18" charset="0"/>
              <a:ea typeface="楷体_GB2312" pitchFamily="1" charset="-122"/>
            </a:endParaRPr>
          </a:p>
          <a:p>
            <a:pPr>
              <a:lnSpc>
                <a:spcPct val="90000"/>
              </a:lnSpc>
            </a:pPr>
            <a:r>
              <a:rPr lang="zh-CN" altLang="zh-CN" sz="2800" b="0" dirty="0">
                <a:latin typeface="Times New Roman" panose="02020603050405020304" pitchFamily="18" charset="0"/>
                <a:ea typeface="楷体_GB2312" pitchFamily="1" charset="-122"/>
              </a:rPr>
              <a:t>缓冲区的第二个字节：是保留来</a:t>
            </a:r>
            <a:r>
              <a:rPr lang="zh-CN" altLang="zh-CN" sz="2800" b="0" dirty="0">
                <a:solidFill>
                  <a:schemeClr val="hlink"/>
                </a:solidFill>
                <a:latin typeface="Times New Roman" panose="02020603050405020304" pitchFamily="18" charset="0"/>
                <a:ea typeface="楷体_GB2312" pitchFamily="1" charset="-122"/>
              </a:rPr>
              <a:t>填写实际输入的字符个数</a:t>
            </a:r>
            <a:r>
              <a:rPr lang="zh-CN" altLang="zh-CN" sz="2800" b="0" dirty="0">
                <a:latin typeface="Times New Roman" panose="02020603050405020304" pitchFamily="18" charset="0"/>
                <a:ea typeface="楷体_GB2312" pitchFamily="1" charset="-122"/>
              </a:rPr>
              <a:t>，由计算机自动填入。</a:t>
            </a:r>
            <a:endParaRPr lang="zh-CN" altLang="zh-CN" sz="2800" b="0" dirty="0">
              <a:latin typeface="Times New Roman" panose="02020603050405020304" pitchFamily="18" charset="0"/>
              <a:ea typeface="楷体_GB2312" pitchFamily="1" charset="-122"/>
            </a:endParaRPr>
          </a:p>
          <a:p>
            <a:pPr>
              <a:lnSpc>
                <a:spcPct val="90000"/>
              </a:lnSpc>
            </a:pPr>
            <a:r>
              <a:rPr lang="zh-CN" altLang="zh-CN" sz="2800" b="0" dirty="0">
                <a:latin typeface="Times New Roman" panose="02020603050405020304" pitchFamily="18" charset="0"/>
                <a:ea typeface="楷体_GB2312" pitchFamily="1" charset="-122"/>
              </a:rPr>
              <a:t>缓冲区的第三字节开始，存放从键盘接收到的字符，最后结束字符串的回车符也包括在内。如实际键入的字符数少于定义的字节数，缓冲区内其余字节填零，若多于定义的字节数，则后来的输入字符丢掉并响铃。 </a:t>
            </a:r>
            <a:endParaRPr lang="zh-CN" altLang="zh-CN" sz="2800"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字符串输入</a:t>
            </a:r>
            <a:r>
              <a:rPr lang="en-US" altLang="zh-CN" dirty="0"/>
              <a:t>(0AH</a:t>
            </a:r>
            <a:r>
              <a:rPr lang="zh-CN" altLang="en-US" dirty="0"/>
              <a:t>功能</a:t>
            </a:r>
            <a:r>
              <a:rPr lang="en-US" altLang="zh-CN" dirty="0"/>
              <a:t>)</a:t>
            </a:r>
            <a:r>
              <a:rPr lang="zh-CN" altLang="en-US" dirty="0"/>
              <a:t>示例</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DSEG  SEGMENT</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BUF   DB   30         ；定义缓冲区的长度</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DB   ?          ；保留为填入实际输入的字符个数</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DB   30 DUP (?)  ；定义30个字节存储空间，用以存放键入的字符</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DSEG  ENDS</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CSEG  SEGMENT</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 </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LEA   DX，BUF</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MOV  AH，0AH</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INT   21H</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            …..</a:t>
            </a:r>
            <a:endParaRPr lang="zh-CN" altLang="zh-CN" sz="2800" b="0" dirty="0">
              <a:latin typeface="Times New Roman" panose="02020603050405020304" pitchFamily="18" charset="0"/>
              <a:ea typeface="楷体_GB2312" pitchFamily="1" charset="-122"/>
            </a:endParaRPr>
          </a:p>
          <a:p>
            <a:pPr>
              <a:lnSpc>
                <a:spcPct val="80000"/>
              </a:lnSpc>
              <a:buFont typeface="Wingdings" panose="05000000000000000000" pitchFamily="2" charset="2"/>
              <a:buNone/>
            </a:pPr>
            <a:r>
              <a:rPr lang="zh-CN" altLang="zh-CN" sz="2800" b="0" dirty="0">
                <a:latin typeface="Times New Roman" panose="02020603050405020304" pitchFamily="18" charset="0"/>
                <a:ea typeface="楷体_GB2312" pitchFamily="1" charset="-122"/>
              </a:rPr>
              <a:t>CSEG  ENDS </a:t>
            </a:r>
            <a:endParaRPr lang="zh-CN" altLang="zh-CN" sz="2800" b="0" dirty="0">
              <a:latin typeface="Times New Roman" panose="02020603050405020304" pitchFamily="18" charset="0"/>
              <a:ea typeface="楷体_GB2312" pitchFamily="1" charset="-122"/>
            </a:endParaRPr>
          </a:p>
          <a:p>
            <a:endParaRPr lang="zh-CN" alt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返回操作系统</a:t>
            </a:r>
            <a:r>
              <a:rPr lang="en-US" altLang="zh-CN" dirty="0"/>
              <a:t>(4CH</a:t>
            </a:r>
            <a:r>
              <a:rPr lang="zh-CN" altLang="en-US" dirty="0"/>
              <a:t>功能</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无入口参数。</a:t>
            </a:r>
            <a:endParaRPr lang="zh-CN" altLang="en-US" dirty="0"/>
          </a:p>
          <a:p>
            <a:r>
              <a:rPr lang="zh-CN" altLang="en-US" dirty="0"/>
              <a:t>功能：结束当前程序，返回操作系统。</a:t>
            </a:r>
            <a:endParaRPr lang="zh-CN" altLang="en-US" dirty="0"/>
          </a:p>
          <a:p>
            <a:r>
              <a:rPr lang="zh-CN" altLang="en-US" dirty="0"/>
              <a:t>调用方式：</a:t>
            </a:r>
            <a:endParaRPr lang="zh-CN" altLang="en-US" dirty="0"/>
          </a:p>
          <a:p>
            <a:pPr marL="0" indent="0">
              <a:buNone/>
            </a:pPr>
            <a:r>
              <a:rPr lang="en-US" altLang="zh-CN" dirty="0"/>
              <a:t>       MOV AH,4CH</a:t>
            </a:r>
            <a:endParaRPr lang="en-US" altLang="zh-CN" dirty="0"/>
          </a:p>
          <a:p>
            <a:pPr marL="0" indent="0">
              <a:buNone/>
            </a:pPr>
            <a:r>
              <a:rPr lang="en-US" altLang="zh-CN" dirty="0"/>
              <a:t>       INT 21H</a:t>
            </a:r>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BIOS</a:t>
            </a:r>
            <a:r>
              <a:rPr lang="zh-CN" altLang="en-US" dirty="0"/>
              <a:t>系统功能调用</a:t>
            </a:r>
            <a:endParaRPr lang="zh-CN" altLang="en-US" dirty="0"/>
          </a:p>
        </p:txBody>
      </p:sp>
      <p:sp>
        <p:nvSpPr>
          <p:cNvPr id="3" name="内容占位符 2"/>
          <p:cNvSpPr>
            <a:spLocks noGrp="1"/>
          </p:cNvSpPr>
          <p:nvPr>
            <p:ph idx="1"/>
          </p:nvPr>
        </p:nvSpPr>
        <p:spPr/>
        <p:txBody>
          <a:bodyPr/>
          <a:lstStyle/>
          <a:p>
            <a:pPr>
              <a:lnSpc>
                <a:spcPct val="90000"/>
              </a:lnSpc>
            </a:pPr>
            <a:r>
              <a:rPr lang="zh-CN" altLang="zh-CN" b="0" dirty="0">
                <a:latin typeface="楷体_GB2312" pitchFamily="1" charset="-122"/>
                <a:ea typeface="楷体_GB2312" pitchFamily="1" charset="-122"/>
              </a:rPr>
              <a:t>在地址0FE00H开始的8KB的ROM（只读存储器）中装有基本输入输出系统例行程序。</a:t>
            </a:r>
            <a:endParaRPr lang="zh-CN" altLang="zh-CN" b="0" dirty="0">
              <a:latin typeface="楷体_GB2312" pitchFamily="1" charset="-122"/>
              <a:ea typeface="楷体_GB2312" pitchFamily="1" charset="-122"/>
            </a:endParaRPr>
          </a:p>
          <a:p>
            <a:pPr>
              <a:lnSpc>
                <a:spcPct val="90000"/>
              </a:lnSpc>
            </a:pPr>
            <a:r>
              <a:rPr lang="zh-CN" altLang="zh-CN" b="0" dirty="0">
                <a:latin typeface="楷体_GB2312" pitchFamily="1" charset="-122"/>
                <a:ea typeface="楷体_GB2312" pitchFamily="1" charset="-122"/>
              </a:rPr>
              <a:t>驻留在ROM中的BIOS给微处理器提供了系统加点自检、引导装入、主要I/O设备的处理程序以及接口控制等功能模块来处理所有的系统中断。</a:t>
            </a:r>
            <a:endParaRPr lang="zh-CN" altLang="zh-CN" b="0" dirty="0">
              <a:latin typeface="楷体_GB2312" pitchFamily="1" charset="-122"/>
              <a:ea typeface="楷体_GB2312" pitchFamily="1" charset="-122"/>
            </a:endParaRPr>
          </a:p>
          <a:p>
            <a:pPr>
              <a:lnSpc>
                <a:spcPct val="90000"/>
              </a:lnSpc>
            </a:pPr>
            <a:r>
              <a:rPr lang="zh-CN" altLang="zh-CN" b="0" dirty="0">
                <a:latin typeface="楷体_GB2312" pitchFamily="1" charset="-122"/>
                <a:ea typeface="楷体_GB2312" pitchFamily="1" charset="-122"/>
              </a:rPr>
              <a:t>DOS的系统功能程序一般是通过调用这些BIOS系统功能来实现的。</a:t>
            </a:r>
            <a:endParaRPr lang="zh-CN" altLang="zh-CN" b="0" dirty="0">
              <a:latin typeface="楷体_GB2312" pitchFamily="1" charset="-122"/>
              <a:ea typeface="楷体_GB2312" pitchFamily="1" charset="-122"/>
            </a:endParaRPr>
          </a:p>
          <a:p>
            <a:pPr>
              <a:lnSpc>
                <a:spcPct val="90000"/>
              </a:lnSpc>
            </a:pPr>
            <a:r>
              <a:rPr lang="zh-CN" altLang="zh-CN" b="0" dirty="0">
                <a:latin typeface="楷体_GB2312" pitchFamily="1" charset="-122"/>
                <a:ea typeface="楷体_GB2312" pitchFamily="1" charset="-122"/>
              </a:rPr>
              <a:t>附录C给出了BIOS中断调用简表。</a:t>
            </a:r>
            <a:endParaRPr lang="zh-CN" altLang="zh-CN" b="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13719</Words>
  <Application>WPS 演示</Application>
  <PresentationFormat>自定义</PresentationFormat>
  <Paragraphs>927</Paragraphs>
  <Slides>76</Slides>
  <Notes>3</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0</vt:i4>
      </vt:variant>
      <vt:variant>
        <vt:lpstr>幻灯片标题</vt:lpstr>
      </vt:variant>
      <vt:variant>
        <vt:i4>76</vt:i4>
      </vt:variant>
    </vt:vector>
  </HeadingPairs>
  <TitlesOfParts>
    <vt:vector size="93" baseType="lpstr">
      <vt:lpstr>Arial</vt:lpstr>
      <vt:lpstr>宋体</vt:lpstr>
      <vt:lpstr>Wingdings</vt:lpstr>
      <vt:lpstr>Times New Roman</vt:lpstr>
      <vt:lpstr>楷体_GB2312</vt:lpstr>
      <vt:lpstr>新宋体</vt:lpstr>
      <vt:lpstr>Calibri</vt:lpstr>
      <vt:lpstr>华文楷体</vt:lpstr>
      <vt:lpstr>微软雅黑</vt:lpstr>
      <vt:lpstr>Arial Unicode MS</vt:lpstr>
      <vt:lpstr>等线</vt:lpstr>
      <vt:lpstr>华文仿宋</vt:lpstr>
      <vt:lpstr>黑体</vt:lpstr>
      <vt:lpstr>楷体</vt:lpstr>
      <vt:lpstr>Tahoma</vt:lpstr>
      <vt:lpstr>TimesNewRomanPSMT</vt:lpstr>
      <vt:lpstr>Network</vt:lpstr>
      <vt:lpstr>第4章  汇编语言程序设计</vt:lpstr>
      <vt:lpstr>汇编语言概述</vt:lpstr>
      <vt:lpstr>汇编语言概述</vt:lpstr>
      <vt:lpstr>汇编语言概述</vt:lpstr>
      <vt:lpstr>汇编语言概述 </vt:lpstr>
      <vt:lpstr>汇编语言的语句格式</vt:lpstr>
      <vt:lpstr>汇编语言语句的格式</vt:lpstr>
      <vt:lpstr>汇编语言语句的格式</vt:lpstr>
      <vt:lpstr>汇编语言语句的格式</vt:lpstr>
      <vt:lpstr>汇编语言语句的格式</vt:lpstr>
      <vt:lpstr>操作数</vt:lpstr>
      <vt:lpstr>操作数</vt:lpstr>
      <vt:lpstr>操作数</vt:lpstr>
      <vt:lpstr>操作数</vt:lpstr>
      <vt:lpstr>操作数举例</vt:lpstr>
      <vt:lpstr>汇编语言语句的格式</vt:lpstr>
      <vt:lpstr>汇编语言源程序格式</vt:lpstr>
      <vt:lpstr>汇编语言源程序格式</vt:lpstr>
      <vt:lpstr>伪指令</vt:lpstr>
      <vt:lpstr>符号定义伪指令</vt:lpstr>
      <vt:lpstr>等价伪指令</vt:lpstr>
      <vt:lpstr>等号伪指令</vt:lpstr>
      <vt:lpstr>数据定义伪指令</vt:lpstr>
      <vt:lpstr>PowerPoint 演示文稿</vt:lpstr>
      <vt:lpstr>数据定义伪指令</vt:lpstr>
      <vt:lpstr>PowerPoint 演示文稿</vt:lpstr>
      <vt:lpstr>PowerPoint 演示文稿</vt:lpstr>
      <vt:lpstr>PowerPoint 演示文稿</vt:lpstr>
      <vt:lpstr>PowerPoint 演示文稿</vt:lpstr>
      <vt:lpstr>伪指令SEGMENT/ENDS</vt:lpstr>
      <vt:lpstr>伪指令ASSUME</vt:lpstr>
      <vt:lpstr>PowerPoint 演示文稿</vt:lpstr>
      <vt:lpstr>当前汇编地址计数器和定位伪指令ORG</vt:lpstr>
      <vt:lpstr>PowerPoint 演示文稿</vt:lpstr>
      <vt:lpstr>过程定义伪指令</vt:lpstr>
      <vt:lpstr>源程序结束伪指令</vt:lpstr>
      <vt:lpstr>程序设计的基本步骤</vt:lpstr>
      <vt:lpstr>顺序结构程序设计</vt:lpstr>
      <vt:lpstr>PowerPoint 演示文稿</vt:lpstr>
      <vt:lpstr>分支结构程序设计</vt:lpstr>
      <vt:lpstr>分支结构程序设计</vt:lpstr>
      <vt:lpstr>分支结构程序设计</vt:lpstr>
      <vt:lpstr>分支结构程序设计</vt:lpstr>
      <vt:lpstr>流程图</vt:lpstr>
      <vt:lpstr>PowerPoint 演示文稿</vt:lpstr>
      <vt:lpstr>分支结构程序设计</vt:lpstr>
      <vt:lpstr>循环结构</vt:lpstr>
      <vt:lpstr>循环基本结构图</vt:lpstr>
      <vt:lpstr>循环结构的构成</vt:lpstr>
      <vt:lpstr>循环结构举例</vt:lpstr>
      <vt:lpstr>流程图</vt:lpstr>
      <vt:lpstr>PowerPoint 演示文稿</vt:lpstr>
      <vt:lpstr>循环结构举例</vt:lpstr>
      <vt:lpstr>PowerPoint 演示文稿</vt:lpstr>
      <vt:lpstr>PowerPoint 演示文稿</vt:lpstr>
      <vt:lpstr>子程序结构</vt:lpstr>
      <vt:lpstr>主程序调用子程序示意图</vt:lpstr>
      <vt:lpstr>编写子程序的注意点</vt:lpstr>
      <vt:lpstr>保护和恢复现场</vt:lpstr>
      <vt:lpstr>保护和恢复现场举例</vt:lpstr>
      <vt:lpstr>使用寄存器传递参数</vt:lpstr>
      <vt:lpstr>PowerPoint 演示文稿</vt:lpstr>
      <vt:lpstr>使用存储器传递参数</vt:lpstr>
      <vt:lpstr>PowerPoint 演示文稿</vt:lpstr>
      <vt:lpstr>系统功能调用</vt:lpstr>
      <vt:lpstr>系统功能调用</vt:lpstr>
      <vt:lpstr>系统功能调用的方法</vt:lpstr>
      <vt:lpstr>DOS系统功能调用</vt:lpstr>
      <vt:lpstr>读取键盘单个字符并回显(01H功能)</vt:lpstr>
      <vt:lpstr>在屏幕上输出单个字符(02H功能)</vt:lpstr>
      <vt:lpstr>在打印装置上输出单个字符(05H功能)</vt:lpstr>
      <vt:lpstr>在屏幕上输出字符串（09H功能）</vt:lpstr>
      <vt:lpstr>字符串输入(0AH功能)</vt:lpstr>
      <vt:lpstr>字符串输入(0AH功能)示例</vt:lpstr>
      <vt:lpstr>返回操作系统(4CH功能)</vt:lpstr>
      <vt:lpstr>BIOS系统功能调用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Jian</dc:creator>
  <cp:lastModifiedBy>杨领军</cp:lastModifiedBy>
  <cp:revision>42</cp:revision>
  <dcterms:created xsi:type="dcterms:W3CDTF">2021-02-04T09:02:00Z</dcterms:created>
  <dcterms:modified xsi:type="dcterms:W3CDTF">2025-04-21T02:26:12Z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221D7E599C604E94912E616B52165E43_12</vt:lpwstr>
  </property>
  <property fmtid="{D5CDD505-2E9C-101B-9397-08002B2CF9AE}" pid="3" name="KSOProductBuildVer">
    <vt:lpwstr>2052-12.1.0.20305</vt:lpwstr>
  </property>
</Properties>
</file>